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47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487" r:id="rId30"/>
  </p:sldIdLst>
  <p:sldSz cx="9144000" cy="6858000" type="screen4x3"/>
  <p:notesSz cx="7304088" cy="95900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992" autoAdjust="0"/>
    <p:restoredTop sz="75475" autoAdjust="0"/>
  </p:normalViewPr>
  <p:slideViewPr>
    <p:cSldViewPr snapToGrid="0" snapToObjects="1">
      <p:cViewPr varScale="1">
        <p:scale>
          <a:sx n="90" d="100"/>
          <a:sy n="90" d="100"/>
        </p:scale>
        <p:origin x="181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29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34600" y="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911088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anchor="b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fld id="{0FD29472-3254-4B52-BAD6-C39335F43F4B}" type="slidenum">
              <a:t>‹#›</a:t>
            </a:fld>
            <a:endParaRPr lang="en-US" sz="1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37025" y="0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5392D-917D-4F0D-B33F-F525AFE32523}" type="datetimeFigureOut">
              <a:rPr lang="en-US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09075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37025" y="9109075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82209-91EF-4628-A1EE-5A715CBA63D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589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37025" y="0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D9991-505F-4D7F-8E36-061EC94C824A}" type="datetimeFigureOut">
              <a:rPr lang="en-US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3838" y="1198563"/>
            <a:ext cx="4316412" cy="32369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0250" y="4614863"/>
            <a:ext cx="5843588" cy="3776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Image Placeholder 7"/>
          <p:cNvSpPr>
            <a:spLocks noGrp="1" noRot="1" noChangeAspect="1"/>
          </p:cNvSpPr>
          <p:nvPr>
            <p:ph type="sldImg" idx="2"/>
          </p:nvPr>
        </p:nvSpPr>
        <p:spPr>
          <a:xfrm>
            <a:off x="1254600" y="728640"/>
            <a:ext cx="4794840" cy="359604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9" name="Notes Placeholder 8"/>
          <p:cNvSpPr txBox="1">
            <a:spLocks noGrp="1"/>
          </p:cNvSpPr>
          <p:nvPr>
            <p:ph type="body" sz="quarter" idx="3"/>
          </p:nvPr>
        </p:nvSpPr>
        <p:spPr>
          <a:xfrm>
            <a:off x="730440" y="4555440"/>
            <a:ext cx="5843160" cy="4315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Header Placeholder 9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i="0" u="none" strike="noStrike" baseline="0">
                <a:solidFill>
                  <a:srgbClr val="000000"/>
                </a:solidFill>
                <a:latin typeface="Times New Roman" pitchFamily="18"/>
                <a:ea typeface="Bitstream Vera Sans" pitchFamily="2"/>
                <a:cs typeface="Lucida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Date Placeholder 10"/>
          <p:cNvSpPr txBox="1">
            <a:spLocks noGrp="1"/>
          </p:cNvSpPr>
          <p:nvPr>
            <p:ph type="dt" idx="1"/>
          </p:nvPr>
        </p:nvSpPr>
        <p:spPr>
          <a:xfrm>
            <a:off x="4134600" y="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i="0" u="none" strike="noStrike" baseline="0">
                <a:solidFill>
                  <a:srgbClr val="000000"/>
                </a:solidFill>
                <a:latin typeface="Times New Roman" pitchFamily="18"/>
                <a:ea typeface="Bitstream Vera Sans" pitchFamily="2"/>
                <a:cs typeface="Lucida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Footer Placeholder 11"/>
          <p:cNvSpPr txBox="1">
            <a:spLocks noGrp="1"/>
          </p:cNvSpPr>
          <p:nvPr>
            <p:ph type="ftr" sz="quarter" idx="4"/>
          </p:nvPr>
        </p:nvSpPr>
        <p:spPr>
          <a:xfrm>
            <a:off x="0" y="911088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>
            <a:lvl1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i="0" u="none" strike="noStrike" baseline="0">
                <a:solidFill>
                  <a:srgbClr val="000000"/>
                </a:solidFill>
                <a:latin typeface="Times New Roman" pitchFamily="18"/>
                <a:ea typeface="Bitstream Vera Sans" pitchFamily="2"/>
                <a:cs typeface="Lucida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Slide Number Placeholder 12"/>
          <p:cNvSpPr txBox="1">
            <a:spLocks noGrp="1"/>
          </p:cNvSpPr>
          <p:nvPr>
            <p:ph type="sldNum" sz="quarter" idx="5"/>
          </p:nvPr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>
            <a:lvl1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i="0" u="none" strike="noStrike" baseline="0">
                <a:solidFill>
                  <a:srgbClr val="000000"/>
                </a:solidFill>
                <a:latin typeface="Times New Roman" pitchFamily="18"/>
                <a:ea typeface="Bitstream Vera Sans" pitchFamily="2"/>
                <a:cs typeface="Lucidasans" pitchFamily="2"/>
              </a:defRPr>
            </a:lvl1pPr>
          </a:lstStyle>
          <a:p>
            <a:pPr lvl="0"/>
            <a:fld id="{5DB25C50-FBFB-4AF6-B5D9-A13A3745874E}" type="slidenum"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09075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37025" y="9109075"/>
            <a:ext cx="3165475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8130B-2021-4B37-933F-C67F83DAEC5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830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marR="0" indent="0" algn="l" rtl="0" hangingPunct="0">
      <a:lnSpc>
        <a:spcPct val="100000"/>
      </a:lnSpc>
      <a:spcBef>
        <a:spcPts val="448"/>
      </a:spcBef>
      <a:spcAft>
        <a:spcPts val="0"/>
      </a:spcAft>
      <a:tabLst>
        <a:tab pos="0" algn="l"/>
        <a:tab pos="914400" algn="l"/>
        <a:tab pos="1828800" algn="l"/>
        <a:tab pos="2743199" algn="l"/>
        <a:tab pos="3657600" algn="l"/>
        <a:tab pos="4572000" algn="l"/>
        <a:tab pos="5486399" algn="l"/>
        <a:tab pos="6400799" algn="l"/>
        <a:tab pos="7315200" algn="l"/>
        <a:tab pos="8229600" algn="l"/>
        <a:tab pos="9144000" algn="l"/>
        <a:tab pos="10058400" algn="l"/>
      </a:tabLst>
      <a:defRPr lang="en-US" sz="1200" b="0" i="0" u="none" strike="noStrike" baseline="0">
        <a:ln>
          <a:noFill/>
        </a:ln>
        <a:solidFill>
          <a:srgbClr val="000000"/>
        </a:solidFill>
        <a:latin typeface="Times New Roman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C758F00-32ED-474C-97D9-5B452B0E241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EFB9466-8887-4411-A2AF-6F9D4D9C2500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3880" y="71892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080" y="455508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02C7D88-065A-4F8A-845D-02345AAFE85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B1A22F2-26BA-4767-B55C-265FD07498E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4E1879-774E-0543-A054-9A8E05C48EB5}" type="slidenum">
              <a:rPr lang="en-CA" smtClean="0"/>
              <a:pPr/>
              <a:t>3</a:t>
            </a:fld>
            <a:endParaRPr lang="en-C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EC96A33-D8A2-48C6-BED1-76F5131A469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F9AEAFC-5D08-4231-BFF6-C1EFE615C4A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59B211C-1B0E-487F-A06C-5A8BCF82DDB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1985E19-37B7-4568-BA83-36E71408C66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D641875-D3FE-47F1-A974-BD37E14325C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04D2ECA-9C9C-4C9E-93AA-6FAE2449F5A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C0B3538-F78B-4C09-9C7C-F180E74CF81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DCAD93E-50BA-4B13-BD2A-C120B75DFDA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E14D2D6-DA64-49EB-BCF8-EACA529B0C2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4C6AC43-932B-4A38-A39B-1E22A9E46B4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2C5858D-30C7-40DF-ADD5-86DA6E80075C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FBC1A6E-5D34-4270-A5F4-0090ECC0113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D91DE959-C908-42C6-AE1B-F11C985C63B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0D1AE44-61ED-4EFB-AD2B-0A62EE87864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5C6B8AE8-5698-4221-9971-6671774F7F0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2B52652-111F-492D-921A-76C6E6353E9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C9ED1D6-F88C-4C36-AFF3-93BCEDA0C9DC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30A30650-80A2-4D13-954C-A56E97D50D7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0A6E838-4566-4C04-B2EB-7AE528F3A2A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370F11F-82AA-4A5B-B3D4-B5F899A960D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C3250B05-B342-40D1-8D45-9B8E4822D0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4738238-2CE1-4316-853F-0D0AF24D0521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329CB81-33EC-4F25-9250-E97D726817BF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DDDBE7C8-0393-4952-B31A-2E63F074210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6BCBF96-B060-4EB5-9E63-FFC9DA6707B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C88F2F9-C44A-4EED-9652-27FD891F3FF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7ABE36F9-0110-423F-A3CF-A58F80E6241C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A22E3C81-0E79-4ECC-A5FD-B9EC53A8E98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CBE1B4A-77D1-4586-88BD-77FE0CCBD67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1E1CDC50-9C1A-4416-81EE-4E5CE39A005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F3534D6-9F54-4035-A048-8521CF6A326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2A93E1D9-EF24-429B-AE32-6F6B8AEE78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549046F-36D9-429E-9384-0F3AC5CA0A2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CD72D5-7DD5-4CF2-8225-8C6CEADD81F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CED798C-4DD9-4995-89BF-7FFBD87768E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D54A38C6-AE85-4C4C-89AE-29BDD0F286E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40A1BAD-FCBE-41E9-9B3E-954D742E600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FF6237AA-3D56-4DEB-9453-DBD23BD2B32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A987963-5349-4C9B-9AD2-7DEC608A66C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ECA4EE5-6E11-4E03-BD31-73A03F9E6AB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E73082CA-E492-4B4B-AAC9-EDB16AB2F83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FBBE637-9037-4D74-9DEA-77B0B1B7EC77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9135382-32F9-4B4F-AEE7-63804CD5D0CC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502C004-0F68-48A2-83B7-C27B89AD655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43916F79-1AC2-49D2-BBED-C4BE40A02955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0C2C01A1-93E7-4FD6-8435-5FAE895261FF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32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6F574B23-3BDF-40AB-ACE6-9C1B788F3B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DD897ACB-5E15-4B5D-83CD-60B4A7734AA0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254125" y="728663"/>
            <a:ext cx="4795838" cy="3595687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320"/>
          </a:xfr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 txBox="1">
            <a:spLocks noGrp="1"/>
          </p:cNvSpPr>
          <p:nvPr/>
        </p:nvSpPr>
        <p:spPr>
          <a:xfrm>
            <a:off x="4137025" y="0"/>
            <a:ext cx="3165475" cy="481013"/>
          </a:xfrm>
          <a:prstGeom prst="rect">
            <a:avLst/>
          </a:prstGeom>
          <a:noFill/>
        </p:spPr>
        <p:txBody>
          <a:bodyPr vert="horz" lIns="91440" tIns="45720" rIns="91440" bIns="45720"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ED9991-505F-4D7F-8E36-061EC94C824A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4/22/2026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12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lIns="0" tIns="0" rIns="0" bIns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9EB14C08-2F77-4F83-A13D-65B8C6989AE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11" name="Slide Number Placeholder 6"/>
          <p:cNvSpPr txBox="1">
            <a:spLocks noGrp="1"/>
          </p:cNvSpPr>
          <p:nvPr/>
        </p:nvSpPr>
        <p:spPr>
          <a:xfrm>
            <a:off x="4134600" y="9110880"/>
            <a:ext cx="3169440" cy="479160"/>
          </a:xfrm>
          <a:prstGeom prst="rect">
            <a:avLst/>
          </a:prstGeom>
          <a:noFill/>
          <a:ln/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83E55408-2A8A-49DA-A580-B45D6756E22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/>
                <a:ea typeface="Bitstream Vera Sans" pitchFamily="2"/>
                <a:cs typeface="Lucidasans" pitchFamily="2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28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/>
              <a:ea typeface="Bitstream Vera Sans" pitchFamily="2"/>
              <a:cs typeface="Lucidasans" pitchFamily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54240" y="719280"/>
            <a:ext cx="4794120" cy="3595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0440" y="4555440"/>
            <a:ext cx="5843160" cy="4315680"/>
          </a:xfr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F37D1DA-5E1C-4273-A7C4-0B85F22D0800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6D3BC8F-1185-4F6B-96C6-4A761659E4BA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C641CE-4933-4651-A6A2-A345D69EAEB2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444736E-B941-4388-9143-427892EA5758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AE05BBB-A561-4033-9076-5C4E181B0F94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8710665-DF5B-491E-AEFD-EDCE6A16CE65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8FBA859-9025-4110-876D-BDE014A89272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EC3423-E462-43A1-A482-7406E88E99FF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A639351-2A3C-474E-8A4E-779541262182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CCCEC39-3F40-4CF7-A37F-EF4CC4CBCAE3}" type="slidenum">
              <a:rPr lang="uk-UA" smtClean="0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69CD0822-95E0-4F22-AC65-8002CEB536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793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" charset="0"/>
          <a:ea typeface="Calibri" charset="0"/>
          <a:cs typeface="Calibri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werPoint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/>
        </p:nvSpPr>
        <p:spPr>
          <a:xfrm>
            <a:off x="-360" y="990360"/>
            <a:ext cx="9144000" cy="8092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360" tIns="44280" rIns="90360" bIns="4428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5400" b="0" i="0" u="none" strike="noStrike" baseline="0" dirty="0">
                <a:ln>
                  <a:noFill/>
                </a:ln>
                <a:latin typeface="Utopia" pitchFamily="34"/>
                <a:ea typeface="Times New Roman" pitchFamily="2"/>
                <a:cs typeface="Times New Roman" pitchFamily="2"/>
              </a:rPr>
              <a:t>Data Mining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2800" b="0" i="0" u="none" strike="noStrike" baseline="0" dirty="0">
                <a:ln>
                  <a:noFill/>
                </a:ln>
                <a:latin typeface="Utopia" pitchFamily="34"/>
                <a:ea typeface="Times New Roman" pitchFamily="2"/>
                <a:cs typeface="Times New Roman" pitchFamily="2"/>
              </a:rPr>
              <a:t>Practical Machine Learning Tools and Techniques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AU" sz="2200" b="0" i="0" u="none" strike="noStrike" baseline="0" dirty="0">
              <a:ln>
                <a:noFill/>
              </a:ln>
              <a:solidFill>
                <a:srgbClr val="3DEB3D"/>
              </a:solidFill>
              <a:latin typeface="Utopia" pitchFamily="34"/>
              <a:ea typeface="Times New Roman" pitchFamily="2"/>
              <a:cs typeface="Times New Roman" pitchFamily="2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2400" b="0" i="0" u="none" strike="noStrike" baseline="0" dirty="0">
                <a:ln>
                  <a:noFill/>
                </a:ln>
                <a:latin typeface="Utopia" pitchFamily="34"/>
                <a:ea typeface="Times New Roman" pitchFamily="2"/>
                <a:cs typeface="Times New Roman" pitchFamily="2"/>
              </a:rPr>
              <a:t>Slides for Chapter 6, Trees and Rules 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AU" sz="2400" dirty="0">
              <a:latin typeface="Utopia" pitchFamily="34"/>
              <a:ea typeface="Times New Roman" pitchFamily="2"/>
              <a:cs typeface="Times New Roman" pitchFamily="2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2400" b="0" i="0" u="none" strike="noStrike" baseline="0" dirty="0">
                <a:ln>
                  <a:noFill/>
                </a:ln>
                <a:latin typeface="Utopia" pitchFamily="34"/>
                <a:ea typeface="Times New Roman" pitchFamily="2"/>
                <a:cs typeface="Times New Roman" pitchFamily="2"/>
              </a:rPr>
              <a:t>of </a:t>
            </a:r>
            <a:r>
              <a:rPr lang="en-AU" sz="2400" b="0" i="1" u="none" strike="noStrike" baseline="0" dirty="0">
                <a:ln>
                  <a:noFill/>
                </a:ln>
                <a:latin typeface="Utopia" pitchFamily="34"/>
                <a:ea typeface="Times New Roman" pitchFamily="2"/>
                <a:cs typeface="Times New Roman" pitchFamily="2"/>
              </a:rPr>
              <a:t>Data Mining</a:t>
            </a:r>
            <a:r>
              <a:rPr lang="en-AU" sz="2400" b="0" i="0" u="none" strike="noStrike" baseline="0" dirty="0">
                <a:ln>
                  <a:noFill/>
                </a:ln>
                <a:latin typeface="Utopia" pitchFamily="34"/>
                <a:ea typeface="Times New Roman" pitchFamily="2"/>
                <a:cs typeface="Times New Roman" pitchFamily="2"/>
              </a:rPr>
              <a:t> by I. H. Witten, E. Frank,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AU" sz="2400" b="0" i="0" u="none" strike="noStrike" baseline="0" dirty="0">
                <a:ln>
                  <a:noFill/>
                </a:ln>
                <a:latin typeface="Utopia" pitchFamily="34"/>
                <a:ea typeface="Times New Roman" pitchFamily="2"/>
                <a:cs typeface="Times New Roman" pitchFamily="2"/>
              </a:rPr>
              <a:t>M. A. Hall and</a:t>
            </a:r>
            <a:r>
              <a:rPr lang="en-AU" sz="2400" b="0" i="0" u="none" strike="noStrike" dirty="0">
                <a:ln>
                  <a:noFill/>
                </a:ln>
                <a:latin typeface="Utopia" pitchFamily="34"/>
                <a:ea typeface="Times New Roman" pitchFamily="2"/>
                <a:cs typeface="Times New Roman" pitchFamily="2"/>
              </a:rPr>
              <a:t> C. J. Pal</a:t>
            </a:r>
            <a:endParaRPr lang="en-AU" sz="2200" b="0" i="0" u="none" strike="noStrike" baseline="0" dirty="0">
              <a:ln>
                <a:noFill/>
              </a:ln>
              <a:latin typeface="Utopia" pitchFamily="34"/>
              <a:ea typeface="Times New Roman" pitchFamily="2"/>
              <a:cs typeface="Times New Roman" pitchFamily="2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AU" sz="2200" b="0" i="0" u="none" strike="noStrike" baseline="0" dirty="0">
              <a:ln>
                <a:noFill/>
              </a:ln>
              <a:solidFill>
                <a:srgbClr val="FFFF99"/>
              </a:solidFill>
              <a:latin typeface="Utopia" pitchFamily="34"/>
              <a:ea typeface="Gothic" pitchFamily="2"/>
              <a:cs typeface="Lucidasans" pitchFamily="2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AU" sz="2200" b="0" i="0" u="none" strike="noStrike" baseline="0" dirty="0">
              <a:ln>
                <a:noFill/>
              </a:ln>
              <a:solidFill>
                <a:srgbClr val="FFFF99"/>
              </a:solidFill>
              <a:latin typeface="Utopia" pitchFamily="34"/>
              <a:ea typeface="Gothic" pitchFamily="2"/>
              <a:cs typeface="Lucidasans" pitchFamily="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plementation: Real machine learning sche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28593" y="55423"/>
            <a:ext cx="8815407" cy="979488"/>
          </a:xfrm>
        </p:spPr>
        <p:txBody>
          <a:bodyPr wrap="square" lIns="90360" tIns="44280" rIns="90360" bIns="44280" anchor="t" anchorCtr="0">
            <a:noAutofit/>
          </a:bodyPr>
          <a:lstStyle/>
          <a:p>
            <a:pPr lvl="0"/>
            <a:r>
              <a:rPr lang="en-NZ" sz="3600" dirty="0">
                <a:latin typeface="+mj-lt"/>
              </a:rPr>
              <a:t>Algorithms for learning trees and rules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82906" y="1401791"/>
            <a:ext cx="8402774" cy="1526228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>
              <a:spcBef>
                <a:spcPts val="598"/>
              </a:spcBef>
            </a:pPr>
            <a:r>
              <a:rPr lang="en-NZ" sz="2400" dirty="0"/>
              <a:t>6.1 Decision trees</a:t>
            </a:r>
          </a:p>
          <a:p>
            <a:pPr lvl="1">
              <a:spcBef>
                <a:spcPts val="499"/>
              </a:spcBef>
            </a:pPr>
            <a:r>
              <a:rPr lang="en-NZ" sz="2000" dirty="0"/>
              <a:t>From ID3 to C4.5 (pruning, numeric attributes, ...)</a:t>
            </a:r>
          </a:p>
          <a:p>
            <a:r>
              <a:rPr lang="en-NZ" sz="2400"/>
              <a:t>6.3 </a:t>
            </a:r>
            <a:r>
              <a:rPr lang="en-NZ" sz="2400" dirty="0"/>
              <a:t>Association Rules</a:t>
            </a:r>
          </a:p>
          <a:p>
            <a:pPr lvl="1"/>
            <a:r>
              <a:rPr lang="en-NZ" sz="2000" dirty="0"/>
              <a:t>Faster rule mining with frequent-pattern trees</a:t>
            </a:r>
            <a:endParaRPr lang="en-NZ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2</a:t>
            </a:fld>
            <a:endParaRPr lang="uk-U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Decision 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F37D1DA-5E1C-4273-A7C4-0B85F22D0800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3633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dustrial-strength algorith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14810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Industrial-strength algorithms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27914" y="1412875"/>
            <a:ext cx="8191995" cy="2575619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For an algorithm to be useful in a wide range of real-world applications it must: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Permit numeric attributes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Allow missing values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Be robust in the presence of noise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Basic scheme needs to be extended to fulfill these requirements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4</a:t>
            </a:fld>
            <a:endParaRPr lang="uk-U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cision tre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61107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From ID3 to C4.5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06055" y="1741120"/>
            <a:ext cx="7778187" cy="2480977"/>
          </a:xfrm>
        </p:spPr>
        <p:txBody>
          <a:bodyPr wrap="square" lIns="90360" tIns="44280" rIns="90360" bIns="44280" anchor="t" anchorCtr="0">
            <a:spAutoFit/>
          </a:bodyPr>
          <a:lstStyle/>
          <a:p>
            <a:r>
              <a:rPr lang="en-US" sz="2400" dirty="0"/>
              <a:t>Extending ID3:</a:t>
            </a:r>
          </a:p>
          <a:p>
            <a:pPr lvl="1"/>
            <a:r>
              <a:rPr lang="en-US" sz="2000" dirty="0"/>
              <a:t>to permit numeric attributes:  </a:t>
            </a:r>
            <a:r>
              <a:rPr lang="en-US" sz="2000" i="1" dirty="0"/>
              <a:t>straightforward</a:t>
            </a:r>
          </a:p>
          <a:p>
            <a:pPr lvl="1"/>
            <a:r>
              <a:rPr lang="en-US" sz="2000" dirty="0"/>
              <a:t>to deal sensibly with missing values:  </a:t>
            </a:r>
            <a:r>
              <a:rPr lang="en-US" sz="2000" i="1" dirty="0"/>
              <a:t>trickier</a:t>
            </a:r>
          </a:p>
          <a:p>
            <a:pPr lvl="1"/>
            <a:r>
              <a:rPr lang="en-US" sz="2000" dirty="0"/>
              <a:t>stability for noisy data: </a:t>
            </a:r>
            <a:r>
              <a:rPr lang="en-US" sz="2000" i="1" dirty="0"/>
              <a:t>requires pruning mechanism</a:t>
            </a:r>
            <a:endParaRPr lang="en-US" sz="2400" i="1" dirty="0"/>
          </a:p>
          <a:p>
            <a:r>
              <a:rPr lang="en-US" sz="2400" dirty="0"/>
              <a:t>End result: C4.5 (Quinlan)</a:t>
            </a:r>
          </a:p>
          <a:p>
            <a:pPr lvl="1"/>
            <a:r>
              <a:rPr lang="en-US" sz="2000" dirty="0"/>
              <a:t>Best-known and (probably) most widely-used learning algorithm</a:t>
            </a:r>
          </a:p>
          <a:p>
            <a:pPr lvl="1"/>
            <a:r>
              <a:rPr lang="en-US" sz="2000" dirty="0"/>
              <a:t>Commercial successor: C5.0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5</a:t>
            </a:fld>
            <a:endParaRPr lang="uk-U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umeric attribu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Numeric attributes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82641" y="1247775"/>
            <a:ext cx="7739999" cy="3773895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Standard method: binary splits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E.g. temp &lt; 45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Unlike nominal attributes,</a:t>
            </a:r>
            <a:br>
              <a:rPr lang="en-US" sz="2400" dirty="0"/>
            </a:br>
            <a:r>
              <a:rPr lang="en-US" sz="2400" dirty="0"/>
              <a:t>every attribute has many possible split points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Solution is straightforward extension: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Evaluate info gain (or other measure)</a:t>
            </a:r>
            <a:br>
              <a:rPr lang="en-US" sz="2000" dirty="0"/>
            </a:br>
            <a:r>
              <a:rPr lang="en-US" sz="2000" dirty="0"/>
              <a:t>for every possible split point of attribute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Choose “best” split point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Info gain for best split point is info gain for attribute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Computationally more demanding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6</a:t>
            </a:fld>
            <a:endParaRPr lang="uk-U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eather data (again!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Weather data (again!)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38080" y="4099680"/>
            <a:ext cx="6019920" cy="1325520"/>
            <a:chOff x="838080" y="4099680"/>
            <a:chExt cx="6019920" cy="1325520"/>
          </a:xfrm>
        </p:grpSpPr>
        <p:sp>
          <p:nvSpPr>
            <p:cNvPr id="4" name="Freeform: Shape 3"/>
            <p:cNvSpPr/>
            <p:nvPr/>
          </p:nvSpPr>
          <p:spPr>
            <a:xfrm>
              <a:off x="838080" y="4099680"/>
              <a:ext cx="6019919" cy="13255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outlook = sunny and humidity = high then play = no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outlook = rainy and windy = true then play = no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outlook = overcast then play = yes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humidity = normal then play = yes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none of the above then play = yes</a:t>
              </a:r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838080" y="4099680"/>
              <a:ext cx="6019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6" name="Straight Connector 5"/>
            <p:cNvSpPr/>
            <p:nvPr/>
          </p:nvSpPr>
          <p:spPr>
            <a:xfrm>
              <a:off x="838080" y="5425200"/>
              <a:ext cx="6019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7" name="Straight Connector 6"/>
            <p:cNvSpPr/>
            <p:nvPr/>
          </p:nvSpPr>
          <p:spPr>
            <a:xfrm>
              <a:off x="838080" y="4099680"/>
              <a:ext cx="0" cy="132552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8" name="Straight Connector 7"/>
            <p:cNvSpPr/>
            <p:nvPr/>
          </p:nvSpPr>
          <p:spPr>
            <a:xfrm>
              <a:off x="6858000" y="4099680"/>
              <a:ext cx="0" cy="132552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38080" y="995400"/>
            <a:ext cx="6364440" cy="2438640"/>
            <a:chOff x="838080" y="995400"/>
            <a:chExt cx="6364440" cy="2438640"/>
          </a:xfrm>
        </p:grpSpPr>
        <p:sp>
          <p:nvSpPr>
            <p:cNvPr id="10" name="Freeform: Shape 9"/>
            <p:cNvSpPr/>
            <p:nvPr/>
          </p:nvSpPr>
          <p:spPr>
            <a:xfrm>
              <a:off x="5927759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4718520" y="25192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3382920" y="25192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2110319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838080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5927759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4718520" y="22147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3382920" y="22147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Normal</a:t>
              </a:r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2110319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Mild</a:t>
              </a:r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838080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Rainy</a:t>
              </a:r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5927759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4718520" y="19098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3382920" y="19098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2110319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  </a:t>
              </a:r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838080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Overcast</a:t>
              </a:r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5927759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4718520" y="16048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True</a:t>
              </a:r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3382920" y="16048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2110319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838080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30" name="Freeform: Shape 29"/>
            <p:cNvSpPr/>
            <p:nvPr/>
          </p:nvSpPr>
          <p:spPr>
            <a:xfrm>
              <a:off x="5927759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31" name="Freeform: Shape 30"/>
            <p:cNvSpPr/>
            <p:nvPr/>
          </p:nvSpPr>
          <p:spPr>
            <a:xfrm>
              <a:off x="4718520" y="13003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32" name="Freeform: Shape 31"/>
            <p:cNvSpPr/>
            <p:nvPr/>
          </p:nvSpPr>
          <p:spPr>
            <a:xfrm>
              <a:off x="3382920" y="13003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33" name="Freeform: Shape 32"/>
            <p:cNvSpPr/>
            <p:nvPr/>
          </p:nvSpPr>
          <p:spPr>
            <a:xfrm>
              <a:off x="2110319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34" name="Freeform: Shape 33"/>
            <p:cNvSpPr/>
            <p:nvPr/>
          </p:nvSpPr>
          <p:spPr>
            <a:xfrm>
              <a:off x="838080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35" name="Freeform: Shape 34"/>
            <p:cNvSpPr/>
            <p:nvPr/>
          </p:nvSpPr>
          <p:spPr>
            <a:xfrm>
              <a:off x="5927759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Play</a:t>
              </a:r>
            </a:p>
          </p:txBody>
        </p:sp>
        <p:sp>
          <p:nvSpPr>
            <p:cNvPr id="36" name="Freeform: Shape 35"/>
            <p:cNvSpPr/>
            <p:nvPr/>
          </p:nvSpPr>
          <p:spPr>
            <a:xfrm>
              <a:off x="4718520" y="9954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Windy</a:t>
              </a:r>
            </a:p>
          </p:txBody>
        </p:sp>
        <p:sp>
          <p:nvSpPr>
            <p:cNvPr id="37" name="Freeform: Shape 36"/>
            <p:cNvSpPr/>
            <p:nvPr/>
          </p:nvSpPr>
          <p:spPr>
            <a:xfrm>
              <a:off x="3382920" y="9954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Humidity</a:t>
              </a:r>
            </a:p>
          </p:txBody>
        </p:sp>
        <p:sp>
          <p:nvSpPr>
            <p:cNvPr id="38" name="Freeform: Shape 37"/>
            <p:cNvSpPr/>
            <p:nvPr/>
          </p:nvSpPr>
          <p:spPr>
            <a:xfrm>
              <a:off x="2110319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Temperature</a:t>
              </a:r>
            </a:p>
          </p:txBody>
        </p:sp>
        <p:sp>
          <p:nvSpPr>
            <p:cNvPr id="39" name="Freeform: Shape 38"/>
            <p:cNvSpPr/>
            <p:nvPr/>
          </p:nvSpPr>
          <p:spPr>
            <a:xfrm>
              <a:off x="838080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Outlook</a:t>
              </a:r>
            </a:p>
          </p:txBody>
        </p:sp>
        <p:sp>
          <p:nvSpPr>
            <p:cNvPr id="40" name="Straight Connector 39"/>
            <p:cNvSpPr/>
            <p:nvPr/>
          </p:nvSpPr>
          <p:spPr>
            <a:xfrm>
              <a:off x="838080" y="995400"/>
              <a:ext cx="0" cy="182880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1" name="Straight Connector 40"/>
            <p:cNvSpPr/>
            <p:nvPr/>
          </p:nvSpPr>
          <p:spPr>
            <a:xfrm>
              <a:off x="7200000" y="995400"/>
              <a:ext cx="0" cy="182880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2" name="Straight Connector 41"/>
            <p:cNvSpPr/>
            <p:nvPr/>
          </p:nvSpPr>
          <p:spPr>
            <a:xfrm>
              <a:off x="838080" y="1300319"/>
              <a:ext cx="6361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3" name="Straight Connector 42"/>
            <p:cNvSpPr/>
            <p:nvPr/>
          </p:nvSpPr>
          <p:spPr>
            <a:xfrm>
              <a:off x="838080" y="995400"/>
              <a:ext cx="6361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4" name="Freeform: Shape 43"/>
            <p:cNvSpPr/>
            <p:nvPr/>
          </p:nvSpPr>
          <p:spPr>
            <a:xfrm>
              <a:off x="5927759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45" name="Freeform: Shape 44"/>
            <p:cNvSpPr/>
            <p:nvPr/>
          </p:nvSpPr>
          <p:spPr>
            <a:xfrm>
              <a:off x="4718520" y="25192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46" name="Freeform: Shape 45"/>
            <p:cNvSpPr/>
            <p:nvPr/>
          </p:nvSpPr>
          <p:spPr>
            <a:xfrm>
              <a:off x="3382920" y="25192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47" name="Freeform: Shape 46"/>
            <p:cNvSpPr/>
            <p:nvPr/>
          </p:nvSpPr>
          <p:spPr>
            <a:xfrm>
              <a:off x="2110319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48" name="Freeform: Shape 47"/>
            <p:cNvSpPr/>
            <p:nvPr/>
          </p:nvSpPr>
          <p:spPr>
            <a:xfrm>
              <a:off x="838080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49" name="Freeform: Shape 48"/>
            <p:cNvSpPr/>
            <p:nvPr/>
          </p:nvSpPr>
          <p:spPr>
            <a:xfrm>
              <a:off x="5927759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50" name="Freeform: Shape 49"/>
            <p:cNvSpPr/>
            <p:nvPr/>
          </p:nvSpPr>
          <p:spPr>
            <a:xfrm>
              <a:off x="4718520" y="22147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51" name="Freeform: Shape 50"/>
            <p:cNvSpPr/>
            <p:nvPr/>
          </p:nvSpPr>
          <p:spPr>
            <a:xfrm>
              <a:off x="3382920" y="22147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Normal</a:t>
              </a:r>
            </a:p>
          </p:txBody>
        </p:sp>
        <p:sp>
          <p:nvSpPr>
            <p:cNvPr id="52" name="Freeform: Shape 51"/>
            <p:cNvSpPr/>
            <p:nvPr/>
          </p:nvSpPr>
          <p:spPr>
            <a:xfrm>
              <a:off x="2110319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Mild</a:t>
              </a:r>
            </a:p>
          </p:txBody>
        </p:sp>
        <p:sp>
          <p:nvSpPr>
            <p:cNvPr id="53" name="Freeform: Shape 52"/>
            <p:cNvSpPr/>
            <p:nvPr/>
          </p:nvSpPr>
          <p:spPr>
            <a:xfrm>
              <a:off x="838080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Rainy</a:t>
              </a:r>
            </a:p>
          </p:txBody>
        </p:sp>
        <p:sp>
          <p:nvSpPr>
            <p:cNvPr id="54" name="Freeform: Shape 53"/>
            <p:cNvSpPr/>
            <p:nvPr/>
          </p:nvSpPr>
          <p:spPr>
            <a:xfrm>
              <a:off x="5927759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55" name="Freeform: Shape 54"/>
            <p:cNvSpPr/>
            <p:nvPr/>
          </p:nvSpPr>
          <p:spPr>
            <a:xfrm>
              <a:off x="4718520" y="19098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56" name="Freeform: Shape 55"/>
            <p:cNvSpPr/>
            <p:nvPr/>
          </p:nvSpPr>
          <p:spPr>
            <a:xfrm>
              <a:off x="3382920" y="19098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57" name="Freeform: Shape 56"/>
            <p:cNvSpPr/>
            <p:nvPr/>
          </p:nvSpPr>
          <p:spPr>
            <a:xfrm>
              <a:off x="2110319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  </a:t>
              </a:r>
            </a:p>
          </p:txBody>
        </p:sp>
        <p:sp>
          <p:nvSpPr>
            <p:cNvPr id="58" name="Freeform: Shape 57"/>
            <p:cNvSpPr/>
            <p:nvPr/>
          </p:nvSpPr>
          <p:spPr>
            <a:xfrm>
              <a:off x="838080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Overcast</a:t>
              </a:r>
            </a:p>
          </p:txBody>
        </p:sp>
        <p:sp>
          <p:nvSpPr>
            <p:cNvPr id="59" name="Freeform: Shape 58"/>
            <p:cNvSpPr/>
            <p:nvPr/>
          </p:nvSpPr>
          <p:spPr>
            <a:xfrm>
              <a:off x="5927759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60" name="Freeform: Shape 59"/>
            <p:cNvSpPr/>
            <p:nvPr/>
          </p:nvSpPr>
          <p:spPr>
            <a:xfrm>
              <a:off x="4718520" y="16048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True</a:t>
              </a:r>
            </a:p>
          </p:txBody>
        </p:sp>
        <p:sp>
          <p:nvSpPr>
            <p:cNvPr id="61" name="Freeform: Shape 60"/>
            <p:cNvSpPr/>
            <p:nvPr/>
          </p:nvSpPr>
          <p:spPr>
            <a:xfrm>
              <a:off x="3382920" y="16048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62" name="Freeform: Shape 61"/>
            <p:cNvSpPr/>
            <p:nvPr/>
          </p:nvSpPr>
          <p:spPr>
            <a:xfrm>
              <a:off x="2110319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63" name="Freeform: Shape 62"/>
            <p:cNvSpPr/>
            <p:nvPr/>
          </p:nvSpPr>
          <p:spPr>
            <a:xfrm>
              <a:off x="838080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64" name="Freeform: Shape 63"/>
            <p:cNvSpPr/>
            <p:nvPr/>
          </p:nvSpPr>
          <p:spPr>
            <a:xfrm>
              <a:off x="5927759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65" name="Freeform: Shape 64"/>
            <p:cNvSpPr/>
            <p:nvPr/>
          </p:nvSpPr>
          <p:spPr>
            <a:xfrm>
              <a:off x="4718520" y="13003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66" name="Freeform: Shape 65"/>
            <p:cNvSpPr/>
            <p:nvPr/>
          </p:nvSpPr>
          <p:spPr>
            <a:xfrm>
              <a:off x="3382920" y="13003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67" name="Freeform: Shape 66"/>
            <p:cNvSpPr/>
            <p:nvPr/>
          </p:nvSpPr>
          <p:spPr>
            <a:xfrm>
              <a:off x="2110319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68" name="Freeform: Shape 67"/>
            <p:cNvSpPr/>
            <p:nvPr/>
          </p:nvSpPr>
          <p:spPr>
            <a:xfrm>
              <a:off x="838080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69" name="Freeform: Shape 68"/>
            <p:cNvSpPr/>
            <p:nvPr/>
          </p:nvSpPr>
          <p:spPr>
            <a:xfrm>
              <a:off x="5927759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Play</a:t>
              </a:r>
            </a:p>
          </p:txBody>
        </p:sp>
        <p:sp>
          <p:nvSpPr>
            <p:cNvPr id="70" name="Freeform: Shape 69"/>
            <p:cNvSpPr/>
            <p:nvPr/>
          </p:nvSpPr>
          <p:spPr>
            <a:xfrm>
              <a:off x="4718520" y="9954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Windy</a:t>
              </a:r>
            </a:p>
          </p:txBody>
        </p:sp>
        <p:sp>
          <p:nvSpPr>
            <p:cNvPr id="71" name="Freeform: Shape 70"/>
            <p:cNvSpPr/>
            <p:nvPr/>
          </p:nvSpPr>
          <p:spPr>
            <a:xfrm>
              <a:off x="3382920" y="9954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Humidity</a:t>
              </a:r>
            </a:p>
          </p:txBody>
        </p:sp>
        <p:sp>
          <p:nvSpPr>
            <p:cNvPr id="72" name="Freeform: Shape 71"/>
            <p:cNvSpPr/>
            <p:nvPr/>
          </p:nvSpPr>
          <p:spPr>
            <a:xfrm>
              <a:off x="2110319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Temperature</a:t>
              </a:r>
            </a:p>
          </p:txBody>
        </p:sp>
        <p:sp>
          <p:nvSpPr>
            <p:cNvPr id="73" name="Freeform: Shape 72"/>
            <p:cNvSpPr/>
            <p:nvPr/>
          </p:nvSpPr>
          <p:spPr>
            <a:xfrm>
              <a:off x="838080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Outlook</a:t>
              </a:r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838080" y="3434040"/>
              <a:ext cx="6361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75" name="Straight Connector 74"/>
            <p:cNvSpPr/>
            <p:nvPr/>
          </p:nvSpPr>
          <p:spPr>
            <a:xfrm>
              <a:off x="838080" y="995400"/>
              <a:ext cx="0" cy="182880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7200000" y="995400"/>
              <a:ext cx="0" cy="182880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77" name="Straight Connector 76"/>
            <p:cNvSpPr/>
            <p:nvPr/>
          </p:nvSpPr>
          <p:spPr>
            <a:xfrm>
              <a:off x="838080" y="1300319"/>
              <a:ext cx="6361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78" name="Straight Connector 77"/>
            <p:cNvSpPr/>
            <p:nvPr/>
          </p:nvSpPr>
          <p:spPr>
            <a:xfrm>
              <a:off x="838080" y="995400"/>
              <a:ext cx="6361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79" name="Freeform: Shape 78"/>
            <p:cNvSpPr/>
            <p:nvPr/>
          </p:nvSpPr>
          <p:spPr>
            <a:xfrm>
              <a:off x="5927759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80" name="Freeform: Shape 79"/>
            <p:cNvSpPr/>
            <p:nvPr/>
          </p:nvSpPr>
          <p:spPr>
            <a:xfrm>
              <a:off x="4718520" y="25192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81" name="Freeform: Shape 80"/>
            <p:cNvSpPr/>
            <p:nvPr/>
          </p:nvSpPr>
          <p:spPr>
            <a:xfrm>
              <a:off x="3382920" y="25192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82" name="Freeform: Shape 81"/>
            <p:cNvSpPr/>
            <p:nvPr/>
          </p:nvSpPr>
          <p:spPr>
            <a:xfrm>
              <a:off x="2110319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83" name="Freeform: Shape 82"/>
            <p:cNvSpPr/>
            <p:nvPr/>
          </p:nvSpPr>
          <p:spPr>
            <a:xfrm>
              <a:off x="838080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84" name="Freeform: Shape 83"/>
            <p:cNvSpPr/>
            <p:nvPr/>
          </p:nvSpPr>
          <p:spPr>
            <a:xfrm>
              <a:off x="5927759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85" name="Freeform: Shape 84"/>
            <p:cNvSpPr/>
            <p:nvPr/>
          </p:nvSpPr>
          <p:spPr>
            <a:xfrm>
              <a:off x="4718520" y="22147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86" name="Freeform: Shape 85"/>
            <p:cNvSpPr/>
            <p:nvPr/>
          </p:nvSpPr>
          <p:spPr>
            <a:xfrm>
              <a:off x="3382920" y="22147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87" name="Freeform: Shape 86"/>
            <p:cNvSpPr/>
            <p:nvPr/>
          </p:nvSpPr>
          <p:spPr>
            <a:xfrm>
              <a:off x="2110319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Mild</a:t>
              </a:r>
            </a:p>
          </p:txBody>
        </p:sp>
        <p:sp>
          <p:nvSpPr>
            <p:cNvPr id="88" name="Freeform: Shape 87"/>
            <p:cNvSpPr/>
            <p:nvPr/>
          </p:nvSpPr>
          <p:spPr>
            <a:xfrm>
              <a:off x="838080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Rainy</a:t>
              </a:r>
            </a:p>
          </p:txBody>
        </p:sp>
        <p:sp>
          <p:nvSpPr>
            <p:cNvPr id="89" name="Freeform: Shape 88"/>
            <p:cNvSpPr/>
            <p:nvPr/>
          </p:nvSpPr>
          <p:spPr>
            <a:xfrm>
              <a:off x="5927759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90" name="Freeform: Shape 89"/>
            <p:cNvSpPr/>
            <p:nvPr/>
          </p:nvSpPr>
          <p:spPr>
            <a:xfrm>
              <a:off x="4718520" y="19098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91" name="Freeform: Shape 90"/>
            <p:cNvSpPr/>
            <p:nvPr/>
          </p:nvSpPr>
          <p:spPr>
            <a:xfrm>
              <a:off x="3382920" y="19098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92" name="Freeform: Shape 91"/>
            <p:cNvSpPr/>
            <p:nvPr/>
          </p:nvSpPr>
          <p:spPr>
            <a:xfrm>
              <a:off x="2110319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  </a:t>
              </a:r>
            </a:p>
          </p:txBody>
        </p:sp>
        <p:sp>
          <p:nvSpPr>
            <p:cNvPr id="93" name="Freeform: Shape 92"/>
            <p:cNvSpPr/>
            <p:nvPr/>
          </p:nvSpPr>
          <p:spPr>
            <a:xfrm>
              <a:off x="838080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Overcast</a:t>
              </a:r>
            </a:p>
          </p:txBody>
        </p:sp>
        <p:sp>
          <p:nvSpPr>
            <p:cNvPr id="94" name="Freeform: Shape 93"/>
            <p:cNvSpPr/>
            <p:nvPr/>
          </p:nvSpPr>
          <p:spPr>
            <a:xfrm>
              <a:off x="5927759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95" name="Freeform: Shape 94"/>
            <p:cNvSpPr/>
            <p:nvPr/>
          </p:nvSpPr>
          <p:spPr>
            <a:xfrm>
              <a:off x="4718520" y="16048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True</a:t>
              </a:r>
            </a:p>
          </p:txBody>
        </p:sp>
        <p:sp>
          <p:nvSpPr>
            <p:cNvPr id="96" name="Freeform: Shape 95"/>
            <p:cNvSpPr/>
            <p:nvPr/>
          </p:nvSpPr>
          <p:spPr>
            <a:xfrm>
              <a:off x="3382920" y="16048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97" name="Freeform: Shape 96"/>
            <p:cNvSpPr/>
            <p:nvPr/>
          </p:nvSpPr>
          <p:spPr>
            <a:xfrm>
              <a:off x="2110319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98" name="Freeform: Shape 97"/>
            <p:cNvSpPr/>
            <p:nvPr/>
          </p:nvSpPr>
          <p:spPr>
            <a:xfrm>
              <a:off x="838080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99" name="Freeform: Shape 98"/>
            <p:cNvSpPr/>
            <p:nvPr/>
          </p:nvSpPr>
          <p:spPr>
            <a:xfrm>
              <a:off x="5927759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100" name="Freeform: Shape 99"/>
            <p:cNvSpPr/>
            <p:nvPr/>
          </p:nvSpPr>
          <p:spPr>
            <a:xfrm>
              <a:off x="4718520" y="13003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101" name="Freeform: Shape 100"/>
            <p:cNvSpPr/>
            <p:nvPr/>
          </p:nvSpPr>
          <p:spPr>
            <a:xfrm>
              <a:off x="3382920" y="13003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102" name="Freeform: Shape 101"/>
            <p:cNvSpPr/>
            <p:nvPr/>
          </p:nvSpPr>
          <p:spPr>
            <a:xfrm>
              <a:off x="2110319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103" name="Freeform: Shape 102"/>
            <p:cNvSpPr/>
            <p:nvPr/>
          </p:nvSpPr>
          <p:spPr>
            <a:xfrm>
              <a:off x="838080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104" name="Freeform: Shape 103"/>
            <p:cNvSpPr/>
            <p:nvPr/>
          </p:nvSpPr>
          <p:spPr>
            <a:xfrm>
              <a:off x="5927759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Play</a:t>
              </a:r>
            </a:p>
          </p:txBody>
        </p:sp>
        <p:sp>
          <p:nvSpPr>
            <p:cNvPr id="105" name="Freeform: Shape 104"/>
            <p:cNvSpPr/>
            <p:nvPr/>
          </p:nvSpPr>
          <p:spPr>
            <a:xfrm>
              <a:off x="4718520" y="9954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Windy</a:t>
              </a:r>
            </a:p>
          </p:txBody>
        </p:sp>
        <p:sp>
          <p:nvSpPr>
            <p:cNvPr id="106" name="Freeform: Shape 105"/>
            <p:cNvSpPr/>
            <p:nvPr/>
          </p:nvSpPr>
          <p:spPr>
            <a:xfrm>
              <a:off x="3382920" y="9954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Humidity</a:t>
              </a:r>
            </a:p>
          </p:txBody>
        </p:sp>
        <p:sp>
          <p:nvSpPr>
            <p:cNvPr id="107" name="Freeform: Shape 106"/>
            <p:cNvSpPr/>
            <p:nvPr/>
          </p:nvSpPr>
          <p:spPr>
            <a:xfrm>
              <a:off x="2110319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Temperature</a:t>
              </a:r>
            </a:p>
          </p:txBody>
        </p:sp>
        <p:sp>
          <p:nvSpPr>
            <p:cNvPr id="108" name="Freeform: Shape 107"/>
            <p:cNvSpPr/>
            <p:nvPr/>
          </p:nvSpPr>
          <p:spPr>
            <a:xfrm>
              <a:off x="838080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Outlook</a:t>
              </a:r>
            </a:p>
          </p:txBody>
        </p:sp>
        <p:sp>
          <p:nvSpPr>
            <p:cNvPr id="109" name="Straight Connector 108"/>
            <p:cNvSpPr/>
            <p:nvPr/>
          </p:nvSpPr>
          <p:spPr>
            <a:xfrm>
              <a:off x="838080" y="995400"/>
              <a:ext cx="0" cy="243864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10" name="Straight Connector 109"/>
            <p:cNvSpPr/>
            <p:nvPr/>
          </p:nvSpPr>
          <p:spPr>
            <a:xfrm>
              <a:off x="838080" y="1300319"/>
              <a:ext cx="6361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11" name="Straight Connector 110"/>
            <p:cNvSpPr/>
            <p:nvPr/>
          </p:nvSpPr>
          <p:spPr>
            <a:xfrm>
              <a:off x="838080" y="995400"/>
              <a:ext cx="6361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12" name="Freeform: Shape 111"/>
            <p:cNvSpPr/>
            <p:nvPr/>
          </p:nvSpPr>
          <p:spPr>
            <a:xfrm>
              <a:off x="5927759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13" name="Freeform: Shape 112"/>
            <p:cNvSpPr/>
            <p:nvPr/>
          </p:nvSpPr>
          <p:spPr>
            <a:xfrm>
              <a:off x="4718520" y="28242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14" name="Freeform: Shape 113"/>
            <p:cNvSpPr/>
            <p:nvPr/>
          </p:nvSpPr>
          <p:spPr>
            <a:xfrm>
              <a:off x="3382920" y="28242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15" name="Freeform: Shape 114"/>
            <p:cNvSpPr/>
            <p:nvPr/>
          </p:nvSpPr>
          <p:spPr>
            <a:xfrm>
              <a:off x="2110319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16" name="Freeform: Shape 115"/>
            <p:cNvSpPr/>
            <p:nvPr/>
          </p:nvSpPr>
          <p:spPr>
            <a:xfrm>
              <a:off x="838080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17" name="Freeform: Shape 116"/>
            <p:cNvSpPr/>
            <p:nvPr/>
          </p:nvSpPr>
          <p:spPr>
            <a:xfrm>
              <a:off x="5927759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18" name="Freeform: Shape 117"/>
            <p:cNvSpPr/>
            <p:nvPr/>
          </p:nvSpPr>
          <p:spPr>
            <a:xfrm>
              <a:off x="4718520" y="28242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19" name="Freeform: Shape 118"/>
            <p:cNvSpPr/>
            <p:nvPr/>
          </p:nvSpPr>
          <p:spPr>
            <a:xfrm>
              <a:off x="3382920" y="28242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0" name="Freeform: Shape 119"/>
            <p:cNvSpPr/>
            <p:nvPr/>
          </p:nvSpPr>
          <p:spPr>
            <a:xfrm>
              <a:off x="2110319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1" name="Freeform: Shape 120"/>
            <p:cNvSpPr/>
            <p:nvPr/>
          </p:nvSpPr>
          <p:spPr>
            <a:xfrm>
              <a:off x="838080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2" name="Freeform: Shape 121"/>
            <p:cNvSpPr/>
            <p:nvPr/>
          </p:nvSpPr>
          <p:spPr>
            <a:xfrm>
              <a:off x="5927759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123" name="Freeform: Shape 122"/>
            <p:cNvSpPr/>
            <p:nvPr/>
          </p:nvSpPr>
          <p:spPr>
            <a:xfrm>
              <a:off x="4718520" y="28242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True</a:t>
              </a:r>
            </a:p>
          </p:txBody>
        </p:sp>
        <p:sp>
          <p:nvSpPr>
            <p:cNvPr id="124" name="Freeform: Shape 123"/>
            <p:cNvSpPr/>
            <p:nvPr/>
          </p:nvSpPr>
          <p:spPr>
            <a:xfrm>
              <a:off x="3382920" y="28242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Normal</a:t>
              </a:r>
            </a:p>
          </p:txBody>
        </p:sp>
        <p:sp>
          <p:nvSpPr>
            <p:cNvPr id="125" name="Freeform: Shape 124"/>
            <p:cNvSpPr/>
            <p:nvPr/>
          </p:nvSpPr>
          <p:spPr>
            <a:xfrm>
              <a:off x="2110319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Cool</a:t>
              </a:r>
            </a:p>
          </p:txBody>
        </p:sp>
        <p:sp>
          <p:nvSpPr>
            <p:cNvPr id="126" name="Freeform: Shape 125"/>
            <p:cNvSpPr/>
            <p:nvPr/>
          </p:nvSpPr>
          <p:spPr>
            <a:xfrm>
              <a:off x="838080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Rainy</a:t>
              </a:r>
            </a:p>
          </p:txBody>
        </p:sp>
        <p:sp>
          <p:nvSpPr>
            <p:cNvPr id="127" name="Freeform: Shape 126"/>
            <p:cNvSpPr/>
            <p:nvPr/>
          </p:nvSpPr>
          <p:spPr>
            <a:xfrm>
              <a:off x="5927759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8" name="Freeform: Shape 127"/>
            <p:cNvSpPr/>
            <p:nvPr/>
          </p:nvSpPr>
          <p:spPr>
            <a:xfrm>
              <a:off x="4718520" y="312912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9" name="Freeform: Shape 128"/>
            <p:cNvSpPr/>
            <p:nvPr/>
          </p:nvSpPr>
          <p:spPr>
            <a:xfrm>
              <a:off x="3382920" y="312912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0" name="Freeform: Shape 129"/>
            <p:cNvSpPr/>
            <p:nvPr/>
          </p:nvSpPr>
          <p:spPr>
            <a:xfrm>
              <a:off x="2110319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1" name="Freeform: Shape 130"/>
            <p:cNvSpPr/>
            <p:nvPr/>
          </p:nvSpPr>
          <p:spPr>
            <a:xfrm>
              <a:off x="838080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2" name="Freeform: Shape 131"/>
            <p:cNvSpPr/>
            <p:nvPr/>
          </p:nvSpPr>
          <p:spPr>
            <a:xfrm>
              <a:off x="5927759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3" name="Freeform: Shape 132"/>
            <p:cNvSpPr/>
            <p:nvPr/>
          </p:nvSpPr>
          <p:spPr>
            <a:xfrm>
              <a:off x="4718520" y="312912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4" name="Freeform: Shape 133"/>
            <p:cNvSpPr/>
            <p:nvPr/>
          </p:nvSpPr>
          <p:spPr>
            <a:xfrm>
              <a:off x="3382920" y="312912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5" name="Freeform: Shape 134"/>
            <p:cNvSpPr/>
            <p:nvPr/>
          </p:nvSpPr>
          <p:spPr>
            <a:xfrm>
              <a:off x="2110319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6" name="Freeform: Shape 135"/>
            <p:cNvSpPr/>
            <p:nvPr/>
          </p:nvSpPr>
          <p:spPr>
            <a:xfrm>
              <a:off x="838080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7" name="Freeform: Shape 136"/>
            <p:cNvSpPr/>
            <p:nvPr/>
          </p:nvSpPr>
          <p:spPr>
            <a:xfrm>
              <a:off x="5927759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8" name="Freeform: Shape 137"/>
            <p:cNvSpPr/>
            <p:nvPr/>
          </p:nvSpPr>
          <p:spPr>
            <a:xfrm>
              <a:off x="4718520" y="312912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9" name="Freeform: Shape 138"/>
            <p:cNvSpPr/>
            <p:nvPr/>
          </p:nvSpPr>
          <p:spPr>
            <a:xfrm>
              <a:off x="3382920" y="312912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0" name="Freeform: Shape 139"/>
            <p:cNvSpPr/>
            <p:nvPr/>
          </p:nvSpPr>
          <p:spPr>
            <a:xfrm>
              <a:off x="2110319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1" name="Freeform: Shape 140"/>
            <p:cNvSpPr/>
            <p:nvPr/>
          </p:nvSpPr>
          <p:spPr>
            <a:xfrm>
              <a:off x="838080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2" name="Freeform: Shape 141"/>
            <p:cNvSpPr/>
            <p:nvPr/>
          </p:nvSpPr>
          <p:spPr>
            <a:xfrm>
              <a:off x="5927759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3" name="Freeform: Shape 142"/>
            <p:cNvSpPr/>
            <p:nvPr/>
          </p:nvSpPr>
          <p:spPr>
            <a:xfrm>
              <a:off x="4718520" y="251964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4" name="Freeform: Shape 143"/>
            <p:cNvSpPr/>
            <p:nvPr/>
          </p:nvSpPr>
          <p:spPr>
            <a:xfrm>
              <a:off x="3382920" y="251964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5" name="Freeform: Shape 144"/>
            <p:cNvSpPr/>
            <p:nvPr/>
          </p:nvSpPr>
          <p:spPr>
            <a:xfrm>
              <a:off x="2110319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6" name="Freeform: Shape 145"/>
            <p:cNvSpPr/>
            <p:nvPr/>
          </p:nvSpPr>
          <p:spPr>
            <a:xfrm>
              <a:off x="838080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7" name="Freeform: Shape 146"/>
            <p:cNvSpPr/>
            <p:nvPr/>
          </p:nvSpPr>
          <p:spPr>
            <a:xfrm>
              <a:off x="5927759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8" name="Freeform: Shape 147"/>
            <p:cNvSpPr/>
            <p:nvPr/>
          </p:nvSpPr>
          <p:spPr>
            <a:xfrm>
              <a:off x="4718520" y="251964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9" name="Freeform: Shape 148"/>
            <p:cNvSpPr/>
            <p:nvPr/>
          </p:nvSpPr>
          <p:spPr>
            <a:xfrm>
              <a:off x="3382920" y="251964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0" name="Freeform: Shape 149"/>
            <p:cNvSpPr/>
            <p:nvPr/>
          </p:nvSpPr>
          <p:spPr>
            <a:xfrm>
              <a:off x="2110319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1" name="Freeform: Shape 150"/>
            <p:cNvSpPr/>
            <p:nvPr/>
          </p:nvSpPr>
          <p:spPr>
            <a:xfrm>
              <a:off x="838080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2" name="Freeform: Shape 151"/>
            <p:cNvSpPr/>
            <p:nvPr/>
          </p:nvSpPr>
          <p:spPr>
            <a:xfrm>
              <a:off x="5927759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153" name="Freeform: Shape 152"/>
            <p:cNvSpPr/>
            <p:nvPr/>
          </p:nvSpPr>
          <p:spPr>
            <a:xfrm>
              <a:off x="4718520" y="251964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154" name="Freeform: Shape 153"/>
            <p:cNvSpPr/>
            <p:nvPr/>
          </p:nvSpPr>
          <p:spPr>
            <a:xfrm>
              <a:off x="3382920" y="251964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Normal</a:t>
              </a:r>
            </a:p>
          </p:txBody>
        </p:sp>
        <p:sp>
          <p:nvSpPr>
            <p:cNvPr id="155" name="Freeform: Shape 154"/>
            <p:cNvSpPr/>
            <p:nvPr/>
          </p:nvSpPr>
          <p:spPr>
            <a:xfrm>
              <a:off x="2110319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Cool</a:t>
              </a:r>
            </a:p>
          </p:txBody>
        </p:sp>
        <p:sp>
          <p:nvSpPr>
            <p:cNvPr id="156" name="Freeform: Shape 155"/>
            <p:cNvSpPr/>
            <p:nvPr/>
          </p:nvSpPr>
          <p:spPr>
            <a:xfrm>
              <a:off x="838080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Rainy</a:t>
              </a:r>
            </a:p>
          </p:txBody>
        </p:sp>
        <p:sp>
          <p:nvSpPr>
            <p:cNvPr id="157" name="Straight Connector 156"/>
            <p:cNvSpPr/>
            <p:nvPr/>
          </p:nvSpPr>
          <p:spPr>
            <a:xfrm>
              <a:off x="7200000" y="995400"/>
              <a:ext cx="2520" cy="243864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58" name="Straight Connector 157"/>
            <p:cNvSpPr/>
            <p:nvPr/>
          </p:nvSpPr>
          <p:spPr>
            <a:xfrm>
              <a:off x="838080" y="995400"/>
              <a:ext cx="2519" cy="243864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</p:grpSp>
      <p:sp>
        <p:nvSpPr>
          <p:cNvPr id="161" name="Slide Number Placeholder 16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7</a:t>
            </a:fld>
            <a:endParaRPr lang="uk-U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Weather data (again!)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38080" y="4125240"/>
            <a:ext cx="6019920" cy="1325520"/>
            <a:chOff x="838080" y="4125240"/>
            <a:chExt cx="6019920" cy="1325520"/>
          </a:xfrm>
        </p:grpSpPr>
        <p:sp>
          <p:nvSpPr>
            <p:cNvPr id="4" name="Freeform: Shape 3"/>
            <p:cNvSpPr/>
            <p:nvPr/>
          </p:nvSpPr>
          <p:spPr>
            <a:xfrm>
              <a:off x="838080" y="4125240"/>
              <a:ext cx="6019919" cy="13255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outlook = sunny and humidity = high then play = no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outlook = rainy and windy = true then play = no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outlook = overcast then play = yes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humidity = normal then play = yes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none of the above then play = yes</a:t>
              </a:r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838080" y="4125240"/>
              <a:ext cx="6019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6" name="Straight Connector 5"/>
            <p:cNvSpPr/>
            <p:nvPr/>
          </p:nvSpPr>
          <p:spPr>
            <a:xfrm>
              <a:off x="838080" y="5450759"/>
              <a:ext cx="6019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7" name="Straight Connector 6"/>
            <p:cNvSpPr/>
            <p:nvPr/>
          </p:nvSpPr>
          <p:spPr>
            <a:xfrm>
              <a:off x="838080" y="4125240"/>
              <a:ext cx="0" cy="1325519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8" name="Straight Connector 7"/>
            <p:cNvSpPr/>
            <p:nvPr/>
          </p:nvSpPr>
          <p:spPr>
            <a:xfrm>
              <a:off x="6858000" y="4125240"/>
              <a:ext cx="0" cy="1325519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438280" y="5191920"/>
            <a:ext cx="6019920" cy="1325520"/>
            <a:chOff x="2438280" y="5191920"/>
            <a:chExt cx="6019920" cy="1325520"/>
          </a:xfrm>
        </p:grpSpPr>
        <p:sp>
          <p:nvSpPr>
            <p:cNvPr id="10" name="Freeform: Shape 9"/>
            <p:cNvSpPr/>
            <p:nvPr/>
          </p:nvSpPr>
          <p:spPr>
            <a:xfrm>
              <a:off x="2438280" y="5191920"/>
              <a:ext cx="6019919" cy="13255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outlook = sunny and humidity &gt; 83 then play = no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outlook = rainy and windy = true then play = no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outlook = overcast then play = yes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humidity &lt; 85 then play = no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If none of the above then play = yes</a:t>
              </a:r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2438280" y="5191920"/>
              <a:ext cx="6019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2" name="Straight Connector 11"/>
            <p:cNvSpPr/>
            <p:nvPr/>
          </p:nvSpPr>
          <p:spPr>
            <a:xfrm>
              <a:off x="2438280" y="6517440"/>
              <a:ext cx="6019920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3" name="Straight Connector 12"/>
            <p:cNvSpPr/>
            <p:nvPr/>
          </p:nvSpPr>
          <p:spPr>
            <a:xfrm>
              <a:off x="2438280" y="5191920"/>
              <a:ext cx="0" cy="132552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4" name="Straight Connector 13"/>
            <p:cNvSpPr/>
            <p:nvPr/>
          </p:nvSpPr>
          <p:spPr>
            <a:xfrm>
              <a:off x="8458200" y="5191920"/>
              <a:ext cx="0" cy="132552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838439" y="995400"/>
            <a:ext cx="6364441" cy="2438640"/>
            <a:chOff x="838439" y="995400"/>
            <a:chExt cx="6364441" cy="2438640"/>
          </a:xfrm>
        </p:grpSpPr>
        <p:sp>
          <p:nvSpPr>
            <p:cNvPr id="16" name="Freeform: Shape 15"/>
            <p:cNvSpPr/>
            <p:nvPr/>
          </p:nvSpPr>
          <p:spPr>
            <a:xfrm>
              <a:off x="5928120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4718880" y="25192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3383280" y="25192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2110680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838439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928120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718880" y="22147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3383280" y="22147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Normal</a:t>
              </a:r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2110680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Mild</a:t>
              </a:r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838439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Rainy</a:t>
              </a:r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5928120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27" name="Freeform: Shape 26"/>
            <p:cNvSpPr/>
            <p:nvPr/>
          </p:nvSpPr>
          <p:spPr>
            <a:xfrm>
              <a:off x="4718880" y="19098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3383280" y="19098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29" name="Freeform: Shape 28"/>
            <p:cNvSpPr/>
            <p:nvPr/>
          </p:nvSpPr>
          <p:spPr>
            <a:xfrm>
              <a:off x="2110680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  </a:t>
              </a:r>
            </a:p>
          </p:txBody>
        </p:sp>
        <p:sp>
          <p:nvSpPr>
            <p:cNvPr id="30" name="Freeform: Shape 29"/>
            <p:cNvSpPr/>
            <p:nvPr/>
          </p:nvSpPr>
          <p:spPr>
            <a:xfrm>
              <a:off x="838439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Overcast</a:t>
              </a:r>
            </a:p>
          </p:txBody>
        </p:sp>
        <p:sp>
          <p:nvSpPr>
            <p:cNvPr id="31" name="Freeform: Shape 30"/>
            <p:cNvSpPr/>
            <p:nvPr/>
          </p:nvSpPr>
          <p:spPr>
            <a:xfrm>
              <a:off x="5928120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32" name="Freeform: Shape 31"/>
            <p:cNvSpPr/>
            <p:nvPr/>
          </p:nvSpPr>
          <p:spPr>
            <a:xfrm>
              <a:off x="4718880" y="16048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True</a:t>
              </a:r>
            </a:p>
          </p:txBody>
        </p:sp>
        <p:sp>
          <p:nvSpPr>
            <p:cNvPr id="33" name="Freeform: Shape 32"/>
            <p:cNvSpPr/>
            <p:nvPr/>
          </p:nvSpPr>
          <p:spPr>
            <a:xfrm>
              <a:off x="3383280" y="16048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34" name="Freeform: Shape 33"/>
            <p:cNvSpPr/>
            <p:nvPr/>
          </p:nvSpPr>
          <p:spPr>
            <a:xfrm>
              <a:off x="2110680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35" name="Freeform: Shape 34"/>
            <p:cNvSpPr/>
            <p:nvPr/>
          </p:nvSpPr>
          <p:spPr>
            <a:xfrm>
              <a:off x="838439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36" name="Freeform: Shape 35"/>
            <p:cNvSpPr/>
            <p:nvPr/>
          </p:nvSpPr>
          <p:spPr>
            <a:xfrm>
              <a:off x="5928120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37" name="Freeform: Shape 36"/>
            <p:cNvSpPr/>
            <p:nvPr/>
          </p:nvSpPr>
          <p:spPr>
            <a:xfrm>
              <a:off x="4718880" y="13003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38" name="Freeform: Shape 37"/>
            <p:cNvSpPr/>
            <p:nvPr/>
          </p:nvSpPr>
          <p:spPr>
            <a:xfrm>
              <a:off x="3383280" y="13003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39" name="Freeform: Shape 38"/>
            <p:cNvSpPr/>
            <p:nvPr/>
          </p:nvSpPr>
          <p:spPr>
            <a:xfrm>
              <a:off x="2110680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40" name="Freeform: Shape 39"/>
            <p:cNvSpPr/>
            <p:nvPr/>
          </p:nvSpPr>
          <p:spPr>
            <a:xfrm>
              <a:off x="838439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41" name="Freeform: Shape 40"/>
            <p:cNvSpPr/>
            <p:nvPr/>
          </p:nvSpPr>
          <p:spPr>
            <a:xfrm>
              <a:off x="5928120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Play</a:t>
              </a:r>
            </a:p>
          </p:txBody>
        </p:sp>
        <p:sp>
          <p:nvSpPr>
            <p:cNvPr id="42" name="Freeform: Shape 41"/>
            <p:cNvSpPr/>
            <p:nvPr/>
          </p:nvSpPr>
          <p:spPr>
            <a:xfrm>
              <a:off x="4718880" y="9954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Windy</a:t>
              </a:r>
            </a:p>
          </p:txBody>
        </p:sp>
        <p:sp>
          <p:nvSpPr>
            <p:cNvPr id="43" name="Freeform: Shape 42"/>
            <p:cNvSpPr/>
            <p:nvPr/>
          </p:nvSpPr>
          <p:spPr>
            <a:xfrm>
              <a:off x="3383280" y="9954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Humidity</a:t>
              </a:r>
            </a:p>
          </p:txBody>
        </p:sp>
        <p:sp>
          <p:nvSpPr>
            <p:cNvPr id="44" name="Freeform: Shape 43"/>
            <p:cNvSpPr/>
            <p:nvPr/>
          </p:nvSpPr>
          <p:spPr>
            <a:xfrm>
              <a:off x="2110680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Temperature</a:t>
              </a:r>
            </a:p>
          </p:txBody>
        </p:sp>
        <p:sp>
          <p:nvSpPr>
            <p:cNvPr id="45" name="Freeform: Shape 44"/>
            <p:cNvSpPr/>
            <p:nvPr/>
          </p:nvSpPr>
          <p:spPr>
            <a:xfrm>
              <a:off x="838439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Outlook</a:t>
              </a:r>
            </a:p>
          </p:txBody>
        </p:sp>
        <p:sp>
          <p:nvSpPr>
            <p:cNvPr id="46" name="Straight Connector 45"/>
            <p:cNvSpPr/>
            <p:nvPr/>
          </p:nvSpPr>
          <p:spPr>
            <a:xfrm>
              <a:off x="838439" y="995400"/>
              <a:ext cx="0" cy="182880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7" name="Straight Connector 46"/>
            <p:cNvSpPr/>
            <p:nvPr/>
          </p:nvSpPr>
          <p:spPr>
            <a:xfrm>
              <a:off x="7200360" y="995400"/>
              <a:ext cx="0" cy="182880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8" name="Straight Connector 47"/>
            <p:cNvSpPr/>
            <p:nvPr/>
          </p:nvSpPr>
          <p:spPr>
            <a:xfrm>
              <a:off x="838439" y="1300319"/>
              <a:ext cx="6361921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9" name="Straight Connector 48"/>
            <p:cNvSpPr/>
            <p:nvPr/>
          </p:nvSpPr>
          <p:spPr>
            <a:xfrm>
              <a:off x="838439" y="995400"/>
              <a:ext cx="6361921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50" name="Freeform: Shape 49"/>
            <p:cNvSpPr/>
            <p:nvPr/>
          </p:nvSpPr>
          <p:spPr>
            <a:xfrm>
              <a:off x="5928120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51" name="Freeform: Shape 50"/>
            <p:cNvSpPr/>
            <p:nvPr/>
          </p:nvSpPr>
          <p:spPr>
            <a:xfrm>
              <a:off x="4718880" y="25192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52" name="Freeform: Shape 51"/>
            <p:cNvSpPr/>
            <p:nvPr/>
          </p:nvSpPr>
          <p:spPr>
            <a:xfrm>
              <a:off x="3383280" y="25192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53" name="Freeform: Shape 52"/>
            <p:cNvSpPr/>
            <p:nvPr/>
          </p:nvSpPr>
          <p:spPr>
            <a:xfrm>
              <a:off x="2110680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54" name="Freeform: Shape 53"/>
            <p:cNvSpPr/>
            <p:nvPr/>
          </p:nvSpPr>
          <p:spPr>
            <a:xfrm>
              <a:off x="838439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55" name="Freeform: Shape 54"/>
            <p:cNvSpPr/>
            <p:nvPr/>
          </p:nvSpPr>
          <p:spPr>
            <a:xfrm>
              <a:off x="5928120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56" name="Freeform: Shape 55"/>
            <p:cNvSpPr/>
            <p:nvPr/>
          </p:nvSpPr>
          <p:spPr>
            <a:xfrm>
              <a:off x="4718880" y="22147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57" name="Freeform: Shape 56"/>
            <p:cNvSpPr/>
            <p:nvPr/>
          </p:nvSpPr>
          <p:spPr>
            <a:xfrm>
              <a:off x="3383280" y="22147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Normal</a:t>
              </a:r>
            </a:p>
          </p:txBody>
        </p:sp>
        <p:sp>
          <p:nvSpPr>
            <p:cNvPr id="58" name="Freeform: Shape 57"/>
            <p:cNvSpPr/>
            <p:nvPr/>
          </p:nvSpPr>
          <p:spPr>
            <a:xfrm>
              <a:off x="2110680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Mild</a:t>
              </a:r>
            </a:p>
          </p:txBody>
        </p:sp>
        <p:sp>
          <p:nvSpPr>
            <p:cNvPr id="59" name="Freeform: Shape 58"/>
            <p:cNvSpPr/>
            <p:nvPr/>
          </p:nvSpPr>
          <p:spPr>
            <a:xfrm>
              <a:off x="838439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Rainy</a:t>
              </a:r>
            </a:p>
          </p:txBody>
        </p:sp>
        <p:sp>
          <p:nvSpPr>
            <p:cNvPr id="60" name="Freeform: Shape 59"/>
            <p:cNvSpPr/>
            <p:nvPr/>
          </p:nvSpPr>
          <p:spPr>
            <a:xfrm>
              <a:off x="5928120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61" name="Freeform: Shape 60"/>
            <p:cNvSpPr/>
            <p:nvPr/>
          </p:nvSpPr>
          <p:spPr>
            <a:xfrm>
              <a:off x="4718880" y="19098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62" name="Freeform: Shape 61"/>
            <p:cNvSpPr/>
            <p:nvPr/>
          </p:nvSpPr>
          <p:spPr>
            <a:xfrm>
              <a:off x="3383280" y="19098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63" name="Freeform: Shape 62"/>
            <p:cNvSpPr/>
            <p:nvPr/>
          </p:nvSpPr>
          <p:spPr>
            <a:xfrm>
              <a:off x="2110680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  </a:t>
              </a:r>
            </a:p>
          </p:txBody>
        </p:sp>
        <p:sp>
          <p:nvSpPr>
            <p:cNvPr id="64" name="Freeform: Shape 63"/>
            <p:cNvSpPr/>
            <p:nvPr/>
          </p:nvSpPr>
          <p:spPr>
            <a:xfrm>
              <a:off x="838439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Overcast</a:t>
              </a:r>
            </a:p>
          </p:txBody>
        </p:sp>
        <p:sp>
          <p:nvSpPr>
            <p:cNvPr id="65" name="Freeform: Shape 64"/>
            <p:cNvSpPr/>
            <p:nvPr/>
          </p:nvSpPr>
          <p:spPr>
            <a:xfrm>
              <a:off x="5928120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66" name="Freeform: Shape 65"/>
            <p:cNvSpPr/>
            <p:nvPr/>
          </p:nvSpPr>
          <p:spPr>
            <a:xfrm>
              <a:off x="4718880" y="16048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True</a:t>
              </a:r>
            </a:p>
          </p:txBody>
        </p:sp>
        <p:sp>
          <p:nvSpPr>
            <p:cNvPr id="67" name="Freeform: Shape 66"/>
            <p:cNvSpPr/>
            <p:nvPr/>
          </p:nvSpPr>
          <p:spPr>
            <a:xfrm>
              <a:off x="3383280" y="16048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68" name="Freeform: Shape 67"/>
            <p:cNvSpPr/>
            <p:nvPr/>
          </p:nvSpPr>
          <p:spPr>
            <a:xfrm>
              <a:off x="2110680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69" name="Freeform: Shape 68"/>
            <p:cNvSpPr/>
            <p:nvPr/>
          </p:nvSpPr>
          <p:spPr>
            <a:xfrm>
              <a:off x="838439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70" name="Freeform: Shape 69"/>
            <p:cNvSpPr/>
            <p:nvPr/>
          </p:nvSpPr>
          <p:spPr>
            <a:xfrm>
              <a:off x="5928120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71" name="Freeform: Shape 70"/>
            <p:cNvSpPr/>
            <p:nvPr/>
          </p:nvSpPr>
          <p:spPr>
            <a:xfrm>
              <a:off x="4718880" y="13003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72" name="Freeform: Shape 71"/>
            <p:cNvSpPr/>
            <p:nvPr/>
          </p:nvSpPr>
          <p:spPr>
            <a:xfrm>
              <a:off x="3383280" y="13003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73" name="Freeform: Shape 72"/>
            <p:cNvSpPr/>
            <p:nvPr/>
          </p:nvSpPr>
          <p:spPr>
            <a:xfrm>
              <a:off x="2110680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74" name="Freeform: Shape 73"/>
            <p:cNvSpPr/>
            <p:nvPr/>
          </p:nvSpPr>
          <p:spPr>
            <a:xfrm>
              <a:off x="838439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75" name="Freeform: Shape 74"/>
            <p:cNvSpPr/>
            <p:nvPr/>
          </p:nvSpPr>
          <p:spPr>
            <a:xfrm>
              <a:off x="5928120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Play</a:t>
              </a:r>
            </a:p>
          </p:txBody>
        </p:sp>
        <p:sp>
          <p:nvSpPr>
            <p:cNvPr id="76" name="Freeform: Shape 75"/>
            <p:cNvSpPr/>
            <p:nvPr/>
          </p:nvSpPr>
          <p:spPr>
            <a:xfrm>
              <a:off x="4718880" y="9954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Windy</a:t>
              </a:r>
            </a:p>
          </p:txBody>
        </p:sp>
        <p:sp>
          <p:nvSpPr>
            <p:cNvPr id="77" name="Freeform: Shape 76"/>
            <p:cNvSpPr/>
            <p:nvPr/>
          </p:nvSpPr>
          <p:spPr>
            <a:xfrm>
              <a:off x="3383280" y="9954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Humidity</a:t>
              </a:r>
            </a:p>
          </p:txBody>
        </p:sp>
        <p:sp>
          <p:nvSpPr>
            <p:cNvPr id="78" name="Freeform: Shape 77"/>
            <p:cNvSpPr/>
            <p:nvPr/>
          </p:nvSpPr>
          <p:spPr>
            <a:xfrm>
              <a:off x="2110680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Temperature</a:t>
              </a:r>
            </a:p>
          </p:txBody>
        </p:sp>
        <p:sp>
          <p:nvSpPr>
            <p:cNvPr id="79" name="Freeform: Shape 78"/>
            <p:cNvSpPr/>
            <p:nvPr/>
          </p:nvSpPr>
          <p:spPr>
            <a:xfrm>
              <a:off x="838439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Outlook</a:t>
              </a:r>
            </a:p>
          </p:txBody>
        </p:sp>
        <p:sp>
          <p:nvSpPr>
            <p:cNvPr id="80" name="Straight Connector 79"/>
            <p:cNvSpPr/>
            <p:nvPr/>
          </p:nvSpPr>
          <p:spPr>
            <a:xfrm>
              <a:off x="838439" y="3434040"/>
              <a:ext cx="6361921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81" name="Straight Connector 80"/>
            <p:cNvSpPr/>
            <p:nvPr/>
          </p:nvSpPr>
          <p:spPr>
            <a:xfrm>
              <a:off x="838439" y="995400"/>
              <a:ext cx="0" cy="182880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82" name="Straight Connector 81"/>
            <p:cNvSpPr/>
            <p:nvPr/>
          </p:nvSpPr>
          <p:spPr>
            <a:xfrm>
              <a:off x="7200360" y="995400"/>
              <a:ext cx="0" cy="182880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83" name="Straight Connector 82"/>
            <p:cNvSpPr/>
            <p:nvPr/>
          </p:nvSpPr>
          <p:spPr>
            <a:xfrm>
              <a:off x="838439" y="1300319"/>
              <a:ext cx="6361921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84" name="Straight Connector 83"/>
            <p:cNvSpPr/>
            <p:nvPr/>
          </p:nvSpPr>
          <p:spPr>
            <a:xfrm>
              <a:off x="838439" y="995400"/>
              <a:ext cx="6361921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85" name="Freeform: Shape 84"/>
            <p:cNvSpPr/>
            <p:nvPr/>
          </p:nvSpPr>
          <p:spPr>
            <a:xfrm>
              <a:off x="5928120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86" name="Freeform: Shape 85"/>
            <p:cNvSpPr/>
            <p:nvPr/>
          </p:nvSpPr>
          <p:spPr>
            <a:xfrm>
              <a:off x="4718880" y="25192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87" name="Freeform: Shape 86"/>
            <p:cNvSpPr/>
            <p:nvPr/>
          </p:nvSpPr>
          <p:spPr>
            <a:xfrm>
              <a:off x="3383280" y="25192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88" name="Freeform: Shape 87"/>
            <p:cNvSpPr/>
            <p:nvPr/>
          </p:nvSpPr>
          <p:spPr>
            <a:xfrm>
              <a:off x="2110680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89" name="Freeform: Shape 88"/>
            <p:cNvSpPr/>
            <p:nvPr/>
          </p:nvSpPr>
          <p:spPr>
            <a:xfrm>
              <a:off x="838439" y="25192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90" name="Freeform: Shape 89"/>
            <p:cNvSpPr/>
            <p:nvPr/>
          </p:nvSpPr>
          <p:spPr>
            <a:xfrm>
              <a:off x="5928120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91" name="Freeform: Shape 90"/>
            <p:cNvSpPr/>
            <p:nvPr/>
          </p:nvSpPr>
          <p:spPr>
            <a:xfrm>
              <a:off x="4718880" y="22147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92" name="Freeform: Shape 91"/>
            <p:cNvSpPr/>
            <p:nvPr/>
          </p:nvSpPr>
          <p:spPr>
            <a:xfrm>
              <a:off x="3383280" y="22147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93" name="Freeform: Shape 92"/>
            <p:cNvSpPr/>
            <p:nvPr/>
          </p:nvSpPr>
          <p:spPr>
            <a:xfrm>
              <a:off x="2110680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Mild</a:t>
              </a:r>
            </a:p>
          </p:txBody>
        </p:sp>
        <p:sp>
          <p:nvSpPr>
            <p:cNvPr id="94" name="Freeform: Shape 93"/>
            <p:cNvSpPr/>
            <p:nvPr/>
          </p:nvSpPr>
          <p:spPr>
            <a:xfrm>
              <a:off x="838439" y="22147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Rainy</a:t>
              </a:r>
            </a:p>
          </p:txBody>
        </p:sp>
        <p:sp>
          <p:nvSpPr>
            <p:cNvPr id="95" name="Freeform: Shape 94"/>
            <p:cNvSpPr/>
            <p:nvPr/>
          </p:nvSpPr>
          <p:spPr>
            <a:xfrm>
              <a:off x="5928120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96" name="Freeform: Shape 95"/>
            <p:cNvSpPr/>
            <p:nvPr/>
          </p:nvSpPr>
          <p:spPr>
            <a:xfrm>
              <a:off x="4718880" y="19098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97" name="Freeform: Shape 96"/>
            <p:cNvSpPr/>
            <p:nvPr/>
          </p:nvSpPr>
          <p:spPr>
            <a:xfrm>
              <a:off x="3383280" y="19098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98" name="Freeform: Shape 97"/>
            <p:cNvSpPr/>
            <p:nvPr/>
          </p:nvSpPr>
          <p:spPr>
            <a:xfrm>
              <a:off x="2110680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  </a:t>
              </a:r>
            </a:p>
          </p:txBody>
        </p:sp>
        <p:sp>
          <p:nvSpPr>
            <p:cNvPr id="99" name="Freeform: Shape 98"/>
            <p:cNvSpPr/>
            <p:nvPr/>
          </p:nvSpPr>
          <p:spPr>
            <a:xfrm>
              <a:off x="838439" y="19098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Overcast</a:t>
              </a:r>
            </a:p>
          </p:txBody>
        </p:sp>
        <p:sp>
          <p:nvSpPr>
            <p:cNvPr id="100" name="Freeform: Shape 99"/>
            <p:cNvSpPr/>
            <p:nvPr/>
          </p:nvSpPr>
          <p:spPr>
            <a:xfrm>
              <a:off x="5928120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101" name="Freeform: Shape 100"/>
            <p:cNvSpPr/>
            <p:nvPr/>
          </p:nvSpPr>
          <p:spPr>
            <a:xfrm>
              <a:off x="4718880" y="160488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True</a:t>
              </a:r>
            </a:p>
          </p:txBody>
        </p:sp>
        <p:sp>
          <p:nvSpPr>
            <p:cNvPr id="102" name="Freeform: Shape 101"/>
            <p:cNvSpPr/>
            <p:nvPr/>
          </p:nvSpPr>
          <p:spPr>
            <a:xfrm>
              <a:off x="3383280" y="160488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103" name="Freeform: Shape 102"/>
            <p:cNvSpPr/>
            <p:nvPr/>
          </p:nvSpPr>
          <p:spPr>
            <a:xfrm>
              <a:off x="2110680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104" name="Freeform: Shape 103"/>
            <p:cNvSpPr/>
            <p:nvPr/>
          </p:nvSpPr>
          <p:spPr>
            <a:xfrm>
              <a:off x="838439" y="160488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105" name="Freeform: Shape 104"/>
            <p:cNvSpPr/>
            <p:nvPr/>
          </p:nvSpPr>
          <p:spPr>
            <a:xfrm>
              <a:off x="5928120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106" name="Freeform: Shape 105"/>
            <p:cNvSpPr/>
            <p:nvPr/>
          </p:nvSpPr>
          <p:spPr>
            <a:xfrm>
              <a:off x="4718880" y="1300319"/>
              <a:ext cx="1208879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107" name="Freeform: Shape 106"/>
            <p:cNvSpPr/>
            <p:nvPr/>
          </p:nvSpPr>
          <p:spPr>
            <a:xfrm>
              <a:off x="3383280" y="1300319"/>
              <a:ext cx="133560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High</a:t>
              </a:r>
            </a:p>
          </p:txBody>
        </p:sp>
        <p:sp>
          <p:nvSpPr>
            <p:cNvPr id="108" name="Freeform: Shape 107"/>
            <p:cNvSpPr/>
            <p:nvPr/>
          </p:nvSpPr>
          <p:spPr>
            <a:xfrm>
              <a:off x="2110680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Hot</a:t>
              </a:r>
            </a:p>
          </p:txBody>
        </p:sp>
        <p:sp>
          <p:nvSpPr>
            <p:cNvPr id="109" name="Freeform: Shape 108"/>
            <p:cNvSpPr/>
            <p:nvPr/>
          </p:nvSpPr>
          <p:spPr>
            <a:xfrm>
              <a:off x="838439" y="1300319"/>
              <a:ext cx="1272240" cy="304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Sunny</a:t>
              </a:r>
            </a:p>
          </p:txBody>
        </p:sp>
        <p:sp>
          <p:nvSpPr>
            <p:cNvPr id="110" name="Freeform: Shape 109"/>
            <p:cNvSpPr/>
            <p:nvPr/>
          </p:nvSpPr>
          <p:spPr>
            <a:xfrm>
              <a:off x="5928120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Play</a:t>
              </a:r>
            </a:p>
          </p:txBody>
        </p:sp>
        <p:sp>
          <p:nvSpPr>
            <p:cNvPr id="111" name="Freeform: Shape 110"/>
            <p:cNvSpPr/>
            <p:nvPr/>
          </p:nvSpPr>
          <p:spPr>
            <a:xfrm>
              <a:off x="4718880" y="9954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Windy</a:t>
              </a:r>
            </a:p>
          </p:txBody>
        </p:sp>
        <p:sp>
          <p:nvSpPr>
            <p:cNvPr id="112" name="Freeform: Shape 111"/>
            <p:cNvSpPr/>
            <p:nvPr/>
          </p:nvSpPr>
          <p:spPr>
            <a:xfrm>
              <a:off x="3383280" y="9954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Humidity</a:t>
              </a:r>
            </a:p>
          </p:txBody>
        </p:sp>
        <p:sp>
          <p:nvSpPr>
            <p:cNvPr id="113" name="Freeform: Shape 112"/>
            <p:cNvSpPr/>
            <p:nvPr/>
          </p:nvSpPr>
          <p:spPr>
            <a:xfrm>
              <a:off x="2110680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Temperature</a:t>
              </a:r>
            </a:p>
          </p:txBody>
        </p:sp>
        <p:sp>
          <p:nvSpPr>
            <p:cNvPr id="114" name="Freeform: Shape 113"/>
            <p:cNvSpPr/>
            <p:nvPr/>
          </p:nvSpPr>
          <p:spPr>
            <a:xfrm>
              <a:off x="838439" y="9954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Outlook</a:t>
              </a:r>
            </a:p>
          </p:txBody>
        </p:sp>
        <p:sp>
          <p:nvSpPr>
            <p:cNvPr id="115" name="Straight Connector 114"/>
            <p:cNvSpPr/>
            <p:nvPr/>
          </p:nvSpPr>
          <p:spPr>
            <a:xfrm>
              <a:off x="838439" y="995400"/>
              <a:ext cx="0" cy="243864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16" name="Straight Connector 115"/>
            <p:cNvSpPr/>
            <p:nvPr/>
          </p:nvSpPr>
          <p:spPr>
            <a:xfrm>
              <a:off x="838439" y="1300319"/>
              <a:ext cx="6361921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17" name="Straight Connector 116"/>
            <p:cNvSpPr/>
            <p:nvPr/>
          </p:nvSpPr>
          <p:spPr>
            <a:xfrm>
              <a:off x="838439" y="995400"/>
              <a:ext cx="6361921" cy="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18" name="Freeform: Shape 117"/>
            <p:cNvSpPr/>
            <p:nvPr/>
          </p:nvSpPr>
          <p:spPr>
            <a:xfrm>
              <a:off x="5928120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19" name="Freeform: Shape 118"/>
            <p:cNvSpPr/>
            <p:nvPr/>
          </p:nvSpPr>
          <p:spPr>
            <a:xfrm>
              <a:off x="4718880" y="28242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0" name="Freeform: Shape 119"/>
            <p:cNvSpPr/>
            <p:nvPr/>
          </p:nvSpPr>
          <p:spPr>
            <a:xfrm>
              <a:off x="3383280" y="28242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1" name="Freeform: Shape 120"/>
            <p:cNvSpPr/>
            <p:nvPr/>
          </p:nvSpPr>
          <p:spPr>
            <a:xfrm>
              <a:off x="2110680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2" name="Freeform: Shape 121"/>
            <p:cNvSpPr/>
            <p:nvPr/>
          </p:nvSpPr>
          <p:spPr>
            <a:xfrm>
              <a:off x="838439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3" name="Freeform: Shape 122"/>
            <p:cNvSpPr/>
            <p:nvPr/>
          </p:nvSpPr>
          <p:spPr>
            <a:xfrm>
              <a:off x="5928120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4" name="Freeform: Shape 123"/>
            <p:cNvSpPr/>
            <p:nvPr/>
          </p:nvSpPr>
          <p:spPr>
            <a:xfrm>
              <a:off x="4718880" y="28242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5" name="Freeform: Shape 124"/>
            <p:cNvSpPr/>
            <p:nvPr/>
          </p:nvSpPr>
          <p:spPr>
            <a:xfrm>
              <a:off x="3383280" y="28242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6" name="Freeform: Shape 125"/>
            <p:cNvSpPr/>
            <p:nvPr/>
          </p:nvSpPr>
          <p:spPr>
            <a:xfrm>
              <a:off x="2110680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7" name="Freeform: Shape 126"/>
            <p:cNvSpPr/>
            <p:nvPr/>
          </p:nvSpPr>
          <p:spPr>
            <a:xfrm>
              <a:off x="838439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28" name="Freeform: Shape 127"/>
            <p:cNvSpPr/>
            <p:nvPr/>
          </p:nvSpPr>
          <p:spPr>
            <a:xfrm>
              <a:off x="5928120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</a:t>
              </a:r>
            </a:p>
          </p:txBody>
        </p:sp>
        <p:sp>
          <p:nvSpPr>
            <p:cNvPr id="129" name="Freeform: Shape 128"/>
            <p:cNvSpPr/>
            <p:nvPr/>
          </p:nvSpPr>
          <p:spPr>
            <a:xfrm>
              <a:off x="4718880" y="282420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True</a:t>
              </a:r>
            </a:p>
          </p:txBody>
        </p:sp>
        <p:sp>
          <p:nvSpPr>
            <p:cNvPr id="130" name="Freeform: Shape 129"/>
            <p:cNvSpPr/>
            <p:nvPr/>
          </p:nvSpPr>
          <p:spPr>
            <a:xfrm>
              <a:off x="3383280" y="282420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Normal</a:t>
              </a:r>
            </a:p>
          </p:txBody>
        </p:sp>
        <p:sp>
          <p:nvSpPr>
            <p:cNvPr id="131" name="Freeform: Shape 130"/>
            <p:cNvSpPr/>
            <p:nvPr/>
          </p:nvSpPr>
          <p:spPr>
            <a:xfrm>
              <a:off x="2110680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Cool</a:t>
              </a:r>
            </a:p>
          </p:txBody>
        </p:sp>
        <p:sp>
          <p:nvSpPr>
            <p:cNvPr id="132" name="Freeform: Shape 131"/>
            <p:cNvSpPr/>
            <p:nvPr/>
          </p:nvSpPr>
          <p:spPr>
            <a:xfrm>
              <a:off x="838439" y="282420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Rainy</a:t>
              </a:r>
            </a:p>
          </p:txBody>
        </p:sp>
        <p:sp>
          <p:nvSpPr>
            <p:cNvPr id="133" name="Freeform: Shape 132"/>
            <p:cNvSpPr/>
            <p:nvPr/>
          </p:nvSpPr>
          <p:spPr>
            <a:xfrm>
              <a:off x="5928120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4" name="Freeform: Shape 133"/>
            <p:cNvSpPr/>
            <p:nvPr/>
          </p:nvSpPr>
          <p:spPr>
            <a:xfrm>
              <a:off x="4718880" y="312912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5" name="Freeform: Shape 134"/>
            <p:cNvSpPr/>
            <p:nvPr/>
          </p:nvSpPr>
          <p:spPr>
            <a:xfrm>
              <a:off x="3383280" y="312912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6" name="Freeform: Shape 135"/>
            <p:cNvSpPr/>
            <p:nvPr/>
          </p:nvSpPr>
          <p:spPr>
            <a:xfrm>
              <a:off x="2110680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7" name="Freeform: Shape 136"/>
            <p:cNvSpPr/>
            <p:nvPr/>
          </p:nvSpPr>
          <p:spPr>
            <a:xfrm>
              <a:off x="838439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8" name="Freeform: Shape 137"/>
            <p:cNvSpPr/>
            <p:nvPr/>
          </p:nvSpPr>
          <p:spPr>
            <a:xfrm>
              <a:off x="5928120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39" name="Freeform: Shape 138"/>
            <p:cNvSpPr/>
            <p:nvPr/>
          </p:nvSpPr>
          <p:spPr>
            <a:xfrm>
              <a:off x="4718880" y="312912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0" name="Freeform: Shape 139"/>
            <p:cNvSpPr/>
            <p:nvPr/>
          </p:nvSpPr>
          <p:spPr>
            <a:xfrm>
              <a:off x="3383280" y="312912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1" name="Freeform: Shape 140"/>
            <p:cNvSpPr/>
            <p:nvPr/>
          </p:nvSpPr>
          <p:spPr>
            <a:xfrm>
              <a:off x="2110680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2" name="Freeform: Shape 141"/>
            <p:cNvSpPr/>
            <p:nvPr/>
          </p:nvSpPr>
          <p:spPr>
            <a:xfrm>
              <a:off x="838439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3" name="Freeform: Shape 142"/>
            <p:cNvSpPr/>
            <p:nvPr/>
          </p:nvSpPr>
          <p:spPr>
            <a:xfrm>
              <a:off x="5928120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4" name="Freeform: Shape 143"/>
            <p:cNvSpPr/>
            <p:nvPr/>
          </p:nvSpPr>
          <p:spPr>
            <a:xfrm>
              <a:off x="4718880" y="312912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5" name="Freeform: Shape 144"/>
            <p:cNvSpPr/>
            <p:nvPr/>
          </p:nvSpPr>
          <p:spPr>
            <a:xfrm>
              <a:off x="3383280" y="312912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6" name="Freeform: Shape 145"/>
            <p:cNvSpPr/>
            <p:nvPr/>
          </p:nvSpPr>
          <p:spPr>
            <a:xfrm>
              <a:off x="2110680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7" name="Freeform: Shape 146"/>
            <p:cNvSpPr/>
            <p:nvPr/>
          </p:nvSpPr>
          <p:spPr>
            <a:xfrm>
              <a:off x="838439" y="312912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8" name="Freeform: Shape 147"/>
            <p:cNvSpPr/>
            <p:nvPr/>
          </p:nvSpPr>
          <p:spPr>
            <a:xfrm>
              <a:off x="5928120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49" name="Freeform: Shape 148"/>
            <p:cNvSpPr/>
            <p:nvPr/>
          </p:nvSpPr>
          <p:spPr>
            <a:xfrm>
              <a:off x="4718880" y="251964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0" name="Freeform: Shape 149"/>
            <p:cNvSpPr/>
            <p:nvPr/>
          </p:nvSpPr>
          <p:spPr>
            <a:xfrm>
              <a:off x="3383280" y="251964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1" name="Freeform: Shape 150"/>
            <p:cNvSpPr/>
            <p:nvPr/>
          </p:nvSpPr>
          <p:spPr>
            <a:xfrm>
              <a:off x="2110680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2" name="Freeform: Shape 151"/>
            <p:cNvSpPr/>
            <p:nvPr/>
          </p:nvSpPr>
          <p:spPr>
            <a:xfrm>
              <a:off x="838439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3" name="Freeform: Shape 152"/>
            <p:cNvSpPr/>
            <p:nvPr/>
          </p:nvSpPr>
          <p:spPr>
            <a:xfrm>
              <a:off x="5928120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4" name="Freeform: Shape 153"/>
            <p:cNvSpPr/>
            <p:nvPr/>
          </p:nvSpPr>
          <p:spPr>
            <a:xfrm>
              <a:off x="4718880" y="251964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5" name="Freeform: Shape 154"/>
            <p:cNvSpPr/>
            <p:nvPr/>
          </p:nvSpPr>
          <p:spPr>
            <a:xfrm>
              <a:off x="3383280" y="251964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6" name="Freeform: Shape 155"/>
            <p:cNvSpPr/>
            <p:nvPr/>
          </p:nvSpPr>
          <p:spPr>
            <a:xfrm>
              <a:off x="2110680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7" name="Freeform: Shape 156"/>
            <p:cNvSpPr/>
            <p:nvPr/>
          </p:nvSpPr>
          <p:spPr>
            <a:xfrm>
              <a:off x="838439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…</a:t>
              </a:r>
            </a:p>
          </p:txBody>
        </p:sp>
        <p:sp>
          <p:nvSpPr>
            <p:cNvPr id="158" name="Freeform: Shape 157"/>
            <p:cNvSpPr/>
            <p:nvPr/>
          </p:nvSpPr>
          <p:spPr>
            <a:xfrm>
              <a:off x="5928120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Yes</a:t>
              </a:r>
            </a:p>
          </p:txBody>
        </p:sp>
        <p:sp>
          <p:nvSpPr>
            <p:cNvPr id="159" name="Freeform: Shape 158"/>
            <p:cNvSpPr/>
            <p:nvPr/>
          </p:nvSpPr>
          <p:spPr>
            <a:xfrm>
              <a:off x="4718880" y="2519640"/>
              <a:ext cx="1208879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False</a:t>
              </a:r>
            </a:p>
          </p:txBody>
        </p:sp>
        <p:sp>
          <p:nvSpPr>
            <p:cNvPr id="160" name="Freeform: Shape 159"/>
            <p:cNvSpPr/>
            <p:nvPr/>
          </p:nvSpPr>
          <p:spPr>
            <a:xfrm>
              <a:off x="3383280" y="2519640"/>
              <a:ext cx="133560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Normal</a:t>
              </a:r>
            </a:p>
          </p:txBody>
        </p:sp>
        <p:sp>
          <p:nvSpPr>
            <p:cNvPr id="161" name="Freeform: Shape 160"/>
            <p:cNvSpPr/>
            <p:nvPr/>
          </p:nvSpPr>
          <p:spPr>
            <a:xfrm>
              <a:off x="2110680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Cool</a:t>
              </a:r>
            </a:p>
          </p:txBody>
        </p:sp>
        <p:sp>
          <p:nvSpPr>
            <p:cNvPr id="162" name="Freeform: Shape 161"/>
            <p:cNvSpPr/>
            <p:nvPr/>
          </p:nvSpPr>
          <p:spPr>
            <a:xfrm>
              <a:off x="838439" y="2519640"/>
              <a:ext cx="1272240" cy="3049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349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400" b="0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Rainy</a:t>
              </a:r>
            </a:p>
          </p:txBody>
        </p:sp>
        <p:sp>
          <p:nvSpPr>
            <p:cNvPr id="163" name="Straight Connector 162"/>
            <p:cNvSpPr/>
            <p:nvPr/>
          </p:nvSpPr>
          <p:spPr>
            <a:xfrm>
              <a:off x="7200360" y="995400"/>
              <a:ext cx="2520" cy="243864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164" name="Straight Connector 163"/>
            <p:cNvSpPr/>
            <p:nvPr/>
          </p:nvSpPr>
          <p:spPr>
            <a:xfrm>
              <a:off x="838439" y="995400"/>
              <a:ext cx="2520" cy="2438640"/>
            </a:xfrm>
            <a:prstGeom prst="line">
              <a:avLst/>
            </a:prstGeom>
            <a:noFill/>
            <a:ln w="1260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</p:grpSp>
      <p:sp>
        <p:nvSpPr>
          <p:cNvPr id="165" name="Freeform: Shape 164"/>
          <p:cNvSpPr/>
          <p:nvPr/>
        </p:nvSpPr>
        <p:spPr>
          <a:xfrm>
            <a:off x="7569360" y="312875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166" name="Freeform: Shape 165"/>
          <p:cNvSpPr/>
          <p:nvPr/>
        </p:nvSpPr>
        <p:spPr>
          <a:xfrm>
            <a:off x="6360120" y="3128759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167" name="Freeform: Shape 166"/>
          <p:cNvSpPr/>
          <p:nvPr/>
        </p:nvSpPr>
        <p:spPr>
          <a:xfrm>
            <a:off x="5024520" y="3128759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168" name="Freeform: Shape 167"/>
          <p:cNvSpPr/>
          <p:nvPr/>
        </p:nvSpPr>
        <p:spPr>
          <a:xfrm>
            <a:off x="3751920" y="312875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169" name="Freeform: Shape 168"/>
          <p:cNvSpPr/>
          <p:nvPr/>
        </p:nvSpPr>
        <p:spPr>
          <a:xfrm>
            <a:off x="2479680" y="312875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170" name="Freeform: Shape 169"/>
          <p:cNvSpPr/>
          <p:nvPr/>
        </p:nvSpPr>
        <p:spPr>
          <a:xfrm>
            <a:off x="7569360" y="28242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Yes</a:t>
            </a:r>
          </a:p>
        </p:txBody>
      </p:sp>
      <p:sp>
        <p:nvSpPr>
          <p:cNvPr id="171" name="Freeform: Shape 170"/>
          <p:cNvSpPr/>
          <p:nvPr/>
        </p:nvSpPr>
        <p:spPr>
          <a:xfrm>
            <a:off x="6360120" y="2824200"/>
            <a:ext cx="1208879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False</a:t>
            </a:r>
          </a:p>
        </p:txBody>
      </p:sp>
      <p:sp>
        <p:nvSpPr>
          <p:cNvPr id="172" name="Freeform: Shape 171"/>
          <p:cNvSpPr/>
          <p:nvPr/>
        </p:nvSpPr>
        <p:spPr>
          <a:xfrm>
            <a:off x="5024520" y="2824200"/>
            <a:ext cx="133560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Normal</a:t>
            </a:r>
          </a:p>
        </p:txBody>
      </p:sp>
      <p:sp>
        <p:nvSpPr>
          <p:cNvPr id="173" name="Freeform: Shape 172"/>
          <p:cNvSpPr/>
          <p:nvPr/>
        </p:nvSpPr>
        <p:spPr>
          <a:xfrm>
            <a:off x="3751920" y="28242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Mild</a:t>
            </a:r>
          </a:p>
        </p:txBody>
      </p:sp>
      <p:sp>
        <p:nvSpPr>
          <p:cNvPr id="174" name="Freeform: Shape 173"/>
          <p:cNvSpPr/>
          <p:nvPr/>
        </p:nvSpPr>
        <p:spPr>
          <a:xfrm>
            <a:off x="2479680" y="28242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Rainy</a:t>
            </a:r>
          </a:p>
        </p:txBody>
      </p:sp>
      <p:sp>
        <p:nvSpPr>
          <p:cNvPr id="175" name="Freeform: Shape 174"/>
          <p:cNvSpPr/>
          <p:nvPr/>
        </p:nvSpPr>
        <p:spPr>
          <a:xfrm>
            <a:off x="7569360" y="25192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Yes</a:t>
            </a:r>
          </a:p>
        </p:txBody>
      </p:sp>
      <p:sp>
        <p:nvSpPr>
          <p:cNvPr id="176" name="Freeform: Shape 175"/>
          <p:cNvSpPr/>
          <p:nvPr/>
        </p:nvSpPr>
        <p:spPr>
          <a:xfrm>
            <a:off x="6360120" y="251928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False</a:t>
            </a:r>
          </a:p>
        </p:txBody>
      </p:sp>
      <p:sp>
        <p:nvSpPr>
          <p:cNvPr id="177" name="Freeform: Shape 176"/>
          <p:cNvSpPr/>
          <p:nvPr/>
        </p:nvSpPr>
        <p:spPr>
          <a:xfrm>
            <a:off x="5024520" y="251928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High</a:t>
            </a:r>
          </a:p>
        </p:txBody>
      </p:sp>
      <p:sp>
        <p:nvSpPr>
          <p:cNvPr id="178" name="Freeform: Shape 177"/>
          <p:cNvSpPr/>
          <p:nvPr/>
        </p:nvSpPr>
        <p:spPr>
          <a:xfrm>
            <a:off x="3751920" y="25192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Hot  </a:t>
            </a:r>
          </a:p>
        </p:txBody>
      </p:sp>
      <p:sp>
        <p:nvSpPr>
          <p:cNvPr id="179" name="Freeform: Shape 178"/>
          <p:cNvSpPr/>
          <p:nvPr/>
        </p:nvSpPr>
        <p:spPr>
          <a:xfrm>
            <a:off x="2479680" y="25192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Overcast</a:t>
            </a:r>
          </a:p>
        </p:txBody>
      </p:sp>
      <p:sp>
        <p:nvSpPr>
          <p:cNvPr id="180" name="Freeform: Shape 179"/>
          <p:cNvSpPr/>
          <p:nvPr/>
        </p:nvSpPr>
        <p:spPr>
          <a:xfrm>
            <a:off x="7569360" y="221436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No</a:t>
            </a:r>
          </a:p>
        </p:txBody>
      </p:sp>
      <p:sp>
        <p:nvSpPr>
          <p:cNvPr id="181" name="Freeform: Shape 180"/>
          <p:cNvSpPr/>
          <p:nvPr/>
        </p:nvSpPr>
        <p:spPr>
          <a:xfrm>
            <a:off x="6360120" y="221436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True</a:t>
            </a:r>
          </a:p>
        </p:txBody>
      </p:sp>
      <p:sp>
        <p:nvSpPr>
          <p:cNvPr id="182" name="Freeform: Shape 181"/>
          <p:cNvSpPr/>
          <p:nvPr/>
        </p:nvSpPr>
        <p:spPr>
          <a:xfrm>
            <a:off x="5024520" y="221436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High</a:t>
            </a:r>
          </a:p>
        </p:txBody>
      </p:sp>
      <p:sp>
        <p:nvSpPr>
          <p:cNvPr id="183" name="Freeform: Shape 182"/>
          <p:cNvSpPr/>
          <p:nvPr/>
        </p:nvSpPr>
        <p:spPr>
          <a:xfrm>
            <a:off x="3751920" y="221436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Hot</a:t>
            </a:r>
          </a:p>
        </p:txBody>
      </p:sp>
      <p:sp>
        <p:nvSpPr>
          <p:cNvPr id="184" name="Freeform: Shape 183"/>
          <p:cNvSpPr/>
          <p:nvPr/>
        </p:nvSpPr>
        <p:spPr>
          <a:xfrm>
            <a:off x="2479680" y="221436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Sunny</a:t>
            </a:r>
          </a:p>
        </p:txBody>
      </p:sp>
      <p:sp>
        <p:nvSpPr>
          <p:cNvPr id="185" name="Freeform: Shape 184"/>
          <p:cNvSpPr/>
          <p:nvPr/>
        </p:nvSpPr>
        <p:spPr>
          <a:xfrm>
            <a:off x="7569360" y="19098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No</a:t>
            </a:r>
          </a:p>
        </p:txBody>
      </p:sp>
      <p:sp>
        <p:nvSpPr>
          <p:cNvPr id="186" name="Freeform: Shape 185"/>
          <p:cNvSpPr/>
          <p:nvPr/>
        </p:nvSpPr>
        <p:spPr>
          <a:xfrm>
            <a:off x="6360120" y="1909800"/>
            <a:ext cx="1208879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False</a:t>
            </a:r>
          </a:p>
        </p:txBody>
      </p:sp>
      <p:sp>
        <p:nvSpPr>
          <p:cNvPr id="187" name="Freeform: Shape 186"/>
          <p:cNvSpPr/>
          <p:nvPr/>
        </p:nvSpPr>
        <p:spPr>
          <a:xfrm>
            <a:off x="5024520" y="1909800"/>
            <a:ext cx="133560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High</a:t>
            </a:r>
          </a:p>
        </p:txBody>
      </p:sp>
      <p:sp>
        <p:nvSpPr>
          <p:cNvPr id="188" name="Freeform: Shape 187"/>
          <p:cNvSpPr/>
          <p:nvPr/>
        </p:nvSpPr>
        <p:spPr>
          <a:xfrm>
            <a:off x="3751920" y="19098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Hot</a:t>
            </a:r>
          </a:p>
        </p:txBody>
      </p:sp>
      <p:sp>
        <p:nvSpPr>
          <p:cNvPr id="189" name="Freeform: Shape 188"/>
          <p:cNvSpPr/>
          <p:nvPr/>
        </p:nvSpPr>
        <p:spPr>
          <a:xfrm>
            <a:off x="2479680" y="19098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Sunny</a:t>
            </a:r>
          </a:p>
        </p:txBody>
      </p:sp>
      <p:sp>
        <p:nvSpPr>
          <p:cNvPr id="190" name="Freeform: Shape 189"/>
          <p:cNvSpPr/>
          <p:nvPr/>
        </p:nvSpPr>
        <p:spPr>
          <a:xfrm>
            <a:off x="7569360" y="16048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Play</a:t>
            </a:r>
          </a:p>
        </p:txBody>
      </p:sp>
      <p:sp>
        <p:nvSpPr>
          <p:cNvPr id="191" name="Freeform: Shape 190"/>
          <p:cNvSpPr/>
          <p:nvPr/>
        </p:nvSpPr>
        <p:spPr>
          <a:xfrm>
            <a:off x="6360120" y="160488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Windy</a:t>
            </a:r>
          </a:p>
        </p:txBody>
      </p:sp>
      <p:sp>
        <p:nvSpPr>
          <p:cNvPr id="192" name="Freeform: Shape 191"/>
          <p:cNvSpPr/>
          <p:nvPr/>
        </p:nvSpPr>
        <p:spPr>
          <a:xfrm>
            <a:off x="5024520" y="160488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Humidity</a:t>
            </a:r>
          </a:p>
        </p:txBody>
      </p:sp>
      <p:sp>
        <p:nvSpPr>
          <p:cNvPr id="193" name="Freeform: Shape 192"/>
          <p:cNvSpPr/>
          <p:nvPr/>
        </p:nvSpPr>
        <p:spPr>
          <a:xfrm>
            <a:off x="3751920" y="16048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Temperature</a:t>
            </a:r>
          </a:p>
        </p:txBody>
      </p:sp>
      <p:sp>
        <p:nvSpPr>
          <p:cNvPr id="194" name="Freeform: Shape 193"/>
          <p:cNvSpPr/>
          <p:nvPr/>
        </p:nvSpPr>
        <p:spPr>
          <a:xfrm>
            <a:off x="2479680" y="16048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Outlook</a:t>
            </a:r>
          </a:p>
        </p:txBody>
      </p:sp>
      <p:sp>
        <p:nvSpPr>
          <p:cNvPr id="195" name="Straight Connector 194"/>
          <p:cNvSpPr/>
          <p:nvPr/>
        </p:nvSpPr>
        <p:spPr>
          <a:xfrm>
            <a:off x="2479680" y="1604880"/>
            <a:ext cx="0" cy="1828799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196" name="Straight Connector 195"/>
          <p:cNvSpPr/>
          <p:nvPr/>
        </p:nvSpPr>
        <p:spPr>
          <a:xfrm>
            <a:off x="8841600" y="1604880"/>
            <a:ext cx="0" cy="1828799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197" name="Straight Connector 196"/>
          <p:cNvSpPr/>
          <p:nvPr/>
        </p:nvSpPr>
        <p:spPr>
          <a:xfrm>
            <a:off x="2479680" y="1909800"/>
            <a:ext cx="6361920" cy="0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198" name="Straight Connector 197"/>
          <p:cNvSpPr/>
          <p:nvPr/>
        </p:nvSpPr>
        <p:spPr>
          <a:xfrm>
            <a:off x="2479680" y="1604880"/>
            <a:ext cx="6361920" cy="0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199" name="Freeform: Shape 198"/>
          <p:cNvSpPr/>
          <p:nvPr/>
        </p:nvSpPr>
        <p:spPr>
          <a:xfrm>
            <a:off x="7569360" y="312875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00" name="Freeform: Shape 199"/>
          <p:cNvSpPr/>
          <p:nvPr/>
        </p:nvSpPr>
        <p:spPr>
          <a:xfrm>
            <a:off x="6360120" y="3128759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01" name="Freeform: Shape 200"/>
          <p:cNvSpPr/>
          <p:nvPr/>
        </p:nvSpPr>
        <p:spPr>
          <a:xfrm>
            <a:off x="5024520" y="3128759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02" name="Freeform: Shape 201"/>
          <p:cNvSpPr/>
          <p:nvPr/>
        </p:nvSpPr>
        <p:spPr>
          <a:xfrm>
            <a:off x="3751920" y="312875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03" name="Freeform: Shape 202"/>
          <p:cNvSpPr/>
          <p:nvPr/>
        </p:nvSpPr>
        <p:spPr>
          <a:xfrm>
            <a:off x="2479680" y="312875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04" name="Freeform: Shape 203"/>
          <p:cNvSpPr/>
          <p:nvPr/>
        </p:nvSpPr>
        <p:spPr>
          <a:xfrm>
            <a:off x="7569360" y="28242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Yes</a:t>
            </a:r>
          </a:p>
        </p:txBody>
      </p:sp>
      <p:sp>
        <p:nvSpPr>
          <p:cNvPr id="205" name="Freeform: Shape 204"/>
          <p:cNvSpPr/>
          <p:nvPr/>
        </p:nvSpPr>
        <p:spPr>
          <a:xfrm>
            <a:off x="6360120" y="2824200"/>
            <a:ext cx="1208879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False</a:t>
            </a:r>
          </a:p>
        </p:txBody>
      </p:sp>
      <p:sp>
        <p:nvSpPr>
          <p:cNvPr id="206" name="Freeform: Shape 205"/>
          <p:cNvSpPr/>
          <p:nvPr/>
        </p:nvSpPr>
        <p:spPr>
          <a:xfrm>
            <a:off x="5024520" y="2824200"/>
            <a:ext cx="133560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Normal</a:t>
            </a:r>
          </a:p>
        </p:txBody>
      </p:sp>
      <p:sp>
        <p:nvSpPr>
          <p:cNvPr id="207" name="Freeform: Shape 206"/>
          <p:cNvSpPr/>
          <p:nvPr/>
        </p:nvSpPr>
        <p:spPr>
          <a:xfrm>
            <a:off x="3751920" y="28242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Mild</a:t>
            </a:r>
          </a:p>
        </p:txBody>
      </p:sp>
      <p:sp>
        <p:nvSpPr>
          <p:cNvPr id="208" name="Freeform: Shape 207"/>
          <p:cNvSpPr/>
          <p:nvPr/>
        </p:nvSpPr>
        <p:spPr>
          <a:xfrm>
            <a:off x="2479680" y="28242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Rainy</a:t>
            </a:r>
          </a:p>
        </p:txBody>
      </p:sp>
      <p:sp>
        <p:nvSpPr>
          <p:cNvPr id="209" name="Freeform: Shape 208"/>
          <p:cNvSpPr/>
          <p:nvPr/>
        </p:nvSpPr>
        <p:spPr>
          <a:xfrm>
            <a:off x="7569360" y="25192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Yes</a:t>
            </a:r>
          </a:p>
        </p:txBody>
      </p:sp>
      <p:sp>
        <p:nvSpPr>
          <p:cNvPr id="210" name="Freeform: Shape 209"/>
          <p:cNvSpPr/>
          <p:nvPr/>
        </p:nvSpPr>
        <p:spPr>
          <a:xfrm>
            <a:off x="6360120" y="251928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False</a:t>
            </a:r>
          </a:p>
        </p:txBody>
      </p:sp>
      <p:sp>
        <p:nvSpPr>
          <p:cNvPr id="211" name="Freeform: Shape 210"/>
          <p:cNvSpPr/>
          <p:nvPr/>
        </p:nvSpPr>
        <p:spPr>
          <a:xfrm>
            <a:off x="5024520" y="251928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High</a:t>
            </a:r>
          </a:p>
        </p:txBody>
      </p:sp>
      <p:sp>
        <p:nvSpPr>
          <p:cNvPr id="212" name="Freeform: Shape 211"/>
          <p:cNvSpPr/>
          <p:nvPr/>
        </p:nvSpPr>
        <p:spPr>
          <a:xfrm>
            <a:off x="3751920" y="25192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Hot  </a:t>
            </a:r>
          </a:p>
        </p:txBody>
      </p:sp>
      <p:sp>
        <p:nvSpPr>
          <p:cNvPr id="213" name="Freeform: Shape 212"/>
          <p:cNvSpPr/>
          <p:nvPr/>
        </p:nvSpPr>
        <p:spPr>
          <a:xfrm>
            <a:off x="2479680" y="25192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Overcast</a:t>
            </a:r>
          </a:p>
        </p:txBody>
      </p:sp>
      <p:sp>
        <p:nvSpPr>
          <p:cNvPr id="214" name="Freeform: Shape 213"/>
          <p:cNvSpPr/>
          <p:nvPr/>
        </p:nvSpPr>
        <p:spPr>
          <a:xfrm>
            <a:off x="7569360" y="221436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No</a:t>
            </a:r>
          </a:p>
        </p:txBody>
      </p:sp>
      <p:sp>
        <p:nvSpPr>
          <p:cNvPr id="215" name="Freeform: Shape 214"/>
          <p:cNvSpPr/>
          <p:nvPr/>
        </p:nvSpPr>
        <p:spPr>
          <a:xfrm>
            <a:off x="6360120" y="221436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True</a:t>
            </a:r>
          </a:p>
        </p:txBody>
      </p:sp>
      <p:sp>
        <p:nvSpPr>
          <p:cNvPr id="216" name="Freeform: Shape 215"/>
          <p:cNvSpPr/>
          <p:nvPr/>
        </p:nvSpPr>
        <p:spPr>
          <a:xfrm>
            <a:off x="5024520" y="221436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High</a:t>
            </a:r>
          </a:p>
        </p:txBody>
      </p:sp>
      <p:sp>
        <p:nvSpPr>
          <p:cNvPr id="217" name="Freeform: Shape 216"/>
          <p:cNvSpPr/>
          <p:nvPr/>
        </p:nvSpPr>
        <p:spPr>
          <a:xfrm>
            <a:off x="3751920" y="221436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Hot</a:t>
            </a:r>
          </a:p>
        </p:txBody>
      </p:sp>
      <p:sp>
        <p:nvSpPr>
          <p:cNvPr id="218" name="Freeform: Shape 217"/>
          <p:cNvSpPr/>
          <p:nvPr/>
        </p:nvSpPr>
        <p:spPr>
          <a:xfrm>
            <a:off x="2479680" y="221436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Sunny</a:t>
            </a:r>
          </a:p>
        </p:txBody>
      </p:sp>
      <p:sp>
        <p:nvSpPr>
          <p:cNvPr id="219" name="Freeform: Shape 218"/>
          <p:cNvSpPr/>
          <p:nvPr/>
        </p:nvSpPr>
        <p:spPr>
          <a:xfrm>
            <a:off x="7569360" y="19098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No</a:t>
            </a:r>
          </a:p>
        </p:txBody>
      </p:sp>
      <p:sp>
        <p:nvSpPr>
          <p:cNvPr id="220" name="Freeform: Shape 219"/>
          <p:cNvSpPr/>
          <p:nvPr/>
        </p:nvSpPr>
        <p:spPr>
          <a:xfrm>
            <a:off x="6360120" y="1909800"/>
            <a:ext cx="1208879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False</a:t>
            </a:r>
          </a:p>
        </p:txBody>
      </p:sp>
      <p:sp>
        <p:nvSpPr>
          <p:cNvPr id="221" name="Freeform: Shape 220"/>
          <p:cNvSpPr/>
          <p:nvPr/>
        </p:nvSpPr>
        <p:spPr>
          <a:xfrm>
            <a:off x="5024520" y="1909800"/>
            <a:ext cx="133560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High</a:t>
            </a:r>
          </a:p>
        </p:txBody>
      </p:sp>
      <p:sp>
        <p:nvSpPr>
          <p:cNvPr id="222" name="Freeform: Shape 221"/>
          <p:cNvSpPr/>
          <p:nvPr/>
        </p:nvSpPr>
        <p:spPr>
          <a:xfrm>
            <a:off x="3751920" y="19098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Hot</a:t>
            </a:r>
          </a:p>
        </p:txBody>
      </p:sp>
      <p:sp>
        <p:nvSpPr>
          <p:cNvPr id="223" name="Freeform: Shape 222"/>
          <p:cNvSpPr/>
          <p:nvPr/>
        </p:nvSpPr>
        <p:spPr>
          <a:xfrm>
            <a:off x="2479680" y="19098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Sunny</a:t>
            </a:r>
          </a:p>
        </p:txBody>
      </p:sp>
      <p:sp>
        <p:nvSpPr>
          <p:cNvPr id="224" name="Freeform: Shape 223"/>
          <p:cNvSpPr/>
          <p:nvPr/>
        </p:nvSpPr>
        <p:spPr>
          <a:xfrm>
            <a:off x="7569360" y="16048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Play</a:t>
            </a:r>
          </a:p>
        </p:txBody>
      </p:sp>
      <p:sp>
        <p:nvSpPr>
          <p:cNvPr id="225" name="Freeform: Shape 224"/>
          <p:cNvSpPr/>
          <p:nvPr/>
        </p:nvSpPr>
        <p:spPr>
          <a:xfrm>
            <a:off x="6360120" y="160488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Windy</a:t>
            </a:r>
          </a:p>
        </p:txBody>
      </p:sp>
      <p:sp>
        <p:nvSpPr>
          <p:cNvPr id="226" name="Freeform: Shape 225"/>
          <p:cNvSpPr/>
          <p:nvPr/>
        </p:nvSpPr>
        <p:spPr>
          <a:xfrm>
            <a:off x="5024520" y="160488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Humidity</a:t>
            </a:r>
          </a:p>
        </p:txBody>
      </p:sp>
      <p:sp>
        <p:nvSpPr>
          <p:cNvPr id="227" name="Freeform: Shape 226"/>
          <p:cNvSpPr/>
          <p:nvPr/>
        </p:nvSpPr>
        <p:spPr>
          <a:xfrm>
            <a:off x="3751920" y="16048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Temperature</a:t>
            </a:r>
          </a:p>
        </p:txBody>
      </p:sp>
      <p:sp>
        <p:nvSpPr>
          <p:cNvPr id="228" name="Freeform: Shape 227"/>
          <p:cNvSpPr/>
          <p:nvPr/>
        </p:nvSpPr>
        <p:spPr>
          <a:xfrm>
            <a:off x="2479680" y="16048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Outlook</a:t>
            </a:r>
          </a:p>
        </p:txBody>
      </p:sp>
      <p:sp>
        <p:nvSpPr>
          <p:cNvPr id="229" name="Straight Connector 228"/>
          <p:cNvSpPr/>
          <p:nvPr/>
        </p:nvSpPr>
        <p:spPr>
          <a:xfrm>
            <a:off x="2479680" y="4043519"/>
            <a:ext cx="6361920" cy="0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230" name="Straight Connector 229"/>
          <p:cNvSpPr/>
          <p:nvPr/>
        </p:nvSpPr>
        <p:spPr>
          <a:xfrm>
            <a:off x="2479680" y="1604880"/>
            <a:ext cx="0" cy="1828799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231" name="Straight Connector 230"/>
          <p:cNvSpPr/>
          <p:nvPr/>
        </p:nvSpPr>
        <p:spPr>
          <a:xfrm>
            <a:off x="8841600" y="1604880"/>
            <a:ext cx="0" cy="1828799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232" name="Straight Connector 231"/>
          <p:cNvSpPr/>
          <p:nvPr/>
        </p:nvSpPr>
        <p:spPr>
          <a:xfrm>
            <a:off x="2479680" y="1909800"/>
            <a:ext cx="6361920" cy="0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233" name="Straight Connector 232"/>
          <p:cNvSpPr/>
          <p:nvPr/>
        </p:nvSpPr>
        <p:spPr>
          <a:xfrm>
            <a:off x="2479680" y="1604880"/>
            <a:ext cx="6361920" cy="0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234" name="Freeform: Shape 233"/>
          <p:cNvSpPr/>
          <p:nvPr/>
        </p:nvSpPr>
        <p:spPr>
          <a:xfrm>
            <a:off x="7569360" y="312875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35" name="Freeform: Shape 234"/>
          <p:cNvSpPr/>
          <p:nvPr/>
        </p:nvSpPr>
        <p:spPr>
          <a:xfrm>
            <a:off x="6360120" y="3128759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36" name="Freeform: Shape 235"/>
          <p:cNvSpPr/>
          <p:nvPr/>
        </p:nvSpPr>
        <p:spPr>
          <a:xfrm>
            <a:off x="5024520" y="3128759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37" name="Freeform: Shape 236"/>
          <p:cNvSpPr/>
          <p:nvPr/>
        </p:nvSpPr>
        <p:spPr>
          <a:xfrm>
            <a:off x="3751920" y="312875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38" name="Freeform: Shape 237"/>
          <p:cNvSpPr/>
          <p:nvPr/>
        </p:nvSpPr>
        <p:spPr>
          <a:xfrm>
            <a:off x="2479680" y="312875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39" name="Freeform: Shape 238"/>
          <p:cNvSpPr/>
          <p:nvPr/>
        </p:nvSpPr>
        <p:spPr>
          <a:xfrm>
            <a:off x="7569360" y="28242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Yes</a:t>
            </a:r>
          </a:p>
        </p:txBody>
      </p:sp>
      <p:sp>
        <p:nvSpPr>
          <p:cNvPr id="240" name="Freeform: Shape 239"/>
          <p:cNvSpPr/>
          <p:nvPr/>
        </p:nvSpPr>
        <p:spPr>
          <a:xfrm>
            <a:off x="6360120" y="2824200"/>
            <a:ext cx="1208879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False</a:t>
            </a:r>
          </a:p>
        </p:txBody>
      </p:sp>
      <p:sp>
        <p:nvSpPr>
          <p:cNvPr id="241" name="Freeform: Shape 240"/>
          <p:cNvSpPr/>
          <p:nvPr/>
        </p:nvSpPr>
        <p:spPr>
          <a:xfrm>
            <a:off x="5024520" y="2824200"/>
            <a:ext cx="133560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96</a:t>
            </a:r>
          </a:p>
        </p:txBody>
      </p:sp>
      <p:sp>
        <p:nvSpPr>
          <p:cNvPr id="242" name="Freeform: Shape 241"/>
          <p:cNvSpPr/>
          <p:nvPr/>
        </p:nvSpPr>
        <p:spPr>
          <a:xfrm>
            <a:off x="3751920" y="28242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70</a:t>
            </a:r>
          </a:p>
        </p:txBody>
      </p:sp>
      <p:sp>
        <p:nvSpPr>
          <p:cNvPr id="243" name="Freeform: Shape 242"/>
          <p:cNvSpPr/>
          <p:nvPr/>
        </p:nvSpPr>
        <p:spPr>
          <a:xfrm>
            <a:off x="2479680" y="28242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Rainy</a:t>
            </a:r>
          </a:p>
        </p:txBody>
      </p:sp>
      <p:sp>
        <p:nvSpPr>
          <p:cNvPr id="244" name="Freeform: Shape 243"/>
          <p:cNvSpPr/>
          <p:nvPr/>
        </p:nvSpPr>
        <p:spPr>
          <a:xfrm>
            <a:off x="7569360" y="25192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Yes</a:t>
            </a:r>
          </a:p>
        </p:txBody>
      </p:sp>
      <p:sp>
        <p:nvSpPr>
          <p:cNvPr id="245" name="Freeform: Shape 244"/>
          <p:cNvSpPr/>
          <p:nvPr/>
        </p:nvSpPr>
        <p:spPr>
          <a:xfrm>
            <a:off x="6360120" y="251928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False</a:t>
            </a:r>
          </a:p>
        </p:txBody>
      </p:sp>
      <p:sp>
        <p:nvSpPr>
          <p:cNvPr id="246" name="Freeform: Shape 245"/>
          <p:cNvSpPr/>
          <p:nvPr/>
        </p:nvSpPr>
        <p:spPr>
          <a:xfrm>
            <a:off x="5024520" y="251928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86</a:t>
            </a:r>
          </a:p>
        </p:txBody>
      </p:sp>
      <p:sp>
        <p:nvSpPr>
          <p:cNvPr id="247" name="Freeform: Shape 246"/>
          <p:cNvSpPr/>
          <p:nvPr/>
        </p:nvSpPr>
        <p:spPr>
          <a:xfrm>
            <a:off x="3751920" y="25192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83  </a:t>
            </a:r>
          </a:p>
        </p:txBody>
      </p:sp>
      <p:sp>
        <p:nvSpPr>
          <p:cNvPr id="248" name="Freeform: Shape 247"/>
          <p:cNvSpPr/>
          <p:nvPr/>
        </p:nvSpPr>
        <p:spPr>
          <a:xfrm>
            <a:off x="2479680" y="25192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Overcast</a:t>
            </a:r>
          </a:p>
        </p:txBody>
      </p:sp>
      <p:sp>
        <p:nvSpPr>
          <p:cNvPr id="249" name="Freeform: Shape 248"/>
          <p:cNvSpPr/>
          <p:nvPr/>
        </p:nvSpPr>
        <p:spPr>
          <a:xfrm>
            <a:off x="7569360" y="221436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No</a:t>
            </a:r>
          </a:p>
        </p:txBody>
      </p:sp>
      <p:sp>
        <p:nvSpPr>
          <p:cNvPr id="250" name="Freeform: Shape 249"/>
          <p:cNvSpPr/>
          <p:nvPr/>
        </p:nvSpPr>
        <p:spPr>
          <a:xfrm>
            <a:off x="6360120" y="221436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True</a:t>
            </a:r>
          </a:p>
        </p:txBody>
      </p:sp>
      <p:sp>
        <p:nvSpPr>
          <p:cNvPr id="251" name="Freeform: Shape 250"/>
          <p:cNvSpPr/>
          <p:nvPr/>
        </p:nvSpPr>
        <p:spPr>
          <a:xfrm>
            <a:off x="5024520" y="221436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90</a:t>
            </a:r>
          </a:p>
        </p:txBody>
      </p:sp>
      <p:sp>
        <p:nvSpPr>
          <p:cNvPr id="252" name="Freeform: Shape 251"/>
          <p:cNvSpPr/>
          <p:nvPr/>
        </p:nvSpPr>
        <p:spPr>
          <a:xfrm>
            <a:off x="3751920" y="221436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80</a:t>
            </a:r>
          </a:p>
        </p:txBody>
      </p:sp>
      <p:sp>
        <p:nvSpPr>
          <p:cNvPr id="253" name="Freeform: Shape 252"/>
          <p:cNvSpPr/>
          <p:nvPr/>
        </p:nvSpPr>
        <p:spPr>
          <a:xfrm>
            <a:off x="2479680" y="221436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Sunny</a:t>
            </a:r>
          </a:p>
        </p:txBody>
      </p:sp>
      <p:sp>
        <p:nvSpPr>
          <p:cNvPr id="254" name="Freeform: Shape 253"/>
          <p:cNvSpPr/>
          <p:nvPr/>
        </p:nvSpPr>
        <p:spPr>
          <a:xfrm>
            <a:off x="7569360" y="19098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No</a:t>
            </a:r>
          </a:p>
        </p:txBody>
      </p:sp>
      <p:sp>
        <p:nvSpPr>
          <p:cNvPr id="255" name="Freeform: Shape 254"/>
          <p:cNvSpPr/>
          <p:nvPr/>
        </p:nvSpPr>
        <p:spPr>
          <a:xfrm>
            <a:off x="6360120" y="1909800"/>
            <a:ext cx="1208879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False</a:t>
            </a:r>
          </a:p>
        </p:txBody>
      </p:sp>
      <p:sp>
        <p:nvSpPr>
          <p:cNvPr id="256" name="Freeform: Shape 255"/>
          <p:cNvSpPr/>
          <p:nvPr/>
        </p:nvSpPr>
        <p:spPr>
          <a:xfrm>
            <a:off x="5024520" y="1909800"/>
            <a:ext cx="133560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85</a:t>
            </a:r>
          </a:p>
        </p:txBody>
      </p:sp>
      <p:sp>
        <p:nvSpPr>
          <p:cNvPr id="257" name="Freeform: Shape 256"/>
          <p:cNvSpPr/>
          <p:nvPr/>
        </p:nvSpPr>
        <p:spPr>
          <a:xfrm>
            <a:off x="3751920" y="19098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85</a:t>
            </a:r>
          </a:p>
        </p:txBody>
      </p:sp>
      <p:sp>
        <p:nvSpPr>
          <p:cNvPr id="258" name="Freeform: Shape 257"/>
          <p:cNvSpPr/>
          <p:nvPr/>
        </p:nvSpPr>
        <p:spPr>
          <a:xfrm>
            <a:off x="2479680" y="1909800"/>
            <a:ext cx="1272240" cy="3045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Sunny</a:t>
            </a:r>
          </a:p>
        </p:txBody>
      </p:sp>
      <p:sp>
        <p:nvSpPr>
          <p:cNvPr id="259" name="Freeform: Shape 258"/>
          <p:cNvSpPr/>
          <p:nvPr/>
        </p:nvSpPr>
        <p:spPr>
          <a:xfrm>
            <a:off x="7569360" y="16048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Play</a:t>
            </a:r>
          </a:p>
        </p:txBody>
      </p:sp>
      <p:sp>
        <p:nvSpPr>
          <p:cNvPr id="260" name="Freeform: Shape 259"/>
          <p:cNvSpPr/>
          <p:nvPr/>
        </p:nvSpPr>
        <p:spPr>
          <a:xfrm>
            <a:off x="6360120" y="160488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Windy</a:t>
            </a:r>
          </a:p>
        </p:txBody>
      </p:sp>
      <p:sp>
        <p:nvSpPr>
          <p:cNvPr id="261" name="Freeform: Shape 260"/>
          <p:cNvSpPr/>
          <p:nvPr/>
        </p:nvSpPr>
        <p:spPr>
          <a:xfrm>
            <a:off x="5024520" y="160488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Humidity</a:t>
            </a:r>
          </a:p>
        </p:txBody>
      </p:sp>
      <p:sp>
        <p:nvSpPr>
          <p:cNvPr id="262" name="Freeform: Shape 261"/>
          <p:cNvSpPr/>
          <p:nvPr/>
        </p:nvSpPr>
        <p:spPr>
          <a:xfrm>
            <a:off x="3751920" y="16048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Temperature</a:t>
            </a:r>
          </a:p>
        </p:txBody>
      </p:sp>
      <p:sp>
        <p:nvSpPr>
          <p:cNvPr id="263" name="Freeform: Shape 262"/>
          <p:cNvSpPr/>
          <p:nvPr/>
        </p:nvSpPr>
        <p:spPr>
          <a:xfrm>
            <a:off x="2479680" y="160488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Outlook</a:t>
            </a:r>
          </a:p>
        </p:txBody>
      </p:sp>
      <p:sp>
        <p:nvSpPr>
          <p:cNvPr id="264" name="Straight Connector 263"/>
          <p:cNvSpPr/>
          <p:nvPr/>
        </p:nvSpPr>
        <p:spPr>
          <a:xfrm>
            <a:off x="2479680" y="1604880"/>
            <a:ext cx="0" cy="2438639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265" name="Straight Connector 264"/>
          <p:cNvSpPr/>
          <p:nvPr/>
        </p:nvSpPr>
        <p:spPr>
          <a:xfrm>
            <a:off x="2479680" y="1909800"/>
            <a:ext cx="6361920" cy="0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266" name="Straight Connector 265"/>
          <p:cNvSpPr/>
          <p:nvPr/>
        </p:nvSpPr>
        <p:spPr>
          <a:xfrm>
            <a:off x="2479680" y="1604880"/>
            <a:ext cx="6361920" cy="0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267" name="Freeform: Shape 266"/>
          <p:cNvSpPr/>
          <p:nvPr/>
        </p:nvSpPr>
        <p:spPr>
          <a:xfrm>
            <a:off x="7569360" y="343367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68" name="Freeform: Shape 267"/>
          <p:cNvSpPr/>
          <p:nvPr/>
        </p:nvSpPr>
        <p:spPr>
          <a:xfrm>
            <a:off x="6360120" y="3433679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69" name="Freeform: Shape 268"/>
          <p:cNvSpPr/>
          <p:nvPr/>
        </p:nvSpPr>
        <p:spPr>
          <a:xfrm>
            <a:off x="5024520" y="3433679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70" name="Freeform: Shape 269"/>
          <p:cNvSpPr/>
          <p:nvPr/>
        </p:nvSpPr>
        <p:spPr>
          <a:xfrm>
            <a:off x="3751920" y="343367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71" name="Freeform: Shape 270"/>
          <p:cNvSpPr/>
          <p:nvPr/>
        </p:nvSpPr>
        <p:spPr>
          <a:xfrm>
            <a:off x="2479680" y="343367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72" name="Freeform: Shape 271"/>
          <p:cNvSpPr/>
          <p:nvPr/>
        </p:nvSpPr>
        <p:spPr>
          <a:xfrm>
            <a:off x="7569360" y="343367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73" name="Freeform: Shape 272"/>
          <p:cNvSpPr/>
          <p:nvPr/>
        </p:nvSpPr>
        <p:spPr>
          <a:xfrm>
            <a:off x="6360120" y="3433679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74" name="Freeform: Shape 273"/>
          <p:cNvSpPr/>
          <p:nvPr/>
        </p:nvSpPr>
        <p:spPr>
          <a:xfrm>
            <a:off x="5024520" y="3433679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75" name="Freeform: Shape 274"/>
          <p:cNvSpPr/>
          <p:nvPr/>
        </p:nvSpPr>
        <p:spPr>
          <a:xfrm>
            <a:off x="3751920" y="343367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76" name="Freeform: Shape 275"/>
          <p:cNvSpPr/>
          <p:nvPr/>
        </p:nvSpPr>
        <p:spPr>
          <a:xfrm>
            <a:off x="2479680" y="343367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77" name="Freeform: Shape 276"/>
          <p:cNvSpPr/>
          <p:nvPr/>
        </p:nvSpPr>
        <p:spPr>
          <a:xfrm>
            <a:off x="7569360" y="343367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No</a:t>
            </a:r>
          </a:p>
        </p:txBody>
      </p:sp>
      <p:sp>
        <p:nvSpPr>
          <p:cNvPr id="278" name="Freeform: Shape 277"/>
          <p:cNvSpPr/>
          <p:nvPr/>
        </p:nvSpPr>
        <p:spPr>
          <a:xfrm>
            <a:off x="6360120" y="3433679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True</a:t>
            </a:r>
          </a:p>
        </p:txBody>
      </p:sp>
      <p:sp>
        <p:nvSpPr>
          <p:cNvPr id="279" name="Freeform: Shape 278"/>
          <p:cNvSpPr/>
          <p:nvPr/>
        </p:nvSpPr>
        <p:spPr>
          <a:xfrm>
            <a:off x="5024520" y="3433679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70</a:t>
            </a:r>
          </a:p>
        </p:txBody>
      </p:sp>
      <p:sp>
        <p:nvSpPr>
          <p:cNvPr id="280" name="Freeform: Shape 279"/>
          <p:cNvSpPr/>
          <p:nvPr/>
        </p:nvSpPr>
        <p:spPr>
          <a:xfrm>
            <a:off x="3751920" y="343367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65</a:t>
            </a:r>
          </a:p>
        </p:txBody>
      </p:sp>
      <p:sp>
        <p:nvSpPr>
          <p:cNvPr id="281" name="Freeform: Shape 280"/>
          <p:cNvSpPr/>
          <p:nvPr/>
        </p:nvSpPr>
        <p:spPr>
          <a:xfrm>
            <a:off x="2479680" y="3433679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Rainy</a:t>
            </a:r>
          </a:p>
        </p:txBody>
      </p:sp>
      <p:sp>
        <p:nvSpPr>
          <p:cNvPr id="282" name="Freeform: Shape 281"/>
          <p:cNvSpPr/>
          <p:nvPr/>
        </p:nvSpPr>
        <p:spPr>
          <a:xfrm>
            <a:off x="7569360" y="373860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83" name="Freeform: Shape 282"/>
          <p:cNvSpPr/>
          <p:nvPr/>
        </p:nvSpPr>
        <p:spPr>
          <a:xfrm>
            <a:off x="6360120" y="373860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84" name="Freeform: Shape 283"/>
          <p:cNvSpPr/>
          <p:nvPr/>
        </p:nvSpPr>
        <p:spPr>
          <a:xfrm>
            <a:off x="5024520" y="373860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85" name="Freeform: Shape 284"/>
          <p:cNvSpPr/>
          <p:nvPr/>
        </p:nvSpPr>
        <p:spPr>
          <a:xfrm>
            <a:off x="3751920" y="373860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86" name="Freeform: Shape 285"/>
          <p:cNvSpPr/>
          <p:nvPr/>
        </p:nvSpPr>
        <p:spPr>
          <a:xfrm>
            <a:off x="2479680" y="373860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87" name="Freeform: Shape 286"/>
          <p:cNvSpPr/>
          <p:nvPr/>
        </p:nvSpPr>
        <p:spPr>
          <a:xfrm>
            <a:off x="7569360" y="373860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88" name="Freeform: Shape 287"/>
          <p:cNvSpPr/>
          <p:nvPr/>
        </p:nvSpPr>
        <p:spPr>
          <a:xfrm>
            <a:off x="6360120" y="373860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89" name="Freeform: Shape 288"/>
          <p:cNvSpPr/>
          <p:nvPr/>
        </p:nvSpPr>
        <p:spPr>
          <a:xfrm>
            <a:off x="5024520" y="373860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90" name="Freeform: Shape 289"/>
          <p:cNvSpPr/>
          <p:nvPr/>
        </p:nvSpPr>
        <p:spPr>
          <a:xfrm>
            <a:off x="3751920" y="373860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91" name="Freeform: Shape 290"/>
          <p:cNvSpPr/>
          <p:nvPr/>
        </p:nvSpPr>
        <p:spPr>
          <a:xfrm>
            <a:off x="2479680" y="373860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92" name="Freeform: Shape 291"/>
          <p:cNvSpPr/>
          <p:nvPr/>
        </p:nvSpPr>
        <p:spPr>
          <a:xfrm>
            <a:off x="7569360" y="373860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93" name="Freeform: Shape 292"/>
          <p:cNvSpPr/>
          <p:nvPr/>
        </p:nvSpPr>
        <p:spPr>
          <a:xfrm>
            <a:off x="6360120" y="373860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94" name="Freeform: Shape 293"/>
          <p:cNvSpPr/>
          <p:nvPr/>
        </p:nvSpPr>
        <p:spPr>
          <a:xfrm>
            <a:off x="5024520" y="373860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95" name="Freeform: Shape 294"/>
          <p:cNvSpPr/>
          <p:nvPr/>
        </p:nvSpPr>
        <p:spPr>
          <a:xfrm>
            <a:off x="3751920" y="373860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96" name="Freeform: Shape 295"/>
          <p:cNvSpPr/>
          <p:nvPr/>
        </p:nvSpPr>
        <p:spPr>
          <a:xfrm>
            <a:off x="2479680" y="373860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97" name="Freeform: Shape 296"/>
          <p:cNvSpPr/>
          <p:nvPr/>
        </p:nvSpPr>
        <p:spPr>
          <a:xfrm>
            <a:off x="7569360" y="312912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98" name="Freeform: Shape 297"/>
          <p:cNvSpPr/>
          <p:nvPr/>
        </p:nvSpPr>
        <p:spPr>
          <a:xfrm>
            <a:off x="6360120" y="312912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299" name="Freeform: Shape 298"/>
          <p:cNvSpPr/>
          <p:nvPr/>
        </p:nvSpPr>
        <p:spPr>
          <a:xfrm>
            <a:off x="5024520" y="312912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300" name="Freeform: Shape 299"/>
          <p:cNvSpPr/>
          <p:nvPr/>
        </p:nvSpPr>
        <p:spPr>
          <a:xfrm>
            <a:off x="3751920" y="312912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301" name="Freeform: Shape 300"/>
          <p:cNvSpPr/>
          <p:nvPr/>
        </p:nvSpPr>
        <p:spPr>
          <a:xfrm>
            <a:off x="2479680" y="312912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302" name="Freeform: Shape 301"/>
          <p:cNvSpPr/>
          <p:nvPr/>
        </p:nvSpPr>
        <p:spPr>
          <a:xfrm>
            <a:off x="7569360" y="312912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303" name="Freeform: Shape 302"/>
          <p:cNvSpPr/>
          <p:nvPr/>
        </p:nvSpPr>
        <p:spPr>
          <a:xfrm>
            <a:off x="6360120" y="312912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304" name="Freeform: Shape 303"/>
          <p:cNvSpPr/>
          <p:nvPr/>
        </p:nvSpPr>
        <p:spPr>
          <a:xfrm>
            <a:off x="5024520" y="312912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305" name="Freeform: Shape 304"/>
          <p:cNvSpPr/>
          <p:nvPr/>
        </p:nvSpPr>
        <p:spPr>
          <a:xfrm>
            <a:off x="3751920" y="312912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306" name="Freeform: Shape 305"/>
          <p:cNvSpPr/>
          <p:nvPr/>
        </p:nvSpPr>
        <p:spPr>
          <a:xfrm>
            <a:off x="2479680" y="312912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…</a:t>
            </a:r>
          </a:p>
        </p:txBody>
      </p:sp>
      <p:sp>
        <p:nvSpPr>
          <p:cNvPr id="307" name="Freeform: Shape 306"/>
          <p:cNvSpPr/>
          <p:nvPr/>
        </p:nvSpPr>
        <p:spPr>
          <a:xfrm>
            <a:off x="7569360" y="312912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Yes</a:t>
            </a:r>
          </a:p>
        </p:txBody>
      </p:sp>
      <p:sp>
        <p:nvSpPr>
          <p:cNvPr id="308" name="Freeform: Shape 307"/>
          <p:cNvSpPr/>
          <p:nvPr/>
        </p:nvSpPr>
        <p:spPr>
          <a:xfrm>
            <a:off x="6360120" y="3129120"/>
            <a:ext cx="1208879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False</a:t>
            </a:r>
          </a:p>
        </p:txBody>
      </p:sp>
      <p:sp>
        <p:nvSpPr>
          <p:cNvPr id="309" name="Freeform: Shape 308"/>
          <p:cNvSpPr/>
          <p:nvPr/>
        </p:nvSpPr>
        <p:spPr>
          <a:xfrm>
            <a:off x="5024520" y="3129120"/>
            <a:ext cx="133560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80</a:t>
            </a:r>
          </a:p>
        </p:txBody>
      </p:sp>
      <p:sp>
        <p:nvSpPr>
          <p:cNvPr id="310" name="Freeform: Shape 309"/>
          <p:cNvSpPr/>
          <p:nvPr/>
        </p:nvSpPr>
        <p:spPr>
          <a:xfrm>
            <a:off x="3751920" y="312912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68</a:t>
            </a:r>
          </a:p>
        </p:txBody>
      </p:sp>
      <p:sp>
        <p:nvSpPr>
          <p:cNvPr id="311" name="Freeform: Shape 310"/>
          <p:cNvSpPr/>
          <p:nvPr/>
        </p:nvSpPr>
        <p:spPr>
          <a:xfrm>
            <a:off x="2479680" y="3129120"/>
            <a:ext cx="1272240" cy="30492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FFCC"/>
          </a:solidFill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349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i="0" u="none" strike="noStrike" baseline="0">
                <a:ln>
                  <a:noFill/>
                </a:ln>
                <a:solidFill>
                  <a:srgbClr val="008000"/>
                </a:solidFill>
                <a:latin typeface="Tahoma" pitchFamily="18"/>
                <a:ea typeface="Gothic" pitchFamily="2"/>
                <a:cs typeface="Lucidasans" pitchFamily="2"/>
              </a:rPr>
              <a:t>Rainy</a:t>
            </a:r>
          </a:p>
        </p:txBody>
      </p:sp>
      <p:sp>
        <p:nvSpPr>
          <p:cNvPr id="312" name="Straight Connector 311"/>
          <p:cNvSpPr/>
          <p:nvPr/>
        </p:nvSpPr>
        <p:spPr>
          <a:xfrm>
            <a:off x="8841600" y="1604880"/>
            <a:ext cx="2520" cy="2438639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313" name="Straight Connector 312"/>
          <p:cNvSpPr/>
          <p:nvPr/>
        </p:nvSpPr>
        <p:spPr>
          <a:xfrm>
            <a:off x="2479680" y="1604880"/>
            <a:ext cx="2520" cy="2438639"/>
          </a:xfrm>
          <a:prstGeom prst="line">
            <a:avLst/>
          </a:prstGeom>
          <a:noFill/>
          <a:ln w="1260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316" name="Slide Number Placeholder 3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8</a:t>
            </a:fld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Example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55585" y="1137375"/>
            <a:ext cx="7543800" cy="4042303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Split on temperature attribute:</a:t>
            </a:r>
          </a:p>
          <a:p>
            <a:pPr marL="259200" lvl="0" indent="-259200">
              <a:spcBef>
                <a:spcPts val="697"/>
              </a:spcBef>
              <a:buNone/>
              <a:tabLst>
                <a:tab pos="716400" algn="l"/>
                <a:tab pos="1630799" algn="l"/>
                <a:tab pos="2545200" algn="l"/>
                <a:tab pos="3459600" algn="l"/>
                <a:tab pos="4374000" algn="l"/>
                <a:tab pos="5288400" algn="l"/>
                <a:tab pos="6202800" algn="l"/>
                <a:tab pos="7117200" algn="l"/>
                <a:tab pos="8031600" algn="l"/>
                <a:tab pos="8946000" algn="l"/>
                <a:tab pos="9860400" algn="l"/>
              </a:tabLst>
            </a:pPr>
            <a:endParaRPr lang="en-US" sz="2400" dirty="0"/>
          </a:p>
          <a:p>
            <a:pPr marL="259200" lvl="0" indent="-259200">
              <a:spcBef>
                <a:spcPts val="697"/>
              </a:spcBef>
              <a:buNone/>
              <a:tabLst>
                <a:tab pos="716400" algn="l"/>
                <a:tab pos="1630799" algn="l"/>
                <a:tab pos="2545200" algn="l"/>
                <a:tab pos="3459600" algn="l"/>
                <a:tab pos="4374000" algn="l"/>
                <a:tab pos="5288400" algn="l"/>
                <a:tab pos="6202800" algn="l"/>
                <a:tab pos="7117200" algn="l"/>
                <a:tab pos="8031600" algn="l"/>
                <a:tab pos="8946000" algn="l"/>
                <a:tab pos="9860400" algn="l"/>
              </a:tabLst>
            </a:pPr>
            <a:endParaRPr lang="en-US" sz="2400" dirty="0"/>
          </a:p>
          <a:p>
            <a:pPr lvl="1">
              <a:spcBef>
                <a:spcPts val="598"/>
              </a:spcBef>
              <a:tabLst>
                <a:tab pos="682560" algn="l"/>
                <a:tab pos="799920" algn="l"/>
                <a:tab pos="1714319" algn="l"/>
                <a:tab pos="2628720" algn="l"/>
                <a:tab pos="3543120" algn="l"/>
                <a:tab pos="4457520" algn="l"/>
                <a:tab pos="5371920" algn="l"/>
                <a:tab pos="6286319" algn="l"/>
                <a:tab pos="7200720" algn="l"/>
                <a:tab pos="8115119" algn="l"/>
                <a:tab pos="9029519" algn="l"/>
              </a:tabLst>
            </a:pPr>
            <a:r>
              <a:rPr lang="en-US" sz="2000" dirty="0"/>
              <a:t>E.g.,  temperature </a:t>
            </a:r>
            <a:r>
              <a:rPr lang="en-US" sz="2000" dirty="0">
                <a:latin typeface="Symbol" pitchFamily="34"/>
              </a:rPr>
              <a:t></a:t>
            </a:r>
            <a:r>
              <a:rPr lang="en-US" sz="2000" dirty="0"/>
              <a:t> 71.5: yes/4, no/2</a:t>
            </a:r>
            <a:br>
              <a:rPr lang="en-US" sz="2000" dirty="0"/>
            </a:br>
            <a:r>
              <a:rPr lang="en-US" sz="2000" dirty="0"/>
              <a:t>	      temperature </a:t>
            </a:r>
            <a:r>
              <a:rPr lang="en-US" sz="2000" dirty="0">
                <a:latin typeface="Symbol" pitchFamily="34"/>
              </a:rPr>
              <a:t></a:t>
            </a:r>
            <a:r>
              <a:rPr lang="en-US" sz="2000" dirty="0"/>
              <a:t> 71.5: yes/5, no/3</a:t>
            </a:r>
            <a:br>
              <a:rPr lang="en-US" sz="2000" dirty="0"/>
            </a:br>
            <a:endParaRPr lang="en-US" sz="2000" dirty="0"/>
          </a:p>
          <a:p>
            <a:pPr lvl="1">
              <a:spcBef>
                <a:spcPts val="598"/>
              </a:spcBef>
            </a:pPr>
            <a:r>
              <a:rPr lang="en-US" sz="2000" dirty="0"/>
              <a:t>Info([4,2],[5,3])</a:t>
            </a:r>
            <a:br>
              <a:rPr lang="en-US" sz="2000" dirty="0"/>
            </a:br>
            <a:r>
              <a:rPr lang="en-US" sz="2000" dirty="0"/>
              <a:t>= 6/14 info([4,2]) + 8/14 info([5,3]) </a:t>
            </a:r>
            <a:br>
              <a:rPr lang="en-US" sz="2000" dirty="0"/>
            </a:br>
            <a:r>
              <a:rPr lang="en-US" sz="2000" dirty="0"/>
              <a:t>= 0.939 bits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Place split points halfway between values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Can evaluate all split points in one pass!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19702" y="1669830"/>
            <a:ext cx="8229600" cy="628560"/>
            <a:chOff x="590400" y="1683000"/>
            <a:chExt cx="8229600" cy="628560"/>
          </a:xfrm>
        </p:grpSpPr>
        <p:sp>
          <p:nvSpPr>
            <p:cNvPr id="5" name="Freeform: Shape 4"/>
            <p:cNvSpPr/>
            <p:nvPr/>
          </p:nvSpPr>
          <p:spPr>
            <a:xfrm>
              <a:off x="590400" y="1683000"/>
              <a:ext cx="8229600" cy="6285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i="0" u="none" strike="noStrike" baseline="0" dirty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 64     65     68     69       70     71    72      72     75      75     80     81      83     85</a:t>
              </a:r>
            </a:p>
            <a:p>
              <a:pPr marL="0" marR="0" lvl="0" indent="0" algn="l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1" i="0" u="none" strike="noStrike" baseline="0" dirty="0">
                  <a:ln>
                    <a:noFill/>
                  </a:ln>
                  <a:solidFill>
                    <a:srgbClr val="008000"/>
                  </a:solidFill>
                  <a:latin typeface="Courier New" pitchFamily="18"/>
                  <a:ea typeface="Gothic" pitchFamily="2"/>
                  <a:cs typeface="Lucidasans" pitchFamily="2"/>
                </a:rPr>
                <a:t>Yes  No  Yes  Yes  Yes  No  No  Yes  Yes  Yes  No  Yes  Yes  No</a:t>
              </a:r>
            </a:p>
          </p:txBody>
        </p:sp>
        <p:sp>
          <p:nvSpPr>
            <p:cNvPr id="6" name="Straight Connector 5"/>
            <p:cNvSpPr/>
            <p:nvPr/>
          </p:nvSpPr>
          <p:spPr>
            <a:xfrm>
              <a:off x="590400" y="1683000"/>
              <a:ext cx="8229600" cy="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7" name="Straight Connector 6"/>
            <p:cNvSpPr/>
            <p:nvPr/>
          </p:nvSpPr>
          <p:spPr>
            <a:xfrm>
              <a:off x="590400" y="2311560"/>
              <a:ext cx="8229600" cy="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8" name="Straight Connector 7"/>
            <p:cNvSpPr/>
            <p:nvPr/>
          </p:nvSpPr>
          <p:spPr>
            <a:xfrm>
              <a:off x="590400" y="1683000"/>
              <a:ext cx="0" cy="62856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9" name="Straight Connector 8"/>
            <p:cNvSpPr/>
            <p:nvPr/>
          </p:nvSpPr>
          <p:spPr>
            <a:xfrm>
              <a:off x="8820000" y="1683000"/>
              <a:ext cx="0" cy="62856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</p:grp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9</a:t>
            </a:fld>
            <a:endParaRPr lang="uk-U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void repeated sorting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4400" dirty="0">
                <a:latin typeface="+mj-lt"/>
              </a:rPr>
              <a:t>Can avoid repeated sorting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84502" y="1184155"/>
            <a:ext cx="7668247" cy="2940975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Sort instances by the values of the numeric attribute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Time complexity for sorting: </a:t>
            </a:r>
            <a:r>
              <a:rPr lang="en-US" sz="2000" i="1" dirty="0"/>
              <a:t>O </a:t>
            </a:r>
            <a:r>
              <a:rPr lang="en-US" sz="2000" dirty="0"/>
              <a:t>(</a:t>
            </a:r>
            <a:r>
              <a:rPr lang="en-US" sz="2000" i="1" dirty="0"/>
              <a:t>n </a:t>
            </a:r>
            <a:r>
              <a:rPr lang="en-US" sz="2000" dirty="0"/>
              <a:t>log </a:t>
            </a:r>
            <a:r>
              <a:rPr lang="en-US" sz="2000" i="1" dirty="0"/>
              <a:t>n</a:t>
            </a:r>
            <a:r>
              <a:rPr lang="en-US" sz="2000" dirty="0"/>
              <a:t>)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Does this have to be repeated at each node of the tree?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No! Sort order for children can be derived from sort order for parent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Time complexity of derivation: </a:t>
            </a:r>
            <a:r>
              <a:rPr lang="en-US" sz="2000" i="1" dirty="0"/>
              <a:t>O </a:t>
            </a:r>
            <a:r>
              <a:rPr lang="en-US" sz="2000" dirty="0"/>
              <a:t>(</a:t>
            </a:r>
            <a:r>
              <a:rPr lang="en-US" sz="2000" i="1" dirty="0"/>
              <a:t>n</a:t>
            </a:r>
            <a:r>
              <a:rPr lang="en-US" sz="2000" dirty="0"/>
              <a:t>)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Drawback: need to create and store an array of sorted indices for each numeric attribute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10</a:t>
            </a:fld>
            <a:endParaRPr lang="uk-U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inary vs multiway spl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Binary </a:t>
            </a:r>
            <a:r>
              <a:rPr lang="en-US" sz="3600" i="1" dirty="0" err="1">
                <a:latin typeface="+mj-lt"/>
              </a:rPr>
              <a:t>vs</a:t>
            </a:r>
            <a:r>
              <a:rPr lang="en-US" sz="3600" dirty="0">
                <a:latin typeface="+mj-lt"/>
              </a:rPr>
              <a:t> </a:t>
            </a:r>
            <a:r>
              <a:rPr lang="en-US" sz="3600" dirty="0" err="1">
                <a:latin typeface="+mj-lt"/>
              </a:rPr>
              <a:t>multiway</a:t>
            </a:r>
            <a:r>
              <a:rPr lang="en-US" sz="3600" dirty="0">
                <a:latin typeface="+mj-lt"/>
              </a:rPr>
              <a:t> splits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36608" y="1273818"/>
            <a:ext cx="8310623" cy="3439444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Splitting (multi-way) on a nominal attribute exhausts all information in that attribute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Nominal attribute is tested (at most) once on any path in the tree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Not so for binary splits on numeric attributes!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Numeric attribute may be tested several times along a path in the tree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Disadvantage: tree is hard to read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Remedy: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pre-discretize numeric attributes, </a:t>
            </a:r>
            <a:r>
              <a:rPr lang="en-US" sz="2000" i="1" dirty="0"/>
              <a:t>or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use multi-way splits instead of binary ones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11</a:t>
            </a:fld>
            <a:endParaRPr lang="uk-U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uting multi-way spl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Computing multi-way splits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94481" y="1387797"/>
            <a:ext cx="7543800" cy="3607824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Simple and efficient way of generating multi-way splits: greedy algorithm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But: dynamic programming can find optimum multi-way split in </a:t>
            </a:r>
            <a:r>
              <a:rPr lang="en-US" sz="2400" i="1" dirty="0"/>
              <a:t>O 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i="1" baseline="30000" dirty="0"/>
              <a:t>2</a:t>
            </a:r>
            <a:r>
              <a:rPr lang="en-US" sz="2400" dirty="0"/>
              <a:t>) time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imp (</a:t>
            </a:r>
            <a:r>
              <a:rPr lang="en-US" sz="2000" i="1" dirty="0"/>
              <a:t>k</a:t>
            </a:r>
            <a:r>
              <a:rPr lang="en-US" sz="2000" dirty="0"/>
              <a:t>,</a:t>
            </a:r>
            <a:r>
              <a:rPr lang="en-US" sz="2000" i="1" dirty="0"/>
              <a:t> </a:t>
            </a:r>
            <a:r>
              <a:rPr lang="en-US" sz="2000" i="1" dirty="0" err="1"/>
              <a:t>i</a:t>
            </a:r>
            <a:r>
              <a:rPr lang="en-US" sz="2000" dirty="0"/>
              <a:t>, </a:t>
            </a:r>
            <a:r>
              <a:rPr lang="en-US" sz="2000" i="1" dirty="0"/>
              <a:t>j </a:t>
            </a:r>
            <a:r>
              <a:rPr lang="en-US" sz="2000" dirty="0"/>
              <a:t>) is the impurity of the best split of values </a:t>
            </a:r>
            <a:r>
              <a:rPr lang="en-US" sz="2000" i="1" dirty="0"/>
              <a:t>x</a:t>
            </a:r>
            <a:r>
              <a:rPr lang="en-US" sz="2000" i="1" baseline="-25000" dirty="0"/>
              <a:t>i</a:t>
            </a:r>
            <a:r>
              <a:rPr lang="en-US" sz="2000" i="1" dirty="0"/>
              <a:t> … </a:t>
            </a:r>
            <a:r>
              <a:rPr lang="en-US" sz="2000" i="1" dirty="0" err="1"/>
              <a:t>x</a:t>
            </a:r>
            <a:r>
              <a:rPr lang="en-US" sz="2000" i="1" baseline="-25000" dirty="0" err="1"/>
              <a:t>j</a:t>
            </a:r>
            <a:r>
              <a:rPr lang="en-US" sz="2000" dirty="0"/>
              <a:t> into </a:t>
            </a:r>
            <a:r>
              <a:rPr lang="en-US" sz="2000" i="1" dirty="0"/>
              <a:t>k</a:t>
            </a:r>
            <a:r>
              <a:rPr lang="en-US" sz="2000" dirty="0"/>
              <a:t> sub-intervals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imp (</a:t>
            </a:r>
            <a:r>
              <a:rPr lang="en-US" sz="2000" i="1" dirty="0"/>
              <a:t>k</a:t>
            </a:r>
            <a:r>
              <a:rPr lang="en-US" sz="2000" dirty="0"/>
              <a:t>, 1, </a:t>
            </a:r>
            <a:r>
              <a:rPr lang="en-US" sz="2000" i="1" dirty="0" err="1"/>
              <a:t>i</a:t>
            </a:r>
            <a:r>
              <a:rPr lang="en-US" sz="2000" i="1" dirty="0"/>
              <a:t> </a:t>
            </a:r>
            <a:r>
              <a:rPr lang="en-US" sz="2000" dirty="0"/>
              <a:t>) =</a:t>
            </a:r>
            <a:br>
              <a:rPr lang="en-US" sz="2000" dirty="0"/>
            </a:br>
            <a:r>
              <a:rPr lang="en-US" sz="2000" dirty="0"/>
              <a:t>      min</a:t>
            </a:r>
            <a:r>
              <a:rPr lang="en-US" sz="2000" baseline="-25000" dirty="0"/>
              <a:t>0&lt;</a:t>
            </a:r>
            <a:r>
              <a:rPr lang="en-US" sz="2000" i="1" baseline="-25000" dirty="0"/>
              <a:t>j </a:t>
            </a:r>
            <a:r>
              <a:rPr lang="en-US" sz="2000" baseline="-25000" dirty="0"/>
              <a:t>&lt;</a:t>
            </a:r>
            <a:r>
              <a:rPr lang="en-US" sz="2000" i="1" baseline="-25000" dirty="0" err="1"/>
              <a:t>i</a:t>
            </a:r>
            <a:r>
              <a:rPr lang="en-US" sz="2000" dirty="0"/>
              <a:t>  imp (</a:t>
            </a:r>
            <a:r>
              <a:rPr lang="en-US" sz="2000" i="1" dirty="0"/>
              <a:t>k</a:t>
            </a:r>
            <a:r>
              <a:rPr lang="en-US" sz="2000" dirty="0">
                <a:ea typeface="Tahoma" pitchFamily="2"/>
                <a:cs typeface="Tahoma" pitchFamily="2"/>
              </a:rPr>
              <a:t>–</a:t>
            </a:r>
            <a:r>
              <a:rPr lang="en-US" sz="2000" dirty="0"/>
              <a:t>1, 1, </a:t>
            </a:r>
            <a:r>
              <a:rPr lang="en-US" sz="2000" i="1" dirty="0"/>
              <a:t>j </a:t>
            </a:r>
            <a:r>
              <a:rPr lang="en-US" sz="2000" dirty="0"/>
              <a:t>) + imp (1, </a:t>
            </a:r>
            <a:r>
              <a:rPr lang="en-US" sz="2000" i="1" dirty="0"/>
              <a:t>j</a:t>
            </a:r>
            <a:r>
              <a:rPr lang="en-US" sz="2000" dirty="0"/>
              <a:t>+1, </a:t>
            </a:r>
            <a:r>
              <a:rPr lang="en-US" sz="2000" i="1" dirty="0" err="1"/>
              <a:t>i</a:t>
            </a:r>
            <a:r>
              <a:rPr lang="en-US" sz="2000" i="1" dirty="0"/>
              <a:t> </a:t>
            </a:r>
            <a:r>
              <a:rPr lang="en-US" sz="2000" dirty="0"/>
              <a:t>)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imp (</a:t>
            </a:r>
            <a:r>
              <a:rPr lang="en-US" sz="2000" i="1" dirty="0"/>
              <a:t>k, </a:t>
            </a:r>
            <a:r>
              <a:rPr lang="en-US" sz="2000" dirty="0"/>
              <a:t>1</a:t>
            </a:r>
            <a:r>
              <a:rPr lang="en-US" sz="2000" i="1" dirty="0"/>
              <a:t>, N </a:t>
            </a:r>
            <a:r>
              <a:rPr lang="en-US" sz="2000" dirty="0"/>
              <a:t>) gives us the best </a:t>
            </a:r>
            <a:r>
              <a:rPr lang="en-US" sz="2000" i="1" dirty="0"/>
              <a:t>k</a:t>
            </a:r>
            <a:r>
              <a:rPr lang="en-US" sz="2000" dirty="0"/>
              <a:t>-way split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In practice, greedy algorithm works as well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12</a:t>
            </a:fld>
            <a:endParaRPr lang="uk-U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issing val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Missing values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7630" y="1492169"/>
            <a:ext cx="7918450" cy="3661044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C4.5 applies method of fractional instances:</a:t>
            </a:r>
          </a:p>
          <a:p>
            <a:pPr lvl="1">
              <a:spcBef>
                <a:spcPts val="697"/>
              </a:spcBef>
            </a:pPr>
            <a:r>
              <a:rPr lang="en-US" sz="2000" dirty="0"/>
              <a:t>Split instances with missing values into pieces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A piece going down a branch receives a weight proportional to the popularity of the branch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weights sum to 1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Info gain works with fractional instances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use sums of weights instead of counts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During classification, split the instance into pieces in the same way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Merge probability distribution using weights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13</a:t>
            </a:fld>
            <a:endParaRPr lang="uk-U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u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 sz="3600" dirty="0">
                <a:latin typeface="+mj-lt"/>
              </a:rPr>
              <a:t>Pruning</a:t>
            </a:r>
            <a:endParaRPr lang="en-US" dirty="0">
              <a:latin typeface="+mj-lt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75504" y="1219199"/>
            <a:ext cx="7268901" cy="3630266"/>
          </a:xfrm>
        </p:spPr>
        <p:txBody>
          <a:bodyPr wrap="square" lIns="90360" tIns="44280" rIns="90360" bIns="44280" anchor="t" anchorCtr="0">
            <a:spAutoFit/>
          </a:bodyPr>
          <a:lstStyle/>
          <a:p>
            <a:r>
              <a:rPr lang="en-US" sz="2400" dirty="0"/>
              <a:t>Prevent </a:t>
            </a:r>
            <a:r>
              <a:rPr lang="en-US" sz="2400" dirty="0" err="1"/>
              <a:t>overfitting</a:t>
            </a:r>
            <a:r>
              <a:rPr lang="en-US" sz="2400" dirty="0"/>
              <a:t> the training data: “prune the decision tree</a:t>
            </a:r>
          </a:p>
          <a:p>
            <a:r>
              <a:rPr lang="en-US" sz="2400" dirty="0"/>
              <a:t>Two strategies:</a:t>
            </a:r>
            <a:endParaRPr lang="en-US" sz="2800" dirty="0"/>
          </a:p>
          <a:p>
            <a:pPr lvl="1"/>
            <a:r>
              <a:rPr lang="en-US" sz="2000" i="1" dirty="0" err="1"/>
              <a:t>Postpruning</a:t>
            </a:r>
            <a:br>
              <a:rPr lang="en-US" sz="2000" dirty="0"/>
            </a:br>
            <a:r>
              <a:rPr lang="en-US" sz="2000" dirty="0"/>
              <a:t>take a fully-grown decision tree and discard unreliable parts</a:t>
            </a:r>
          </a:p>
          <a:p>
            <a:pPr lvl="1"/>
            <a:r>
              <a:rPr lang="en-US" sz="2000" i="1" dirty="0" err="1"/>
              <a:t>Prepruning</a:t>
            </a:r>
            <a:br>
              <a:rPr lang="en-US" sz="2000" dirty="0"/>
            </a:br>
            <a:r>
              <a:rPr lang="en-US" sz="2000" dirty="0"/>
              <a:t>stop growing a branch when information becomes unreliable</a:t>
            </a:r>
            <a:endParaRPr lang="en-US" sz="2800" dirty="0"/>
          </a:p>
          <a:p>
            <a:r>
              <a:rPr lang="en-US" sz="2400" dirty="0" err="1"/>
              <a:t>Postpruning</a:t>
            </a:r>
            <a:r>
              <a:rPr lang="en-US" sz="2400" dirty="0"/>
              <a:t> is preferred in practice—</a:t>
            </a:r>
            <a:r>
              <a:rPr lang="en-US" sz="2400" dirty="0" err="1"/>
              <a:t>prepruning</a:t>
            </a:r>
            <a:r>
              <a:rPr lang="en-US" sz="2400" dirty="0"/>
              <a:t> can “stop early”</a:t>
            </a:r>
          </a:p>
          <a:p>
            <a:pPr marL="0" lvl="0" indent="0">
              <a:lnSpc>
                <a:spcPct val="90000"/>
              </a:lnSpc>
              <a:spcBef>
                <a:spcPts val="697"/>
              </a:spcBef>
              <a:buSzPct val="45000"/>
              <a:buNone/>
            </a:pP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14</a:t>
            </a:fld>
            <a:endParaRPr lang="uk-U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epru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 sz="3600" dirty="0" err="1">
                <a:latin typeface="+mj-lt"/>
              </a:rPr>
              <a:t>Prepruning</a:t>
            </a:r>
            <a:endParaRPr lang="en-US" dirty="0">
              <a:latin typeface="+mj-lt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532437" y="1296367"/>
            <a:ext cx="8230826" cy="2864287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Based on statistical significance test</a:t>
            </a:r>
            <a:endParaRPr lang="en-US" sz="2800" dirty="0"/>
          </a:p>
          <a:p>
            <a:pPr lvl="1">
              <a:spcBef>
                <a:spcPts val="598"/>
              </a:spcBef>
            </a:pPr>
            <a:r>
              <a:rPr lang="en-US" sz="2000" dirty="0"/>
              <a:t>Stop growing the tree when there is no </a:t>
            </a:r>
            <a:r>
              <a:rPr lang="en-US" sz="2000" i="1" dirty="0"/>
              <a:t>statistically significant </a:t>
            </a:r>
            <a:r>
              <a:rPr lang="en-US" sz="2000" dirty="0"/>
              <a:t>association between any attribute and the class at a particular node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Most popular test: </a:t>
            </a:r>
            <a:r>
              <a:rPr lang="en-US" sz="2400" i="1" dirty="0"/>
              <a:t>chi-squared test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Quinlan’s classic tree learner ID3 used chi-squared test in addition to information gain</a:t>
            </a:r>
            <a:endParaRPr lang="en-US" sz="2800" dirty="0"/>
          </a:p>
          <a:p>
            <a:pPr lvl="1">
              <a:spcBef>
                <a:spcPts val="598"/>
              </a:spcBef>
            </a:pPr>
            <a:r>
              <a:rPr lang="en-US" sz="2000" dirty="0"/>
              <a:t>Only statistically significant attributes were allowed to be selected by the information gain procedure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15</a:t>
            </a:fld>
            <a:endParaRPr lang="uk-U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arly stopp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0" y="-77788"/>
            <a:ext cx="7543800" cy="977901"/>
          </a:xfrm>
        </p:spPr>
        <p:txBody>
          <a:bodyPr wrap="square" lIns="90360" tIns="44280" rIns="90360" bIns="44280" anchorCtr="1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Early stopping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625034" y="1203374"/>
            <a:ext cx="7092472" cy="3696181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Pre-pruning may stop the </a:t>
            </a:r>
            <a:br>
              <a:rPr lang="en-US" sz="2400" dirty="0"/>
            </a:br>
            <a:r>
              <a:rPr lang="en-US" sz="2400" dirty="0"/>
              <a:t>growth process prematurely: </a:t>
            </a:r>
            <a:br>
              <a:rPr lang="en-US" sz="2400" dirty="0"/>
            </a:br>
            <a:r>
              <a:rPr lang="en-US" sz="2400" i="1" dirty="0"/>
              <a:t>early stopping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Classic example: XOR/Parity-problem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No </a:t>
            </a:r>
            <a:r>
              <a:rPr lang="en-US" sz="2000" i="1" dirty="0"/>
              <a:t>individual</a:t>
            </a:r>
            <a:r>
              <a:rPr lang="en-US" sz="2000" dirty="0"/>
              <a:t> attribute exhibits any significant association with the class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Structure is only visible in fully expanded tree</a:t>
            </a:r>
          </a:p>
          <a:p>
            <a:pPr lvl="1">
              <a:spcBef>
                <a:spcPts val="598"/>
              </a:spcBef>
            </a:pPr>
            <a:r>
              <a:rPr lang="en-US" sz="2000" dirty="0" err="1"/>
              <a:t>Prepruning</a:t>
            </a:r>
            <a:r>
              <a:rPr lang="en-US" sz="2000" dirty="0"/>
              <a:t> won’t expand the root node</a:t>
            </a:r>
            <a:endParaRPr lang="en-US" sz="2400" dirty="0"/>
          </a:p>
          <a:p>
            <a:pPr lvl="0">
              <a:spcBef>
                <a:spcPts val="697"/>
              </a:spcBef>
            </a:pPr>
            <a:r>
              <a:rPr lang="en-US" sz="2400" dirty="0"/>
              <a:t>But: XOR-type problems rare in practice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And: </a:t>
            </a:r>
            <a:r>
              <a:rPr lang="en-US" sz="2400" dirty="0" err="1"/>
              <a:t>prepruning</a:t>
            </a:r>
            <a:r>
              <a:rPr lang="en-US" sz="2400" dirty="0"/>
              <a:t> faster than </a:t>
            </a:r>
            <a:r>
              <a:rPr lang="en-US" sz="2400" dirty="0" err="1"/>
              <a:t>postpruning</a:t>
            </a:r>
            <a:endParaRPr lang="en-US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5658127" y="668507"/>
            <a:ext cx="3335400" cy="1674720"/>
            <a:chOff x="5808600" y="900000"/>
            <a:chExt cx="3335400" cy="1674720"/>
          </a:xfrm>
        </p:grpSpPr>
        <p:sp>
          <p:nvSpPr>
            <p:cNvPr id="5" name="Freeform: Shape 4"/>
            <p:cNvSpPr/>
            <p:nvPr/>
          </p:nvSpPr>
          <p:spPr>
            <a:xfrm>
              <a:off x="8310240" y="1234800"/>
              <a:ext cx="833759" cy="3351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0</a:t>
              </a:r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476120" y="1234800"/>
              <a:ext cx="834119" cy="3351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0</a:t>
              </a:r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642360" y="1234800"/>
              <a:ext cx="833759" cy="3351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0</a:t>
              </a:r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5808600" y="1234800"/>
              <a:ext cx="833759" cy="3351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1</a:t>
              </a:r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8310240" y="1569960"/>
              <a:ext cx="83375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1</a:t>
              </a:r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7476120" y="1569960"/>
              <a:ext cx="83411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1</a:t>
              </a:r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6642360" y="1569960"/>
              <a:ext cx="83375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0</a:t>
              </a:r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5808600" y="1569960"/>
              <a:ext cx="83375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2</a:t>
              </a:r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6642360" y="2239920"/>
              <a:ext cx="83375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1</a:t>
              </a:r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6642360" y="1904760"/>
              <a:ext cx="833759" cy="3351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1</a:t>
              </a:r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6642360" y="900000"/>
              <a:ext cx="83375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a</a:t>
              </a:r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8310240" y="2239920"/>
              <a:ext cx="83375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0</a:t>
              </a:r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7476120" y="2239920"/>
              <a:ext cx="83411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1</a:t>
              </a:r>
            </a:p>
          </p:txBody>
        </p:sp>
        <p:sp>
          <p:nvSpPr>
            <p:cNvPr id="18" name="Freeform: Shape 17"/>
            <p:cNvSpPr/>
            <p:nvPr/>
          </p:nvSpPr>
          <p:spPr>
            <a:xfrm>
              <a:off x="5808600" y="2239920"/>
              <a:ext cx="83375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4</a:t>
              </a:r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8310240" y="1904760"/>
              <a:ext cx="833759" cy="3351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1</a:t>
              </a:r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7476120" y="1904760"/>
              <a:ext cx="834119" cy="3351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CCFFCC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0</a:t>
              </a:r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808600" y="1904760"/>
              <a:ext cx="833759" cy="33516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3</a:t>
              </a:r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8310240" y="900000"/>
              <a:ext cx="83375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class</a:t>
              </a:r>
            </a:p>
          </p:txBody>
        </p:sp>
        <p:sp>
          <p:nvSpPr>
            <p:cNvPr id="23" name="Freeform: Shape 22"/>
            <p:cNvSpPr/>
            <p:nvPr/>
          </p:nvSpPr>
          <p:spPr>
            <a:xfrm>
              <a:off x="7476120" y="900000"/>
              <a:ext cx="83411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NZ" sz="1600" b="1" i="0" u="none" strike="noStrike" baseline="0">
                  <a:ln>
                    <a:noFill/>
                  </a:ln>
                  <a:solidFill>
                    <a:srgbClr val="008000"/>
                  </a:solidFill>
                  <a:latin typeface="Tahoma" pitchFamily="18"/>
                  <a:ea typeface="Gothic" pitchFamily="2"/>
                  <a:cs typeface="Lucidasans" pitchFamily="2"/>
                </a:rPr>
                <a:t>b</a:t>
              </a:r>
            </a:p>
          </p:txBody>
        </p:sp>
        <p:sp>
          <p:nvSpPr>
            <p:cNvPr id="24" name="Freeform: Shape 23"/>
            <p:cNvSpPr/>
            <p:nvPr/>
          </p:nvSpPr>
          <p:spPr>
            <a:xfrm>
              <a:off x="5808600" y="900000"/>
              <a:ext cx="833759" cy="3348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>
              <a:off x="5808600" y="900000"/>
              <a:ext cx="833760" cy="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5808600" y="900000"/>
              <a:ext cx="0" cy="33480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>
              <a:off x="6642360" y="900000"/>
              <a:ext cx="833760" cy="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5808600" y="1234800"/>
              <a:ext cx="0" cy="33516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7476120" y="900000"/>
              <a:ext cx="834120" cy="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30" name="Straight Connector 29"/>
            <p:cNvSpPr/>
            <p:nvPr/>
          </p:nvSpPr>
          <p:spPr>
            <a:xfrm>
              <a:off x="8310240" y="900000"/>
              <a:ext cx="833760" cy="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31" name="Straight Connector 30"/>
            <p:cNvSpPr/>
            <p:nvPr/>
          </p:nvSpPr>
          <p:spPr>
            <a:xfrm>
              <a:off x="9144000" y="1234800"/>
              <a:ext cx="0" cy="1339919"/>
            </a:xfrm>
            <a:prstGeom prst="line">
              <a:avLst/>
            </a:prstGeom>
            <a:noFill/>
            <a:ln w="936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32" name="Straight Connector 31"/>
            <p:cNvSpPr/>
            <p:nvPr/>
          </p:nvSpPr>
          <p:spPr>
            <a:xfrm>
              <a:off x="5808600" y="1569960"/>
              <a:ext cx="0" cy="33480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33" name="Straight Connector 32"/>
            <p:cNvSpPr/>
            <p:nvPr/>
          </p:nvSpPr>
          <p:spPr>
            <a:xfrm>
              <a:off x="5808600" y="1904760"/>
              <a:ext cx="0" cy="33516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34" name="Straight Connector 33"/>
            <p:cNvSpPr/>
            <p:nvPr/>
          </p:nvSpPr>
          <p:spPr>
            <a:xfrm>
              <a:off x="5808600" y="2239920"/>
              <a:ext cx="0" cy="334799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6642360" y="2574719"/>
              <a:ext cx="2501640" cy="0"/>
            </a:xfrm>
            <a:prstGeom prst="line">
              <a:avLst/>
            </a:prstGeom>
            <a:noFill/>
            <a:ln w="936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36" name="Straight Connector 35"/>
            <p:cNvSpPr/>
            <p:nvPr/>
          </p:nvSpPr>
          <p:spPr>
            <a:xfrm>
              <a:off x="6642360" y="1234800"/>
              <a:ext cx="2501640" cy="0"/>
            </a:xfrm>
            <a:prstGeom prst="line">
              <a:avLst/>
            </a:prstGeom>
            <a:noFill/>
            <a:ln w="936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37" name="Straight Connector 36"/>
            <p:cNvSpPr/>
            <p:nvPr/>
          </p:nvSpPr>
          <p:spPr>
            <a:xfrm>
              <a:off x="6642360" y="1234800"/>
              <a:ext cx="0" cy="1339919"/>
            </a:xfrm>
            <a:prstGeom prst="line">
              <a:avLst/>
            </a:prstGeom>
            <a:noFill/>
            <a:ln w="936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38" name="Straight Connector 37"/>
            <p:cNvSpPr/>
            <p:nvPr/>
          </p:nvSpPr>
          <p:spPr>
            <a:xfrm>
              <a:off x="7476120" y="1234800"/>
              <a:ext cx="0" cy="1339919"/>
            </a:xfrm>
            <a:prstGeom prst="line">
              <a:avLst/>
            </a:prstGeom>
            <a:noFill/>
            <a:ln w="936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39" name="Straight Connector 38"/>
            <p:cNvSpPr/>
            <p:nvPr/>
          </p:nvSpPr>
          <p:spPr>
            <a:xfrm>
              <a:off x="8310240" y="1234800"/>
              <a:ext cx="0" cy="1339919"/>
            </a:xfrm>
            <a:prstGeom prst="line">
              <a:avLst/>
            </a:prstGeom>
            <a:noFill/>
            <a:ln w="936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0" name="Straight Connector 39"/>
            <p:cNvSpPr/>
            <p:nvPr/>
          </p:nvSpPr>
          <p:spPr>
            <a:xfrm>
              <a:off x="6642360" y="1569960"/>
              <a:ext cx="2501640" cy="0"/>
            </a:xfrm>
            <a:prstGeom prst="line">
              <a:avLst/>
            </a:prstGeom>
            <a:noFill/>
            <a:ln w="936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1" name="Straight Connector 40"/>
            <p:cNvSpPr/>
            <p:nvPr/>
          </p:nvSpPr>
          <p:spPr>
            <a:xfrm>
              <a:off x="6642360" y="1904760"/>
              <a:ext cx="2501640" cy="0"/>
            </a:xfrm>
            <a:prstGeom prst="line">
              <a:avLst/>
            </a:prstGeom>
            <a:noFill/>
            <a:ln w="936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2" name="Straight Connector 41"/>
            <p:cNvSpPr/>
            <p:nvPr/>
          </p:nvSpPr>
          <p:spPr>
            <a:xfrm>
              <a:off x="6642360" y="2239920"/>
              <a:ext cx="2501640" cy="0"/>
            </a:xfrm>
            <a:prstGeom prst="line">
              <a:avLst/>
            </a:prstGeom>
            <a:noFill/>
            <a:ln w="9360">
              <a:solidFill>
                <a:srgbClr val="008000"/>
              </a:solidFill>
              <a:prstDash val="solid"/>
              <a:miter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3" name="Straight Connector 42"/>
            <p:cNvSpPr/>
            <p:nvPr/>
          </p:nvSpPr>
          <p:spPr>
            <a:xfrm>
              <a:off x="9144000" y="900000"/>
              <a:ext cx="0" cy="33480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5808600" y="2574719"/>
              <a:ext cx="833760" cy="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733920" y="1447919"/>
            <a:ext cx="182520" cy="519120"/>
            <a:chOff x="3733920" y="1447919"/>
            <a:chExt cx="182520" cy="519120"/>
          </a:xfrm>
        </p:grpSpPr>
        <p:sp>
          <p:nvSpPr>
            <p:cNvPr id="46" name="Freeform: Shape 45"/>
            <p:cNvSpPr/>
            <p:nvPr/>
          </p:nvSpPr>
          <p:spPr>
            <a:xfrm>
              <a:off x="3733920" y="1447919"/>
              <a:ext cx="182520" cy="51912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7" name="Straight Connector 46"/>
            <p:cNvSpPr/>
            <p:nvPr/>
          </p:nvSpPr>
          <p:spPr>
            <a:xfrm>
              <a:off x="3733920" y="1447919"/>
              <a:ext cx="182520" cy="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8" name="Straight Connector 47"/>
            <p:cNvSpPr/>
            <p:nvPr/>
          </p:nvSpPr>
          <p:spPr>
            <a:xfrm>
              <a:off x="3733920" y="1967039"/>
              <a:ext cx="182520" cy="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49" name="Straight Connector 48"/>
            <p:cNvSpPr/>
            <p:nvPr/>
          </p:nvSpPr>
          <p:spPr>
            <a:xfrm>
              <a:off x="3733920" y="1447919"/>
              <a:ext cx="0" cy="51912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3916440" y="1447919"/>
              <a:ext cx="0" cy="519120"/>
            </a:xfrm>
            <a:prstGeom prst="line">
              <a:avLst/>
            </a:prstGeom>
            <a:noFill/>
            <a:ln>
              <a:noFill/>
              <a:prstDash val="solid"/>
            </a:ln>
          </p:spPr>
          <p:txBody>
            <a:bodyPr vert="horz" wrap="square" lIns="90000" tIns="46800" rIns="90000" bIns="46800" anchor="t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</p:grpSp>
      <p:sp>
        <p:nvSpPr>
          <p:cNvPr id="53" name="Slide Number Placeholder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16</a:t>
            </a:fld>
            <a:endParaRPr lang="uk-UA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stpru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 dirty="0" err="1">
                <a:latin typeface="+mj-lt"/>
              </a:rPr>
              <a:t>Postpruning</a:t>
            </a:r>
            <a:endParaRPr lang="en-US" dirty="0">
              <a:latin typeface="+mj-lt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00048" y="1048521"/>
            <a:ext cx="8085137" cy="4091803"/>
          </a:xfrm>
        </p:spPr>
        <p:txBody>
          <a:bodyPr wrap="square" lIns="90360" tIns="44280" rIns="90360" bIns="44280" anchor="t" anchorCtr="0">
            <a:spAutoFit/>
          </a:bodyPr>
          <a:lstStyle/>
          <a:p>
            <a:r>
              <a:rPr lang="en-US" sz="2400" dirty="0"/>
              <a:t>First, build full tree</a:t>
            </a:r>
          </a:p>
          <a:p>
            <a:r>
              <a:rPr lang="en-US" sz="2400" dirty="0"/>
              <a:t>Then, prune it</a:t>
            </a:r>
          </a:p>
          <a:p>
            <a:pPr lvl="1"/>
            <a:r>
              <a:rPr lang="en-US" sz="2000" dirty="0"/>
              <a:t>Fully-grown tree shows all attribute interactions</a:t>
            </a:r>
          </a:p>
          <a:p>
            <a:r>
              <a:rPr lang="en-US" sz="2400" dirty="0"/>
              <a:t>Problem: some subtrees might be due to chance effects</a:t>
            </a:r>
          </a:p>
          <a:p>
            <a:r>
              <a:rPr lang="en-US" sz="2400" dirty="0"/>
              <a:t>Two pruning operations:</a:t>
            </a:r>
          </a:p>
          <a:p>
            <a:pPr lvl="1"/>
            <a:r>
              <a:rPr lang="en-US" sz="2000" dirty="0"/>
              <a:t>Subtree replacement</a:t>
            </a:r>
          </a:p>
          <a:p>
            <a:pPr lvl="1"/>
            <a:r>
              <a:rPr lang="en-US" sz="2000" dirty="0"/>
              <a:t>Subtree raising</a:t>
            </a:r>
            <a:endParaRPr lang="en-US" sz="2400" dirty="0"/>
          </a:p>
          <a:p>
            <a:r>
              <a:rPr lang="en-US" sz="2400" dirty="0"/>
              <a:t>Possible strategies:</a:t>
            </a:r>
          </a:p>
          <a:p>
            <a:pPr lvl="1"/>
            <a:r>
              <a:rPr lang="en-US" sz="2000" dirty="0"/>
              <a:t>error estimation</a:t>
            </a:r>
          </a:p>
          <a:p>
            <a:pPr lvl="1"/>
            <a:r>
              <a:rPr lang="en-US" sz="2000" dirty="0"/>
              <a:t>significance testing</a:t>
            </a:r>
          </a:p>
          <a:p>
            <a:pPr lvl="1"/>
            <a:r>
              <a:rPr lang="en-US" sz="2000" dirty="0"/>
              <a:t>MDL principle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17</a:t>
            </a:fld>
            <a:endParaRPr lang="uk-UA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btree replac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3600" y="2880000"/>
            <a:ext cx="5943600" cy="3665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0" y="-77788"/>
            <a:ext cx="7543800" cy="977901"/>
          </a:xfrm>
        </p:spPr>
        <p:txBody>
          <a:bodyPr wrap="square" lIns="90360" tIns="44280" rIns="90360" bIns="44280" anchorCtr="1">
            <a:normAutofit/>
          </a:bodyPr>
          <a:lstStyle/>
          <a:p>
            <a:pPr lvl="0"/>
            <a:r>
              <a:rPr lang="en-US" sz="4400" dirty="0" err="1">
                <a:latin typeface="+mj-lt"/>
              </a:rPr>
              <a:t>Subtree</a:t>
            </a:r>
            <a:r>
              <a:rPr lang="en-US" sz="4400" dirty="0">
                <a:latin typeface="+mj-lt"/>
              </a:rPr>
              <a:t> replacement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4294967295"/>
          </p:nvPr>
        </p:nvSpPr>
        <p:spPr>
          <a:xfrm>
            <a:off x="0" y="1104900"/>
            <a:ext cx="5040313" cy="1169464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598"/>
              </a:spcBef>
            </a:pPr>
            <a:r>
              <a:rPr lang="en-US" sz="2400" i="1" dirty="0"/>
              <a:t>Bottom-up</a:t>
            </a:r>
          </a:p>
          <a:p>
            <a:pPr lvl="0">
              <a:spcBef>
                <a:spcPts val="598"/>
              </a:spcBef>
            </a:pPr>
            <a:r>
              <a:rPr lang="en-US" sz="2400" dirty="0"/>
              <a:t>Consider replacing a tree only after considering all its </a:t>
            </a:r>
            <a:r>
              <a:rPr lang="en-US" sz="2400" dirty="0" err="1"/>
              <a:t>subtrees</a:t>
            </a:r>
            <a:endParaRPr lang="en-US" sz="2400" dirty="0"/>
          </a:p>
        </p:txBody>
      </p:sp>
      <p:grpSp>
        <p:nvGrpSpPr>
          <p:cNvPr id="5" name="Group 4"/>
          <p:cNvGrpSpPr/>
          <p:nvPr/>
        </p:nvGrpSpPr>
        <p:grpSpPr>
          <a:xfrm>
            <a:off x="5376960" y="900000"/>
            <a:ext cx="3767040" cy="4038479"/>
            <a:chOff x="5376960" y="900000"/>
            <a:chExt cx="3767040" cy="403847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>
              <a:lum/>
              <a:alphaModFix/>
            </a:blip>
            <a:srcRect/>
            <a:stretch>
              <a:fillRect/>
            </a:stretch>
          </p:blipFill>
          <p:spPr>
            <a:xfrm>
              <a:off x="5376960" y="900000"/>
              <a:ext cx="3767040" cy="40384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Freeform: Shape 6"/>
            <p:cNvSpPr/>
            <p:nvPr/>
          </p:nvSpPr>
          <p:spPr>
            <a:xfrm rot="18998809">
              <a:off x="5429915" y="4168195"/>
              <a:ext cx="762120" cy="457200"/>
            </a:xfrm>
            <a:custGeom>
              <a:avLst>
                <a:gd name="f0" fmla="val 16200"/>
                <a:gd name="f1" fmla="val 5400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0 f7 1"/>
                <a:gd name="f17" fmla="+- 21600 0 f12"/>
                <a:gd name="f18" fmla="*/ f13 f8 1"/>
                <a:gd name="f19" fmla="*/ f11 f8 1"/>
                <a:gd name="f20" fmla="*/ f17 f11 1"/>
                <a:gd name="f21" fmla="*/ f20 1 10800"/>
                <a:gd name="f22" fmla="+- f12 f21 0"/>
                <a:gd name="f23" fmla="*/ f22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23" b="f18"/>
              <a:pathLst>
                <a:path w="21600" h="21600">
                  <a:moveTo>
                    <a:pt x="f4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5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4" y="f13"/>
                  </a:lnTo>
                  <a:close/>
                </a:path>
              </a:pathLst>
            </a:custGeom>
            <a:solidFill>
              <a:srgbClr val="008000"/>
            </a:solidFill>
            <a:ln w="38160">
              <a:solidFill>
                <a:srgbClr val="008000"/>
              </a:solidFill>
              <a:prstDash val="solid"/>
              <a:miter/>
            </a:ln>
          </p:spPr>
          <p:txBody>
            <a:bodyPr vert="horz" wrap="none" lIns="90000" tIns="46800" rIns="90000" bIns="46800" anchor="ctr" anchorCtr="0" compatLnSpc="0">
              <a:noAutofit/>
            </a:bodyPr>
            <a:lstStyle/>
            <a:p>
              <a:pPr marL="0" marR="0" lvl="0" indent="0" algn="l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>
                  <a:tab pos="0" algn="l"/>
                  <a:tab pos="914400" algn="l"/>
                  <a:tab pos="1828800" algn="l"/>
                  <a:tab pos="2743199" algn="l"/>
                  <a:tab pos="3657600" algn="l"/>
                  <a:tab pos="4572000" algn="l"/>
                  <a:tab pos="5486399" algn="l"/>
                  <a:tab pos="6400799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i="0" u="none" strike="noStrike" baseline="0">
                <a:ln>
                  <a:noFill/>
                </a:ln>
                <a:solidFill>
                  <a:srgbClr val="00DCFF"/>
                </a:solidFill>
                <a:latin typeface="Utopia" pitchFamily="18"/>
                <a:ea typeface="Gothic" pitchFamily="2"/>
                <a:cs typeface="Lucidasans" pitchFamily="2"/>
              </a:endParaRP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18</a:t>
            </a:fld>
            <a:endParaRPr lang="uk-U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btree rai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0" y="-77788"/>
            <a:ext cx="7543800" cy="977901"/>
          </a:xfrm>
        </p:spPr>
        <p:txBody>
          <a:bodyPr wrap="square" lIns="90360" tIns="44280" rIns="90360" bIns="44280" anchorCtr="1"/>
          <a:lstStyle/>
          <a:p>
            <a:pPr lvl="0"/>
            <a:r>
              <a:rPr lang="en-US"/>
              <a:t>Subtree raising</a:t>
            </a:r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4294967295"/>
          </p:nvPr>
        </p:nvSpPr>
        <p:spPr>
          <a:xfrm>
            <a:off x="5105400" y="1079500"/>
            <a:ext cx="4038600" cy="1987637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598"/>
              </a:spcBef>
            </a:pPr>
            <a:r>
              <a:rPr lang="en-US" sz="2400" dirty="0"/>
              <a:t>Delete node</a:t>
            </a:r>
          </a:p>
          <a:p>
            <a:pPr lvl="0">
              <a:spcBef>
                <a:spcPts val="598"/>
              </a:spcBef>
            </a:pPr>
            <a:r>
              <a:rPr lang="en-US" sz="2400" dirty="0"/>
              <a:t>Redistribute instances</a:t>
            </a:r>
          </a:p>
          <a:p>
            <a:pPr lvl="0">
              <a:spcBef>
                <a:spcPts val="598"/>
              </a:spcBef>
            </a:pPr>
            <a:r>
              <a:rPr lang="en-US" sz="2400" dirty="0"/>
              <a:t>Slower than </a:t>
            </a:r>
            <a:r>
              <a:rPr lang="en-US" sz="2400" dirty="0" err="1"/>
              <a:t>subtree</a:t>
            </a:r>
            <a:r>
              <a:rPr lang="en-US" sz="2400" dirty="0"/>
              <a:t> replacement</a:t>
            </a:r>
          </a:p>
          <a:p>
            <a:pPr marL="457200" lvl="0" indent="-457200">
              <a:spcBef>
                <a:spcPts val="598"/>
              </a:spcBef>
              <a:buNone/>
              <a:tabLst>
                <a:tab pos="457200" algn="l"/>
                <a:tab pos="914400" algn="l"/>
                <a:tab pos="1828799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/>
              <a:t>	</a:t>
            </a:r>
            <a:r>
              <a:rPr lang="en-US" sz="2400" i="1" dirty="0"/>
              <a:t>(Worthwhile?)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63080" y="1080000"/>
            <a:ext cx="4876920" cy="35989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Object 3"/>
          <p:cNvGraphicFramePr/>
          <p:nvPr/>
        </p:nvGraphicFramePr>
        <p:xfrm>
          <a:off x="5040000" y="3867119"/>
          <a:ext cx="3270240" cy="2612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4" r:id="rId5" imgW="9000000" imgH="7190476" progId="">
                  <p:embed/>
                </p:oleObj>
              </mc:Choice>
              <mc:Fallback>
                <p:oleObj r:id="rId5" imgW="9000000" imgH="7190476" progId="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40000" y="3867119"/>
                        <a:ext cx="3270240" cy="261288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0">
                        <a:solidFill>
                          <a:srgbClr val="00DCFF"/>
                        </a:solidFill>
                        <a:prstDash val="soli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: Shape 5"/>
          <p:cNvSpPr/>
          <p:nvPr/>
        </p:nvSpPr>
        <p:spPr>
          <a:xfrm rot="2236200">
            <a:off x="5105667" y="4038487"/>
            <a:ext cx="761759" cy="457200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008000"/>
          </a:solidFill>
          <a:ln w="38160">
            <a:solidFill>
              <a:srgbClr val="008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19</a:t>
            </a:fld>
            <a:endParaRPr lang="uk-UA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stimating error ra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Estimating error rates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63929" y="1174750"/>
            <a:ext cx="8199096" cy="3703748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lnSpc>
                <a:spcPct val="90000"/>
              </a:lnSpc>
              <a:spcBef>
                <a:spcPts val="697"/>
              </a:spcBef>
            </a:pPr>
            <a:r>
              <a:rPr lang="en-US" sz="2400" dirty="0"/>
              <a:t>Prune only if it does not increase the estimated error</a:t>
            </a:r>
          </a:p>
          <a:p>
            <a:pPr lvl="0">
              <a:lnSpc>
                <a:spcPct val="90000"/>
              </a:lnSpc>
              <a:spcBef>
                <a:spcPts val="598"/>
              </a:spcBef>
            </a:pPr>
            <a:r>
              <a:rPr lang="en-US" sz="2400" dirty="0"/>
              <a:t>Error on the training data is NOT a useful estimator</a:t>
            </a:r>
            <a:br>
              <a:rPr lang="en-US" sz="2400" dirty="0"/>
            </a:br>
            <a:r>
              <a:rPr lang="en-US" sz="2000" i="1" dirty="0"/>
              <a:t>(would result in almost no pruning)</a:t>
            </a:r>
          </a:p>
          <a:p>
            <a:pPr lvl="0">
              <a:lnSpc>
                <a:spcPct val="90000"/>
              </a:lnSpc>
              <a:spcBef>
                <a:spcPts val="697"/>
              </a:spcBef>
            </a:pPr>
            <a:r>
              <a:rPr lang="en-US" sz="2400" dirty="0"/>
              <a:t>One possibility: use hold-out set for pruning</a:t>
            </a:r>
            <a:br>
              <a:rPr lang="en-US" sz="2400" dirty="0"/>
            </a:br>
            <a:r>
              <a:rPr lang="en-US" sz="2400" dirty="0"/>
              <a:t>(yields “reduced-error pruning”)</a:t>
            </a:r>
          </a:p>
          <a:p>
            <a:pPr lvl="0">
              <a:lnSpc>
                <a:spcPct val="90000"/>
              </a:lnSpc>
              <a:spcBef>
                <a:spcPts val="697"/>
              </a:spcBef>
            </a:pPr>
            <a:r>
              <a:rPr lang="en-US" sz="2400" dirty="0"/>
              <a:t>C4.5’s method</a:t>
            </a:r>
          </a:p>
          <a:p>
            <a:pPr lvl="1">
              <a:lnSpc>
                <a:spcPct val="90000"/>
              </a:lnSpc>
              <a:spcBef>
                <a:spcPts val="598"/>
              </a:spcBef>
            </a:pPr>
            <a:r>
              <a:rPr lang="en-US" sz="2000" dirty="0"/>
              <a:t>Derive confidence interval from training data</a:t>
            </a:r>
          </a:p>
          <a:p>
            <a:pPr lvl="1">
              <a:lnSpc>
                <a:spcPct val="90000"/>
              </a:lnSpc>
              <a:spcBef>
                <a:spcPts val="598"/>
              </a:spcBef>
            </a:pPr>
            <a:r>
              <a:rPr lang="en-US" sz="2000" dirty="0"/>
              <a:t>Use a heuristic limit, derived from this, for pruning</a:t>
            </a:r>
          </a:p>
          <a:p>
            <a:pPr lvl="1">
              <a:lnSpc>
                <a:spcPct val="90000"/>
              </a:lnSpc>
              <a:spcBef>
                <a:spcPts val="598"/>
              </a:spcBef>
            </a:pPr>
            <a:r>
              <a:rPr lang="en-US" sz="2000" dirty="0"/>
              <a:t>Standard Bernoulli-process-based method</a:t>
            </a:r>
          </a:p>
          <a:p>
            <a:pPr lvl="1">
              <a:lnSpc>
                <a:spcPct val="90000"/>
              </a:lnSpc>
              <a:spcBef>
                <a:spcPts val="598"/>
              </a:spcBef>
            </a:pPr>
            <a:r>
              <a:rPr lang="en-US" sz="2000" dirty="0"/>
              <a:t>Shaky statistical assumptions (based on training data)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20</a:t>
            </a:fld>
            <a:endParaRPr lang="uk-UA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4.5’s meth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C4.5’s method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39454" y="1508125"/>
            <a:ext cx="8075896" cy="3712852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Error estimate for subtree is weighted sum of error estimates for all its leaves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Error estimate for a node:</a:t>
            </a:r>
          </a:p>
          <a:p>
            <a:pPr lvl="0">
              <a:spcBef>
                <a:spcPts val="697"/>
              </a:spcBef>
            </a:pPr>
            <a:endParaRPr lang="en-US" sz="2400" dirty="0"/>
          </a:p>
          <a:p>
            <a:pPr marL="259200" lvl="0" indent="-259200">
              <a:spcBef>
                <a:spcPts val="697"/>
              </a:spcBef>
              <a:buNone/>
              <a:tabLst>
                <a:tab pos="716400" algn="l"/>
                <a:tab pos="1630799" algn="l"/>
                <a:tab pos="2545200" algn="l"/>
                <a:tab pos="3459600" algn="l"/>
                <a:tab pos="4374000" algn="l"/>
                <a:tab pos="5288400" algn="l"/>
                <a:tab pos="6202800" algn="l"/>
                <a:tab pos="7117200" algn="l"/>
                <a:tab pos="8031600" algn="l"/>
                <a:tab pos="8946000" algn="l"/>
                <a:tab pos="9860400" algn="l"/>
              </a:tabLst>
            </a:pPr>
            <a:endParaRPr lang="en-US" sz="2400" dirty="0"/>
          </a:p>
          <a:p>
            <a:pPr marL="259200" lvl="0" indent="-259200">
              <a:spcBef>
                <a:spcPts val="697"/>
              </a:spcBef>
              <a:buNone/>
              <a:tabLst>
                <a:tab pos="716400" algn="l"/>
                <a:tab pos="1630799" algn="l"/>
                <a:tab pos="2545200" algn="l"/>
                <a:tab pos="3459600" algn="l"/>
                <a:tab pos="4374000" algn="l"/>
                <a:tab pos="5288400" algn="l"/>
                <a:tab pos="6202800" algn="l"/>
                <a:tab pos="7117200" algn="l"/>
                <a:tab pos="8031600" algn="l"/>
                <a:tab pos="8946000" algn="l"/>
                <a:tab pos="9860400" algn="l"/>
              </a:tabLst>
            </a:pPr>
            <a:endParaRPr lang="en-US" sz="2400" dirty="0"/>
          </a:p>
          <a:p>
            <a:pPr lvl="0">
              <a:spcBef>
                <a:spcPts val="697"/>
              </a:spcBef>
            </a:pPr>
            <a:r>
              <a:rPr lang="en-US" sz="2400" dirty="0"/>
              <a:t>If </a:t>
            </a:r>
            <a:r>
              <a:rPr lang="en-US" sz="2400" i="1" dirty="0"/>
              <a:t>c = </a:t>
            </a:r>
            <a:r>
              <a:rPr lang="en-US" sz="2400" dirty="0"/>
              <a:t>25% then </a:t>
            </a:r>
            <a:r>
              <a:rPr lang="en-US" sz="2400" i="1" dirty="0"/>
              <a:t>z</a:t>
            </a:r>
            <a:r>
              <a:rPr lang="en-US" sz="2400" dirty="0"/>
              <a:t> = 0.69 (from normal distribution)</a:t>
            </a:r>
          </a:p>
          <a:p>
            <a:pPr lvl="0">
              <a:spcBef>
                <a:spcPts val="697"/>
              </a:spcBef>
            </a:pPr>
            <a:r>
              <a:rPr lang="en-US" sz="2400" i="1" dirty="0"/>
              <a:t>f</a:t>
            </a:r>
            <a:r>
              <a:rPr lang="en-US" sz="2400" dirty="0"/>
              <a:t> is the error on the training data</a:t>
            </a:r>
          </a:p>
          <a:p>
            <a:pPr lvl="0">
              <a:spcBef>
                <a:spcPts val="697"/>
              </a:spcBef>
            </a:pPr>
            <a:r>
              <a:rPr lang="en-US" sz="2400" i="1" dirty="0"/>
              <a:t>N</a:t>
            </a:r>
            <a:r>
              <a:rPr lang="en-US" sz="2400" dirty="0"/>
              <a:t> is the number of instances covered by the leaf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191168"/>
              </p:ext>
            </p:extLst>
          </p:nvPr>
        </p:nvGraphicFramePr>
        <p:xfrm>
          <a:off x="1280673" y="2715788"/>
          <a:ext cx="5582542" cy="1127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Equation" r:id="rId4" imgW="2641600" imgH="533400" progId="Equation.3">
                  <p:embed/>
                </p:oleObj>
              </mc:Choice>
              <mc:Fallback>
                <p:oleObj name="Equation" r:id="rId4" imgW="2641600" imgH="533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80673" y="2715788"/>
                        <a:ext cx="5582542" cy="11272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21</a:t>
            </a:fld>
            <a:endParaRPr lang="uk-UA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6784975" y="-179388"/>
            <a:ext cx="2359025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680200" y="82800"/>
            <a:ext cx="376740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traight Connector 3"/>
          <p:cNvSpPr/>
          <p:nvPr/>
        </p:nvSpPr>
        <p:spPr>
          <a:xfrm flipV="1">
            <a:off x="2680200" y="4425840"/>
            <a:ext cx="762120" cy="609480"/>
          </a:xfrm>
          <a:prstGeom prst="line">
            <a:avLst/>
          </a:prstGeom>
          <a:noFill/>
          <a:ln w="44280">
            <a:solidFill>
              <a:srgbClr val="008000"/>
            </a:solidFill>
            <a:prstDash val="solid"/>
            <a:miter/>
            <a:tailEnd type="arrow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5" name="Freeform: Shape 4"/>
          <p:cNvSpPr/>
          <p:nvPr/>
        </p:nvSpPr>
        <p:spPr>
          <a:xfrm>
            <a:off x="1813320" y="4959720"/>
            <a:ext cx="1302120" cy="10087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i="1" u="none" strike="noStrike" baseline="0">
                <a:ln>
                  <a:noFill/>
                </a:ln>
                <a:solidFill>
                  <a:srgbClr val="008000"/>
                </a:solidFill>
                <a:latin typeface="Utopia" pitchFamily="18"/>
                <a:ea typeface="Gothic" pitchFamily="2"/>
                <a:cs typeface="Lucidasans" pitchFamily="2"/>
              </a:rPr>
              <a:t>f=0.33 e=0.47</a:t>
            </a:r>
          </a:p>
        </p:txBody>
      </p:sp>
      <p:sp>
        <p:nvSpPr>
          <p:cNvPr id="6" name="Straight Connector 5"/>
          <p:cNvSpPr/>
          <p:nvPr/>
        </p:nvSpPr>
        <p:spPr>
          <a:xfrm flipV="1">
            <a:off x="4813920" y="4425840"/>
            <a:ext cx="0" cy="609480"/>
          </a:xfrm>
          <a:prstGeom prst="line">
            <a:avLst/>
          </a:prstGeom>
          <a:noFill/>
          <a:ln w="44280">
            <a:solidFill>
              <a:srgbClr val="008000"/>
            </a:solidFill>
            <a:prstDash val="solid"/>
            <a:miter/>
            <a:tailEnd type="arrow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7" name="Freeform: Shape 6"/>
          <p:cNvSpPr/>
          <p:nvPr/>
        </p:nvSpPr>
        <p:spPr>
          <a:xfrm>
            <a:off x="4204440" y="4959720"/>
            <a:ext cx="1208879" cy="10087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i="1" u="none" strike="noStrike" baseline="0">
                <a:ln>
                  <a:noFill/>
                </a:ln>
                <a:solidFill>
                  <a:srgbClr val="008000"/>
                </a:solidFill>
                <a:latin typeface="Utopia" pitchFamily="18"/>
                <a:ea typeface="Gothic" pitchFamily="2"/>
                <a:cs typeface="Lucidasans" pitchFamily="2"/>
              </a:rPr>
              <a:t>f=0.5 e=0.72</a:t>
            </a:r>
          </a:p>
        </p:txBody>
      </p:sp>
      <p:sp>
        <p:nvSpPr>
          <p:cNvPr id="8" name="Straight Connector 7"/>
          <p:cNvSpPr/>
          <p:nvPr/>
        </p:nvSpPr>
        <p:spPr>
          <a:xfrm flipH="1" flipV="1">
            <a:off x="6337440" y="4425840"/>
            <a:ext cx="155880" cy="648360"/>
          </a:xfrm>
          <a:prstGeom prst="line">
            <a:avLst/>
          </a:prstGeom>
          <a:noFill/>
          <a:ln w="44280">
            <a:solidFill>
              <a:srgbClr val="008000"/>
            </a:solidFill>
            <a:prstDash val="solid"/>
            <a:miter/>
            <a:tailEnd type="arrow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9" name="Freeform: Shape 8"/>
          <p:cNvSpPr/>
          <p:nvPr/>
        </p:nvSpPr>
        <p:spPr>
          <a:xfrm>
            <a:off x="5773320" y="4959720"/>
            <a:ext cx="1456920" cy="100871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i="1" u="none" strike="noStrike" baseline="0">
                <a:ln>
                  <a:noFill/>
                </a:ln>
                <a:solidFill>
                  <a:srgbClr val="008000"/>
                </a:solidFill>
                <a:latin typeface="Utopia" pitchFamily="18"/>
                <a:ea typeface="Gothic" pitchFamily="2"/>
                <a:cs typeface="Lucidasans" pitchFamily="2"/>
              </a:rPr>
              <a:t>f=0.33 e=0.47</a:t>
            </a:r>
          </a:p>
        </p:txBody>
      </p:sp>
      <p:sp>
        <p:nvSpPr>
          <p:cNvPr id="10" name="Straight Connector 9"/>
          <p:cNvSpPr/>
          <p:nvPr/>
        </p:nvSpPr>
        <p:spPr>
          <a:xfrm flipH="1" flipV="1">
            <a:off x="6185160" y="2902320"/>
            <a:ext cx="1219319" cy="380879"/>
          </a:xfrm>
          <a:prstGeom prst="line">
            <a:avLst/>
          </a:prstGeom>
          <a:noFill/>
          <a:ln w="44280">
            <a:solidFill>
              <a:srgbClr val="008000"/>
            </a:solidFill>
            <a:prstDash val="solid"/>
            <a:miter/>
            <a:tailEnd type="arrow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11" name="Freeform: Shape 10"/>
          <p:cNvSpPr/>
          <p:nvPr/>
        </p:nvSpPr>
        <p:spPr>
          <a:xfrm>
            <a:off x="7391520" y="3200400"/>
            <a:ext cx="1608480" cy="19234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47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i="1" u="none" strike="noStrike" baseline="0">
                <a:ln>
                  <a:noFill/>
                </a:ln>
                <a:solidFill>
                  <a:srgbClr val="008000"/>
                </a:solidFill>
                <a:latin typeface="Utopia" pitchFamily="18"/>
                <a:ea typeface="Gothic" pitchFamily="2"/>
                <a:cs typeface="Lucidasans" pitchFamily="2"/>
              </a:rPr>
              <a:t>f = 5/14 </a:t>
            </a:r>
            <a:br>
              <a:rPr lang="en-US" sz="2000" b="1" i="1" u="none" strike="noStrike" baseline="0">
                <a:ln>
                  <a:noFill/>
                </a:ln>
                <a:solidFill>
                  <a:srgbClr val="008000"/>
                </a:solidFill>
                <a:latin typeface="Utopia" pitchFamily="18"/>
                <a:ea typeface="Gothic" pitchFamily="2"/>
                <a:cs typeface="Lucidasans" pitchFamily="2"/>
              </a:rPr>
            </a:br>
            <a:r>
              <a:rPr lang="en-US" sz="2000" b="1" i="1" u="none" strike="noStrike" baseline="0">
                <a:ln>
                  <a:noFill/>
                </a:ln>
                <a:solidFill>
                  <a:srgbClr val="008000"/>
                </a:solidFill>
                <a:latin typeface="Utopia" pitchFamily="18"/>
                <a:ea typeface="Gothic" pitchFamily="2"/>
                <a:cs typeface="Lucidasans" pitchFamily="2"/>
              </a:rPr>
              <a:t>e = 0.46</a:t>
            </a:r>
            <a:br>
              <a:rPr lang="en-US" sz="2000" b="1" i="1" u="none" strike="noStrike" baseline="0">
                <a:ln>
                  <a:noFill/>
                </a:ln>
                <a:solidFill>
                  <a:srgbClr val="008000"/>
                </a:solidFill>
                <a:latin typeface="Utopia" pitchFamily="18"/>
                <a:ea typeface="Gothic" pitchFamily="2"/>
                <a:cs typeface="Lucidasans" pitchFamily="2"/>
              </a:rPr>
            </a:br>
            <a:r>
              <a:rPr lang="en-US" sz="2000" b="1" i="1" u="none" strike="noStrike" baseline="0">
                <a:ln>
                  <a:noFill/>
                </a:ln>
                <a:solidFill>
                  <a:srgbClr val="008000"/>
                </a:solidFill>
                <a:latin typeface="Utopia" pitchFamily="18"/>
                <a:ea typeface="Gothic" pitchFamily="2"/>
                <a:cs typeface="Lucidasans" pitchFamily="2"/>
              </a:rPr>
              <a:t>e &lt; 0.51</a:t>
            </a:r>
            <a:br>
              <a:rPr lang="en-US" sz="2000" b="1" i="1" u="none" strike="noStrike" baseline="0">
                <a:ln>
                  <a:noFill/>
                </a:ln>
                <a:solidFill>
                  <a:srgbClr val="008000"/>
                </a:solidFill>
                <a:latin typeface="Utopia" pitchFamily="18"/>
                <a:ea typeface="Gothic" pitchFamily="2"/>
                <a:cs typeface="Lucidasans" pitchFamily="2"/>
              </a:rPr>
            </a:br>
            <a:r>
              <a:rPr lang="en-US" sz="2000" b="1" i="1" u="none" strike="noStrike" baseline="0">
                <a:ln>
                  <a:noFill/>
                </a:ln>
                <a:solidFill>
                  <a:srgbClr val="008000"/>
                </a:solidFill>
                <a:latin typeface="Utopia" pitchFamily="18"/>
                <a:ea typeface="Gothic" pitchFamily="2"/>
                <a:cs typeface="Lucidasans" pitchFamily="2"/>
              </a:rPr>
              <a:t>so prune!</a:t>
            </a:r>
          </a:p>
        </p:txBody>
      </p:sp>
      <p:sp>
        <p:nvSpPr>
          <p:cNvPr id="12" name="Freeform: Shape 11"/>
          <p:cNvSpPr/>
          <p:nvPr/>
        </p:nvSpPr>
        <p:spPr>
          <a:xfrm>
            <a:off x="1633320" y="6154200"/>
            <a:ext cx="5390280" cy="703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i="1" u="none" strike="noStrike" baseline="0">
                <a:ln>
                  <a:noFill/>
                </a:ln>
                <a:solidFill>
                  <a:srgbClr val="008000"/>
                </a:solidFill>
                <a:latin typeface="Utopia" pitchFamily="18"/>
                <a:ea typeface="Gothic" pitchFamily="2"/>
                <a:cs typeface="Lucidasans" pitchFamily="2"/>
              </a:rPr>
              <a:t>Combined using ratios 6:2:6 gives 0.51</a:t>
            </a:r>
          </a:p>
        </p:txBody>
      </p:sp>
      <p:sp>
        <p:nvSpPr>
          <p:cNvPr id="13" name="Freeform: Shape 12"/>
          <p:cNvSpPr/>
          <p:nvPr/>
        </p:nvSpPr>
        <p:spPr>
          <a:xfrm>
            <a:off x="1080000" y="4807080"/>
            <a:ext cx="6629400" cy="99071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44280">
            <a:solidFill>
              <a:srgbClr val="008000"/>
            </a:solidFill>
            <a:prstDash val="solid"/>
            <a:miter/>
          </a:ln>
        </p:spPr>
        <p:txBody>
          <a:bodyPr vert="horz" wrap="square" lIns="90000" tIns="46800" rIns="90000" bIns="46800" anchor="ctr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4433040" y="5797800"/>
            <a:ext cx="0" cy="380880"/>
          </a:xfrm>
          <a:prstGeom prst="line">
            <a:avLst/>
          </a:prstGeom>
          <a:noFill/>
          <a:ln w="44280">
            <a:solidFill>
              <a:srgbClr val="008000"/>
            </a:solidFill>
            <a:prstDash val="solid"/>
            <a:miter/>
            <a:tailEnd type="arrow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baseline="0">
              <a:ln>
                <a:noFill/>
              </a:ln>
              <a:solidFill>
                <a:srgbClr val="00DCFF"/>
              </a:solidFill>
              <a:latin typeface="Utopia" pitchFamily="18"/>
              <a:ea typeface="Gothic" pitchFamily="2"/>
              <a:cs typeface="Lucidasans" pitchFamily="2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22</a:t>
            </a:fld>
            <a:endParaRPr lang="uk-UA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lexity of tree in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Complexity of tree induction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856247" y="1022350"/>
            <a:ext cx="7659103" cy="4216965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>
              <a:spcBef>
                <a:spcPts val="697"/>
              </a:spcBef>
              <a:buSzPct val="100000"/>
            </a:pPr>
            <a:r>
              <a:rPr lang="en-US" sz="2400" dirty="0"/>
              <a:t>Assume</a:t>
            </a:r>
          </a:p>
          <a:p>
            <a:pPr lvl="1">
              <a:spcBef>
                <a:spcPts val="598"/>
              </a:spcBef>
              <a:buSzPct val="100000"/>
            </a:pPr>
            <a:r>
              <a:rPr lang="en-US" sz="2000" i="1" dirty="0"/>
              <a:t>m </a:t>
            </a:r>
            <a:r>
              <a:rPr lang="en-US" sz="2000" dirty="0"/>
              <a:t>attributes</a:t>
            </a:r>
          </a:p>
          <a:p>
            <a:pPr lvl="1">
              <a:spcBef>
                <a:spcPts val="598"/>
              </a:spcBef>
              <a:buSzPct val="100000"/>
            </a:pPr>
            <a:r>
              <a:rPr lang="en-US" sz="2000" i="1" dirty="0"/>
              <a:t>n </a:t>
            </a:r>
            <a:r>
              <a:rPr lang="en-US" sz="2000" dirty="0"/>
              <a:t>training instances</a:t>
            </a:r>
          </a:p>
          <a:p>
            <a:pPr lvl="1">
              <a:spcBef>
                <a:spcPts val="598"/>
              </a:spcBef>
              <a:buSzPct val="100000"/>
            </a:pPr>
            <a:r>
              <a:rPr lang="en-US" sz="2000" dirty="0"/>
              <a:t>tree depth </a:t>
            </a:r>
            <a:r>
              <a:rPr lang="en-US" sz="2000" i="1" dirty="0"/>
              <a:t>O </a:t>
            </a:r>
            <a:r>
              <a:rPr lang="en-US" sz="2000" dirty="0"/>
              <a:t>(log </a:t>
            </a:r>
            <a:r>
              <a:rPr lang="en-US" sz="2000" i="1" dirty="0"/>
              <a:t>n</a:t>
            </a:r>
            <a:r>
              <a:rPr lang="en-US" sz="2000" dirty="0"/>
              <a:t>)</a:t>
            </a:r>
          </a:p>
          <a:p>
            <a:pPr>
              <a:spcBef>
                <a:spcPts val="697"/>
              </a:spcBef>
              <a:buSzPct val="100000"/>
              <a:tabLst>
                <a:tab pos="366047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</a:pPr>
            <a:r>
              <a:rPr lang="en-US" sz="2400" dirty="0"/>
              <a:t>Building a tree	</a:t>
            </a:r>
            <a:r>
              <a:rPr lang="en-US" sz="2400" i="1" dirty="0"/>
              <a:t>O </a:t>
            </a:r>
            <a:r>
              <a:rPr lang="en-US" sz="2400" dirty="0"/>
              <a:t>(</a:t>
            </a:r>
            <a:r>
              <a:rPr lang="en-US" sz="2400" i="1" dirty="0"/>
              <a:t>m n </a:t>
            </a:r>
            <a:r>
              <a:rPr lang="en-US" sz="2400" dirty="0"/>
              <a:t>log</a:t>
            </a:r>
            <a:r>
              <a:rPr lang="en-US" sz="2400" i="1" dirty="0"/>
              <a:t> n</a:t>
            </a:r>
            <a:r>
              <a:rPr lang="en-US" sz="2400" dirty="0"/>
              <a:t>)</a:t>
            </a:r>
          </a:p>
          <a:p>
            <a:pPr>
              <a:spcBef>
                <a:spcPts val="697"/>
              </a:spcBef>
              <a:buSzPct val="100000"/>
              <a:tabLst>
                <a:tab pos="366047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</a:pPr>
            <a:r>
              <a:rPr lang="en-US" sz="2400" dirty="0" err="1"/>
              <a:t>Subtree</a:t>
            </a:r>
            <a:r>
              <a:rPr lang="en-US" sz="2400" dirty="0"/>
              <a:t> replacement	</a:t>
            </a:r>
            <a:r>
              <a:rPr lang="en-US" sz="2400" i="1" dirty="0"/>
              <a:t>O 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</a:p>
          <a:p>
            <a:pPr>
              <a:spcBef>
                <a:spcPts val="697"/>
              </a:spcBef>
              <a:buSzPct val="100000"/>
              <a:tabLst>
                <a:tab pos="3660479" algn="l"/>
                <a:tab pos="4228919" algn="l"/>
                <a:tab pos="5143320" algn="l"/>
                <a:tab pos="6057720" algn="l"/>
                <a:tab pos="6972120" algn="l"/>
                <a:tab pos="7886520" algn="l"/>
                <a:tab pos="8800920" algn="l"/>
                <a:tab pos="9715320" algn="l"/>
              </a:tabLst>
            </a:pPr>
            <a:r>
              <a:rPr lang="en-US" sz="2400" dirty="0" err="1"/>
              <a:t>Subtree</a:t>
            </a:r>
            <a:r>
              <a:rPr lang="en-US" sz="2400" dirty="0"/>
              <a:t> raising	</a:t>
            </a:r>
            <a:r>
              <a:rPr lang="en-US" sz="2400" i="1" dirty="0"/>
              <a:t>O </a:t>
            </a:r>
            <a:r>
              <a:rPr lang="en-US" sz="2400" dirty="0"/>
              <a:t>(</a:t>
            </a:r>
            <a:r>
              <a:rPr lang="en-US" sz="2400" i="1" dirty="0"/>
              <a:t>n </a:t>
            </a:r>
            <a:r>
              <a:rPr lang="en-US" sz="2400" dirty="0"/>
              <a:t>(log 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  <a:p>
            <a:pPr lvl="1">
              <a:spcBef>
                <a:spcPts val="598"/>
              </a:spcBef>
              <a:buSzPct val="100000"/>
            </a:pPr>
            <a:r>
              <a:rPr lang="en-US" sz="2000" dirty="0"/>
              <a:t>Every instance may have to be redistributed at every node between its leaf and the root</a:t>
            </a:r>
          </a:p>
          <a:p>
            <a:pPr lvl="1">
              <a:spcBef>
                <a:spcPts val="598"/>
              </a:spcBef>
              <a:buSzPct val="100000"/>
            </a:pPr>
            <a:r>
              <a:rPr lang="en-US" sz="2000" dirty="0"/>
              <a:t>Cost for redistribution (on average): </a:t>
            </a:r>
            <a:r>
              <a:rPr lang="en-US" sz="2000" i="1" dirty="0"/>
              <a:t>O </a:t>
            </a:r>
            <a:r>
              <a:rPr lang="en-US" sz="2000" dirty="0"/>
              <a:t>(log </a:t>
            </a:r>
            <a:r>
              <a:rPr lang="en-US" sz="2000" i="1" dirty="0"/>
              <a:t>n</a:t>
            </a:r>
            <a:r>
              <a:rPr lang="en-US" sz="2000" dirty="0"/>
              <a:t>)</a:t>
            </a:r>
          </a:p>
          <a:p>
            <a:pPr>
              <a:spcBef>
                <a:spcPts val="697"/>
              </a:spcBef>
              <a:buSzPct val="100000"/>
            </a:pPr>
            <a:r>
              <a:rPr lang="en-US" sz="2400" dirty="0"/>
              <a:t>Total cost: </a:t>
            </a:r>
            <a:r>
              <a:rPr lang="en-US" sz="2400" i="1" dirty="0"/>
              <a:t>O </a:t>
            </a:r>
            <a:r>
              <a:rPr lang="en-US" sz="2400" dirty="0"/>
              <a:t>(</a:t>
            </a:r>
            <a:r>
              <a:rPr lang="en-US" sz="2400" i="1" dirty="0"/>
              <a:t>m n </a:t>
            </a:r>
            <a:r>
              <a:rPr lang="en-US" sz="2400" dirty="0"/>
              <a:t>log</a:t>
            </a:r>
            <a:r>
              <a:rPr lang="en-US" sz="2400" i="1" dirty="0"/>
              <a:t> n</a:t>
            </a:r>
            <a:r>
              <a:rPr lang="en-US" sz="2400" dirty="0"/>
              <a:t>) + </a:t>
            </a:r>
            <a:r>
              <a:rPr lang="en-US" sz="2400" i="1" dirty="0"/>
              <a:t>O </a:t>
            </a:r>
            <a:r>
              <a:rPr lang="en-US" sz="2400" dirty="0"/>
              <a:t>(</a:t>
            </a:r>
            <a:r>
              <a:rPr lang="en-US" sz="2400" i="1" dirty="0"/>
              <a:t>n </a:t>
            </a:r>
            <a:r>
              <a:rPr lang="en-US" sz="2400" dirty="0"/>
              <a:t>(log </a:t>
            </a:r>
            <a:r>
              <a:rPr lang="en-US" sz="2400" i="1" dirty="0"/>
              <a:t>n</a:t>
            </a:r>
            <a:r>
              <a:rPr lang="en-US" sz="2400" dirty="0"/>
              <a:t>)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23</a:t>
            </a:fld>
            <a:endParaRPr lang="uk-UA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om trees to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From trees to rules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71543" y="1165193"/>
            <a:ext cx="7743807" cy="4432536"/>
          </a:xfrm>
        </p:spPr>
        <p:txBody>
          <a:bodyPr wrap="square" lIns="90360" tIns="44280" rIns="90360" bIns="44280" anchor="t" anchorCtr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ea typeface="Times New Roman"/>
                <a:cs typeface="Arial"/>
              </a:rPr>
              <a:t>Simple way: one rule for each leaf</a:t>
            </a:r>
          </a:p>
          <a:p>
            <a:r>
              <a:rPr lang="en-US" sz="2400" dirty="0">
                <a:solidFill>
                  <a:srgbClr val="000000"/>
                </a:solidFill>
                <a:ea typeface="Times New Roman"/>
                <a:cs typeface="Arial"/>
              </a:rPr>
              <a:t>C4.5rules: greedily prune conditions from each rule if this reduces its estimated error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a typeface="Times New Roman"/>
                <a:cs typeface="Arial"/>
              </a:rPr>
              <a:t>Can produce duplicate rules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a typeface="Times New Roman"/>
                <a:cs typeface="Arial"/>
              </a:rPr>
              <a:t>Check for this at the end</a:t>
            </a:r>
            <a:endParaRPr lang="en-US" sz="2400" dirty="0">
              <a:solidFill>
                <a:srgbClr val="000000"/>
              </a:solidFill>
              <a:ea typeface="Times New Roman"/>
              <a:cs typeface="Arial"/>
            </a:endParaRPr>
          </a:p>
          <a:p>
            <a:r>
              <a:rPr lang="en-US" sz="2400" dirty="0">
                <a:solidFill>
                  <a:srgbClr val="000000"/>
                </a:solidFill>
                <a:ea typeface="Times New Roman"/>
                <a:cs typeface="Arial"/>
              </a:rPr>
              <a:t>Then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a typeface="Times New Roman"/>
                <a:cs typeface="Arial"/>
              </a:rPr>
              <a:t>look at each class in turn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a typeface="Times New Roman"/>
                <a:cs typeface="Arial"/>
              </a:rPr>
              <a:t>consider the rules for that class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ea typeface="Times New Roman"/>
                <a:cs typeface="Arial"/>
              </a:rPr>
              <a:t>find a “good” subset (guided by MDL)</a:t>
            </a:r>
            <a:endParaRPr lang="en-US" sz="2400" dirty="0">
              <a:solidFill>
                <a:srgbClr val="000000"/>
              </a:solidFill>
              <a:ea typeface="Times New Roman"/>
              <a:cs typeface="Arial"/>
            </a:endParaRPr>
          </a:p>
          <a:p>
            <a:r>
              <a:rPr lang="en-US" sz="2400" dirty="0">
                <a:solidFill>
                  <a:srgbClr val="000000"/>
                </a:solidFill>
                <a:ea typeface="Times New Roman"/>
                <a:cs typeface="Arial"/>
              </a:rPr>
              <a:t>Then rank the subsets to avoid conflicts</a:t>
            </a:r>
          </a:p>
          <a:p>
            <a:r>
              <a:rPr lang="en-US" sz="2400" dirty="0">
                <a:solidFill>
                  <a:srgbClr val="000000"/>
                </a:solidFill>
                <a:ea typeface="Times New Roman"/>
                <a:cs typeface="Arial"/>
              </a:rPr>
              <a:t>Finally, remove rules (greedily) if this decreases error on the training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24</a:t>
            </a:fld>
            <a:endParaRPr lang="uk-UA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4.5: choices and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/>
          <a:lstStyle/>
          <a:p>
            <a:pPr lvl="0"/>
            <a:r>
              <a:rPr lang="en-US"/>
              <a:t>C4.5: choices and options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451119" y="1317625"/>
            <a:ext cx="8064231" cy="4257745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C4.5rules slow for large and noisy datasets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Successor algorithm C5.0rules uses a different technique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Much faster and a bit more accurate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C4.5 has two parameters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Confidence value (default 25%):</a:t>
            </a:r>
            <a:br>
              <a:rPr lang="en-US" sz="2000" dirty="0"/>
            </a:br>
            <a:r>
              <a:rPr lang="en-US" sz="2000" dirty="0"/>
              <a:t>lower values incur heavier pruning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Minimum number of instances in the two most popular branches (default 2)</a:t>
            </a:r>
          </a:p>
          <a:p>
            <a:pPr>
              <a:spcBef>
                <a:spcPts val="598"/>
              </a:spcBef>
            </a:pPr>
            <a:r>
              <a:rPr lang="en-US" sz="2400" dirty="0"/>
              <a:t>Time complexity of C4.5 is actually greater than what was stated above:</a:t>
            </a:r>
          </a:p>
          <a:p>
            <a:pPr lvl="1">
              <a:spcBef>
                <a:spcPts val="598"/>
              </a:spcBef>
            </a:pPr>
            <a:r>
              <a:rPr lang="en-US" sz="2000" dirty="0"/>
              <a:t>For each numeric split point that has been identified, the </a:t>
            </a:r>
            <a:r>
              <a:rPr lang="en-US" sz="2000" i="1" dirty="0"/>
              <a:t>entire</a:t>
            </a:r>
            <a:r>
              <a:rPr lang="en-US" sz="2000" dirty="0"/>
              <a:t> training set is scanned to find the closest actual point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25</a:t>
            </a:fld>
            <a:endParaRPr lang="uk-UA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st-complexity pru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84948" y="-179388"/>
            <a:ext cx="6553200" cy="1144588"/>
          </a:xfrm>
        </p:spPr>
        <p:txBody>
          <a:bodyPr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Cost-complexity pruning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01591" y="1329926"/>
            <a:ext cx="7655339" cy="4548869"/>
          </a:xfrm>
        </p:spPr>
        <p:txBody>
          <a:bodyPr>
            <a:noAutofit/>
          </a:bodyPr>
          <a:lstStyle/>
          <a:p>
            <a:pPr lvl="0"/>
            <a:r>
              <a:rPr lang="en-US" sz="2400" dirty="0"/>
              <a:t>C4.5's </a:t>
            </a:r>
            <a:r>
              <a:rPr lang="en-US" sz="2400" dirty="0" err="1"/>
              <a:t>postpruning</a:t>
            </a:r>
            <a:r>
              <a:rPr lang="en-US" sz="2400" dirty="0"/>
              <a:t> often does not prune enough</a:t>
            </a:r>
          </a:p>
          <a:p>
            <a:pPr lvl="1"/>
            <a:r>
              <a:rPr lang="en-US" sz="2000" dirty="0"/>
              <a:t>Tree size continues to grow when more instances are added even if performance on independent data does not improve</a:t>
            </a:r>
          </a:p>
          <a:p>
            <a:pPr lvl="1"/>
            <a:r>
              <a:rPr lang="en-US" sz="2000" dirty="0"/>
              <a:t>But: it is very fast and popular in practice</a:t>
            </a:r>
          </a:p>
          <a:p>
            <a:pPr lvl="0"/>
            <a:r>
              <a:rPr lang="en-US" sz="2400" dirty="0"/>
              <a:t>Can be worthwhile in some cases to strive for a more compact tree at the expense of more computational effort</a:t>
            </a:r>
          </a:p>
          <a:p>
            <a:pPr lvl="1"/>
            <a:r>
              <a:rPr lang="en-US" sz="2000" i="1" dirty="0"/>
              <a:t>Cost-complexity pruning</a:t>
            </a:r>
            <a:r>
              <a:rPr lang="en-US" sz="2000" dirty="0"/>
              <a:t> method from the CART (Classification and Regression Trees) learning system achieves this</a:t>
            </a:r>
          </a:p>
          <a:p>
            <a:pPr lvl="1"/>
            <a:r>
              <a:rPr lang="en-US" sz="2000" dirty="0"/>
              <a:t>Applies cross-validation or a hold-out set to choose an appropriate tree size for the final tree</a:t>
            </a:r>
          </a:p>
          <a:p>
            <a:pPr lvl="1"/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26</a:t>
            </a:fld>
            <a:endParaRPr lang="uk-UA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st-complexity pruning con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713538" y="-164406"/>
            <a:ext cx="7661153" cy="1144588"/>
          </a:xfrm>
        </p:spPr>
        <p:txBody>
          <a:bodyPr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Cost-complexity pruning details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3539" y="1250579"/>
            <a:ext cx="7791843" cy="4984940"/>
          </a:xfrm>
        </p:spPr>
        <p:txBody>
          <a:bodyPr/>
          <a:lstStyle/>
          <a:p>
            <a:pPr lvl="0"/>
            <a:r>
              <a:rPr lang="en-US" sz="2400" dirty="0"/>
              <a:t>Basic idea:</a:t>
            </a:r>
          </a:p>
          <a:p>
            <a:pPr lvl="1"/>
            <a:r>
              <a:rPr lang="en-US" sz="2000" dirty="0"/>
              <a:t>First prune </a:t>
            </a:r>
            <a:r>
              <a:rPr lang="en-US" sz="2000" dirty="0" err="1"/>
              <a:t>subtrees</a:t>
            </a:r>
            <a:r>
              <a:rPr lang="en-US" sz="2000" dirty="0"/>
              <a:t> that, relative to their size, lead to the smallest increase in error on the training data</a:t>
            </a:r>
          </a:p>
          <a:p>
            <a:pPr lvl="1"/>
            <a:r>
              <a:rPr lang="en-US" sz="2000" dirty="0"/>
              <a:t>Increase in error (α): average error increase per leaf of </a:t>
            </a:r>
            <a:r>
              <a:rPr lang="en-US" sz="2000" dirty="0" err="1"/>
              <a:t>subtree</a:t>
            </a:r>
            <a:endParaRPr lang="en-US" sz="2000" dirty="0"/>
          </a:p>
          <a:p>
            <a:pPr lvl="1"/>
            <a:r>
              <a:rPr lang="en-US" sz="2000" dirty="0"/>
              <a:t>Bottom-up pruning based on this criterion generates a </a:t>
            </a:r>
            <a:r>
              <a:rPr lang="en-US" sz="2000" i="1" dirty="0"/>
              <a:t>sequence</a:t>
            </a:r>
            <a:r>
              <a:rPr lang="en-US" sz="2000" dirty="0"/>
              <a:t> of successively smaller trees</a:t>
            </a:r>
          </a:p>
          <a:p>
            <a:pPr lvl="1"/>
            <a:r>
              <a:rPr lang="en-US" sz="2000" dirty="0"/>
              <a:t>Each candidate tree in the sequence corresponds to one particular threshold value </a:t>
            </a:r>
            <a:r>
              <a:rPr lang="en-US" sz="2000" i="1" dirty="0"/>
              <a:t>α</a:t>
            </a:r>
            <a:r>
              <a:rPr lang="en-US" sz="2000" i="1" baseline="-25000" dirty="0" err="1"/>
              <a:t>i</a:t>
            </a:r>
            <a:endParaRPr lang="en-US" sz="2000" i="1" baseline="-25000" dirty="0"/>
          </a:p>
          <a:p>
            <a:r>
              <a:rPr lang="en-US" sz="2400" dirty="0"/>
              <a:t>Which tree to chose as the final model?</a:t>
            </a:r>
          </a:p>
          <a:p>
            <a:pPr lvl="1"/>
            <a:r>
              <a:rPr lang="en-US" sz="2000" dirty="0"/>
              <a:t>Use either a hold-out set or cross-validation to estimate the error for each </a:t>
            </a:r>
            <a:r>
              <a:rPr lang="en-US" sz="2000" i="1" dirty="0"/>
              <a:t>α</a:t>
            </a:r>
            <a:r>
              <a:rPr lang="en-US" sz="2000" i="1" baseline="-25000" dirty="0" err="1"/>
              <a:t>i</a:t>
            </a:r>
            <a:endParaRPr lang="en-US" sz="2000" i="1" baseline="-25000" dirty="0"/>
          </a:p>
          <a:p>
            <a:pPr lvl="1"/>
            <a:r>
              <a:rPr lang="en-US" sz="2000" dirty="0"/>
              <a:t>Rebuild tree on entire training set using chosen value of  </a:t>
            </a:r>
            <a:r>
              <a:rPr lang="en-US" sz="2000" i="1" dirty="0"/>
              <a:t>α</a:t>
            </a:r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27</a:t>
            </a:fld>
            <a:endParaRPr lang="uk-UA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scu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1600200" y="-77788"/>
            <a:ext cx="7543800" cy="977901"/>
          </a:xfrm>
        </p:spPr>
        <p:txBody>
          <a:bodyPr wrap="square" lIns="90360" tIns="44280" rIns="90360" bIns="44280" anchorCtr="0">
            <a:normAutofit/>
          </a:bodyPr>
          <a:lstStyle/>
          <a:p>
            <a:pPr lvl="0"/>
            <a:r>
              <a:rPr lang="en-US" sz="3600" dirty="0">
                <a:latin typeface="+mj-lt"/>
              </a:rPr>
              <a:t>Discussion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02981" y="1770063"/>
            <a:ext cx="7543800" cy="3777101"/>
          </a:xfrm>
        </p:spPr>
        <p:txBody>
          <a:bodyPr wrap="square" lIns="90360" tIns="44280" rIns="90360" bIns="44280" anchor="t" anchorCtr="0">
            <a:spAutoFit/>
          </a:bodyPr>
          <a:lstStyle/>
          <a:p>
            <a:pPr lvl="0">
              <a:spcBef>
                <a:spcPts val="697"/>
              </a:spcBef>
            </a:pPr>
            <a:r>
              <a:rPr lang="en-US" sz="2400" dirty="0"/>
              <a:t>The most extensively studied method of machine learning used in data mining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Different criteria for attribute/test selection rarely make a large difference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Different pruning methods mainly change the size of the resulting pruned tree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C4.5 builds </a:t>
            </a:r>
            <a:r>
              <a:rPr lang="en-US" sz="2400" i="1" dirty="0" err="1"/>
              <a:t>univariate</a:t>
            </a:r>
            <a:r>
              <a:rPr lang="en-US" sz="2400" i="1" dirty="0"/>
              <a:t> </a:t>
            </a:r>
            <a:r>
              <a:rPr lang="en-US" sz="2400" dirty="0"/>
              <a:t>decision trees: each node tests a single attribute</a:t>
            </a:r>
          </a:p>
          <a:p>
            <a:pPr lvl="0">
              <a:spcBef>
                <a:spcPts val="697"/>
              </a:spcBef>
            </a:pPr>
            <a:r>
              <a:rPr lang="en-US" sz="2400" dirty="0"/>
              <a:t>Some TDITDT systems can build </a:t>
            </a:r>
            <a:r>
              <a:rPr lang="en-US" sz="2400" i="1" dirty="0"/>
              <a:t>multivariate</a:t>
            </a:r>
            <a:r>
              <a:rPr lang="en-US" sz="2400" dirty="0"/>
              <a:t> trees (e.g., the famous CART tree learner)</a:t>
            </a:r>
          </a:p>
        </p:txBody>
      </p:sp>
      <p:sp>
        <p:nvSpPr>
          <p:cNvPr id="4" name="Freeform: Shape 3"/>
          <p:cNvSpPr/>
          <p:nvPr/>
        </p:nvSpPr>
        <p:spPr>
          <a:xfrm>
            <a:off x="620955" y="977621"/>
            <a:ext cx="7898699" cy="678745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360" tIns="44280" rIns="90360" bIns="44280" anchor="t" anchorCtr="0" compatLnSpc="0">
            <a:noAutofit/>
          </a:bodyPr>
          <a:lstStyle/>
          <a:p>
            <a:pPr marL="457200" marR="0" lvl="0" indent="-457200" algn="l" rtl="0" hangingPunct="0">
              <a:lnSpc>
                <a:spcPct val="100000"/>
              </a:lnSpc>
              <a:spcBef>
                <a:spcPts val="697"/>
              </a:spcBef>
              <a:spcAft>
                <a:spcPts val="0"/>
              </a:spcAft>
              <a:buNone/>
              <a:tabLst>
                <a:tab pos="457200" algn="l"/>
                <a:tab pos="1371600" algn="l"/>
                <a:tab pos="2286000" algn="l"/>
                <a:tab pos="3200399" algn="l"/>
                <a:tab pos="4114800" algn="l"/>
                <a:tab pos="5029200" algn="l"/>
                <a:tab pos="5943599" algn="l"/>
                <a:tab pos="6857999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sz="2400" i="1" u="none" strike="noStrike" baseline="0" dirty="0">
                <a:ln>
                  <a:noFill/>
                </a:ln>
                <a:solidFill>
                  <a:srgbClr val="000000"/>
                </a:solidFill>
                <a:ea typeface="Gothic" pitchFamily="2"/>
                <a:cs typeface="Lucidasans" pitchFamily="2"/>
              </a:rPr>
              <a:t>TDIDT: Top-Down Induction of Decision Trees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AB75CFD-AADA-4321-B8E4-9E3DF24DF130}" type="slidenum">
              <a:rPr lang="uk-UA" smtClean="0"/>
              <a:t>28</a:t>
            </a:fld>
            <a:endParaRPr lang="uk-UA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439"/>
            <a:ext cx="7886700" cy="1325563"/>
          </a:xfrm>
        </p:spPr>
        <p:txBody>
          <a:bodyPr>
            <a:normAutofit/>
          </a:bodyPr>
          <a:lstStyle/>
          <a:p>
            <a:r>
              <a:rPr lang="en-CA" sz="3600" dirty="0">
                <a:latin typeface="+mj-lt"/>
              </a:rPr>
              <a:t>Discussion and Bibliographic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211" y="1376006"/>
            <a:ext cx="8232598" cy="4667789"/>
          </a:xfrm>
        </p:spPr>
        <p:txBody>
          <a:bodyPr>
            <a:noAutofit/>
          </a:bodyPr>
          <a:lstStyle/>
          <a:p>
            <a:r>
              <a:rPr lang="en-US" sz="2400" dirty="0"/>
              <a:t>CART’s pruning method (</a:t>
            </a:r>
            <a:r>
              <a:rPr lang="en-US" sz="2400" dirty="0" err="1"/>
              <a:t>Breiman</a:t>
            </a:r>
            <a:r>
              <a:rPr lang="en-US" sz="2400" dirty="0"/>
              <a:t> et al. 1984) can often produce smaller trees than C4.5’s method</a:t>
            </a:r>
          </a:p>
          <a:p>
            <a:r>
              <a:rPr lang="en-US" sz="2400" dirty="0"/>
              <a:t>C4.5’s </a:t>
            </a:r>
            <a:r>
              <a:rPr lang="en-US" sz="2400" dirty="0" err="1"/>
              <a:t>overfitting</a:t>
            </a:r>
            <a:r>
              <a:rPr lang="en-US" sz="2400" dirty="0"/>
              <a:t> problems have been investigated empirically by Oates and Jensen (1997)</a:t>
            </a:r>
            <a:endParaRPr lang="en-CA" sz="2400" dirty="0"/>
          </a:p>
          <a:p>
            <a:r>
              <a:rPr lang="en-US" sz="2400" dirty="0"/>
              <a:t>A complete description of C4.5, the early 1990s version, appears as a excellent and readable book (Quinlan 1993)</a:t>
            </a:r>
          </a:p>
          <a:p>
            <a:r>
              <a:rPr lang="en-US" sz="2400" dirty="0"/>
              <a:t>An MDL-based heuristic for C4.5 Release 8 that combats </a:t>
            </a:r>
            <a:r>
              <a:rPr lang="en-US" sz="2400" dirty="0" err="1"/>
              <a:t>overfitting</a:t>
            </a:r>
            <a:r>
              <a:rPr lang="en-US" sz="2400" dirty="0"/>
              <a:t> of numeric attributes is described by Quinlan (1998)</a:t>
            </a:r>
          </a:p>
          <a:p>
            <a:r>
              <a:rPr lang="en-US" sz="2400" dirty="0"/>
              <a:t>The more recent version of Quinlan’s tree learner, C5.0, is also available as open-source code</a:t>
            </a:r>
            <a:endParaRPr lang="en-CA" sz="2400" dirty="0"/>
          </a:p>
          <a:p>
            <a:pPr marL="0" indent="0">
              <a:buNone/>
            </a:pPr>
            <a:endParaRPr lang="en-CA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6D3BC8F-1185-4F6B-96C6-4A761659E4BA}" type="slidenum">
              <a:rPr lang="uk-UA" smtClean="0"/>
              <a:t>29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74669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15055</TotalTime>
  <Words>2386</Words>
  <Application>Microsoft Office PowerPoint</Application>
  <PresentationFormat>On-screen Show (4:3)</PresentationFormat>
  <Paragraphs>753</Paragraphs>
  <Slides>29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Bitstream Vera Sans</vt:lpstr>
      <vt:lpstr>Calibri</vt:lpstr>
      <vt:lpstr>Calibri Light</vt:lpstr>
      <vt:lpstr>Courier New</vt:lpstr>
      <vt:lpstr>Gothic</vt:lpstr>
      <vt:lpstr>Lucidasans</vt:lpstr>
      <vt:lpstr>Symbol</vt:lpstr>
      <vt:lpstr>Tahoma</vt:lpstr>
      <vt:lpstr>Times New Roman</vt:lpstr>
      <vt:lpstr>Utopia</vt:lpstr>
      <vt:lpstr>Office Theme</vt:lpstr>
      <vt:lpstr>Equation</vt:lpstr>
      <vt:lpstr>PowerPoint Presentation</vt:lpstr>
      <vt:lpstr>Algorithms for learning trees and rules</vt:lpstr>
      <vt:lpstr>Decision Trees</vt:lpstr>
      <vt:lpstr>Industrial-strength algorithms</vt:lpstr>
      <vt:lpstr>From ID3 to C4.5</vt:lpstr>
      <vt:lpstr>Numeric attributes</vt:lpstr>
      <vt:lpstr>Weather data (again!)</vt:lpstr>
      <vt:lpstr>Weather data (again!)</vt:lpstr>
      <vt:lpstr>Example</vt:lpstr>
      <vt:lpstr>Can avoid repeated sorting</vt:lpstr>
      <vt:lpstr>Binary vs multiway splits</vt:lpstr>
      <vt:lpstr>Computing multi-way splits</vt:lpstr>
      <vt:lpstr>Missing values</vt:lpstr>
      <vt:lpstr>Pruning</vt:lpstr>
      <vt:lpstr>Prepruning</vt:lpstr>
      <vt:lpstr>Early stopping</vt:lpstr>
      <vt:lpstr>Postpruning</vt:lpstr>
      <vt:lpstr>Subtree replacement</vt:lpstr>
      <vt:lpstr>Subtree raising</vt:lpstr>
      <vt:lpstr>Estimating error rates</vt:lpstr>
      <vt:lpstr>C4.5’s method</vt:lpstr>
      <vt:lpstr>Example</vt:lpstr>
      <vt:lpstr>Complexity of tree induction</vt:lpstr>
      <vt:lpstr>From trees to rules</vt:lpstr>
      <vt:lpstr>C4.5: choices and options</vt:lpstr>
      <vt:lpstr>Cost-complexity pruning</vt:lpstr>
      <vt:lpstr>Cost-complexity pruning details</vt:lpstr>
      <vt:lpstr>Discussion</vt:lpstr>
      <vt:lpstr>Discussion and Bibliographic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</dc:title>
  <dc:creator>Ian H. Witten</dc:creator>
  <cp:lastModifiedBy>Khaled M Rasheed</cp:lastModifiedBy>
  <cp:revision>551</cp:revision>
  <cp:lastPrinted>2003-03-05T10:12:08Z</cp:lastPrinted>
  <dcterms:created xsi:type="dcterms:W3CDTF">1998-04-13T16:48:28Z</dcterms:created>
  <dcterms:modified xsi:type="dcterms:W3CDTF">2026-04-22T18:38:35Z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</Properties>
</file>