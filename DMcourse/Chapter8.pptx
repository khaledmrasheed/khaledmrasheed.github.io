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8"/>
  </p:notesMasterIdLst>
  <p:handoutMasterIdLst>
    <p:handoutMasterId r:id="rId39"/>
  </p:handoutMasterIdLst>
  <p:sldIdLst>
    <p:sldId id="338" r:id="rId2"/>
    <p:sldId id="257" r:id="rId3"/>
    <p:sldId id="258" r:id="rId4"/>
    <p:sldId id="259" r:id="rId5"/>
    <p:sldId id="260" r:id="rId6"/>
    <p:sldId id="303" r:id="rId7"/>
    <p:sldId id="261" r:id="rId8"/>
    <p:sldId id="262" r:id="rId9"/>
    <p:sldId id="263" r:id="rId10"/>
    <p:sldId id="264" r:id="rId11"/>
    <p:sldId id="265" r:id="rId12"/>
    <p:sldId id="272" r:id="rId13"/>
    <p:sldId id="273" r:id="rId14"/>
    <p:sldId id="274" r:id="rId15"/>
    <p:sldId id="275" r:id="rId16"/>
    <p:sldId id="276" r:id="rId17"/>
    <p:sldId id="277" r:id="rId18"/>
    <p:sldId id="278" r:id="rId19"/>
    <p:sldId id="325" r:id="rId20"/>
    <p:sldId id="326" r:id="rId21"/>
    <p:sldId id="327" r:id="rId22"/>
    <p:sldId id="32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321" r:id="rId35"/>
    <p:sldId id="322" r:id="rId36"/>
    <p:sldId id="324" r:id="rId37"/>
  </p:sldIdLst>
  <p:sldSz cx="9144000" cy="6858000" type="screen4x3"/>
  <p:notesSz cx="7304088" cy="959008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43" autoAdjust="0"/>
    <p:restoredTop sz="94696"/>
  </p:normalViewPr>
  <p:slideViewPr>
    <p:cSldViewPr snapToGrid="0" snapToObjects="1">
      <p:cViewPr varScale="1">
        <p:scale>
          <a:sx n="109" d="100"/>
          <a:sy n="109" d="100"/>
        </p:scale>
        <p:origin x="1452" y="11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0" y="0"/>
            <a:ext cx="3169440" cy="479160"/>
          </a:xfrm>
          <a:prstGeom prst="rect">
            <a:avLst/>
          </a:prstGeom>
          <a:noFill/>
          <a:ln>
            <a:noFill/>
          </a:ln>
        </p:spPr>
        <p:txBody>
          <a:bodyPr vert="horz" lIns="90000" tIns="45000" rIns="90000" bIns="45000" compatLnSpc="0">
            <a:noAutofit/>
          </a:bodyPr>
          <a:lstStyle/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i="0" u="none" strike="noStrike" baseline="0">
              <a:ln>
                <a:noFill/>
              </a:ln>
              <a:solidFill>
                <a:srgbClr val="00DCFF"/>
              </a:solidFill>
              <a:latin typeface="Utopia" pitchFamily="18"/>
              <a:ea typeface="Gothic" pitchFamily="2"/>
              <a:cs typeface="Lucidasans" pitchFamily="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134600" y="0"/>
            <a:ext cx="3169440" cy="479160"/>
          </a:xfrm>
          <a:prstGeom prst="rect">
            <a:avLst/>
          </a:prstGeom>
          <a:noFill/>
          <a:ln>
            <a:noFill/>
          </a:ln>
        </p:spPr>
        <p:txBody>
          <a:bodyPr vert="horz" lIns="90000" tIns="45000" rIns="90000" bIns="45000" compatLnSpc="0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i="0" u="none" strike="noStrike" baseline="0">
              <a:ln>
                <a:noFill/>
              </a:ln>
              <a:solidFill>
                <a:srgbClr val="00DCFF"/>
              </a:solidFill>
              <a:latin typeface="Utopia" pitchFamily="18"/>
              <a:ea typeface="Gothic" pitchFamily="2"/>
              <a:cs typeface="Lucidasans" pitchFamily="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9110880"/>
            <a:ext cx="3169440" cy="479160"/>
          </a:xfrm>
          <a:prstGeom prst="rect">
            <a:avLst/>
          </a:prstGeom>
          <a:noFill/>
          <a:ln>
            <a:noFill/>
          </a:ln>
        </p:spPr>
        <p:txBody>
          <a:bodyPr vert="horz" lIns="90000" tIns="45000" rIns="90000" bIns="45000" anchor="b" compatLnSpc="0">
            <a:noAutofit/>
          </a:bodyPr>
          <a:lstStyle/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i="0" u="none" strike="noStrike" baseline="0">
              <a:ln>
                <a:noFill/>
              </a:ln>
              <a:solidFill>
                <a:srgbClr val="00DCFF"/>
              </a:solidFill>
              <a:latin typeface="Utopia" pitchFamily="18"/>
              <a:ea typeface="Gothic" pitchFamily="2"/>
              <a:cs typeface="Lucidasans" pitchFamily="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>
            <a:noFill/>
          </a:ln>
        </p:spPr>
        <p:txBody>
          <a:bodyPr vert="horz" lIns="90000" tIns="45000" rIns="90000" bIns="45000" anchor="b" compatLnSpc="0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fld id="{9A1E351C-5198-4A02-9C51-49DB92EAF0DD}" type="slidenum">
              <a:t>‹#›</a:t>
            </a:fld>
            <a:endParaRPr lang="en-US" sz="1400" b="0" i="0" u="none" strike="noStrike" baseline="0">
              <a:ln>
                <a:noFill/>
              </a:ln>
              <a:solidFill>
                <a:srgbClr val="00DCFF"/>
              </a:solidFill>
              <a:latin typeface="Utopia" pitchFamily="18"/>
              <a:ea typeface="Gothic" pitchFamily="2"/>
              <a:cs typeface="Lucidasans" pitchFamily="2"/>
            </a:endParaRPr>
          </a:p>
        </p:txBody>
      </p:sp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5475" cy="481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37025" y="0"/>
            <a:ext cx="3165475" cy="481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15830B-B976-4DC8-93A0-A38CBFE46F8A}" type="datetimeFigureOut">
              <a:rPr lang="en-US"/>
              <a:t>3/9/2026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109075"/>
            <a:ext cx="3165475" cy="4810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37025" y="9109075"/>
            <a:ext cx="3165475" cy="4810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E093B8-3ED7-494D-938D-3EC519D60ABF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89800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5475" cy="481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37025" y="0"/>
            <a:ext cx="3165475" cy="481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B9731E-17D4-455B-8CEF-653BE9B92AC2}" type="datetimeFigureOut">
              <a:rPr lang="en-US"/>
              <a:t>3/9/2026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93838" y="1198563"/>
            <a:ext cx="4316412" cy="32369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0250" y="4614863"/>
            <a:ext cx="5843588" cy="37766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Slide Image Placeholder 7"/>
          <p:cNvSpPr>
            <a:spLocks noGrp="1" noRot="1" noChangeAspect="1"/>
          </p:cNvSpPr>
          <p:nvPr>
            <p:ph type="sldImg" idx="2"/>
          </p:nvPr>
        </p:nvSpPr>
        <p:spPr>
          <a:xfrm>
            <a:off x="1254600" y="728640"/>
            <a:ext cx="4794840" cy="359604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9" name="Notes Placeholder 8"/>
          <p:cNvSpPr txBox="1">
            <a:spLocks noGrp="1"/>
          </p:cNvSpPr>
          <p:nvPr>
            <p:ph type="body" sz="quarter" idx="3"/>
          </p:nvPr>
        </p:nvSpPr>
        <p:spPr>
          <a:xfrm>
            <a:off x="730440" y="4555440"/>
            <a:ext cx="5843160" cy="4315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10" name="Header Placeholder 9"/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169440" cy="479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>
            <a:lvl1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i="0" u="none" strike="noStrike" baseline="0">
                <a:solidFill>
                  <a:srgbClr val="000000"/>
                </a:solidFill>
                <a:latin typeface="Times New Roman" pitchFamily="18"/>
                <a:ea typeface="Bitstream Vera Sans" pitchFamily="2"/>
                <a:cs typeface="Lucida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11" name="Date Placeholder 10"/>
          <p:cNvSpPr txBox="1">
            <a:spLocks noGrp="1"/>
          </p:cNvSpPr>
          <p:nvPr>
            <p:ph type="dt" idx="1"/>
          </p:nvPr>
        </p:nvSpPr>
        <p:spPr>
          <a:xfrm>
            <a:off x="4134600" y="0"/>
            <a:ext cx="3169440" cy="479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>
            <a:lvl1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i="0" u="none" strike="noStrike" baseline="0">
                <a:solidFill>
                  <a:srgbClr val="000000"/>
                </a:solidFill>
                <a:latin typeface="Times New Roman" pitchFamily="18"/>
                <a:ea typeface="Bitstream Vera Sans" pitchFamily="2"/>
                <a:cs typeface="Lucida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12" name="Footer Placeholder 11"/>
          <p:cNvSpPr txBox="1">
            <a:spLocks noGrp="1"/>
          </p:cNvSpPr>
          <p:nvPr>
            <p:ph type="ftr" sz="quarter" idx="4"/>
          </p:nvPr>
        </p:nvSpPr>
        <p:spPr>
          <a:xfrm>
            <a:off x="0" y="9110880"/>
            <a:ext cx="3169440" cy="479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>
            <a:noAutofit/>
          </a:bodyPr>
          <a:lstStyle>
            <a:lvl1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i="0" u="none" strike="noStrike" baseline="0">
                <a:solidFill>
                  <a:srgbClr val="000000"/>
                </a:solidFill>
                <a:latin typeface="Times New Roman" pitchFamily="18"/>
                <a:ea typeface="Bitstream Vera Sans" pitchFamily="2"/>
                <a:cs typeface="Lucida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13" name="Slide Number Placeholder 12"/>
          <p:cNvSpPr txBox="1">
            <a:spLocks noGrp="1"/>
          </p:cNvSpPr>
          <p:nvPr>
            <p:ph type="sldNum" sz="quarter" idx="5"/>
          </p:nvPr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>
            <a:noAutofit/>
          </a:bodyPr>
          <a:lstStyle>
            <a:lvl1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i="0" u="none" strike="noStrike" baseline="0">
                <a:solidFill>
                  <a:srgbClr val="000000"/>
                </a:solidFill>
                <a:latin typeface="Times New Roman" pitchFamily="18"/>
                <a:ea typeface="Bitstream Vera Sans" pitchFamily="2"/>
                <a:cs typeface="Lucidasans" pitchFamily="2"/>
              </a:defRPr>
            </a:lvl1pPr>
          </a:lstStyle>
          <a:p>
            <a:pPr lvl="0"/>
            <a:fld id="{B4E43732-8B88-4FDF-8461-486E9F9525AC}" type="slidenum">
              <a:t>‹#›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09075"/>
            <a:ext cx="3165475" cy="4810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37025" y="9109075"/>
            <a:ext cx="3165475" cy="4810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C18F1B-AF9C-47D2-84AB-D094C6E3A31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409063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marR="0" indent="0" algn="l" rtl="0" hangingPunct="0">
      <a:lnSpc>
        <a:spcPct val="100000"/>
      </a:lnSpc>
      <a:spcBef>
        <a:spcPts val="448"/>
      </a:spcBef>
      <a:spcAft>
        <a:spcPts val="0"/>
      </a:spcAft>
      <a:tabLst>
        <a:tab pos="0" algn="l"/>
        <a:tab pos="914400" algn="l"/>
        <a:tab pos="1828800" algn="l"/>
        <a:tab pos="2743199" algn="l"/>
        <a:tab pos="3657600" algn="l"/>
        <a:tab pos="4572000" algn="l"/>
        <a:tab pos="5486399" algn="l"/>
        <a:tab pos="6400799" algn="l"/>
        <a:tab pos="7315200" algn="l"/>
        <a:tab pos="8229600" algn="l"/>
        <a:tab pos="9144000" algn="l"/>
        <a:tab pos="10058400" algn="l"/>
      </a:tabLst>
      <a:defRPr lang="en-US" sz="1200" b="0" i="0" u="none" strike="noStrike" baseline="0">
        <a:ln>
          <a:noFill/>
        </a:ln>
        <a:solidFill>
          <a:srgbClr val="000000"/>
        </a:solidFill>
        <a:latin typeface="Times New Roman" pitchFamily="1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/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C2BC3D58-DDF5-44C3-B842-C8732AFB9FA9}" type="slidenum">
              <a:t>1</a:t>
            </a:fld>
            <a:endParaRPr lang="en-US"/>
          </a:p>
        </p:txBody>
      </p:sp>
      <p:sp>
        <p:nvSpPr>
          <p:cNvPr id="2" name="Rectangle 1"/>
          <p:cNvSpPr/>
          <p:nvPr/>
        </p:nvSpPr>
        <p:spPr>
          <a:xfrm>
            <a:off x="1254240" y="719280"/>
            <a:ext cx="4794120" cy="35956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315680"/>
          </a:xfrm>
        </p:spPr>
        <p:txBody>
          <a:bodyPr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26060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AFE9AB5F-BB37-4499-AB12-D1B7E7ED6C81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0623AF42-CB36-4035-8ADB-B98DD322559D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0871D5CD-1B8E-4A40-ACEB-FAA38899729E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4CD65306-6F1D-45A7-B2E2-6F1DCDE84DFE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FC36F809-6815-4069-8F0A-82A9516535F9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4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36DB2D41-A2D6-4C62-9092-67A705845AE6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4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25C9B93F-0A16-40D7-9116-7A4C596C8886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5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281A0D68-E51A-4D70-AF2B-C965408A60E1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5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25C9B93F-0A16-40D7-9116-7A4C596C8886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6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281A0D68-E51A-4D70-AF2B-C965408A60E1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6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95815F08-3A51-4809-82A0-FEB8FA99B6FF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7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82DD9A7F-9606-4D44-B31C-23FD1E444E90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7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46EE4E6C-B58F-45DA-BB22-8452F42EF629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8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DA9533D0-15C8-43B7-82D3-BFF090E5F1CC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8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286E5AF3-D627-484A-AE26-52F9789FC571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9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C66E19C1-2974-421C-A4CF-57DECD29602C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9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FDDAE779-4C1B-4697-AE1D-3926C3265C90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10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C7490432-8DB2-421E-8E16-0EFB13116922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10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EDA6A189-2973-4352-AE86-A3DAB8A32D34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11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19D126A6-2B06-48CC-86F6-EA98CA91BA33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11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15639299-1D99-462E-8102-FA89B09E98C1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12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8686EE01-3100-4DB8-8C5A-BDB6EF9B2BAA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12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F0907A5C-1A57-4A68-9409-5922574A72D5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13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7A51C8BE-48BF-4454-9E16-98036E2358E9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13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225319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85E6F9A6-6629-4BCC-B80E-A4BD3FFFB916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14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91173468-604A-4A2D-BB84-724B28F36AD9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14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225319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1BA4E873-2195-4248-8683-3D36455AB220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15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16A95BE5-E597-4AE0-81C9-0F182ED5FC73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15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225319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B0CEDC2F-755B-4147-8825-37E9D0FC9781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16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6D05AA0A-500C-40AE-BE09-47C16E9BA505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16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225319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6CDE1583-4977-4195-9082-96394A9CBB69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17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0B3DFF94-B8CD-4A39-98C8-DC9D0BF6ABF0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17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31532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975D8938-838D-435D-85F1-78202B3E8ECB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18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08E9DAB2-3CB1-456C-9531-4AB13F6769AF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18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31532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78BF973A-3D16-4339-B803-72B8BFF430B7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23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8A7C8B85-8546-47AA-B232-CCEC835AE6FF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23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225319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2BFF7E74-A8EC-4DC1-9AA0-649D8B3868A5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24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B1D5DD44-DBF1-4EAC-A619-CA636DADF05E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24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225319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10650BC6-96A2-4225-863D-E9C440F5C836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25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D27CA277-5910-4C87-A05C-29875D18DC16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25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31532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6EB94198-8841-4129-AFCD-6F9B5A4BE7D4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26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F480C068-8D23-4EA2-8F23-D03F49D57DC7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26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D7FBAAF1-1FFF-48DF-A992-0555D3E19EF2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27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E4DF26A8-DE24-4858-9465-9D31A9EBB888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27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4F052E1C-9B30-4EBF-9C39-3459ADC325CA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28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34C6F1AB-DDAF-444F-8880-14266B663D33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28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6D09E303-790E-4034-8509-FAB33E849C60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29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F795931A-7F4C-4E63-A9B2-39398F5537E5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29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47B443E5-AC11-4C3D-94F2-CDA9DFDAD781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30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76F23D45-DF84-4B72-8D26-227E29AE3CA5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30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31532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EF42F891-77C6-4945-A158-BF96E3AD08B7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31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D2A4115B-7CD0-420A-AC4E-AE9B53A7F6E8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31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31532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C9999082-E403-4EF2-9CF9-18EBEEF68009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32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9412E81B-E927-461D-8E95-7522333BD687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32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31532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507BCE3E-1C4D-4497-B8B2-FD68CF74D4F2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33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1C5EC287-02DD-40B5-BF41-0A43EC511912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33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31532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NZ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3444F-1B1D-CB45-84B3-D21B2D8E9D88}" type="datetime1">
              <a:rPr lang="en-NZ" smtClean="0">
                <a:solidFill>
                  <a:prstClr val="black">
                    <a:tint val="75000"/>
                  </a:prstClr>
                </a:solidFill>
              </a:rPr>
              <a:t>9/03/2026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50200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022F2D-01B0-3D49-B3BE-16BB0489BDBB}" type="datetime1">
              <a:rPr lang="en-NZ" smtClean="0">
                <a:solidFill>
                  <a:prstClr val="black">
                    <a:tint val="75000"/>
                  </a:prstClr>
                </a:solidFill>
              </a:rPr>
              <a:t>9/03/2026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0544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0F417-22A5-3441-99CD-51306D5DFF5D}" type="datetime1">
              <a:rPr lang="en-NZ" smtClean="0">
                <a:solidFill>
                  <a:prstClr val="black">
                    <a:tint val="75000"/>
                  </a:prstClr>
                </a:solidFill>
              </a:rPr>
              <a:t>9/03/2026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284417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D656F5-AD71-7141-B541-0C322B34DF22}" type="datetime1">
              <a:rPr lang="en-NZ" smtClean="0">
                <a:solidFill>
                  <a:prstClr val="black">
                    <a:tint val="75000"/>
                  </a:prstClr>
                </a:solidFill>
              </a:rPr>
              <a:t>9/03/2026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649044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F30C1-1B80-444C-B80E-B245601E4DE0}" type="datetime1">
              <a:rPr lang="en-NZ" smtClean="0">
                <a:solidFill>
                  <a:prstClr val="black">
                    <a:tint val="75000"/>
                  </a:prstClr>
                </a:solidFill>
              </a:rPr>
              <a:t>9/03/2026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50125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BE43B5-DB86-6244-BD8C-BA15CBABCB00}" type="datetime1">
              <a:rPr lang="en-NZ" smtClean="0">
                <a:solidFill>
                  <a:prstClr val="black">
                    <a:tint val="75000"/>
                  </a:prstClr>
                </a:solidFill>
              </a:rPr>
              <a:t>9/03/2026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98142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35FC5-130E-644D-9CFA-437B6416D4E8}" type="datetime1">
              <a:rPr lang="en-NZ" smtClean="0">
                <a:solidFill>
                  <a:prstClr val="black">
                    <a:tint val="75000"/>
                  </a:prstClr>
                </a:solidFill>
              </a:rPr>
              <a:t>9/03/2026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21113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2A46D-1D1B-7F4A-B255-001A8291C9F2}" type="datetime1">
              <a:rPr lang="en-NZ" smtClean="0">
                <a:solidFill>
                  <a:prstClr val="black">
                    <a:tint val="75000"/>
                  </a:prstClr>
                </a:solidFill>
              </a:rPr>
              <a:t>9/03/2026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20313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NZ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B79C6-D685-CF48-99F6-F34CC1522850}" type="datetime1">
              <a:rPr lang="en-NZ" smtClean="0">
                <a:solidFill>
                  <a:prstClr val="black">
                    <a:tint val="75000"/>
                  </a:prstClr>
                </a:solidFill>
              </a:rPr>
              <a:t>9/03/2026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59853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ECE40-8140-C44B-87A9-5D6C676F00A6}" type="datetime1">
              <a:rPr lang="en-NZ" smtClean="0">
                <a:solidFill>
                  <a:prstClr val="black">
                    <a:tint val="75000"/>
                  </a:prstClr>
                </a:solidFill>
              </a:rPr>
              <a:t>9/03/2026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01158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1D2E26-7D59-784F-B0F5-8D9BEA679A45}" type="datetime1">
              <a:rPr lang="en-NZ" smtClean="0">
                <a:solidFill>
                  <a:prstClr val="black">
                    <a:tint val="75000"/>
                  </a:prstClr>
                </a:solidFill>
              </a:rPr>
              <a:t>9/03/2026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5892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08922" y="64689"/>
            <a:ext cx="7006428" cy="7000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NZ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215407"/>
            <a:ext cx="7886700" cy="49615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NZ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4038AF-168D-4944-8C85-B27C6D73A159}" type="datetime1">
              <a:rPr lang="en-NZ" smtClean="0">
                <a:solidFill>
                  <a:prstClr val="black">
                    <a:tint val="75000"/>
                  </a:prstClr>
                </a:solidFill>
              </a:rPr>
              <a:t>9/03/2026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0D3929-19F2-429B-ADDC-CA064EDFCD10}" type="slidenum">
              <a:rPr lang="en-NZ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94662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1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emf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emf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0" y="990719"/>
            <a:ext cx="9144000" cy="8092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90360" tIns="44280" rIns="90360" bIns="44280" anchor="t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AU" sz="54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Utopia" pitchFamily="34"/>
                <a:ea typeface="Times New Roman" pitchFamily="2"/>
                <a:cs typeface="Times New Roman" pitchFamily="2"/>
              </a:rPr>
              <a:t>Data Mining</a:t>
            </a: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AU" sz="28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Utopia" pitchFamily="34"/>
                <a:ea typeface="Times New Roman" pitchFamily="2"/>
                <a:cs typeface="Times New Roman" pitchFamily="2"/>
              </a:rPr>
              <a:t>Practical Machine Learning Tools and Techniques</a:t>
            </a: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AU" sz="2200" b="0" i="0" u="none" strike="noStrike" baseline="0" dirty="0">
              <a:ln>
                <a:noFill/>
              </a:ln>
              <a:solidFill>
                <a:srgbClr val="000000"/>
              </a:solidFill>
              <a:latin typeface="Utopia" pitchFamily="34"/>
              <a:ea typeface="Times New Roman" pitchFamily="2"/>
              <a:cs typeface="Times New Roman" pitchFamily="2"/>
            </a:endParaRP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AU" sz="24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Utopia" pitchFamily="34"/>
                <a:ea typeface="Times New Roman" pitchFamily="2"/>
                <a:cs typeface="Times New Roman" pitchFamily="2"/>
              </a:rPr>
              <a:t>Slides for Chapter 8, Data transformations</a:t>
            </a: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AU" sz="2400" dirty="0">
              <a:solidFill>
                <a:srgbClr val="000000"/>
              </a:solidFill>
              <a:latin typeface="Utopia" pitchFamily="34"/>
              <a:ea typeface="Times New Roman" pitchFamily="2"/>
              <a:cs typeface="Times New Roman" pitchFamily="2"/>
            </a:endParaRP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AU" sz="24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Utopia" pitchFamily="34"/>
                <a:ea typeface="Times New Roman" pitchFamily="2"/>
                <a:cs typeface="Times New Roman" pitchFamily="2"/>
              </a:rPr>
              <a:t> of </a:t>
            </a:r>
            <a:r>
              <a:rPr lang="en-AU" sz="2400" b="0" i="1" u="none" strike="noStrike" baseline="0" dirty="0">
                <a:ln>
                  <a:noFill/>
                </a:ln>
                <a:solidFill>
                  <a:srgbClr val="000000"/>
                </a:solidFill>
                <a:latin typeface="Utopia" pitchFamily="34"/>
                <a:ea typeface="Times New Roman" pitchFamily="2"/>
                <a:cs typeface="Times New Roman" pitchFamily="2"/>
              </a:rPr>
              <a:t>Data Mining</a:t>
            </a:r>
            <a:r>
              <a:rPr lang="en-AU" sz="24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Utopia" pitchFamily="34"/>
                <a:ea typeface="Times New Roman" pitchFamily="2"/>
                <a:cs typeface="Times New Roman" pitchFamily="2"/>
              </a:rPr>
              <a:t> by I. H. Witten, E. Frank,</a:t>
            </a: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AU" sz="24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Utopia" pitchFamily="34"/>
                <a:ea typeface="Times New Roman" pitchFamily="2"/>
                <a:cs typeface="Times New Roman" pitchFamily="2"/>
              </a:rPr>
              <a:t>M. A. Hall, and C. J. Pal</a:t>
            </a:r>
            <a:endParaRPr lang="en-AU" sz="2200" b="0" i="0" u="none" strike="noStrike" baseline="0" dirty="0">
              <a:ln>
                <a:noFill/>
              </a:ln>
              <a:solidFill>
                <a:srgbClr val="000000"/>
              </a:solidFill>
              <a:latin typeface="Utopia" pitchFamily="34"/>
              <a:ea typeface="Times New Roman" pitchFamily="2"/>
              <a:cs typeface="Times New Roman" pitchFamily="2"/>
            </a:endParaRP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AU" sz="2200" b="0" i="0" u="none" strike="noStrike" baseline="0" dirty="0">
              <a:ln>
                <a:noFill/>
              </a:ln>
              <a:solidFill>
                <a:srgbClr val="FFFF99"/>
              </a:solidFill>
              <a:latin typeface="Utopia" pitchFamily="34"/>
              <a:ea typeface="Gothic" pitchFamily="2"/>
              <a:cs typeface="Lucidasans" pitchFamily="2"/>
            </a:endParaRP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AU" sz="2200" b="0" i="0" u="none" strike="noStrike" baseline="0" dirty="0">
              <a:ln>
                <a:noFill/>
              </a:ln>
              <a:solidFill>
                <a:srgbClr val="FFFF99"/>
              </a:solidFill>
              <a:latin typeface="Utopia" pitchFamily="34"/>
              <a:ea typeface="Gothic" pitchFamily="2"/>
              <a:cs typeface="Lucidasans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6142944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ngineering the input and outp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>
          <a:xfrm>
            <a:off x="1928133" y="-149477"/>
            <a:ext cx="6194286" cy="1144800"/>
          </a:xfrm>
        </p:spPr>
        <p:txBody>
          <a:bodyPr wrap="square" lIns="90360" tIns="44280" rIns="90360" bIns="44280" anchorCtr="0"/>
          <a:lstStyle/>
          <a:p>
            <a:pPr lvl="0"/>
            <a:r>
              <a:rPr lang="en-NZ" sz="3600" dirty="0">
                <a:latin typeface="+mj-lt"/>
              </a:rPr>
              <a:t>Data transformations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>
          <a:xfrm>
            <a:off x="215258" y="1155440"/>
            <a:ext cx="8851784" cy="5101940"/>
          </a:xfrm>
        </p:spPr>
        <p:txBody>
          <a:bodyPr/>
          <a:lstStyle/>
          <a:p>
            <a:pPr marL="457200" lvl="0" indent="-457200">
              <a:spcBef>
                <a:spcPts val="598"/>
              </a:spcBef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NZ" sz="2400" dirty="0">
                <a:ea typeface="Gothic" pitchFamily="2"/>
              </a:rPr>
              <a:t>Attribute selection:  Scheme-independent and scheme-specific</a:t>
            </a:r>
          </a:p>
          <a:p>
            <a:pPr marL="457200" lvl="0" indent="-457200">
              <a:spcBef>
                <a:spcPts val="598"/>
              </a:spcBef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NZ" sz="2400" dirty="0">
                <a:ea typeface="Gothic" pitchFamily="2"/>
              </a:rPr>
              <a:t>Attribute discretization: Unsupervised</a:t>
            </a:r>
          </a:p>
          <a:p>
            <a:pPr marL="457200" lvl="0" indent="-457200">
              <a:spcBef>
                <a:spcPts val="499"/>
              </a:spcBef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NZ" sz="2400" dirty="0">
                <a:ea typeface="Gothic" pitchFamily="2"/>
              </a:rPr>
              <a:t>Projections:  principal component analysis (PCA), random projections, partial least-squares, independent component analysis (ICA), text, time series</a:t>
            </a:r>
          </a:p>
          <a:p>
            <a:pPr marL="457200" lvl="0" indent="-457200">
              <a:spcBef>
                <a:spcPts val="499"/>
              </a:spcBef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NZ" sz="2400" dirty="0">
                <a:ea typeface="Gothic" pitchFamily="2"/>
              </a:rPr>
              <a:t>Sampling: Reservoir sampling</a:t>
            </a:r>
          </a:p>
          <a:p>
            <a:pPr marL="457200" lvl="0" indent="-457200">
              <a:spcBef>
                <a:spcPts val="598"/>
              </a:spcBef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NZ" sz="2400" dirty="0">
                <a:ea typeface="Gothic" pitchFamily="2"/>
              </a:rPr>
              <a:t>Dirty data: Data cleansing, robust regression, anomaly detection</a:t>
            </a:r>
          </a:p>
          <a:p>
            <a:pPr marL="0" lvl="0" indent="0">
              <a:spcBef>
                <a:spcPts val="598"/>
              </a:spcBef>
              <a:buSzPct val="100000"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NZ" sz="2400" dirty="0">
              <a:ea typeface="Gothic" pitchFamily="2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>
                <a:solidFill>
                  <a:prstClr val="black">
                    <a:tint val="75000"/>
                  </a:prstClr>
                </a:solidFill>
              </a:rPr>
              <a:pPr/>
              <a:t>2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Just apply a learner? NO!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/>
              <a:t>Just apply a learner? NO!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Scheme/parameter selection</a:t>
            </a:r>
          </a:p>
          <a:p>
            <a:pPr lvl="1"/>
            <a:r>
              <a:rPr lang="en-US" dirty="0"/>
              <a:t>Treat selection process as part of the learning process to avoid optimistic performance estimates</a:t>
            </a:r>
          </a:p>
          <a:p>
            <a:pPr lvl="0"/>
            <a:r>
              <a:rPr lang="en-US" dirty="0"/>
              <a:t>Modifying the input:</a:t>
            </a:r>
          </a:p>
          <a:p>
            <a:pPr lvl="1"/>
            <a:r>
              <a:rPr lang="en-US" dirty="0"/>
              <a:t>Data engineering to make learning possible or easier</a:t>
            </a:r>
          </a:p>
          <a:p>
            <a:pPr lvl="0"/>
            <a:r>
              <a:rPr lang="en-US" dirty="0"/>
              <a:t>Modifying the output</a:t>
            </a:r>
          </a:p>
          <a:p>
            <a:pPr lvl="1"/>
            <a:r>
              <a:rPr lang="en-US" dirty="0"/>
              <a:t>Converting multi-class problems into two-class ones</a:t>
            </a:r>
          </a:p>
          <a:p>
            <a:pPr lvl="1"/>
            <a:r>
              <a:rPr lang="en-US" dirty="0"/>
              <a:t>Re-calibrating probability estimates</a:t>
            </a:r>
          </a:p>
          <a:p>
            <a:endParaRPr lang="en-CA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3</a:t>
            </a:fld>
            <a:endParaRPr lang="en-NZ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ttribute se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 dirty="0"/>
              <a:t>Attribute selection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Attribute selection is often important in practice</a:t>
            </a:r>
          </a:p>
          <a:p>
            <a:r>
              <a:rPr lang="en-CA" dirty="0"/>
              <a:t>For example, adding a random (i.e., irrelevant) attribute can significantly degrade C4.5’s performance</a:t>
            </a:r>
          </a:p>
          <a:p>
            <a:pPr lvl="1"/>
            <a:r>
              <a:rPr lang="en-CA" dirty="0"/>
              <a:t>Problem: C4.5’s built-in attribute selection is based on smaller and smaller amounts of data</a:t>
            </a:r>
          </a:p>
          <a:p>
            <a:r>
              <a:rPr lang="en-CA" dirty="0"/>
              <a:t>Instance-based learning is particularly susceptible to irrelevant attributes</a:t>
            </a:r>
          </a:p>
          <a:p>
            <a:pPr lvl="1"/>
            <a:r>
              <a:rPr lang="en-CA" dirty="0"/>
              <a:t>Number of training instances required increases exponentially with number of irrelevant attributes</a:t>
            </a:r>
          </a:p>
          <a:p>
            <a:r>
              <a:rPr lang="en-CA" dirty="0"/>
              <a:t>Exception: naïve Bayes can cope well with irrelevant attributes</a:t>
            </a:r>
          </a:p>
          <a:p>
            <a:r>
              <a:rPr lang="en-CA" dirty="0"/>
              <a:t>Note that relevant attributes can also be harmful if they mislead the learning algorithm</a:t>
            </a:r>
          </a:p>
          <a:p>
            <a:endParaRPr lang="en-CA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4</a:t>
            </a:fld>
            <a:endParaRPr lang="en-NZ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cheme-independent attribute se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>
          <a:xfrm>
            <a:off x="861034" y="64689"/>
            <a:ext cx="7654316" cy="700062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Scheme-independent attribute selection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i="1" dirty="0"/>
              <a:t>Filter</a:t>
            </a:r>
            <a:r>
              <a:rPr lang="en-CA" dirty="0"/>
              <a:t> approach to attribute selection: assess attributes based on general characteristics of the data</a:t>
            </a:r>
          </a:p>
          <a:p>
            <a:r>
              <a:rPr lang="en-CA" dirty="0"/>
              <a:t>In this approach, the attributes are selected in a manner that is independent of the target machine learning scheme</a:t>
            </a:r>
          </a:p>
          <a:p>
            <a:r>
              <a:rPr lang="en-CA" dirty="0"/>
              <a:t>One method: find smallest subset of attributes that separates data</a:t>
            </a:r>
          </a:p>
          <a:p>
            <a:r>
              <a:rPr lang="en-CA" dirty="0"/>
              <a:t>Another method: use a fast learning scheme that is different from the target learning scheme to find relevant attributes</a:t>
            </a:r>
          </a:p>
          <a:p>
            <a:pPr lvl="1"/>
            <a:r>
              <a:rPr lang="en-CA" dirty="0"/>
              <a:t>E.g., use attributes selected by C4.5 and 1R, or coefficients of linear model, possibly applied recursively (</a:t>
            </a:r>
            <a:r>
              <a:rPr lang="en-CA" i="1" dirty="0"/>
              <a:t>recursive feature elimination</a:t>
            </a:r>
            <a:r>
              <a:rPr lang="en-CA" dirty="0"/>
              <a:t>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5</a:t>
            </a:fld>
            <a:endParaRPr lang="en-NZ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>
          <a:xfrm>
            <a:off x="817982" y="64689"/>
            <a:ext cx="7697368" cy="700062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Scheme-independent attribute selection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Attribute weighting techniques based on instance-based learning can also be used for filtering</a:t>
            </a:r>
          </a:p>
          <a:p>
            <a:pPr lvl="1"/>
            <a:r>
              <a:rPr lang="en-CA" dirty="0"/>
              <a:t>Original approach for doing this cannot find redundant attributes (but a fix has been suggested)</a:t>
            </a:r>
          </a:p>
          <a:p>
            <a:r>
              <a:rPr lang="en-CA" dirty="0"/>
              <a:t>Correlation-based Feature Selection (CFS):</a:t>
            </a:r>
          </a:p>
          <a:p>
            <a:pPr lvl="1"/>
            <a:r>
              <a:rPr lang="en-CA" dirty="0"/>
              <a:t>Correlation between attributes measured by symmetric uncertainty:</a:t>
            </a:r>
            <a:br>
              <a:rPr lang="en-CA" dirty="0"/>
            </a:br>
            <a:br>
              <a:rPr lang="en-CA" dirty="0"/>
            </a:br>
            <a:br>
              <a:rPr lang="en-CA" dirty="0"/>
            </a:br>
            <a:endParaRPr lang="en-CA" dirty="0"/>
          </a:p>
          <a:p>
            <a:pPr lvl="1"/>
            <a:r>
              <a:rPr lang="en-CA" dirty="0"/>
              <a:t>Goodness of subset of attributes measured by</a:t>
            </a:r>
            <a:br>
              <a:rPr lang="en-CA" dirty="0"/>
            </a:br>
            <a:br>
              <a:rPr lang="en-CA" dirty="0"/>
            </a:br>
            <a:br>
              <a:rPr lang="en-CA" dirty="0"/>
            </a:br>
            <a:br>
              <a:rPr lang="en-CA" dirty="0"/>
            </a:br>
            <a:br>
              <a:rPr lang="en-CA" dirty="0"/>
            </a:br>
            <a:br>
              <a:rPr lang="en-CA" dirty="0"/>
            </a:br>
            <a:r>
              <a:rPr lang="en-CA" dirty="0"/>
              <a:t>breaking ties in favour of smaller subsets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6</a:t>
            </a:fld>
            <a:endParaRPr lang="en-NZ"/>
          </a:p>
        </p:txBody>
      </p:sp>
      <p:graphicFrame>
        <p:nvGraphicFramePr>
          <p:cNvPr id="3" name="Objec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75780870"/>
              </p:ext>
            </p:extLst>
          </p:nvPr>
        </p:nvGraphicFramePr>
        <p:xfrm>
          <a:off x="2048884" y="3279786"/>
          <a:ext cx="5257800" cy="838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628900" imgH="419100" progId="Equation.3">
                  <p:embed/>
                </p:oleObj>
              </mc:Choice>
              <mc:Fallback>
                <p:oleObj name="Equation" r:id="rId3" imgW="2628900" imgH="4191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048884" y="3279786"/>
                        <a:ext cx="5257800" cy="838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54322063"/>
              </p:ext>
            </p:extLst>
          </p:nvPr>
        </p:nvGraphicFramePr>
        <p:xfrm>
          <a:off x="2603499" y="4685241"/>
          <a:ext cx="3937000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968500" imgH="342900" progId="Equation.3">
                  <p:embed/>
                </p:oleObj>
              </mc:Choice>
              <mc:Fallback>
                <p:oleObj name="Equation" r:id="rId5" imgW="1968500" imgH="3429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603499" y="4685241"/>
                        <a:ext cx="3937000" cy="685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1495975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ttribute subsets for weather da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7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609600" y="-166688"/>
            <a:ext cx="8534400" cy="1066801"/>
          </a:xfrm>
        </p:spPr>
        <p:txBody>
          <a:bodyPr wrap="square" lIns="90360" tIns="44280" rIns="90360" bIns="44280" anchorCtr="0"/>
          <a:lstStyle/>
          <a:p>
            <a:pPr lvl="0"/>
            <a:r>
              <a:rPr lang="en-US" sz="3600" dirty="0"/>
              <a:t>Attribute subsets for weather data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1089720" y="1056599"/>
            <a:ext cx="7010280" cy="5243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earching attribute spa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 dirty="0"/>
              <a:t>Searching the attribute space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Number of attribute subsets is</a:t>
            </a:r>
            <a:br>
              <a:rPr lang="en-CA" dirty="0"/>
            </a:br>
            <a:r>
              <a:rPr lang="en-CA" dirty="0"/>
              <a:t>exponential in the number of attributes</a:t>
            </a:r>
          </a:p>
          <a:p>
            <a:r>
              <a:rPr lang="en-CA" dirty="0"/>
              <a:t>Common greedy approaches:</a:t>
            </a:r>
          </a:p>
          <a:p>
            <a:pPr lvl="1"/>
            <a:r>
              <a:rPr lang="en-CA" dirty="0"/>
              <a:t>forward selection</a:t>
            </a:r>
          </a:p>
          <a:p>
            <a:pPr lvl="1"/>
            <a:r>
              <a:rPr lang="en-CA" dirty="0"/>
              <a:t>backward elimination</a:t>
            </a:r>
          </a:p>
          <a:p>
            <a:r>
              <a:rPr lang="en-CA" dirty="0"/>
              <a:t>More sophisticated strategies:</a:t>
            </a:r>
          </a:p>
          <a:p>
            <a:pPr lvl="1"/>
            <a:r>
              <a:rPr lang="en-CA" dirty="0"/>
              <a:t>Bidirectional search</a:t>
            </a:r>
          </a:p>
          <a:p>
            <a:pPr lvl="1"/>
            <a:r>
              <a:rPr lang="en-CA" dirty="0"/>
              <a:t>Best-first search: can find optimum solution</a:t>
            </a:r>
          </a:p>
          <a:p>
            <a:pPr lvl="1"/>
            <a:r>
              <a:rPr lang="en-CA" dirty="0"/>
              <a:t>Beam search: approximation to best-first search</a:t>
            </a:r>
          </a:p>
          <a:p>
            <a:pPr lvl="1"/>
            <a:r>
              <a:rPr lang="en-CA" dirty="0"/>
              <a:t>Genetic algorithms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8</a:t>
            </a:fld>
            <a:endParaRPr lang="en-NZ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cheme-specific se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9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600200" y="-77788"/>
            <a:ext cx="7543800" cy="977901"/>
          </a:xfrm>
        </p:spPr>
        <p:txBody>
          <a:bodyPr wrap="square" lIns="90360" tIns="44280" rIns="90360" bIns="44280" anchorCtr="0"/>
          <a:lstStyle/>
          <a:p>
            <a:pPr lvl="0"/>
            <a:r>
              <a:rPr lang="en-US"/>
              <a:t>Scheme-specific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8990" y="826559"/>
            <a:ext cx="8021966" cy="5792653"/>
          </a:xfrm>
          <a:prstGeom prst="rect">
            <a:avLst/>
          </a:prstGeom>
          <a:noFill/>
          <a:ln>
            <a:noFill/>
          </a:ln>
        </p:spPr>
        <p:txBody>
          <a:bodyPr vert="horz" wrap="square" lIns="90360" tIns="44280" rIns="90360" bIns="44280" anchor="t" anchorCtr="0" compatLnSpc="0">
            <a:spAutoFit/>
          </a:bodyPr>
          <a:lstStyle/>
          <a:p>
            <a:pPr marL="457200" marR="0" lvl="0" indent="-457200" algn="l" rtl="0" hangingPunct="0">
              <a:lnSpc>
                <a:spcPct val="100000"/>
              </a:lnSpc>
              <a:spcBef>
                <a:spcPts val="697"/>
              </a:spcBef>
              <a:spcAft>
                <a:spcPts val="0"/>
              </a:spcAft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b="0" i="1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Wrapper </a:t>
            </a: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approach to attribute selection: attributes are selected with target scheme in the loop</a:t>
            </a:r>
          </a:p>
          <a:p>
            <a:pPr marL="457200" marR="0" lvl="0" indent="-457200" algn="l" rtl="0" hangingPunct="0">
              <a:lnSpc>
                <a:spcPct val="100000"/>
              </a:lnSpc>
              <a:spcBef>
                <a:spcPts val="697"/>
              </a:spcBef>
              <a:spcAft>
                <a:spcPts val="0"/>
              </a:spcAft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Implement “wrapper” around learning scheme</a:t>
            </a:r>
          </a:p>
          <a:p>
            <a:pPr lvl="1" hangingPunct="0">
              <a:spcBef>
                <a:spcPts val="697"/>
              </a:spcBef>
              <a:buSzPct val="100000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Evaluation criterion: cross-validation performance</a:t>
            </a:r>
          </a:p>
          <a:p>
            <a:pPr marL="457200" marR="0" lvl="0" indent="-457200" algn="l" rtl="0" hangingPunct="0">
              <a:lnSpc>
                <a:spcPct val="100000"/>
              </a:lnSpc>
              <a:spcBef>
                <a:spcPts val="697"/>
              </a:spcBef>
              <a:spcAft>
                <a:spcPts val="0"/>
              </a:spcAft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Time consuming in</a:t>
            </a:r>
            <a:r>
              <a:rPr lang="en-US" sz="2400" b="0" i="0" u="none" strike="noStrike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 general</a:t>
            </a:r>
            <a:endParaRPr lang="en-US" sz="2400" b="0" i="0" u="none" strike="noStrike" baseline="0" dirty="0">
              <a:ln>
                <a:noFill/>
              </a:ln>
              <a:solidFill>
                <a:srgbClr val="000000"/>
              </a:solidFill>
              <a:ea typeface="Gothic" pitchFamily="2"/>
              <a:cs typeface="Lucidasans" pitchFamily="2"/>
            </a:endParaRPr>
          </a:p>
          <a:p>
            <a:pPr marL="800100" lvl="2" indent="-342900" hangingPunct="0">
              <a:spcBef>
                <a:spcPts val="598"/>
              </a:spcBef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greedy approach, </a:t>
            </a:r>
            <a:r>
              <a:rPr lang="en-US" sz="2000" b="0" i="1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k</a:t>
            </a: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 attributes </a:t>
            </a:r>
            <a:r>
              <a:rPr lang="en-US" sz="2000" b="1" dirty="0">
                <a:solidFill>
                  <a:srgbClr val="000000"/>
                </a:solidFill>
                <a:ea typeface="Gothic" pitchFamily="2"/>
                <a:cs typeface="Lucidasans" pitchFamily="2"/>
              </a:rPr>
              <a:t>=&gt;</a:t>
            </a: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   </a:t>
            </a:r>
            <a:r>
              <a:rPr lang="en-US" sz="2000" b="0" i="1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k</a:t>
            </a:r>
            <a:r>
              <a:rPr lang="en-US" sz="2000" b="0" i="0" u="none" strike="noStrike" baseline="3000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2</a:t>
            </a: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 time</a:t>
            </a:r>
          </a:p>
          <a:p>
            <a:pPr marL="800100" lvl="2" indent="-342900" hangingPunct="0">
              <a:spcBef>
                <a:spcPts val="598"/>
              </a:spcBef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prior ranking of attributes </a:t>
            </a:r>
            <a:r>
              <a:rPr lang="en-US" sz="2000" b="1" dirty="0">
                <a:solidFill>
                  <a:srgbClr val="000000"/>
                </a:solidFill>
                <a:ea typeface="Gothic" pitchFamily="2"/>
                <a:cs typeface="Lucidasans" pitchFamily="2"/>
              </a:rPr>
              <a:t>=&gt;</a:t>
            </a: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   linear in </a:t>
            </a:r>
            <a:r>
              <a:rPr lang="en-US" sz="2000" b="0" i="1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k</a:t>
            </a:r>
          </a:p>
          <a:p>
            <a:pPr marL="457200" marR="0" lvl="0" indent="-457200" algn="l" rtl="0" hangingPunct="0">
              <a:lnSpc>
                <a:spcPct val="100000"/>
              </a:lnSpc>
              <a:spcBef>
                <a:spcPts val="598"/>
              </a:spcBef>
              <a:spcAft>
                <a:spcPts val="0"/>
              </a:spcAft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Can use significance test to stop cross-validation for a subset early if it is unlikely to “win” (</a:t>
            </a:r>
            <a:r>
              <a:rPr lang="en-US" sz="2400" b="0" i="1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race search</a:t>
            </a: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)</a:t>
            </a:r>
          </a:p>
          <a:p>
            <a:pPr marL="457200" lvl="2" hangingPunct="0">
              <a:spcBef>
                <a:spcPts val="598"/>
              </a:spcBef>
              <a:buSzPct val="100000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000" dirty="0">
                <a:solidFill>
                  <a:srgbClr val="000000"/>
                </a:solidFill>
                <a:ea typeface="Gothic" pitchFamily="2"/>
                <a:cs typeface="Lucidasans" pitchFamily="2"/>
              </a:rPr>
              <a:t>C</a:t>
            </a: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an be used with forward, backward selection, prior ranking, or special-purpose </a:t>
            </a:r>
            <a:r>
              <a:rPr lang="en-US" sz="2000" b="0" i="1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schemata search</a:t>
            </a:r>
          </a:p>
          <a:p>
            <a:pPr marL="457200" marR="0" lvl="0" indent="-457200" algn="l" rtl="0" hangingPunct="0">
              <a:lnSpc>
                <a:spcPct val="100000"/>
              </a:lnSpc>
              <a:spcBef>
                <a:spcPts val="697"/>
              </a:spcBef>
              <a:spcAft>
                <a:spcPts val="0"/>
              </a:spcAft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Scheme-specific attribute selection is essential for learning decision tables</a:t>
            </a:r>
          </a:p>
          <a:p>
            <a:pPr marL="457200" marR="0" lvl="0" indent="-457200" algn="l" rtl="0" hangingPunct="0">
              <a:lnSpc>
                <a:spcPct val="100000"/>
              </a:lnSpc>
              <a:spcBef>
                <a:spcPts val="697"/>
              </a:spcBef>
              <a:spcAft>
                <a:spcPts val="0"/>
              </a:spcAft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Efficient for decision tables and Naïve Bayes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ttribute discretization (numeric attributes only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/>
              <a:t>Attribute discretization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Discretization can be useful even if a learning algorithm can be run on numeric attributes directly</a:t>
            </a:r>
          </a:p>
          <a:p>
            <a:r>
              <a:rPr lang="en-CA" dirty="0"/>
              <a:t>Avoids normality assumption in Naïve Bayes and clustering</a:t>
            </a:r>
          </a:p>
          <a:p>
            <a:r>
              <a:rPr lang="en-CA" dirty="0"/>
              <a:t>Examples of discretization we have already encountered:</a:t>
            </a:r>
          </a:p>
          <a:p>
            <a:pPr lvl="1"/>
            <a:r>
              <a:rPr lang="en-CA" dirty="0"/>
              <a:t>1R: uses simple discretization scheme</a:t>
            </a:r>
          </a:p>
          <a:p>
            <a:pPr lvl="1"/>
            <a:r>
              <a:rPr lang="en-CA" dirty="0"/>
              <a:t>C4.5 performs local discretization</a:t>
            </a:r>
          </a:p>
          <a:p>
            <a:r>
              <a:rPr lang="en-CA" dirty="0"/>
              <a:t>Global discretization can be advantageous because it is based on more data</a:t>
            </a:r>
          </a:p>
          <a:p>
            <a:r>
              <a:rPr lang="en-CA" dirty="0"/>
              <a:t>Apply learner to</a:t>
            </a:r>
          </a:p>
          <a:p>
            <a:pPr lvl="1"/>
            <a:r>
              <a:rPr lang="en-CA" dirty="0"/>
              <a:t>k -valued discretized attribute or  to</a:t>
            </a:r>
          </a:p>
          <a:p>
            <a:pPr lvl="1"/>
            <a:r>
              <a:rPr lang="en-CA" dirty="0"/>
              <a:t>k – 1 binary attributes that code the cut points</a:t>
            </a:r>
          </a:p>
          <a:p>
            <a:r>
              <a:rPr lang="en-CA" dirty="0"/>
              <a:t>The latter approach often works better when learning decision trees or rule sets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10</a:t>
            </a:fld>
            <a:endParaRPr lang="en-NZ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iscretization: unsupervis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11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600200" y="-77788"/>
            <a:ext cx="7543800" cy="977901"/>
          </a:xfrm>
        </p:spPr>
        <p:txBody>
          <a:bodyPr wrap="square" lIns="90360" tIns="44280" rIns="90360" bIns="44280" anchorCtr="0"/>
          <a:lstStyle/>
          <a:p>
            <a:pPr lvl="0"/>
            <a:r>
              <a:rPr lang="en-US" dirty="0"/>
              <a:t>Discretization: unsupervised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970" y="1114559"/>
            <a:ext cx="8158297" cy="4588733"/>
          </a:xfrm>
          <a:prstGeom prst="rect">
            <a:avLst/>
          </a:prstGeom>
          <a:noFill/>
          <a:ln>
            <a:noFill/>
          </a:ln>
        </p:spPr>
        <p:txBody>
          <a:bodyPr vert="horz" wrap="square" lIns="90360" tIns="44280" rIns="90360" bIns="44280" anchor="t" anchorCtr="0" compatLnSpc="0">
            <a:spAutoFit/>
          </a:bodyPr>
          <a:lstStyle/>
          <a:p>
            <a:pPr marL="457200" marR="0" lvl="0" indent="-457200" algn="l" rtl="0" hangingPunct="0">
              <a:lnSpc>
                <a:spcPct val="100000"/>
              </a:lnSpc>
              <a:spcBef>
                <a:spcPts val="697"/>
              </a:spcBef>
              <a:spcAft>
                <a:spcPts val="0"/>
              </a:spcAft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i="1" dirty="0"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Unsupervised discretization</a:t>
            </a:r>
            <a:r>
              <a:rPr lang="en-US" sz="2400" dirty="0"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: d</a:t>
            </a: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etermine intervals without knowing class labels</a:t>
            </a:r>
          </a:p>
          <a:p>
            <a:pPr marL="457200" lvl="2" hangingPunct="0">
              <a:spcBef>
                <a:spcPts val="598"/>
              </a:spcBef>
              <a:buSzPct val="100000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When clustering, the only possible way!</a:t>
            </a:r>
          </a:p>
          <a:p>
            <a:pPr marL="457200" marR="0" lvl="0" indent="-457200" algn="l" rtl="0" hangingPunct="0">
              <a:lnSpc>
                <a:spcPct val="100000"/>
              </a:lnSpc>
              <a:spcBef>
                <a:spcPts val="697"/>
              </a:spcBef>
              <a:spcAft>
                <a:spcPts val="0"/>
              </a:spcAft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Two well-known</a:t>
            </a:r>
            <a:r>
              <a:rPr lang="en-US" sz="2400" b="0" i="0" u="none" strike="noStrike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 </a:t>
            </a: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strategies:</a:t>
            </a:r>
          </a:p>
          <a:p>
            <a:pPr marL="800100" lvl="2" indent="-342900" hangingPunct="0">
              <a:spcBef>
                <a:spcPts val="598"/>
              </a:spcBef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000" b="0" i="1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Equal-interval binning</a:t>
            </a:r>
          </a:p>
          <a:p>
            <a:pPr marL="800100" lvl="2" indent="-342900" hangingPunct="0">
              <a:spcBef>
                <a:spcPts val="598"/>
              </a:spcBef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000" b="0" i="1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Equal-frequency binning</a:t>
            </a:r>
            <a:br>
              <a:rPr lang="en-US" sz="2000" b="0" i="1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</a:b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(also called </a:t>
            </a:r>
            <a:r>
              <a:rPr lang="en-US" sz="2000" b="0" i="1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histogram equalization</a:t>
            </a: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)</a:t>
            </a:r>
          </a:p>
          <a:p>
            <a:pPr marL="457200" marR="0" lvl="0" indent="-457200" algn="l" rtl="0" hangingPunct="0">
              <a:lnSpc>
                <a:spcPct val="100000"/>
              </a:lnSpc>
              <a:spcBef>
                <a:spcPts val="697"/>
              </a:spcBef>
              <a:spcAft>
                <a:spcPts val="0"/>
              </a:spcAft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dirty="0"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Unsupervised discretization is n</a:t>
            </a: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ormally inferior to supervised schemes when applied in classification tasks</a:t>
            </a:r>
          </a:p>
          <a:p>
            <a:pPr marL="457200" lvl="2" hangingPunct="0">
              <a:spcBef>
                <a:spcPts val="697"/>
              </a:spcBef>
              <a:buSzPct val="100000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But equal-frequency binning works well with naïve Bayes if the number of intervals is set to the square root of the size of dataset </a:t>
            </a:r>
            <a:b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</a:b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(</a:t>
            </a:r>
            <a:r>
              <a:rPr lang="en-US" sz="2000" b="0" i="1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proportional k-interval discretization)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 dirty="0"/>
              <a:t>The converse of discretization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Make nominal values into “numeric” ones</a:t>
            </a:r>
          </a:p>
          <a:p>
            <a:r>
              <a:rPr lang="en-CA" dirty="0"/>
              <a:t>Can use indicator attributes (as in IB1)</a:t>
            </a:r>
          </a:p>
          <a:p>
            <a:r>
              <a:rPr lang="en-CA" dirty="0"/>
              <a:t>Makes no use of potential ordering information if “nominal” attribute is actually ordinal</a:t>
            </a:r>
          </a:p>
          <a:p>
            <a:r>
              <a:rPr lang="en-CA" dirty="0"/>
              <a:t>Alternative: code an ordered nominal attribute into binary	ones as in M5’</a:t>
            </a:r>
          </a:p>
          <a:p>
            <a:pPr lvl="1"/>
            <a:r>
              <a:rPr lang="en-CA" dirty="0"/>
              <a:t>Inequalities are explicitly represented as binary attributes, e.g., </a:t>
            </a:r>
            <a:r>
              <a:rPr lang="en-CA" i="1" dirty="0"/>
              <a:t>temperature</a:t>
            </a:r>
            <a:r>
              <a:rPr lang="en-CA" dirty="0"/>
              <a:t> &lt; </a:t>
            </a:r>
            <a:r>
              <a:rPr lang="en-CA" i="1" dirty="0"/>
              <a:t>hot</a:t>
            </a:r>
            <a:r>
              <a:rPr lang="en-CA" dirty="0"/>
              <a:t> in the </a:t>
            </a:r>
            <a:r>
              <a:rPr lang="en-CA" i="1" dirty="0"/>
              <a:t>weather</a:t>
            </a:r>
            <a:r>
              <a:rPr lang="en-CA" dirty="0"/>
              <a:t> data</a:t>
            </a:r>
          </a:p>
          <a:p>
            <a:pPr lvl="1"/>
            <a:r>
              <a:rPr lang="en-CA" dirty="0"/>
              <a:t>Can be used for any ordered attribute</a:t>
            </a:r>
          </a:p>
          <a:p>
            <a:pPr lvl="1"/>
            <a:r>
              <a:rPr lang="en-CA" dirty="0"/>
              <a:t>Better than coding ordering into an integer (which implies a metric)</a:t>
            </a:r>
          </a:p>
          <a:p>
            <a:r>
              <a:rPr lang="en-CA" dirty="0"/>
              <a:t>In general: can code binary partition of a set of attribute values as a binary attribute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12</a:t>
            </a:fld>
            <a:endParaRPr lang="en-NZ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13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2360668" y="-179388"/>
            <a:ext cx="5289495" cy="1144588"/>
          </a:xfrm>
        </p:spPr>
        <p:txBody>
          <a:bodyPr/>
          <a:lstStyle/>
          <a:p>
            <a:pPr lvl="0"/>
            <a:r>
              <a:rPr lang="en-US" dirty="0"/>
              <a:t>Projections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863600" y="1079500"/>
            <a:ext cx="7651750" cy="3798861"/>
          </a:xfrm>
        </p:spPr>
        <p:txBody>
          <a:bodyPr wrap="square">
            <a:spAutoFit/>
          </a:bodyPr>
          <a:lstStyle/>
          <a:p>
            <a:pPr marL="457200" lvl="0" indent="-457200">
              <a:buFont typeface="Arial"/>
              <a:buChar char="•"/>
            </a:pPr>
            <a:r>
              <a:rPr lang="en-US" dirty="0"/>
              <a:t>Simple transformations can often make a large difference in performance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Example transformations (not necessarily for performance improvement):</a:t>
            </a:r>
          </a:p>
          <a:p>
            <a:pPr lvl="1"/>
            <a:r>
              <a:rPr lang="en-US" dirty="0"/>
              <a:t>Difference of two date attributes</a:t>
            </a:r>
          </a:p>
          <a:p>
            <a:pPr lvl="1"/>
            <a:r>
              <a:rPr lang="en-US" dirty="0"/>
              <a:t>Ratio of two numeric (ratio-scale) attributes</a:t>
            </a:r>
          </a:p>
          <a:p>
            <a:pPr lvl="1"/>
            <a:r>
              <a:rPr lang="en-US" dirty="0"/>
              <a:t>Concatenating the values of nominal attributes</a:t>
            </a:r>
          </a:p>
          <a:p>
            <a:pPr lvl="1"/>
            <a:r>
              <a:rPr lang="en-US" dirty="0"/>
              <a:t>Encoding cluster membership</a:t>
            </a:r>
          </a:p>
          <a:p>
            <a:pPr lvl="1"/>
            <a:r>
              <a:rPr lang="en-US" dirty="0"/>
              <a:t>Adding noise to data</a:t>
            </a:r>
          </a:p>
          <a:p>
            <a:pPr lvl="1"/>
            <a:r>
              <a:rPr lang="en-US" dirty="0"/>
              <a:t>Removing data randomly or selectively</a:t>
            </a:r>
          </a:p>
          <a:p>
            <a:pPr lvl="1"/>
            <a:r>
              <a:rPr lang="en-US" dirty="0"/>
              <a:t>Obfuscating the data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14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493838" y="-179388"/>
            <a:ext cx="7650162" cy="1144588"/>
          </a:xfrm>
        </p:spPr>
        <p:txBody>
          <a:bodyPr/>
          <a:lstStyle/>
          <a:p>
            <a:pPr lvl="0"/>
            <a:r>
              <a:rPr lang="en-US" dirty="0"/>
              <a:t>Principal component analysis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487919" y="1086676"/>
            <a:ext cx="8151121" cy="4690514"/>
          </a:xfrm>
        </p:spPr>
        <p:txBody>
          <a:bodyPr wrap="square">
            <a:spAutoFit/>
          </a:bodyPr>
          <a:lstStyle/>
          <a:p>
            <a:pPr marL="457200" lvl="0" indent="-457200">
              <a:buFont typeface="Arial"/>
              <a:buChar char="•"/>
            </a:pPr>
            <a:r>
              <a:rPr lang="en-US" dirty="0"/>
              <a:t>Unsupervised method for identifying the important directions in a dataset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We can then rotate the data into the (reduced) coordinate system that is given by those directions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PCA is a method for </a:t>
            </a:r>
            <a:r>
              <a:rPr lang="en-US" i="1" dirty="0"/>
              <a:t>dimensionality reduction</a:t>
            </a:r>
            <a:endParaRPr lang="en-US" dirty="0"/>
          </a:p>
          <a:p>
            <a:pPr marL="457200" indent="-457200">
              <a:buFont typeface="Arial"/>
              <a:buChar char="•"/>
            </a:pPr>
            <a:r>
              <a:rPr lang="en-US" dirty="0"/>
              <a:t>Algorithm:</a:t>
            </a:r>
          </a:p>
          <a:p>
            <a:pPr lvl="1">
              <a:buSzPct val="100000"/>
              <a:buAutoNum type="arabicPeriod"/>
            </a:pPr>
            <a:r>
              <a:rPr lang="en-US" dirty="0"/>
              <a:t>Find direction (axis) of greatest variance</a:t>
            </a:r>
          </a:p>
          <a:p>
            <a:pPr lvl="1">
              <a:buSzPct val="100000"/>
              <a:buAutoNum type="arabicPeriod"/>
            </a:pPr>
            <a:r>
              <a:rPr lang="en-US" dirty="0"/>
              <a:t>Find direction of greatest variance that is perpendicular to previous direction and repeat</a:t>
            </a:r>
          </a:p>
          <a:p>
            <a:pPr marL="457200" lvl="0" indent="-457200">
              <a:buSzPct val="100000"/>
              <a:buFont typeface="Arial"/>
              <a:buChar char="•"/>
            </a:pPr>
            <a:r>
              <a:rPr lang="en-US" dirty="0"/>
              <a:t>Implementation: find eigenvectors of the covariance matrix of the data</a:t>
            </a:r>
          </a:p>
          <a:p>
            <a:pPr lvl="1">
              <a:buSzPct val="100000"/>
            </a:pPr>
            <a:r>
              <a:rPr lang="en-US" dirty="0"/>
              <a:t>Eigenvectors (sorted by eigenvalues) are the directions</a:t>
            </a:r>
          </a:p>
          <a:p>
            <a:pPr lvl="1">
              <a:buSzPct val="100000"/>
            </a:pPr>
            <a:r>
              <a:rPr lang="en-US" dirty="0"/>
              <a:t>Mathematical details are covered in chapter on “Probabilistic methods” 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15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493838" y="-179388"/>
            <a:ext cx="7650162" cy="1144588"/>
          </a:xfrm>
        </p:spPr>
        <p:txBody>
          <a:bodyPr/>
          <a:lstStyle/>
          <a:p>
            <a:pPr lvl="0"/>
            <a:r>
              <a:rPr lang="en-US" dirty="0"/>
              <a:t>Example: 10-dimensional data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666040" y="5516304"/>
            <a:ext cx="7849310" cy="859466"/>
          </a:xfrm>
        </p:spPr>
        <p:txBody>
          <a:bodyPr wrap="square">
            <a:spAutoFit/>
          </a:bodyPr>
          <a:lstStyle/>
          <a:p>
            <a:pPr marL="342900" lvl="0" indent="-342900">
              <a:buFont typeface="Arial"/>
              <a:buChar char="•"/>
            </a:pPr>
            <a:r>
              <a:rPr lang="en-US" dirty="0"/>
              <a:t>Data is normally standardized or mean-centered for PCA</a:t>
            </a:r>
          </a:p>
          <a:p>
            <a:pPr marL="342900" lvl="0" indent="-342900">
              <a:buFont typeface="Arial"/>
              <a:buChar char="•"/>
            </a:pPr>
            <a:r>
              <a:rPr lang="en-US" dirty="0"/>
              <a:t>Can also apply this recursively in a tree learner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360" y="925919"/>
            <a:ext cx="9143640" cy="44589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16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493838" y="-179388"/>
            <a:ext cx="7650162" cy="1144588"/>
          </a:xfrm>
        </p:spPr>
        <p:txBody>
          <a:bodyPr/>
          <a:lstStyle/>
          <a:p>
            <a:pPr lvl="0"/>
            <a:r>
              <a:rPr lang="en-US" dirty="0"/>
              <a:t>Random projections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323850" y="1380872"/>
            <a:ext cx="8322365" cy="3640997"/>
          </a:xfrm>
        </p:spPr>
        <p:txBody>
          <a:bodyPr wrap="square">
            <a:spAutoFit/>
          </a:bodyPr>
          <a:lstStyle/>
          <a:p>
            <a:pPr marL="457200" lvl="0" indent="-457200">
              <a:buFont typeface="Arial"/>
              <a:buChar char="•"/>
            </a:pPr>
            <a:r>
              <a:rPr lang="en-US" dirty="0"/>
              <a:t>PCA is nice but expensive: cubic in number of attributes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Alternative: use random directions instead of principal components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Surprising: random projections preserve distance relationships quite well (on average)</a:t>
            </a:r>
          </a:p>
          <a:p>
            <a:pPr lvl="1"/>
            <a:r>
              <a:rPr lang="en-US" dirty="0"/>
              <a:t>Can use them to apply </a:t>
            </a:r>
            <a:r>
              <a:rPr lang="en-US" i="1" dirty="0" err="1"/>
              <a:t>k</a:t>
            </a:r>
            <a:r>
              <a:rPr lang="en-US" dirty="0" err="1"/>
              <a:t>D</a:t>
            </a:r>
            <a:r>
              <a:rPr lang="en-US" dirty="0"/>
              <a:t>-trees to high-dimensional data</a:t>
            </a:r>
          </a:p>
          <a:p>
            <a:pPr lvl="1"/>
            <a:r>
              <a:rPr lang="en-US" dirty="0"/>
              <a:t>Can improve stability by using ensemble of models based on different projections</a:t>
            </a:r>
          </a:p>
          <a:p>
            <a:pPr marL="457200" indent="-457200">
              <a:buFont typeface="Arial"/>
              <a:buChar char="•"/>
            </a:pPr>
            <a:r>
              <a:rPr lang="en-US" dirty="0"/>
              <a:t>Different methods for generating random projection matrices have been proposed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17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493838" y="-179388"/>
            <a:ext cx="7650162" cy="1144588"/>
          </a:xfrm>
        </p:spPr>
        <p:txBody>
          <a:bodyPr/>
          <a:lstStyle/>
          <a:p>
            <a:pPr lvl="0"/>
            <a:r>
              <a:rPr lang="en-US"/>
              <a:t>Partial least-squares regression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466394" y="1079500"/>
            <a:ext cx="7986088" cy="5303838"/>
          </a:xfrm>
        </p:spPr>
        <p:txBody>
          <a:bodyPr>
            <a:normAutofit/>
          </a:bodyPr>
          <a:lstStyle/>
          <a:p>
            <a:pPr marL="457200" lvl="0" indent="-457200">
              <a:buFont typeface="Arial"/>
              <a:buChar char="•"/>
            </a:pPr>
            <a:r>
              <a:rPr lang="en-US" dirty="0"/>
              <a:t>PCA is often used as a pre-processing step before applying a learning algorithm</a:t>
            </a:r>
          </a:p>
          <a:p>
            <a:pPr lvl="1"/>
            <a:r>
              <a:rPr lang="en-US" dirty="0"/>
              <a:t>When linear regression is applied, the resulting model is known as </a:t>
            </a:r>
            <a:r>
              <a:rPr lang="en-US" i="1" dirty="0"/>
              <a:t>principal components regression</a:t>
            </a:r>
          </a:p>
          <a:p>
            <a:pPr lvl="1"/>
            <a:r>
              <a:rPr lang="en-US" dirty="0"/>
              <a:t>Output can be re-expressed in terms of the original attributes because PCA yields a linear transformation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PCA is unsupervised and ignores the target attribute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The p</a:t>
            </a:r>
            <a:r>
              <a:rPr lang="en-US" i="1" dirty="0"/>
              <a:t>artial least-squares </a:t>
            </a:r>
            <a:r>
              <a:rPr lang="en-US" dirty="0"/>
              <a:t>transformation differs from PCA in that it takes the class attribute into account</a:t>
            </a:r>
          </a:p>
          <a:p>
            <a:pPr lvl="1"/>
            <a:r>
              <a:rPr lang="en-US" dirty="0"/>
              <a:t>Finds directions that have high variance and are strongly correlated with the class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Applying PLS as a pre-processing step for linear regression yields </a:t>
            </a:r>
            <a:r>
              <a:rPr lang="en-US" i="1" dirty="0"/>
              <a:t>partial least-squares regression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18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493838" y="-179388"/>
            <a:ext cx="7650162" cy="1144588"/>
          </a:xfrm>
        </p:spPr>
        <p:txBody>
          <a:bodyPr/>
          <a:lstStyle/>
          <a:p>
            <a:pPr lvl="0"/>
            <a:r>
              <a:rPr lang="en-US" dirty="0"/>
              <a:t>An algorithm for PLS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915988" y="1062038"/>
            <a:ext cx="7493443" cy="4837112"/>
          </a:xfrm>
        </p:spPr>
        <p:txBody>
          <a:bodyPr>
            <a:normAutofit/>
          </a:bodyPr>
          <a:lstStyle/>
          <a:p>
            <a:pPr lvl="0">
              <a:buSzPct val="100000"/>
              <a:buAutoNum type="arabicPeriod"/>
            </a:pPr>
            <a:r>
              <a:rPr lang="en-US" dirty="0"/>
              <a:t>  Start with standardized input attributes</a:t>
            </a:r>
          </a:p>
          <a:p>
            <a:pPr lvl="0">
              <a:buSzPct val="100000"/>
              <a:buAutoNum type="arabicPeriod"/>
            </a:pPr>
            <a:r>
              <a:rPr lang="en-US" dirty="0"/>
              <a:t>  Attribute coefficients of the first PLS direction:</a:t>
            </a:r>
          </a:p>
          <a:p>
            <a:pPr lvl="1">
              <a:buSzPct val="45000"/>
              <a:buFont typeface="StarSymbol"/>
              <a:buChar char="●"/>
            </a:pPr>
            <a:r>
              <a:rPr lang="en-US" dirty="0"/>
              <a:t>Compute the dot product between each attribute vector and the class vector in turn, this yields the coefficients</a:t>
            </a:r>
          </a:p>
          <a:p>
            <a:pPr lvl="0">
              <a:buSzPct val="100000"/>
              <a:buAutoNum type="arabicPeriod"/>
            </a:pPr>
            <a:r>
              <a:rPr lang="en-US" dirty="0"/>
              <a:t>  Coefficients for next PLS direction:</a:t>
            </a:r>
          </a:p>
          <a:p>
            <a:pPr lvl="1">
              <a:buSzPct val="45000"/>
              <a:buFont typeface="StarSymbol"/>
              <a:buChar char="●"/>
            </a:pPr>
            <a:r>
              <a:rPr lang="en-US" dirty="0"/>
              <a:t>Replace attribute value by difference (residual) between the attribute's value and the prediction of that attribute from a simple regression based on the previous PLS direction </a:t>
            </a:r>
          </a:p>
          <a:p>
            <a:pPr lvl="1">
              <a:buSzPct val="45000"/>
              <a:buFont typeface="StarSymbol"/>
              <a:buChar char="●"/>
            </a:pPr>
            <a:r>
              <a:rPr lang="en-US" dirty="0"/>
              <a:t>Compute the dot product between each attribute's residual vector and the class vector in turn, this yields the coefficients</a:t>
            </a:r>
          </a:p>
          <a:p>
            <a:pPr lvl="0">
              <a:buSzPct val="100000"/>
              <a:buAutoNum type="arabicPeriod"/>
            </a:pPr>
            <a:r>
              <a:rPr lang="en-US" dirty="0"/>
              <a:t>  Repeat from 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6456" y="64689"/>
            <a:ext cx="7718894" cy="700062"/>
          </a:xfrm>
        </p:spPr>
        <p:txBody>
          <a:bodyPr>
            <a:noAutofit/>
          </a:bodyPr>
          <a:lstStyle/>
          <a:p>
            <a:r>
              <a:rPr lang="en-CA" dirty="0"/>
              <a:t>Independent component analysis (ICA)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7238" y="1215407"/>
            <a:ext cx="8552936" cy="4961556"/>
          </a:xfrm>
        </p:spPr>
        <p:txBody>
          <a:bodyPr/>
          <a:lstStyle/>
          <a:p>
            <a:r>
              <a:rPr lang="en-US" dirty="0"/>
              <a:t>PCA finds a coordinate system for a feature space that captures the covariance of the data</a:t>
            </a:r>
          </a:p>
          <a:p>
            <a:r>
              <a:rPr lang="en-US" dirty="0"/>
              <a:t>In contrast, </a:t>
            </a:r>
            <a:r>
              <a:rPr lang="en-US" i="1" dirty="0"/>
              <a:t>ICA </a:t>
            </a:r>
            <a:r>
              <a:rPr lang="en-US" dirty="0"/>
              <a:t>seeks a projection that decomposes the data into sources that are statistically independent </a:t>
            </a:r>
            <a:endParaRPr lang="en-CA" dirty="0"/>
          </a:p>
          <a:p>
            <a:r>
              <a:rPr lang="en-US" dirty="0"/>
              <a:t>Consider the “cocktail party problem,” where people hear music and the voices of other people: the goal is to un-mix these signals</a:t>
            </a:r>
          </a:p>
          <a:p>
            <a:r>
              <a:rPr lang="en-US" dirty="0"/>
              <a:t>ICA finds a linear projection of the mixed signal that gives the most statistically independent set of transformed variables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19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0714844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5384" y="64689"/>
            <a:ext cx="7639966" cy="700062"/>
          </a:xfrm>
        </p:spPr>
        <p:txBody>
          <a:bodyPr>
            <a:noAutofit/>
          </a:bodyPr>
          <a:lstStyle/>
          <a:p>
            <a:r>
              <a:rPr lang="en-CA" dirty="0"/>
              <a:t>Correlation vs. statistical 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9217" y="1215407"/>
            <a:ext cx="8056133" cy="4961556"/>
          </a:xfrm>
        </p:spPr>
        <p:txBody>
          <a:bodyPr/>
          <a:lstStyle/>
          <a:p>
            <a:r>
              <a:rPr lang="en-US" dirty="0"/>
              <a:t>PCA is sometimes thought of as a method that seeks to transform correlated variables into linearly uncorrelated ones</a:t>
            </a:r>
          </a:p>
          <a:p>
            <a:r>
              <a:rPr lang="en-US" dirty="0"/>
              <a:t>Important: correlation and statistical independence are two different criteria</a:t>
            </a:r>
          </a:p>
          <a:p>
            <a:pPr lvl="1"/>
            <a:r>
              <a:rPr lang="en-US" dirty="0"/>
              <a:t>Uncorrelated variables have correlation coefficients equal to zero – entries in a covariance matrix </a:t>
            </a:r>
          </a:p>
          <a:p>
            <a:pPr lvl="1"/>
            <a:r>
              <a:rPr lang="en-US" dirty="0"/>
              <a:t>Two variables </a:t>
            </a:r>
            <a:r>
              <a:rPr lang="en-US" i="1" dirty="0"/>
              <a:t>A</a:t>
            </a:r>
            <a:r>
              <a:rPr lang="en-US" dirty="0"/>
              <a:t> and </a:t>
            </a:r>
            <a:r>
              <a:rPr lang="en-US" i="1" dirty="0"/>
              <a:t>B</a:t>
            </a:r>
            <a:r>
              <a:rPr lang="en-US" dirty="0"/>
              <a:t> are considered independent when their joint probability is equal to the product of their </a:t>
            </a:r>
            <a:r>
              <a:rPr lang="en-US" i="1" dirty="0"/>
              <a:t>marginal</a:t>
            </a:r>
            <a:r>
              <a:rPr lang="en-US" dirty="0"/>
              <a:t> probabilities: </a:t>
            </a:r>
            <a:endParaRPr lang="en-CA" dirty="0"/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20</a:t>
            </a:fld>
            <a:endParaRPr lang="en-NZ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13885079"/>
              </p:ext>
            </p:extLst>
          </p:nvPr>
        </p:nvGraphicFramePr>
        <p:xfrm>
          <a:off x="2795306" y="4052127"/>
          <a:ext cx="2693786" cy="43535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257300" imgH="203200" progId="Equation.3">
                  <p:embed/>
                </p:oleObj>
              </mc:Choice>
              <mc:Fallback>
                <p:oleObj name="Equation" r:id="rId2" imgW="1257300" imgH="2032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795306" y="4052127"/>
                        <a:ext cx="2693786" cy="43535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5483465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/>
              <a:t>ICA and Mutual Information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Mutual information (MI) measures the amount of info one can obtain from one random variable given another one</a:t>
            </a:r>
          </a:p>
          <a:p>
            <a:r>
              <a:rPr lang="en-US" dirty="0"/>
              <a:t>It can be used as an alternative criterion for finding a projection of data</a:t>
            </a:r>
          </a:p>
          <a:p>
            <a:pPr lvl="1"/>
            <a:r>
              <a:rPr lang="en-US" dirty="0"/>
              <a:t>We can aim to minimize the mutual information between the dimensions of the data in a linearly transformed space </a:t>
            </a:r>
          </a:p>
          <a:p>
            <a:r>
              <a:rPr lang="en-US" dirty="0"/>
              <a:t>Assume a model s = Ax, where A is an orthogonal matrix, x is the input data and s is its decomposition into its sources</a:t>
            </a:r>
          </a:p>
          <a:p>
            <a:r>
              <a:rPr lang="en-US" dirty="0"/>
              <a:t>Fact: minimizing the MI between the dimensions of s corresponds to finding a transformation matrix  A</a:t>
            </a:r>
            <a:r>
              <a:rPr lang="en-US" i="1" dirty="0"/>
              <a:t> </a:t>
            </a:r>
            <a:r>
              <a:rPr lang="en-US" dirty="0"/>
              <a:t>so that </a:t>
            </a:r>
          </a:p>
          <a:p>
            <a:pPr marL="800100" lvl="1" indent="-457200">
              <a:buFont typeface="+mj-lt"/>
              <a:buAutoNum type="alphaLcParenR"/>
            </a:pPr>
            <a:r>
              <a:rPr lang="en-US" dirty="0"/>
              <a:t>the estimated probability distribution of the sources </a:t>
            </a:r>
            <a:r>
              <a:rPr lang="en-US" i="1" dirty="0"/>
              <a:t>p(</a:t>
            </a:r>
            <a:r>
              <a:rPr lang="en-US" dirty="0"/>
              <a:t>s</a:t>
            </a:r>
            <a:r>
              <a:rPr lang="en-US" i="1" dirty="0"/>
              <a:t>)</a:t>
            </a:r>
            <a:r>
              <a:rPr lang="en-US" dirty="0"/>
              <a:t> is as far from Gaussian as possible and</a:t>
            </a:r>
          </a:p>
          <a:p>
            <a:pPr marL="800100" lvl="1" indent="-457200">
              <a:buFont typeface="+mj-lt"/>
              <a:buAutoNum type="alphaLcParenR"/>
            </a:pPr>
            <a:r>
              <a:rPr lang="en-US" dirty="0"/>
              <a:t>the estimates s are constrained to be uncorrelated</a:t>
            </a:r>
            <a:endParaRPr lang="en-CA" dirty="0"/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21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8695240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96841" y="64689"/>
            <a:ext cx="6348012" cy="700062"/>
          </a:xfrm>
        </p:spPr>
        <p:txBody>
          <a:bodyPr/>
          <a:lstStyle/>
          <a:p>
            <a:r>
              <a:rPr lang="en-CA" dirty="0"/>
              <a:t>ICA &amp; </a:t>
            </a:r>
            <a:r>
              <a:rPr lang="en-CA" dirty="0" err="1"/>
              <a:t>FastICA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939" y="1215407"/>
            <a:ext cx="8380729" cy="4961556"/>
          </a:xfrm>
        </p:spPr>
        <p:txBody>
          <a:bodyPr/>
          <a:lstStyle/>
          <a:p>
            <a:r>
              <a:rPr lang="en-US" dirty="0"/>
              <a:t>A popular technique for performing independent component analysis is known as </a:t>
            </a:r>
            <a:r>
              <a:rPr lang="en-US" i="1" dirty="0"/>
              <a:t>fast ICA</a:t>
            </a:r>
          </a:p>
          <a:p>
            <a:r>
              <a:rPr lang="en-US" dirty="0"/>
              <a:t>Uses a quantity known as the </a:t>
            </a:r>
            <a:r>
              <a:rPr lang="en-US" i="1" dirty="0" err="1"/>
              <a:t>negentropy</a:t>
            </a:r>
            <a:r>
              <a:rPr lang="en-US" dirty="0"/>
              <a:t> J(s) = H(z) – H(s), where </a:t>
            </a:r>
          </a:p>
          <a:p>
            <a:pPr lvl="1"/>
            <a:r>
              <a:rPr lang="en-US" dirty="0"/>
              <a:t>z is a Gaussian random variable with the same covariance matrix as s and </a:t>
            </a:r>
          </a:p>
          <a:p>
            <a:pPr lvl="1"/>
            <a:r>
              <a:rPr lang="en-US" dirty="0"/>
              <a:t>H(.) is the “differential entropy,” defined as</a:t>
            </a:r>
            <a:endParaRPr lang="en-CA" dirty="0"/>
          </a:p>
          <a:p>
            <a:endParaRPr lang="en-CA" dirty="0"/>
          </a:p>
          <a:p>
            <a:endParaRPr lang="en-US" dirty="0"/>
          </a:p>
          <a:p>
            <a:r>
              <a:rPr lang="en-US" dirty="0" err="1"/>
              <a:t>Negentropy</a:t>
            </a:r>
            <a:r>
              <a:rPr lang="en-US" dirty="0"/>
              <a:t> measures the departure of s’s distribution from the Gaussian distribution</a:t>
            </a:r>
          </a:p>
          <a:p>
            <a:r>
              <a:rPr lang="en-US" dirty="0"/>
              <a:t>Fast ICA uses simple approximations to the </a:t>
            </a:r>
            <a:r>
              <a:rPr lang="en-US" dirty="0" err="1"/>
              <a:t>negentropy</a:t>
            </a:r>
            <a:r>
              <a:rPr lang="en-US" dirty="0"/>
              <a:t> allowing learning to be performed more quickly.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22</a:t>
            </a:fld>
            <a:endParaRPr lang="en-NZ"/>
          </a:p>
        </p:txBody>
      </p:sp>
      <p:graphicFrame>
        <p:nvGraphicFramePr>
          <p:cNvPr id="4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56580487"/>
              </p:ext>
            </p:extLst>
          </p:nvPr>
        </p:nvGraphicFramePr>
        <p:xfrm>
          <a:off x="2720895" y="3479528"/>
          <a:ext cx="3251200" cy="558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625600" imgH="279400" progId="Equation.3">
                  <p:embed/>
                </p:oleObj>
              </mc:Choice>
              <mc:Fallback>
                <p:oleObj name="Equation" r:id="rId2" imgW="1625600" imgH="2794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720895" y="3479528"/>
                        <a:ext cx="3251200" cy="558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4015218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23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493838" y="-179388"/>
            <a:ext cx="7650162" cy="1144588"/>
          </a:xfrm>
        </p:spPr>
        <p:txBody>
          <a:bodyPr/>
          <a:lstStyle/>
          <a:p>
            <a:pPr lvl="0"/>
            <a:r>
              <a:rPr lang="en-US" dirty="0"/>
              <a:t>Text to attribute vectors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559672" y="1079500"/>
            <a:ext cx="7594600" cy="4947636"/>
          </a:xfrm>
        </p:spPr>
        <p:txBody>
          <a:bodyPr wrap="square">
            <a:spAutoFit/>
          </a:bodyPr>
          <a:lstStyle/>
          <a:p>
            <a:pPr marL="342900" lvl="0" indent="-342900">
              <a:buFont typeface="Arial"/>
              <a:buChar char="•"/>
            </a:pPr>
            <a:r>
              <a:rPr lang="en-US" dirty="0"/>
              <a:t>Many data mining applications involve textual data (e.g., string attributes in ARFF)</a:t>
            </a:r>
          </a:p>
          <a:p>
            <a:pPr marL="342900" lvl="0" indent="-342900">
              <a:buFont typeface="Arial"/>
              <a:buChar char="•"/>
            </a:pPr>
            <a:r>
              <a:rPr lang="en-US" dirty="0"/>
              <a:t>Standard transformation: convert string into bag of words by </a:t>
            </a:r>
            <a:r>
              <a:rPr lang="en-US" i="1" dirty="0"/>
              <a:t>tokenization</a:t>
            </a:r>
          </a:p>
          <a:p>
            <a:pPr marL="342900" lvl="0" indent="-342900">
              <a:buFont typeface="Arial"/>
              <a:buChar char="•"/>
            </a:pPr>
            <a:r>
              <a:rPr lang="en-US" dirty="0"/>
              <a:t>Attribute values are binary, word frequencies (</a:t>
            </a:r>
            <a:r>
              <a:rPr lang="en-US" i="1" dirty="0" err="1"/>
              <a:t>f</a:t>
            </a:r>
            <a:r>
              <a:rPr lang="en-US" i="1" baseline="-25000" dirty="0" err="1"/>
              <a:t>ij</a:t>
            </a:r>
            <a:r>
              <a:rPr lang="en-US" dirty="0"/>
              <a:t>), log(1+</a:t>
            </a:r>
            <a:r>
              <a:rPr lang="en-US" i="1" dirty="0"/>
              <a:t>f</a:t>
            </a:r>
            <a:r>
              <a:rPr lang="en-US" i="1" baseline="-25000" dirty="0"/>
              <a:t>ij</a:t>
            </a:r>
            <a:r>
              <a:rPr lang="en-US" dirty="0"/>
              <a:t>), or TF </a:t>
            </a:r>
            <a:r>
              <a:rPr lang="en-US" dirty="0">
                <a:latin typeface="Symbol" pitchFamily="34"/>
              </a:rPr>
              <a:t></a:t>
            </a:r>
            <a:r>
              <a:rPr lang="en-US" dirty="0"/>
              <a:t> IDF:</a:t>
            </a:r>
            <a:br>
              <a:rPr lang="en-US" dirty="0"/>
            </a:br>
            <a:endParaRPr lang="en-US" dirty="0"/>
          </a:p>
          <a:p>
            <a:pPr marL="342900" lvl="0" indent="-342900">
              <a:buFont typeface="Arial"/>
              <a:buChar char="•"/>
            </a:pPr>
            <a:r>
              <a:rPr lang="en-US" dirty="0"/>
              <a:t>Many configuration options:</a:t>
            </a:r>
          </a:p>
          <a:p>
            <a:pPr marL="685800" lvl="1" indent="-342900">
              <a:buFont typeface="Arial"/>
              <a:buChar char="•"/>
            </a:pPr>
            <a:r>
              <a:rPr lang="en-US" dirty="0"/>
              <a:t>Only retain alphabetic sequences?</a:t>
            </a:r>
          </a:p>
          <a:p>
            <a:pPr marL="685800" lvl="1" indent="-342900">
              <a:buFont typeface="Arial"/>
              <a:buChar char="•"/>
            </a:pPr>
            <a:r>
              <a:rPr lang="en-US" dirty="0"/>
              <a:t>What should be used as delimiters?</a:t>
            </a:r>
          </a:p>
          <a:p>
            <a:pPr marL="685800" lvl="1" indent="-342900">
              <a:buFont typeface="Arial"/>
              <a:buChar char="•"/>
            </a:pPr>
            <a:r>
              <a:rPr lang="en-US" dirty="0"/>
              <a:t>Should words be converted to lowercase?</a:t>
            </a:r>
          </a:p>
          <a:p>
            <a:pPr marL="685800" lvl="1" indent="-342900">
              <a:buFont typeface="Arial"/>
              <a:buChar char="•"/>
            </a:pPr>
            <a:r>
              <a:rPr lang="en-US" dirty="0"/>
              <a:t>Should </a:t>
            </a:r>
            <a:r>
              <a:rPr lang="en-US" i="1" dirty="0" err="1"/>
              <a:t>stopwords</a:t>
            </a:r>
            <a:r>
              <a:rPr lang="en-US" dirty="0"/>
              <a:t> be ignored?</a:t>
            </a:r>
          </a:p>
          <a:p>
            <a:pPr marL="685800" lvl="1" indent="-342900">
              <a:buFont typeface="Arial"/>
              <a:buChar char="•"/>
            </a:pPr>
            <a:r>
              <a:rPr lang="en-US" dirty="0"/>
              <a:t>Should </a:t>
            </a:r>
            <a:r>
              <a:rPr lang="en-US" i="1" dirty="0" err="1"/>
              <a:t>hapax</a:t>
            </a:r>
            <a:r>
              <a:rPr lang="en-US" i="1" dirty="0"/>
              <a:t> </a:t>
            </a:r>
            <a:r>
              <a:rPr lang="en-US" i="1" dirty="0" err="1"/>
              <a:t>legomena</a:t>
            </a:r>
            <a:r>
              <a:rPr lang="en-US" i="1" dirty="0"/>
              <a:t> </a:t>
            </a:r>
            <a:r>
              <a:rPr lang="en-US" dirty="0"/>
              <a:t>be included? Or even just the </a:t>
            </a:r>
            <a:r>
              <a:rPr lang="en-US" i="1" dirty="0"/>
              <a:t>k </a:t>
            </a:r>
            <a:r>
              <a:rPr lang="en-US" dirty="0"/>
              <a:t>most frequent words?</a:t>
            </a:r>
          </a:p>
        </p:txBody>
      </p:sp>
      <p:graphicFrame>
        <p:nvGraphicFramePr>
          <p:cNvPr id="7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2464584"/>
              </p:ext>
            </p:extLst>
          </p:nvPr>
        </p:nvGraphicFramePr>
        <p:xfrm>
          <a:off x="3815318" y="3007697"/>
          <a:ext cx="3898129" cy="67620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489200" imgH="431800" progId="Equation.3">
                  <p:embed/>
                </p:oleObj>
              </mc:Choice>
              <mc:Fallback>
                <p:oleObj name="Equation" r:id="rId3" imgW="2489200" imgH="4318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15318" y="3007697"/>
                        <a:ext cx="3898129" cy="67620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24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493838" y="-179388"/>
            <a:ext cx="7650162" cy="1144588"/>
          </a:xfrm>
        </p:spPr>
        <p:txBody>
          <a:bodyPr/>
          <a:lstStyle/>
          <a:p>
            <a:pPr lvl="0"/>
            <a:r>
              <a:rPr lang="en-US" dirty="0"/>
              <a:t>Time series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846138" y="1079500"/>
            <a:ext cx="7391086" cy="3689087"/>
          </a:xfrm>
        </p:spPr>
        <p:txBody>
          <a:bodyPr wrap="square">
            <a:spAutoFit/>
          </a:bodyPr>
          <a:lstStyle/>
          <a:p>
            <a:pPr marL="457200" lvl="0" indent="-457200">
              <a:buFont typeface="Arial"/>
              <a:buChar char="•"/>
            </a:pPr>
            <a:r>
              <a:rPr lang="en-US" dirty="0"/>
              <a:t>In time series data, each instance represents a different time step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Some simple transformations:</a:t>
            </a:r>
          </a:p>
          <a:p>
            <a:pPr lvl="1"/>
            <a:r>
              <a:rPr lang="en-US" dirty="0"/>
              <a:t>Shift values from the past/future</a:t>
            </a:r>
          </a:p>
          <a:p>
            <a:pPr lvl="1"/>
            <a:r>
              <a:rPr lang="en-US" dirty="0"/>
              <a:t>Compute difference (</a:t>
            </a:r>
            <a:r>
              <a:rPr lang="en-US" i="1" dirty="0"/>
              <a:t>delta</a:t>
            </a:r>
            <a:r>
              <a:rPr lang="en-US" dirty="0"/>
              <a:t>) between instances (i.e., “derivative”)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In some datasets, samples are not regular but time is given by </a:t>
            </a:r>
            <a:r>
              <a:rPr lang="en-US" i="1" dirty="0"/>
              <a:t>timestamp </a:t>
            </a:r>
            <a:r>
              <a:rPr lang="en-US" dirty="0"/>
              <a:t>attribute</a:t>
            </a:r>
          </a:p>
          <a:p>
            <a:pPr lvl="1"/>
            <a:r>
              <a:rPr lang="en-US" dirty="0"/>
              <a:t>Need to normalize by step size when transforming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Transformations need to be adapted if attributes represent different time steps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25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493838" y="-179388"/>
            <a:ext cx="7650162" cy="1144588"/>
          </a:xfrm>
        </p:spPr>
        <p:txBody>
          <a:bodyPr/>
          <a:lstStyle/>
          <a:p>
            <a:pPr lvl="0"/>
            <a:r>
              <a:rPr lang="en-US" dirty="0"/>
              <a:t>Sampling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447429" y="1272287"/>
            <a:ext cx="7940475" cy="4331791"/>
          </a:xfrm>
        </p:spPr>
        <p:txBody>
          <a:bodyPr>
            <a:normAutofit/>
          </a:bodyPr>
          <a:lstStyle/>
          <a:p>
            <a:pPr marL="457200" lvl="0" indent="-457200">
              <a:buFont typeface="Arial"/>
              <a:buChar char="•"/>
            </a:pPr>
            <a:r>
              <a:rPr lang="en-US" dirty="0"/>
              <a:t>Sampling is typically a simple procedure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What if training instances arrive one by one but we don't know the total number in advance?</a:t>
            </a:r>
          </a:p>
          <a:p>
            <a:pPr lvl="1"/>
            <a:r>
              <a:rPr lang="en-US" dirty="0"/>
              <a:t>Or perhaps there are so many that it is impractical to store them all before sampling?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Is it possible to produce a uniformly random sample of a fixed size? Yes.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Algorithm:</a:t>
            </a:r>
            <a:r>
              <a:rPr lang="en-US" i="1" dirty="0"/>
              <a:t> Reservoir sampling</a:t>
            </a:r>
          </a:p>
          <a:p>
            <a:pPr lvl="1"/>
            <a:r>
              <a:rPr lang="en-US" dirty="0"/>
              <a:t>Fill the reservoir, of size </a:t>
            </a:r>
            <a:r>
              <a:rPr lang="en-US" i="1" dirty="0"/>
              <a:t>r</a:t>
            </a:r>
            <a:r>
              <a:rPr lang="en-US" dirty="0"/>
              <a:t>, with the first </a:t>
            </a:r>
            <a:r>
              <a:rPr lang="en-US" i="1" dirty="0"/>
              <a:t>r</a:t>
            </a:r>
            <a:r>
              <a:rPr lang="en-US" dirty="0"/>
              <a:t> instances to arrive</a:t>
            </a:r>
          </a:p>
          <a:p>
            <a:pPr lvl="1"/>
            <a:r>
              <a:rPr lang="en-US" dirty="0"/>
              <a:t>Subsequent, instances replace a randomly selected reservoir element with probability </a:t>
            </a:r>
            <a:r>
              <a:rPr lang="en-US" i="1" dirty="0"/>
              <a:t>r</a:t>
            </a:r>
            <a:r>
              <a:rPr lang="en-US" dirty="0"/>
              <a:t>/</a:t>
            </a:r>
            <a:r>
              <a:rPr lang="en-US" i="1" dirty="0" err="1"/>
              <a:t>i</a:t>
            </a:r>
            <a:r>
              <a:rPr lang="en-US" dirty="0"/>
              <a:t>, where </a:t>
            </a:r>
            <a:r>
              <a:rPr lang="en-US" i="1" dirty="0" err="1"/>
              <a:t>i</a:t>
            </a:r>
            <a:r>
              <a:rPr lang="en-US" dirty="0"/>
              <a:t> is the number of instances seen so far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utomatic data clean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/>
              <a:t>Automatic data cleansing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To (potentially) improve a decision tree:</a:t>
            </a:r>
          </a:p>
          <a:p>
            <a:pPr lvl="1"/>
            <a:r>
              <a:rPr lang="en-CA" dirty="0"/>
              <a:t>Remove misclassified instances, then re-learn!</a:t>
            </a:r>
          </a:p>
          <a:p>
            <a:r>
              <a:rPr lang="en-CA" dirty="0"/>
              <a:t>Better (of course!):</a:t>
            </a:r>
          </a:p>
          <a:p>
            <a:pPr lvl="1"/>
            <a:r>
              <a:rPr lang="en-CA" dirty="0"/>
              <a:t>Human expert checks misclassified instances</a:t>
            </a:r>
          </a:p>
          <a:p>
            <a:r>
              <a:rPr lang="en-CA" dirty="0"/>
              <a:t>Attribute noise vs. class noise</a:t>
            </a:r>
          </a:p>
          <a:p>
            <a:pPr lvl="1"/>
            <a:r>
              <a:rPr lang="en-CA" dirty="0"/>
              <a:t>Attribute noise should be left in the training set</a:t>
            </a:r>
            <a:br>
              <a:rPr lang="en-CA" dirty="0"/>
            </a:br>
            <a:r>
              <a:rPr lang="en-CA" dirty="0"/>
              <a:t>(i.e., do not train on clean set and test on dirty one)</a:t>
            </a:r>
          </a:p>
          <a:p>
            <a:pPr lvl="1"/>
            <a:r>
              <a:rPr lang="en-CA" dirty="0"/>
              <a:t>Systematic class noise (e.g., one class substituted for another): leave in training set</a:t>
            </a:r>
          </a:p>
          <a:p>
            <a:pPr lvl="1"/>
            <a:r>
              <a:rPr lang="en-CA" dirty="0"/>
              <a:t>Unsystematic class noise: eliminate from training set, if possible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26</a:t>
            </a:fld>
            <a:endParaRPr lang="en-NZ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obust regres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/>
              <a:t>Robust regression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>
          <a:xfrm>
            <a:off x="628650" y="1215407"/>
            <a:ext cx="7292861" cy="4961556"/>
          </a:xfrm>
        </p:spPr>
        <p:txBody>
          <a:bodyPr/>
          <a:lstStyle/>
          <a:p>
            <a:r>
              <a:rPr lang="en-CA" dirty="0"/>
              <a:t>“Robust” statistical method =&gt; one that addresses problem of outliers</a:t>
            </a:r>
          </a:p>
          <a:p>
            <a:r>
              <a:rPr lang="en-CA" dirty="0"/>
              <a:t>Possible ways to make regression more robust:</a:t>
            </a:r>
          </a:p>
          <a:p>
            <a:pPr lvl="1"/>
            <a:r>
              <a:rPr lang="en-CA" dirty="0"/>
              <a:t>Minimize absolute error, not squared error </a:t>
            </a:r>
          </a:p>
          <a:p>
            <a:pPr lvl="1"/>
            <a:r>
              <a:rPr lang="en-CA" dirty="0"/>
              <a:t>Remove outliers (e.g.,  10% of points farthest from the regression plane)</a:t>
            </a:r>
          </a:p>
          <a:p>
            <a:pPr lvl="1"/>
            <a:r>
              <a:rPr lang="en-CA" dirty="0"/>
              <a:t>Minimize median instead of mean of squares (copes with outliers in x and y direction)</a:t>
            </a:r>
          </a:p>
          <a:p>
            <a:r>
              <a:rPr lang="en-CA" i="1" dirty="0"/>
              <a:t>Least median of squares regression </a:t>
            </a:r>
            <a:r>
              <a:rPr lang="en-CA" dirty="0"/>
              <a:t>finds the narrowest strip covering half the observations</a:t>
            </a:r>
          </a:p>
          <a:p>
            <a:pPr lvl="1"/>
            <a:r>
              <a:rPr lang="en-CA" dirty="0"/>
              <a:t>Expensive to compute</a:t>
            </a:r>
          </a:p>
          <a:p>
            <a:endParaRPr lang="en-CA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27</a:t>
            </a:fld>
            <a:endParaRPr lang="en-NZ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xample: least median of squa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28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600200" y="-77788"/>
            <a:ext cx="7543800" cy="977901"/>
          </a:xfrm>
        </p:spPr>
        <p:txBody>
          <a:bodyPr wrap="square" lIns="90360" tIns="44280" rIns="90360" bIns="44280" anchorCtr="0"/>
          <a:lstStyle/>
          <a:p>
            <a:pPr lvl="0"/>
            <a:r>
              <a:rPr lang="en-US" sz="3600" dirty="0"/>
              <a:t>Example: least median of squares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1890720" y="2120040"/>
            <a:ext cx="6400799" cy="39258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/>
          <p:cNvSpPr txBox="1"/>
          <p:nvPr/>
        </p:nvSpPr>
        <p:spPr>
          <a:xfrm>
            <a:off x="900000" y="1080000"/>
            <a:ext cx="7238880" cy="828089"/>
          </a:xfrm>
          <a:prstGeom prst="rect">
            <a:avLst/>
          </a:prstGeom>
          <a:noFill/>
          <a:ln>
            <a:noFill/>
          </a:ln>
        </p:spPr>
        <p:txBody>
          <a:bodyPr vert="horz" wrap="square" lIns="90360" tIns="44280" rIns="90360" bIns="44280" anchor="t" anchorCtr="0" compatLnSpc="0">
            <a:spAutoFit/>
          </a:bodyPr>
          <a:lstStyle/>
          <a:p>
            <a:pPr marL="0" marR="0" lvl="0" indent="0" algn="l" rtl="0" hangingPunct="0">
              <a:lnSpc>
                <a:spcPct val="100000"/>
              </a:lnSpc>
              <a:spcBef>
                <a:spcPts val="598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Number of international phone calls from Belgium, 1950</a:t>
            </a: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Tahoma" pitchFamily="2"/>
                <a:cs typeface="Tahoma" pitchFamily="2"/>
              </a:rPr>
              <a:t>–1973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etecting anomal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/>
              <a:t>Detecting anomalies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Visualization can help to detect anomalies</a:t>
            </a:r>
          </a:p>
          <a:p>
            <a:r>
              <a:rPr lang="en-CA" dirty="0"/>
              <a:t>Automatic approach: apply committee of different learning schemes, e.g.,</a:t>
            </a:r>
          </a:p>
          <a:p>
            <a:pPr lvl="1"/>
            <a:r>
              <a:rPr lang="en-CA" dirty="0"/>
              <a:t>decision tree</a:t>
            </a:r>
          </a:p>
          <a:p>
            <a:pPr lvl="1"/>
            <a:r>
              <a:rPr lang="en-CA" dirty="0"/>
              <a:t>nearest-</a:t>
            </a:r>
            <a:r>
              <a:rPr lang="en-CA" dirty="0" err="1"/>
              <a:t>neighbor</a:t>
            </a:r>
            <a:r>
              <a:rPr lang="en-CA" dirty="0"/>
              <a:t> learner</a:t>
            </a:r>
          </a:p>
          <a:p>
            <a:pPr lvl="1"/>
            <a:r>
              <a:rPr lang="en-CA" dirty="0"/>
              <a:t>linear discriminant function</a:t>
            </a:r>
          </a:p>
          <a:p>
            <a:r>
              <a:rPr lang="en-CA" dirty="0"/>
              <a:t>Conservative </a:t>
            </a:r>
            <a:r>
              <a:rPr lang="en-CA" i="1" dirty="0"/>
              <a:t>consensus </a:t>
            </a:r>
            <a:r>
              <a:rPr lang="en-CA" dirty="0"/>
              <a:t>approach: delete instances incorrectly classified by all of them</a:t>
            </a:r>
          </a:p>
          <a:p>
            <a:pPr lvl="1"/>
            <a:r>
              <a:rPr lang="en-CA" dirty="0"/>
              <a:t>Problem: might sacrifice instances of small classes</a:t>
            </a:r>
          </a:p>
          <a:p>
            <a:endParaRPr lang="en-CA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29</a:t>
            </a:fld>
            <a:endParaRPr lang="en-NZ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30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493838" y="-179388"/>
            <a:ext cx="7650162" cy="1144588"/>
          </a:xfrm>
        </p:spPr>
        <p:txBody>
          <a:bodyPr/>
          <a:lstStyle/>
          <a:p>
            <a:pPr lvl="0"/>
            <a:r>
              <a:rPr lang="en-US" dirty="0"/>
              <a:t>One-Class Learning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663518" y="1334708"/>
            <a:ext cx="7946821" cy="4491811"/>
          </a:xfrm>
        </p:spPr>
        <p:txBody>
          <a:bodyPr>
            <a:normAutofit/>
          </a:bodyPr>
          <a:lstStyle/>
          <a:p>
            <a:pPr marL="457200" lvl="0" indent="-457200">
              <a:buFont typeface="Arial"/>
              <a:buChar char="•"/>
            </a:pPr>
            <a:r>
              <a:rPr lang="en-US" dirty="0"/>
              <a:t>Usually training data is available for all classes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Some problems exhibit only a single class at training time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Test instances may belong to this class or a new class not present at training time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This the problem of </a:t>
            </a:r>
            <a:r>
              <a:rPr lang="en-US" i="1" dirty="0"/>
              <a:t>one-class classification</a:t>
            </a:r>
          </a:p>
          <a:p>
            <a:pPr marL="457200" lvl="0" indent="-457200">
              <a:buFont typeface="Arial"/>
              <a:buChar char="•"/>
            </a:pPr>
            <a:r>
              <a:rPr lang="en-US" sz="2400" dirty="0"/>
              <a:t>Predict either </a:t>
            </a:r>
            <a:r>
              <a:rPr lang="en-US" sz="2400" i="1" dirty="0"/>
              <a:t>target</a:t>
            </a:r>
            <a:r>
              <a:rPr lang="en-US" sz="2400" dirty="0"/>
              <a:t> or </a:t>
            </a:r>
            <a:r>
              <a:rPr lang="en-US" sz="2400" i="1" dirty="0"/>
              <a:t>unknown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Note that, in practice, some one-class problems can be re-formulated into two-class ones by collecting negative data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Other applications truly do not have negative data, </a:t>
            </a:r>
            <a:r>
              <a:rPr lang="en-US" sz="2400" dirty="0"/>
              <a:t>e.g., password hardening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31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686192" y="-179388"/>
            <a:ext cx="5675648" cy="1144588"/>
          </a:xfrm>
        </p:spPr>
        <p:txBody>
          <a:bodyPr/>
          <a:lstStyle/>
          <a:p>
            <a:pPr lvl="0"/>
            <a:r>
              <a:rPr lang="en-US" dirty="0"/>
              <a:t>Outlier detection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914400" y="1314450"/>
            <a:ext cx="7600950" cy="4533900"/>
          </a:xfrm>
        </p:spPr>
        <p:txBody>
          <a:bodyPr>
            <a:normAutofit/>
          </a:bodyPr>
          <a:lstStyle/>
          <a:p>
            <a:pPr marL="457200" lvl="0" indent="-457200">
              <a:buFont typeface="Arial"/>
              <a:buChar char="•"/>
            </a:pPr>
            <a:r>
              <a:rPr lang="en-US" dirty="0"/>
              <a:t>One-class classification is often used for </a:t>
            </a:r>
            <a:r>
              <a:rPr lang="en-US" i="1" dirty="0"/>
              <a:t>outlier/anomaly/novelty</a:t>
            </a:r>
            <a:r>
              <a:rPr lang="en-US" dirty="0"/>
              <a:t> detection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First, a one-class models is built from the dataset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Then, outliers are defined as instances that are classified as </a:t>
            </a:r>
            <a:r>
              <a:rPr lang="en-US" i="1" dirty="0"/>
              <a:t>unknown</a:t>
            </a:r>
            <a:endParaRPr lang="en-US" dirty="0"/>
          </a:p>
          <a:p>
            <a:pPr marL="457200" lvl="0" indent="-457200">
              <a:buFont typeface="Arial"/>
              <a:buChar char="•"/>
            </a:pPr>
            <a:r>
              <a:rPr lang="en-US" dirty="0"/>
              <a:t>Another method: identify outliers as instances that lie beyond distance </a:t>
            </a:r>
            <a:r>
              <a:rPr lang="en-US" i="1" dirty="0"/>
              <a:t>d</a:t>
            </a:r>
            <a:r>
              <a:rPr lang="en-US" dirty="0"/>
              <a:t> from percentage </a:t>
            </a:r>
            <a:r>
              <a:rPr lang="en-US" i="1" dirty="0"/>
              <a:t>p</a:t>
            </a:r>
            <a:r>
              <a:rPr lang="en-US" dirty="0"/>
              <a:t> of training data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Density estimation is a very useful approach for one-class classification and outlier detection</a:t>
            </a:r>
          </a:p>
          <a:p>
            <a:pPr marL="800100" lvl="1" indent="-457200">
              <a:buFont typeface="Arial"/>
              <a:buChar char="•"/>
            </a:pPr>
            <a:r>
              <a:rPr lang="en-US" dirty="0"/>
              <a:t>Estimate density of the target class and mark low probability test instances as outliers</a:t>
            </a:r>
          </a:p>
          <a:p>
            <a:pPr marL="800100" lvl="1" indent="-457200">
              <a:buFont typeface="Arial"/>
              <a:buChar char="•"/>
            </a:pPr>
            <a:r>
              <a:rPr lang="en-US" dirty="0"/>
              <a:t>Threshold can be adjusted to calibrate sensitivity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32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258310" y="-146050"/>
            <a:ext cx="8789721" cy="1144588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Using artificial data for one-class classification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555636" y="1149858"/>
            <a:ext cx="7896846" cy="5580062"/>
          </a:xfrm>
        </p:spPr>
        <p:txBody>
          <a:bodyPr>
            <a:normAutofit/>
          </a:bodyPr>
          <a:lstStyle/>
          <a:p>
            <a:pPr lvl="0"/>
            <a:r>
              <a:rPr lang="en-US" sz="2600" dirty="0"/>
              <a:t>Can we apply standard multi-class techniques to obtain one-class classifiers?</a:t>
            </a:r>
          </a:p>
          <a:p>
            <a:pPr lvl="0"/>
            <a:r>
              <a:rPr lang="en-US" sz="2600" dirty="0"/>
              <a:t>Yes: generate artificial data to represent the unknown non-target class</a:t>
            </a:r>
          </a:p>
          <a:p>
            <a:pPr lvl="1"/>
            <a:r>
              <a:rPr lang="en-US" dirty="0"/>
              <a:t>Can then apply any off-the-shelf multi-class classifier</a:t>
            </a:r>
          </a:p>
          <a:p>
            <a:pPr lvl="1"/>
            <a:r>
              <a:rPr lang="en-US" dirty="0"/>
              <a:t>Can tune rejection rate threshold if classifier produces probability estimates</a:t>
            </a:r>
          </a:p>
          <a:p>
            <a:r>
              <a:rPr lang="en-US" dirty="0"/>
              <a:t>Too much artificial data will overwhelm the target class!</a:t>
            </a:r>
          </a:p>
          <a:p>
            <a:pPr lvl="1"/>
            <a:r>
              <a:rPr lang="en-US" dirty="0"/>
              <a:t>But: unproblematic if multi-class classifier produces accurate class probabilities and is not focused on misclassification error</a:t>
            </a:r>
          </a:p>
          <a:p>
            <a:r>
              <a:rPr lang="en-US" dirty="0"/>
              <a:t>Generate uniformly random data?</a:t>
            </a:r>
          </a:p>
          <a:p>
            <a:pPr lvl="1"/>
            <a:r>
              <a:rPr lang="en-US" dirty="0"/>
              <a:t>Curse of dimensionality – as # attributes increases it becomes infeasible to generate enough data to get good coverage of the space</a:t>
            </a:r>
            <a:endParaRPr lang="en-US" sz="2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33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493838" y="-179388"/>
            <a:ext cx="7650162" cy="1144588"/>
          </a:xfrm>
        </p:spPr>
        <p:txBody>
          <a:bodyPr/>
          <a:lstStyle/>
          <a:p>
            <a:pPr lvl="0"/>
            <a:r>
              <a:rPr lang="en-US" dirty="0"/>
              <a:t>Generating artificial data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323850" y="971484"/>
            <a:ext cx="8573500" cy="5580063"/>
          </a:xfrm>
        </p:spPr>
        <p:txBody>
          <a:bodyPr>
            <a:normAutofit lnSpcReduction="10000"/>
          </a:bodyPr>
          <a:lstStyle/>
          <a:p>
            <a:pPr marL="457200" lvl="0" indent="-457200">
              <a:buFont typeface="Arial"/>
              <a:buChar char="•"/>
            </a:pPr>
            <a:r>
              <a:rPr lang="en-US" dirty="0"/>
              <a:t>Idea: generate data that is </a:t>
            </a:r>
            <a:r>
              <a:rPr lang="en-US" i="1" dirty="0"/>
              <a:t>close</a:t>
            </a:r>
            <a:r>
              <a:rPr lang="en-US" dirty="0"/>
              <a:t> to the target class</a:t>
            </a:r>
          </a:p>
          <a:p>
            <a:pPr marL="457200" lvl="0" indent="-457200">
              <a:buFont typeface="Arial"/>
              <a:buChar char="•"/>
            </a:pPr>
            <a:r>
              <a:rPr lang="en-US" i="1" dirty="0"/>
              <a:t>T</a:t>
            </a:r>
            <a:r>
              <a:rPr lang="en-US" dirty="0"/>
              <a:t> – target class, </a:t>
            </a:r>
            <a:r>
              <a:rPr lang="en-US" i="1" dirty="0"/>
              <a:t>A – </a:t>
            </a:r>
            <a:r>
              <a:rPr lang="en-US" dirty="0"/>
              <a:t>artificial class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Generate artificial data using appropriate distribution </a:t>
            </a:r>
            <a:r>
              <a:rPr lang="en-US" i="1" dirty="0"/>
              <a:t>P</a:t>
            </a:r>
            <a:r>
              <a:rPr lang="en-US" dirty="0"/>
              <a:t>(</a:t>
            </a:r>
            <a:r>
              <a:rPr lang="en-US" i="1" dirty="0"/>
              <a:t>X</a:t>
            </a:r>
            <a:r>
              <a:rPr lang="en-US" dirty="0"/>
              <a:t> | </a:t>
            </a:r>
            <a:r>
              <a:rPr lang="en-US" i="1" dirty="0"/>
              <a:t>A</a:t>
            </a:r>
            <a:r>
              <a:rPr lang="en-US" dirty="0"/>
              <a:t>)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Data no longer uniformly distributed -&gt; </a:t>
            </a:r>
            <a:br>
              <a:rPr lang="en-US" dirty="0"/>
            </a:br>
            <a:r>
              <a:rPr lang="en-US" dirty="0"/>
              <a:t>must take this distribution into account when computing membership scores for the one-class model</a:t>
            </a:r>
          </a:p>
          <a:p>
            <a:pPr marL="457200" lvl="0" indent="-457200">
              <a:buFont typeface="Arial"/>
              <a:buChar char="•"/>
            </a:pPr>
            <a:r>
              <a:rPr lang="en-US" sz="2400" dirty="0"/>
              <a:t>Want </a:t>
            </a:r>
            <a:r>
              <a:rPr lang="en-US" i="1" dirty="0"/>
              <a:t>P</a:t>
            </a:r>
            <a:r>
              <a:rPr lang="en-US" sz="2400" dirty="0"/>
              <a:t>(</a:t>
            </a:r>
            <a:r>
              <a:rPr lang="en-US" sz="2400" i="1" dirty="0"/>
              <a:t>X </a:t>
            </a:r>
            <a:r>
              <a:rPr lang="en-US" sz="2400" dirty="0"/>
              <a:t>| </a:t>
            </a:r>
            <a:r>
              <a:rPr lang="en-US" sz="2400" i="1" dirty="0"/>
              <a:t>T</a:t>
            </a:r>
            <a:r>
              <a:rPr lang="en-US" dirty="0"/>
              <a:t>)</a:t>
            </a:r>
            <a:r>
              <a:rPr lang="en-US" sz="2400" dirty="0"/>
              <a:t>, for any  instance </a:t>
            </a:r>
            <a:r>
              <a:rPr lang="en-US" sz="2400" i="1" dirty="0"/>
              <a:t>X</a:t>
            </a:r>
            <a:r>
              <a:rPr lang="en-US" sz="2400" dirty="0"/>
              <a:t>; we know P(</a:t>
            </a:r>
            <a:r>
              <a:rPr lang="en-US" sz="2400" i="1" dirty="0"/>
              <a:t>X</a:t>
            </a:r>
            <a:r>
              <a:rPr lang="en-US" sz="2400" dirty="0"/>
              <a:t> | </a:t>
            </a:r>
            <a:r>
              <a:rPr lang="en-US" sz="2400" i="1" dirty="0"/>
              <a:t>A</a:t>
            </a:r>
            <a:r>
              <a:rPr lang="en-US" dirty="0"/>
              <a:t>)</a:t>
            </a:r>
          </a:p>
          <a:p>
            <a:pPr marL="457200" lvl="0" indent="-457200">
              <a:buFont typeface="Arial"/>
              <a:buChar char="•"/>
            </a:pPr>
            <a:r>
              <a:rPr lang="en-US" sz="2400" dirty="0"/>
              <a:t>Train probability estimator </a:t>
            </a:r>
            <a:r>
              <a:rPr lang="en-US" sz="2400" i="1" dirty="0"/>
              <a:t>P</a:t>
            </a:r>
            <a:r>
              <a:rPr lang="en-US" sz="2400" dirty="0"/>
              <a:t>(</a:t>
            </a:r>
            <a:r>
              <a:rPr lang="en-US" sz="2400" i="1" dirty="0"/>
              <a:t>T</a:t>
            </a:r>
            <a:r>
              <a:rPr lang="en-US" sz="2400" dirty="0"/>
              <a:t> | </a:t>
            </a:r>
            <a:r>
              <a:rPr lang="en-US" sz="2400" i="1" dirty="0"/>
              <a:t>X</a:t>
            </a:r>
            <a:r>
              <a:rPr lang="en-US" sz="2400" dirty="0"/>
              <a:t>) on two classes </a:t>
            </a:r>
            <a:r>
              <a:rPr lang="en-US" sz="2400" i="1" dirty="0"/>
              <a:t>T</a:t>
            </a:r>
            <a:r>
              <a:rPr lang="en-US" sz="2400" dirty="0"/>
              <a:t> and </a:t>
            </a:r>
            <a:r>
              <a:rPr lang="en-US" sz="2400" i="1" dirty="0"/>
              <a:t>A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Then, rewrite </a:t>
            </a:r>
            <a:r>
              <a:rPr lang="en-US" sz="2400" dirty="0"/>
              <a:t>Bayes' rule:</a:t>
            </a:r>
          </a:p>
          <a:p>
            <a:pPr marL="342900" lvl="0" indent="-342900">
              <a:buFont typeface="Arial"/>
              <a:buChar char="•"/>
            </a:pPr>
            <a:endParaRPr lang="en-US" sz="2400" dirty="0"/>
          </a:p>
          <a:p>
            <a:pPr marL="342900" lvl="0" indent="-342900">
              <a:buFont typeface="Arial"/>
              <a:buChar char="•"/>
            </a:pPr>
            <a:endParaRPr lang="en-US" sz="2400" dirty="0"/>
          </a:p>
          <a:p>
            <a:pPr marL="342900" lvl="0" indent="-342900">
              <a:buFont typeface="Arial"/>
              <a:buChar char="•"/>
            </a:pPr>
            <a:r>
              <a:rPr lang="en-US" sz="2400" dirty="0"/>
              <a:t>For classification, choose a threshold to tune rejection rate</a:t>
            </a:r>
          </a:p>
          <a:p>
            <a:pPr marL="342900" lvl="0" indent="-342900">
              <a:buFont typeface="Arial"/>
              <a:buChar char="•"/>
            </a:pPr>
            <a:r>
              <a:rPr lang="en-US" sz="2400" dirty="0"/>
              <a:t>How to choose P(</a:t>
            </a:r>
            <a:r>
              <a:rPr lang="en-US" sz="2400" i="1" dirty="0"/>
              <a:t>X</a:t>
            </a:r>
            <a:r>
              <a:rPr lang="en-US" sz="2400" dirty="0"/>
              <a:t> | </a:t>
            </a:r>
            <a:r>
              <a:rPr lang="en-US" sz="2400" i="1" dirty="0"/>
              <a:t>A</a:t>
            </a:r>
            <a:r>
              <a:rPr lang="en-US" dirty="0"/>
              <a:t>)</a:t>
            </a:r>
            <a:r>
              <a:rPr lang="en-US" sz="2400" dirty="0"/>
              <a:t>? Apply a density estimator to the target class and use resulting function to model the artificial class</a:t>
            </a:r>
          </a:p>
          <a:p>
            <a:pPr lvl="0"/>
            <a:endParaRPr lang="en-US" sz="2600" dirty="0"/>
          </a:p>
        </p:txBody>
      </p:sp>
      <p:graphicFrame>
        <p:nvGraphicFramePr>
          <p:cNvPr id="7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80814886"/>
              </p:ext>
            </p:extLst>
          </p:nvPr>
        </p:nvGraphicFramePr>
        <p:xfrm>
          <a:off x="3372533" y="4148122"/>
          <a:ext cx="4902200" cy="838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451100" imgH="419100" progId="Equation.3">
                  <p:embed/>
                </p:oleObj>
              </mc:Choice>
              <mc:Fallback>
                <p:oleObj name="Equation" r:id="rId3" imgW="2451100" imgH="4191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372533" y="4148122"/>
                        <a:ext cx="4902200" cy="838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err="1"/>
              <a:t>Weka</a:t>
            </a:r>
            <a:r>
              <a:rPr lang="en-CA" dirty="0"/>
              <a:t> implementations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063" y="1215407"/>
            <a:ext cx="8395080" cy="4961556"/>
          </a:xfrm>
        </p:spPr>
        <p:txBody>
          <a:bodyPr>
            <a:normAutofit/>
          </a:bodyPr>
          <a:lstStyle/>
          <a:p>
            <a:r>
              <a:rPr lang="en-US" dirty="0"/>
              <a:t>Attribute selection</a:t>
            </a:r>
            <a:endParaRPr lang="en-CA" dirty="0"/>
          </a:p>
          <a:p>
            <a:pPr lvl="1"/>
            <a:r>
              <a:rPr lang="en-US" sz="1900" dirty="0" err="1"/>
              <a:t>CfsSubsetEval</a:t>
            </a:r>
            <a:r>
              <a:rPr lang="en-US" sz="1900" dirty="0"/>
              <a:t> (correlation-based attribute subset evaluator)</a:t>
            </a:r>
            <a:endParaRPr lang="en-CA" sz="1900" dirty="0"/>
          </a:p>
          <a:p>
            <a:pPr lvl="1"/>
            <a:r>
              <a:rPr lang="en-US" sz="1900" dirty="0" err="1"/>
              <a:t>ConsistencySubsetEval</a:t>
            </a:r>
            <a:r>
              <a:rPr lang="en-US" sz="1900" dirty="0"/>
              <a:t> (measures class consistency for a given set of attributes, in the </a:t>
            </a:r>
            <a:r>
              <a:rPr lang="en-US" sz="1900" dirty="0" err="1"/>
              <a:t>consistencySubsetEval</a:t>
            </a:r>
            <a:r>
              <a:rPr lang="en-US" sz="1900" dirty="0"/>
              <a:t> package)</a:t>
            </a:r>
            <a:endParaRPr lang="en-CA" sz="1900" dirty="0"/>
          </a:p>
          <a:p>
            <a:pPr lvl="1"/>
            <a:r>
              <a:rPr lang="en-US" sz="1900" dirty="0" err="1"/>
              <a:t>ClassifierSubsetEval</a:t>
            </a:r>
            <a:r>
              <a:rPr lang="en-US" sz="1900" dirty="0"/>
              <a:t> (uses a classifier for evaluating subsets of attributes, in the </a:t>
            </a:r>
            <a:r>
              <a:rPr lang="en-US" sz="1900" dirty="0" err="1"/>
              <a:t>classifierBasedAttributeSelection</a:t>
            </a:r>
            <a:r>
              <a:rPr lang="en-US" sz="1900" dirty="0"/>
              <a:t> package)</a:t>
            </a:r>
            <a:endParaRPr lang="en-CA" sz="1900" dirty="0"/>
          </a:p>
          <a:p>
            <a:pPr lvl="1"/>
            <a:r>
              <a:rPr lang="en-US" sz="1900" dirty="0" err="1"/>
              <a:t>SVMAttributeEval</a:t>
            </a:r>
            <a:r>
              <a:rPr lang="en-US" sz="1900" dirty="0"/>
              <a:t> (ranks attributes according to the magnitude of the coefficients learned by an SVM, in the </a:t>
            </a:r>
            <a:r>
              <a:rPr lang="en-US" sz="1900" dirty="0" err="1"/>
              <a:t>SVMAttributeEval</a:t>
            </a:r>
            <a:r>
              <a:rPr lang="en-US" sz="1900" dirty="0"/>
              <a:t> package)</a:t>
            </a:r>
          </a:p>
          <a:p>
            <a:pPr lvl="1"/>
            <a:r>
              <a:rPr lang="en-US" sz="1900" dirty="0" err="1"/>
              <a:t>ReliefF</a:t>
            </a:r>
            <a:r>
              <a:rPr lang="en-US" sz="1900" dirty="0"/>
              <a:t> (instance-based approach for ranking attributes)</a:t>
            </a:r>
          </a:p>
          <a:p>
            <a:pPr lvl="1"/>
            <a:r>
              <a:rPr lang="en-US" sz="1900" dirty="0" err="1"/>
              <a:t>WrapperSubsetEval</a:t>
            </a:r>
            <a:r>
              <a:rPr lang="en-US" sz="1900" dirty="0"/>
              <a:t> (uses a classifier plus cross-validation)</a:t>
            </a:r>
            <a:endParaRPr lang="en-CA" sz="1900" dirty="0"/>
          </a:p>
          <a:p>
            <a:pPr lvl="1"/>
            <a:r>
              <a:rPr lang="en-US" sz="1900" dirty="0" err="1"/>
              <a:t>GreedyStepwise</a:t>
            </a:r>
            <a:r>
              <a:rPr lang="en-US" sz="1900" dirty="0"/>
              <a:t> (forward selection and backward elimination search)</a:t>
            </a:r>
            <a:endParaRPr lang="en-CA" sz="1900" dirty="0"/>
          </a:p>
          <a:p>
            <a:pPr lvl="1"/>
            <a:r>
              <a:rPr lang="en-US" sz="1900" dirty="0" err="1"/>
              <a:t>LinearForwardSelection</a:t>
            </a:r>
            <a:r>
              <a:rPr lang="en-US" sz="1900" dirty="0"/>
              <a:t> (forward selection with a sliding window of attribute choices at each step of the search, in the </a:t>
            </a:r>
            <a:r>
              <a:rPr lang="en-US" sz="1900" dirty="0" err="1"/>
              <a:t>linearForwardSelection</a:t>
            </a:r>
            <a:r>
              <a:rPr lang="en-US" sz="1900" dirty="0"/>
              <a:t> package)</a:t>
            </a:r>
            <a:endParaRPr lang="en-CA" sz="1900" dirty="0"/>
          </a:p>
          <a:p>
            <a:pPr lvl="1"/>
            <a:r>
              <a:rPr lang="en-US" sz="1900" dirty="0" err="1"/>
              <a:t>BestFirst</a:t>
            </a:r>
            <a:r>
              <a:rPr lang="en-US" sz="1900" dirty="0"/>
              <a:t> (search method that uses greedy hill-climbing with backtracking)</a:t>
            </a:r>
            <a:endParaRPr lang="en-CA" sz="1900" dirty="0"/>
          </a:p>
          <a:p>
            <a:pPr lvl="1"/>
            <a:r>
              <a:rPr lang="en-US" sz="1900" dirty="0" err="1"/>
              <a:t>RaceSearch</a:t>
            </a:r>
            <a:r>
              <a:rPr lang="en-US" sz="1900" dirty="0"/>
              <a:t> (uses the race search methodology, in the </a:t>
            </a:r>
            <a:r>
              <a:rPr lang="en-US" sz="1900" dirty="0" err="1"/>
              <a:t>raceSearch</a:t>
            </a:r>
            <a:r>
              <a:rPr lang="en-US" sz="1900" dirty="0"/>
              <a:t> package)</a:t>
            </a:r>
            <a:endParaRPr lang="en-CA" sz="1900" dirty="0"/>
          </a:p>
          <a:p>
            <a:pPr lvl="1"/>
            <a:r>
              <a:rPr lang="en-US" sz="1900" dirty="0"/>
              <a:t>Ranker (ranks individual attributes according to their evaluation)</a:t>
            </a:r>
            <a:endParaRPr lang="en-CA" sz="19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34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44083186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err="1"/>
              <a:t>Weka</a:t>
            </a:r>
            <a:r>
              <a:rPr lang="en-CA" dirty="0"/>
              <a:t> implementations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600" dirty="0"/>
              <a:t>Learning decision tables: </a:t>
            </a:r>
            <a:r>
              <a:rPr lang="en-US" sz="2600" dirty="0" err="1"/>
              <a:t>DecisionTable</a:t>
            </a:r>
            <a:endParaRPr lang="en-CA" sz="2600" dirty="0"/>
          </a:p>
          <a:p>
            <a:r>
              <a:rPr lang="en-US" dirty="0"/>
              <a:t>Discretization</a:t>
            </a:r>
            <a:endParaRPr lang="en-CA" dirty="0"/>
          </a:p>
          <a:p>
            <a:pPr lvl="1"/>
            <a:r>
              <a:rPr lang="en-US" dirty="0"/>
              <a:t>Discretize (unsupervised and supervised versions)</a:t>
            </a:r>
            <a:endParaRPr lang="en-CA" dirty="0"/>
          </a:p>
          <a:p>
            <a:pPr lvl="1"/>
            <a:r>
              <a:rPr lang="en-US" dirty="0" err="1"/>
              <a:t>PKIDiscretize</a:t>
            </a:r>
            <a:r>
              <a:rPr lang="en-US" dirty="0"/>
              <a:t> (proportional k-interval discretization)</a:t>
            </a:r>
            <a:endParaRPr lang="en-CA" dirty="0"/>
          </a:p>
          <a:p>
            <a:pPr lvl="0"/>
            <a:r>
              <a:rPr lang="en-US" dirty="0" err="1"/>
              <a:t>PrincipalComponents</a:t>
            </a:r>
            <a:r>
              <a:rPr lang="en-US" dirty="0"/>
              <a:t> and </a:t>
            </a:r>
            <a:r>
              <a:rPr lang="en-US" dirty="0" err="1"/>
              <a:t>RandomProjection</a:t>
            </a:r>
            <a:r>
              <a:rPr lang="en-US" dirty="0"/>
              <a:t> </a:t>
            </a:r>
          </a:p>
          <a:p>
            <a:pPr lvl="0"/>
            <a:r>
              <a:rPr lang="en-US" dirty="0" err="1"/>
              <a:t>FastICA</a:t>
            </a:r>
            <a:r>
              <a:rPr lang="en-US" dirty="0"/>
              <a:t> (independent component analysis, in the </a:t>
            </a:r>
            <a:r>
              <a:rPr lang="en-US" dirty="0" err="1"/>
              <a:t>StudentFilters</a:t>
            </a:r>
            <a:r>
              <a:rPr lang="en-US" dirty="0"/>
              <a:t> package)</a:t>
            </a:r>
            <a:endParaRPr lang="en-CA" dirty="0"/>
          </a:p>
          <a:p>
            <a:pPr lvl="0"/>
            <a:r>
              <a:rPr lang="en-US" dirty="0" err="1"/>
              <a:t>StringToWordVector</a:t>
            </a:r>
            <a:r>
              <a:rPr lang="en-US" dirty="0"/>
              <a:t> (text to attribute vectors)</a:t>
            </a:r>
            <a:endParaRPr lang="en-CA" dirty="0"/>
          </a:p>
          <a:p>
            <a:pPr lvl="0"/>
            <a:r>
              <a:rPr lang="en-US" dirty="0" err="1"/>
              <a:t>PLSFilter</a:t>
            </a:r>
            <a:r>
              <a:rPr lang="en-US" dirty="0"/>
              <a:t> (partial least squares transformation) </a:t>
            </a:r>
            <a:endParaRPr lang="en-CA" dirty="0"/>
          </a:p>
          <a:p>
            <a:pPr lvl="0"/>
            <a:r>
              <a:rPr lang="en-US" dirty="0"/>
              <a:t>Resampling and reservoir sampling</a:t>
            </a:r>
            <a:endParaRPr lang="en-CA" dirty="0"/>
          </a:p>
          <a:p>
            <a:endParaRPr lang="en-CA" dirty="0"/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35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81037343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err="1"/>
              <a:t>Weka</a:t>
            </a:r>
            <a:r>
              <a:rPr lang="en-CA" dirty="0"/>
              <a:t> implementations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 err="1"/>
              <a:t>OneClassClassifier</a:t>
            </a:r>
            <a:endParaRPr lang="en-US" dirty="0"/>
          </a:p>
          <a:p>
            <a:pPr lvl="1"/>
            <a:r>
              <a:rPr lang="en-US" dirty="0"/>
              <a:t>Implements one-class classification using artificial data (available in the </a:t>
            </a:r>
            <a:r>
              <a:rPr lang="en-US" dirty="0" err="1"/>
              <a:t>oneClassClassifier</a:t>
            </a:r>
            <a:r>
              <a:rPr lang="en-US" dirty="0"/>
              <a:t> package) </a:t>
            </a:r>
          </a:p>
          <a:p>
            <a:r>
              <a:rPr lang="en-US" dirty="0"/>
              <a:t>Many other preprocessing tools are available:</a:t>
            </a:r>
          </a:p>
          <a:p>
            <a:pPr lvl="1"/>
            <a:r>
              <a:rPr lang="en-US" dirty="0"/>
              <a:t>Arithmetic operations; time-series operations; obfuscation; generating cluster membership values; adding noise; various conversions between numeric, binary, and nominal attributes; and various data cleansing operations </a:t>
            </a:r>
            <a:endParaRPr lang="en-CA" dirty="0"/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36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9127716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16541</TotalTime>
  <Words>2906</Words>
  <Application>Microsoft Office PowerPoint</Application>
  <PresentationFormat>On-screen Show (4:3)</PresentationFormat>
  <Paragraphs>402</Paragraphs>
  <Slides>36</Slides>
  <Notes>29</Notes>
  <HiddenSlides>0</HiddenSlides>
  <MMClips>0</MMClips>
  <ScaleCrop>false</ScaleCrop>
  <HeadingPairs>
    <vt:vector size="8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7" baseType="lpstr">
      <vt:lpstr>Arial</vt:lpstr>
      <vt:lpstr>Calibri</vt:lpstr>
      <vt:lpstr>Calibri Light</vt:lpstr>
      <vt:lpstr>Gothic</vt:lpstr>
      <vt:lpstr>StarSymbol</vt:lpstr>
      <vt:lpstr>Symbol</vt:lpstr>
      <vt:lpstr>Tahoma</vt:lpstr>
      <vt:lpstr>Times New Roman</vt:lpstr>
      <vt:lpstr>Utopia</vt:lpstr>
      <vt:lpstr>Office Theme</vt:lpstr>
      <vt:lpstr>Equation</vt:lpstr>
      <vt:lpstr>PowerPoint Presentation</vt:lpstr>
      <vt:lpstr>Data transformations</vt:lpstr>
      <vt:lpstr>Just apply a learner? NO!</vt:lpstr>
      <vt:lpstr>Attribute selection</vt:lpstr>
      <vt:lpstr>Scheme-independent attribute selection</vt:lpstr>
      <vt:lpstr>Scheme-independent attribute selection</vt:lpstr>
      <vt:lpstr>Attribute subsets for weather data</vt:lpstr>
      <vt:lpstr>Searching the attribute space</vt:lpstr>
      <vt:lpstr>Scheme-specific selection</vt:lpstr>
      <vt:lpstr>Attribute discretization</vt:lpstr>
      <vt:lpstr>Discretization: unsupervised</vt:lpstr>
      <vt:lpstr>The converse of discretization</vt:lpstr>
      <vt:lpstr>Projections</vt:lpstr>
      <vt:lpstr>Principal component analysis</vt:lpstr>
      <vt:lpstr>Example: 10-dimensional data</vt:lpstr>
      <vt:lpstr>Random projections</vt:lpstr>
      <vt:lpstr>Partial least-squares regression</vt:lpstr>
      <vt:lpstr>An algorithm for PLS</vt:lpstr>
      <vt:lpstr>Independent component analysis (ICA)</vt:lpstr>
      <vt:lpstr>Correlation vs. statistical independence</vt:lpstr>
      <vt:lpstr>ICA and Mutual Information</vt:lpstr>
      <vt:lpstr>ICA &amp; FastICA</vt:lpstr>
      <vt:lpstr>Text to attribute vectors</vt:lpstr>
      <vt:lpstr>Time series</vt:lpstr>
      <vt:lpstr>Sampling</vt:lpstr>
      <vt:lpstr>Automatic data cleansing</vt:lpstr>
      <vt:lpstr>Robust regression</vt:lpstr>
      <vt:lpstr>Example: least median of squares</vt:lpstr>
      <vt:lpstr>Detecting anomalies</vt:lpstr>
      <vt:lpstr>One-Class Learning</vt:lpstr>
      <vt:lpstr>Outlier detection</vt:lpstr>
      <vt:lpstr>Using artificial data for one-class classification</vt:lpstr>
      <vt:lpstr>Generating artificial data</vt:lpstr>
      <vt:lpstr>Weka implementations</vt:lpstr>
      <vt:lpstr>Weka implementations</vt:lpstr>
      <vt:lpstr>Weka implementations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7</dc:title>
  <dc:creator>Eibe Frank</dc:creator>
  <cp:lastModifiedBy>Khaled M Rasheed</cp:lastModifiedBy>
  <cp:revision>177</cp:revision>
  <dcterms:created xsi:type="dcterms:W3CDTF">2006-03-03T17:32:48Z</dcterms:created>
  <dcterms:modified xsi:type="dcterms:W3CDTF">2026-03-09T20:17:59Z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fo 1">
    <vt:lpwstr/>
  </property>
  <property fmtid="{D5CDD505-2E9C-101B-9397-08002B2CF9AE}" pid="3" name="Info 2">
    <vt:lpwstr/>
  </property>
  <property fmtid="{D5CDD505-2E9C-101B-9397-08002B2CF9AE}" pid="4" name="Info 3">
    <vt:lpwstr/>
  </property>
  <property fmtid="{D5CDD505-2E9C-101B-9397-08002B2CF9AE}" pid="5" name="Info 4">
    <vt:lpwstr/>
  </property>
</Properties>
</file>