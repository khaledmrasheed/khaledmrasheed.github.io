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7647" y="1874519"/>
            <a:ext cx="494622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Differential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706" y="3063240"/>
            <a:ext cx="760810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E6F0"/>
                </a:solidFill>
              </a:defRPr>
            </a:pPr>
            <a:r>
              <a:rPr dirty="0">
                <a:solidFill>
                  <a:schemeClr val="tx2"/>
                </a:solidFill>
              </a:rPr>
              <a:t>A population-based evolutionary algorithm for continuous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9159" y="4800600"/>
            <a:ext cx="56032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Concepts • Operators • Algorithm • Example • Practical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1. What is Differential Evolution?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Differential Evolution (DE) was introduced by Storn and Price in the 1990s.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An evolutionary optimization method designed especially for continuous-valued decision variables.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Maintains a population of candidate solutions and improves them over generations.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Creates new candidates by adding scaled differences between population members to an existing vector.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Uses selection to keep the better candidate according to the objective function.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Key idea: population differences provide an adaptive search direction without gradients.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2.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Typical continuous optimization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9191"/>
                </a:solidFill>
              </a:defRPr>
            </a:pPr>
            <a:r>
              <a:t>minimize   f(x),     x = (x₁, x₂, …, x_D)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Decision vector x contains D real-valued variables.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Each variable may have lower and upper bounds: L_j ≤ x_j ≤ U_j.</a:t>
            </a:r>
          </a:p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DE does not require derivatives, convexity, or a smooth objective function.</a:t>
            </a:r>
          </a:p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It can therefore be useful when the objective is nonlinear, noisy, discontinuous, or expensive to differentiate.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3. Population Representation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1" y="1481328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965960"/>
            <a:ext cx="31455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A set of NP candidate vectors.</a:t>
            </a:r>
            <a:br/>
            <a:r>
              <a:t>Example: NP = 8 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7992" y="1481328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Target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965960"/>
            <a:ext cx="31455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The current solution being considered for replacement.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1481328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Trial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965960"/>
            <a:ext cx="31455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A newly generated candidate created by mutation + crossover.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D9191"/>
                </a:solidFill>
              </a:defRPr>
            </a:pPr>
            <a:r>
              <a:t>xᵢ = [xᵢ₁, xᵢ₂, …, xᵢD]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830"/>
                </a:solidFill>
              </a:defRPr>
            </a:pPr>
            <a:r>
              <a:t>The population provides the raw material for generating new search directions.</a:t>
            </a:r>
          </a:p>
          <a:p>
            <a:pPr>
              <a:spcAft>
                <a:spcPts val="1200"/>
              </a:spcAft>
              <a:defRPr sz="1700" b="0">
                <a:solidFill>
                  <a:srgbClr val="232830"/>
                </a:solidFill>
              </a:defRPr>
            </a:pPr>
            <a:r>
              <a:t>DE typically uses real-valued vectors directly—no binary encoding is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4. Mutation: The Core DE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A common strategy is DE/rand/1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2D9191"/>
                </a:solidFill>
              </a:defRPr>
            </a:pPr>
            <a:r>
              <a:t>vᵢ = xᵣ₁ + F · (xᵣ₂ − xᵣ₃)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83280"/>
            <a:ext cx="338328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349300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xᵣ₁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977640"/>
            <a:ext cx="3054096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Base vector chosen from the population.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383280"/>
            <a:ext cx="338328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349300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xᵣ₂ − xᵣ₃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3977640"/>
            <a:ext cx="3054096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A difference vector: an adaptive search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383280"/>
            <a:ext cx="338328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1" y="349300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3977640"/>
            <a:ext cx="3054096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Scale factor controlling the size of the differential 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5. Crossover: Build the Trial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Binomial crossover mixes target and mutant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D9191"/>
                </a:solidFill>
              </a:defRPr>
            </a:pPr>
            <a:r>
              <a:t>uᵢⱼ = { vᵢⱼ  if randⱼ ≤ CR  or  j = jrand;   xᵢⱼ otherwise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CR (crossover rate) is typically between 0 and 1.</a:t>
            </a:r>
          </a:p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jrand guarantees that at least one component comes from the mutant vector.</a:t>
            </a:r>
          </a:p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Higher CR generally allows more mutant components into the trial vector.</a:t>
            </a:r>
          </a:p>
          <a:p>
            <a:pPr>
              <a:spcAft>
                <a:spcPts val="1200"/>
              </a:spcAft>
              <a:defRPr sz="1900" b="0">
                <a:solidFill>
                  <a:srgbClr val="232830"/>
                </a:solidFill>
              </a:defRPr>
            </a:pPr>
            <a:r>
              <a:t>Mutation proposes a direction; crossover controls how much of that proposal is 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6. Selection: Survival of the Better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DE uses one-to-one, greedy selection.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9191"/>
                </a:solidFill>
              </a:defRPr>
            </a:pPr>
            <a:r>
              <a:t>xᵢ(next) = uᵢ   if f(uᵢ) ≤ f(xᵢ);   otherwise xᵢ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The trial competes directly with its target vector.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For minimization, the lower objective value survives.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For maximization, reverse the comparison.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830"/>
                </a:solidFill>
              </a:defRPr>
            </a:pPr>
            <a:r>
              <a:t>This simple selection step makes every accepted replacement non-worse under the chosen objective.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7. The Complete DE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99" y="2560320"/>
            <a:ext cx="1874519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670048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Initialize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54679"/>
            <a:ext cx="15453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Randomly generate NP vectors within bounds.</a:t>
            </a:r>
          </a:p>
        </p:txBody>
      </p:sp>
      <p:sp>
        <p:nvSpPr>
          <p:cNvPr id="7" name="Oval 6"/>
          <p:cNvSpPr/>
          <p:nvPr/>
        </p:nvSpPr>
        <p:spPr>
          <a:xfrm>
            <a:off x="2907791" y="1828800"/>
            <a:ext cx="594360" cy="594360"/>
          </a:xfrm>
          <a:prstGeom prst="ellipse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1" y="2560320"/>
            <a:ext cx="1874519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9503" y="2670048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Mutate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3" y="3154679"/>
            <a:ext cx="15453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Create vᵢ using population differences.</a:t>
            </a:r>
          </a:p>
        </p:txBody>
      </p:sp>
      <p:sp>
        <p:nvSpPr>
          <p:cNvPr id="11" name="Oval 10"/>
          <p:cNvSpPr/>
          <p:nvPr/>
        </p:nvSpPr>
        <p:spPr>
          <a:xfrm>
            <a:off x="5175504" y="1828800"/>
            <a:ext cx="594360" cy="594360"/>
          </a:xfrm>
          <a:prstGeom prst="ellipse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2560320"/>
            <a:ext cx="1874519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7216" y="2670048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Crossover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3154679"/>
            <a:ext cx="15453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Combine vᵢ with target xᵢ to form uᵢ.</a:t>
            </a:r>
          </a:p>
        </p:txBody>
      </p:sp>
      <p:sp>
        <p:nvSpPr>
          <p:cNvPr id="15" name="Oval 14"/>
          <p:cNvSpPr/>
          <p:nvPr/>
        </p:nvSpPr>
        <p:spPr>
          <a:xfrm>
            <a:off x="7443215" y="1828800"/>
            <a:ext cx="594360" cy="594360"/>
          </a:xfrm>
          <a:prstGeom prst="ellipse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5" y="2560320"/>
            <a:ext cx="1874519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4927" y="2670048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3154679"/>
            <a:ext cx="15453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Keep whichever candidate has the better objective value.</a:t>
            </a:r>
          </a:p>
        </p:txBody>
      </p:sp>
      <p:sp>
        <p:nvSpPr>
          <p:cNvPr id="19" name="Oval 18"/>
          <p:cNvSpPr/>
          <p:nvPr/>
        </p:nvSpPr>
        <p:spPr>
          <a:xfrm>
            <a:off x="9710928" y="1828800"/>
            <a:ext cx="594360" cy="594360"/>
          </a:xfrm>
          <a:prstGeom prst="ellipse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2560320"/>
            <a:ext cx="1874519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0" y="2670048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Repeat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154679"/>
            <a:ext cx="15453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Continue until a stopping criterion is met.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50466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lang="en-US" dirty="0"/>
              <a:t>8</a:t>
            </a:r>
            <a:r>
              <a:rPr dirty="0"/>
              <a:t>.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830"/>
                </a:solidFill>
                <a:latin typeface="Consolas"/>
              </a:defRPr>
            </a:pPr>
            <a:r>
              <a:t>Initialize population X = {x₁, …, xNP}</a:t>
            </a:r>
            <a:br/>
            <a:r>
              <a:t>Evaluate f(xᵢ) for every vector</a:t>
            </a:r>
            <a:br/>
            <a:br/>
            <a:r>
              <a:t>while stopping criterion is not met:</a:t>
            </a:r>
            <a:br/>
            <a:r>
              <a:t>    for each target vector xᵢ:</a:t>
            </a:r>
            <a:br/>
            <a:r>
              <a:t>        choose distinct r₁, r₂, r₃ ≠ i</a:t>
            </a:r>
            <a:br/>
            <a:r>
              <a:t>        vᵢ ← xᵣ₁ + F · (xᵣ₂ − xᵣ₃)</a:t>
            </a:r>
            <a:br/>
            <a:r>
              <a:t>        uᵢ ← crossover(xᵢ, vᵢ, CR)</a:t>
            </a:r>
            <a:br/>
            <a:r>
              <a:t>        if f(uᵢ) ≤ f(xᵢ):</a:t>
            </a:r>
            <a:br/>
            <a:r>
              <a:t>            xᵢ ← uᵢ</a:t>
            </a:r>
            <a:br/>
            <a:br/>
            <a:r>
              <a:t>return best vector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09112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lang="en-US" dirty="0"/>
              <a:t>9</a:t>
            </a:r>
            <a:r>
              <a:rPr dirty="0"/>
              <a:t>. Important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DE is relatively simple, but parameter choices affect search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Population size (NP)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305409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Larger populations increase diversity and objective evaluations, but also increase computational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48132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Scale factor (F)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65960"/>
            <a:ext cx="305409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Controls the magnitude of differential mutation. Larger values can encourage broader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481328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Crossover rate (CR)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65960"/>
            <a:ext cx="305409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Controls how much of the mutant vector enters the trial vector.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86200"/>
            <a:ext cx="704088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3995928"/>
            <a:ext cx="6711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Stopping criterion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4480560"/>
            <a:ext cx="6711696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Common choices include a maximum number of evaluations/generations, an objective threshold, or lack of improvement.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2247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. Common DE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The notation often describes the mutation strategy.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1520" y="1417320"/>
                <a:ext cx="10698480" cy="3922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:r>
                  <a:rPr dirty="0"/>
                  <a:t>DE/rand/1: </a:t>
                </a:r>
                <a:r>
                  <a:rPr lang="en-US" dirty="0"/>
                  <a:t>uses one differential vector</a:t>
                </a:r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dirty="0"/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:r>
                  <a:rPr dirty="0"/>
                  <a:t>DE/best/1: uses the current best vector as the base.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𝑏𝑒𝑠𝑡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dirty="0"/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:r>
                  <a:rPr dirty="0"/>
                  <a:t>DE/rand/2: uses two differential vectors, increasing the number of population samples.</a:t>
                </a:r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:endParaRPr lang="en-US" dirty="0"/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:r>
                  <a:rPr dirty="0"/>
                  <a:t>DE/current-to-best/1: combines the current vector, the best vector, and a differential component.</a:t>
                </a:r>
                <a:endParaRPr lang="en-US" dirty="0"/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𝑏𝑒𝑠𝑡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  <m:r>
                        <a:rPr lang="en-US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dirty="0"/>
              </a:p>
              <a:p>
                <a:pPr>
                  <a:spcAft>
                    <a:spcPts val="1200"/>
                  </a:spcAft>
                  <a:defRPr sz="1900" b="0">
                    <a:solidFill>
                      <a:srgbClr val="232830"/>
                    </a:solidFill>
                  </a:defRPr>
                </a:pPr>
                <a:r>
                  <a:rPr dirty="0"/>
                  <a:t>Adaptive DE methods can change F, CR, or strategy choices during the run.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417320"/>
                <a:ext cx="10698480" cy="3922612"/>
              </a:xfrm>
              <a:prstGeom prst="rect">
                <a:avLst/>
              </a:prstGeom>
              <a:blipFill>
                <a:blip r:embed="rId2"/>
                <a:stretch>
                  <a:fillRect l="-513" t="-778" b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F1CB20-207D-1CA9-D40C-FC348A31334D}"/>
                  </a:ext>
                </a:extLst>
              </p:cNvPr>
              <p:cNvSpPr txBox="1"/>
              <p:nvPr/>
            </p:nvSpPr>
            <p:spPr>
              <a:xfrm>
                <a:off x="2706533" y="3471964"/>
                <a:ext cx="6137694" cy="414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F1CB20-207D-1CA9-D40C-FC348A313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533" y="3471964"/>
                <a:ext cx="6137694" cy="414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83491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dirty="0"/>
              <a:t>1</a:t>
            </a:r>
            <a:r>
              <a:rPr lang="en-US" dirty="0"/>
              <a:t>1</a:t>
            </a:r>
            <a:r>
              <a:rPr dirty="0"/>
              <a:t>. Strengths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1208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435607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920240"/>
            <a:ext cx="488289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• Derivative-free</a:t>
            </a:r>
            <a:br/>
            <a:r>
              <a:t>• Simple vector-based representation</a:t>
            </a:r>
            <a:br/>
            <a:r>
              <a:t>• Effective for many nonlinear continuous problems</a:t>
            </a:r>
            <a:br/>
            <a:r>
              <a:t>• Population differences adapt search directions</a:t>
            </a:r>
            <a:br/>
            <a:r>
              <a:t>• Few core operators and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1" y="1435607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1" y="1920240"/>
            <a:ext cx="488289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• Can require many objective evaluations</a:t>
            </a:r>
            <a:br/>
            <a:r>
              <a:t>• Performance depends on F, CR, population size, and strategy</a:t>
            </a:r>
            <a:br/>
            <a:r>
              <a:t>• Basic DE can stagnate or lose diversity</a:t>
            </a:r>
            <a:br/>
            <a:r>
              <a:t>• Constraint handling needs explicit design</a:t>
            </a:r>
            <a:br/>
            <a:r>
              <a:t>• Discrete/combinatorial problems may require specialized adaptations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8674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dirty="0"/>
              <a:t>1</a:t>
            </a:r>
            <a:r>
              <a:rPr lang="en-US" dirty="0"/>
              <a:t>2</a:t>
            </a:r>
            <a:r>
              <a:rPr dirty="0"/>
              <a:t>. DE vs. Genetic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Both are evolutionary algorithms, but their search operators differ.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27048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011680"/>
            <a:ext cx="309981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DE: usually real-valued vectors.</a:t>
            </a:r>
            <a:br/>
            <a:br/>
            <a:r>
              <a:t>GA: can use binary, real-valued, permutation, or other encodings.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2D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527048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191"/>
                </a:solidFill>
              </a:defRPr>
            </a:pPr>
            <a:r>
              <a:t>Variation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011680"/>
            <a:ext cx="309981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DE: differential mutation + crossover.</a:t>
            </a:r>
            <a:br/>
            <a:br/>
            <a:r>
              <a:t>GA: commonly selection + crossover + mutation.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527048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69B4"/>
                </a:solidFill>
              </a:defRPr>
            </a:pPr>
            <a:r>
              <a:t>Search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11680"/>
            <a:ext cx="309981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DE: population differences directly define mutation steps.</a:t>
            </a:r>
            <a:br/>
            <a:br/>
            <a:r>
              <a:t>GA: mutation/crossover depend on the chosen encoding and operators.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7388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.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Engineering design and parameter optimization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Machine learning: hyperparameter and model parameter optimization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Control and system identification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Scheduling and planning when a continuous formulation is available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Signal/image processing and numerical model calibration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32830"/>
                </a:solidFill>
              </a:defRPr>
            </a:pPr>
            <a:r>
              <a:t>Hybrid optimization: DE can be combined with local search or problem-specific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28697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. Practical Implementation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1. Define the decision variables, bounds, and objective function.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2. Choose a population size and initialize feasible vectors.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3. Select a mutation strategy and values for F and CR.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4. Handle bounds and constraints explicitly.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5. Track the best objective value and preserve the corresponding solution.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6. Use a reproducible random seed for experiments.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7. Run multiple independent trials when comparing stochastic algorithms.</a:t>
            </a:r>
          </a:p>
          <a:p>
            <a:pPr>
              <a:spcAft>
                <a:spcPts val="1200"/>
              </a:spcAft>
              <a:defRPr sz="1800" b="0">
                <a:solidFill>
                  <a:srgbClr val="232830"/>
                </a:solidFill>
              </a:defRPr>
            </a:pPr>
            <a:r>
              <a:t>8. Report objective evaluations—not only generations—when computational cost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52157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rPr lang="en-US" dirty="0"/>
              <a:t>15. </a:t>
            </a:r>
            <a:r>
              <a:rPr dirty="0"/>
              <a:t>References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830"/>
                </a:solidFill>
              </a:defRPr>
            </a:pPr>
            <a:r>
              <a:t>Storn, R. &amp; Price, K. (1997). Differential Evolution – A Simple and Efficient Heuristic for Global Optimization over Continuous Spaces. Journal of Global Optimization, 11, 341–359.</a:t>
            </a:r>
          </a:p>
          <a:p>
            <a:pPr>
              <a:spcAft>
                <a:spcPts val="1200"/>
              </a:spcAft>
              <a:defRPr sz="1700" b="0">
                <a:solidFill>
                  <a:srgbClr val="232830"/>
                </a:solidFill>
              </a:defRPr>
            </a:pPr>
            <a:r>
              <a:t>Price, K., Storn, R. M., &amp; Lampinen, J. A. (2005). Differential Evolution: A Practical Approach to Global Optimization. Springer.</a:t>
            </a:r>
          </a:p>
          <a:p>
            <a:pPr>
              <a:spcAft>
                <a:spcPts val="1200"/>
              </a:spcAft>
              <a:defRPr sz="1700" b="0">
                <a:solidFill>
                  <a:srgbClr val="232830"/>
                </a:solidFill>
              </a:defRPr>
            </a:pPr>
            <a:r>
              <a:t>Das, S. &amp; Suganthan, P. N. (2011). Differential Evolution: A Survey of the State-of-the-Art. IEEE Transactions on Evolutionary Computation, 15(1), 4–31.</a:t>
            </a:r>
          </a:p>
          <a:p>
            <a:pPr>
              <a:spcAft>
                <a:spcPts val="1200"/>
              </a:spcAft>
              <a:defRPr sz="1700" b="0">
                <a:solidFill>
                  <a:srgbClr val="232830"/>
                </a:solidFill>
              </a:defRPr>
            </a:pPr>
            <a:r>
              <a:t>Tanabe, R. &amp; Fukunaga, A. S. (2013). Success-History Based Parameter Adaptation for Differential Evolution. IEEE CEC.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1340</Words>
  <Application>Microsoft Office PowerPoint</Application>
  <PresentationFormat>Widescreen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Khaled M Rasheed</cp:lastModifiedBy>
  <cp:revision>6</cp:revision>
  <cp:lastPrinted>2026-10-01T15:20:09Z</cp:lastPrinted>
  <dcterms:created xsi:type="dcterms:W3CDTF">2013-01-27T09:14:16Z</dcterms:created>
  <dcterms:modified xsi:type="dcterms:W3CDTF">2026-10-01T16:41:10Z</dcterms:modified>
  <cp:category/>
</cp:coreProperties>
</file>