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Segoe UI" panose="020B0502040204020203" pitchFamily="34" charset="0"/>
      <p:regular r:id="rId27"/>
      <p:bold r:id="rId28"/>
      <p:italic r:id="rId29"/>
      <p:boldItalic r:id="rId30"/>
    </p:embeddedFont>
    <p:embeddedFont>
      <p:font typeface="Segoe UI Light" panose="020B0502040204020203" pitchFamily="34" charset="0"/>
      <p:regular r:id="rId31"/>
      <p: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75" y="147955"/>
            <a:ext cx="7858048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0859" y="2208402"/>
            <a:ext cx="8082280" cy="3599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autoblog.com/2011/05/31/women-voice-command-systems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://www.propublica.org/article/machine-bias-risk-assessments-in-criminal-sentencing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cm.org/about-acm/acm-code-of-ethics-and-professional-conduc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9604" y="2382012"/>
            <a:ext cx="446659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 </a:t>
            </a:r>
            <a:r>
              <a:rPr lang="en-US" sz="2800" b="1" spc="-5">
                <a:latin typeface="Calibri"/>
                <a:cs typeface="Calibri"/>
              </a:rPr>
              <a:t>Notes </a:t>
            </a:r>
            <a:r>
              <a:rPr lang="en-US" sz="2800" b="1">
                <a:latin typeface="Calibri"/>
                <a:cs typeface="Calibri"/>
              </a:rPr>
              <a:t>10</a:t>
            </a:r>
            <a:r>
              <a:rPr sz="2800" b="1">
                <a:latin typeface="Calibri"/>
                <a:cs typeface="Calibri"/>
              </a:rPr>
              <a:t>: </a:t>
            </a:r>
            <a:r>
              <a:rPr sz="3200" b="1" dirty="0">
                <a:latin typeface="Calibri"/>
                <a:cs typeface="Calibri"/>
              </a:rPr>
              <a:t>Bias </a:t>
            </a:r>
            <a:r>
              <a:rPr sz="3200" b="1" spc="-5" dirty="0">
                <a:latin typeface="Calibri"/>
                <a:cs typeface="Calibri"/>
              </a:rPr>
              <a:t>and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Fairness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DC8E001-C62E-4A83-A4FD-964D8AD47402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304" y="620268"/>
            <a:ext cx="4491228" cy="5936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6410655"/>
            <a:ext cx="6139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5" dirty="0">
                <a:latin typeface="Segoe UI Light"/>
                <a:cs typeface="Segoe UI Light"/>
                <a:hlinkClick r:id="rId2"/>
              </a:rPr>
              <a:t>http://www.autoblog.com/2011/05/31/women-voice-command-systems/</a:t>
            </a:r>
            <a:endParaRPr sz="1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477012"/>
            <a:ext cx="7296911" cy="53385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6410655"/>
            <a:ext cx="7567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5" dirty="0">
                <a:latin typeface="Segoe UI Light"/>
                <a:cs typeface="Segoe UI Light"/>
              </a:rPr>
              <a:t>https://</a:t>
            </a:r>
            <a:r>
              <a:rPr sz="1600" b="0" spc="-5" dirty="0">
                <a:latin typeface="Segoe UI Light"/>
                <a:cs typeface="Segoe UI Light"/>
                <a:hlinkClick r:id="rId2"/>
              </a:rPr>
              <a:t>www.propublica.org/article/machine-bias-risk-assessments-in-criminal-sentencing</a:t>
            </a:r>
            <a:endParaRPr sz="1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" y="117347"/>
            <a:ext cx="6873240" cy="21762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468879"/>
            <a:ext cx="9144000" cy="3514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2980" marR="5080" indent="-97091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Recall: </a:t>
            </a:r>
            <a:r>
              <a:rPr dirty="0"/>
              <a:t>Formal </a:t>
            </a:r>
            <a:r>
              <a:rPr spc="-5" dirty="0"/>
              <a:t>Definition </a:t>
            </a:r>
            <a:r>
              <a:rPr spc="-60" dirty="0"/>
              <a:t>of </a:t>
            </a:r>
            <a:r>
              <a:rPr spc="40" dirty="0"/>
              <a:t>Binary  </a:t>
            </a:r>
            <a:r>
              <a:rPr spc="-5" dirty="0"/>
              <a:t>Classification </a:t>
            </a:r>
            <a:r>
              <a:rPr spc="-20" dirty="0"/>
              <a:t>(from</a:t>
            </a:r>
            <a:r>
              <a:rPr spc="-50" dirty="0"/>
              <a:t> </a:t>
            </a:r>
            <a:r>
              <a:rPr spc="-5" dirty="0"/>
              <a:t>CIML)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8" y="2430917"/>
            <a:ext cx="7946465" cy="2823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1808" y="483234"/>
            <a:ext cx="4580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Train/Test</a:t>
            </a:r>
            <a:r>
              <a:rPr spc="-70" dirty="0"/>
              <a:t> </a:t>
            </a:r>
            <a:r>
              <a:rPr dirty="0"/>
              <a:t>Mismatch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36774"/>
            <a:ext cx="7978775" cy="344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527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6109335" algn="l"/>
              </a:tabLst>
            </a:pPr>
            <a:r>
              <a:rPr sz="2800" spc="-10" dirty="0">
                <a:latin typeface="Segoe UI"/>
                <a:cs typeface="Segoe UI"/>
              </a:rPr>
              <a:t>W</a:t>
            </a:r>
            <a:r>
              <a:rPr sz="2800" dirty="0">
                <a:latin typeface="Segoe UI"/>
                <a:cs typeface="Segoe UI"/>
              </a:rPr>
              <a:t>h</a:t>
            </a:r>
            <a:r>
              <a:rPr sz="2800" spc="-5" dirty="0">
                <a:latin typeface="Segoe UI"/>
                <a:cs typeface="Segoe UI"/>
              </a:rPr>
              <a:t>en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w</a:t>
            </a:r>
            <a:r>
              <a:rPr sz="2800" spc="-5" dirty="0">
                <a:latin typeface="Segoe UI"/>
                <a:cs typeface="Segoe UI"/>
              </a:rPr>
              <a:t>or</a:t>
            </a:r>
            <a:r>
              <a:rPr sz="2800" dirty="0">
                <a:latin typeface="Segoe UI"/>
                <a:cs typeface="Segoe UI"/>
              </a:rPr>
              <a:t>k</a:t>
            </a:r>
            <a:r>
              <a:rPr sz="2800" spc="-10" dirty="0">
                <a:latin typeface="Segoe UI"/>
                <a:cs typeface="Segoe UI"/>
              </a:rPr>
              <a:t>in</a:t>
            </a:r>
            <a:r>
              <a:rPr sz="2800" spc="-5" dirty="0">
                <a:latin typeface="Segoe UI"/>
                <a:cs typeface="Segoe UI"/>
              </a:rPr>
              <a:t>g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with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45" dirty="0">
                <a:latin typeface="Segoe UI"/>
                <a:cs typeface="Segoe UI"/>
              </a:rPr>
              <a:t>r</a:t>
            </a:r>
            <a:r>
              <a:rPr sz="2800" spc="-5" dirty="0">
                <a:latin typeface="Segoe UI"/>
                <a:cs typeface="Segoe UI"/>
              </a:rPr>
              <a:t>e</a:t>
            </a:r>
            <a:r>
              <a:rPr sz="2800" dirty="0">
                <a:latin typeface="Segoe UI"/>
                <a:cs typeface="Segoe UI"/>
              </a:rPr>
              <a:t>a</a:t>
            </a:r>
            <a:r>
              <a:rPr sz="2800" spc="-5" dirty="0">
                <a:latin typeface="Segoe UI"/>
                <a:cs typeface="Segoe UI"/>
              </a:rPr>
              <a:t>l</a:t>
            </a:r>
            <a:r>
              <a:rPr sz="2800" spc="-20" dirty="0">
                <a:latin typeface="Segoe UI"/>
                <a:cs typeface="Segoe UI"/>
              </a:rPr>
              <a:t> w</a:t>
            </a:r>
            <a:r>
              <a:rPr sz="2800" spc="-5" dirty="0">
                <a:latin typeface="Segoe UI"/>
                <a:cs typeface="Segoe UI"/>
              </a:rPr>
              <a:t>orld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dat</a:t>
            </a:r>
            <a:r>
              <a:rPr sz="2800" spc="5" dirty="0">
                <a:latin typeface="Segoe UI"/>
                <a:cs typeface="Segoe UI"/>
              </a:rPr>
              <a:t>a</a:t>
            </a:r>
            <a:r>
              <a:rPr sz="2800" spc="-5" dirty="0">
                <a:latin typeface="Segoe UI"/>
                <a:cs typeface="Segoe UI"/>
              </a:rPr>
              <a:t>,</a:t>
            </a:r>
            <a:r>
              <a:rPr sz="2800" dirty="0">
                <a:latin typeface="Segoe UI"/>
                <a:cs typeface="Segoe UI"/>
              </a:rPr>
              <a:t>	</a:t>
            </a:r>
            <a:r>
              <a:rPr sz="2800" spc="-5" dirty="0">
                <a:latin typeface="Segoe UI"/>
                <a:cs typeface="Segoe UI"/>
              </a:rPr>
              <a:t>training  sample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Segoe UI"/>
                <a:cs typeface="Segoe UI"/>
              </a:rPr>
              <a:t>reflects </a:t>
            </a:r>
            <a:r>
              <a:rPr sz="2400" spc="-5" dirty="0">
                <a:latin typeface="Segoe UI"/>
                <a:cs typeface="Segoe UI"/>
              </a:rPr>
              <a:t>human</a:t>
            </a:r>
            <a:r>
              <a:rPr sz="2400" spc="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biases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is influenced </a:t>
            </a:r>
            <a:r>
              <a:rPr sz="2400" dirty="0">
                <a:latin typeface="Segoe UI"/>
                <a:cs typeface="Segoe UI"/>
              </a:rPr>
              <a:t>by </a:t>
            </a:r>
            <a:r>
              <a:rPr sz="2400" spc="-5" dirty="0">
                <a:latin typeface="Segoe UI"/>
                <a:cs typeface="Segoe UI"/>
              </a:rPr>
              <a:t>practical</a:t>
            </a:r>
            <a:r>
              <a:rPr sz="2400" spc="7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concerns</a:t>
            </a:r>
            <a:endParaRPr sz="2400">
              <a:latin typeface="Segoe UI"/>
              <a:cs typeface="Segoe UI"/>
            </a:endParaRPr>
          </a:p>
          <a:p>
            <a:pPr marL="1225550" lvl="2" indent="-29908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1225550" algn="l"/>
                <a:tab pos="1226185" algn="l"/>
                <a:tab pos="2427605" algn="l"/>
              </a:tabLst>
            </a:pPr>
            <a:r>
              <a:rPr sz="2000" spc="-5" dirty="0">
                <a:latin typeface="Segoe UI"/>
                <a:cs typeface="Segoe UI"/>
              </a:rPr>
              <a:t>e.g.,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what	</a:t>
            </a:r>
            <a:r>
              <a:rPr sz="2000" spc="-5" dirty="0">
                <a:latin typeface="Segoe UI"/>
                <a:cs typeface="Segoe UI"/>
              </a:rPr>
              <a:t>kind </a:t>
            </a:r>
            <a:r>
              <a:rPr sz="2000" spc="-15" dirty="0">
                <a:latin typeface="Segoe UI"/>
                <a:cs typeface="Segoe UI"/>
              </a:rPr>
              <a:t>of </a:t>
            </a:r>
            <a:r>
              <a:rPr sz="2000" dirty="0">
                <a:latin typeface="Segoe UI"/>
                <a:cs typeface="Segoe UI"/>
              </a:rPr>
              <a:t>data </a:t>
            </a:r>
            <a:r>
              <a:rPr sz="2000" spc="-5" dirty="0">
                <a:latin typeface="Segoe UI"/>
                <a:cs typeface="Segoe UI"/>
              </a:rPr>
              <a:t>is </a:t>
            </a:r>
            <a:r>
              <a:rPr sz="2000" dirty="0">
                <a:latin typeface="Segoe UI"/>
                <a:cs typeface="Segoe UI"/>
              </a:rPr>
              <a:t>easy </a:t>
            </a:r>
            <a:r>
              <a:rPr sz="2000" spc="-5" dirty="0">
                <a:latin typeface="Segoe UI"/>
                <a:cs typeface="Segoe UI"/>
              </a:rPr>
              <a:t>to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obtain</a:t>
            </a:r>
            <a:endParaRPr sz="200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65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Segoe UI"/>
                <a:cs typeface="Segoe UI"/>
              </a:rPr>
              <a:t>Train/test </a:t>
            </a:r>
            <a:r>
              <a:rPr sz="2800" spc="-5" dirty="0">
                <a:latin typeface="Segoe UI"/>
                <a:cs typeface="Segoe UI"/>
              </a:rPr>
              <a:t>distribution </a:t>
            </a:r>
            <a:r>
              <a:rPr sz="2800" spc="-10" dirty="0">
                <a:latin typeface="Segoe UI"/>
                <a:cs typeface="Segoe UI"/>
              </a:rPr>
              <a:t>mismatch </a:t>
            </a: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-10" dirty="0">
                <a:latin typeface="Segoe UI"/>
                <a:cs typeface="Segoe UI"/>
              </a:rPr>
              <a:t>frequent</a:t>
            </a:r>
            <a:r>
              <a:rPr sz="2800" spc="1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issue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aka </a:t>
            </a:r>
            <a:r>
              <a:rPr sz="2400" spc="-5" dirty="0">
                <a:latin typeface="Segoe UI"/>
                <a:cs typeface="Segoe UI"/>
              </a:rPr>
              <a:t>sample selection </a:t>
            </a:r>
            <a:r>
              <a:rPr sz="2400" dirty="0">
                <a:latin typeface="Segoe UI"/>
                <a:cs typeface="Segoe UI"/>
              </a:rPr>
              <a:t>bias, domain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adaptation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617" y="483234"/>
            <a:ext cx="46069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Domain</a:t>
            </a:r>
            <a:r>
              <a:rPr spc="-105" dirty="0"/>
              <a:t> </a:t>
            </a:r>
            <a:r>
              <a:rPr dirty="0"/>
              <a:t>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72283"/>
            <a:ext cx="802830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What </a:t>
            </a:r>
            <a:r>
              <a:rPr sz="2400" dirty="0">
                <a:latin typeface="Segoe UI"/>
                <a:cs typeface="Segoe UI"/>
              </a:rPr>
              <a:t>does </a:t>
            </a:r>
            <a:r>
              <a:rPr sz="2400" spc="-10" dirty="0">
                <a:latin typeface="Segoe UI"/>
                <a:cs typeface="Segoe UI"/>
              </a:rPr>
              <a:t>it </a:t>
            </a:r>
            <a:r>
              <a:rPr sz="2400" spc="-5" dirty="0">
                <a:latin typeface="Segoe UI"/>
                <a:cs typeface="Segoe UI"/>
              </a:rPr>
              <a:t>mean </a:t>
            </a:r>
            <a:r>
              <a:rPr sz="2400" dirty="0">
                <a:latin typeface="Segoe UI"/>
                <a:cs typeface="Segoe UI"/>
              </a:rPr>
              <a:t>for 2 distributions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be</a:t>
            </a:r>
            <a:r>
              <a:rPr sz="2400" spc="8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related?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When </a:t>
            </a:r>
            <a:r>
              <a:rPr sz="2400" dirty="0">
                <a:latin typeface="Segoe UI"/>
                <a:cs typeface="Segoe UI"/>
              </a:rPr>
              <a:t>2 </a:t>
            </a:r>
            <a:r>
              <a:rPr sz="2400" spc="-5" dirty="0">
                <a:latin typeface="Segoe UI"/>
                <a:cs typeface="Segoe UI"/>
              </a:rPr>
              <a:t>distributions </a:t>
            </a:r>
            <a:r>
              <a:rPr sz="2400" spc="-10" dirty="0">
                <a:latin typeface="Segoe UI"/>
                <a:cs typeface="Segoe UI"/>
              </a:rPr>
              <a:t>are related </a:t>
            </a:r>
            <a:r>
              <a:rPr sz="2400" dirty="0">
                <a:latin typeface="Segoe UI"/>
                <a:cs typeface="Segoe UI"/>
              </a:rPr>
              <a:t>how can we </a:t>
            </a:r>
            <a:r>
              <a:rPr sz="2400" spc="-5" dirty="0">
                <a:latin typeface="Segoe UI"/>
                <a:cs typeface="Segoe UI"/>
              </a:rPr>
              <a:t>build  models </a:t>
            </a:r>
            <a:r>
              <a:rPr sz="2400" dirty="0">
                <a:latin typeface="Segoe UI"/>
                <a:cs typeface="Segoe UI"/>
              </a:rPr>
              <a:t>that </a:t>
            </a:r>
            <a:r>
              <a:rPr sz="2400" spc="-5" dirty="0">
                <a:latin typeface="Segoe UI"/>
                <a:cs typeface="Segoe UI"/>
              </a:rPr>
              <a:t>effectively </a:t>
            </a:r>
            <a:r>
              <a:rPr sz="2400" spc="-10" dirty="0">
                <a:latin typeface="Segoe UI"/>
                <a:cs typeface="Segoe UI"/>
              </a:rPr>
              <a:t>share </a:t>
            </a:r>
            <a:r>
              <a:rPr sz="2400" spc="-5" dirty="0">
                <a:latin typeface="Segoe UI"/>
                <a:cs typeface="Segoe UI"/>
              </a:rPr>
              <a:t>information </a:t>
            </a:r>
            <a:r>
              <a:rPr sz="2400" dirty="0">
                <a:latin typeface="Segoe UI"/>
                <a:cs typeface="Segoe UI"/>
              </a:rPr>
              <a:t>between</a:t>
            </a:r>
            <a:r>
              <a:rPr sz="2400" spc="4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them?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0204" y="483234"/>
            <a:ext cx="58642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/>
              <a:t>Unsupervised</a:t>
            </a:r>
            <a:r>
              <a:rPr spc="-65" dirty="0"/>
              <a:t> </a:t>
            </a:r>
            <a:r>
              <a:rPr spc="-5" dirty="0"/>
              <a:t>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93369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681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Segoe UI"/>
                <a:cs typeface="Segoe UI"/>
              </a:rPr>
              <a:t>Goal: </a:t>
            </a:r>
            <a:r>
              <a:rPr sz="2800" spc="-10" dirty="0">
                <a:latin typeface="Segoe UI"/>
                <a:cs typeface="Segoe UI"/>
              </a:rPr>
              <a:t>learn </a:t>
            </a:r>
            <a:r>
              <a:rPr sz="2800" spc="-5" dirty="0">
                <a:latin typeface="Segoe UI"/>
                <a:cs typeface="Segoe UI"/>
              </a:rPr>
              <a:t>a classifier f that achieves </a:t>
            </a:r>
            <a:r>
              <a:rPr sz="2800" spc="-10" dirty="0">
                <a:latin typeface="Segoe UI"/>
                <a:cs typeface="Segoe UI"/>
              </a:rPr>
              <a:t>low  </a:t>
            </a:r>
            <a:r>
              <a:rPr sz="2800" spc="-5" dirty="0">
                <a:latin typeface="Segoe UI"/>
                <a:cs typeface="Segoe UI"/>
              </a:rPr>
              <a:t>expected loss under new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labeled training data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old</a:t>
            </a:r>
            <a:r>
              <a:rPr sz="2800" spc="9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12004"/>
            <a:ext cx="77000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And </a:t>
            </a:r>
            <a:r>
              <a:rPr sz="2800" spc="-5" dirty="0">
                <a:latin typeface="Segoe UI"/>
                <a:cs typeface="Segoe UI"/>
              </a:rPr>
              <a:t>unlabeled examples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new</a:t>
            </a:r>
            <a:r>
              <a:rPr sz="2800" spc="4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584" y="2167373"/>
            <a:ext cx="728586" cy="2555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98" y="3646783"/>
            <a:ext cx="705864" cy="3840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1078" y="3731618"/>
            <a:ext cx="2516823" cy="3007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1726" y="5085605"/>
            <a:ext cx="2832434" cy="5193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072" rIns="0" bIns="0" rtlCol="0">
            <a:spAutoFit/>
          </a:bodyPr>
          <a:lstStyle/>
          <a:p>
            <a:pPr marL="1364615" marR="5080" indent="-94361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Relation between </a:t>
            </a:r>
            <a:r>
              <a:rPr sz="4000" spc="-5" dirty="0"/>
              <a:t>test </a:t>
            </a:r>
            <a:r>
              <a:rPr sz="4000" spc="-10" dirty="0"/>
              <a:t>loss </a:t>
            </a:r>
            <a:r>
              <a:rPr sz="4000" spc="-5" dirty="0"/>
              <a:t>in </a:t>
            </a:r>
            <a:r>
              <a:rPr sz="4000" spc="-10" dirty="0"/>
              <a:t>new  domain and old</a:t>
            </a:r>
            <a:r>
              <a:rPr sz="4000" spc="25" dirty="0"/>
              <a:t> </a:t>
            </a:r>
            <a:r>
              <a:rPr sz="4000" spc="-10" dirty="0"/>
              <a:t>domain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407" y="2098801"/>
            <a:ext cx="7287182" cy="37283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7415" marR="5080" indent="-520065">
              <a:lnSpc>
                <a:spcPct val="100000"/>
              </a:lnSpc>
              <a:spcBef>
                <a:spcPts val="100"/>
              </a:spcBef>
            </a:pPr>
            <a:r>
              <a:rPr dirty="0"/>
              <a:t>How can we estimate the</a:t>
            </a:r>
            <a:r>
              <a:rPr spc="-125" dirty="0"/>
              <a:t> </a:t>
            </a:r>
            <a:r>
              <a:rPr spc="-5" dirty="0"/>
              <a:t>ratio  between Dnew and</a:t>
            </a:r>
            <a:r>
              <a:rPr spc="-50" dirty="0"/>
              <a:t> </a:t>
            </a:r>
            <a:r>
              <a:rPr dirty="0"/>
              <a:t>Dold?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4516" y="1648904"/>
            <a:ext cx="7477125" cy="4606290"/>
            <a:chOff x="934516" y="1648904"/>
            <a:chExt cx="7477125" cy="4606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516" y="2567242"/>
              <a:ext cx="7476591" cy="36876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85081" y="1661922"/>
              <a:ext cx="1932305" cy="955675"/>
            </a:xfrm>
            <a:custGeom>
              <a:avLst/>
              <a:gdLst/>
              <a:ahLst/>
              <a:cxnLst/>
              <a:rect l="l" t="t" r="r" b="b"/>
              <a:pathLst>
                <a:path w="1932304" h="955675">
                  <a:moveTo>
                    <a:pt x="924179" y="647700"/>
                  </a:moveTo>
                  <a:lnTo>
                    <a:pt x="492125" y="647700"/>
                  </a:lnTo>
                  <a:lnTo>
                    <a:pt x="0" y="955420"/>
                  </a:lnTo>
                  <a:lnTo>
                    <a:pt x="924179" y="647700"/>
                  </a:lnTo>
                  <a:close/>
                </a:path>
                <a:path w="1932304" h="955675">
                  <a:moveTo>
                    <a:pt x="1824355" y="0"/>
                  </a:moveTo>
                  <a:lnTo>
                    <a:pt x="312039" y="0"/>
                  </a:lnTo>
                  <a:lnTo>
                    <a:pt x="270043" y="8491"/>
                  </a:lnTo>
                  <a:lnTo>
                    <a:pt x="235727" y="31638"/>
                  </a:lnTo>
                  <a:lnTo>
                    <a:pt x="212580" y="65954"/>
                  </a:lnTo>
                  <a:lnTo>
                    <a:pt x="204089" y="107950"/>
                  </a:lnTo>
                  <a:lnTo>
                    <a:pt x="204089" y="539750"/>
                  </a:lnTo>
                  <a:lnTo>
                    <a:pt x="212580" y="581745"/>
                  </a:lnTo>
                  <a:lnTo>
                    <a:pt x="235727" y="616061"/>
                  </a:lnTo>
                  <a:lnTo>
                    <a:pt x="270043" y="639208"/>
                  </a:lnTo>
                  <a:lnTo>
                    <a:pt x="312039" y="647700"/>
                  </a:lnTo>
                  <a:lnTo>
                    <a:pt x="1824355" y="647700"/>
                  </a:lnTo>
                  <a:lnTo>
                    <a:pt x="1866350" y="639208"/>
                  </a:lnTo>
                  <a:lnTo>
                    <a:pt x="1900666" y="616061"/>
                  </a:lnTo>
                  <a:lnTo>
                    <a:pt x="1923813" y="581745"/>
                  </a:lnTo>
                  <a:lnTo>
                    <a:pt x="1932304" y="539750"/>
                  </a:lnTo>
                  <a:lnTo>
                    <a:pt x="1932304" y="107950"/>
                  </a:lnTo>
                  <a:lnTo>
                    <a:pt x="1923813" y="65954"/>
                  </a:lnTo>
                  <a:lnTo>
                    <a:pt x="1900666" y="31638"/>
                  </a:lnTo>
                  <a:lnTo>
                    <a:pt x="1866350" y="8491"/>
                  </a:lnTo>
                  <a:lnTo>
                    <a:pt x="1824355" y="0"/>
                  </a:lnTo>
                  <a:close/>
                </a:path>
              </a:pathLst>
            </a:custGeom>
            <a:solidFill>
              <a:srgbClr val="4E85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85081" y="1661922"/>
              <a:ext cx="1932305" cy="955675"/>
            </a:xfrm>
            <a:custGeom>
              <a:avLst/>
              <a:gdLst/>
              <a:ahLst/>
              <a:cxnLst/>
              <a:rect l="l" t="t" r="r" b="b"/>
              <a:pathLst>
                <a:path w="1932304" h="955675">
                  <a:moveTo>
                    <a:pt x="204089" y="107950"/>
                  </a:moveTo>
                  <a:lnTo>
                    <a:pt x="212580" y="65954"/>
                  </a:lnTo>
                  <a:lnTo>
                    <a:pt x="235727" y="31638"/>
                  </a:lnTo>
                  <a:lnTo>
                    <a:pt x="270043" y="8491"/>
                  </a:lnTo>
                  <a:lnTo>
                    <a:pt x="312039" y="0"/>
                  </a:lnTo>
                  <a:lnTo>
                    <a:pt x="492125" y="0"/>
                  </a:lnTo>
                  <a:lnTo>
                    <a:pt x="924179" y="0"/>
                  </a:lnTo>
                  <a:lnTo>
                    <a:pt x="1824355" y="0"/>
                  </a:lnTo>
                  <a:lnTo>
                    <a:pt x="1866350" y="8491"/>
                  </a:lnTo>
                  <a:lnTo>
                    <a:pt x="1900666" y="31638"/>
                  </a:lnTo>
                  <a:lnTo>
                    <a:pt x="1923813" y="65954"/>
                  </a:lnTo>
                  <a:lnTo>
                    <a:pt x="1932304" y="107950"/>
                  </a:lnTo>
                  <a:lnTo>
                    <a:pt x="1932304" y="377825"/>
                  </a:lnTo>
                  <a:lnTo>
                    <a:pt x="1932304" y="539750"/>
                  </a:lnTo>
                  <a:lnTo>
                    <a:pt x="1923813" y="581745"/>
                  </a:lnTo>
                  <a:lnTo>
                    <a:pt x="1900666" y="616061"/>
                  </a:lnTo>
                  <a:lnTo>
                    <a:pt x="1866350" y="639208"/>
                  </a:lnTo>
                  <a:lnTo>
                    <a:pt x="1824355" y="647700"/>
                  </a:lnTo>
                  <a:lnTo>
                    <a:pt x="924179" y="647700"/>
                  </a:lnTo>
                  <a:lnTo>
                    <a:pt x="0" y="955420"/>
                  </a:lnTo>
                  <a:lnTo>
                    <a:pt x="492125" y="647700"/>
                  </a:lnTo>
                  <a:lnTo>
                    <a:pt x="312039" y="647700"/>
                  </a:lnTo>
                  <a:lnTo>
                    <a:pt x="270043" y="639208"/>
                  </a:lnTo>
                  <a:lnTo>
                    <a:pt x="235727" y="616061"/>
                  </a:lnTo>
                  <a:lnTo>
                    <a:pt x="212580" y="581745"/>
                  </a:lnTo>
                  <a:lnTo>
                    <a:pt x="204089" y="539750"/>
                  </a:lnTo>
                  <a:lnTo>
                    <a:pt x="204089" y="377825"/>
                  </a:lnTo>
                  <a:lnTo>
                    <a:pt x="204089" y="107950"/>
                  </a:lnTo>
                  <a:close/>
                </a:path>
              </a:pathLst>
            </a:custGeom>
            <a:ln w="25908">
              <a:solidFill>
                <a:srgbClr val="375F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12264" y="1688592"/>
            <a:ext cx="1754505" cy="816610"/>
            <a:chOff x="2112264" y="1688592"/>
            <a:chExt cx="1754505" cy="816610"/>
          </a:xfrm>
        </p:grpSpPr>
        <p:sp>
          <p:nvSpPr>
            <p:cNvPr id="8" name="object 8"/>
            <p:cNvSpPr/>
            <p:nvPr/>
          </p:nvSpPr>
          <p:spPr>
            <a:xfrm>
              <a:off x="2125218" y="1701546"/>
              <a:ext cx="1728470" cy="790575"/>
            </a:xfrm>
            <a:custGeom>
              <a:avLst/>
              <a:gdLst/>
              <a:ahLst/>
              <a:cxnLst/>
              <a:rect l="l" t="t" r="r" b="b"/>
              <a:pathLst>
                <a:path w="1728470" h="790575">
                  <a:moveTo>
                    <a:pt x="1440180" y="647700"/>
                  </a:moveTo>
                  <a:lnTo>
                    <a:pt x="1008126" y="647700"/>
                  </a:lnTo>
                  <a:lnTo>
                    <a:pt x="1026540" y="790448"/>
                  </a:lnTo>
                  <a:lnTo>
                    <a:pt x="1440180" y="647700"/>
                  </a:lnTo>
                  <a:close/>
                </a:path>
                <a:path w="1728470" h="790575">
                  <a:moveTo>
                    <a:pt x="1620266" y="0"/>
                  </a:moveTo>
                  <a:lnTo>
                    <a:pt x="107950" y="0"/>
                  </a:lnTo>
                  <a:lnTo>
                    <a:pt x="65954" y="8491"/>
                  </a:lnTo>
                  <a:lnTo>
                    <a:pt x="31638" y="31638"/>
                  </a:lnTo>
                  <a:lnTo>
                    <a:pt x="8491" y="65954"/>
                  </a:lnTo>
                  <a:lnTo>
                    <a:pt x="0" y="107950"/>
                  </a:lnTo>
                  <a:lnTo>
                    <a:pt x="0" y="539750"/>
                  </a:lnTo>
                  <a:lnTo>
                    <a:pt x="8491" y="581745"/>
                  </a:lnTo>
                  <a:lnTo>
                    <a:pt x="31638" y="616061"/>
                  </a:lnTo>
                  <a:lnTo>
                    <a:pt x="65954" y="639208"/>
                  </a:lnTo>
                  <a:lnTo>
                    <a:pt x="107950" y="647700"/>
                  </a:lnTo>
                  <a:lnTo>
                    <a:pt x="1620266" y="647700"/>
                  </a:lnTo>
                  <a:lnTo>
                    <a:pt x="1662261" y="639208"/>
                  </a:lnTo>
                  <a:lnTo>
                    <a:pt x="1696577" y="616061"/>
                  </a:lnTo>
                  <a:lnTo>
                    <a:pt x="1719724" y="581745"/>
                  </a:lnTo>
                  <a:lnTo>
                    <a:pt x="1728216" y="539750"/>
                  </a:lnTo>
                  <a:lnTo>
                    <a:pt x="1728216" y="107950"/>
                  </a:lnTo>
                  <a:lnTo>
                    <a:pt x="1719724" y="65954"/>
                  </a:lnTo>
                  <a:lnTo>
                    <a:pt x="1696577" y="31638"/>
                  </a:lnTo>
                  <a:lnTo>
                    <a:pt x="1662261" y="8491"/>
                  </a:lnTo>
                  <a:lnTo>
                    <a:pt x="1620266" y="0"/>
                  </a:lnTo>
                  <a:close/>
                </a:path>
              </a:pathLst>
            </a:custGeom>
            <a:solidFill>
              <a:srgbClr val="4E85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25218" y="1701546"/>
              <a:ext cx="1728470" cy="790575"/>
            </a:xfrm>
            <a:custGeom>
              <a:avLst/>
              <a:gdLst/>
              <a:ahLst/>
              <a:cxnLst/>
              <a:rect l="l" t="t" r="r" b="b"/>
              <a:pathLst>
                <a:path w="1728470" h="790575">
                  <a:moveTo>
                    <a:pt x="0" y="107950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1008126" y="0"/>
                  </a:lnTo>
                  <a:lnTo>
                    <a:pt x="1440180" y="0"/>
                  </a:lnTo>
                  <a:lnTo>
                    <a:pt x="1620266" y="0"/>
                  </a:lnTo>
                  <a:lnTo>
                    <a:pt x="1662261" y="8491"/>
                  </a:lnTo>
                  <a:lnTo>
                    <a:pt x="1696577" y="31638"/>
                  </a:lnTo>
                  <a:lnTo>
                    <a:pt x="1719724" y="65954"/>
                  </a:lnTo>
                  <a:lnTo>
                    <a:pt x="1728216" y="107950"/>
                  </a:lnTo>
                  <a:lnTo>
                    <a:pt x="1728216" y="377825"/>
                  </a:lnTo>
                  <a:lnTo>
                    <a:pt x="1728216" y="539750"/>
                  </a:lnTo>
                  <a:lnTo>
                    <a:pt x="1719724" y="581745"/>
                  </a:lnTo>
                  <a:lnTo>
                    <a:pt x="1696577" y="616061"/>
                  </a:lnTo>
                  <a:lnTo>
                    <a:pt x="1662261" y="639208"/>
                  </a:lnTo>
                  <a:lnTo>
                    <a:pt x="1620266" y="647700"/>
                  </a:lnTo>
                  <a:lnTo>
                    <a:pt x="1440180" y="647700"/>
                  </a:lnTo>
                  <a:lnTo>
                    <a:pt x="1026540" y="790448"/>
                  </a:lnTo>
                  <a:lnTo>
                    <a:pt x="1008126" y="647700"/>
                  </a:lnTo>
                  <a:lnTo>
                    <a:pt x="107950" y="647700"/>
                  </a:lnTo>
                  <a:lnTo>
                    <a:pt x="65954" y="639208"/>
                  </a:lnTo>
                  <a:lnTo>
                    <a:pt x="31638" y="616061"/>
                  </a:lnTo>
                  <a:lnTo>
                    <a:pt x="8491" y="581745"/>
                  </a:lnTo>
                  <a:lnTo>
                    <a:pt x="0" y="539750"/>
                  </a:lnTo>
                  <a:lnTo>
                    <a:pt x="0" y="377825"/>
                  </a:lnTo>
                  <a:lnTo>
                    <a:pt x="0" y="107950"/>
                  </a:lnTo>
                  <a:close/>
                </a:path>
              </a:pathLst>
            </a:custGeom>
            <a:ln w="25907">
              <a:solidFill>
                <a:srgbClr val="375F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37638" y="1722577"/>
            <a:ext cx="1100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1330" y="1683258"/>
            <a:ext cx="1183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5080" indent="-2108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 =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selection  variable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73728" y="6107925"/>
            <a:ext cx="3580765" cy="763270"/>
            <a:chOff x="4173728" y="6107925"/>
            <a:chExt cx="3580765" cy="763270"/>
          </a:xfrm>
        </p:grpSpPr>
        <p:sp>
          <p:nvSpPr>
            <p:cNvPr id="13" name="object 13"/>
            <p:cNvSpPr/>
            <p:nvPr/>
          </p:nvSpPr>
          <p:spPr>
            <a:xfrm>
              <a:off x="4186682" y="6120879"/>
              <a:ext cx="3554729" cy="737235"/>
            </a:xfrm>
            <a:custGeom>
              <a:avLst/>
              <a:gdLst/>
              <a:ahLst/>
              <a:cxnLst/>
              <a:rect l="l" t="t" r="r" b="b"/>
              <a:pathLst>
                <a:path w="3554729" h="737234">
                  <a:moveTo>
                    <a:pt x="0" y="0"/>
                  </a:moveTo>
                  <a:lnTo>
                    <a:pt x="602488" y="363232"/>
                  </a:lnTo>
                  <a:lnTo>
                    <a:pt x="602488" y="651518"/>
                  </a:lnTo>
                  <a:lnTo>
                    <a:pt x="611558" y="696406"/>
                  </a:lnTo>
                  <a:lnTo>
                    <a:pt x="636285" y="733062"/>
                  </a:lnTo>
                  <a:lnTo>
                    <a:pt x="642302" y="737118"/>
                  </a:lnTo>
                  <a:lnTo>
                    <a:pt x="3514661" y="737118"/>
                  </a:lnTo>
                  <a:lnTo>
                    <a:pt x="3520678" y="733062"/>
                  </a:lnTo>
                  <a:lnTo>
                    <a:pt x="3545405" y="696406"/>
                  </a:lnTo>
                  <a:lnTo>
                    <a:pt x="3554475" y="651518"/>
                  </a:lnTo>
                  <a:lnTo>
                    <a:pt x="3554475" y="190258"/>
                  </a:lnTo>
                  <a:lnTo>
                    <a:pt x="602488" y="190258"/>
                  </a:lnTo>
                  <a:lnTo>
                    <a:pt x="0" y="0"/>
                  </a:lnTo>
                  <a:close/>
                </a:path>
                <a:path w="3554729" h="737234">
                  <a:moveTo>
                    <a:pt x="3439160" y="74942"/>
                  </a:moveTo>
                  <a:lnTo>
                    <a:pt x="717803" y="74942"/>
                  </a:lnTo>
                  <a:lnTo>
                    <a:pt x="672943" y="84004"/>
                  </a:lnTo>
                  <a:lnTo>
                    <a:pt x="636285" y="108716"/>
                  </a:lnTo>
                  <a:lnTo>
                    <a:pt x="611558" y="145371"/>
                  </a:lnTo>
                  <a:lnTo>
                    <a:pt x="602488" y="190258"/>
                  </a:lnTo>
                  <a:lnTo>
                    <a:pt x="3554475" y="190258"/>
                  </a:lnTo>
                  <a:lnTo>
                    <a:pt x="3545405" y="145371"/>
                  </a:lnTo>
                  <a:lnTo>
                    <a:pt x="3520678" y="108716"/>
                  </a:lnTo>
                  <a:lnTo>
                    <a:pt x="3484020" y="84004"/>
                  </a:lnTo>
                  <a:lnTo>
                    <a:pt x="3439160" y="74942"/>
                  </a:lnTo>
                  <a:close/>
                </a:path>
              </a:pathLst>
            </a:custGeom>
            <a:solidFill>
              <a:srgbClr val="EF7E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86682" y="6120879"/>
              <a:ext cx="3554729" cy="737235"/>
            </a:xfrm>
            <a:custGeom>
              <a:avLst/>
              <a:gdLst/>
              <a:ahLst/>
              <a:cxnLst/>
              <a:rect l="l" t="t" r="r" b="b"/>
              <a:pathLst>
                <a:path w="3554729" h="737234">
                  <a:moveTo>
                    <a:pt x="602488" y="190258"/>
                  </a:moveTo>
                  <a:lnTo>
                    <a:pt x="611558" y="145371"/>
                  </a:lnTo>
                  <a:lnTo>
                    <a:pt x="636285" y="108716"/>
                  </a:lnTo>
                  <a:lnTo>
                    <a:pt x="672943" y="84004"/>
                  </a:lnTo>
                  <a:lnTo>
                    <a:pt x="717803" y="74942"/>
                  </a:lnTo>
                  <a:lnTo>
                    <a:pt x="1094485" y="74942"/>
                  </a:lnTo>
                  <a:lnTo>
                    <a:pt x="1832482" y="74942"/>
                  </a:lnTo>
                  <a:lnTo>
                    <a:pt x="3439160" y="74942"/>
                  </a:lnTo>
                  <a:lnTo>
                    <a:pt x="3484020" y="84004"/>
                  </a:lnTo>
                  <a:lnTo>
                    <a:pt x="3520678" y="108716"/>
                  </a:lnTo>
                  <a:lnTo>
                    <a:pt x="3545405" y="145371"/>
                  </a:lnTo>
                  <a:lnTo>
                    <a:pt x="3554475" y="190258"/>
                  </a:lnTo>
                  <a:lnTo>
                    <a:pt x="3554475" y="363232"/>
                  </a:lnTo>
                  <a:lnTo>
                    <a:pt x="3554475" y="651518"/>
                  </a:lnTo>
                  <a:lnTo>
                    <a:pt x="3545405" y="696406"/>
                  </a:lnTo>
                  <a:lnTo>
                    <a:pt x="3520678" y="733062"/>
                  </a:lnTo>
                  <a:lnTo>
                    <a:pt x="3514661" y="737118"/>
                  </a:lnTo>
                </a:path>
                <a:path w="3554729" h="737234">
                  <a:moveTo>
                    <a:pt x="642302" y="737118"/>
                  </a:moveTo>
                  <a:lnTo>
                    <a:pt x="636285" y="733062"/>
                  </a:lnTo>
                  <a:lnTo>
                    <a:pt x="611558" y="696406"/>
                  </a:lnTo>
                  <a:lnTo>
                    <a:pt x="602488" y="651518"/>
                  </a:lnTo>
                  <a:lnTo>
                    <a:pt x="602488" y="363232"/>
                  </a:lnTo>
                  <a:lnTo>
                    <a:pt x="0" y="0"/>
                  </a:lnTo>
                  <a:lnTo>
                    <a:pt x="602488" y="190258"/>
                  </a:lnTo>
                </a:path>
              </a:pathLst>
            </a:custGeom>
            <a:ln w="25908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63744" y="6239662"/>
            <a:ext cx="2404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estimate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P(s=1|x)  using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classifier!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009" y="2407288"/>
            <a:ext cx="7660705" cy="2458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0432" y="483234"/>
            <a:ext cx="5262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" dirty="0"/>
              <a:t>Supervised</a:t>
            </a:r>
            <a:r>
              <a:rPr spc="-55" dirty="0"/>
              <a:t> </a:t>
            </a:r>
            <a:r>
              <a:rPr spc="-5" dirty="0"/>
              <a:t>adaptation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93369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681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Segoe UI"/>
                <a:cs typeface="Segoe UI"/>
              </a:rPr>
              <a:t>Goal: </a:t>
            </a:r>
            <a:r>
              <a:rPr sz="2800" spc="-10" dirty="0">
                <a:latin typeface="Segoe UI"/>
                <a:cs typeface="Segoe UI"/>
              </a:rPr>
              <a:t>learn </a:t>
            </a:r>
            <a:r>
              <a:rPr sz="2800" spc="-5" dirty="0">
                <a:latin typeface="Segoe UI"/>
                <a:cs typeface="Segoe UI"/>
              </a:rPr>
              <a:t>a classifier f that achieves </a:t>
            </a:r>
            <a:r>
              <a:rPr sz="2800" spc="-10" dirty="0">
                <a:latin typeface="Segoe UI"/>
                <a:cs typeface="Segoe UI"/>
              </a:rPr>
              <a:t>low  </a:t>
            </a:r>
            <a:r>
              <a:rPr sz="2800" spc="-5" dirty="0">
                <a:latin typeface="Segoe UI"/>
                <a:cs typeface="Segoe UI"/>
              </a:rPr>
              <a:t>expected loss under new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labeled training data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old</a:t>
            </a:r>
            <a:r>
              <a:rPr sz="2800" spc="9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12004"/>
            <a:ext cx="7297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And </a:t>
            </a:r>
            <a:r>
              <a:rPr sz="2800" spc="-5" dirty="0">
                <a:latin typeface="Segoe UI"/>
                <a:cs typeface="Segoe UI"/>
              </a:rPr>
              <a:t>labeled examples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new</a:t>
            </a:r>
            <a:r>
              <a:rPr sz="2800" spc="5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584" y="2167373"/>
            <a:ext cx="728586" cy="2555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98" y="3646783"/>
            <a:ext cx="705864" cy="38405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763267" y="3585988"/>
            <a:ext cx="2646045" cy="593090"/>
            <a:chOff x="1763267" y="3585988"/>
            <a:chExt cx="2646045" cy="5930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1078" y="3731618"/>
              <a:ext cx="2516823" cy="3007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3267" y="3585988"/>
              <a:ext cx="2645668" cy="59281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11726" y="5085591"/>
            <a:ext cx="4074160" cy="588010"/>
            <a:chOff x="911726" y="5085591"/>
            <a:chExt cx="4074160" cy="58801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726" y="5085605"/>
              <a:ext cx="2832434" cy="5193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8047" y="5085591"/>
              <a:ext cx="3077526" cy="587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073" y="147955"/>
            <a:ext cx="4927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215" marR="5080" indent="-819150">
              <a:lnSpc>
                <a:spcPct val="100000"/>
              </a:lnSpc>
              <a:spcBef>
                <a:spcPts val="100"/>
              </a:spcBef>
              <a:tabLst>
                <a:tab pos="3282950" algn="l"/>
              </a:tabLst>
            </a:pPr>
            <a:r>
              <a:rPr spc="-5" dirty="0"/>
              <a:t>On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solutio</a:t>
            </a:r>
            <a:r>
              <a:rPr spc="-20" dirty="0"/>
              <a:t>n</a:t>
            </a:r>
            <a:r>
              <a:rPr dirty="0"/>
              <a:t>:	</a:t>
            </a:r>
            <a:r>
              <a:rPr spc="-20" dirty="0"/>
              <a:t>f</a:t>
            </a:r>
            <a:r>
              <a:rPr dirty="0"/>
              <a:t>eatu</a:t>
            </a:r>
            <a:r>
              <a:rPr spc="-100" dirty="0"/>
              <a:t>r</a:t>
            </a:r>
            <a:r>
              <a:rPr dirty="0"/>
              <a:t>e  </a:t>
            </a:r>
            <a:r>
              <a:rPr spc="-5" dirty="0"/>
              <a:t>augmentation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36774"/>
            <a:ext cx="7856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Map </a:t>
            </a:r>
            <a:r>
              <a:rPr sz="2800" spc="-10" dirty="0">
                <a:latin typeface="Segoe UI"/>
                <a:cs typeface="Segoe UI"/>
              </a:rPr>
              <a:t>inputs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a new augmented</a:t>
            </a:r>
            <a:r>
              <a:rPr sz="2800" spc="7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representation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519" y="3167140"/>
            <a:ext cx="7106769" cy="27728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073" y="147955"/>
            <a:ext cx="4927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215" marR="5080" indent="-819150">
              <a:lnSpc>
                <a:spcPct val="100000"/>
              </a:lnSpc>
              <a:spcBef>
                <a:spcPts val="100"/>
              </a:spcBef>
              <a:tabLst>
                <a:tab pos="3282950" algn="l"/>
              </a:tabLst>
            </a:pPr>
            <a:r>
              <a:rPr spc="-5" dirty="0"/>
              <a:t>On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solutio</a:t>
            </a:r>
            <a:r>
              <a:rPr spc="-20" dirty="0"/>
              <a:t>n</a:t>
            </a:r>
            <a:r>
              <a:rPr dirty="0"/>
              <a:t>:	</a:t>
            </a:r>
            <a:r>
              <a:rPr spc="-20" dirty="0"/>
              <a:t>f</a:t>
            </a:r>
            <a:r>
              <a:rPr dirty="0"/>
              <a:t>eatu</a:t>
            </a:r>
            <a:r>
              <a:rPr spc="-100" dirty="0"/>
              <a:t>r</a:t>
            </a:r>
            <a:r>
              <a:rPr dirty="0"/>
              <a:t>e  </a:t>
            </a:r>
            <a:r>
              <a:rPr spc="-5" dirty="0"/>
              <a:t>augmentation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493634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5440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0" dirty="0">
                <a:latin typeface="Segoe UI"/>
                <a:cs typeface="Segoe UI"/>
              </a:rPr>
              <a:t>Transform </a:t>
            </a:r>
            <a:r>
              <a:rPr sz="3200" spc="-5" dirty="0">
                <a:latin typeface="Segoe UI"/>
                <a:cs typeface="Segoe UI"/>
              </a:rPr>
              <a:t>Dold </a:t>
            </a:r>
            <a:r>
              <a:rPr sz="3200" dirty="0">
                <a:latin typeface="Segoe UI"/>
                <a:cs typeface="Segoe UI"/>
              </a:rPr>
              <a:t>and </a:t>
            </a:r>
            <a:r>
              <a:rPr sz="3200" spc="-5" dirty="0">
                <a:latin typeface="Segoe UI"/>
                <a:cs typeface="Segoe UI"/>
              </a:rPr>
              <a:t>Dnew </a:t>
            </a:r>
            <a:r>
              <a:rPr sz="3200" dirty="0">
                <a:latin typeface="Segoe UI"/>
                <a:cs typeface="Segoe UI"/>
              </a:rPr>
              <a:t>training  examples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5" dirty="0">
                <a:latin typeface="Segoe UI"/>
                <a:cs typeface="Segoe UI"/>
              </a:rPr>
              <a:t>Train </a:t>
            </a:r>
            <a:r>
              <a:rPr sz="3200" dirty="0">
                <a:latin typeface="Segoe UI"/>
                <a:cs typeface="Segoe UI"/>
              </a:rPr>
              <a:t>a classifier on new</a:t>
            </a:r>
            <a:r>
              <a:rPr sz="3200" spc="2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representations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Done!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073" y="147955"/>
            <a:ext cx="49276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215" marR="5080" indent="-819150">
              <a:lnSpc>
                <a:spcPct val="100000"/>
              </a:lnSpc>
              <a:spcBef>
                <a:spcPts val="100"/>
              </a:spcBef>
              <a:tabLst>
                <a:tab pos="3282950" algn="l"/>
              </a:tabLst>
            </a:pPr>
            <a:r>
              <a:rPr spc="-5" dirty="0"/>
              <a:t>On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solutio</a:t>
            </a:r>
            <a:r>
              <a:rPr spc="-20" dirty="0"/>
              <a:t>n</a:t>
            </a:r>
            <a:r>
              <a:rPr dirty="0"/>
              <a:t>:	</a:t>
            </a:r>
            <a:r>
              <a:rPr spc="-20" dirty="0"/>
              <a:t>f</a:t>
            </a:r>
            <a:r>
              <a:rPr dirty="0"/>
              <a:t>eatu</a:t>
            </a:r>
            <a:r>
              <a:rPr spc="-100" dirty="0"/>
              <a:t>r</a:t>
            </a:r>
            <a:r>
              <a:rPr dirty="0"/>
              <a:t>e  </a:t>
            </a:r>
            <a:r>
              <a:rPr spc="-5" dirty="0"/>
              <a:t>augmentation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68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pc="-5" dirty="0"/>
              <a:t>Adding instance </a:t>
            </a:r>
            <a:r>
              <a:rPr dirty="0"/>
              <a:t>weighting </a:t>
            </a:r>
            <a:r>
              <a:rPr spc="-5" dirty="0"/>
              <a:t>might </a:t>
            </a:r>
            <a:r>
              <a:rPr dirty="0"/>
              <a:t>be useful  </a:t>
            </a:r>
            <a:r>
              <a:rPr spc="-5" dirty="0"/>
              <a:t>if </a:t>
            </a:r>
            <a:r>
              <a:rPr dirty="0"/>
              <a:t>N </a:t>
            </a:r>
            <a:r>
              <a:rPr spc="5" dirty="0"/>
              <a:t>&gt;&gt;</a:t>
            </a:r>
            <a:r>
              <a:rPr spc="-30" dirty="0"/>
              <a:t> </a:t>
            </a:r>
            <a:r>
              <a:rPr dirty="0"/>
              <a:t>M</a:t>
            </a:r>
          </a:p>
          <a:p>
            <a:pPr marL="5080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/>
          </a:p>
          <a:p>
            <a:pPr marL="360680" marR="208279" indent="-342900">
              <a:lnSpc>
                <a:spcPct val="100000"/>
              </a:lnSpc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dirty="0"/>
              <a:t>Most effective when distributions </a:t>
            </a:r>
            <a:r>
              <a:rPr spc="-10" dirty="0"/>
              <a:t>are</a:t>
            </a:r>
            <a:r>
              <a:rPr spc="-60" dirty="0"/>
              <a:t> </a:t>
            </a:r>
            <a:r>
              <a:rPr dirty="0"/>
              <a:t>“not  </a:t>
            </a:r>
            <a:r>
              <a:rPr spc="-10" dirty="0"/>
              <a:t>too </a:t>
            </a:r>
            <a:r>
              <a:rPr dirty="0"/>
              <a:t>close but not </a:t>
            </a:r>
            <a:r>
              <a:rPr spc="-10" dirty="0"/>
              <a:t>too</a:t>
            </a:r>
            <a:r>
              <a:rPr dirty="0"/>
              <a:t> </a:t>
            </a:r>
            <a:r>
              <a:rPr spc="50" dirty="0"/>
              <a:t>far”</a:t>
            </a:r>
          </a:p>
          <a:p>
            <a:pPr marL="761365" marR="433070" indent="-28702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5" dirty="0"/>
              <a:t>In practice, always </a:t>
            </a:r>
            <a:r>
              <a:rPr sz="2800" spc="35" dirty="0"/>
              <a:t>try </a:t>
            </a:r>
            <a:r>
              <a:rPr sz="2800" spc="-5" dirty="0"/>
              <a:t>“old </a:t>
            </a:r>
            <a:r>
              <a:rPr sz="2800" spc="-25" dirty="0"/>
              <a:t>only”, </a:t>
            </a:r>
            <a:r>
              <a:rPr sz="2800" spc="-5" dirty="0"/>
              <a:t>“new</a:t>
            </a:r>
            <a:r>
              <a:rPr sz="2800" spc="-100" dirty="0"/>
              <a:t> </a:t>
            </a:r>
            <a:r>
              <a:rPr sz="2800" spc="-25" dirty="0"/>
              <a:t>only”,  </a:t>
            </a:r>
            <a:r>
              <a:rPr sz="2800" spc="-5" dirty="0"/>
              <a:t>“union </a:t>
            </a:r>
            <a:r>
              <a:rPr sz="2800" spc="-25" dirty="0"/>
              <a:t>of </a:t>
            </a:r>
            <a:r>
              <a:rPr sz="2800" spc="-5" dirty="0"/>
              <a:t>old and new” as</a:t>
            </a:r>
            <a:r>
              <a:rPr sz="2800" spc="10" dirty="0"/>
              <a:t> </a:t>
            </a:r>
            <a:r>
              <a:rPr sz="2800" spc="-10" dirty="0"/>
              <a:t>well!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9576" y="147955"/>
            <a:ext cx="52457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Typical </a:t>
            </a:r>
            <a:r>
              <a:rPr spc="-5" dirty="0"/>
              <a:t>Design </a:t>
            </a:r>
            <a:r>
              <a:rPr spc="-15" dirty="0"/>
              <a:t>Process  </a:t>
            </a:r>
            <a:r>
              <a:rPr dirty="0"/>
              <a:t>for </a:t>
            </a:r>
            <a:r>
              <a:rPr spc="-5" dirty="0"/>
              <a:t>an </a:t>
            </a:r>
            <a:r>
              <a:rPr dirty="0"/>
              <a:t>ML</a:t>
            </a:r>
            <a:r>
              <a:rPr spc="-95" dirty="0"/>
              <a:t> </a:t>
            </a:r>
            <a:r>
              <a:rPr spc="-5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255" y="1690490"/>
            <a:ext cx="5786060" cy="5098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1097" y="483234"/>
            <a:ext cx="3783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 </a:t>
            </a:r>
            <a:r>
              <a:rPr spc="-5" dirty="0"/>
              <a:t>is</a:t>
            </a:r>
            <a:r>
              <a:rPr spc="-90" dirty="0"/>
              <a:t> </a:t>
            </a:r>
            <a:r>
              <a:rPr spc="25" dirty="0"/>
              <a:t>pervasive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050821"/>
            <a:ext cx="6668134" cy="30981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the</a:t>
            </a:r>
            <a:r>
              <a:rPr sz="2800" spc="-10" dirty="0">
                <a:latin typeface="Segoe UI"/>
                <a:cs typeface="Segoe UI"/>
              </a:rPr>
              <a:t> labeling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Segoe UI"/>
                <a:cs typeface="Segoe UI"/>
              </a:rPr>
              <a:t>Sample </a:t>
            </a:r>
            <a:r>
              <a:rPr sz="2800" spc="-10" dirty="0">
                <a:latin typeface="Segoe UI"/>
                <a:cs typeface="Segoe UI"/>
              </a:rPr>
              <a:t>selection </a:t>
            </a:r>
            <a:r>
              <a:rPr sz="2800" spc="-5" dirty="0">
                <a:latin typeface="Segoe UI"/>
                <a:cs typeface="Segoe UI"/>
              </a:rPr>
              <a:t>bias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choice </a:t>
            </a:r>
            <a:r>
              <a:rPr sz="2800" spc="-25" dirty="0">
                <a:latin typeface="Segoe UI"/>
                <a:cs typeface="Segoe UI"/>
              </a:rPr>
              <a:t>of</a:t>
            </a:r>
            <a:r>
              <a:rPr sz="2800" spc="-4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labels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</a:t>
            </a:r>
            <a:r>
              <a:rPr sz="2800" spc="-10" dirty="0">
                <a:latin typeface="Segoe UI"/>
                <a:cs typeface="Segoe UI"/>
              </a:rPr>
              <a:t>features </a:t>
            </a:r>
            <a:r>
              <a:rPr sz="2800" spc="-5" dirty="0">
                <a:latin typeface="Segoe UI"/>
                <a:cs typeface="Segoe UI"/>
              </a:rPr>
              <a:t>or model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structure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Bias </a:t>
            </a:r>
            <a:r>
              <a:rPr sz="2800" spc="-5" dirty="0">
                <a:latin typeface="Segoe UI"/>
                <a:cs typeface="Segoe UI"/>
              </a:rPr>
              <a:t>in </a:t>
            </a:r>
            <a:r>
              <a:rPr sz="2800" spc="-10" dirty="0">
                <a:latin typeface="Segoe UI"/>
                <a:cs typeface="Segoe UI"/>
              </a:rPr>
              <a:t>loss </a:t>
            </a:r>
            <a:r>
              <a:rPr sz="2800" spc="-5" dirty="0">
                <a:latin typeface="Segoe UI"/>
                <a:cs typeface="Segoe UI"/>
              </a:rPr>
              <a:t>function</a:t>
            </a:r>
            <a:endParaRPr sz="2800">
              <a:latin typeface="Segoe UI"/>
              <a:cs typeface="Segoe UI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10" dirty="0">
                <a:latin typeface="Segoe UI"/>
                <a:cs typeface="Segoe UI"/>
              </a:rPr>
              <a:t>Deployed systems </a:t>
            </a:r>
            <a:r>
              <a:rPr sz="2800" spc="-15" dirty="0">
                <a:latin typeface="Segoe UI"/>
                <a:cs typeface="Segoe UI"/>
              </a:rPr>
              <a:t>create </a:t>
            </a:r>
            <a:r>
              <a:rPr sz="2800" spc="-10" dirty="0">
                <a:latin typeface="Segoe UI"/>
                <a:cs typeface="Segoe UI"/>
              </a:rPr>
              <a:t>feedback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loops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7613" y="483234"/>
            <a:ext cx="46691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ACM </a:t>
            </a:r>
            <a:r>
              <a:rPr spc="-5" dirty="0"/>
              <a:t>Code </a:t>
            </a:r>
            <a:r>
              <a:rPr spc="-60" dirty="0"/>
              <a:t>of</a:t>
            </a:r>
            <a:r>
              <a:rPr spc="-75" dirty="0"/>
              <a:t> </a:t>
            </a:r>
            <a:r>
              <a:rPr dirty="0"/>
              <a:t>Ethics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7962900" cy="341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1.1 Contribute to society and to human well-being, acknowledging that all people are stakeholders in computing.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1.2 Avoid harm.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1.3 Be honest and trustworthy.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1.4 Be fair and take action not to discriminate.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1.5 Respect the work required to produce new ideas, inventions, creative works, and computing artifacts.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1.6 Respect privacy.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5" dirty="0">
                <a:latin typeface="Segoe UI"/>
                <a:cs typeface="Segoe UI"/>
              </a:rPr>
              <a:t>1.7 Honor confidentiality.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8488" y="6121400"/>
            <a:ext cx="7643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latin typeface="Segoe UI Light"/>
                <a:cs typeface="Segoe UI Light"/>
              </a:rPr>
              <a:t>https:</a:t>
            </a:r>
            <a:r>
              <a:rPr sz="1800" b="0" spc="-10" dirty="0">
                <a:latin typeface="Segoe UI Light"/>
                <a:cs typeface="Segoe UI Light"/>
                <a:hlinkClick r:id="rId2"/>
              </a:rPr>
              <a:t>//w</a:t>
            </a:r>
            <a:r>
              <a:rPr sz="1800" b="0" spc="-10" dirty="0">
                <a:latin typeface="Segoe UI Light"/>
                <a:cs typeface="Segoe UI Light"/>
              </a:rPr>
              <a:t>ww</a:t>
            </a:r>
            <a:r>
              <a:rPr sz="1800" b="0" spc="-10" dirty="0">
                <a:latin typeface="Segoe UI Light"/>
                <a:cs typeface="Segoe UI Light"/>
                <a:hlinkClick r:id="rId2"/>
              </a:rPr>
              <a:t>.acm.org/about-acm/acm-code-of-ethics-and-professional-conduct</a:t>
            </a:r>
            <a:endParaRPr sz="1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6741" y="483234"/>
            <a:ext cx="64319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 </a:t>
            </a:r>
            <a:r>
              <a:rPr spc="-5" dirty="0"/>
              <a:t>and how </a:t>
            </a:r>
            <a:r>
              <a:rPr dirty="0"/>
              <a:t>to </a:t>
            </a:r>
            <a:r>
              <a:rPr spc="-5" dirty="0"/>
              <a:t>deal </a:t>
            </a:r>
            <a:r>
              <a:rPr dirty="0"/>
              <a:t>with</a:t>
            </a:r>
            <a:r>
              <a:rPr spc="-135" dirty="0"/>
              <a:t> </a:t>
            </a:r>
            <a:r>
              <a:rPr spc="-5" dirty="0"/>
              <a:t>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4869815" cy="2854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0" dirty="0">
                <a:latin typeface="Segoe UI"/>
                <a:cs typeface="Segoe UI"/>
              </a:rPr>
              <a:t>Train/test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mismatch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10" dirty="0">
                <a:latin typeface="Segoe UI"/>
                <a:cs typeface="Segoe UI"/>
              </a:rPr>
              <a:t>Unsupervised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adaptation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15" dirty="0">
                <a:latin typeface="Segoe UI"/>
                <a:cs typeface="Segoe UI"/>
              </a:rPr>
              <a:t>Supervised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adaptation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478</Words>
  <Application>Microsoft Office PowerPoint</Application>
  <PresentationFormat>On-screen Show (4:3)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Segoe UI Light</vt:lpstr>
      <vt:lpstr>Calibri Light</vt:lpstr>
      <vt:lpstr>Arial</vt:lpstr>
      <vt:lpstr>Calibri</vt:lpstr>
      <vt:lpstr>Segoe UI</vt:lpstr>
      <vt:lpstr>Office Theme</vt:lpstr>
      <vt:lpstr>CSCI/ARTI 8950 Machine Learning</vt:lpstr>
      <vt:lpstr>PowerPoint Presentation</vt:lpstr>
      <vt:lpstr>PowerPoint Presentation</vt:lpstr>
      <vt:lpstr>PowerPoint Presentation</vt:lpstr>
      <vt:lpstr>Recall: Formal Definition of Binary  Classification (from CIML)</vt:lpstr>
      <vt:lpstr>Train/Test Mismatch</vt:lpstr>
      <vt:lpstr>Domain Adaptation</vt:lpstr>
      <vt:lpstr>Unsupervised adaptation</vt:lpstr>
      <vt:lpstr>Relation between test loss in new  domain and old domain</vt:lpstr>
      <vt:lpstr>How can we estimate the ratio  between Dnew and Dold?</vt:lpstr>
      <vt:lpstr>PowerPoint Presentation</vt:lpstr>
      <vt:lpstr>Supervised adaptation</vt:lpstr>
      <vt:lpstr>One solution: feature  augmentation</vt:lpstr>
      <vt:lpstr>One solution: feature  augmentation</vt:lpstr>
      <vt:lpstr>One solution: feature  augmentation</vt:lpstr>
      <vt:lpstr>Typical Design Process  for an ML Application</vt:lpstr>
      <vt:lpstr>Bias is pervasive</vt:lpstr>
      <vt:lpstr>ACM Code of Ethics</vt:lpstr>
      <vt:lpstr>Bias and how to deal with 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CSCI_8950_Lec9_Bias_Fairness</dc:title>
  <cp:lastModifiedBy>Khaled M Rasheed</cp:lastModifiedBy>
  <cp:revision>5</cp:revision>
  <dcterms:created xsi:type="dcterms:W3CDTF">2020-09-26T21:24:48Z</dcterms:created>
  <dcterms:modified xsi:type="dcterms:W3CDTF">2026-09-28T15:38:43Z</dcterms:modified>
</cp:coreProperties>
</file>