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6" r:id="rId2"/>
  </p:sldMasterIdLst>
  <p:notesMasterIdLst>
    <p:notesMasterId r:id="rId2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7" r:id="rId10"/>
    <p:sldId id="268" r:id="rId11"/>
    <p:sldId id="269" r:id="rId12"/>
    <p:sldId id="270" r:id="rId13"/>
    <p:sldId id="281" r:id="rId14"/>
    <p:sldId id="283" r:id="rId15"/>
    <p:sldId id="282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94" r:id="rId27"/>
  </p:sldIdLst>
  <p:sldSz cx="9144000" cy="6858000" type="screen4x3"/>
  <p:notesSz cx="9144000" cy="6858000"/>
  <p:embeddedFontLst>
    <p:embeddedFont>
      <p:font typeface="Segoe UI" panose="020B0502040204020203" pitchFamily="34" charset="0"/>
      <p:regular r:id="rId29"/>
      <p:bold r:id="rId30"/>
      <p:italic r:id="rId31"/>
      <p:boldItalic r:id="rId32"/>
    </p:embeddedFont>
    <p:embeddedFont>
      <p:font typeface="Segoe UI Light" panose="020B0502040204020203" pitchFamily="34" charset="0"/>
      <p:regular r:id="rId33"/>
      <p:italic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314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font" Target="fonts/font6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5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4.fntdata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2.fntdata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8D4187-D61E-4E7D-A554-E78D683F6CE9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84FA01-026C-456F-B51B-71006A6F7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97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67BB1143-8DEE-4FC8-8CFD-A8E202807D91}" type="slidenum">
              <a:t>2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31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E3197980-A3F2-4942-8477-A1F6AEE6E2FD}" type="slidenum">
              <a:t>3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642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CB7CAEAC-1540-466F-AA7B-7202D0422B3D}" type="slidenum">
              <a:t>4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201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FF67BBF8-23CD-4D39-81EB-85FD6BF9C411}" type="slidenum">
              <a:t>5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8471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6C026E45-95B8-40D1-8D91-64265ED55718}" type="slidenum">
              <a:t>6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9337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7F4C0403-C00D-4EC3-B36C-CE4E36311B78}" type="slidenum">
              <a:t>7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4249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9FEA8E71-23CB-4102-90BF-A56612CCCA3A}" type="slidenum">
              <a:t>8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4584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305D2C7A-50FB-4473-A043-34005D7DB122}" type="slidenum">
              <a:t>9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4152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B6265FFE-AD6A-4247-ACEE-B0249E26A60B}" type="slidenum">
              <a:t>10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807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4A6FA7BE-663E-4F3E-ADC8-FD2760BEEAA4}" type="slidenum">
              <a:t>11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9039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EF0AE677-E742-4052-A8DA-737013C64CD0}" type="slidenum">
              <a:t>12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830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EF0AE677-E742-4052-A8DA-737013C64CD0}" type="slidenum">
              <a:t>13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830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448204E8-5568-49D0-8344-BCF3621478C6}" type="slidenum">
              <a:t>14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3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7/27/2026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AFE9AB5F-BB37-4499-AB12-D1B7E7ED6C81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0623AF42-CB36-4035-8ADB-B98DD322559D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6716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7/27/2026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FC36F809-6815-4069-8F0A-82A9516535F9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6DB2D41-A2D6-4C62-9092-67A705845AE6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1482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7/27/2026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25C9B93F-0A16-40D7-9116-7A4C596C8886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281A0D68-E51A-4D70-AF2B-C965408A60E1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3970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7/27/2026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25C9B93F-0A16-40D7-9116-7A4C596C8886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281A0D68-E51A-4D70-AF2B-C965408A60E1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9681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7/27/2026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95815F08-3A51-4809-82A0-FEB8FA99B6FF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82DD9A7F-9606-4D44-B31C-23FD1E444E90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5053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7/27/2026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6EE4E6C-B58F-45DA-BB22-8452F42EF629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DA9533D0-15C8-43B7-82D3-BFF090E5F1CC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6505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7/27/2026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286E5AF3-D627-484A-AE26-52F9789FC571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66E19C1-2974-421C-A4CF-57DECD29602C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5733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7/27/2026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F0907A5C-1A57-4A68-9409-5922574A72D5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7A51C8BE-48BF-4454-9E16-98036E2358E9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28663"/>
            <a:ext cx="4795838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225319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521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7/27/2026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85E6F9A6-6629-4BCC-B80E-A4BD3FFFB916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91173468-604A-4A2D-BB84-724B28F36AD9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28663"/>
            <a:ext cx="4795838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225319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6966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7/27/2026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1BA4E873-2195-4248-8683-3D36455AB220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16A95BE5-E597-4AE0-81C9-0F182ED5FC73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28663"/>
            <a:ext cx="4795838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225319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60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32457" y="147955"/>
            <a:ext cx="487934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7616" y="134112"/>
            <a:ext cx="646176" cy="71323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3444F-1B1D-CB45-84B3-D21B2D8E9D88}" type="datetime1">
              <a:rPr lang="en-NZ" smtClean="0">
                <a:solidFill>
                  <a:prstClr val="black">
                    <a:tint val="75000"/>
                  </a:prstClr>
                </a:solidFill>
              </a:rPr>
              <a:t>27/07/2026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1942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22F2D-01B0-3D49-B3BE-16BB0489BDBB}" type="datetime1">
              <a:rPr lang="en-NZ" smtClean="0">
                <a:solidFill>
                  <a:prstClr val="black">
                    <a:tint val="75000"/>
                  </a:prstClr>
                </a:solidFill>
              </a:rPr>
              <a:t>27/07/2026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3307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0F417-22A5-3441-99CD-51306D5DFF5D}" type="datetime1">
              <a:rPr lang="en-NZ" smtClean="0">
                <a:solidFill>
                  <a:prstClr val="black">
                    <a:tint val="75000"/>
                  </a:prstClr>
                </a:solidFill>
              </a:rPr>
              <a:t>27/07/2026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2243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656F5-AD71-7141-B541-0C322B34DF22}" type="datetime1">
              <a:rPr lang="en-NZ" smtClean="0">
                <a:solidFill>
                  <a:prstClr val="black">
                    <a:tint val="75000"/>
                  </a:prstClr>
                </a:solidFill>
              </a:rPr>
              <a:t>27/07/2026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377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30C1-1B80-444C-B80E-B245601E4DE0}" type="datetime1">
              <a:rPr lang="en-NZ" smtClean="0">
                <a:solidFill>
                  <a:prstClr val="black">
                    <a:tint val="75000"/>
                  </a:prstClr>
                </a:solidFill>
              </a:rPr>
              <a:t>27/07/2026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744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43B5-DB86-6244-BD8C-BA15CBABCB00}" type="datetime1">
              <a:rPr lang="en-NZ" smtClean="0">
                <a:solidFill>
                  <a:prstClr val="black">
                    <a:tint val="75000"/>
                  </a:prstClr>
                </a:solidFill>
              </a:rPr>
              <a:t>27/07/2026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3349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35FC5-130E-644D-9CFA-437B6416D4E8}" type="datetime1">
              <a:rPr lang="en-NZ" smtClean="0">
                <a:solidFill>
                  <a:prstClr val="black">
                    <a:tint val="75000"/>
                  </a:prstClr>
                </a:solidFill>
              </a:rPr>
              <a:t>27/07/2026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42563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2A46D-1D1B-7F4A-B255-001A8291C9F2}" type="datetime1">
              <a:rPr lang="en-NZ" smtClean="0">
                <a:solidFill>
                  <a:prstClr val="black">
                    <a:tint val="75000"/>
                  </a:prstClr>
                </a:solidFill>
              </a:rPr>
              <a:t>27/07/2026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86983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N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B79C6-D685-CF48-99F6-F34CC1522850}" type="datetime1">
              <a:rPr lang="en-NZ" smtClean="0">
                <a:solidFill>
                  <a:prstClr val="black">
                    <a:tint val="75000"/>
                  </a:prstClr>
                </a:solidFill>
              </a:rPr>
              <a:t>27/07/2026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6625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ECE40-8140-C44B-87A9-5D6C676F00A6}" type="datetime1">
              <a:rPr lang="en-NZ" smtClean="0">
                <a:solidFill>
                  <a:prstClr val="black">
                    <a:tint val="75000"/>
                  </a:prstClr>
                </a:solidFill>
              </a:rPr>
              <a:t>27/07/2026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263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D2E26-7D59-784F-B0F5-8D9BEA679A45}" type="datetime1">
              <a:rPr lang="en-NZ" smtClean="0">
                <a:solidFill>
                  <a:prstClr val="black">
                    <a:tint val="75000"/>
                  </a:prstClr>
                </a:solidFill>
              </a:rPr>
              <a:t>27/07/2026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6563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26770" y="1005332"/>
            <a:ext cx="4290458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8464" y="1622501"/>
            <a:ext cx="8307070" cy="4077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08922" y="64689"/>
            <a:ext cx="7006428" cy="7000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NZ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15407"/>
            <a:ext cx="7886700" cy="4961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Z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4038AF-168D-4944-8C85-B27C6D73A159}" type="datetime1">
              <a:rPr lang="en-NZ" smtClean="0">
                <a:solidFill>
                  <a:prstClr val="black">
                    <a:tint val="75000"/>
                  </a:prstClr>
                </a:solidFill>
              </a:rPr>
              <a:t>27/07/2026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D3929-19F2-429B-ADDC-CA064EDFCD10}" type="slidenum">
              <a:rPr lang="en-NZ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6369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495" y="149352"/>
            <a:ext cx="6355080" cy="7284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12419" y="1635421"/>
            <a:ext cx="6918959" cy="623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spc="20" dirty="0">
                <a:solidFill>
                  <a:srgbClr val="0070C0"/>
                </a:solidFill>
              </a:rPr>
              <a:t>CSCI/ARTI </a:t>
            </a:r>
            <a:r>
              <a:rPr sz="3900" spc="45" dirty="0">
                <a:solidFill>
                  <a:srgbClr val="0070C0"/>
                </a:solidFill>
              </a:rPr>
              <a:t>8950 Machine</a:t>
            </a:r>
            <a:r>
              <a:rPr sz="3900" spc="-40" dirty="0">
                <a:solidFill>
                  <a:srgbClr val="0070C0"/>
                </a:solidFill>
              </a:rPr>
              <a:t> </a:t>
            </a:r>
            <a:r>
              <a:rPr sz="3900" spc="40" dirty="0">
                <a:solidFill>
                  <a:srgbClr val="0070C0"/>
                </a:solidFill>
              </a:rPr>
              <a:t>Learning</a:t>
            </a:r>
            <a:endParaRPr sz="3900"/>
          </a:p>
        </p:txBody>
      </p:sp>
      <p:sp>
        <p:nvSpPr>
          <p:cNvPr id="4" name="object 4"/>
          <p:cNvSpPr txBox="1"/>
          <p:nvPr/>
        </p:nvSpPr>
        <p:spPr>
          <a:xfrm>
            <a:off x="1295400" y="2382012"/>
            <a:ext cx="655320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Calibri"/>
                <a:cs typeface="Calibri"/>
              </a:rPr>
              <a:t>Lecture</a:t>
            </a:r>
            <a:r>
              <a:rPr lang="en-US" sz="2800" b="1" spc="-5" dirty="0">
                <a:latin typeface="Calibri"/>
                <a:cs typeface="Calibri"/>
              </a:rPr>
              <a:t> Note</a:t>
            </a:r>
            <a:r>
              <a:rPr sz="2800" b="1" spc="-5" dirty="0">
                <a:latin typeface="Calibri"/>
                <a:cs typeface="Calibri"/>
              </a:rPr>
              <a:t>s </a:t>
            </a:r>
            <a:r>
              <a:rPr sz="2800" b="1" dirty="0">
                <a:latin typeface="Calibri"/>
                <a:cs typeface="Calibri"/>
              </a:rPr>
              <a:t>1</a:t>
            </a:r>
            <a:r>
              <a:rPr lang="en-US" sz="2800" b="1" dirty="0">
                <a:latin typeface="Calibri"/>
                <a:cs typeface="Calibri"/>
              </a:rPr>
              <a:t>3</a:t>
            </a:r>
            <a:r>
              <a:rPr sz="2800" b="1" dirty="0">
                <a:latin typeface="Calibri"/>
                <a:cs typeface="Calibri"/>
              </a:rPr>
              <a:t>: </a:t>
            </a:r>
            <a:r>
              <a:rPr lang="en-US" sz="3200" b="1" spc="-5" dirty="0">
                <a:latin typeface="Calibri"/>
                <a:cs typeface="Calibri"/>
              </a:rPr>
              <a:t>Ensemble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Learning</a:t>
            </a:r>
            <a:r>
              <a:rPr lang="en-US" sz="3200" b="1" spc="-5" dirty="0">
                <a:latin typeface="Calibri"/>
                <a:cs typeface="Calibri"/>
              </a:rPr>
              <a:t>, Data Transformations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10756" y="6524243"/>
            <a:ext cx="609346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spc="-5" dirty="0">
                <a:latin typeface="Calibri"/>
                <a:cs typeface="Calibri"/>
              </a:rPr>
              <a:t>Source</a:t>
            </a:r>
            <a:r>
              <a:rPr sz="1400" spc="-5" dirty="0">
                <a:latin typeface="Calibri"/>
                <a:cs typeface="Calibri"/>
              </a:rPr>
              <a:t>: </a:t>
            </a:r>
            <a:r>
              <a:rPr lang="en-US" sz="1400" spc="-5" dirty="0">
                <a:latin typeface="Calibri"/>
                <a:cs typeface="Calibri"/>
              </a:rPr>
              <a:t>Data Mining by I. H. Witten, E. Frank, M. A. Hall and C. J. Pal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52A0EB5-B572-4C39-A4AF-D05108B343BC}"/>
              </a:ext>
            </a:extLst>
          </p:cNvPr>
          <p:cNvSpPr txBox="1">
            <a:spLocks/>
          </p:cNvSpPr>
          <p:nvPr/>
        </p:nvSpPr>
        <p:spPr>
          <a:xfrm>
            <a:off x="1143000" y="3434398"/>
            <a:ext cx="6858000" cy="2661602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Khaled Rasheed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Professor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 of Computing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Member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Institute for Artificial Intelligence</a:t>
            </a:r>
          </a:p>
          <a:p>
            <a:pPr algn="ctr"/>
            <a:r>
              <a:rPr lang="en-US" sz="2400" kern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University of Georgia</a:t>
            </a:r>
            <a:endParaRPr lang="en-US" sz="2400" kern="0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609600" y="152400"/>
            <a:ext cx="6324600" cy="673101"/>
          </a:xfrm>
        </p:spPr>
        <p:txBody>
          <a:bodyPr wrap="square" lIns="90360" tIns="44280" rIns="90360" bIns="44280" anchorCtr="0"/>
          <a:lstStyle/>
          <a:p>
            <a:pPr lvl="0"/>
            <a:r>
              <a:rPr lang="en-NZ" sz="3600" dirty="0"/>
              <a:t>Ensemble </a:t>
            </a:r>
            <a:r>
              <a:rPr lang="en-NZ" sz="4000" dirty="0"/>
              <a:t>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5110" y="1736876"/>
            <a:ext cx="8748889" cy="2735598"/>
          </a:xfrm>
          <a:prstGeom prst="rect">
            <a:avLst/>
          </a:prstGeom>
          <a:noFill/>
          <a:ln>
            <a:noFill/>
          </a:ln>
        </p:spPr>
        <p:txBody>
          <a:bodyPr vert="horz" wrap="square" lIns="90360" tIns="44280" rIns="90360" bIns="44280" anchor="t" anchorCtr="0" compatLnSpc="0">
            <a:spAutoFit/>
          </a:bodyPr>
          <a:lstStyle/>
          <a:p>
            <a:pPr marL="342900" marR="0" lvl="0" indent="-342900" algn="l" rtl="0" hangingPunct="0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NZ" sz="2200" b="0" i="0" u="none" strike="noStrike" baseline="0" dirty="0">
                <a:ln>
                  <a:noFill/>
                </a:ln>
                <a:solidFill>
                  <a:srgbClr val="000000"/>
                </a:solidFill>
                <a:latin typeface="Utopia" pitchFamily="18"/>
                <a:ea typeface="Gothic" pitchFamily="2"/>
                <a:cs typeface="Lucidasans" pitchFamily="2"/>
              </a:rPr>
              <a:t>Combining multiple models</a:t>
            </a:r>
          </a:p>
          <a:p>
            <a:pPr marL="742950" lvl="2" indent="-285750" hangingPunct="0">
              <a:spcBef>
                <a:spcPts val="598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NZ" b="0" i="0" u="none" strike="noStrike" baseline="0" dirty="0">
                <a:ln>
                  <a:noFill/>
                </a:ln>
                <a:solidFill>
                  <a:srgbClr val="000000"/>
                </a:solidFill>
                <a:latin typeface="Utopia" pitchFamily="18"/>
                <a:ea typeface="Gothic" pitchFamily="2"/>
                <a:cs typeface="Lucidasans" pitchFamily="2"/>
              </a:rPr>
              <a:t>The basic idea</a:t>
            </a:r>
          </a:p>
          <a:p>
            <a:pPr marL="342900" marR="0" lvl="0" indent="-342900" algn="l" rtl="0" hangingPunct="0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NZ" sz="2200" b="0" i="0" u="none" strike="noStrike" baseline="0" dirty="0">
                <a:ln>
                  <a:noFill/>
                </a:ln>
                <a:solidFill>
                  <a:srgbClr val="000000"/>
                </a:solidFill>
                <a:latin typeface="Utopia" pitchFamily="18"/>
                <a:ea typeface="Gothic" pitchFamily="2"/>
                <a:cs typeface="Lucidasans" pitchFamily="2"/>
              </a:rPr>
              <a:t>Bagging</a:t>
            </a:r>
          </a:p>
          <a:p>
            <a:pPr marL="742950" lvl="2" indent="-285750" hangingPunct="0">
              <a:spcBef>
                <a:spcPts val="499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NZ" b="0" i="0" u="none" strike="noStrike" baseline="0" dirty="0">
                <a:ln>
                  <a:noFill/>
                </a:ln>
                <a:solidFill>
                  <a:srgbClr val="000000"/>
                </a:solidFill>
                <a:latin typeface="Utopia" pitchFamily="18"/>
                <a:ea typeface="Gothic" pitchFamily="2"/>
                <a:cs typeface="Lucidasans" pitchFamily="2"/>
              </a:rPr>
              <a:t>Bias-variance decomposition, bagging with costs</a:t>
            </a:r>
          </a:p>
          <a:p>
            <a:pPr marL="342900" marR="0" lvl="0" indent="-342900" algn="l" rtl="0" hangingPunct="0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NZ" sz="2200" b="0" i="0" u="none" strike="noStrike" baseline="0" dirty="0">
                <a:ln>
                  <a:noFill/>
                </a:ln>
                <a:solidFill>
                  <a:srgbClr val="000000"/>
                </a:solidFill>
                <a:latin typeface="Utopia" pitchFamily="18"/>
                <a:ea typeface="Gothic" pitchFamily="2"/>
                <a:cs typeface="Lucidasans" pitchFamily="2"/>
              </a:rPr>
              <a:t>Boosting</a:t>
            </a:r>
          </a:p>
          <a:p>
            <a:pPr marL="742950" lvl="2" indent="-285750" hangingPunct="0">
              <a:spcBef>
                <a:spcPts val="499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NZ" b="0" i="0" u="none" strike="noStrike" baseline="0" dirty="0">
                <a:ln>
                  <a:noFill/>
                </a:ln>
                <a:solidFill>
                  <a:srgbClr val="000000"/>
                </a:solidFill>
                <a:latin typeface="Utopia" pitchFamily="18"/>
                <a:ea typeface="Gothic" pitchFamily="2"/>
                <a:cs typeface="Lucidasans" pitchFamily="2"/>
              </a:rPr>
              <a:t>AdaBoost, the power of boosting</a:t>
            </a:r>
          </a:p>
          <a:p>
            <a:pPr marL="342900" marR="0" lvl="0" indent="-342900" algn="l" rtl="0" hangingPunct="0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NZ" sz="2200" b="0" i="0" u="none" strike="noStrike" baseline="0" dirty="0">
                <a:ln>
                  <a:noFill/>
                </a:ln>
                <a:solidFill>
                  <a:srgbClr val="000000"/>
                </a:solidFill>
                <a:latin typeface="Utopia" pitchFamily="18"/>
                <a:ea typeface="Gothic" pitchFamily="2"/>
                <a:cs typeface="Lucidasans" pitchFamily="2"/>
              </a:rPr>
              <a:t>Stacking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331E08-4E9B-4BBE-96EB-2010C8501DD1}"/>
              </a:ext>
            </a:extLst>
          </p:cNvPr>
          <p:cNvSpPr txBox="1"/>
          <p:nvPr/>
        </p:nvSpPr>
        <p:spPr>
          <a:xfrm>
            <a:off x="533400" y="1066800"/>
            <a:ext cx="12093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Topics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838200" y="317499"/>
            <a:ext cx="7543800" cy="673101"/>
          </a:xfrm>
        </p:spPr>
        <p:txBody>
          <a:bodyPr wrap="square" lIns="90360" tIns="44280" rIns="90360" bIns="44280" anchorCtr="0">
            <a:normAutofit/>
          </a:bodyPr>
          <a:lstStyle/>
          <a:p>
            <a:pPr lvl="0"/>
            <a:r>
              <a:rPr lang="en-US" sz="3600" dirty="0"/>
              <a:t>Combining multiple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8761" y="1516944"/>
            <a:ext cx="7543799" cy="3219384"/>
          </a:xfrm>
          <a:prstGeom prst="rect">
            <a:avLst/>
          </a:prstGeom>
          <a:noFill/>
          <a:ln>
            <a:noFill/>
          </a:ln>
        </p:spPr>
        <p:txBody>
          <a:bodyPr vert="horz" wrap="square" lIns="90360" tIns="44280" rIns="90360" bIns="44280" anchor="t" anchorCtr="0" compatLnSpc="0">
            <a:spAutoFit/>
          </a:bodyPr>
          <a:lstStyle/>
          <a:p>
            <a:pPr marL="457200" marR="0" lvl="0" indent="-4572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latin typeface="Utopia" pitchFamily="18"/>
                <a:ea typeface="Gothic" pitchFamily="2"/>
                <a:cs typeface="Lucidasans" pitchFamily="2"/>
              </a:rPr>
              <a:t>Basic idea:</a:t>
            </a:r>
            <a:b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latin typeface="Utopia" pitchFamily="18"/>
                <a:ea typeface="Gothic" pitchFamily="2"/>
                <a:cs typeface="Lucidasans" pitchFamily="2"/>
              </a:rPr>
            </a:b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latin typeface="Utopia" pitchFamily="18"/>
                <a:ea typeface="Gothic" pitchFamily="2"/>
                <a:cs typeface="Lucidasans" pitchFamily="2"/>
              </a:rPr>
              <a:t>build different “experts”, let them vote</a:t>
            </a:r>
          </a:p>
          <a:p>
            <a:pPr marL="457200" marR="0" lvl="0" indent="-4572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latin typeface="Utopia" pitchFamily="18"/>
                <a:ea typeface="Gothic" pitchFamily="2"/>
                <a:cs typeface="Lucidasans" pitchFamily="2"/>
              </a:rPr>
              <a:t>Advantage:</a:t>
            </a:r>
          </a:p>
          <a:p>
            <a:pPr marL="800100" lvl="2" indent="-342900" hangingPunct="0">
              <a:spcBef>
                <a:spcPts val="598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latin typeface="Utopia" pitchFamily="18"/>
                <a:ea typeface="Gothic" pitchFamily="2"/>
                <a:cs typeface="Lucidasans" pitchFamily="2"/>
              </a:rPr>
              <a:t>often improves predictive performance</a:t>
            </a:r>
          </a:p>
          <a:p>
            <a:pPr marL="457200" marR="0" lvl="0" indent="-4572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latin typeface="Utopia" pitchFamily="18"/>
                <a:ea typeface="Gothic" pitchFamily="2"/>
                <a:cs typeface="Lucidasans" pitchFamily="2"/>
              </a:rPr>
              <a:t>Disadvantage:</a:t>
            </a:r>
          </a:p>
          <a:p>
            <a:pPr marL="800100" lvl="2" indent="-342900" hangingPunct="0">
              <a:spcBef>
                <a:spcPts val="598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latin typeface="Utopia" pitchFamily="18"/>
                <a:ea typeface="Gothic" pitchFamily="2"/>
                <a:cs typeface="Lucidasans" pitchFamily="2"/>
              </a:rPr>
              <a:t>usually produces output that is very hard to analyze</a:t>
            </a:r>
          </a:p>
          <a:p>
            <a:pPr marL="800100" lvl="2" indent="-342900" hangingPunct="0">
              <a:spcBef>
                <a:spcPts val="697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latin typeface="Utopia" pitchFamily="18"/>
                <a:ea typeface="Gothic" pitchFamily="2"/>
                <a:cs typeface="Lucidasans" pitchFamily="2"/>
              </a:rPr>
              <a:t>but: there are approaches that aim to produce a single comprehensible 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066800" y="546099"/>
            <a:ext cx="7543800" cy="596901"/>
          </a:xfrm>
        </p:spPr>
        <p:txBody>
          <a:bodyPr wrap="square" lIns="90360" tIns="44280" rIns="90360" bIns="44280" anchorCtr="0">
            <a:normAutofit fontScale="90000"/>
          </a:bodyPr>
          <a:lstStyle/>
          <a:p>
            <a:pPr lvl="0"/>
            <a:r>
              <a:rPr lang="en-US" sz="3600" dirty="0"/>
              <a:t>Bagging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2057" y="1474819"/>
            <a:ext cx="7543799" cy="4410736"/>
          </a:xfrm>
          <a:prstGeom prst="rect">
            <a:avLst/>
          </a:prstGeom>
          <a:noFill/>
          <a:ln>
            <a:noFill/>
          </a:ln>
        </p:spPr>
        <p:txBody>
          <a:bodyPr vert="horz" wrap="square" lIns="90360" tIns="44280" rIns="90360" bIns="44280" anchor="t" anchorCtr="0" compatLnSpc="0">
            <a:spAutoFit/>
          </a:bodyPr>
          <a:lstStyle/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Combining predictions by voting/averaging</a:t>
            </a:r>
          </a:p>
          <a:p>
            <a:pPr marL="800100" lvl="2" indent="-342900" hangingPunct="0">
              <a:spcBef>
                <a:spcPts val="598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Each model receives equal weight</a:t>
            </a:r>
          </a:p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“Idealized” version:</a:t>
            </a:r>
          </a:p>
          <a:p>
            <a:pPr marL="800100" lvl="2" indent="-342900" hangingPunct="0">
              <a:spcBef>
                <a:spcPts val="598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Sample several training sets of size </a:t>
            </a:r>
            <a:r>
              <a:rPr lang="en-US" sz="2000" b="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n</a:t>
            </a:r>
            <a:br>
              <a:rPr lang="en-US" sz="2000" b="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</a:b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(instead of just having one training set of size </a:t>
            </a:r>
            <a:r>
              <a:rPr lang="en-US" sz="2000" b="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n</a:t>
            </a: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)</a:t>
            </a:r>
          </a:p>
          <a:p>
            <a:pPr marL="800100" lvl="2" indent="-342900" hangingPunct="0">
              <a:spcBef>
                <a:spcPts val="598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Build a classifier for each training set</a:t>
            </a:r>
          </a:p>
          <a:p>
            <a:pPr marL="800100" lvl="2" indent="-342900" hangingPunct="0">
              <a:spcBef>
                <a:spcPts val="598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Combine the classifiers’ predictions</a:t>
            </a:r>
          </a:p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Learning scheme is </a:t>
            </a:r>
            <a:r>
              <a:rPr lang="en-US" sz="2400" b="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unstable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</a:t>
            </a:r>
            <a:r>
              <a:rPr lang="en-US" sz="2800" b="1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→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</a:t>
            </a:r>
            <a:b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</a:b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almost always improves performance</a:t>
            </a:r>
          </a:p>
          <a:p>
            <a:pPr marL="800100" lvl="2" indent="-342900" hangingPunct="0">
              <a:spcBef>
                <a:spcPts val="598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Unstable learner: small change in training data can make big change in model (e.g., when learning decision trees)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600200" y="136524"/>
            <a:ext cx="7543800" cy="763589"/>
          </a:xfrm>
        </p:spPr>
        <p:txBody>
          <a:bodyPr wrap="square" lIns="90360" tIns="44280" rIns="90360" bIns="44280" anchorCtr="0">
            <a:normAutofit/>
          </a:bodyPr>
          <a:lstStyle/>
          <a:p>
            <a:pPr lvl="0"/>
            <a:r>
              <a:rPr lang="en-US" sz="3600" dirty="0"/>
              <a:t>Bias-variance decomposition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5057" y="924379"/>
            <a:ext cx="8064498" cy="5701346"/>
          </a:xfrm>
          <a:prstGeom prst="rect">
            <a:avLst/>
          </a:prstGeom>
          <a:noFill/>
          <a:ln>
            <a:noFill/>
          </a:ln>
        </p:spPr>
        <p:txBody>
          <a:bodyPr vert="horz" wrap="square" lIns="90360" tIns="44280" rIns="90360" bIns="44280" anchor="t" anchorCtr="0" compatLnSpc="0">
            <a:spAutoFit/>
          </a:bodyPr>
          <a:lstStyle/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The </a:t>
            </a:r>
            <a:r>
              <a:rPr lang="en-US" sz="2400" b="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bias-variance</a:t>
            </a:r>
            <a:r>
              <a:rPr lang="en-US" sz="2400" b="0" i="1" u="none" strike="noStrike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decomposition </a:t>
            </a:r>
            <a:r>
              <a:rPr lang="en-US" sz="2400" b="0" i="0" u="none" strike="noStrike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is </a:t>
            </a:r>
            <a:r>
              <a:rPr lang="en-US" sz="24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u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sed to analyze how much restriction to a single training set affects performance</a:t>
            </a:r>
          </a:p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Assume we have the idealized ensemble classifier discussed on the previous slide</a:t>
            </a:r>
            <a:endParaRPr lang="en-US" sz="2400" b="0" u="none" strike="noStrike" baseline="0" dirty="0">
              <a:ln>
                <a:noFill/>
              </a:ln>
              <a:solidFill>
                <a:srgbClr val="000000"/>
              </a:solidFill>
              <a:ea typeface="Gothic" pitchFamily="2"/>
              <a:cs typeface="Lucidasans" pitchFamily="2"/>
            </a:endParaRPr>
          </a:p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We can decompose the expected</a:t>
            </a:r>
            <a:r>
              <a:rPr lang="en-US" sz="2400" b="0" i="0" u="none" strike="noStrike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error of any individual ensemble member</a:t>
            </a:r>
            <a:r>
              <a:rPr lang="en-US" sz="2400" b="0" i="1" u="none" strike="noStrike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</a:t>
            </a:r>
            <a:r>
              <a:rPr lang="en-US" sz="2400" b="0" u="none" strike="noStrike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as follows:</a:t>
            </a:r>
            <a:endParaRPr lang="en-US" sz="2400" b="0" i="0" u="none" strike="noStrike" baseline="0" dirty="0">
              <a:ln>
                <a:noFill/>
              </a:ln>
              <a:solidFill>
                <a:srgbClr val="000000"/>
              </a:solidFill>
              <a:ea typeface="Gothic" pitchFamily="2"/>
              <a:cs typeface="Lucidasans" pitchFamily="2"/>
            </a:endParaRPr>
          </a:p>
          <a:p>
            <a:pPr marL="800100" lvl="2" indent="-342900" hangingPunct="0">
              <a:spcBef>
                <a:spcPts val="598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1252439" algn="l"/>
                <a:tab pos="1714319" algn="l"/>
                <a:tab pos="2628720" algn="l"/>
                <a:tab pos="3543120" algn="l"/>
                <a:tab pos="4457520" algn="l"/>
                <a:tab pos="5371920" algn="l"/>
                <a:tab pos="6286319" algn="l"/>
                <a:tab pos="7200720" algn="l"/>
                <a:tab pos="8115119" algn="l"/>
                <a:tab pos="9029519" algn="l"/>
              </a:tabLst>
            </a:pPr>
            <a:r>
              <a:rPr lang="en-US" sz="2000" b="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Bias</a:t>
            </a: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	 =</a:t>
            </a:r>
            <a:r>
              <a:rPr lang="en-US" sz="2000" b="0" i="0" u="none" strike="noStrike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</a:t>
            </a: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expected error of the ensemble classifier on new data</a:t>
            </a:r>
          </a:p>
          <a:p>
            <a:pPr marL="800100" lvl="2" indent="-342900" hangingPunct="0">
              <a:spcBef>
                <a:spcPts val="598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1252439" algn="l"/>
                <a:tab pos="1714319" algn="l"/>
                <a:tab pos="2628720" algn="l"/>
                <a:tab pos="3543120" algn="l"/>
                <a:tab pos="4457520" algn="l"/>
                <a:tab pos="5371920" algn="l"/>
                <a:tab pos="6286319" algn="l"/>
                <a:tab pos="7200720" algn="l"/>
                <a:tab pos="8115119" algn="l"/>
                <a:tab pos="9029519" algn="l"/>
              </a:tabLst>
            </a:pPr>
            <a:r>
              <a:rPr lang="en-US" sz="2000" b="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Variance</a:t>
            </a: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	 =</a:t>
            </a:r>
            <a:r>
              <a:rPr lang="en-US" sz="2000" b="0" i="0" u="none" strike="noStrike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component of the </a:t>
            </a: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expected error due to the</a:t>
            </a:r>
            <a:r>
              <a:rPr lang="en-US" sz="20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 </a:t>
            </a: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particular training set being used to built our</a:t>
            </a:r>
            <a:r>
              <a:rPr lang="en-US" sz="2000" b="0" i="0" u="none" strike="noStrike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classifier</a:t>
            </a:r>
            <a:endParaRPr lang="en-US" sz="2000" b="0" i="0" u="none" strike="noStrike" baseline="0" dirty="0">
              <a:ln>
                <a:noFill/>
              </a:ln>
              <a:solidFill>
                <a:srgbClr val="000000"/>
              </a:solidFill>
              <a:ea typeface="Gothic" pitchFamily="2"/>
              <a:cs typeface="Lucidasans" pitchFamily="2"/>
            </a:endParaRPr>
          </a:p>
          <a:p>
            <a:pPr marL="800100" lvl="1" indent="-342900" hangingPunct="0">
              <a:spcBef>
                <a:spcPts val="697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Total expected error </a:t>
            </a:r>
            <a:r>
              <a:rPr lang="en-US" sz="20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=</a:t>
            </a: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bias + variance</a:t>
            </a:r>
          </a:p>
          <a:p>
            <a:pPr marL="342900" indent="-342900" hangingPunct="0">
              <a:spcBef>
                <a:spcPts val="697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Note</a:t>
            </a:r>
            <a:r>
              <a:rPr lang="en-US" sz="2400" b="0" i="0" u="none" strike="noStrike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(A): we assume noise inherent in the data is part of the bias component as it cannot normally be measured</a:t>
            </a:r>
          </a:p>
          <a:p>
            <a:pPr marL="342900" indent="-342900" hangingPunct="0">
              <a:spcBef>
                <a:spcPts val="697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aseline="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Note (B): multiple versions of this decomposition exist for</a:t>
            </a:r>
            <a:r>
              <a:rPr lang="en-US" sz="24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 zero-one loss but the basic idea is always the same</a:t>
            </a:r>
            <a:endParaRPr lang="en-US" sz="2400" b="0" i="0" u="none" strike="noStrike" baseline="0" dirty="0">
              <a:ln>
                <a:noFill/>
              </a:ln>
              <a:solidFill>
                <a:srgbClr val="000000"/>
              </a:solidFill>
              <a:ea typeface="Gothic" pitchFamily="2"/>
              <a:cs typeface="Lucidasans" pitchFamily="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762000" y="228600"/>
            <a:ext cx="7543800" cy="671513"/>
          </a:xfrm>
        </p:spPr>
        <p:txBody>
          <a:bodyPr wrap="square" lIns="90360" tIns="44280" rIns="90360" bIns="44280" anchorCtr="0">
            <a:normAutofit/>
          </a:bodyPr>
          <a:lstStyle/>
          <a:p>
            <a:pPr lvl="0"/>
            <a:r>
              <a:rPr lang="en-US" sz="3600" dirty="0"/>
              <a:t>More on bagging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9999" y="988278"/>
            <a:ext cx="8410057" cy="4868938"/>
          </a:xfrm>
          <a:prstGeom prst="rect">
            <a:avLst/>
          </a:prstGeom>
          <a:noFill/>
          <a:ln>
            <a:noFill/>
          </a:ln>
        </p:spPr>
        <p:txBody>
          <a:bodyPr vert="horz" wrap="square" lIns="90360" tIns="44280" rIns="90360" bIns="44280" anchor="t" anchorCtr="0" compatLnSpc="0">
            <a:spAutoFit/>
          </a:bodyPr>
          <a:lstStyle/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The idealized version of b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agging improves performance because it eliminates the </a:t>
            </a:r>
            <a:r>
              <a:rPr lang="en-US" sz="2400" b="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variance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component of the error</a:t>
            </a:r>
          </a:p>
          <a:p>
            <a:pPr marL="800100" lvl="2" indent="-342900" hangingPunct="0">
              <a:spcBef>
                <a:spcPts val="598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Note: </a:t>
            </a:r>
            <a:r>
              <a:rPr lang="en-US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The bias-variance decomposition was originally only known for numeric prediction with squared error where the error </a:t>
            </a:r>
            <a:r>
              <a:rPr lang="en-US" b="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never</a:t>
            </a:r>
            <a:r>
              <a:rPr lang="en-US" b="0" i="0" u="none" strike="noStrike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increases</a:t>
            </a:r>
            <a:endParaRPr lang="en-US" b="0" i="0" u="none" strike="noStrike" baseline="0" dirty="0">
              <a:ln>
                <a:noFill/>
              </a:ln>
              <a:solidFill>
                <a:srgbClr val="000000"/>
              </a:solidFill>
              <a:ea typeface="Gothic" pitchFamily="2"/>
              <a:cs typeface="Lucidasans" pitchFamily="2"/>
            </a:endParaRPr>
          </a:p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Problem: we only have one dataset!</a:t>
            </a:r>
          </a:p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Solution: generate new datasets of size </a:t>
            </a:r>
            <a:r>
              <a:rPr lang="en-US" sz="2400" b="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n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by sampling from </a:t>
            </a:r>
            <a:r>
              <a:rPr lang="en-US" sz="24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the original dataset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</a:t>
            </a:r>
            <a:r>
              <a:rPr lang="en-US" sz="2400" b="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with replacement</a:t>
            </a:r>
          </a:p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This is what </a:t>
            </a:r>
            <a:r>
              <a:rPr lang="en-US" sz="2400" i="1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bagging</a:t>
            </a:r>
            <a:r>
              <a:rPr lang="en-US" sz="24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 does and even though the datasets are all dependent, bagging often reduces variance, and, thus, error</a:t>
            </a:r>
            <a:endParaRPr lang="en-US" sz="2400" b="0" u="none" strike="noStrike" baseline="0" dirty="0">
              <a:ln>
                <a:noFill/>
              </a:ln>
              <a:solidFill>
                <a:srgbClr val="000000"/>
              </a:solidFill>
              <a:ea typeface="Gothic" pitchFamily="2"/>
              <a:cs typeface="Lucidasans" pitchFamily="2"/>
            </a:endParaRPr>
          </a:p>
          <a:p>
            <a:pPr marL="800100" lvl="1" indent="-342900" hangingPunct="0">
              <a:spcBef>
                <a:spcPts val="697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Can be applied to numeric prediction</a:t>
            </a:r>
            <a:r>
              <a:rPr lang="en-US" sz="2000" b="0" i="0" u="none" strike="noStrike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and classification</a:t>
            </a:r>
            <a:endParaRPr lang="en-US" sz="2000" b="0" i="0" u="none" strike="noStrike" baseline="0" dirty="0">
              <a:ln>
                <a:noFill/>
              </a:ln>
              <a:solidFill>
                <a:srgbClr val="000000"/>
              </a:solidFill>
              <a:ea typeface="Gothic" pitchFamily="2"/>
              <a:cs typeface="Lucidasans" pitchFamily="2"/>
            </a:endParaRPr>
          </a:p>
          <a:p>
            <a:pPr marL="800100" lvl="1" indent="-342900" hangingPunct="0">
              <a:spcBef>
                <a:spcPts val="697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C</a:t>
            </a: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an help a lot if the data is noisy</a:t>
            </a:r>
          </a:p>
          <a:p>
            <a:pPr marL="800100" lvl="1" indent="-342900" hangingPunct="0">
              <a:spcBef>
                <a:spcPts val="697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Usually, the more classifiers the better, with diminishing returns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838200" y="303211"/>
            <a:ext cx="7543800" cy="763589"/>
          </a:xfrm>
        </p:spPr>
        <p:txBody>
          <a:bodyPr wrap="square" lIns="90360" tIns="44280" rIns="90360" bIns="44280" anchorCtr="0"/>
          <a:lstStyle/>
          <a:p>
            <a:pPr lvl="0"/>
            <a:r>
              <a:rPr lang="en-US" sz="3600" dirty="0"/>
              <a:t>Bagging </a:t>
            </a:r>
            <a:r>
              <a:rPr lang="en-US" dirty="0"/>
              <a:t>classifiers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7720" y="1752119"/>
            <a:ext cx="7620120" cy="1600560"/>
          </a:xfrm>
          <a:prstGeom prst="rect">
            <a:avLst/>
          </a:prstGeom>
          <a:solidFill>
            <a:srgbClr val="CCFFCC"/>
          </a:solidFill>
          <a:ln w="6480">
            <a:solidFill>
              <a:srgbClr val="008000"/>
            </a:solidFill>
            <a:prstDash val="solid"/>
            <a:miter/>
          </a:ln>
        </p:spPr>
        <p:txBody>
          <a:bodyPr vert="horz" wrap="square" lIns="92160" tIns="46080" rIns="92160" bIns="46080" anchor="t" anchorCtr="0" compatLnSpc="0">
            <a:spAutoFit/>
          </a:bodyPr>
          <a:lstStyle/>
          <a:p>
            <a:pPr marL="0" marR="0" lvl="0" indent="0" algn="l" rtl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Let </a:t>
            </a:r>
            <a:r>
              <a:rPr lang="en-AU" sz="1800" b="1" i="1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n</a:t>
            </a: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 be the number of instances in the training data</a:t>
            </a:r>
          </a:p>
          <a:p>
            <a:pPr marL="0" marR="0" lvl="0" indent="0" algn="l" rtl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For each of </a:t>
            </a:r>
            <a:r>
              <a:rPr lang="en-AU" sz="1800" b="1" i="1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t</a:t>
            </a: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 iterations:</a:t>
            </a:r>
          </a:p>
          <a:p>
            <a:pPr marL="0" marR="0" lvl="0" indent="0" algn="l" rtl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288720" algn="l"/>
                <a:tab pos="57600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	Sample </a:t>
            </a:r>
            <a:r>
              <a:rPr lang="en-AU" sz="1800" b="1" i="1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n </a:t>
            </a: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instances from training </a:t>
            </a:r>
            <a:r>
              <a:rPr lang="en-US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set</a:t>
            </a:r>
          </a:p>
          <a:p>
            <a:pPr marL="0" marR="0" lvl="0" indent="0" algn="l" rtl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288720" algn="l"/>
                <a:tab pos="57600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		(</a:t>
            </a: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with replacement)</a:t>
            </a:r>
          </a:p>
          <a:p>
            <a:pPr marL="0" marR="0" lvl="0" indent="0" algn="l" rtl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288720" algn="l"/>
                <a:tab pos="57600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	Apply learning algorithm to the sample</a:t>
            </a:r>
          </a:p>
          <a:p>
            <a:pPr marL="0" marR="0" lvl="0" indent="0" algn="l" rtl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288720" algn="l"/>
                <a:tab pos="57600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	Store resulting model</a:t>
            </a:r>
          </a:p>
        </p:txBody>
      </p:sp>
      <p:sp>
        <p:nvSpPr>
          <p:cNvPr id="4" name="Freeform 3"/>
          <p:cNvSpPr/>
          <p:nvPr/>
        </p:nvSpPr>
        <p:spPr>
          <a:xfrm>
            <a:off x="838080" y="4419720"/>
            <a:ext cx="7620120" cy="8380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 w="6480">
            <a:solidFill>
              <a:srgbClr val="008000"/>
            </a:solidFill>
            <a:prstDash val="solid"/>
            <a:miter/>
          </a:ln>
        </p:spPr>
        <p:txBody>
          <a:bodyPr vert="horz" wrap="square" lIns="92160" tIns="46080" rIns="92160" bIns="46080" anchor="t" anchorCtr="0" compatLnSpc="0">
            <a:noAutofit/>
          </a:bodyPr>
          <a:lstStyle/>
          <a:p>
            <a:pPr marL="0" marR="0" lvl="0" indent="0" algn="l" rtl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AU" sz="1800" b="1" i="0" u="none" strike="noStrike" baseline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For each of the </a:t>
            </a:r>
            <a:r>
              <a:rPr lang="en-AU" sz="1800" b="1" i="1" u="none" strike="noStrike" baseline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t </a:t>
            </a:r>
            <a:r>
              <a:rPr lang="en-AU" sz="1800" b="1" i="0" u="none" strike="noStrike" baseline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models:</a:t>
            </a:r>
          </a:p>
          <a:p>
            <a:pPr marL="0" marR="0" lvl="0" indent="0" algn="l" rtl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288720" algn="l"/>
                <a:tab pos="57600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AU" sz="1800" b="1" i="0" u="none" strike="noStrike" baseline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	Predict class of instance using model</a:t>
            </a:r>
          </a:p>
          <a:p>
            <a:pPr marL="0" marR="0" lvl="0" indent="0" algn="l" rtl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AU" sz="1800" b="1" i="0" u="none" strike="noStrike" baseline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Return class that is predicted most often</a:t>
            </a:r>
          </a:p>
        </p:txBody>
      </p:sp>
      <p:sp>
        <p:nvSpPr>
          <p:cNvPr id="5" name="Freeform 4"/>
          <p:cNvSpPr/>
          <p:nvPr/>
        </p:nvSpPr>
        <p:spPr>
          <a:xfrm>
            <a:off x="838080" y="1295280"/>
            <a:ext cx="7239240" cy="5461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360" tIns="44280" rIns="90360" bIns="44280" anchor="t" anchorCtr="0" compatLnSpc="0">
            <a:no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Model generation</a:t>
            </a:r>
          </a:p>
        </p:txBody>
      </p:sp>
      <p:sp>
        <p:nvSpPr>
          <p:cNvPr id="6" name="Freeform 5"/>
          <p:cNvSpPr/>
          <p:nvPr/>
        </p:nvSpPr>
        <p:spPr>
          <a:xfrm>
            <a:off x="838080" y="3949560"/>
            <a:ext cx="7239240" cy="5461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360" tIns="44280" rIns="90360" bIns="44280" anchor="t" anchorCtr="0" compatLnSpc="0">
            <a:no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Classification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838200" y="304800"/>
            <a:ext cx="7543800" cy="595313"/>
          </a:xfrm>
        </p:spPr>
        <p:txBody>
          <a:bodyPr wrap="square" lIns="90360" tIns="44280" rIns="90360" bIns="44280" anchorCtr="0">
            <a:normAutofit fontScale="90000"/>
          </a:bodyPr>
          <a:lstStyle/>
          <a:p>
            <a:pPr lvl="0"/>
            <a:r>
              <a:rPr lang="en-US" sz="3600" dirty="0"/>
              <a:t>Boosting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540" y="1213655"/>
            <a:ext cx="7543799" cy="4949986"/>
          </a:xfrm>
          <a:prstGeom prst="rect">
            <a:avLst/>
          </a:prstGeom>
          <a:noFill/>
          <a:ln>
            <a:noFill/>
          </a:ln>
        </p:spPr>
        <p:txBody>
          <a:bodyPr vert="horz" wrap="square" lIns="90360" tIns="44280" rIns="90360" bIns="44280" anchor="t" anchorCtr="0" compatLnSpc="0">
            <a:spAutoFit/>
          </a:bodyPr>
          <a:lstStyle/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Bagging can easily be parallelized because ensemble members are created independently</a:t>
            </a:r>
          </a:p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Boosting</a:t>
            </a:r>
            <a:r>
              <a:rPr lang="en-US" sz="2400" b="0" i="0" u="none" strike="noStrike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is an </a:t>
            </a:r>
            <a:r>
              <a:rPr lang="en-US" sz="24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alternative approach</a:t>
            </a:r>
          </a:p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Also uses voting/averaging</a:t>
            </a:r>
          </a:p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But: w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eights models according to performance</a:t>
            </a:r>
          </a:p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Iterative: new models are influenced by performance of previously built ones</a:t>
            </a:r>
          </a:p>
          <a:p>
            <a:pPr marL="800100" lvl="2" indent="-342900" hangingPunct="0">
              <a:spcBef>
                <a:spcPts val="598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Encourage new model to become an “expert” for instances misclassified by earlier models</a:t>
            </a:r>
          </a:p>
          <a:p>
            <a:pPr marL="800100" lvl="2" indent="-342900" hangingPunct="0">
              <a:spcBef>
                <a:spcPts val="598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Intuitive justification: models should be experts that complement each other</a:t>
            </a:r>
          </a:p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Many variants of boosting exist, we cover </a:t>
            </a:r>
            <a:r>
              <a:rPr lang="en-US" sz="24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one</a:t>
            </a:r>
            <a:endParaRPr lang="en-US" sz="2400" b="0" i="0" u="none" strike="noStrike" baseline="0" dirty="0">
              <a:ln>
                <a:noFill/>
              </a:ln>
              <a:solidFill>
                <a:srgbClr val="000000"/>
              </a:solidFill>
              <a:ea typeface="Gothic" pitchFamily="2"/>
              <a:cs typeface="Lucidasans" pitchFamily="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685800" y="198058"/>
            <a:ext cx="7543800" cy="792542"/>
          </a:xfrm>
        </p:spPr>
        <p:txBody>
          <a:bodyPr wrap="square" lIns="90360" tIns="44280" rIns="90360" bIns="44280" anchorCtr="0">
            <a:normAutofit/>
          </a:bodyPr>
          <a:lstStyle/>
          <a:p>
            <a:pPr lvl="0"/>
            <a:r>
              <a:rPr lang="en-US" sz="3600" dirty="0"/>
              <a:t>Boosting using AdaBoost.M1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7720" y="1486011"/>
            <a:ext cx="7620120" cy="2731680"/>
          </a:xfrm>
          <a:prstGeom prst="rect">
            <a:avLst/>
          </a:prstGeom>
          <a:solidFill>
            <a:srgbClr val="CCFFCC"/>
          </a:solidFill>
          <a:ln w="6480">
            <a:solidFill>
              <a:srgbClr val="008000"/>
            </a:solidFill>
            <a:prstDash val="solid"/>
            <a:miter/>
          </a:ln>
        </p:spPr>
        <p:txBody>
          <a:bodyPr vert="horz" wrap="square" lIns="92160" tIns="46080" rIns="92160" bIns="46080" anchor="t" anchorCtr="0" compatLnSpc="0">
            <a:spAutoFit/>
          </a:bodyPr>
          <a:lstStyle/>
          <a:p>
            <a:pPr marL="0" marR="0" lvl="0" indent="0" algn="l" rtl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Assign equal weight to each training instance</a:t>
            </a:r>
          </a:p>
          <a:p>
            <a:pPr marL="0" marR="0" lvl="0" indent="0" algn="l" rtl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For </a:t>
            </a:r>
            <a:r>
              <a:rPr lang="en-AU" sz="1800" b="1" i="1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t</a:t>
            </a: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 iterations:</a:t>
            </a:r>
          </a:p>
          <a:p>
            <a:pPr marL="0" marR="0" lvl="0" indent="0" algn="l" rtl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  Apply learning algorithm to weighted dataset,</a:t>
            </a:r>
          </a:p>
          <a:p>
            <a:pPr marL="0" marR="0" lvl="0" indent="0" algn="l" rtl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288720" algn="l"/>
                <a:tab pos="57600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		store resulting model</a:t>
            </a:r>
          </a:p>
          <a:p>
            <a:pPr marL="0" marR="0" lvl="0" indent="0" algn="l" rtl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  Compute model’s error </a:t>
            </a:r>
            <a:r>
              <a:rPr lang="en-AU" sz="1800" b="1" i="1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e</a:t>
            </a: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 on weighted dataset</a:t>
            </a:r>
          </a:p>
          <a:p>
            <a:pPr marL="0" marR="0" lvl="0" indent="0" algn="l" rtl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  If </a:t>
            </a:r>
            <a:r>
              <a:rPr lang="en-AU" sz="1800" b="1" i="1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e</a:t>
            </a: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 = 0 or </a:t>
            </a:r>
            <a:r>
              <a:rPr lang="en-AU" sz="1800" b="1" i="1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e</a:t>
            </a: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 </a:t>
            </a: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Symbol" pitchFamily="18"/>
                <a:ea typeface="Symbol" pitchFamily="2"/>
                <a:cs typeface="Symbol" pitchFamily="2"/>
              </a:rPr>
              <a:t></a:t>
            </a: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 0.5:</a:t>
            </a:r>
          </a:p>
          <a:p>
            <a:pPr marL="0" marR="0" lvl="0" indent="0" algn="l" rtl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    Terminate model generation</a:t>
            </a:r>
          </a:p>
          <a:p>
            <a:pPr marL="0" marR="0" lvl="0" indent="0" algn="l" rtl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  For each instance in dataset:</a:t>
            </a:r>
          </a:p>
          <a:p>
            <a:pPr marL="0" marR="0" lvl="0" indent="0" algn="l" rtl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    If classified correctly by model:</a:t>
            </a:r>
          </a:p>
          <a:p>
            <a:pPr marL="0" marR="0" lvl="0" indent="0" algn="l" rtl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       Multiply instance’s weight by </a:t>
            </a:r>
            <a:r>
              <a:rPr lang="en-AU" sz="1800" b="1" i="1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e</a:t>
            </a: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/(1-</a:t>
            </a:r>
            <a:r>
              <a:rPr lang="en-AU" sz="1800" b="1" i="1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e</a:t>
            </a: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)</a:t>
            </a:r>
          </a:p>
          <a:p>
            <a:pPr marL="0" marR="0" lvl="0" indent="0" algn="l" rtl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  Normalize weight of all instances</a:t>
            </a:r>
          </a:p>
        </p:txBody>
      </p:sp>
      <p:sp>
        <p:nvSpPr>
          <p:cNvPr id="4" name="Freeform 3"/>
          <p:cNvSpPr/>
          <p:nvPr/>
        </p:nvSpPr>
        <p:spPr>
          <a:xfrm>
            <a:off x="838080" y="1030611"/>
            <a:ext cx="7239240" cy="543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360" tIns="44280" rIns="90360" bIns="44280" anchor="t" anchorCtr="0" compatLnSpc="0">
            <a:no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Model generation</a:t>
            </a:r>
          </a:p>
        </p:txBody>
      </p:sp>
      <p:sp>
        <p:nvSpPr>
          <p:cNvPr id="5" name="Freeform 4"/>
          <p:cNvSpPr/>
          <p:nvPr/>
        </p:nvSpPr>
        <p:spPr>
          <a:xfrm>
            <a:off x="838080" y="4672731"/>
            <a:ext cx="7239240" cy="543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360" tIns="44280" rIns="90360" bIns="44280" anchor="t" anchorCtr="0" compatLnSpc="0">
            <a:no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Classification</a:t>
            </a:r>
          </a:p>
        </p:txBody>
      </p:sp>
      <p:sp>
        <p:nvSpPr>
          <p:cNvPr id="6" name="Freeform 5"/>
          <p:cNvSpPr/>
          <p:nvPr/>
        </p:nvSpPr>
        <p:spPr>
          <a:xfrm>
            <a:off x="838080" y="5140731"/>
            <a:ext cx="7620120" cy="1289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 w="6480">
            <a:solidFill>
              <a:srgbClr val="008000"/>
            </a:solidFill>
            <a:prstDash val="solid"/>
            <a:miter/>
          </a:ln>
        </p:spPr>
        <p:txBody>
          <a:bodyPr vert="horz" wrap="square" lIns="92160" tIns="46080" rIns="92160" bIns="46080" anchor="t" anchorCtr="0" compatLnSpc="0">
            <a:noAutofit/>
          </a:bodyPr>
          <a:lstStyle/>
          <a:p>
            <a:pPr marL="0" marR="0" lvl="0" indent="0" algn="l" rtl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Assign weight = 0 to all classes</a:t>
            </a:r>
          </a:p>
          <a:p>
            <a:pPr marL="0" marR="0" lvl="0" indent="0" algn="l" rtl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For each of the </a:t>
            </a:r>
            <a:r>
              <a:rPr lang="en-AU" sz="1800" b="1" i="1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t</a:t>
            </a: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 (or less) models:</a:t>
            </a:r>
          </a:p>
          <a:p>
            <a:pPr marL="0" marR="0" lvl="0" indent="0" algn="l" rtl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288720" algn="l"/>
                <a:tab pos="57600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	For the class this model predicts</a:t>
            </a:r>
          </a:p>
          <a:p>
            <a:pPr marL="0" marR="0" lvl="0" indent="0" algn="l" rtl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288720" algn="l"/>
                <a:tab pos="57600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		add –log </a:t>
            </a:r>
            <a:r>
              <a:rPr lang="en-AU" sz="1800" b="1" i="1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e</a:t>
            </a: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/(1-</a:t>
            </a:r>
            <a:r>
              <a:rPr lang="en-AU" sz="1800" b="1" i="1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e</a:t>
            </a: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) to this class’s weight</a:t>
            </a:r>
          </a:p>
          <a:p>
            <a:pPr marL="0" marR="0" lvl="0" indent="0" algn="l" rtl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AU" sz="1800" b="1" i="0" u="none" strike="noStrike" baseline="0" dirty="0">
                <a:ln>
                  <a:noFill/>
                </a:ln>
                <a:solidFill>
                  <a:srgbClr val="008000"/>
                </a:solidFill>
                <a:latin typeface="Courier New" pitchFamily="18"/>
                <a:ea typeface="Gothic" pitchFamily="2"/>
                <a:cs typeface="Lucidasans" pitchFamily="2"/>
              </a:rPr>
              <a:t>Return class with highest weight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685800" y="234380"/>
            <a:ext cx="7543800" cy="603820"/>
          </a:xfrm>
        </p:spPr>
        <p:txBody>
          <a:bodyPr wrap="square" lIns="90360" tIns="44280" rIns="90360" bIns="44280" anchorCtr="0">
            <a:normAutofit fontScale="90000"/>
          </a:bodyPr>
          <a:lstStyle/>
          <a:p>
            <a:pPr lvl="0"/>
            <a:r>
              <a:rPr lang="en-US" sz="3600" dirty="0"/>
              <a:t>Comments on AdaBoost.M1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825480"/>
            <a:ext cx="7981527" cy="5736227"/>
          </a:xfrm>
          <a:prstGeom prst="rect">
            <a:avLst/>
          </a:prstGeom>
          <a:noFill/>
          <a:ln>
            <a:noFill/>
          </a:ln>
        </p:spPr>
        <p:txBody>
          <a:bodyPr vert="horz" wrap="square" lIns="90360" tIns="44280" rIns="90360" bIns="44280" anchor="t" anchorCtr="0" compatLnSpc="0">
            <a:spAutoFit/>
          </a:bodyPr>
          <a:lstStyle/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Boosting needs weights … but</a:t>
            </a:r>
          </a:p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c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an adapt learning algorithm ... </a:t>
            </a:r>
            <a:r>
              <a:rPr lang="en-US" sz="24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o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r</a:t>
            </a:r>
          </a:p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c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an apply boosting </a:t>
            </a:r>
            <a:r>
              <a:rPr lang="en-US" sz="2400" b="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without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weights:</a:t>
            </a:r>
          </a:p>
          <a:p>
            <a:pPr marL="800100" lvl="2" indent="-342900" hangingPunct="0">
              <a:spcBef>
                <a:spcPts val="598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R</a:t>
            </a: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esample data with probability determined by weights</a:t>
            </a:r>
          </a:p>
          <a:p>
            <a:pPr marL="800100" lvl="2" indent="-342900" hangingPunct="0">
              <a:spcBef>
                <a:spcPts val="598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D</a:t>
            </a: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isadvantage: not all instances are used</a:t>
            </a:r>
          </a:p>
          <a:p>
            <a:pPr marL="800100" lvl="2" indent="-342900" hangingPunct="0">
              <a:spcBef>
                <a:spcPts val="598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A</a:t>
            </a: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dvantage: if error &gt; 0.5, can resample again</a:t>
            </a:r>
          </a:p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The AdaBoost.M1 boosting algorithm s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tems from work in </a:t>
            </a:r>
            <a:r>
              <a:rPr lang="en-US" sz="2400" b="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computational learning theory</a:t>
            </a:r>
          </a:p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Theoretical result:</a:t>
            </a:r>
          </a:p>
          <a:p>
            <a:pPr marL="800100" lvl="2" indent="-342900" hangingPunct="0">
              <a:spcBef>
                <a:spcPts val="598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T</a:t>
            </a: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raining error decreases exponentially as iterations are performed</a:t>
            </a:r>
          </a:p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Other theoretical results:</a:t>
            </a:r>
          </a:p>
          <a:p>
            <a:pPr marL="800100" lvl="2" indent="-342900" hangingPunct="0">
              <a:spcBef>
                <a:spcPts val="598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W</a:t>
            </a: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orks well if base classifiers are not too complex and</a:t>
            </a:r>
          </a:p>
          <a:p>
            <a:pPr marL="800100" lvl="2" indent="-342900" hangingPunct="0">
              <a:spcBef>
                <a:spcPts val="598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t</a:t>
            </a: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heir error does</a:t>
            </a:r>
            <a:r>
              <a:rPr lang="en-US" sz="2000" b="0" i="0" u="none" strike="noStrike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not</a:t>
            </a: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become too large too quickly as more iterations are performed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609600" y="227011"/>
            <a:ext cx="7543800" cy="763589"/>
          </a:xfrm>
        </p:spPr>
        <p:txBody>
          <a:bodyPr wrap="square" lIns="90360" tIns="44280" rIns="90360" bIns="44280" anchorCtr="0">
            <a:normAutofit/>
          </a:bodyPr>
          <a:lstStyle/>
          <a:p>
            <a:pPr lvl="0"/>
            <a:r>
              <a:rPr lang="en-US" sz="3600" dirty="0"/>
              <a:t>More comments on boosting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889" y="970556"/>
            <a:ext cx="8099778" cy="5334193"/>
          </a:xfrm>
          <a:prstGeom prst="rect">
            <a:avLst/>
          </a:prstGeom>
          <a:noFill/>
          <a:ln>
            <a:noFill/>
          </a:ln>
        </p:spPr>
        <p:txBody>
          <a:bodyPr vert="horz" wrap="square" lIns="90360" tIns="44280" rIns="90360" bIns="44280" anchor="t" anchorCtr="0" compatLnSpc="0">
            <a:spAutoFit/>
          </a:bodyPr>
          <a:lstStyle/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Continue boosting after training error = 0?</a:t>
            </a:r>
          </a:p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Puzzling fact:</a:t>
            </a:r>
            <a:r>
              <a:rPr lang="en-US" sz="2400" b="0" i="0" u="none" strike="noStrike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generalization error continues to decrease!</a:t>
            </a:r>
          </a:p>
          <a:p>
            <a:pPr marL="800100" lvl="2" indent="-342900" hangingPunct="0">
              <a:spcBef>
                <a:spcPts val="598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Seems to contradict Occam’s Razor</a:t>
            </a:r>
          </a:p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Possible e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xplanation:</a:t>
            </a:r>
            <a:b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</a:b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consider </a:t>
            </a:r>
            <a:r>
              <a:rPr lang="en-US" sz="2400" b="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margin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(confidence), not just error</a:t>
            </a:r>
          </a:p>
          <a:p>
            <a:pPr marL="800100" lvl="2" indent="-342900" hangingPunct="0">
              <a:spcBef>
                <a:spcPts val="598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A possible definition of </a:t>
            </a:r>
            <a:r>
              <a:rPr lang="en-US" sz="2000" i="1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margin</a:t>
            </a:r>
            <a:r>
              <a:rPr lang="en-US" sz="20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: d</a:t>
            </a: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ifference between estimated probability for true class and nearest other class (between –1 and 1)</a:t>
            </a:r>
          </a:p>
          <a:p>
            <a:pPr marL="800100" lvl="1" indent="-342900" hangingPunct="0">
              <a:spcBef>
                <a:spcPts val="697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Margin continues to </a:t>
            </a:r>
            <a:r>
              <a:rPr lang="en-US" sz="20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in</a:t>
            </a: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crease with more iterations</a:t>
            </a:r>
          </a:p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AdaBoost.M1 works well with so-called </a:t>
            </a:r>
            <a:r>
              <a:rPr lang="en-US" sz="2400" b="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weak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learners; only condition: error does</a:t>
            </a:r>
            <a:r>
              <a:rPr lang="en-US" sz="2400" b="0" i="0" u="none" strike="noStrike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not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exceed 0.5</a:t>
            </a:r>
          </a:p>
          <a:p>
            <a:pPr marL="800100" lvl="1" indent="-342900" hangingPunct="0">
              <a:spcBef>
                <a:spcPts val="697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Example of weak learner: decision stump</a:t>
            </a:r>
            <a:endParaRPr lang="en-US" sz="2000" b="0" i="0" u="none" strike="noStrike" baseline="0" dirty="0">
              <a:ln>
                <a:noFill/>
              </a:ln>
              <a:solidFill>
                <a:srgbClr val="000000"/>
              </a:solidFill>
              <a:ea typeface="Gothic" pitchFamily="2"/>
              <a:cs typeface="Lucidasans" pitchFamily="2"/>
            </a:endParaRPr>
          </a:p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In practice, boosting sometimes </a:t>
            </a:r>
            <a:r>
              <a:rPr lang="en-US" sz="2400" b="0" i="0" u="none" strike="noStrike" baseline="0" dirty="0" err="1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overfits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if too many iterations are performed (in contrast to bagging)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457200" y="150811"/>
            <a:ext cx="4964370" cy="763589"/>
          </a:xfrm>
        </p:spPr>
        <p:txBody>
          <a:bodyPr wrap="square" lIns="90360" tIns="44280" rIns="90360" bIns="44280" anchorCtr="0">
            <a:normAutofit/>
          </a:bodyPr>
          <a:lstStyle/>
          <a:p>
            <a:pPr lvl="0"/>
            <a:r>
              <a:rPr lang="en-US" sz="3600" dirty="0"/>
              <a:t>Stacking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1080000"/>
            <a:ext cx="8820000" cy="4939471"/>
          </a:xfrm>
          <a:prstGeom prst="rect">
            <a:avLst/>
          </a:prstGeom>
          <a:noFill/>
          <a:ln>
            <a:noFill/>
          </a:ln>
        </p:spPr>
        <p:txBody>
          <a:bodyPr vert="horz" wrap="square" lIns="90360" tIns="44280" rIns="90360" bIns="44280" anchor="t" anchorCtr="0" compatLnSpc="0">
            <a:spAutoFit/>
          </a:bodyPr>
          <a:lstStyle/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Question: h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ow</a:t>
            </a:r>
            <a:r>
              <a:rPr lang="en-US" sz="2400" b="0" i="0" u="none" strike="noStrike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to build a </a:t>
            </a:r>
            <a:r>
              <a:rPr lang="en-US" sz="2400" b="0" i="1" u="none" strike="noStrike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heterogeneous </a:t>
            </a:r>
            <a:r>
              <a:rPr lang="en-US" sz="2400" b="0" u="none" strike="noStrike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ensemble consisting of different types of models (e.g</a:t>
            </a:r>
            <a:r>
              <a:rPr lang="en-US" sz="24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., decision tree and neural network)</a:t>
            </a:r>
          </a:p>
          <a:p>
            <a:pPr marL="800100" lvl="1" indent="-342900" hangingPunct="0">
              <a:spcBef>
                <a:spcPts val="697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Problem:</a:t>
            </a:r>
            <a:r>
              <a:rPr lang="en-US" sz="2400" b="0" i="0" u="none" strike="noStrike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models can be vastly different in accuracy</a:t>
            </a:r>
            <a:endParaRPr lang="en-US" sz="2400" b="0" i="0" u="none" strike="noStrike" baseline="0" dirty="0">
              <a:ln>
                <a:noFill/>
              </a:ln>
              <a:solidFill>
                <a:srgbClr val="000000"/>
              </a:solidFill>
              <a:ea typeface="Gothic" pitchFamily="2"/>
              <a:cs typeface="Lucidasans" pitchFamily="2"/>
            </a:endParaRPr>
          </a:p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Idea: t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o combine predictions of base learners, do</a:t>
            </a:r>
            <a:r>
              <a:rPr lang="en-US" sz="2400" b="0" i="0" u="none" strike="noStrike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</a:t>
            </a:r>
            <a:r>
              <a:rPr lang="en-US" sz="2400" b="0" i="1" u="none" strike="noStrike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not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just vote, instead, use </a:t>
            </a:r>
            <a:r>
              <a:rPr lang="en-US" sz="2400" b="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meta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</a:t>
            </a:r>
            <a:r>
              <a:rPr lang="en-US" sz="2400" b="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learner</a:t>
            </a:r>
          </a:p>
          <a:p>
            <a:pPr marL="800100" lvl="2" indent="-342900" hangingPunct="0">
              <a:spcBef>
                <a:spcPts val="598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In stacking, the base learners are also called </a:t>
            </a:r>
            <a:r>
              <a:rPr lang="en-US" sz="2000" b="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level-0 models</a:t>
            </a:r>
          </a:p>
          <a:p>
            <a:pPr marL="800100" lvl="2" indent="-342900" hangingPunct="0">
              <a:spcBef>
                <a:spcPts val="598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Meta learner is</a:t>
            </a:r>
            <a:r>
              <a:rPr lang="en-US" sz="2000" b="0" i="0" u="none" strike="noStrike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called</a:t>
            </a: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</a:t>
            </a:r>
            <a:r>
              <a:rPr lang="en-US" sz="2000" b="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level-1 model</a:t>
            </a:r>
          </a:p>
          <a:p>
            <a:pPr marL="800100" lvl="2" indent="-342900" hangingPunct="0">
              <a:spcBef>
                <a:spcPts val="598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Predictions of base learners are input to meta learner</a:t>
            </a:r>
          </a:p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Base learners are usually different </a:t>
            </a:r>
            <a:r>
              <a:rPr lang="en-US" sz="24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learning schemes</a:t>
            </a:r>
            <a:endParaRPr lang="en-US" sz="2400" b="0" i="0" u="none" strike="noStrike" baseline="0" dirty="0">
              <a:ln>
                <a:noFill/>
              </a:ln>
              <a:solidFill>
                <a:srgbClr val="000000"/>
              </a:solidFill>
              <a:ea typeface="Gothic" pitchFamily="2"/>
              <a:cs typeface="Lucidasans" pitchFamily="2"/>
            </a:endParaRPr>
          </a:p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Caveat: cannot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use predictions on training data to generate data for level-1 model!</a:t>
            </a:r>
          </a:p>
          <a:p>
            <a:pPr marL="800100" lvl="2" indent="-342900" hangingPunct="0">
              <a:spcBef>
                <a:spcPts val="598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Instead use scheme based</a:t>
            </a:r>
            <a:r>
              <a:rPr lang="en-US" sz="2000" b="0" i="0" u="none" strike="noStrike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on </a:t>
            </a: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cross-validation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762000" y="228600"/>
            <a:ext cx="6773333" cy="664457"/>
          </a:xfrm>
        </p:spPr>
        <p:txBody>
          <a:bodyPr wrap="square" lIns="90360" tIns="44280" rIns="90360" bIns="44280" anchorCtr="0">
            <a:normAutofit/>
          </a:bodyPr>
          <a:lstStyle/>
          <a:p>
            <a:pPr lvl="0"/>
            <a:r>
              <a:rPr lang="en-US" sz="3600" dirty="0"/>
              <a:t>Generating the level-1 training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80000"/>
            <a:ext cx="8403167" cy="4996153"/>
          </a:xfrm>
          <a:prstGeom prst="rect">
            <a:avLst/>
          </a:prstGeom>
          <a:noFill/>
          <a:ln>
            <a:noFill/>
          </a:ln>
        </p:spPr>
        <p:txBody>
          <a:bodyPr vert="horz" wrap="square" lIns="90360" tIns="44280" rIns="90360" bIns="44280" anchor="t" anchorCtr="0" compatLnSpc="0">
            <a:spAutoFit/>
          </a:bodyPr>
          <a:lstStyle/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Training data for level-1 model contains predictions of level-0 models as attributes; class attribute remains the same</a:t>
            </a:r>
          </a:p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Problem: we c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annot use the level-0</a:t>
            </a:r>
            <a:r>
              <a:rPr lang="en-US" sz="2400" b="0" i="0" u="none" strike="noStrike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models 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predictions on their </a:t>
            </a:r>
            <a:r>
              <a:rPr lang="en-US" sz="2400" b="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training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data to obtain attribute values for the level-1 data</a:t>
            </a:r>
          </a:p>
          <a:p>
            <a:pPr marL="800100" lvl="1" indent="-342900" hangingPunct="0">
              <a:spcBef>
                <a:spcPts val="697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Assume we have a perfect rote learner as one of the level-0 learner </a:t>
            </a:r>
          </a:p>
          <a:p>
            <a:pPr marL="800100" lvl="1" indent="-342900" hangingPunct="0">
              <a:spcBef>
                <a:spcPts val="697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Then, the level-1 learner will learn to simply predict this level-0’s learners predictions, rendering the ensemble pointless</a:t>
            </a:r>
          </a:p>
          <a:p>
            <a:pPr marL="342900" indent="-342900" hangingPunct="0">
              <a:spcBef>
                <a:spcPts val="697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To solve this, we generate the level-1 training data by running a </a:t>
            </a:r>
            <a:r>
              <a:rPr lang="en-US" sz="2400" i="1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cross-validation </a:t>
            </a:r>
            <a:r>
              <a:rPr lang="en-US" sz="24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for each of the level-0 algorithms</a:t>
            </a:r>
          </a:p>
          <a:p>
            <a:pPr marL="800100" lvl="1" indent="-342900" hangingPunct="0">
              <a:spcBef>
                <a:spcPts val="697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Then, the predictions (and actual class values) obtained for the </a:t>
            </a:r>
            <a:r>
              <a:rPr lang="en-US" sz="2000" i="1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test</a:t>
            </a:r>
            <a:r>
              <a:rPr lang="en-US" sz="20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 </a:t>
            </a:r>
            <a:r>
              <a:rPr lang="en-US" sz="2000" i="1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instances</a:t>
            </a:r>
            <a:r>
              <a:rPr lang="en-US" sz="20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 encountered during the cross-validation are collected</a:t>
            </a:r>
          </a:p>
          <a:p>
            <a:pPr marL="800100" lvl="1" indent="-342900" hangingPunct="0">
              <a:spcBef>
                <a:spcPts val="697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This pooled data obtained from the cross-validation for each level-0 model is used to train the level-1 model</a:t>
            </a:r>
          </a:p>
        </p:txBody>
      </p:sp>
    </p:spTree>
    <p:extLst>
      <p:ext uri="{BB962C8B-B14F-4D97-AF65-F5344CB8AC3E}">
        <p14:creationId xmlns:p14="http://schemas.microsoft.com/office/powerpoint/2010/main" val="1119277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609600" y="227011"/>
            <a:ext cx="7543800" cy="687389"/>
          </a:xfrm>
        </p:spPr>
        <p:txBody>
          <a:bodyPr wrap="square" lIns="90360" tIns="44280" rIns="90360" bIns="44280" anchorCtr="0">
            <a:normAutofit/>
          </a:bodyPr>
          <a:lstStyle/>
          <a:p>
            <a:pPr lvl="0"/>
            <a:r>
              <a:rPr lang="en-US" sz="3600" dirty="0"/>
              <a:t>More on stacking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223" y="1255989"/>
            <a:ext cx="8099778" cy="4865219"/>
          </a:xfrm>
          <a:prstGeom prst="rect">
            <a:avLst/>
          </a:prstGeom>
          <a:noFill/>
          <a:ln>
            <a:noFill/>
          </a:ln>
        </p:spPr>
        <p:txBody>
          <a:bodyPr vert="horz" wrap="square" lIns="90360" tIns="44280" rIns="90360" bIns="44280" anchor="t" anchorCtr="0" compatLnSpc="0">
            <a:spAutoFit/>
          </a:bodyPr>
          <a:lstStyle/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Stacking is hard to analyze theoretically: “black magic”</a:t>
            </a:r>
            <a:endParaRPr lang="en-US" sz="2400" b="0" i="0" u="none" strike="noStrike" baseline="0" dirty="0">
              <a:ln>
                <a:noFill/>
              </a:ln>
              <a:solidFill>
                <a:srgbClr val="000000"/>
              </a:solidFill>
              <a:ea typeface="Gothic" pitchFamily="2"/>
              <a:cs typeface="Lucidasans" pitchFamily="2"/>
            </a:endParaRPr>
          </a:p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If the base learners can output class probabilities, use those as input to meta learner instead of plain classifications</a:t>
            </a:r>
          </a:p>
          <a:p>
            <a:pPr marL="800100" lvl="1" indent="-342900" hangingPunct="0">
              <a:spcBef>
                <a:spcPts val="697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Makes more information available to the level-1 learner</a:t>
            </a:r>
            <a:endParaRPr lang="en-US" sz="2000" b="0" i="0" u="none" strike="noStrike" baseline="0" dirty="0">
              <a:ln>
                <a:noFill/>
              </a:ln>
              <a:solidFill>
                <a:srgbClr val="000000"/>
              </a:solidFill>
              <a:ea typeface="Gothic" pitchFamily="2"/>
              <a:cs typeface="Lucidasans" pitchFamily="2"/>
            </a:endParaRPr>
          </a:p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Important question: w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hich algorithm to use as the meta learner (aka</a:t>
            </a:r>
            <a:r>
              <a:rPr lang="en-US" sz="2400" b="0" i="0" u="none" strike="noStrike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level-1 learner)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?</a:t>
            </a:r>
          </a:p>
          <a:p>
            <a:pPr marL="800100" lvl="2" indent="-342900" hangingPunct="0">
              <a:spcBef>
                <a:spcPts val="598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In principle, any learning scheme</a:t>
            </a:r>
          </a:p>
          <a:p>
            <a:pPr marL="800100" lvl="2" indent="-342900" hangingPunct="0">
              <a:spcBef>
                <a:spcPts val="598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In practice, p</a:t>
            </a: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refer “relatively global, smooth” models because</a:t>
            </a:r>
            <a:endParaRPr lang="en-US" sz="2000" dirty="0">
              <a:solidFill>
                <a:srgbClr val="000000"/>
              </a:solidFill>
              <a:ea typeface="Gothic" pitchFamily="2"/>
              <a:cs typeface="Lucidasans" pitchFamily="2"/>
            </a:endParaRPr>
          </a:p>
          <a:p>
            <a:pPr marL="800100" lvl="2" indent="-342900" hangingPunct="0">
              <a:spcBef>
                <a:spcPts val="598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b</a:t>
            </a: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ase learners do most of the work and</a:t>
            </a:r>
          </a:p>
          <a:p>
            <a:pPr marL="800100" lvl="3" indent="-342900" hangingPunct="0">
              <a:spcBef>
                <a:spcPts val="499"/>
              </a:spcBef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this r</a:t>
            </a: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educes the risk of </a:t>
            </a:r>
            <a:r>
              <a:rPr lang="en-US" sz="2000" b="0" i="0" u="none" strike="noStrike" baseline="0" dirty="0" err="1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overfitting</a:t>
            </a:r>
            <a:endParaRPr lang="en-US" b="0" i="0" u="none" strike="noStrike" baseline="0" dirty="0">
              <a:ln>
                <a:noFill/>
              </a:ln>
              <a:solidFill>
                <a:srgbClr val="000000"/>
              </a:solidFill>
              <a:ea typeface="Gothic" pitchFamily="2"/>
              <a:cs typeface="Lucidasans" pitchFamily="2"/>
            </a:endParaRPr>
          </a:p>
          <a:p>
            <a:pPr marL="342900" marR="0" lvl="0" indent="-3429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Note that s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tacking can be</a:t>
            </a:r>
            <a:r>
              <a:rPr lang="en-US" sz="2400" b="0" i="0" u="none" strike="noStrike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trivially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applied to numeric prediction too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1928133" y="-149477"/>
            <a:ext cx="6194286" cy="1144800"/>
          </a:xfrm>
        </p:spPr>
        <p:txBody>
          <a:bodyPr wrap="square" lIns="90360" tIns="44280" rIns="90360" bIns="44280" anchorCtr="0"/>
          <a:lstStyle/>
          <a:p>
            <a:pPr lvl="0"/>
            <a:r>
              <a:rPr lang="en-NZ" sz="3600" dirty="0">
                <a:latin typeface="+mj-lt"/>
              </a:rPr>
              <a:t>Data transformations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15258" y="1752600"/>
            <a:ext cx="8851784" cy="4504780"/>
          </a:xfrm>
        </p:spPr>
        <p:txBody>
          <a:bodyPr/>
          <a:lstStyle/>
          <a:p>
            <a:pPr marL="457200" lvl="0" indent="-457200">
              <a:spcBef>
                <a:spcPts val="598"/>
              </a:spcBef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NZ" dirty="0">
                <a:ea typeface="Gothic" pitchFamily="2"/>
              </a:rPr>
              <a:t>Feature (Attribute)</a:t>
            </a:r>
            <a:r>
              <a:rPr lang="en-NZ" sz="2400" dirty="0">
                <a:ea typeface="Gothic" pitchFamily="2"/>
              </a:rPr>
              <a:t> selection:  Scheme-independent and scheme-specific</a:t>
            </a:r>
          </a:p>
          <a:p>
            <a:pPr marL="457200" lvl="0" indent="-457200">
              <a:spcBef>
                <a:spcPts val="499"/>
              </a:spcBef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NZ" dirty="0">
                <a:ea typeface="Gothic" pitchFamily="2"/>
              </a:rPr>
              <a:t>Feature</a:t>
            </a:r>
            <a:r>
              <a:rPr lang="en-NZ" sz="2400" dirty="0">
                <a:ea typeface="Gothic" pitchFamily="2"/>
              </a:rPr>
              <a:t> </a:t>
            </a:r>
            <a:r>
              <a:rPr lang="en-NZ" dirty="0">
                <a:ea typeface="Gothic" pitchFamily="2"/>
              </a:rPr>
              <a:t>extraction (</a:t>
            </a:r>
            <a:r>
              <a:rPr lang="en-NZ" sz="2400" dirty="0">
                <a:ea typeface="Gothic" pitchFamily="2"/>
              </a:rPr>
              <a:t>Projections):  principal component analysis (PCA), independent component analysis (ICA)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331E08-4E9B-4BBE-96EB-2010C8501DD1}"/>
              </a:ext>
            </a:extLst>
          </p:cNvPr>
          <p:cNvSpPr txBox="1"/>
          <p:nvPr/>
        </p:nvSpPr>
        <p:spPr>
          <a:xfrm>
            <a:off x="533400" y="990600"/>
            <a:ext cx="12093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Topics</a:t>
            </a:r>
          </a:p>
        </p:txBody>
      </p:sp>
    </p:spTree>
    <p:extLst>
      <p:ext uri="{BB962C8B-B14F-4D97-AF65-F5344CB8AC3E}">
        <p14:creationId xmlns:p14="http://schemas.microsoft.com/office/powerpoint/2010/main" val="1975010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Attribute selection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Attribute selection is often important in practice</a:t>
            </a:r>
          </a:p>
          <a:p>
            <a:r>
              <a:rPr lang="en-CA" dirty="0"/>
              <a:t>For example, adding a random (i.e., irrelevant) attribute can significantly degrade C4.5’s performance</a:t>
            </a:r>
          </a:p>
          <a:p>
            <a:pPr lvl="1"/>
            <a:r>
              <a:rPr lang="en-CA" dirty="0"/>
              <a:t>Problem: C4.5’s built-in attribute selection is based on smaller and smaller amounts of data</a:t>
            </a:r>
          </a:p>
          <a:p>
            <a:r>
              <a:rPr lang="en-CA" dirty="0"/>
              <a:t>Instance-based learning is particularly susceptible to irrelevant attributes</a:t>
            </a:r>
          </a:p>
          <a:p>
            <a:pPr lvl="1"/>
            <a:r>
              <a:rPr lang="en-CA" dirty="0"/>
              <a:t>Number of training instances required increases exponentially with number of irrelevant attributes</a:t>
            </a:r>
          </a:p>
          <a:p>
            <a:r>
              <a:rPr lang="en-CA" dirty="0"/>
              <a:t>Exception: naïve Bayes can cope well with irrelevant attributes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05846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861034" y="64689"/>
            <a:ext cx="7654316" cy="700062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Scheme-independent attribute selection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i="1" dirty="0"/>
              <a:t>Filter</a:t>
            </a:r>
            <a:r>
              <a:rPr lang="en-CA" dirty="0"/>
              <a:t> approach to attribute selection: assess attributes based on general characteristics of the data</a:t>
            </a:r>
          </a:p>
          <a:p>
            <a:r>
              <a:rPr lang="en-CA" dirty="0"/>
              <a:t>In this approach, the attributes are selected in a manner that is independent of the target machine learning scheme</a:t>
            </a:r>
          </a:p>
          <a:p>
            <a:r>
              <a:rPr lang="en-CA" dirty="0"/>
              <a:t>One method: find smallest subset of attributes that separates data</a:t>
            </a:r>
          </a:p>
          <a:p>
            <a:r>
              <a:rPr lang="en-CA" dirty="0"/>
              <a:t>Another method: use a fast learning scheme that is different from the target learning scheme to find relevant attributes</a:t>
            </a:r>
          </a:p>
          <a:p>
            <a:pPr lvl="1"/>
            <a:r>
              <a:rPr lang="en-CA" dirty="0"/>
              <a:t>E.g., use attributes selected by decision tree (classification), or attributes with large coefficients of linear model (regression)</a:t>
            </a:r>
          </a:p>
        </p:txBody>
      </p:sp>
    </p:spTree>
    <p:extLst>
      <p:ext uri="{BB962C8B-B14F-4D97-AF65-F5344CB8AC3E}">
        <p14:creationId xmlns:p14="http://schemas.microsoft.com/office/powerpoint/2010/main" val="180228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817982" y="64689"/>
            <a:ext cx="7697368" cy="700062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Scheme-independent attribute selection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Attribute weighting techniques based on statistical measures can also be used for filtering</a:t>
            </a:r>
          </a:p>
          <a:p>
            <a:pPr lvl="1"/>
            <a:r>
              <a:rPr lang="en-CA" dirty="0"/>
              <a:t>Information Gain, Gain ratio, … etc.</a:t>
            </a:r>
          </a:p>
          <a:p>
            <a:pPr lvl="1"/>
            <a:r>
              <a:rPr lang="en-CA" dirty="0"/>
              <a:t>Problem: cannot identify redundant attributes</a:t>
            </a:r>
          </a:p>
          <a:p>
            <a:r>
              <a:rPr lang="en-CA" dirty="0"/>
              <a:t>Correlation-based Feature Selection (CFS): Finds a subset of attributes such that:</a:t>
            </a:r>
          </a:p>
          <a:p>
            <a:pPr lvl="1"/>
            <a:r>
              <a:rPr lang="en-CA" dirty="0"/>
              <a:t>Correlation between attributes in the subset is low</a:t>
            </a:r>
          </a:p>
          <a:p>
            <a:pPr lvl="1"/>
            <a:r>
              <a:rPr lang="en-CA" dirty="0"/>
              <a:t>Correlation between each attribute in the subset and the target attribute is high</a:t>
            </a:r>
          </a:p>
          <a:p>
            <a:pPr lvl="1"/>
            <a:r>
              <a:rPr lang="en-CA" dirty="0"/>
              <a:t>Problem: number of possible subsets is very large</a:t>
            </a:r>
            <a:br>
              <a:rPr lang="en-CA" dirty="0"/>
            </a:br>
            <a:br>
              <a:rPr lang="en-CA" dirty="0"/>
            </a:br>
            <a:br>
              <a:rPr lang="en-CA" dirty="0"/>
            </a:b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717454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609600" y="-166688"/>
            <a:ext cx="8534400" cy="1066801"/>
          </a:xfrm>
        </p:spPr>
        <p:txBody>
          <a:bodyPr wrap="square" lIns="90360" tIns="44280" rIns="90360" bIns="44280" anchorCtr="0"/>
          <a:lstStyle/>
          <a:p>
            <a:pPr lvl="0"/>
            <a:r>
              <a:rPr lang="en-US" sz="3600" dirty="0"/>
              <a:t>Attribute subsets for weather data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089720" y="1056599"/>
            <a:ext cx="7010280" cy="5243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29576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Searching the attribute space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Number of attribute subsets is</a:t>
            </a:r>
            <a:br>
              <a:rPr lang="en-CA" dirty="0"/>
            </a:br>
            <a:r>
              <a:rPr lang="en-CA" dirty="0"/>
              <a:t>exponential in the number of attributes</a:t>
            </a:r>
          </a:p>
          <a:p>
            <a:r>
              <a:rPr lang="en-CA" dirty="0"/>
              <a:t>Common greedy approaches:</a:t>
            </a:r>
          </a:p>
          <a:p>
            <a:pPr lvl="1"/>
            <a:r>
              <a:rPr lang="en-CA" dirty="0"/>
              <a:t>forward selection</a:t>
            </a:r>
          </a:p>
          <a:p>
            <a:pPr lvl="1"/>
            <a:r>
              <a:rPr lang="en-CA" dirty="0"/>
              <a:t>backward elimination</a:t>
            </a:r>
          </a:p>
          <a:p>
            <a:r>
              <a:rPr lang="en-CA" dirty="0"/>
              <a:t>More sophisticated strategies:</a:t>
            </a:r>
          </a:p>
          <a:p>
            <a:pPr lvl="1"/>
            <a:r>
              <a:rPr lang="en-CA" dirty="0"/>
              <a:t>Bidirectional search</a:t>
            </a:r>
          </a:p>
          <a:p>
            <a:pPr lvl="1"/>
            <a:r>
              <a:rPr lang="en-CA" dirty="0"/>
              <a:t>Best-first search: can find optimum solution</a:t>
            </a:r>
          </a:p>
          <a:p>
            <a:pPr lvl="1"/>
            <a:r>
              <a:rPr lang="en-CA" dirty="0"/>
              <a:t>Beam search: approximation to best-first search</a:t>
            </a:r>
          </a:p>
          <a:p>
            <a:pPr lvl="1"/>
            <a:r>
              <a:rPr lang="en-CA" dirty="0"/>
              <a:t>Genetic algorithms</a:t>
            </a:r>
          </a:p>
        </p:txBody>
      </p:sp>
    </p:spTree>
    <p:extLst>
      <p:ext uri="{BB962C8B-B14F-4D97-AF65-F5344CB8AC3E}">
        <p14:creationId xmlns:p14="http://schemas.microsoft.com/office/powerpoint/2010/main" val="9952507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600200" y="-77788"/>
            <a:ext cx="7543800" cy="977901"/>
          </a:xfrm>
        </p:spPr>
        <p:txBody>
          <a:bodyPr wrap="square" lIns="90360" tIns="44280" rIns="90360" bIns="44280" anchorCtr="0"/>
          <a:lstStyle/>
          <a:p>
            <a:pPr lvl="0"/>
            <a:r>
              <a:rPr lang="en-US"/>
              <a:t>Scheme-specific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8990" y="826559"/>
            <a:ext cx="8021966" cy="2174547"/>
          </a:xfrm>
          <a:prstGeom prst="rect">
            <a:avLst/>
          </a:prstGeom>
          <a:noFill/>
          <a:ln>
            <a:noFill/>
          </a:ln>
        </p:spPr>
        <p:txBody>
          <a:bodyPr vert="horz" wrap="square" lIns="90360" tIns="44280" rIns="90360" bIns="44280" anchor="t" anchorCtr="0" compatLnSpc="0">
            <a:spAutoFit/>
          </a:bodyPr>
          <a:lstStyle/>
          <a:p>
            <a:pPr marL="457200" marR="0" lvl="0" indent="-457200" algn="l" defTabSz="914400" rtl="0" eaLnBrk="1" fontAlgn="auto" latinLnBrk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Gothic" pitchFamily="2"/>
                <a:cs typeface="Lucidasans" pitchFamily="2"/>
              </a:rPr>
              <a:t>Wrapper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Gothic" pitchFamily="2"/>
                <a:cs typeface="Lucidasans" pitchFamily="2"/>
              </a:rPr>
              <a:t>approach to attribute selection: attributes are selected with target scheme in the loop</a:t>
            </a:r>
          </a:p>
          <a:p>
            <a:pPr marL="457200" marR="0" lvl="0" indent="-457200" algn="l" defTabSz="914400" rtl="0" eaLnBrk="1" fontAlgn="auto" latinLnBrk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Gothic" pitchFamily="2"/>
                <a:cs typeface="Lucidasans" pitchFamily="2"/>
              </a:rPr>
              <a:t>Implement “wrapper” around learning scheme</a:t>
            </a:r>
          </a:p>
          <a:p>
            <a:pPr marL="457200" marR="0" lvl="1" indent="0" algn="l" defTabSz="914400" rtl="0" eaLnBrk="1" fontAlgn="auto" latinLnBrk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Gothic" pitchFamily="2"/>
                <a:cs typeface="Lucidasans" pitchFamily="2"/>
              </a:rPr>
              <a:t>Evaluation criterion: cross-validation performance</a:t>
            </a:r>
          </a:p>
          <a:p>
            <a:pPr marL="457200" marR="0" lvl="0" indent="-457200" algn="l" defTabSz="914400" rtl="0" eaLnBrk="1" fontAlgn="auto" latinLnBrk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400" dirty="0">
                <a:solidFill>
                  <a:srgbClr val="000000"/>
                </a:solidFill>
                <a:latin typeface="Calibri"/>
                <a:ea typeface="Gothic" pitchFamily="2"/>
                <a:cs typeface="Lucidasans" pitchFamily="2"/>
              </a:rPr>
              <a:t>Extremely t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Gothic" pitchFamily="2"/>
                <a:cs typeface="Lucidasans" pitchFamily="2"/>
              </a:rPr>
              <a:t>ime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Gothic" pitchFamily="2"/>
                <a:cs typeface="Lucidasans" pitchFamily="2"/>
              </a:rPr>
              <a:t> consuming in general</a:t>
            </a:r>
          </a:p>
        </p:txBody>
      </p:sp>
    </p:spTree>
    <p:extLst>
      <p:ext uri="{BB962C8B-B14F-4D97-AF65-F5344CB8AC3E}">
        <p14:creationId xmlns:p14="http://schemas.microsoft.com/office/powerpoint/2010/main" val="41533608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2360668" y="-179388"/>
            <a:ext cx="5289495" cy="1144588"/>
          </a:xfrm>
        </p:spPr>
        <p:txBody>
          <a:bodyPr/>
          <a:lstStyle/>
          <a:p>
            <a:pPr lvl="0"/>
            <a:r>
              <a:rPr lang="en-US" dirty="0"/>
              <a:t>Projections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863600" y="1079500"/>
            <a:ext cx="7651750" cy="3165995"/>
          </a:xfrm>
        </p:spPr>
        <p:txBody>
          <a:bodyPr wrap="square">
            <a:spAutoFit/>
          </a:bodyPr>
          <a:lstStyle/>
          <a:p>
            <a:pPr marL="457200" lvl="0" indent="-457200">
              <a:buFont typeface="Arial"/>
              <a:buChar char="•"/>
            </a:pPr>
            <a:r>
              <a:rPr lang="en-US" dirty="0"/>
              <a:t>Simple transformations can often make a large difference in performance</a:t>
            </a:r>
          </a:p>
          <a:p>
            <a:pPr marL="457200" lvl="0" indent="-457200">
              <a:buFont typeface="Arial"/>
              <a:buChar char="•"/>
            </a:pPr>
            <a:r>
              <a:rPr lang="en-US" dirty="0"/>
              <a:t>Example transformations (not necessarily for performance improvement):</a:t>
            </a:r>
          </a:p>
          <a:p>
            <a:pPr lvl="1"/>
            <a:r>
              <a:rPr lang="en-US" dirty="0"/>
              <a:t>Difference of two date attributes</a:t>
            </a:r>
          </a:p>
          <a:p>
            <a:pPr lvl="1"/>
            <a:r>
              <a:rPr lang="en-US" dirty="0"/>
              <a:t>Ratio of two numeric (ratio-scale) attributes</a:t>
            </a:r>
          </a:p>
          <a:p>
            <a:pPr lvl="1"/>
            <a:r>
              <a:rPr lang="en-US" dirty="0"/>
              <a:t>Concatenating the values of nominal attributes</a:t>
            </a:r>
          </a:p>
          <a:p>
            <a:pPr lvl="1"/>
            <a:r>
              <a:rPr lang="en-US" dirty="0"/>
              <a:t>Adding noise to data</a:t>
            </a:r>
          </a:p>
          <a:p>
            <a:pPr lvl="1"/>
            <a:r>
              <a:rPr lang="en-US" dirty="0"/>
              <a:t>Removing data randomly or selectively</a:t>
            </a:r>
          </a:p>
        </p:txBody>
      </p:sp>
    </p:spTree>
    <p:extLst>
      <p:ext uri="{BB962C8B-B14F-4D97-AF65-F5344CB8AC3E}">
        <p14:creationId xmlns:p14="http://schemas.microsoft.com/office/powerpoint/2010/main" val="29012445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493838" y="-179388"/>
            <a:ext cx="7650162" cy="1144588"/>
          </a:xfrm>
        </p:spPr>
        <p:txBody>
          <a:bodyPr/>
          <a:lstStyle/>
          <a:p>
            <a:pPr lvl="0"/>
            <a:r>
              <a:rPr lang="en-US" dirty="0"/>
              <a:t>Principal component analysis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487919" y="1086676"/>
            <a:ext cx="8151121" cy="4423775"/>
          </a:xfrm>
        </p:spPr>
        <p:txBody>
          <a:bodyPr wrap="square">
            <a:spAutoFit/>
          </a:bodyPr>
          <a:lstStyle/>
          <a:p>
            <a:pPr marL="457200" lvl="0" indent="-457200">
              <a:buFont typeface="Arial"/>
              <a:buChar char="•"/>
            </a:pPr>
            <a:r>
              <a:rPr lang="en-US" dirty="0"/>
              <a:t>Unsupervised method for identifying the important directions in a dataset</a:t>
            </a:r>
          </a:p>
          <a:p>
            <a:pPr marL="457200" lvl="0" indent="-457200">
              <a:buFont typeface="Arial"/>
              <a:buChar char="•"/>
            </a:pPr>
            <a:r>
              <a:rPr lang="en-US" dirty="0"/>
              <a:t>We can then rotate the data into the (reduced) coordinate system that is given by those directions</a:t>
            </a:r>
          </a:p>
          <a:p>
            <a:pPr marL="457200" lvl="0" indent="-457200">
              <a:buFont typeface="Arial"/>
              <a:buChar char="•"/>
            </a:pPr>
            <a:r>
              <a:rPr lang="en-US" dirty="0"/>
              <a:t>PCA is a method for </a:t>
            </a:r>
            <a:r>
              <a:rPr lang="en-US" i="1" dirty="0"/>
              <a:t>dimensionality reduction</a:t>
            </a:r>
            <a:endParaRPr lang="en-US" dirty="0"/>
          </a:p>
          <a:p>
            <a:pPr marL="457200" indent="-457200">
              <a:buFont typeface="Arial"/>
              <a:buChar char="•"/>
            </a:pPr>
            <a:r>
              <a:rPr lang="en-US" dirty="0"/>
              <a:t>Algorithm:</a:t>
            </a:r>
          </a:p>
          <a:p>
            <a:pPr lvl="1">
              <a:buSzPct val="100000"/>
              <a:buAutoNum type="arabicPeriod"/>
            </a:pPr>
            <a:r>
              <a:rPr lang="en-US" dirty="0"/>
              <a:t>Find direction (axis) of greatest variance</a:t>
            </a:r>
          </a:p>
          <a:p>
            <a:pPr lvl="1">
              <a:buSzPct val="100000"/>
              <a:buAutoNum type="arabicPeriod"/>
            </a:pPr>
            <a:r>
              <a:rPr lang="en-US" dirty="0"/>
              <a:t>Find direction of greatest variance that is perpendicular to previous direction and repeat</a:t>
            </a:r>
          </a:p>
          <a:p>
            <a:pPr marL="457200" lvl="0" indent="-457200">
              <a:buSzPct val="100000"/>
              <a:buFont typeface="Arial"/>
              <a:buChar char="•"/>
            </a:pPr>
            <a:r>
              <a:rPr lang="en-US" dirty="0"/>
              <a:t>Implementation: find eigenvectors of the covariance matrix of the data</a:t>
            </a:r>
          </a:p>
          <a:p>
            <a:pPr lvl="1">
              <a:buSzPct val="100000"/>
            </a:pPr>
            <a:r>
              <a:rPr lang="en-US" dirty="0"/>
              <a:t>Eigenvectors (sorted by eigenvalues) are the directions </a:t>
            </a:r>
          </a:p>
        </p:txBody>
      </p:sp>
    </p:spTree>
    <p:extLst>
      <p:ext uri="{BB962C8B-B14F-4D97-AF65-F5344CB8AC3E}">
        <p14:creationId xmlns:p14="http://schemas.microsoft.com/office/powerpoint/2010/main" val="9854815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493838" y="-179388"/>
            <a:ext cx="7650162" cy="1144588"/>
          </a:xfrm>
        </p:spPr>
        <p:txBody>
          <a:bodyPr/>
          <a:lstStyle/>
          <a:p>
            <a:pPr lvl="0"/>
            <a:r>
              <a:rPr lang="en-US" dirty="0"/>
              <a:t>Example: 10-dimensional data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666040" y="5516304"/>
            <a:ext cx="7849310" cy="1192121"/>
          </a:xfrm>
        </p:spPr>
        <p:txBody>
          <a:bodyPr wrap="square">
            <a:spAutoFit/>
          </a:bodyPr>
          <a:lstStyle/>
          <a:p>
            <a:pPr marL="342900" lvl="0" indent="-342900">
              <a:buFont typeface="Arial"/>
              <a:buChar char="•"/>
            </a:pPr>
            <a:r>
              <a:rPr lang="en-US" dirty="0"/>
              <a:t>Data is normally standardized or mean-centered for PCA</a:t>
            </a:r>
          </a:p>
          <a:p>
            <a:pPr marL="342900" lvl="0" indent="-342900">
              <a:buFont typeface="Arial"/>
              <a:buChar char="•"/>
            </a:pPr>
            <a:r>
              <a:rPr lang="en-US" dirty="0"/>
              <a:t>Usually a few top components will be sufficient to represent the original data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" y="925919"/>
            <a:ext cx="9143640" cy="4458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69519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456" y="64689"/>
            <a:ext cx="7718894" cy="700062"/>
          </a:xfrm>
        </p:spPr>
        <p:txBody>
          <a:bodyPr>
            <a:noAutofit/>
          </a:bodyPr>
          <a:lstStyle/>
          <a:p>
            <a:r>
              <a:rPr lang="en-CA" dirty="0"/>
              <a:t>Independent component analysis (ICA)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238" y="1215407"/>
            <a:ext cx="8552936" cy="4961556"/>
          </a:xfrm>
        </p:spPr>
        <p:txBody>
          <a:bodyPr/>
          <a:lstStyle/>
          <a:p>
            <a:r>
              <a:rPr lang="en-US" dirty="0"/>
              <a:t>PCA finds a coordinate system for a feature space that captures the covariance of the data</a:t>
            </a:r>
          </a:p>
          <a:p>
            <a:r>
              <a:rPr lang="en-US" dirty="0"/>
              <a:t>In contrast, </a:t>
            </a:r>
            <a:r>
              <a:rPr lang="en-US" i="1" dirty="0"/>
              <a:t>ICA </a:t>
            </a:r>
            <a:r>
              <a:rPr lang="en-US" dirty="0"/>
              <a:t>seeks a projection that decomposes the data into sources that are statistically independent </a:t>
            </a:r>
            <a:endParaRPr lang="en-CA" dirty="0"/>
          </a:p>
          <a:p>
            <a:r>
              <a:rPr lang="en-US" dirty="0"/>
              <a:t>Consider the “cocktail party problem,” where people hear music and the voices of other people: the goal is to un-mix these signals</a:t>
            </a:r>
          </a:p>
          <a:p>
            <a:r>
              <a:rPr lang="en-US" dirty="0"/>
              <a:t>ICA finds a linear projection of the mixed signal that gives the most statistically independent set of transformed variables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90040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443</TotalTime>
  <Words>1916</Words>
  <Application>Microsoft Office PowerPoint</Application>
  <PresentationFormat>On-screen Show (4:3)</PresentationFormat>
  <Paragraphs>252</Paragraphs>
  <Slides>25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7" baseType="lpstr">
      <vt:lpstr>Calibri</vt:lpstr>
      <vt:lpstr>Symbol</vt:lpstr>
      <vt:lpstr>Arial</vt:lpstr>
      <vt:lpstr>Calibri Light</vt:lpstr>
      <vt:lpstr>Utopia</vt:lpstr>
      <vt:lpstr>Courier New</vt:lpstr>
      <vt:lpstr>Gothic</vt:lpstr>
      <vt:lpstr>Segoe UI Light</vt:lpstr>
      <vt:lpstr>Segoe UI</vt:lpstr>
      <vt:lpstr>Times New Roman</vt:lpstr>
      <vt:lpstr>Office Theme</vt:lpstr>
      <vt:lpstr>1_Office Theme</vt:lpstr>
      <vt:lpstr>CSCI/ARTI 8950 Machine Learning</vt:lpstr>
      <vt:lpstr>Ensemble learning</vt:lpstr>
      <vt:lpstr>Combining multiple models</vt:lpstr>
      <vt:lpstr>Bagging</vt:lpstr>
      <vt:lpstr>Bias-variance decomposition</vt:lpstr>
      <vt:lpstr>More on bagging</vt:lpstr>
      <vt:lpstr>Bagging classifiers</vt:lpstr>
      <vt:lpstr>Boosting</vt:lpstr>
      <vt:lpstr>Boosting using AdaBoost.M1</vt:lpstr>
      <vt:lpstr>Comments on AdaBoost.M1</vt:lpstr>
      <vt:lpstr>More comments on boosting</vt:lpstr>
      <vt:lpstr>Stacking</vt:lpstr>
      <vt:lpstr>Generating the level-1 training data</vt:lpstr>
      <vt:lpstr>More on stacking</vt:lpstr>
      <vt:lpstr>Data transformations</vt:lpstr>
      <vt:lpstr>Attribute selection</vt:lpstr>
      <vt:lpstr>Scheme-independent attribute selection</vt:lpstr>
      <vt:lpstr>Scheme-independent attribute selection</vt:lpstr>
      <vt:lpstr>Attribute subsets for weather data</vt:lpstr>
      <vt:lpstr>Searching the attribute space</vt:lpstr>
      <vt:lpstr>Scheme-specific selection</vt:lpstr>
      <vt:lpstr>Projections</vt:lpstr>
      <vt:lpstr>Principal component analysis</vt:lpstr>
      <vt:lpstr>Example: 10-dimensional data</vt:lpstr>
      <vt:lpstr>Independent component analysis (ICA)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CSCI_8950_Lec16-17_Deep_Learning</dc:title>
  <cp:lastModifiedBy>Khaled M Rasheed</cp:lastModifiedBy>
  <cp:revision>25</cp:revision>
  <dcterms:created xsi:type="dcterms:W3CDTF">2020-09-27T23:49:45Z</dcterms:created>
  <dcterms:modified xsi:type="dcterms:W3CDTF">2026-07-27T22:22:31Z</dcterms:modified>
</cp:coreProperties>
</file>