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8" r:id="rId2"/>
    <p:sldId id="257" r:id="rId3"/>
    <p:sldId id="274" r:id="rId4"/>
    <p:sldId id="276" r:id="rId5"/>
    <p:sldId id="277" r:id="rId6"/>
    <p:sldId id="278" r:id="rId7"/>
    <p:sldId id="269" r:id="rId8"/>
    <p:sldId id="260" r:id="rId9"/>
    <p:sldId id="275" r:id="rId10"/>
    <p:sldId id="259" r:id="rId11"/>
    <p:sldId id="264" r:id="rId12"/>
    <p:sldId id="272" r:id="rId13"/>
    <p:sldId id="261" r:id="rId14"/>
    <p:sldId id="265" r:id="rId15"/>
    <p:sldId id="262" r:id="rId16"/>
    <p:sldId id="263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5"/>
    <p:restoredTop sz="93364"/>
  </p:normalViewPr>
  <p:slideViewPr>
    <p:cSldViewPr snapToGrid="0" snapToObjects="1">
      <p:cViewPr varScale="1">
        <p:scale>
          <a:sx n="108" d="100"/>
          <a:sy n="108" d="100"/>
        </p:scale>
        <p:origin x="15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34A4E-21C9-B443-963A-52EFEE30E9A8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8856B-D8D2-5641-963C-D9731B3D9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9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8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87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8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4174-538F-1746-B1D5-83EB90016DEC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2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540BD-7C34-C647-B71B-5EB5FFA3F4E5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0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5A84-467E-0E41-9A44-8BD785DD8DB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6098-3874-3C48-A6BB-0649CD3059BB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8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0940-CCB5-F945-9F81-E90F818E3A2E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5427-F03B-9A40-8213-1ED3F59D4772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5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C1D8-2545-F34B-8F8D-96E0F1FAC622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D27-D206-9049-94A0-147550C98292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4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F1F5F-2C82-7A40-B2CE-2C44BBDC820E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0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13A1-76FB-534C-A4C5-54818D6A3229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3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59F5-594E-1F44-BDAF-91D7C6129BE3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D3504-A429-F140-85B3-24F64E87F7E4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3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haledmrasheed.github.io/MLcourse/" TargetMode="External"/><Relationship Id="rId2" Type="http://schemas.openxmlformats.org/officeDocument/2006/relationships/hyperlink" Target="mailto:khaled@uga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hyperlink" Target="http://ciml.inf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gg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9B54F-FBE2-B244-9D04-1DF67194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8" y="151293"/>
            <a:ext cx="6351373" cy="72536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143F4C-9ABA-5F48-B964-6CDDFE6F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14" y="1383176"/>
            <a:ext cx="7895969" cy="9357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</a:rPr>
              <a:t>CSCI/ARTI 8950 Machine Learning 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F5D78B6-3671-7A4F-A44B-4A1583A3C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7" y="3786944"/>
            <a:ext cx="6858000" cy="2430976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Khaled Rasheed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Professor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r>
              <a:rPr lang="en-US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19D03-FCB6-E844-A170-82163A6F7E53}"/>
              </a:ext>
            </a:extLst>
          </p:cNvPr>
          <p:cNvSpPr txBox="1"/>
          <p:nvPr/>
        </p:nvSpPr>
        <p:spPr>
          <a:xfrm>
            <a:off x="2364374" y="2486282"/>
            <a:ext cx="5371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Lecture Notes 1: </a:t>
            </a:r>
            <a:r>
              <a:rPr lang="en-US" sz="3200" b="1"/>
              <a:t>Course</a:t>
            </a:r>
            <a:r>
              <a:rPr lang="en-US" sz="2800" b="1"/>
              <a:t> </a:t>
            </a:r>
            <a:r>
              <a:rPr lang="en-US" sz="2800" b="1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0325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0963-C5CB-E346-AAB0-33A73CD38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7778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/>
              <a:t>Instructor</a:t>
            </a:r>
            <a:r>
              <a:rPr lang="en-US" sz="2600" dirty="0"/>
              <a:t>: Khaled Rasheed (</a:t>
            </a:r>
            <a:r>
              <a:rPr lang="en-US" sz="2600" dirty="0">
                <a:hlinkClick r:id="rId2"/>
              </a:rPr>
              <a:t>khaled@uga.edu</a:t>
            </a:r>
            <a:r>
              <a:rPr lang="en-US" sz="2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Syllabus &amp; Course Website</a:t>
            </a:r>
            <a:r>
              <a:rPr lang="en-US" sz="2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hlinkClick r:id="rId3"/>
              </a:rPr>
              <a:t>https://khaledmrasheed.github.io/MLcourse/</a:t>
            </a:r>
            <a:r>
              <a:rPr lang="en-US" sz="2200" dirty="0"/>
              <a:t>   </a:t>
            </a:r>
          </a:p>
          <a:p>
            <a:pPr lvl="0">
              <a:lnSpc>
                <a:spcPct val="150000"/>
              </a:lnSpc>
            </a:pPr>
            <a:r>
              <a:rPr lang="en-US" sz="2600" b="1" dirty="0">
                <a:solidFill>
                  <a:prstClr val="black"/>
                </a:solidFill>
              </a:rPr>
              <a:t>Time and Location</a:t>
            </a:r>
            <a:r>
              <a:rPr lang="en-US" sz="2600" dirty="0">
                <a:solidFill>
                  <a:prstClr val="black"/>
                </a:solidFill>
              </a:rPr>
              <a:t>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2600" dirty="0">
                <a:solidFill>
                  <a:prstClr val="black"/>
                </a:solidFill>
              </a:rPr>
              <a:t>M 4:35pm-5:30pm; TR: 4:35pm-5:55pm (Boyd 222,221)</a:t>
            </a:r>
          </a:p>
          <a:p>
            <a:pPr lvl="0">
              <a:lnSpc>
                <a:spcPct val="150000"/>
              </a:lnSpc>
            </a:pPr>
            <a:r>
              <a:rPr lang="en-US" sz="2600" b="1" dirty="0">
                <a:solidFill>
                  <a:prstClr val="black"/>
                </a:solidFill>
              </a:rPr>
              <a:t>Office Hours and Location: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2600" dirty="0">
                <a:solidFill>
                  <a:prstClr val="black"/>
                </a:solidFill>
              </a:rPr>
              <a:t>Thursday 10:00am</a:t>
            </a:r>
            <a:r>
              <a:rPr lang="zh-CN" altLang="en-US" sz="2600" dirty="0">
                <a:solidFill>
                  <a:prstClr val="black"/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</a:rPr>
              <a:t>–</a:t>
            </a:r>
            <a:r>
              <a:rPr lang="zh-CN" altLang="en-US" sz="2600" dirty="0">
                <a:solidFill>
                  <a:prstClr val="black"/>
                </a:solidFill>
              </a:rPr>
              <a:t> </a:t>
            </a:r>
            <a:r>
              <a:rPr lang="en-US" altLang="zh-CN" sz="2600" dirty="0">
                <a:solidFill>
                  <a:prstClr val="black"/>
                </a:solidFill>
              </a:rPr>
              <a:t>12:00pm</a:t>
            </a:r>
            <a:r>
              <a:rPr lang="en-US" sz="2600" dirty="0">
                <a:solidFill>
                  <a:prstClr val="black"/>
                </a:solidFill>
              </a:rPr>
              <a:t> (Boyd 543)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B8969-9666-2548-9ADC-9D2CF1F8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" y="1462937"/>
            <a:ext cx="8753856" cy="5395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86141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What Can We Do with Machine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Learning?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B33D2-39D8-CA4B-B9ED-7253F26597D0}"/>
              </a:ext>
            </a:extLst>
          </p:cNvPr>
          <p:cNvSpPr/>
          <p:nvPr/>
        </p:nvSpPr>
        <p:spPr>
          <a:xfrm>
            <a:off x="6608826" y="1243429"/>
            <a:ext cx="718566" cy="439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1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8161782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Paradigm: “</a:t>
            </a:r>
            <a:r>
              <a:rPr lang="en-US" sz="2600" dirty="0">
                <a:solidFill>
                  <a:schemeClr val="accent1"/>
                </a:solidFill>
              </a:rPr>
              <a:t>Programming by example</a:t>
            </a:r>
            <a:r>
              <a:rPr lang="en-US" sz="2600" dirty="0"/>
              <a:t>”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Replace “human writing code” with “human supplying data”</a:t>
            </a:r>
          </a:p>
          <a:p>
            <a:pPr lvl="1"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600" dirty="0"/>
              <a:t>Most central issue: </a:t>
            </a:r>
            <a:r>
              <a:rPr lang="en-US" sz="2600" dirty="0">
                <a:solidFill>
                  <a:schemeClr val="accent1"/>
                </a:solidFill>
              </a:rPr>
              <a:t>generalization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How to generalize from “training” examples to “test” examples?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Difficulties include noise, over and under fitting, big data .. etc.</a:t>
            </a:r>
          </a:p>
        </p:txBody>
      </p:sp>
    </p:spTree>
    <p:extLst>
      <p:ext uri="{BB962C8B-B14F-4D97-AF65-F5344CB8AC3E}">
        <p14:creationId xmlns:p14="http://schemas.microsoft.com/office/powerpoint/2010/main" val="387560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A Growing and Fast-Moving Field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161782" cy="4649315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Broad applicability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Finance, robotics, vision, machine translation, Bioinformatics, medicine, etc.</a:t>
            </a:r>
          </a:p>
          <a:p>
            <a:pPr>
              <a:lnSpc>
                <a:spcPct val="114000"/>
              </a:lnSpc>
            </a:pP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Close connection between theory and practice</a:t>
            </a:r>
          </a:p>
          <a:p>
            <a:pPr>
              <a:lnSpc>
                <a:spcPct val="114000"/>
              </a:lnSpc>
            </a:pP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Open field, lots of room for new work!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9403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Course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161782" cy="464931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By the end of the semester, you should be able to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Look at a problem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Identify if ML is an appropriate solution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If so, identify what types of algorithms might be applicable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Apply those algorithms, compare and improve performance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Write a high-quality report or paper </a:t>
            </a: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This course is </a:t>
            </a:r>
            <a:r>
              <a:rPr lang="en-US" sz="2600" dirty="0">
                <a:solidFill>
                  <a:srgbClr val="C00000"/>
                </a:solidFill>
              </a:rPr>
              <a:t>not</a:t>
            </a:r>
            <a:r>
              <a:rPr lang="en-US" sz="2600" dirty="0"/>
              <a:t>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complete survey of ML algorithms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theoretical study of ML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course devoted to Deep Learning or Large Language Models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tutorial on ML toolkits such as </a:t>
            </a:r>
            <a:r>
              <a:rPr lang="en-US" altLang="zh-CN" sz="2200" dirty="0" err="1"/>
              <a:t>Scikit</a:t>
            </a:r>
            <a:r>
              <a:rPr lang="en-US" altLang="zh-CN" sz="2200" dirty="0"/>
              <a:t>-Learn</a:t>
            </a:r>
            <a:r>
              <a:rPr lang="en-US" sz="2200" dirty="0"/>
              <a:t>, TensorFlow, …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746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ML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Related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Courses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at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UGA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5142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/>
              <a:t>Machine</a:t>
            </a:r>
            <a:r>
              <a:rPr lang="zh-CN" altLang="en-US" sz="2600" dirty="0"/>
              <a:t> </a:t>
            </a:r>
            <a:r>
              <a:rPr lang="en-US" altLang="zh-CN" sz="2600" dirty="0"/>
              <a:t>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8950</a:t>
            </a:r>
            <a:r>
              <a:rPr lang="zh-CN" altLang="en-US" sz="2200" dirty="0"/>
              <a:t> </a:t>
            </a:r>
            <a:r>
              <a:rPr lang="en-US" altLang="zh-CN" sz="2200" dirty="0"/>
              <a:t>Machine</a:t>
            </a:r>
            <a:r>
              <a:rPr lang="zh-CN" altLang="en-US" sz="2200" dirty="0"/>
              <a:t> </a:t>
            </a:r>
            <a:r>
              <a:rPr lang="en-US" altLang="zh-CN" sz="2200" dirty="0"/>
              <a:t>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8945 Advanced Representation Learning 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8265 Trustworthy Machine 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8951 Large-Scale Optimization for Machine Learning</a:t>
            </a:r>
          </a:p>
          <a:p>
            <a:pPr>
              <a:lnSpc>
                <a:spcPct val="120000"/>
              </a:lnSpc>
            </a:pPr>
            <a:r>
              <a:rPr lang="en-US" altLang="zh-CN" sz="2600" dirty="0"/>
              <a:t>Artificial</a:t>
            </a:r>
            <a:r>
              <a:rPr lang="zh-CN" altLang="en-US" sz="2600" dirty="0"/>
              <a:t> </a:t>
            </a:r>
            <a:r>
              <a:rPr lang="en-US" altLang="zh-CN" sz="2600" dirty="0"/>
              <a:t>Intelligence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4550/6550</a:t>
            </a:r>
            <a:r>
              <a:rPr lang="zh-CN" altLang="en-US" sz="2200" dirty="0"/>
              <a:t> </a:t>
            </a:r>
            <a:r>
              <a:rPr lang="en-US" altLang="zh-CN" sz="2200" dirty="0"/>
              <a:t>Artificial</a:t>
            </a:r>
            <a:r>
              <a:rPr lang="zh-CN" altLang="en-US" sz="2200" dirty="0"/>
              <a:t> </a:t>
            </a:r>
            <a:r>
              <a:rPr lang="en-US" altLang="zh-CN" sz="2200" dirty="0"/>
              <a:t>Intelligence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4560/6560</a:t>
            </a:r>
            <a:r>
              <a:rPr lang="zh-CN" altLang="en-US" sz="2200" dirty="0"/>
              <a:t> </a:t>
            </a:r>
            <a:r>
              <a:rPr lang="en-US" altLang="zh-CN" sz="2200" dirty="0"/>
              <a:t>Evolutionary Computation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8050</a:t>
            </a:r>
            <a:r>
              <a:rPr lang="zh-CN" altLang="en-US" sz="2200" dirty="0"/>
              <a:t> </a:t>
            </a:r>
            <a:r>
              <a:rPr lang="en-US" altLang="zh-CN" sz="2200" dirty="0"/>
              <a:t>Knowledge-Based Systems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8820</a:t>
            </a:r>
            <a:r>
              <a:rPr lang="zh-CN" altLang="en-US" sz="2200" dirty="0"/>
              <a:t> </a:t>
            </a:r>
            <a:r>
              <a:rPr lang="en-US" altLang="zh-CN" sz="2200" dirty="0"/>
              <a:t>Computer</a:t>
            </a:r>
            <a:r>
              <a:rPr lang="zh-CN" altLang="en-US" sz="2200" dirty="0"/>
              <a:t> </a:t>
            </a:r>
            <a:r>
              <a:rPr lang="en-US" altLang="zh-CN" sz="2200" dirty="0"/>
              <a:t>Vision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Pattern</a:t>
            </a:r>
            <a:r>
              <a:rPr lang="zh-CN" altLang="en-US" sz="2200" dirty="0"/>
              <a:t> </a:t>
            </a:r>
            <a:r>
              <a:rPr lang="en-US" altLang="zh-CN" sz="2200" dirty="0"/>
              <a:t>Recognition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8920</a:t>
            </a:r>
            <a:r>
              <a:rPr lang="zh-CN" altLang="en-US" sz="2200" dirty="0"/>
              <a:t> </a:t>
            </a:r>
            <a:r>
              <a:rPr lang="en-US" altLang="zh-CN" sz="2200" dirty="0"/>
              <a:t>Decision</a:t>
            </a:r>
            <a:r>
              <a:rPr lang="zh-CN" altLang="en-US" sz="2200" dirty="0"/>
              <a:t> </a:t>
            </a:r>
            <a:r>
              <a:rPr lang="en-US" altLang="zh-CN" sz="2200" dirty="0"/>
              <a:t>Making</a:t>
            </a:r>
            <a:r>
              <a:rPr lang="zh-CN" altLang="en-US" sz="2200" dirty="0"/>
              <a:t> </a:t>
            </a:r>
            <a:r>
              <a:rPr lang="en-US" altLang="zh-CN" sz="2200" dirty="0"/>
              <a:t>under</a:t>
            </a:r>
            <a:r>
              <a:rPr lang="zh-CN" altLang="en-US" sz="2200" dirty="0"/>
              <a:t> </a:t>
            </a:r>
            <a:r>
              <a:rPr lang="en-US" altLang="zh-CN" sz="2200" dirty="0"/>
              <a:t>Uncertainty</a:t>
            </a:r>
          </a:p>
          <a:p>
            <a:pPr>
              <a:lnSpc>
                <a:spcPct val="120000"/>
              </a:lnSpc>
            </a:pPr>
            <a:r>
              <a:rPr lang="en-US" altLang="zh-CN" sz="2600" dirty="0"/>
              <a:t>Data</a:t>
            </a:r>
            <a:r>
              <a:rPr lang="zh-CN" altLang="en-US" sz="2600" dirty="0"/>
              <a:t> </a:t>
            </a:r>
            <a:r>
              <a:rPr lang="en-US" altLang="zh-CN" sz="2600" dirty="0"/>
              <a:t>Science</a:t>
            </a:r>
            <a:endParaRPr lang="en-US" sz="2600" dirty="0"/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3330/4360/6360</a:t>
            </a:r>
            <a:r>
              <a:rPr lang="zh-CN" altLang="en-US" sz="2200" dirty="0"/>
              <a:t> </a:t>
            </a:r>
            <a:r>
              <a:rPr lang="en-US" altLang="zh-CN" sz="2200" dirty="0"/>
              <a:t>Data</a:t>
            </a:r>
            <a:r>
              <a:rPr lang="zh-CN" altLang="en-US" sz="2200" dirty="0"/>
              <a:t> </a:t>
            </a:r>
            <a:r>
              <a:rPr lang="en-US" altLang="zh-CN" sz="2200" dirty="0"/>
              <a:t>Science</a:t>
            </a:r>
            <a:r>
              <a:rPr lang="zh-CN" altLang="en-US" sz="2200" dirty="0"/>
              <a:t> </a:t>
            </a:r>
            <a:r>
              <a:rPr lang="en-US" altLang="zh-CN" sz="2200" dirty="0"/>
              <a:t>I/II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4380/6380</a:t>
            </a:r>
            <a:r>
              <a:rPr lang="zh-CN" altLang="en-US" sz="2200" dirty="0"/>
              <a:t> </a:t>
            </a:r>
            <a:r>
              <a:rPr lang="en-US" altLang="zh-CN" sz="2200" dirty="0"/>
              <a:t>Data</a:t>
            </a:r>
            <a:r>
              <a:rPr lang="zh-CN" altLang="en-US" sz="2200" dirty="0"/>
              <a:t> </a:t>
            </a:r>
            <a:r>
              <a:rPr lang="en-US" altLang="zh-CN" sz="2200" dirty="0"/>
              <a:t>Mining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8955</a:t>
            </a:r>
            <a:r>
              <a:rPr lang="zh-CN" altLang="en-US" sz="2200" dirty="0"/>
              <a:t> </a:t>
            </a:r>
            <a:r>
              <a:rPr lang="en-US" altLang="zh-CN" sz="2200" dirty="0"/>
              <a:t>Advanced Data Analytics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8960</a:t>
            </a:r>
            <a:r>
              <a:rPr lang="zh-CN" altLang="en-US" sz="2200" dirty="0"/>
              <a:t> </a:t>
            </a:r>
            <a:r>
              <a:rPr lang="en-US" altLang="zh-CN" sz="2200" dirty="0"/>
              <a:t>Privacy-Preserving Data Analysis</a:t>
            </a:r>
          </a:p>
          <a:p>
            <a:pPr lvl="1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4E4A6-BB79-9A42-8F30-E3130767C9DD}"/>
              </a:ext>
            </a:extLst>
          </p:cNvPr>
          <p:cNvSpPr txBox="1"/>
          <p:nvPr/>
        </p:nvSpPr>
        <p:spPr>
          <a:xfrm>
            <a:off x="6947485" y="4992130"/>
            <a:ext cx="156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Incomplete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286737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Style of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Graduate level course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Present an overview of machine learning approaches, models and applications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Lectures (by instructor and guest lecturers)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Readings before lectures (by students)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Paper review and presentation (by students)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Research-oriented learning with a </a:t>
            </a:r>
            <a:r>
              <a:rPr lang="en-US" altLang="zh-CN" sz="2600" b="1" i="1" dirty="0"/>
              <a:t>course</a:t>
            </a:r>
            <a:r>
              <a:rPr lang="en-US" sz="2600" b="1" i="1" dirty="0"/>
              <a:t> project</a:t>
            </a:r>
          </a:p>
          <a:p>
            <a:pPr>
              <a:lnSpc>
                <a:spcPct val="114000"/>
              </a:lnSpc>
            </a:pPr>
            <a:r>
              <a:rPr lang="en-US" altLang="zh-CN" sz="2600" dirty="0"/>
              <a:t>Homework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midterm (open notes)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8559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Recommended Textbooks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[Main, Free] A Course in 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Hal </a:t>
            </a:r>
            <a:r>
              <a:rPr lang="en-US" sz="2400" dirty="0" err="1"/>
              <a:t>Daumé</a:t>
            </a:r>
            <a:r>
              <a:rPr lang="en-US" sz="2400" dirty="0"/>
              <a:t> III   </a:t>
            </a:r>
            <a:r>
              <a:rPr lang="en-US" sz="2400" dirty="0">
                <a:hlinkClick r:id="rId2"/>
              </a:rPr>
              <a:t>http://ciml.info/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Tom Michell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[Free] Pattern Recognition and 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Christopher Bishop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F643B-66AA-DD48-BF29-07881F57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40" y="1358584"/>
            <a:ext cx="2544562" cy="2544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97D04-6483-4D40-98FD-0B0A7103A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933" y="4214747"/>
            <a:ext cx="1700563" cy="2560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8FA552-DF29-2644-A51F-F5029F794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998" y="4214747"/>
            <a:ext cx="1908946" cy="256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Recommended Prerequisites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CSCI 6380 Data Mining </a:t>
            </a:r>
            <a:r>
              <a:rPr lang="en-US" sz="2400" i="1" dirty="0"/>
              <a:t>or</a:t>
            </a:r>
            <a:r>
              <a:rPr lang="en-US" sz="2400" dirty="0"/>
              <a:t> CSCI 6550 Artificial Intelligence</a:t>
            </a:r>
            <a:r>
              <a:rPr lang="zh-CN" altLang="en-US" sz="2400" dirty="0"/>
              <a:t> </a:t>
            </a:r>
            <a:r>
              <a:rPr lang="en-US" sz="2400" i="1" dirty="0"/>
              <a:t>or</a:t>
            </a:r>
            <a:r>
              <a:rPr lang="en-US" sz="2400" dirty="0"/>
              <a:t> CSCI 6560 Evolutionary computation </a:t>
            </a:r>
            <a:r>
              <a:rPr lang="en-US" altLang="zh-CN" sz="2400" i="1" dirty="0"/>
              <a:t>or</a:t>
            </a:r>
            <a:r>
              <a:rPr lang="zh-CN" altLang="en-US" sz="2400" i="1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machine</a:t>
            </a:r>
            <a:r>
              <a:rPr lang="zh-CN" altLang="en-US" sz="2400" dirty="0"/>
              <a:t> </a:t>
            </a:r>
            <a:r>
              <a:rPr lang="en-US" altLang="zh-CN" sz="2400" dirty="0"/>
              <a:t>learning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science</a:t>
            </a:r>
            <a:r>
              <a:rPr lang="zh-CN" altLang="en-US" sz="2400" dirty="0"/>
              <a:t> </a:t>
            </a:r>
            <a:r>
              <a:rPr lang="en-US" altLang="zh-CN" sz="2400" dirty="0"/>
              <a:t>courses</a:t>
            </a:r>
            <a:endParaRPr lang="en-US" sz="2400" i="1" dirty="0"/>
          </a:p>
          <a:p>
            <a:pPr>
              <a:lnSpc>
                <a:spcPct val="150000"/>
              </a:lnSpc>
            </a:pPr>
            <a:r>
              <a:rPr lang="en-US" sz="2400" dirty="0"/>
              <a:t>Understanding the concepts of data structures and basic computer algorithms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Solid mathematics / statistics / programming background would be </a:t>
            </a:r>
            <a:r>
              <a:rPr lang="en-US" altLang="zh-CN" sz="2400" dirty="0"/>
              <a:t>very</a:t>
            </a:r>
            <a:r>
              <a:rPr lang="zh-CN" altLang="en-US" sz="2400" dirty="0"/>
              <a:t> </a:t>
            </a:r>
            <a:r>
              <a:rPr lang="en-US" altLang="zh-CN" sz="2400" dirty="0"/>
              <a:t>helpful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850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Tentative Topics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4488"/>
            <a:ext cx="8367070" cy="51429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Decision Trees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Geometry and Nearest Neighbors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Clustering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Perceptron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Multiclass Classification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Bias and Fairness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Linear Models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Probabilistic Models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Neural Networks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Evolutionary Computation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Ensemble Learning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4096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Tentative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Schedule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8181718" cy="464931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overview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overview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machine</a:t>
            </a:r>
            <a:r>
              <a:rPr lang="zh-CN" altLang="en-US" sz="2400" dirty="0"/>
              <a:t> </a:t>
            </a:r>
            <a:r>
              <a:rPr lang="en-US" altLang="zh-CN" sz="2400" dirty="0"/>
              <a:t>learning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Lectures on Topics 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Midterm Exam [Projected letter grades will be given after midterm]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Paper</a:t>
            </a:r>
            <a:r>
              <a:rPr lang="zh-CN" altLang="en-US" sz="2400" dirty="0"/>
              <a:t> </a:t>
            </a:r>
            <a:r>
              <a:rPr lang="en-US" altLang="zh-CN" sz="2400" dirty="0"/>
              <a:t>review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presentations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Project </a:t>
            </a:r>
            <a:r>
              <a:rPr lang="en-US" altLang="zh-CN" sz="2400" dirty="0"/>
              <a:t>proposal,</a:t>
            </a:r>
            <a:r>
              <a:rPr lang="zh-CN" altLang="en-US" sz="2400" dirty="0"/>
              <a:t> </a:t>
            </a:r>
            <a:r>
              <a:rPr lang="en-US" altLang="zh-CN" sz="2400" dirty="0"/>
              <a:t>status reports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final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presentations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Guest</a:t>
            </a:r>
            <a:r>
              <a:rPr lang="zh-CN" altLang="en-US" sz="2400" dirty="0"/>
              <a:t> </a:t>
            </a:r>
            <a:r>
              <a:rPr lang="en-US" altLang="zh-CN" sz="2400" dirty="0"/>
              <a:t>lectures (throughout)</a:t>
            </a:r>
          </a:p>
        </p:txBody>
      </p:sp>
    </p:spTree>
    <p:extLst>
      <p:ext uri="{BB962C8B-B14F-4D97-AF65-F5344CB8AC3E}">
        <p14:creationId xmlns:p14="http://schemas.microsoft.com/office/powerpoint/2010/main" val="29728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Grad</a:t>
            </a:r>
            <a:r>
              <a:rPr lang="en-US" altLang="zh-CN" sz="4000" b="1" dirty="0">
                <a:solidFill>
                  <a:srgbClr val="FF0000"/>
                </a:solidFill>
              </a:rPr>
              <a:t>ing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Breakdown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A6409F78-F563-9545-881B-B104A4FE2009}" type="slidenum">
              <a:rPr lang="en-US" smtClean="0"/>
              <a:t>13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8262"/>
            <a:ext cx="7886700" cy="43336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4000"/>
              </a:lnSpc>
            </a:pPr>
            <a:r>
              <a:rPr lang="en-US" sz="2600" dirty="0"/>
              <a:t>Homework (20%)</a:t>
            </a:r>
          </a:p>
          <a:p>
            <a:pPr lvl="1">
              <a:lnSpc>
                <a:spcPct val="134000"/>
              </a:lnSpc>
            </a:pPr>
            <a:r>
              <a:rPr lang="en-US" sz="2200" dirty="0"/>
              <a:t>Submitted via </a:t>
            </a:r>
            <a:r>
              <a:rPr lang="en-US" sz="2200" b="1" dirty="0" err="1"/>
              <a:t>eLC</a:t>
            </a:r>
            <a:r>
              <a:rPr lang="en-US" sz="2200" dirty="0"/>
              <a:t>; </a:t>
            </a:r>
            <a:r>
              <a:rPr lang="en-US" sz="2200" dirty="0">
                <a:solidFill>
                  <a:srgbClr val="FF0000"/>
                </a:solidFill>
              </a:rPr>
              <a:t>Late submissions </a:t>
            </a:r>
            <a:r>
              <a:rPr lang="en-US" sz="2200" dirty="0"/>
              <a:t>will be penalized by deducting 10% of the score for each calendar day beyond the due date</a:t>
            </a:r>
          </a:p>
          <a:p>
            <a:pPr lvl="1">
              <a:lnSpc>
                <a:spcPct val="134000"/>
              </a:lnSpc>
            </a:pPr>
            <a:r>
              <a:rPr lang="en-US" sz="2600" dirty="0"/>
              <a:t>Group study is allowed with proper </a:t>
            </a:r>
            <a:r>
              <a:rPr lang="en-US" sz="2600" dirty="0">
                <a:solidFill>
                  <a:srgbClr val="FF0000"/>
                </a:solidFill>
              </a:rPr>
              <a:t>acknowledgement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Midterm Exam (20%)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Paper Review (10%)</a:t>
            </a:r>
            <a:r>
              <a:rPr lang="en-US" altLang="zh-CN" sz="2600" dirty="0"/>
              <a:t>:</a:t>
            </a:r>
            <a:r>
              <a:rPr lang="zh-CN" altLang="en-US" sz="2600" dirty="0"/>
              <a:t> </a:t>
            </a:r>
            <a:r>
              <a:rPr lang="en-US" altLang="zh-CN" sz="2600" dirty="0"/>
              <a:t>5</a:t>
            </a:r>
            <a:r>
              <a:rPr lang="zh-CN" altLang="en-US" sz="2600" dirty="0"/>
              <a:t> </a:t>
            </a:r>
            <a:r>
              <a:rPr lang="en-US" altLang="zh-CN" sz="2600" dirty="0"/>
              <a:t>papers,</a:t>
            </a:r>
            <a:r>
              <a:rPr lang="zh-CN" altLang="en-US" sz="2600" dirty="0"/>
              <a:t> </a:t>
            </a:r>
            <a:r>
              <a:rPr lang="en-US" altLang="zh-CN" sz="2600" dirty="0"/>
              <a:t>2%</a:t>
            </a:r>
            <a:r>
              <a:rPr lang="zh-CN" altLang="en-US" sz="2600" dirty="0"/>
              <a:t> </a:t>
            </a:r>
            <a:r>
              <a:rPr lang="en-US" altLang="zh-CN" sz="2600" dirty="0"/>
              <a:t>each</a:t>
            </a:r>
            <a:endParaRPr lang="en-US" sz="2600" dirty="0"/>
          </a:p>
          <a:p>
            <a:pPr>
              <a:lnSpc>
                <a:spcPct val="134000"/>
              </a:lnSpc>
            </a:pPr>
            <a:r>
              <a:rPr lang="en-US" sz="2600" dirty="0"/>
              <a:t>Paper Presentation (</a:t>
            </a:r>
            <a:r>
              <a:rPr lang="en-US" altLang="zh-CN" sz="2600" dirty="0"/>
              <a:t>10</a:t>
            </a:r>
            <a:r>
              <a:rPr lang="en-US" sz="2600" dirty="0"/>
              <a:t>%)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Term Project and term paper (40%)</a:t>
            </a:r>
          </a:p>
        </p:txBody>
      </p:sp>
    </p:spTree>
    <p:extLst>
      <p:ext uri="{BB962C8B-B14F-4D97-AF65-F5344CB8AC3E}">
        <p14:creationId xmlns:p14="http://schemas.microsoft.com/office/powerpoint/2010/main" val="2410829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Review &amp;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Papers/Topics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posted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website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Please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sign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up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for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paper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presentation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soon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possible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are encouraged to suggest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interesting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papers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 but 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approved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42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9582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Each student will be required to </a:t>
            </a:r>
            <a:r>
              <a:rPr lang="en-US" altLang="zh-CN" sz="2600" b="1" dirty="0"/>
              <a:t>review</a:t>
            </a:r>
            <a:r>
              <a:rPr lang="en-US" sz="2600" dirty="0"/>
              <a:t> </a:t>
            </a:r>
            <a:r>
              <a:rPr lang="en-US" altLang="zh-CN" sz="2600" dirty="0"/>
              <a:t>5</a:t>
            </a:r>
            <a:r>
              <a:rPr lang="en-US" sz="2600" dirty="0"/>
              <a:t> paper</a:t>
            </a:r>
            <a:r>
              <a:rPr lang="en-US" altLang="zh-CN" sz="2600" dirty="0"/>
              <a:t>s</a:t>
            </a:r>
            <a:r>
              <a:rPr lang="en-US" sz="2600" dirty="0"/>
              <a:t> and </a:t>
            </a:r>
            <a:r>
              <a:rPr lang="en-US" altLang="zh-CN" sz="2600" dirty="0"/>
              <a:t>submit</a:t>
            </a:r>
            <a:r>
              <a:rPr lang="zh-CN" altLang="en-US" sz="2600" dirty="0"/>
              <a:t> </a:t>
            </a:r>
            <a:r>
              <a:rPr lang="en-US" altLang="zh-CN" sz="2600" dirty="0"/>
              <a:t>your</a:t>
            </a:r>
            <a:r>
              <a:rPr lang="zh-CN" altLang="en-US" sz="2600" dirty="0"/>
              <a:t> </a:t>
            </a:r>
            <a:r>
              <a:rPr lang="en-US" altLang="zh-CN" sz="2600" dirty="0"/>
              <a:t>review</a:t>
            </a:r>
            <a:r>
              <a:rPr lang="zh-CN" altLang="en-US" sz="2600" dirty="0"/>
              <a:t> </a:t>
            </a:r>
            <a:r>
              <a:rPr lang="en-US" altLang="zh-CN" sz="2600" dirty="0"/>
              <a:t>reports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 err="1"/>
              <a:t>eLC</a:t>
            </a:r>
            <a:r>
              <a:rPr lang="en-US" altLang="zh-CN" sz="26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The reviewed papers should be chosen from the papers that will be presented in class (posted on the </a:t>
            </a:r>
            <a:r>
              <a:rPr lang="en-US" altLang="zh-CN" sz="2600" dirty="0"/>
              <a:t>course homepage</a:t>
            </a:r>
            <a:r>
              <a:rPr lang="en-US" sz="2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</a:rPr>
              <a:t>Suggested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70C0"/>
                </a:solidFill>
              </a:rPr>
              <a:t>outline</a:t>
            </a:r>
            <a:r>
              <a:rPr lang="en-US" sz="2600" dirty="0"/>
              <a:t> of review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Main idea and contributions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Summarize the methodology and major experimental findings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Discuss the strengths and weaknesses of the paper</a:t>
            </a:r>
          </a:p>
        </p:txBody>
      </p:sp>
    </p:spTree>
    <p:extLst>
      <p:ext uri="{BB962C8B-B14F-4D97-AF65-F5344CB8AC3E}">
        <p14:creationId xmlns:p14="http://schemas.microsoft.com/office/powerpoint/2010/main" val="65348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5020019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dirty="0"/>
              <a:t>Each student will present</a:t>
            </a:r>
            <a:r>
              <a:rPr lang="zh-CN" altLang="en-US" sz="2400" dirty="0"/>
              <a:t> </a:t>
            </a:r>
            <a:r>
              <a:rPr lang="en-US" altLang="zh-CN" sz="2400" dirty="0"/>
              <a:t>ONE paper</a:t>
            </a:r>
          </a:p>
          <a:p>
            <a:pPr>
              <a:lnSpc>
                <a:spcPct val="135000"/>
              </a:lnSpc>
            </a:pPr>
            <a:r>
              <a:rPr lang="en-US" altLang="zh-CN" sz="2400" dirty="0"/>
              <a:t>The presenter should</a:t>
            </a:r>
            <a:r>
              <a:rPr lang="zh-CN" altLang="en-US" sz="2400" dirty="0"/>
              <a:t> </a:t>
            </a:r>
            <a:r>
              <a:rPr lang="en-US" altLang="zh-CN" sz="2400" dirty="0"/>
              <a:t>prepare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slides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a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20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minutes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talk,</a:t>
            </a:r>
            <a:r>
              <a:rPr lang="zh-CN" altLang="en-US" sz="2400" dirty="0"/>
              <a:t> </a:t>
            </a:r>
            <a:r>
              <a:rPr lang="en-US" altLang="zh-CN" sz="2400" dirty="0"/>
              <a:t>which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address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following</a:t>
            </a:r>
            <a:r>
              <a:rPr lang="zh-CN" altLang="en-US" sz="2400" dirty="0"/>
              <a:t> </a:t>
            </a:r>
            <a:r>
              <a:rPr lang="en-US" altLang="zh-CN" sz="2400" dirty="0"/>
              <a:t>points: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Motivation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Related</a:t>
            </a:r>
            <a:r>
              <a:rPr lang="zh-CN" altLang="en-US" sz="2200" dirty="0"/>
              <a:t> </a:t>
            </a:r>
            <a:r>
              <a:rPr lang="en-US" altLang="zh-CN" sz="2200" dirty="0"/>
              <a:t>Work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Problem</a:t>
            </a:r>
            <a:r>
              <a:rPr lang="zh-CN" altLang="en-US" sz="2200" dirty="0"/>
              <a:t> </a:t>
            </a:r>
            <a:r>
              <a:rPr lang="en-US" altLang="zh-CN" sz="2200" dirty="0"/>
              <a:t>Statement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Methodology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Experiments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Conclusions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Discussions</a:t>
            </a:r>
          </a:p>
          <a:p>
            <a:pPr>
              <a:lnSpc>
                <a:spcPct val="135000"/>
              </a:lnSpc>
            </a:pP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presenter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lead</a:t>
            </a:r>
            <a:r>
              <a:rPr lang="zh-CN" altLang="en-US" sz="2400" dirty="0"/>
              <a:t> </a:t>
            </a:r>
            <a:r>
              <a:rPr lang="en-US" altLang="zh-CN" sz="2400" dirty="0"/>
              <a:t>another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5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minutes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discussion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need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prepare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at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least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discussion</a:t>
            </a:r>
            <a:r>
              <a:rPr lang="zh-CN" altLang="en-US" sz="2400" dirty="0"/>
              <a:t> </a:t>
            </a:r>
            <a:r>
              <a:rPr lang="en-US" altLang="zh-CN" sz="2400" dirty="0"/>
              <a:t>questions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paper’s</a:t>
            </a:r>
            <a:r>
              <a:rPr lang="zh-CN" altLang="en-US" sz="2400" dirty="0"/>
              <a:t> </a:t>
            </a:r>
            <a:r>
              <a:rPr lang="en-US" altLang="zh-CN" sz="2400" dirty="0"/>
              <a:t>content,</a:t>
            </a:r>
            <a:r>
              <a:rPr lang="zh-CN" altLang="en-US" sz="2400" dirty="0"/>
              <a:t> </a:t>
            </a:r>
            <a:r>
              <a:rPr lang="en-US" altLang="zh-CN" sz="2400" dirty="0"/>
              <a:t>pros/cons,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future</a:t>
            </a:r>
            <a:r>
              <a:rPr lang="zh-CN" altLang="en-US" sz="2400" dirty="0"/>
              <a:t> </a:t>
            </a:r>
            <a:r>
              <a:rPr lang="en-US" altLang="zh-CN" sz="2400" dirty="0"/>
              <a:t>works.</a:t>
            </a:r>
          </a:p>
        </p:txBody>
      </p:sp>
    </p:spTree>
    <p:extLst>
      <p:ext uri="{BB962C8B-B14F-4D97-AF65-F5344CB8AC3E}">
        <p14:creationId xmlns:p14="http://schemas.microsoft.com/office/powerpoint/2010/main" val="1554616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Individual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group</a:t>
            </a:r>
            <a:r>
              <a:rPr lang="zh-CN" altLang="en-US" sz="2400" dirty="0"/>
              <a:t> </a:t>
            </a:r>
            <a:r>
              <a:rPr lang="en-US" altLang="zh-CN" sz="2400" dirty="0"/>
              <a:t>(no</a:t>
            </a:r>
            <a:r>
              <a:rPr lang="zh-CN" altLang="en-US" sz="2400" dirty="0"/>
              <a:t> </a:t>
            </a:r>
            <a:r>
              <a:rPr lang="en-US" altLang="zh-CN" sz="2400" dirty="0"/>
              <a:t>more</a:t>
            </a:r>
            <a:r>
              <a:rPr lang="zh-CN" altLang="en-US" sz="2400" dirty="0"/>
              <a:t> </a:t>
            </a:r>
            <a:r>
              <a:rPr lang="en-US" altLang="zh-CN" sz="2400" dirty="0"/>
              <a:t>than</a:t>
            </a:r>
            <a:r>
              <a:rPr lang="zh-CN" altLang="en-US" sz="2400" dirty="0"/>
              <a:t> </a:t>
            </a:r>
            <a:r>
              <a:rPr lang="en-US" altLang="zh-CN" sz="2400" dirty="0"/>
              <a:t>four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  <a:r>
              <a:rPr lang="zh-CN" altLang="en-US" sz="2400" dirty="0"/>
              <a:t> </a:t>
            </a:r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project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Can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any</a:t>
            </a:r>
            <a:r>
              <a:rPr lang="zh-CN" altLang="en-US" sz="2400" dirty="0"/>
              <a:t> </a:t>
            </a:r>
            <a:r>
              <a:rPr lang="en-US" altLang="zh-CN" sz="2400" dirty="0"/>
              <a:t>topic</a:t>
            </a:r>
            <a:r>
              <a:rPr lang="zh-CN" altLang="en-US" sz="2400" dirty="0"/>
              <a:t> </a:t>
            </a:r>
            <a:r>
              <a:rPr lang="en-US" altLang="zh-CN" sz="2400" dirty="0"/>
              <a:t>related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Tentative</a:t>
            </a:r>
            <a:r>
              <a:rPr lang="zh-CN" altLang="en-US" sz="2400" dirty="0"/>
              <a:t> </a:t>
            </a:r>
            <a:r>
              <a:rPr lang="en-US" altLang="zh-CN" sz="2400" dirty="0"/>
              <a:t>timeline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Late September:</a:t>
            </a:r>
            <a:r>
              <a:rPr lang="zh-CN" altLang="en-US" sz="2000" dirty="0"/>
              <a:t> </a:t>
            </a:r>
            <a:r>
              <a:rPr lang="en-US" altLang="zh-CN" sz="2000" dirty="0"/>
              <a:t>Brainstorming and project</a:t>
            </a:r>
            <a:r>
              <a:rPr lang="zh-CN" altLang="en-US" sz="2000" dirty="0"/>
              <a:t> </a:t>
            </a:r>
            <a:r>
              <a:rPr lang="en-US" altLang="zh-CN" sz="2000" dirty="0"/>
              <a:t>proposal</a:t>
            </a:r>
            <a:r>
              <a:rPr lang="zh-CN" altLang="en-US" sz="2000" dirty="0"/>
              <a:t> </a:t>
            </a:r>
            <a:r>
              <a:rPr lang="en-US" altLang="zh-CN" sz="2000" dirty="0"/>
              <a:t>submission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Mid November: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status</a:t>
            </a:r>
            <a:r>
              <a:rPr lang="zh-CN" altLang="en-US" sz="2000" dirty="0"/>
              <a:t> </a:t>
            </a:r>
            <a:r>
              <a:rPr lang="en-US" altLang="zh-CN" sz="2000" dirty="0"/>
              <a:t>report presentation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Final Exam date:</a:t>
            </a:r>
            <a:r>
              <a:rPr lang="zh-CN" altLang="en-US" sz="2000" dirty="0"/>
              <a:t> </a:t>
            </a:r>
            <a:r>
              <a:rPr lang="en-US" altLang="zh-CN" sz="2000" dirty="0"/>
              <a:t>Final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presentation and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report</a:t>
            </a:r>
            <a:r>
              <a:rPr lang="zh-CN" altLang="en-US" sz="2000" dirty="0"/>
              <a:t> </a:t>
            </a:r>
            <a:r>
              <a:rPr lang="en-US" altLang="zh-CN" sz="2000" dirty="0"/>
              <a:t>due on December 9</a:t>
            </a:r>
            <a:r>
              <a:rPr lang="en-US" altLang="zh-CN" sz="2000" baseline="30000" dirty="0"/>
              <a:t>th</a:t>
            </a:r>
            <a:r>
              <a:rPr lang="en-US" altLang="zh-CN" sz="2000" dirty="0"/>
              <a:t> , 2026. </a:t>
            </a:r>
            <a:r>
              <a:rPr lang="en-US" altLang="zh-CN" sz="2000" dirty="0">
                <a:solidFill>
                  <a:srgbClr val="FF0000"/>
                </a:solidFill>
              </a:rPr>
              <a:t>All students must participate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Detailed</a:t>
            </a:r>
            <a:r>
              <a:rPr lang="zh-CN" altLang="en-US" sz="2400" dirty="0"/>
              <a:t> </a:t>
            </a:r>
            <a:r>
              <a:rPr lang="en-US" altLang="zh-CN" sz="2400" dirty="0"/>
              <a:t>requirements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proposal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final</a:t>
            </a:r>
            <a:r>
              <a:rPr lang="zh-CN" altLang="en-US" sz="2400" dirty="0"/>
              <a:t> </a:t>
            </a:r>
            <a:r>
              <a:rPr lang="en-US" altLang="zh-CN" sz="2400" dirty="0"/>
              <a:t>report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 announced</a:t>
            </a:r>
          </a:p>
        </p:txBody>
      </p:sp>
    </p:spTree>
    <p:extLst>
      <p:ext uri="{BB962C8B-B14F-4D97-AF65-F5344CB8AC3E}">
        <p14:creationId xmlns:p14="http://schemas.microsoft.com/office/powerpoint/2010/main" val="615296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Suggestions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Kaggle Challenges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 </a:t>
            </a:r>
            <a:r>
              <a:rPr lang="en-US" altLang="zh-CN" sz="2000" dirty="0">
                <a:hlinkClick r:id="rId3"/>
              </a:rPr>
              <a:t>www.Kaggle.com</a:t>
            </a:r>
            <a:r>
              <a:rPr lang="en-US" altLang="zh-CN" sz="2000" dirty="0"/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sz="2400"/>
              <a:t>Compare</a:t>
            </a:r>
            <a:r>
              <a:rPr lang="zh-CN" altLang="en-US" sz="2400"/>
              <a:t> </a:t>
            </a:r>
            <a:r>
              <a:rPr lang="en-US" altLang="zh-CN" sz="2400" dirty="0"/>
              <a:t>Ideas/Algorithms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Compare and extend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state-of-the-art</a:t>
            </a:r>
            <a:r>
              <a:rPr lang="zh-CN" altLang="en-US" sz="2000" dirty="0"/>
              <a:t> </a:t>
            </a:r>
            <a:r>
              <a:rPr lang="en-US" altLang="zh-CN" sz="2000" dirty="0"/>
              <a:t>algorithms,</a:t>
            </a:r>
            <a:r>
              <a:rPr lang="zh-CN" altLang="en-US" sz="2000" dirty="0"/>
              <a:t> </a:t>
            </a:r>
            <a:r>
              <a:rPr lang="en-US" altLang="zh-CN" sz="2000" dirty="0"/>
              <a:t>derive</a:t>
            </a:r>
            <a:r>
              <a:rPr lang="zh-CN" altLang="en-US" sz="2000" dirty="0"/>
              <a:t> </a:t>
            </a:r>
            <a:r>
              <a:rPr lang="en-US" altLang="zh-CN" sz="2000" dirty="0"/>
              <a:t>solutions,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validate</a:t>
            </a:r>
            <a:r>
              <a:rPr lang="zh-CN" altLang="en-US" sz="2000" dirty="0"/>
              <a:t> </a:t>
            </a:r>
            <a:r>
              <a:rPr lang="en-US" altLang="zh-CN" sz="2000" dirty="0"/>
              <a:t>them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benchmark</a:t>
            </a:r>
            <a:r>
              <a:rPr lang="zh-CN" altLang="en-US" sz="2000" dirty="0"/>
              <a:t> </a:t>
            </a:r>
            <a:r>
              <a:rPr lang="en-US" altLang="zh-CN" sz="2000" dirty="0"/>
              <a:t>datasets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New</a:t>
            </a:r>
            <a:r>
              <a:rPr lang="zh-CN" altLang="en-US" sz="2400" dirty="0"/>
              <a:t> </a:t>
            </a:r>
            <a:r>
              <a:rPr lang="en-US" altLang="zh-CN" sz="2400" dirty="0"/>
              <a:t>Modeling/Applications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Identify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setting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application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ML</a:t>
            </a:r>
            <a:r>
              <a:rPr lang="zh-CN" altLang="en-US" sz="2000" dirty="0"/>
              <a:t> </a:t>
            </a:r>
            <a:r>
              <a:rPr lang="en-US" altLang="zh-CN" sz="2000" dirty="0"/>
              <a:t>model;</a:t>
            </a:r>
            <a:r>
              <a:rPr lang="zh-CN" altLang="en-US" sz="2000" dirty="0"/>
              <a:t> </a:t>
            </a:r>
            <a:r>
              <a:rPr lang="en-US" altLang="zh-CN" sz="2000" dirty="0"/>
              <a:t>Encouraged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explore</a:t>
            </a:r>
            <a:r>
              <a:rPr lang="zh-CN" altLang="en-US" sz="2000" dirty="0"/>
              <a:t> </a:t>
            </a:r>
            <a:r>
              <a:rPr lang="en-US" altLang="zh-CN" sz="2000" i="1" dirty="0">
                <a:solidFill>
                  <a:srgbClr val="0070C0"/>
                </a:solidFill>
              </a:rPr>
              <a:t>interdisciplinary</a:t>
            </a:r>
            <a:r>
              <a:rPr lang="zh-CN" altLang="en-US" sz="2000" dirty="0"/>
              <a:t> </a:t>
            </a:r>
            <a:r>
              <a:rPr lang="en-US" altLang="zh-CN" sz="2000" dirty="0"/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14954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Suggestions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Identify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open</a:t>
            </a:r>
            <a:r>
              <a:rPr lang="zh-CN" altLang="en-US" sz="2400" dirty="0"/>
              <a:t> </a:t>
            </a:r>
            <a:r>
              <a:rPr lang="en-US" altLang="zh-CN" sz="2400" dirty="0"/>
              <a:t>problem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your</a:t>
            </a:r>
            <a:r>
              <a:rPr lang="zh-CN" altLang="en-US" sz="2400" dirty="0"/>
              <a:t> </a:t>
            </a:r>
            <a:r>
              <a:rPr lang="en-US" altLang="zh-CN" sz="2400" dirty="0"/>
              <a:t>current</a:t>
            </a:r>
            <a:r>
              <a:rPr lang="zh-CN" altLang="en-US" sz="2400" dirty="0"/>
              <a:t> </a:t>
            </a:r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projects,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try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design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models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improve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system</a:t>
            </a:r>
            <a:r>
              <a:rPr lang="zh-CN" altLang="en-US" sz="2400" dirty="0"/>
              <a:t> </a:t>
            </a:r>
            <a:r>
              <a:rPr lang="en-US" altLang="zh-CN" sz="2400" dirty="0"/>
              <a:t>performance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Practical application problems from Science and Engineering make for excellent course projects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Check the recent published papers on top-tier machine learning conferences (e.g., ICML, ICMLA),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try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develop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improved</a:t>
            </a:r>
            <a:r>
              <a:rPr lang="zh-CN" altLang="en-US" sz="2400" dirty="0"/>
              <a:t> </a:t>
            </a:r>
            <a:r>
              <a:rPr lang="en-US" altLang="zh-CN" sz="2400" dirty="0"/>
              <a:t>version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high-quality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project</a:t>
            </a:r>
            <a:r>
              <a:rPr lang="zh-CN" altLang="en-US" sz="2400" dirty="0"/>
              <a:t> </a:t>
            </a:r>
            <a:r>
              <a:rPr lang="en-US" altLang="zh-CN" sz="2400" dirty="0"/>
              <a:t>reports</a:t>
            </a:r>
            <a:r>
              <a:rPr lang="zh-CN" altLang="en-US" sz="2400" dirty="0"/>
              <a:t> </a:t>
            </a:r>
            <a:r>
              <a:rPr lang="en-US" altLang="zh-CN" sz="2400" dirty="0"/>
              <a:t>might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converted</a:t>
            </a:r>
            <a:r>
              <a:rPr lang="zh-CN" altLang="en-US" sz="2400" dirty="0"/>
              <a:t> </a:t>
            </a:r>
            <a:r>
              <a:rPr lang="en-US" altLang="zh-CN" sz="2400" dirty="0"/>
              <a:t>into</a:t>
            </a:r>
            <a:r>
              <a:rPr lang="zh-CN" altLang="en-US" sz="2400" dirty="0"/>
              <a:t> </a:t>
            </a:r>
            <a:r>
              <a:rPr lang="en-US" altLang="zh-CN" sz="2400" i="1" dirty="0">
                <a:solidFill>
                  <a:srgbClr val="0070C0"/>
                </a:solidFill>
              </a:rPr>
              <a:t>paper</a:t>
            </a:r>
            <a:r>
              <a:rPr lang="zh-CN" altLang="en-US" sz="2400" i="1" dirty="0">
                <a:solidFill>
                  <a:srgbClr val="0070C0"/>
                </a:solidFill>
              </a:rPr>
              <a:t> </a:t>
            </a:r>
            <a:r>
              <a:rPr lang="en-US" altLang="zh-CN" sz="2400" i="1" dirty="0">
                <a:solidFill>
                  <a:srgbClr val="0070C0"/>
                </a:solidFill>
              </a:rPr>
              <a:t>submissions</a:t>
            </a:r>
            <a:r>
              <a:rPr lang="zh-CN" altLang="en-US" sz="2400" i="1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future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venues</a:t>
            </a:r>
          </a:p>
        </p:txBody>
      </p:sp>
    </p:spTree>
    <p:extLst>
      <p:ext uri="{BB962C8B-B14F-4D97-AF65-F5344CB8AC3E}">
        <p14:creationId xmlns:p14="http://schemas.microsoft.com/office/powerpoint/2010/main" val="421124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986</TotalTime>
  <Words>1033</Words>
  <Application>Microsoft Office PowerPoint</Application>
  <PresentationFormat>On-screen Show (4:3)</PresentationFormat>
  <Paragraphs>169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CSCI/ARTI 8950 Machine Learning  </vt:lpstr>
      <vt:lpstr>General Information</vt:lpstr>
      <vt:lpstr>What Can We Do with Machine Learning?</vt:lpstr>
      <vt:lpstr>Machine Learning</vt:lpstr>
      <vt:lpstr>A Growing and Fast-Moving Field</vt:lpstr>
      <vt:lpstr>Course Goals</vt:lpstr>
      <vt:lpstr>ML Related Courses at UGA</vt:lpstr>
      <vt:lpstr>Style of Course</vt:lpstr>
      <vt:lpstr>Recommended Textbooks</vt:lpstr>
      <vt:lpstr>Recommended Prerequisites</vt:lpstr>
      <vt:lpstr>Tentative Topics</vt:lpstr>
      <vt:lpstr>Tentative Schedule</vt:lpstr>
      <vt:lpstr>Grading Breakdown</vt:lpstr>
      <vt:lpstr>Paper Review &amp; Presentation</vt:lpstr>
      <vt:lpstr>Paper Review</vt:lpstr>
      <vt:lpstr>Paper Presentation</vt:lpstr>
      <vt:lpstr>Course Project</vt:lpstr>
      <vt:lpstr>Course Project Suggestions</vt:lpstr>
      <vt:lpstr>Course Project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Topics in Machine Learning  CSCI 8000 </dc:title>
  <dc:creator>Sheng Li</dc:creator>
  <cp:lastModifiedBy>Khaled M Rasheed</cp:lastModifiedBy>
  <cp:revision>184</cp:revision>
  <cp:lastPrinted>2018-08-14T14:50:58Z</cp:lastPrinted>
  <dcterms:created xsi:type="dcterms:W3CDTF">2018-08-14T00:41:23Z</dcterms:created>
  <dcterms:modified xsi:type="dcterms:W3CDTF">2026-08-10T22:02:50Z</dcterms:modified>
</cp:coreProperties>
</file>