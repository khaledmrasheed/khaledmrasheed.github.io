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43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434" r:id="rId21"/>
    <p:sldId id="274" r:id="rId22"/>
    <p:sldId id="275" r:id="rId23"/>
    <p:sldId id="276" r:id="rId24"/>
    <p:sldId id="277" r:id="rId25"/>
    <p:sldId id="278" r:id="rId26"/>
    <p:sldId id="279" r:id="rId27"/>
    <p:sldId id="424" r:id="rId28"/>
    <p:sldId id="425" r:id="rId29"/>
    <p:sldId id="429" r:id="rId30"/>
    <p:sldId id="430" r:id="rId31"/>
    <p:sldId id="431" r:id="rId32"/>
    <p:sldId id="432" r:id="rId33"/>
    <p:sldId id="433" r:id="rId34"/>
    <p:sldId id="280" r:id="rId35"/>
    <p:sldId id="281" r:id="rId36"/>
  </p:sldIdLst>
  <p:sldSz cx="9144000" cy="6858000" type="screen4x3"/>
  <p:notesSz cx="9313863" cy="6858000"/>
  <p:embeddedFontLst>
    <p:embeddedFont>
      <p:font typeface="Arial Narrow" panose="020B0606020202030204" pitchFamily="34" charset="0"/>
      <p:regular r:id="rId37"/>
      <p:bold r:id="rId38"/>
      <p:italic r:id="rId39"/>
      <p:boldItalic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Calibri Light" panose="020F0302020204030204" pitchFamily="34" charset="0"/>
      <p:regular r:id="rId45"/>
      <p:italic r:id="rId46"/>
    </p:embeddedFont>
    <p:embeddedFont>
      <p:font typeface="Cambria Math" panose="02040503050406030204" pitchFamily="18" charset="0"/>
      <p:regular r:id="rId47"/>
    </p:embeddedFont>
    <p:embeddedFont>
      <p:font typeface="Consolas" panose="020B0609020204030204" pitchFamily="49" charset="0"/>
      <p:regular r:id="rId48"/>
      <p:bold r:id="rId49"/>
      <p:italic r:id="rId50"/>
      <p:boldItalic r:id="rId51"/>
    </p:embeddedFont>
    <p:embeddedFont>
      <p:font typeface="Segoe UI" panose="020B0502040204020203" pitchFamily="34" charset="0"/>
      <p:regular r:id="rId52"/>
      <p:bold r:id="rId53"/>
      <p:italic r:id="rId54"/>
      <p:boldItalic r:id="rId55"/>
    </p:embeddedFont>
    <p:embeddedFont>
      <p:font typeface="Segoe UI Emoji" panose="020B0502040204020203" pitchFamily="34" charset="0"/>
      <p:regular r:id="rId56"/>
      <p:bold r:id="rId57"/>
    </p:embeddedFont>
    <p:embeddedFont>
      <p:font typeface="Segoe UI Light" panose="020B0502040204020203" pitchFamily="34" charset="0"/>
      <p:regular r:id="rId58"/>
      <p:italic r:id="rId59"/>
    </p:embeddedFont>
    <p:embeddedFont>
      <p:font typeface="Tahoma" panose="020B0604030504040204" pitchFamily="34" charset="0"/>
      <p:regular r:id="rId60"/>
      <p:bold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8" autoAdjust="0"/>
    <p:restoredTop sz="94660"/>
  </p:normalViewPr>
  <p:slideViewPr>
    <p:cSldViewPr>
      <p:cViewPr varScale="1">
        <p:scale>
          <a:sx n="113" d="100"/>
          <a:sy n="113" d="100"/>
        </p:scale>
        <p:origin x="1920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font" Target="fonts/font22.fntdata"/><Relationship Id="rId5" Type="http://schemas.openxmlformats.org/officeDocument/2006/relationships/slide" Target="slides/slide4.xml"/><Relationship Id="rId61" Type="http://schemas.openxmlformats.org/officeDocument/2006/relationships/font" Target="fonts/font2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font" Target="fonts/font23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3.fntdata"/><Relationship Id="rId57" Type="http://schemas.openxmlformats.org/officeDocument/2006/relationships/font" Target="fonts/font2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font" Target="fonts/font24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3.fntdata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Segoe UI Emoji"/>
                <a:cs typeface="Segoe UI Emoj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2764" y="147955"/>
            <a:ext cx="7678470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4690" y="1573276"/>
            <a:ext cx="8073390" cy="322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Segoe UI Emoji"/>
                <a:cs typeface="Segoe UI Emoj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amrsb/decision-trees-for-machine-learning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r2d3.us/visual-intro-to-machine-learning-part-1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95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  <a:latin typeface="Calibri Light"/>
                <a:cs typeface="Calibri Light"/>
              </a:rPr>
              <a:t>CSCI/ARTI </a:t>
            </a:r>
            <a:r>
              <a:rPr sz="3900" spc="45" dirty="0">
                <a:solidFill>
                  <a:srgbClr val="0070C0"/>
                </a:solidFill>
                <a:latin typeface="Calibri Light"/>
                <a:cs typeface="Calibri Light"/>
              </a:rPr>
              <a:t>8950 Machine</a:t>
            </a:r>
            <a:r>
              <a:rPr sz="3900" spc="-35" dirty="0">
                <a:solidFill>
                  <a:srgbClr val="0070C0"/>
                </a:solidFill>
                <a:latin typeface="Calibri Light"/>
                <a:cs typeface="Calibri Light"/>
              </a:rPr>
              <a:t> </a:t>
            </a:r>
            <a:r>
              <a:rPr sz="3900" spc="40" dirty="0">
                <a:solidFill>
                  <a:srgbClr val="0070C0"/>
                </a:solidFill>
                <a:latin typeface="Calibri Light"/>
                <a:cs typeface="Calibri Light"/>
              </a:rPr>
              <a:t>Learning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0756" y="6524243"/>
            <a:ext cx="6093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Credit: some </a:t>
            </a:r>
            <a:r>
              <a:rPr sz="1400" spc="-10" dirty="0">
                <a:latin typeface="Calibri"/>
                <a:cs typeface="Calibri"/>
              </a:rPr>
              <a:t>examples </a:t>
            </a:r>
            <a:r>
              <a:rPr sz="1400" dirty="0">
                <a:latin typeface="Calibri"/>
                <a:cs typeface="Calibri"/>
              </a:rPr>
              <a:t>&amp; </a:t>
            </a:r>
            <a:r>
              <a:rPr sz="1400" spc="-5" dirty="0">
                <a:latin typeface="Calibri"/>
                <a:cs typeface="Calibri"/>
              </a:rPr>
              <a:t>figures by</a:t>
            </a:r>
            <a:r>
              <a:rPr lang="en-US" sz="1400" spc="-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Marine Carpuat, </a:t>
            </a:r>
            <a:r>
              <a:rPr sz="1400" spc="-45" dirty="0">
                <a:latin typeface="Calibri"/>
                <a:cs typeface="Calibri"/>
              </a:rPr>
              <a:t>Tom </a:t>
            </a:r>
            <a:r>
              <a:rPr sz="1400" spc="-5" dirty="0">
                <a:latin typeface="Calibri"/>
                <a:cs typeface="Calibri"/>
              </a:rPr>
              <a:t>Mitchell </a:t>
            </a:r>
            <a:r>
              <a:rPr sz="1400" dirty="0">
                <a:latin typeface="Calibri"/>
                <a:cs typeface="Calibri"/>
              </a:rPr>
              <a:t>and </a:t>
            </a:r>
            <a:r>
              <a:rPr lang="en-US" sz="1400" dirty="0" err="1">
                <a:latin typeface="Calibri"/>
                <a:cs typeface="Calibri"/>
              </a:rPr>
              <a:t>Guoping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Qiu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5F31A-CA82-46A6-91E4-3C4712C7F2B4}"/>
              </a:ext>
            </a:extLst>
          </p:cNvPr>
          <p:cNvSpPr txBox="1"/>
          <p:nvPr/>
        </p:nvSpPr>
        <p:spPr>
          <a:xfrm>
            <a:off x="914400" y="2286000"/>
            <a:ext cx="723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Lecture Notes 3: Decision Trees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B71B426-3999-4272-9BA7-CC3576D4ED32}"/>
              </a:ext>
            </a:extLst>
          </p:cNvPr>
          <p:cNvSpPr txBox="1">
            <a:spLocks/>
          </p:cNvSpPr>
          <p:nvPr/>
        </p:nvSpPr>
        <p:spPr>
          <a:xfrm>
            <a:off x="1143000" y="3276600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200" b="0" i="0">
                <a:solidFill>
                  <a:schemeClr val="tx1"/>
                </a:solidFill>
                <a:latin typeface="Segoe UI Emoji"/>
                <a:ea typeface="+mn-ea"/>
                <a:cs typeface="Segoe UI Emoj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Machine</a:t>
            </a:r>
            <a:r>
              <a:rPr sz="4400" spc="-35" dirty="0"/>
              <a:t> </a:t>
            </a:r>
            <a:r>
              <a:rPr sz="4400" spc="-5" dirty="0"/>
              <a:t>Learning</a:t>
            </a:r>
            <a:endParaRPr sz="4400"/>
          </a:p>
          <a:p>
            <a:pPr marL="1905" algn="ctr">
              <a:lnSpc>
                <a:spcPct val="100000"/>
              </a:lnSpc>
            </a:pPr>
            <a:r>
              <a:rPr sz="4400" spc="-5" dirty="0"/>
              <a:t>as </a:t>
            </a:r>
            <a:r>
              <a:rPr sz="4400" dirty="0"/>
              <a:t>Function</a:t>
            </a:r>
            <a:r>
              <a:rPr sz="4400" spc="-105" dirty="0"/>
              <a:t> </a:t>
            </a:r>
            <a:r>
              <a:rPr sz="4400" spc="-15" dirty="0"/>
              <a:t>Approximation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5144770" y="3305555"/>
            <a:ext cx="405130" cy="283845"/>
          </a:xfrm>
          <a:custGeom>
            <a:avLst/>
            <a:gdLst/>
            <a:ahLst/>
            <a:cxnLst/>
            <a:rect l="l" t="t" r="r" b="b"/>
            <a:pathLst>
              <a:path w="405129" h="283845">
                <a:moveTo>
                  <a:pt x="405129" y="2667"/>
                </a:moveTo>
                <a:lnTo>
                  <a:pt x="382269" y="2667"/>
                </a:lnTo>
                <a:lnTo>
                  <a:pt x="382269" y="279654"/>
                </a:lnTo>
                <a:lnTo>
                  <a:pt x="405129" y="279654"/>
                </a:lnTo>
                <a:lnTo>
                  <a:pt x="405129" y="2667"/>
                </a:lnTo>
                <a:close/>
              </a:path>
              <a:path w="405129" h="283845">
                <a:moveTo>
                  <a:pt x="94868" y="0"/>
                </a:moveTo>
                <a:lnTo>
                  <a:pt x="91058" y="0"/>
                </a:lnTo>
                <a:lnTo>
                  <a:pt x="74650" y="1214"/>
                </a:lnTo>
                <a:lnTo>
                  <a:pt x="38734" y="16002"/>
                </a:lnTo>
                <a:lnTo>
                  <a:pt x="21661" y="59563"/>
                </a:lnTo>
                <a:lnTo>
                  <a:pt x="21558" y="65091"/>
                </a:lnTo>
                <a:lnTo>
                  <a:pt x="21677" y="68633"/>
                </a:lnTo>
                <a:lnTo>
                  <a:pt x="22320" y="75453"/>
                </a:lnTo>
                <a:lnTo>
                  <a:pt x="23391" y="82678"/>
                </a:lnTo>
                <a:lnTo>
                  <a:pt x="24891" y="90297"/>
                </a:lnTo>
                <a:lnTo>
                  <a:pt x="27177" y="100838"/>
                </a:lnTo>
                <a:lnTo>
                  <a:pt x="28447" y="107950"/>
                </a:lnTo>
                <a:lnTo>
                  <a:pt x="28447" y="118364"/>
                </a:lnTo>
                <a:lnTo>
                  <a:pt x="26034" y="123952"/>
                </a:lnTo>
                <a:lnTo>
                  <a:pt x="16637" y="132588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701"/>
                </a:lnTo>
                <a:lnTo>
                  <a:pt x="16637" y="149987"/>
                </a:lnTo>
                <a:lnTo>
                  <a:pt x="26034" y="158623"/>
                </a:lnTo>
                <a:lnTo>
                  <a:pt x="28447" y="164211"/>
                </a:lnTo>
                <a:lnTo>
                  <a:pt x="28447" y="174625"/>
                </a:lnTo>
                <a:lnTo>
                  <a:pt x="27177" y="181610"/>
                </a:lnTo>
                <a:lnTo>
                  <a:pt x="24891" y="192151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2" y="220345"/>
                </a:lnTo>
                <a:lnTo>
                  <a:pt x="22536" y="235321"/>
                </a:lnTo>
                <a:lnTo>
                  <a:pt x="48500" y="274629"/>
                </a:lnTo>
                <a:lnTo>
                  <a:pt x="91058" y="283845"/>
                </a:lnTo>
                <a:lnTo>
                  <a:pt x="94868" y="283845"/>
                </a:lnTo>
                <a:lnTo>
                  <a:pt x="94868" y="272542"/>
                </a:lnTo>
                <a:lnTo>
                  <a:pt x="92709" y="272542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5" y="223012"/>
                </a:lnTo>
                <a:lnTo>
                  <a:pt x="46924" y="217465"/>
                </a:lnTo>
                <a:lnTo>
                  <a:pt x="47482" y="211312"/>
                </a:lnTo>
                <a:lnTo>
                  <a:pt x="48396" y="204563"/>
                </a:lnTo>
                <a:lnTo>
                  <a:pt x="49656" y="197231"/>
                </a:lnTo>
                <a:lnTo>
                  <a:pt x="51688" y="186944"/>
                </a:lnTo>
                <a:lnTo>
                  <a:pt x="52704" y="179705"/>
                </a:lnTo>
                <a:lnTo>
                  <a:pt x="52704" y="166878"/>
                </a:lnTo>
                <a:lnTo>
                  <a:pt x="50164" y="160020"/>
                </a:lnTo>
                <a:lnTo>
                  <a:pt x="45212" y="154559"/>
                </a:lnTo>
                <a:lnTo>
                  <a:pt x="40258" y="149225"/>
                </a:lnTo>
                <a:lnTo>
                  <a:pt x="34289" y="145161"/>
                </a:lnTo>
                <a:lnTo>
                  <a:pt x="27558" y="142621"/>
                </a:lnTo>
                <a:lnTo>
                  <a:pt x="27558" y="139954"/>
                </a:lnTo>
                <a:lnTo>
                  <a:pt x="34289" y="137287"/>
                </a:lnTo>
                <a:lnTo>
                  <a:pt x="40258" y="133350"/>
                </a:lnTo>
                <a:lnTo>
                  <a:pt x="45212" y="127889"/>
                </a:lnTo>
                <a:lnTo>
                  <a:pt x="50164" y="122555"/>
                </a:lnTo>
                <a:lnTo>
                  <a:pt x="52704" y="115570"/>
                </a:lnTo>
                <a:lnTo>
                  <a:pt x="52704" y="102870"/>
                </a:lnTo>
                <a:lnTo>
                  <a:pt x="51688" y="95504"/>
                </a:lnTo>
                <a:lnTo>
                  <a:pt x="49656" y="85344"/>
                </a:lnTo>
                <a:lnTo>
                  <a:pt x="48396" y="77958"/>
                </a:lnTo>
                <a:lnTo>
                  <a:pt x="47482" y="71215"/>
                </a:lnTo>
                <a:lnTo>
                  <a:pt x="46924" y="65091"/>
                </a:lnTo>
                <a:lnTo>
                  <a:pt x="46735" y="59563"/>
                </a:lnTo>
                <a:lnTo>
                  <a:pt x="47497" y="47609"/>
                </a:lnTo>
                <a:lnTo>
                  <a:pt x="73485" y="14144"/>
                </a:lnTo>
                <a:lnTo>
                  <a:pt x="92709" y="11303"/>
                </a:lnTo>
                <a:lnTo>
                  <a:pt x="94868" y="11303"/>
                </a:lnTo>
                <a:lnTo>
                  <a:pt x="94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370" y="1826891"/>
            <a:ext cx="6504305" cy="24396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spc="-10" dirty="0">
                <a:latin typeface="Segoe UI"/>
                <a:cs typeface="Segoe UI"/>
              </a:rPr>
              <a:t>Problem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setting</a:t>
            </a:r>
            <a:endParaRPr sz="24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possible </a:t>
            </a:r>
            <a:r>
              <a:rPr sz="2400" spc="-5" dirty="0">
                <a:latin typeface="Segoe UI"/>
                <a:cs typeface="Segoe UI"/>
              </a:rPr>
              <a:t>instances</a:t>
            </a:r>
            <a:r>
              <a:rPr sz="2400" spc="6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  <a:tab pos="4467860" algn="l"/>
              </a:tabLst>
            </a:pPr>
            <a:r>
              <a:rPr sz="2400" spc="-5" dirty="0">
                <a:latin typeface="Segoe UI"/>
                <a:cs typeface="Segoe UI"/>
              </a:rPr>
              <a:t>Unknown target function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35" dirty="0">
                <a:latin typeface="Cambria Math"/>
                <a:cs typeface="Cambria Math"/>
              </a:rPr>
              <a:t>𝑓: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  <a:tab pos="4773930" algn="l"/>
                <a:tab pos="5179060" algn="l"/>
                <a:tab pos="584073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function </a:t>
            </a:r>
            <a:r>
              <a:rPr sz="2400" dirty="0">
                <a:latin typeface="Segoe UI"/>
                <a:cs typeface="Segoe UI"/>
              </a:rPr>
              <a:t>hypotheses</a:t>
            </a:r>
            <a:r>
              <a:rPr sz="2400" spc="10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ℎ	</a:t>
            </a:r>
            <a:r>
              <a:rPr sz="2400" spc="25" dirty="0">
                <a:latin typeface="Cambria Math"/>
                <a:cs typeface="Cambria Math"/>
              </a:rPr>
              <a:t>ℎ: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spc="25" dirty="0">
                <a:latin typeface="Cambria Math"/>
                <a:cs typeface="Cambria Math"/>
              </a:rPr>
              <a:t>𝑌}</a:t>
            </a:r>
            <a:endParaRPr sz="24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spc="-5" dirty="0">
                <a:latin typeface="Segoe UI"/>
                <a:cs typeface="Segoe UI"/>
              </a:rPr>
              <a:t>Input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70275" y="4389882"/>
            <a:ext cx="1348740" cy="374650"/>
          </a:xfrm>
          <a:custGeom>
            <a:avLst/>
            <a:gdLst/>
            <a:ahLst/>
            <a:cxnLst/>
            <a:rect l="l" t="t" r="r" b="b"/>
            <a:pathLst>
              <a:path w="1348739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86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78"/>
                </a:lnTo>
                <a:lnTo>
                  <a:pt x="100457" y="18415"/>
                </a:lnTo>
                <a:close/>
              </a:path>
              <a:path w="1348739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21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348739" h="374650">
                <a:moveTo>
                  <a:pt x="582549" y="103124"/>
                </a:moveTo>
                <a:lnTo>
                  <a:pt x="572947" y="50698"/>
                </a:lnTo>
                <a:lnTo>
                  <a:pt x="544804" y="13233"/>
                </a:lnTo>
                <a:lnTo>
                  <a:pt x="516763" y="0"/>
                </a:lnTo>
                <a:lnTo>
                  <a:pt x="513842" y="8382"/>
                </a:lnTo>
                <a:lnTo>
                  <a:pt x="525767" y="13576"/>
                </a:lnTo>
                <a:lnTo>
                  <a:pt x="536028" y="20751"/>
                </a:lnTo>
                <a:lnTo>
                  <a:pt x="556882" y="53924"/>
                </a:lnTo>
                <a:lnTo>
                  <a:pt x="563753" y="101981"/>
                </a:lnTo>
                <a:lnTo>
                  <a:pt x="562978" y="120180"/>
                </a:lnTo>
                <a:lnTo>
                  <a:pt x="551434" y="164719"/>
                </a:lnTo>
                <a:lnTo>
                  <a:pt x="514223" y="197739"/>
                </a:lnTo>
                <a:lnTo>
                  <a:pt x="516763" y="206121"/>
                </a:lnTo>
                <a:lnTo>
                  <a:pt x="556120" y="182676"/>
                </a:lnTo>
                <a:lnTo>
                  <a:pt x="578269" y="139496"/>
                </a:lnTo>
                <a:lnTo>
                  <a:pt x="581469" y="122034"/>
                </a:lnTo>
                <a:lnTo>
                  <a:pt x="582549" y="103124"/>
                </a:lnTo>
                <a:close/>
              </a:path>
              <a:path w="1348739" h="374650">
                <a:moveTo>
                  <a:pt x="1000252" y="8382"/>
                </a:moveTo>
                <a:lnTo>
                  <a:pt x="997331" y="0"/>
                </a:lnTo>
                <a:lnTo>
                  <a:pt x="982370" y="5410"/>
                </a:lnTo>
                <a:lnTo>
                  <a:pt x="969276" y="13233"/>
                </a:lnTo>
                <a:lnTo>
                  <a:pt x="941133" y="50698"/>
                </a:lnTo>
                <a:lnTo>
                  <a:pt x="931545" y="103124"/>
                </a:lnTo>
                <a:lnTo>
                  <a:pt x="932611" y="122034"/>
                </a:lnTo>
                <a:lnTo>
                  <a:pt x="948563" y="170053"/>
                </a:lnTo>
                <a:lnTo>
                  <a:pt x="982345" y="200723"/>
                </a:lnTo>
                <a:lnTo>
                  <a:pt x="997331" y="206121"/>
                </a:lnTo>
                <a:lnTo>
                  <a:pt x="999998" y="197739"/>
                </a:lnTo>
                <a:lnTo>
                  <a:pt x="988225" y="192532"/>
                </a:lnTo>
                <a:lnTo>
                  <a:pt x="978090" y="185280"/>
                </a:lnTo>
                <a:lnTo>
                  <a:pt x="957300" y="151523"/>
                </a:lnTo>
                <a:lnTo>
                  <a:pt x="950341" y="101981"/>
                </a:lnTo>
                <a:lnTo>
                  <a:pt x="951115" y="84442"/>
                </a:lnTo>
                <a:lnTo>
                  <a:pt x="962660" y="41021"/>
                </a:lnTo>
                <a:lnTo>
                  <a:pt x="988390" y="13576"/>
                </a:lnTo>
                <a:lnTo>
                  <a:pt x="1000252" y="8382"/>
                </a:lnTo>
                <a:close/>
              </a:path>
              <a:path w="1348739" h="374650">
                <a:moveTo>
                  <a:pt x="1205865" y="103124"/>
                </a:moveTo>
                <a:lnTo>
                  <a:pt x="1196263" y="50698"/>
                </a:lnTo>
                <a:lnTo>
                  <a:pt x="1168120" y="13233"/>
                </a:lnTo>
                <a:lnTo>
                  <a:pt x="1140079" y="0"/>
                </a:lnTo>
                <a:lnTo>
                  <a:pt x="1137158" y="8382"/>
                </a:lnTo>
                <a:lnTo>
                  <a:pt x="1149083" y="13576"/>
                </a:lnTo>
                <a:lnTo>
                  <a:pt x="1159344" y="20751"/>
                </a:lnTo>
                <a:lnTo>
                  <a:pt x="1180211" y="53924"/>
                </a:lnTo>
                <a:lnTo>
                  <a:pt x="1187069" y="101981"/>
                </a:lnTo>
                <a:lnTo>
                  <a:pt x="1186294" y="120180"/>
                </a:lnTo>
                <a:lnTo>
                  <a:pt x="1174750" y="164719"/>
                </a:lnTo>
                <a:lnTo>
                  <a:pt x="1137539" y="197739"/>
                </a:lnTo>
                <a:lnTo>
                  <a:pt x="1140079" y="206121"/>
                </a:lnTo>
                <a:lnTo>
                  <a:pt x="1179436" y="182676"/>
                </a:lnTo>
                <a:lnTo>
                  <a:pt x="1201585" y="139496"/>
                </a:lnTo>
                <a:lnTo>
                  <a:pt x="1204785" y="122034"/>
                </a:lnTo>
                <a:lnTo>
                  <a:pt x="1205865" y="103124"/>
                </a:lnTo>
                <a:close/>
              </a:path>
              <a:path w="1348739" h="374650">
                <a:moveTo>
                  <a:pt x="1348359" y="190373"/>
                </a:moveTo>
                <a:lnTo>
                  <a:pt x="1342072" y="125209"/>
                </a:lnTo>
                <a:lnTo>
                  <a:pt x="1323213" y="69469"/>
                </a:lnTo>
                <a:lnTo>
                  <a:pt x="1292733" y="28130"/>
                </a:lnTo>
                <a:lnTo>
                  <a:pt x="1251585" y="6223"/>
                </a:lnTo>
                <a:lnTo>
                  <a:pt x="1247902" y="18415"/>
                </a:lnTo>
                <a:lnTo>
                  <a:pt x="1264805" y="27178"/>
                </a:lnTo>
                <a:lnTo>
                  <a:pt x="1279525" y="39941"/>
                </a:lnTo>
                <a:lnTo>
                  <a:pt x="1302385" y="77470"/>
                </a:lnTo>
                <a:lnTo>
                  <a:pt x="1316266" y="128511"/>
                </a:lnTo>
                <a:lnTo>
                  <a:pt x="1320927" y="190500"/>
                </a:lnTo>
                <a:lnTo>
                  <a:pt x="1319758" y="222770"/>
                </a:lnTo>
                <a:lnTo>
                  <a:pt x="1310474" y="279158"/>
                </a:lnTo>
                <a:lnTo>
                  <a:pt x="1292047" y="323977"/>
                </a:lnTo>
                <a:lnTo>
                  <a:pt x="1264805" y="353453"/>
                </a:lnTo>
                <a:lnTo>
                  <a:pt x="1247902" y="362204"/>
                </a:lnTo>
                <a:lnTo>
                  <a:pt x="1251585" y="374396"/>
                </a:lnTo>
                <a:lnTo>
                  <a:pt x="1292733" y="352488"/>
                </a:lnTo>
                <a:lnTo>
                  <a:pt x="1323213" y="311150"/>
                </a:lnTo>
                <a:lnTo>
                  <a:pt x="1342059" y="255435"/>
                </a:lnTo>
                <a:lnTo>
                  <a:pt x="1346784" y="224078"/>
                </a:lnTo>
                <a:lnTo>
                  <a:pt x="1348359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64023" y="4389882"/>
            <a:ext cx="1438275" cy="374650"/>
          </a:xfrm>
          <a:custGeom>
            <a:avLst/>
            <a:gdLst/>
            <a:ahLst/>
            <a:cxnLst/>
            <a:rect l="l" t="t" r="r" b="b"/>
            <a:pathLst>
              <a:path w="1438275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73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78"/>
                </a:lnTo>
                <a:lnTo>
                  <a:pt x="100457" y="18415"/>
                </a:lnTo>
                <a:close/>
              </a:path>
              <a:path w="1438275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21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438275" h="374650">
                <a:moveTo>
                  <a:pt x="626745" y="103124"/>
                </a:moveTo>
                <a:lnTo>
                  <a:pt x="617143" y="50698"/>
                </a:lnTo>
                <a:lnTo>
                  <a:pt x="589000" y="13233"/>
                </a:lnTo>
                <a:lnTo>
                  <a:pt x="560959" y="0"/>
                </a:lnTo>
                <a:lnTo>
                  <a:pt x="558038" y="8382"/>
                </a:lnTo>
                <a:lnTo>
                  <a:pt x="569963" y="13576"/>
                </a:lnTo>
                <a:lnTo>
                  <a:pt x="580224" y="20751"/>
                </a:lnTo>
                <a:lnTo>
                  <a:pt x="601091" y="53924"/>
                </a:lnTo>
                <a:lnTo>
                  <a:pt x="607949" y="101981"/>
                </a:lnTo>
                <a:lnTo>
                  <a:pt x="607174" y="120180"/>
                </a:lnTo>
                <a:lnTo>
                  <a:pt x="595630" y="164719"/>
                </a:lnTo>
                <a:lnTo>
                  <a:pt x="558419" y="197739"/>
                </a:lnTo>
                <a:lnTo>
                  <a:pt x="560959" y="206121"/>
                </a:lnTo>
                <a:lnTo>
                  <a:pt x="600316" y="182676"/>
                </a:lnTo>
                <a:lnTo>
                  <a:pt x="622465" y="139496"/>
                </a:lnTo>
                <a:lnTo>
                  <a:pt x="625665" y="122034"/>
                </a:lnTo>
                <a:lnTo>
                  <a:pt x="626745" y="103124"/>
                </a:lnTo>
                <a:close/>
              </a:path>
              <a:path w="1438275" h="374650">
                <a:moveTo>
                  <a:pt x="1044448" y="8382"/>
                </a:moveTo>
                <a:lnTo>
                  <a:pt x="1041527" y="0"/>
                </a:lnTo>
                <a:lnTo>
                  <a:pt x="1026566" y="5410"/>
                </a:lnTo>
                <a:lnTo>
                  <a:pt x="1013472" y="13233"/>
                </a:lnTo>
                <a:lnTo>
                  <a:pt x="985329" y="50698"/>
                </a:lnTo>
                <a:lnTo>
                  <a:pt x="975741" y="103124"/>
                </a:lnTo>
                <a:lnTo>
                  <a:pt x="976807" y="122034"/>
                </a:lnTo>
                <a:lnTo>
                  <a:pt x="992759" y="170053"/>
                </a:lnTo>
                <a:lnTo>
                  <a:pt x="1026541" y="200723"/>
                </a:lnTo>
                <a:lnTo>
                  <a:pt x="1041527" y="206121"/>
                </a:lnTo>
                <a:lnTo>
                  <a:pt x="1044194" y="197739"/>
                </a:lnTo>
                <a:lnTo>
                  <a:pt x="1032421" y="192532"/>
                </a:lnTo>
                <a:lnTo>
                  <a:pt x="1022286" y="185280"/>
                </a:lnTo>
                <a:lnTo>
                  <a:pt x="1001496" y="151523"/>
                </a:lnTo>
                <a:lnTo>
                  <a:pt x="994537" y="101981"/>
                </a:lnTo>
                <a:lnTo>
                  <a:pt x="995311" y="84442"/>
                </a:lnTo>
                <a:lnTo>
                  <a:pt x="1006856" y="41021"/>
                </a:lnTo>
                <a:lnTo>
                  <a:pt x="1032586" y="13576"/>
                </a:lnTo>
                <a:lnTo>
                  <a:pt x="1044448" y="8382"/>
                </a:lnTo>
                <a:close/>
              </a:path>
              <a:path w="1438275" h="374650">
                <a:moveTo>
                  <a:pt x="1294257" y="103124"/>
                </a:moveTo>
                <a:lnTo>
                  <a:pt x="1284655" y="50698"/>
                </a:lnTo>
                <a:lnTo>
                  <a:pt x="1256512" y="13233"/>
                </a:lnTo>
                <a:lnTo>
                  <a:pt x="1228471" y="0"/>
                </a:lnTo>
                <a:lnTo>
                  <a:pt x="1225550" y="8382"/>
                </a:lnTo>
                <a:lnTo>
                  <a:pt x="1237475" y="13576"/>
                </a:lnTo>
                <a:lnTo>
                  <a:pt x="1247736" y="20751"/>
                </a:lnTo>
                <a:lnTo>
                  <a:pt x="1268603" y="53924"/>
                </a:lnTo>
                <a:lnTo>
                  <a:pt x="1275448" y="101981"/>
                </a:lnTo>
                <a:lnTo>
                  <a:pt x="1274686" y="120180"/>
                </a:lnTo>
                <a:lnTo>
                  <a:pt x="1263142" y="164719"/>
                </a:lnTo>
                <a:lnTo>
                  <a:pt x="1225931" y="197739"/>
                </a:lnTo>
                <a:lnTo>
                  <a:pt x="1228471" y="206121"/>
                </a:lnTo>
                <a:lnTo>
                  <a:pt x="1267828" y="182676"/>
                </a:lnTo>
                <a:lnTo>
                  <a:pt x="1289977" y="139496"/>
                </a:lnTo>
                <a:lnTo>
                  <a:pt x="1293177" y="122034"/>
                </a:lnTo>
                <a:lnTo>
                  <a:pt x="1294257" y="103124"/>
                </a:lnTo>
                <a:close/>
              </a:path>
              <a:path w="1438275" h="374650">
                <a:moveTo>
                  <a:pt x="1438275" y="190373"/>
                </a:moveTo>
                <a:lnTo>
                  <a:pt x="1431988" y="125209"/>
                </a:lnTo>
                <a:lnTo>
                  <a:pt x="1413129" y="69469"/>
                </a:lnTo>
                <a:lnTo>
                  <a:pt x="1382649" y="28130"/>
                </a:lnTo>
                <a:lnTo>
                  <a:pt x="1341501" y="6223"/>
                </a:lnTo>
                <a:lnTo>
                  <a:pt x="1337818" y="18415"/>
                </a:lnTo>
                <a:lnTo>
                  <a:pt x="1354721" y="27178"/>
                </a:lnTo>
                <a:lnTo>
                  <a:pt x="1369428" y="39941"/>
                </a:lnTo>
                <a:lnTo>
                  <a:pt x="1392301" y="77470"/>
                </a:lnTo>
                <a:lnTo>
                  <a:pt x="1406182" y="128511"/>
                </a:lnTo>
                <a:lnTo>
                  <a:pt x="1410843" y="190500"/>
                </a:lnTo>
                <a:lnTo>
                  <a:pt x="1409674" y="222770"/>
                </a:lnTo>
                <a:lnTo>
                  <a:pt x="1400390" y="279158"/>
                </a:lnTo>
                <a:lnTo>
                  <a:pt x="1381963" y="323977"/>
                </a:lnTo>
                <a:lnTo>
                  <a:pt x="1354721" y="353453"/>
                </a:lnTo>
                <a:lnTo>
                  <a:pt x="1337818" y="362204"/>
                </a:lnTo>
                <a:lnTo>
                  <a:pt x="1341501" y="374396"/>
                </a:lnTo>
                <a:lnTo>
                  <a:pt x="1382636" y="352488"/>
                </a:lnTo>
                <a:lnTo>
                  <a:pt x="1413129" y="311150"/>
                </a:lnTo>
                <a:lnTo>
                  <a:pt x="1431988" y="255435"/>
                </a:lnTo>
                <a:lnTo>
                  <a:pt x="1436700" y="224078"/>
                </a:lnTo>
                <a:lnTo>
                  <a:pt x="1438275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08220" y="4350766"/>
            <a:ext cx="3754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6420" algn="l"/>
                <a:tab pos="1921510" algn="l"/>
              </a:tabLst>
            </a:pP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	𝑥  </a:t>
            </a:r>
            <a:r>
              <a:rPr sz="2625" spc="60" baseline="28571" dirty="0">
                <a:latin typeface="Cambria Math"/>
                <a:cs typeface="Cambria Math"/>
              </a:rPr>
              <a:t>𝑁 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3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625" spc="60" baseline="28571" dirty="0">
                <a:latin typeface="Cambria Math"/>
                <a:cs typeface="Cambria Math"/>
              </a:rPr>
              <a:t>𝑁	</a:t>
            </a:r>
            <a:r>
              <a:rPr sz="2400" dirty="0">
                <a:latin typeface="Cambria Math"/>
                <a:cs typeface="Cambria Math"/>
              </a:rPr>
              <a:t>} </a:t>
            </a:r>
            <a:r>
              <a:rPr sz="2400" spc="-30" dirty="0">
                <a:latin typeface="Segoe UI"/>
                <a:cs typeface="Segoe UI"/>
              </a:rPr>
              <a:t>of</a:t>
            </a:r>
            <a:r>
              <a:rPr sz="2400" spc="8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unknown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970" y="4323334"/>
            <a:ext cx="4194175" cy="1468992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80365" algn="l"/>
                <a:tab pos="381000" algn="l"/>
                <a:tab pos="3131820" algn="l"/>
              </a:tabLst>
            </a:pPr>
            <a:r>
              <a:rPr sz="2400" spc="-30" dirty="0">
                <a:latin typeface="Segoe UI"/>
                <a:cs typeface="Segoe UI"/>
              </a:rPr>
              <a:t>Training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examples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{	𝑥 </a:t>
            </a:r>
            <a:r>
              <a:rPr sz="2625" spc="60" baseline="28571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𝑦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lang="en-US" sz="2400" spc="-135" dirty="0">
                <a:latin typeface="Cambria Math"/>
                <a:cs typeface="Cambria Math"/>
              </a:rPr>
              <a:t>   </a:t>
            </a:r>
            <a:r>
              <a:rPr lang="en-US" sz="2625" spc="60" baseline="28571" dirty="0">
                <a:latin typeface="Cambria Math"/>
                <a:cs typeface="Cambria Math"/>
              </a:rPr>
              <a:t>1 </a:t>
            </a:r>
            <a:endParaRPr sz="2625" baseline="28571" dirty="0">
              <a:latin typeface="Cambria Math"/>
              <a:cs typeface="Cambria Math"/>
            </a:endParaRPr>
          </a:p>
          <a:p>
            <a:pPr marL="38100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3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  <a:p>
            <a:pPr marL="38100">
              <a:lnSpc>
                <a:spcPct val="100000"/>
              </a:lnSpc>
              <a:spcBef>
                <a:spcPts val="2305"/>
              </a:spcBef>
            </a:pPr>
            <a:r>
              <a:rPr sz="2400" dirty="0">
                <a:latin typeface="Segoe UI"/>
                <a:cs typeface="Segoe UI"/>
              </a:rPr>
              <a:t>Output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4370" y="5841593"/>
            <a:ext cx="8262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2254250" algn="l"/>
              </a:tabLst>
            </a:pPr>
            <a:r>
              <a:rPr sz="2400" spc="-5" dirty="0">
                <a:latin typeface="Segoe UI"/>
                <a:cs typeface="Segoe UI"/>
              </a:rPr>
              <a:t>Hypothesis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ℎ	∈ 𝐻 </a:t>
            </a:r>
            <a:r>
              <a:rPr sz="2400" dirty="0">
                <a:latin typeface="Segoe UI"/>
                <a:cs typeface="Segoe UI"/>
              </a:rPr>
              <a:t>that best </a:t>
            </a:r>
            <a:r>
              <a:rPr sz="2400" spc="-10" dirty="0">
                <a:latin typeface="Segoe UI"/>
                <a:cs typeface="Segoe UI"/>
              </a:rPr>
              <a:t>approximates </a:t>
            </a: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29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1976" y="483234"/>
            <a:ext cx="49422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20" dirty="0"/>
              <a:t>Today: </a:t>
            </a:r>
            <a:r>
              <a:rPr sz="4400" spc="-5" dirty="0"/>
              <a:t>Decision</a:t>
            </a:r>
            <a:r>
              <a:rPr sz="4400" spc="55" dirty="0"/>
              <a:t> </a:t>
            </a:r>
            <a:r>
              <a:rPr sz="4400" spc="-135" dirty="0"/>
              <a:t>Trees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051" y="2204440"/>
            <a:ext cx="7456805" cy="168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Segoe UI"/>
                <a:cs typeface="Segoe UI"/>
              </a:rPr>
              <a:t>What </a:t>
            </a:r>
            <a:r>
              <a:rPr sz="3200" b="1" spc="-5" dirty="0">
                <a:latin typeface="Segoe UI"/>
                <a:cs typeface="Segoe UI"/>
              </a:rPr>
              <a:t>is </a:t>
            </a:r>
            <a:r>
              <a:rPr sz="3200" b="1" dirty="0">
                <a:latin typeface="Segoe UI"/>
                <a:cs typeface="Segoe UI"/>
              </a:rPr>
              <a:t>a </a:t>
            </a:r>
            <a:r>
              <a:rPr sz="3200" b="1" spc="-5" dirty="0">
                <a:latin typeface="Segoe UI"/>
                <a:cs typeface="Segoe UI"/>
              </a:rPr>
              <a:t>decision</a:t>
            </a:r>
            <a:r>
              <a:rPr sz="3200" b="1" spc="40" dirty="0">
                <a:latin typeface="Segoe UI"/>
                <a:cs typeface="Segoe UI"/>
              </a:rPr>
              <a:t> </a:t>
            </a:r>
            <a:r>
              <a:rPr sz="3200" b="1" spc="-5" dirty="0">
                <a:latin typeface="Segoe UI"/>
                <a:cs typeface="Segoe UI"/>
              </a:rPr>
              <a:t>tree?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to </a:t>
            </a:r>
            <a:r>
              <a:rPr sz="3200" spc="-5" dirty="0">
                <a:latin typeface="Segoe UI"/>
                <a:cs typeface="Segoe UI"/>
              </a:rPr>
              <a:t>learn </a:t>
            </a:r>
            <a:r>
              <a:rPr sz="3200" dirty="0">
                <a:latin typeface="Segoe UI"/>
                <a:cs typeface="Segoe UI"/>
              </a:rPr>
              <a:t>a decision tree from</a:t>
            </a:r>
            <a:r>
              <a:rPr sz="3200" spc="-6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data?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7438" y="657013"/>
            <a:ext cx="39096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10" dirty="0">
                <a:latin typeface="Calibri Light"/>
                <a:cs typeface="Calibri Light"/>
              </a:rPr>
              <a:t>Tree-based</a:t>
            </a:r>
            <a:r>
              <a:rPr sz="3900" spc="-45" dirty="0">
                <a:latin typeface="Calibri Light"/>
                <a:cs typeface="Calibri Light"/>
              </a:rPr>
              <a:t> </a:t>
            </a:r>
            <a:r>
              <a:rPr sz="3900" spc="45" dirty="0">
                <a:latin typeface="Calibri Light"/>
                <a:cs typeface="Calibri Light"/>
              </a:rPr>
              <a:t>Models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88" y="1599691"/>
            <a:ext cx="779589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Segoe UI Emoji"/>
                <a:cs typeface="Segoe UI Emoji"/>
              </a:rPr>
              <a:t>Use </a:t>
            </a:r>
            <a:r>
              <a:rPr sz="2400" spc="-15" dirty="0">
                <a:latin typeface="Segoe UI Emoji"/>
                <a:cs typeface="Segoe UI Emoji"/>
              </a:rPr>
              <a:t>trees </a:t>
            </a:r>
            <a:r>
              <a:rPr sz="2400" spc="-10" dirty="0">
                <a:latin typeface="Segoe UI Emoji"/>
                <a:cs typeface="Segoe UI Emoji"/>
              </a:rPr>
              <a:t>to </a:t>
            </a:r>
            <a:r>
              <a:rPr sz="2400" spc="5" dirty="0">
                <a:latin typeface="Segoe UI Emoji"/>
                <a:cs typeface="Segoe UI Emoji"/>
              </a:rPr>
              <a:t>partition </a:t>
            </a:r>
            <a:r>
              <a:rPr sz="2400" spc="-5" dirty="0">
                <a:latin typeface="Segoe UI Emoji"/>
                <a:cs typeface="Segoe UI Emoji"/>
              </a:rPr>
              <a:t>the data into </a:t>
            </a:r>
            <a:r>
              <a:rPr sz="2400" spc="-10" dirty="0">
                <a:latin typeface="Segoe UI Emoji"/>
                <a:cs typeface="Segoe UI Emoji"/>
              </a:rPr>
              <a:t>different </a:t>
            </a:r>
            <a:r>
              <a:rPr sz="2400" spc="-5" dirty="0">
                <a:latin typeface="Segoe UI Emoji"/>
                <a:cs typeface="Segoe UI Emoji"/>
              </a:rPr>
              <a:t>regions</a:t>
            </a:r>
            <a:r>
              <a:rPr sz="2400" spc="50" dirty="0">
                <a:latin typeface="Segoe UI Emoji"/>
                <a:cs typeface="Segoe UI Emoji"/>
              </a:rPr>
              <a:t> </a:t>
            </a:r>
            <a:r>
              <a:rPr sz="2400" dirty="0">
                <a:latin typeface="Segoe UI Emoji"/>
                <a:cs typeface="Segoe UI Emoji"/>
              </a:rPr>
              <a:t>and</a:t>
            </a:r>
            <a:endParaRPr sz="2400">
              <a:latin typeface="Segoe UI Emoji"/>
              <a:cs typeface="Segoe UI Emoji"/>
            </a:endParaRPr>
          </a:p>
          <a:p>
            <a:pPr marL="241300">
              <a:lnSpc>
                <a:spcPct val="100000"/>
              </a:lnSpc>
              <a:spcBef>
                <a:spcPts val="25"/>
              </a:spcBef>
            </a:pPr>
            <a:r>
              <a:rPr sz="2400" spc="-20" dirty="0">
                <a:latin typeface="Segoe UI Emoji"/>
                <a:cs typeface="Segoe UI Emoji"/>
              </a:rPr>
              <a:t>make</a:t>
            </a:r>
            <a:r>
              <a:rPr sz="2400" spc="-5" dirty="0">
                <a:latin typeface="Segoe UI Emoji"/>
                <a:cs typeface="Segoe UI Emoji"/>
              </a:rPr>
              <a:t> predictions</a:t>
            </a:r>
            <a:endParaRPr sz="2400">
              <a:latin typeface="Segoe UI Emoji"/>
              <a:cs typeface="Segoe UI Emoj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9" y="2551176"/>
            <a:ext cx="6787896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6550" y="657013"/>
            <a:ext cx="339153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5" dirty="0">
                <a:latin typeface="Calibri Light"/>
                <a:cs typeface="Calibri Light"/>
              </a:rPr>
              <a:t>Easy </a:t>
            </a:r>
            <a:r>
              <a:rPr sz="3900" spc="20" dirty="0">
                <a:latin typeface="Calibri Light"/>
                <a:cs typeface="Calibri Light"/>
              </a:rPr>
              <a:t>to</a:t>
            </a:r>
            <a:r>
              <a:rPr sz="3900" spc="-30" dirty="0">
                <a:latin typeface="Calibri Light"/>
                <a:cs typeface="Calibri Light"/>
              </a:rPr>
              <a:t> </a:t>
            </a:r>
            <a:r>
              <a:rPr sz="3900" spc="20" dirty="0">
                <a:latin typeface="Calibri Light"/>
                <a:cs typeface="Calibri Light"/>
              </a:rPr>
              <a:t>Interpret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88" y="1520443"/>
            <a:ext cx="7403465" cy="8413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Segoe UI Emoji"/>
                <a:cs typeface="Segoe UI Emoji"/>
              </a:rPr>
              <a:t>A </a:t>
            </a:r>
            <a:r>
              <a:rPr sz="2400" spc="-10" dirty="0">
                <a:latin typeface="Segoe UI Emoji"/>
                <a:cs typeface="Segoe UI Emoji"/>
              </a:rPr>
              <a:t>path from </a:t>
            </a:r>
            <a:r>
              <a:rPr sz="2400" spc="-5" dirty="0">
                <a:latin typeface="Segoe UI Emoji"/>
                <a:cs typeface="Segoe UI Emoji"/>
              </a:rPr>
              <a:t>root </a:t>
            </a:r>
            <a:r>
              <a:rPr sz="2400" spc="-10" dirty="0">
                <a:latin typeface="Segoe UI Emoji"/>
                <a:cs typeface="Segoe UI Emoji"/>
              </a:rPr>
              <a:t>to </a:t>
            </a:r>
            <a:r>
              <a:rPr sz="2400" dirty="0">
                <a:latin typeface="Segoe UI Emoji"/>
                <a:cs typeface="Segoe UI Emoji"/>
              </a:rPr>
              <a:t>a </a:t>
            </a:r>
            <a:r>
              <a:rPr sz="2400" spc="-5" dirty="0">
                <a:latin typeface="Segoe UI Emoji"/>
                <a:cs typeface="Segoe UI Emoji"/>
              </a:rPr>
              <a:t>leaf </a:t>
            </a:r>
            <a:r>
              <a:rPr sz="2400" dirty="0">
                <a:latin typeface="Segoe UI Emoji"/>
                <a:cs typeface="Segoe UI Emoji"/>
              </a:rPr>
              <a:t>node </a:t>
            </a:r>
            <a:r>
              <a:rPr sz="2400" spc="-5" dirty="0">
                <a:latin typeface="Segoe UI Emoji"/>
                <a:cs typeface="Segoe UI Emoji"/>
              </a:rPr>
              <a:t>corresponds </a:t>
            </a:r>
            <a:r>
              <a:rPr sz="2400" spc="-10" dirty="0">
                <a:latin typeface="Segoe UI Emoji"/>
                <a:cs typeface="Segoe UI Emoji"/>
              </a:rPr>
              <a:t>to </a:t>
            </a:r>
            <a:r>
              <a:rPr sz="2400" dirty="0">
                <a:latin typeface="Segoe UI Emoji"/>
                <a:cs typeface="Segoe UI Emoji"/>
              </a:rPr>
              <a:t>a</a:t>
            </a:r>
            <a:r>
              <a:rPr sz="2400" spc="35" dirty="0">
                <a:latin typeface="Segoe UI Emoji"/>
                <a:cs typeface="Segoe UI Emoji"/>
              </a:rPr>
              <a:t> </a:t>
            </a:r>
            <a:r>
              <a:rPr sz="2400" dirty="0">
                <a:latin typeface="Segoe UI Emoji"/>
                <a:cs typeface="Segoe UI Emoji"/>
              </a:rPr>
              <a:t>rule</a:t>
            </a:r>
            <a:endParaRPr sz="2400">
              <a:latin typeface="Segoe UI Emoji"/>
              <a:cs typeface="Segoe UI Emoji"/>
            </a:endParaRPr>
          </a:p>
          <a:p>
            <a:pPr marL="698500" lvl="1" indent="-2286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Segoe UI Emoji"/>
                <a:cs typeface="Segoe UI Emoji"/>
              </a:rPr>
              <a:t>E.g., </a:t>
            </a:r>
            <a:r>
              <a:rPr sz="2000" dirty="0">
                <a:latin typeface="Segoe UI Emoji"/>
                <a:cs typeface="Segoe UI Emoji"/>
              </a:rPr>
              <a:t>if </a:t>
            </a:r>
            <a:r>
              <a:rPr sz="2000" spc="-10" dirty="0">
                <a:latin typeface="Segoe UI Emoji"/>
                <a:cs typeface="Segoe UI Emoji"/>
              </a:rPr>
              <a:t>age&lt;=30 </a:t>
            </a:r>
            <a:r>
              <a:rPr sz="2000" spc="-5" dirty="0">
                <a:latin typeface="Segoe UI Emoji"/>
                <a:cs typeface="Segoe UI Emoji"/>
              </a:rPr>
              <a:t>and student=no </a:t>
            </a:r>
            <a:r>
              <a:rPr sz="2000" dirty="0">
                <a:latin typeface="Segoe UI Emoji"/>
                <a:cs typeface="Segoe UI Emoji"/>
              </a:rPr>
              <a:t>then </a:t>
            </a:r>
            <a:r>
              <a:rPr sz="2000" spc="-10" dirty="0">
                <a:latin typeface="Segoe UI Emoji"/>
                <a:cs typeface="Segoe UI Emoji"/>
              </a:rPr>
              <a:t>target</a:t>
            </a:r>
            <a:r>
              <a:rPr sz="2000" spc="45" dirty="0">
                <a:latin typeface="Segoe UI Emoji"/>
                <a:cs typeface="Segoe UI Emoji"/>
              </a:rPr>
              <a:t> </a:t>
            </a:r>
            <a:r>
              <a:rPr sz="2000" spc="-10" dirty="0">
                <a:latin typeface="Segoe UI Emoji"/>
                <a:cs typeface="Segoe UI Emoji"/>
              </a:rPr>
              <a:t>value=no</a:t>
            </a:r>
            <a:endParaRPr sz="2000">
              <a:latin typeface="Segoe UI Emoji"/>
              <a:cs typeface="Segoe UI Emoj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95167" y="2508633"/>
            <a:ext cx="4693285" cy="3749040"/>
            <a:chOff x="2095167" y="2508633"/>
            <a:chExt cx="4693285" cy="37490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12" y="2740151"/>
              <a:ext cx="4520184" cy="35173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95167" y="2508633"/>
              <a:ext cx="922019" cy="791210"/>
            </a:xfrm>
            <a:custGeom>
              <a:avLst/>
              <a:gdLst/>
              <a:ahLst/>
              <a:cxnLst/>
              <a:rect l="l" t="t" r="r" b="b"/>
              <a:pathLst>
                <a:path w="922019" h="791210">
                  <a:moveTo>
                    <a:pt x="921779" y="0"/>
                  </a:moveTo>
                  <a:lnTo>
                    <a:pt x="0" y="0"/>
                  </a:lnTo>
                  <a:lnTo>
                    <a:pt x="0" y="790831"/>
                  </a:lnTo>
                  <a:lnTo>
                    <a:pt x="921779" y="790831"/>
                  </a:lnTo>
                  <a:lnTo>
                    <a:pt x="9217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1350" y="657013"/>
            <a:ext cx="480187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40" dirty="0">
                <a:latin typeface="Calibri Light"/>
                <a:cs typeface="Calibri Light"/>
              </a:rPr>
              <a:t>Decision </a:t>
            </a:r>
            <a:r>
              <a:rPr sz="3900" spc="-40" dirty="0">
                <a:latin typeface="Calibri Light"/>
                <a:cs typeface="Calibri Light"/>
              </a:rPr>
              <a:t>Tree</a:t>
            </a:r>
            <a:r>
              <a:rPr sz="3900" spc="-45" dirty="0">
                <a:latin typeface="Calibri Light"/>
                <a:cs typeface="Calibri Light"/>
              </a:rPr>
              <a:t> </a:t>
            </a:r>
            <a:r>
              <a:rPr sz="3900" spc="35" dirty="0">
                <a:latin typeface="Calibri Light"/>
                <a:cs typeface="Calibri Light"/>
              </a:rPr>
              <a:t>Induction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88" y="1517395"/>
            <a:ext cx="7682230" cy="12439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4"/>
              </a:spcBef>
              <a:buClr>
                <a:srgbClr val="170981"/>
              </a:buClr>
              <a:buSzPct val="76595"/>
              <a:buFont typeface="Wingdings"/>
              <a:buChar char=""/>
              <a:tabLst>
                <a:tab pos="241300" algn="l"/>
              </a:tabLst>
            </a:pPr>
            <a:r>
              <a:rPr sz="3525" b="1" spc="67" baseline="1182" dirty="0">
                <a:latin typeface="Segoe UI Emoji"/>
                <a:cs typeface="Segoe UI Emoji"/>
              </a:rPr>
              <a:t>Decision </a:t>
            </a:r>
            <a:r>
              <a:rPr sz="3525" b="1" spc="44" baseline="1182" dirty="0">
                <a:latin typeface="Segoe UI Emoji"/>
                <a:cs typeface="Segoe UI Emoji"/>
              </a:rPr>
              <a:t>tree</a:t>
            </a:r>
            <a:r>
              <a:rPr sz="3525" b="1" spc="22" baseline="1182" dirty="0">
                <a:latin typeface="Segoe UI Emoji"/>
                <a:cs typeface="Segoe UI Emoji"/>
              </a:rPr>
              <a:t> </a:t>
            </a:r>
            <a:r>
              <a:rPr sz="3525" b="1" spc="60" baseline="1182" dirty="0">
                <a:latin typeface="Segoe UI Emoji"/>
                <a:cs typeface="Segoe UI Emoji"/>
              </a:rPr>
              <a:t>construction</a:t>
            </a:r>
            <a:r>
              <a:rPr sz="2400" spc="40" dirty="0">
                <a:latin typeface="Segoe UI Emoji"/>
                <a:cs typeface="Segoe UI Emoji"/>
              </a:rPr>
              <a:t>:</a:t>
            </a:r>
            <a:endParaRPr sz="2400">
              <a:latin typeface="Segoe UI Emoji"/>
              <a:cs typeface="Segoe UI Emoji"/>
            </a:endParaRPr>
          </a:p>
          <a:p>
            <a:pPr marL="782320" lvl="1" indent="-313055">
              <a:lnSpc>
                <a:spcPct val="100000"/>
              </a:lnSpc>
              <a:spcBef>
                <a:spcPts val="335"/>
              </a:spcBef>
              <a:buClr>
                <a:srgbClr val="170981"/>
              </a:buClr>
              <a:buSzPct val="75000"/>
              <a:buFont typeface="Wingdings"/>
              <a:buChar char=""/>
              <a:tabLst>
                <a:tab pos="782955" algn="l"/>
              </a:tabLst>
            </a:pPr>
            <a:r>
              <a:rPr sz="2400" dirty="0">
                <a:latin typeface="Segoe UI Emoji"/>
                <a:cs typeface="Segoe UI Emoji"/>
              </a:rPr>
              <a:t>A </a:t>
            </a:r>
            <a:r>
              <a:rPr sz="2400" spc="-5" dirty="0">
                <a:latin typeface="Segoe UI Emoji"/>
                <a:cs typeface="Segoe UI Emoji"/>
              </a:rPr>
              <a:t>top-down, recursive, divide-and-conquer</a:t>
            </a:r>
            <a:r>
              <a:rPr sz="2400" spc="80" dirty="0">
                <a:latin typeface="Segoe UI Emoji"/>
                <a:cs typeface="Segoe UI Emoji"/>
              </a:rPr>
              <a:t> </a:t>
            </a:r>
            <a:r>
              <a:rPr sz="2400" spc="-10" dirty="0">
                <a:latin typeface="Segoe UI Emoji"/>
                <a:cs typeface="Segoe UI Emoji"/>
              </a:rPr>
              <a:t>process</a:t>
            </a:r>
            <a:endParaRPr sz="2400">
              <a:latin typeface="Segoe UI Emoji"/>
              <a:cs typeface="Segoe UI Emoji"/>
            </a:endParaRPr>
          </a:p>
          <a:p>
            <a:pPr marL="325120" indent="-313055">
              <a:lnSpc>
                <a:spcPct val="100000"/>
              </a:lnSpc>
              <a:spcBef>
                <a:spcPts val="464"/>
              </a:spcBef>
              <a:buClr>
                <a:srgbClr val="170981"/>
              </a:buClr>
              <a:buSzPct val="80000"/>
              <a:buFont typeface="Wingdings"/>
              <a:buChar char=""/>
              <a:tabLst>
                <a:tab pos="325755" algn="l"/>
              </a:tabLst>
            </a:pPr>
            <a:r>
              <a:rPr sz="3375" b="1" spc="112" baseline="1234" dirty="0">
                <a:latin typeface="Segoe UI Emoji"/>
                <a:cs typeface="Segoe UI Emoji"/>
              </a:rPr>
              <a:t>Resulting</a:t>
            </a:r>
            <a:r>
              <a:rPr sz="3375" b="1" spc="172" baseline="1234" dirty="0">
                <a:latin typeface="Segoe UI Emoji"/>
                <a:cs typeface="Segoe UI Emoji"/>
              </a:rPr>
              <a:t> </a:t>
            </a:r>
            <a:r>
              <a:rPr sz="3375" b="1" spc="89" baseline="1234" dirty="0">
                <a:latin typeface="Segoe UI Emoji"/>
                <a:cs typeface="Segoe UI Emoji"/>
              </a:rPr>
              <a:t>tree:</a:t>
            </a:r>
            <a:endParaRPr sz="3375" baseline="1234">
              <a:latin typeface="Segoe UI Emoji"/>
              <a:cs typeface="Segoe UI Emoj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5340" y="6302755"/>
            <a:ext cx="3835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Training </a:t>
            </a:r>
            <a:r>
              <a:rPr sz="1800" spc="-10" dirty="0">
                <a:latin typeface="Calibri"/>
                <a:cs typeface="Calibri"/>
              </a:rPr>
              <a:t>data </a:t>
            </a:r>
            <a:r>
              <a:rPr sz="1800" spc="-5" dirty="0">
                <a:latin typeface="Calibri"/>
                <a:cs typeface="Calibri"/>
              </a:rPr>
              <a:t>set: </a:t>
            </a:r>
            <a:r>
              <a:rPr sz="1800" dirty="0">
                <a:latin typeface="Calibri"/>
                <a:cs typeface="Calibri"/>
              </a:rPr>
              <a:t>Who </a:t>
            </a:r>
            <a:r>
              <a:rPr sz="1800" spc="-5" dirty="0">
                <a:latin typeface="Calibri"/>
                <a:cs typeface="Calibri"/>
              </a:rPr>
              <a:t>buys </a:t>
            </a:r>
            <a:r>
              <a:rPr sz="1800" spc="-10" dirty="0">
                <a:latin typeface="Calibri"/>
                <a:cs typeface="Calibri"/>
              </a:rPr>
              <a:t>computer?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aseline="-16203" dirty="0">
                <a:solidFill>
                  <a:srgbClr val="898989"/>
                </a:solidFill>
                <a:latin typeface="Calibri"/>
                <a:cs typeface="Calibri"/>
              </a:rPr>
              <a:t>4</a:t>
            </a:r>
            <a:endParaRPr sz="1800" baseline="-16203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29000"/>
            <a:ext cx="4096512" cy="238048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0302" y="2446162"/>
          <a:ext cx="4418328" cy="3836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7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021">
                <a:tc>
                  <a:txBody>
                    <a:bodyPr/>
                    <a:lstStyle/>
                    <a:p>
                      <a:pPr marL="197485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90" dirty="0">
                          <a:latin typeface="Arial"/>
                          <a:cs typeface="Arial"/>
                        </a:rPr>
                        <a:t>age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90" dirty="0">
                          <a:latin typeface="Arial"/>
                          <a:cs typeface="Arial"/>
                        </a:rPr>
                        <a:t>income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student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credit_rating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80" dirty="0">
                          <a:latin typeface="Arial"/>
                          <a:cs typeface="Arial"/>
                        </a:rPr>
                        <a:t>buys_computer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49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35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&lt;=30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35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high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35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35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05"/>
                        </a:lnSpc>
                        <a:spcBef>
                          <a:spcPts val="135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864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&lt;=30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high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974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20" dirty="0">
                          <a:latin typeface="Arial"/>
                          <a:cs typeface="Arial"/>
                        </a:rPr>
                        <a:t>31…40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high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863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&gt;40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919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&gt;40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80" dirty="0">
                          <a:latin typeface="Arial"/>
                          <a:cs typeface="Arial"/>
                        </a:rPr>
                        <a:t>low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974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&gt;40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80" dirty="0">
                          <a:latin typeface="Arial"/>
                          <a:cs typeface="Arial"/>
                        </a:rPr>
                        <a:t>low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918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20" dirty="0">
                          <a:latin typeface="Arial"/>
                          <a:cs typeface="Arial"/>
                        </a:rPr>
                        <a:t>31…40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80" dirty="0">
                          <a:latin typeface="Arial"/>
                          <a:cs typeface="Arial"/>
                        </a:rPr>
                        <a:t>low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864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&lt;=30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974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&lt;=30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80" dirty="0">
                          <a:latin typeface="Arial"/>
                          <a:cs typeface="Arial"/>
                        </a:rPr>
                        <a:t>low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891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&gt;40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919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&lt;=30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919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20" dirty="0">
                          <a:latin typeface="Arial"/>
                          <a:cs typeface="Arial"/>
                        </a:rPr>
                        <a:t>31…40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918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20" dirty="0">
                          <a:latin typeface="Arial"/>
                          <a:cs typeface="Arial"/>
                        </a:rPr>
                        <a:t>31…40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high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22">
                <a:tc>
                  <a:txBody>
                    <a:bodyPr/>
                    <a:lstStyle/>
                    <a:p>
                      <a:pPr marL="29209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&gt;40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9369" y="483234"/>
            <a:ext cx="55264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An </a:t>
            </a:r>
            <a:r>
              <a:rPr sz="4400" spc="-5" dirty="0"/>
              <a:t>example training</a:t>
            </a:r>
            <a:r>
              <a:rPr sz="4400" spc="-75" dirty="0"/>
              <a:t> </a:t>
            </a:r>
            <a:r>
              <a:rPr sz="4400" spc="-5" dirty="0"/>
              <a:t>set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3831" y="1769443"/>
            <a:ext cx="6319628" cy="42922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marR="142240" algn="ctr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 </a:t>
            </a:r>
            <a:r>
              <a:rPr sz="4400" spc="-5" dirty="0"/>
              <a:t>decision</a:t>
            </a:r>
            <a:r>
              <a:rPr sz="4400" spc="-40" dirty="0"/>
              <a:t> </a:t>
            </a:r>
            <a:r>
              <a:rPr sz="4400" spc="-20" dirty="0"/>
              <a:t>tree</a:t>
            </a:r>
            <a:endParaRPr sz="4400"/>
          </a:p>
          <a:p>
            <a:pPr marL="153035" algn="ctr">
              <a:lnSpc>
                <a:spcPct val="100000"/>
              </a:lnSpc>
            </a:pPr>
            <a:r>
              <a:rPr sz="4400" dirty="0"/>
              <a:t>to </a:t>
            </a:r>
            <a:r>
              <a:rPr sz="4400" spc="-5" dirty="0"/>
              <a:t>decide whether </a:t>
            </a:r>
            <a:r>
              <a:rPr sz="4400" dirty="0"/>
              <a:t>to </a:t>
            </a:r>
            <a:r>
              <a:rPr sz="4400" spc="-5" dirty="0"/>
              <a:t>play</a:t>
            </a:r>
            <a:r>
              <a:rPr sz="4400" spc="-60" dirty="0"/>
              <a:t> </a:t>
            </a:r>
            <a:r>
              <a:rPr sz="4400" spc="-5" dirty="0"/>
              <a:t>tennis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3113" y="2390039"/>
            <a:ext cx="4364944" cy="26019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483234"/>
            <a:ext cx="4325493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Decision</a:t>
            </a:r>
            <a:r>
              <a:rPr sz="4400" spc="-55" dirty="0"/>
              <a:t> </a:t>
            </a:r>
            <a:r>
              <a:rPr sz="4400" spc="-135" dirty="0"/>
              <a:t>Trees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6177"/>
            <a:ext cx="7192009" cy="3140603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Representation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Each </a:t>
            </a:r>
            <a:r>
              <a:rPr sz="2400" spc="-5" dirty="0">
                <a:latin typeface="Segoe UI"/>
                <a:cs typeface="Segoe UI"/>
              </a:rPr>
              <a:t>internal </a:t>
            </a:r>
            <a:r>
              <a:rPr sz="2400" dirty="0">
                <a:latin typeface="Segoe UI"/>
                <a:cs typeface="Segoe UI"/>
              </a:rPr>
              <a:t>node </a:t>
            </a:r>
            <a:r>
              <a:rPr sz="2400" spc="-5" dirty="0">
                <a:latin typeface="Segoe UI"/>
                <a:cs typeface="Segoe UI"/>
              </a:rPr>
              <a:t>tests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feature</a:t>
            </a:r>
            <a:endParaRPr sz="24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Each branch </a:t>
            </a:r>
            <a:r>
              <a:rPr sz="2400" spc="-5" dirty="0">
                <a:latin typeface="Segoe UI"/>
                <a:cs typeface="Segoe UI"/>
              </a:rPr>
              <a:t>corresponds </a:t>
            </a:r>
            <a:r>
              <a:rPr sz="2400" spc="-10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a </a:t>
            </a:r>
            <a:r>
              <a:rPr sz="2400" spc="-5" dirty="0">
                <a:latin typeface="Segoe UI"/>
                <a:cs typeface="Segoe UI"/>
              </a:rPr>
              <a:t>feature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value</a:t>
            </a:r>
            <a:endParaRPr sz="24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Each </a:t>
            </a:r>
            <a:r>
              <a:rPr sz="2400" spc="-5" dirty="0">
                <a:latin typeface="Segoe UI"/>
                <a:cs typeface="Segoe UI"/>
              </a:rPr>
              <a:t>leaf </a:t>
            </a:r>
            <a:r>
              <a:rPr sz="2400" dirty="0">
                <a:latin typeface="Segoe UI"/>
                <a:cs typeface="Segoe UI"/>
              </a:rPr>
              <a:t>node assigns a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classification</a:t>
            </a:r>
            <a:endParaRPr sz="20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650" dirty="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Decision </a:t>
            </a:r>
            <a:r>
              <a:rPr sz="2800" spc="-10" dirty="0">
                <a:latin typeface="Segoe UI"/>
                <a:cs typeface="Segoe UI"/>
              </a:rPr>
              <a:t>trees represent </a:t>
            </a:r>
            <a:r>
              <a:rPr sz="2800" spc="-5" dirty="0">
                <a:latin typeface="Segoe UI"/>
                <a:cs typeface="Segoe UI"/>
              </a:rPr>
              <a:t>functions </a:t>
            </a:r>
            <a:r>
              <a:rPr sz="2800" dirty="0">
                <a:latin typeface="Segoe UI"/>
                <a:cs typeface="Segoe UI"/>
              </a:rPr>
              <a:t>that </a:t>
            </a:r>
            <a:r>
              <a:rPr sz="2800" spc="-5" dirty="0">
                <a:latin typeface="Segoe UI"/>
                <a:cs typeface="Segoe UI"/>
              </a:rPr>
              <a:t>map  examples in X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classes in Y</a:t>
            </a:r>
            <a:endParaRPr sz="2800" dirty="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060" y="5334289"/>
            <a:ext cx="7987934" cy="3338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21" y="483234"/>
            <a:ext cx="18592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Exe</a:t>
            </a:r>
            <a:r>
              <a:rPr sz="4400" spc="-90" dirty="0"/>
              <a:t>r</a:t>
            </a:r>
            <a:r>
              <a:rPr sz="4400" dirty="0"/>
              <a:t>cise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323594" y="4322953"/>
            <a:ext cx="1104900" cy="328930"/>
          </a:xfrm>
          <a:custGeom>
            <a:avLst/>
            <a:gdLst/>
            <a:ahLst/>
            <a:cxnLst/>
            <a:rect l="l" t="t" r="r" b="b"/>
            <a:pathLst>
              <a:path w="1104900" h="328929">
                <a:moveTo>
                  <a:pt x="999617" y="0"/>
                </a:moveTo>
                <a:lnTo>
                  <a:pt x="994918" y="13335"/>
                </a:lnTo>
                <a:lnTo>
                  <a:pt x="1013968" y="21597"/>
                </a:lnTo>
                <a:lnTo>
                  <a:pt x="1030351" y="33051"/>
                </a:lnTo>
                <a:lnTo>
                  <a:pt x="1055116" y="65532"/>
                </a:lnTo>
                <a:lnTo>
                  <a:pt x="1069689" y="109219"/>
                </a:lnTo>
                <a:lnTo>
                  <a:pt x="1074547" y="162814"/>
                </a:lnTo>
                <a:lnTo>
                  <a:pt x="1073312" y="191845"/>
                </a:lnTo>
                <a:lnTo>
                  <a:pt x="1063509" y="241859"/>
                </a:lnTo>
                <a:lnTo>
                  <a:pt x="1043967" y="280965"/>
                </a:lnTo>
                <a:lnTo>
                  <a:pt x="1014162" y="307306"/>
                </a:lnTo>
                <a:lnTo>
                  <a:pt x="995426" y="315595"/>
                </a:lnTo>
                <a:lnTo>
                  <a:pt x="999617" y="328930"/>
                </a:lnTo>
                <a:lnTo>
                  <a:pt x="1044447" y="307895"/>
                </a:lnTo>
                <a:lnTo>
                  <a:pt x="1077468" y="271526"/>
                </a:lnTo>
                <a:lnTo>
                  <a:pt x="1097756" y="222678"/>
                </a:lnTo>
                <a:lnTo>
                  <a:pt x="1104519" y="164592"/>
                </a:lnTo>
                <a:lnTo>
                  <a:pt x="1102808" y="134417"/>
                </a:lnTo>
                <a:lnTo>
                  <a:pt x="1089195" y="80974"/>
                </a:lnTo>
                <a:lnTo>
                  <a:pt x="1062339" y="37468"/>
                </a:lnTo>
                <a:lnTo>
                  <a:pt x="1023477" y="8616"/>
                </a:lnTo>
                <a:lnTo>
                  <a:pt x="999617" y="0"/>
                </a:lnTo>
                <a:close/>
              </a:path>
              <a:path w="1104900" h="328929">
                <a:moveTo>
                  <a:pt x="104902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2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90"/>
                </a:lnTo>
                <a:lnTo>
                  <a:pt x="34845" y="218186"/>
                </a:lnTo>
                <a:lnTo>
                  <a:pt x="29971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622501"/>
            <a:ext cx="7444105" cy="3051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would </a:t>
            </a:r>
            <a:r>
              <a:rPr sz="3200" spc="-5" dirty="0">
                <a:latin typeface="Segoe UI"/>
                <a:cs typeface="Segoe UI"/>
              </a:rPr>
              <a:t>you represent the</a:t>
            </a:r>
            <a:r>
              <a:rPr sz="3200" spc="-10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following  </a:t>
            </a:r>
            <a:r>
              <a:rPr sz="3200" spc="-5" dirty="0">
                <a:latin typeface="Segoe UI"/>
                <a:cs typeface="Segoe UI"/>
              </a:rPr>
              <a:t>Boolean </a:t>
            </a:r>
            <a:r>
              <a:rPr sz="3200" dirty="0">
                <a:latin typeface="Segoe UI"/>
                <a:cs typeface="Segoe UI"/>
              </a:rPr>
              <a:t>functions with decision</a:t>
            </a:r>
            <a:r>
              <a:rPr sz="3200" spc="-3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trees?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AND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OR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Segoe UI"/>
                <a:cs typeface="Segoe UI"/>
              </a:rPr>
              <a:t>XOR</a:t>
            </a:r>
            <a:endParaRPr sz="280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  <a:tabLst>
                <a:tab pos="904240" algn="l"/>
                <a:tab pos="2002789" algn="l"/>
              </a:tabLst>
            </a:pPr>
            <a:r>
              <a:rPr sz="2800" spc="-5" dirty="0">
                <a:latin typeface="Arial"/>
                <a:cs typeface="Arial"/>
              </a:rPr>
              <a:t>–	</a:t>
            </a:r>
            <a:r>
              <a:rPr sz="2800" spc="-5" dirty="0">
                <a:latin typeface="Cambria Math"/>
                <a:cs typeface="Cambria Math"/>
              </a:rPr>
              <a:t>𝐴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∩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𝐵	∪ (𝐶 ∩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spc="20" dirty="0">
                <a:latin typeface="Cambria Math"/>
                <a:cs typeface="Cambria Math"/>
              </a:rPr>
              <a:t>¬𝐷)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83234"/>
            <a:ext cx="7315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When to use a Decision Tree?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914400" y="1622501"/>
            <a:ext cx="7065645" cy="51251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dirty="0">
                <a:latin typeface="Segoe UI"/>
                <a:cs typeface="Segoe UI"/>
              </a:rPr>
              <a:t>Examples are represented by a small to moderate number of attributes</a:t>
            </a:r>
          </a:p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dirty="0">
                <a:latin typeface="Segoe UI"/>
                <a:cs typeface="Segoe UI"/>
              </a:rPr>
              <a:t>Each attribute conveys significant information</a:t>
            </a:r>
          </a:p>
          <a:p>
            <a:pPr marL="812800" marR="5080" lvl="1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Segoe UI"/>
                <a:cs typeface="Segoe UI"/>
              </a:rPr>
              <a:t>Not suitable for sensory data (e.g. Pixels of an image)</a:t>
            </a:r>
          </a:p>
          <a:p>
            <a:pPr marL="355600" marR="508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Segoe UI"/>
                <a:cs typeface="Segoe UI"/>
              </a:rPr>
              <a:t>The label (class) must be discrete</a:t>
            </a:r>
          </a:p>
          <a:p>
            <a:pPr marL="812800" marR="5080" lvl="1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Segoe UI"/>
                <a:cs typeface="Segoe UI"/>
              </a:rPr>
              <a:t>Extensions for continuous prediction include Model Trees and </a:t>
            </a:r>
            <a:r>
              <a:rPr lang="en-US" sz="2800">
                <a:latin typeface="Segoe UI"/>
                <a:cs typeface="Segoe UI"/>
              </a:rPr>
              <a:t>Regression Trees</a:t>
            </a:r>
            <a:endParaRPr lang="en-US" sz="2800" dirty="0">
              <a:latin typeface="Segoe UI"/>
              <a:cs typeface="Segoe UI"/>
            </a:endParaRPr>
          </a:p>
          <a:p>
            <a:pPr marL="469900" marR="5080" lvl="1">
              <a:spcBef>
                <a:spcPts val="105"/>
              </a:spcBef>
              <a:tabLst>
                <a:tab pos="354965" algn="l"/>
                <a:tab pos="355600" algn="l"/>
              </a:tabLst>
            </a:pPr>
            <a:endParaRPr lang="en-US" sz="32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73460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1976" y="483234"/>
            <a:ext cx="49422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20" dirty="0"/>
              <a:t>Today: </a:t>
            </a:r>
            <a:r>
              <a:rPr sz="4400" spc="-5" dirty="0"/>
              <a:t>Decision</a:t>
            </a:r>
            <a:r>
              <a:rPr sz="4400" spc="55" dirty="0"/>
              <a:t> </a:t>
            </a:r>
            <a:r>
              <a:rPr sz="4400" spc="-135" dirty="0"/>
              <a:t>Trees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938134" cy="168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What is </a:t>
            </a:r>
            <a:r>
              <a:rPr sz="3200" dirty="0">
                <a:latin typeface="Segoe UI"/>
                <a:cs typeface="Segoe UI"/>
              </a:rPr>
              <a:t>a decision</a:t>
            </a:r>
            <a:r>
              <a:rPr sz="3200" spc="-1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tree?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Segoe UI"/>
                <a:cs typeface="Segoe UI"/>
              </a:rPr>
              <a:t>How to </a:t>
            </a:r>
            <a:r>
              <a:rPr sz="3200" b="1" spc="-5" dirty="0">
                <a:latin typeface="Segoe UI"/>
                <a:cs typeface="Segoe UI"/>
              </a:rPr>
              <a:t>learn </a:t>
            </a:r>
            <a:r>
              <a:rPr sz="3200" b="1" dirty="0">
                <a:latin typeface="Segoe UI"/>
                <a:cs typeface="Segoe UI"/>
              </a:rPr>
              <a:t>a </a:t>
            </a:r>
            <a:r>
              <a:rPr sz="3200" b="1" spc="-5" dirty="0">
                <a:latin typeface="Segoe UI"/>
                <a:cs typeface="Segoe UI"/>
              </a:rPr>
              <a:t>decision tree from</a:t>
            </a:r>
            <a:r>
              <a:rPr sz="3200" b="1" spc="95" dirty="0">
                <a:latin typeface="Segoe UI"/>
                <a:cs typeface="Segoe UI"/>
              </a:rPr>
              <a:t> </a:t>
            </a:r>
            <a:r>
              <a:rPr sz="3200" b="1" spc="-5" dirty="0">
                <a:latin typeface="Segoe UI"/>
                <a:cs typeface="Segoe UI"/>
              </a:rPr>
              <a:t>data?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8112" y="657013"/>
            <a:ext cx="530860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50" dirty="0">
                <a:latin typeface="Calibri Light"/>
                <a:cs typeface="Calibri Light"/>
              </a:rPr>
              <a:t>How </a:t>
            </a:r>
            <a:r>
              <a:rPr sz="3900" spc="20" dirty="0">
                <a:latin typeface="Calibri Light"/>
                <a:cs typeface="Calibri Light"/>
              </a:rPr>
              <a:t>to </a:t>
            </a:r>
            <a:r>
              <a:rPr sz="3900" spc="45" dirty="0">
                <a:latin typeface="Calibri Light"/>
                <a:cs typeface="Calibri Light"/>
              </a:rPr>
              <a:t>Choose</a:t>
            </a:r>
            <a:r>
              <a:rPr sz="3900" spc="-20" dirty="0">
                <a:latin typeface="Calibri Light"/>
                <a:cs typeface="Calibri Light"/>
              </a:rPr>
              <a:t> </a:t>
            </a:r>
            <a:r>
              <a:rPr sz="3900" spc="15" dirty="0">
                <a:latin typeface="Calibri Light"/>
                <a:cs typeface="Calibri Light"/>
              </a:rPr>
              <a:t>Attribute?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888" y="1770888"/>
            <a:ext cx="6989063" cy="43312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8220" y="147955"/>
            <a:ext cx="561022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7060" marR="5080" indent="-59436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Function</a:t>
            </a:r>
            <a:r>
              <a:rPr sz="4400" spc="-114" dirty="0"/>
              <a:t> </a:t>
            </a:r>
            <a:r>
              <a:rPr sz="4400" spc="-15" dirty="0"/>
              <a:t>Approximation  </a:t>
            </a:r>
            <a:r>
              <a:rPr sz="4400" dirty="0"/>
              <a:t>with </a:t>
            </a:r>
            <a:r>
              <a:rPr sz="4400" spc="-5" dirty="0"/>
              <a:t>Decision</a:t>
            </a:r>
            <a:r>
              <a:rPr sz="4400" spc="-35" dirty="0"/>
              <a:t> </a:t>
            </a:r>
            <a:r>
              <a:rPr sz="4400" spc="-135" dirty="0"/>
              <a:t>Trees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61670" y="1509522"/>
            <a:ext cx="6777990" cy="20745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2400" spc="-10" dirty="0">
                <a:latin typeface="Segoe UI"/>
                <a:cs typeface="Segoe UI"/>
              </a:rPr>
              <a:t>Problem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setting</a:t>
            </a:r>
            <a:endParaRPr sz="2400">
              <a:latin typeface="Segoe UI"/>
              <a:cs typeface="Segoe UI"/>
            </a:endParaRPr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possible </a:t>
            </a:r>
            <a:r>
              <a:rPr sz="2400" spc="-5" dirty="0">
                <a:latin typeface="Segoe UI"/>
                <a:cs typeface="Segoe UI"/>
              </a:rPr>
              <a:t>instances</a:t>
            </a:r>
            <a:r>
              <a:rPr sz="2400" spc="6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endParaRPr sz="2400">
              <a:latin typeface="Cambria Math"/>
              <a:cs typeface="Cambria Math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  <a:tab pos="2620645" algn="l"/>
              </a:tabLst>
            </a:pP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Each</a:t>
            </a:r>
            <a:r>
              <a:rPr sz="2000" spc="5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instance</a:t>
            </a:r>
            <a:r>
              <a:rPr sz="2000" spc="1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𝑥	∈ 𝑋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a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feature vector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𝑥 = </a:t>
            </a:r>
            <a:r>
              <a:rPr sz="2000" spc="10" dirty="0">
                <a:solidFill>
                  <a:srgbClr val="9F2936"/>
                </a:solidFill>
                <a:latin typeface="Cambria Math"/>
                <a:cs typeface="Cambria Math"/>
              </a:rPr>
              <a:t>[𝑥</a:t>
            </a:r>
            <a:r>
              <a:rPr sz="2175" spc="15" baseline="-15325" dirty="0">
                <a:solidFill>
                  <a:srgbClr val="9F2936"/>
                </a:solidFill>
                <a:latin typeface="Cambria Math"/>
                <a:cs typeface="Cambria Math"/>
              </a:rPr>
              <a:t>1</a:t>
            </a:r>
            <a:r>
              <a:rPr sz="2000" spc="10" dirty="0">
                <a:solidFill>
                  <a:srgbClr val="9F2936"/>
                </a:solidFill>
                <a:latin typeface="Cambria Math"/>
                <a:cs typeface="Cambria Math"/>
              </a:rPr>
              <a:t>,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… ,</a:t>
            </a:r>
            <a:r>
              <a:rPr sz="2000" spc="-260" dirty="0">
                <a:solidFill>
                  <a:srgbClr val="9F2936"/>
                </a:solidFill>
                <a:latin typeface="Cambria Math"/>
                <a:cs typeface="Cambria Math"/>
              </a:rPr>
              <a:t> </a:t>
            </a:r>
            <a:r>
              <a:rPr sz="2000" spc="45" dirty="0">
                <a:solidFill>
                  <a:srgbClr val="9F2936"/>
                </a:solidFill>
                <a:latin typeface="Cambria Math"/>
                <a:cs typeface="Cambria Math"/>
              </a:rPr>
              <a:t>𝑥</a:t>
            </a:r>
            <a:r>
              <a:rPr sz="2175" spc="67" baseline="-15325" dirty="0">
                <a:solidFill>
                  <a:srgbClr val="9F2936"/>
                </a:solidFill>
                <a:latin typeface="Cambria Math"/>
                <a:cs typeface="Cambria Math"/>
              </a:rPr>
              <a:t>𝐷</a:t>
            </a:r>
            <a:r>
              <a:rPr sz="2000" spc="45" dirty="0">
                <a:solidFill>
                  <a:srgbClr val="9F2936"/>
                </a:solidFill>
                <a:latin typeface="Cambria Math"/>
                <a:cs typeface="Cambria Math"/>
              </a:rPr>
              <a:t>]</a:t>
            </a:r>
            <a:endParaRPr sz="2000">
              <a:latin typeface="Cambria Math"/>
              <a:cs typeface="Cambria Math"/>
            </a:endParaRPr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67665" algn="l"/>
                <a:tab pos="368300" algn="l"/>
                <a:tab pos="4480560" algn="l"/>
              </a:tabLst>
            </a:pPr>
            <a:r>
              <a:rPr sz="2400" spc="-5" dirty="0">
                <a:latin typeface="Segoe UI"/>
                <a:cs typeface="Segoe UI"/>
              </a:rPr>
              <a:t>Unknown target function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35" dirty="0">
                <a:latin typeface="Cambria Math"/>
                <a:cs typeface="Cambria Math"/>
              </a:rPr>
              <a:t>𝑓: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  <a:endParaRPr sz="2400">
              <a:latin typeface="Cambria Math"/>
              <a:cs typeface="Cambria Math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</a:tabLst>
            </a:pP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𝑌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spc="-10" dirty="0">
                <a:solidFill>
                  <a:srgbClr val="9F2936"/>
                </a:solidFill>
                <a:latin typeface="Segoe UI"/>
                <a:cs typeface="Segoe UI"/>
              </a:rPr>
              <a:t>discrete</a:t>
            </a:r>
            <a:r>
              <a:rPr sz="2000" spc="15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valued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44770" y="3720084"/>
            <a:ext cx="405130" cy="283845"/>
          </a:xfrm>
          <a:custGeom>
            <a:avLst/>
            <a:gdLst/>
            <a:ahLst/>
            <a:cxnLst/>
            <a:rect l="l" t="t" r="r" b="b"/>
            <a:pathLst>
              <a:path w="405129" h="283845">
                <a:moveTo>
                  <a:pt x="405129" y="2667"/>
                </a:moveTo>
                <a:lnTo>
                  <a:pt x="382269" y="2667"/>
                </a:lnTo>
                <a:lnTo>
                  <a:pt x="382269" y="279654"/>
                </a:lnTo>
                <a:lnTo>
                  <a:pt x="405129" y="279654"/>
                </a:lnTo>
                <a:lnTo>
                  <a:pt x="405129" y="2667"/>
                </a:lnTo>
                <a:close/>
              </a:path>
              <a:path w="405129" h="283845">
                <a:moveTo>
                  <a:pt x="94868" y="0"/>
                </a:moveTo>
                <a:lnTo>
                  <a:pt x="91058" y="0"/>
                </a:lnTo>
                <a:lnTo>
                  <a:pt x="74650" y="1214"/>
                </a:lnTo>
                <a:lnTo>
                  <a:pt x="38734" y="16002"/>
                </a:lnTo>
                <a:lnTo>
                  <a:pt x="21661" y="59563"/>
                </a:lnTo>
                <a:lnTo>
                  <a:pt x="21558" y="65091"/>
                </a:lnTo>
                <a:lnTo>
                  <a:pt x="21677" y="68633"/>
                </a:lnTo>
                <a:lnTo>
                  <a:pt x="22320" y="75453"/>
                </a:lnTo>
                <a:lnTo>
                  <a:pt x="23391" y="82678"/>
                </a:lnTo>
                <a:lnTo>
                  <a:pt x="24891" y="90297"/>
                </a:lnTo>
                <a:lnTo>
                  <a:pt x="27177" y="100838"/>
                </a:lnTo>
                <a:lnTo>
                  <a:pt x="28447" y="107950"/>
                </a:lnTo>
                <a:lnTo>
                  <a:pt x="28447" y="118364"/>
                </a:lnTo>
                <a:lnTo>
                  <a:pt x="26034" y="123952"/>
                </a:lnTo>
                <a:lnTo>
                  <a:pt x="16637" y="132588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701"/>
                </a:lnTo>
                <a:lnTo>
                  <a:pt x="16637" y="149987"/>
                </a:lnTo>
                <a:lnTo>
                  <a:pt x="26034" y="158623"/>
                </a:lnTo>
                <a:lnTo>
                  <a:pt x="28447" y="164211"/>
                </a:lnTo>
                <a:lnTo>
                  <a:pt x="28447" y="174625"/>
                </a:lnTo>
                <a:lnTo>
                  <a:pt x="27177" y="181610"/>
                </a:lnTo>
                <a:lnTo>
                  <a:pt x="24891" y="192151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2" y="220345"/>
                </a:lnTo>
                <a:lnTo>
                  <a:pt x="22536" y="235321"/>
                </a:lnTo>
                <a:lnTo>
                  <a:pt x="48500" y="274629"/>
                </a:lnTo>
                <a:lnTo>
                  <a:pt x="91058" y="283845"/>
                </a:lnTo>
                <a:lnTo>
                  <a:pt x="94868" y="283845"/>
                </a:lnTo>
                <a:lnTo>
                  <a:pt x="94868" y="272542"/>
                </a:lnTo>
                <a:lnTo>
                  <a:pt x="92709" y="272542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5" y="223012"/>
                </a:lnTo>
                <a:lnTo>
                  <a:pt x="46924" y="217465"/>
                </a:lnTo>
                <a:lnTo>
                  <a:pt x="47482" y="211312"/>
                </a:lnTo>
                <a:lnTo>
                  <a:pt x="48396" y="204563"/>
                </a:lnTo>
                <a:lnTo>
                  <a:pt x="49656" y="197231"/>
                </a:lnTo>
                <a:lnTo>
                  <a:pt x="51688" y="186944"/>
                </a:lnTo>
                <a:lnTo>
                  <a:pt x="52704" y="179705"/>
                </a:lnTo>
                <a:lnTo>
                  <a:pt x="52704" y="166878"/>
                </a:lnTo>
                <a:lnTo>
                  <a:pt x="50164" y="160020"/>
                </a:lnTo>
                <a:lnTo>
                  <a:pt x="45212" y="154559"/>
                </a:lnTo>
                <a:lnTo>
                  <a:pt x="40258" y="149225"/>
                </a:lnTo>
                <a:lnTo>
                  <a:pt x="34289" y="145161"/>
                </a:lnTo>
                <a:lnTo>
                  <a:pt x="27558" y="142621"/>
                </a:lnTo>
                <a:lnTo>
                  <a:pt x="27558" y="139954"/>
                </a:lnTo>
                <a:lnTo>
                  <a:pt x="34289" y="137287"/>
                </a:lnTo>
                <a:lnTo>
                  <a:pt x="40258" y="133350"/>
                </a:lnTo>
                <a:lnTo>
                  <a:pt x="45212" y="127889"/>
                </a:lnTo>
                <a:lnTo>
                  <a:pt x="50164" y="122555"/>
                </a:lnTo>
                <a:lnTo>
                  <a:pt x="52704" y="115570"/>
                </a:lnTo>
                <a:lnTo>
                  <a:pt x="52704" y="102870"/>
                </a:lnTo>
                <a:lnTo>
                  <a:pt x="51688" y="95504"/>
                </a:lnTo>
                <a:lnTo>
                  <a:pt x="49656" y="85344"/>
                </a:lnTo>
                <a:lnTo>
                  <a:pt x="48396" y="77958"/>
                </a:lnTo>
                <a:lnTo>
                  <a:pt x="47482" y="71215"/>
                </a:lnTo>
                <a:lnTo>
                  <a:pt x="46924" y="65091"/>
                </a:lnTo>
                <a:lnTo>
                  <a:pt x="46735" y="59563"/>
                </a:lnTo>
                <a:lnTo>
                  <a:pt x="47497" y="47609"/>
                </a:lnTo>
                <a:lnTo>
                  <a:pt x="73485" y="14144"/>
                </a:lnTo>
                <a:lnTo>
                  <a:pt x="92709" y="11303"/>
                </a:lnTo>
                <a:lnTo>
                  <a:pt x="94868" y="11303"/>
                </a:lnTo>
                <a:lnTo>
                  <a:pt x="94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5955" y="3631183"/>
            <a:ext cx="17424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830" algn="l"/>
                <a:tab pos="1079500" algn="l"/>
              </a:tabLst>
            </a:pPr>
            <a:r>
              <a:rPr sz="2400" dirty="0">
                <a:latin typeface="Cambria Math"/>
                <a:cs typeface="Cambria Math"/>
              </a:rPr>
              <a:t>ℎ	</a:t>
            </a:r>
            <a:r>
              <a:rPr sz="2400" spc="25" dirty="0">
                <a:latin typeface="Cambria Math"/>
                <a:cs typeface="Cambria Math"/>
              </a:rPr>
              <a:t>ℎ: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spc="25" dirty="0">
                <a:latin typeface="Cambria Math"/>
                <a:cs typeface="Cambria Math"/>
              </a:rPr>
              <a:t>𝑌}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4370" y="3558630"/>
            <a:ext cx="4721860" cy="14884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function </a:t>
            </a:r>
            <a:r>
              <a:rPr sz="2400" dirty="0">
                <a:latin typeface="Segoe UI"/>
                <a:cs typeface="Segoe UI"/>
              </a:rPr>
              <a:t>hypotheses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2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</a:p>
          <a:p>
            <a:pPr marL="469900">
              <a:lnSpc>
                <a:spcPct val="100000"/>
              </a:lnSpc>
              <a:spcBef>
                <a:spcPts val="484"/>
              </a:spcBef>
              <a:tabLst>
                <a:tab pos="756285" algn="l"/>
              </a:tabLst>
            </a:pPr>
            <a:r>
              <a:rPr sz="2000" dirty="0">
                <a:solidFill>
                  <a:srgbClr val="9F2936"/>
                </a:solidFill>
                <a:latin typeface="Arial"/>
                <a:cs typeface="Arial"/>
              </a:rPr>
              <a:t>–	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Each hypothesis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ℎ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a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decision</a:t>
            </a:r>
            <a:r>
              <a:rPr sz="2000" spc="11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tree</a:t>
            </a:r>
            <a:endParaRPr sz="2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sz="2400" spc="-5" dirty="0">
                <a:latin typeface="Segoe UI"/>
                <a:cs typeface="Segoe UI"/>
              </a:rPr>
              <a:t>Input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70275" y="5170170"/>
            <a:ext cx="1348740" cy="374650"/>
          </a:xfrm>
          <a:custGeom>
            <a:avLst/>
            <a:gdLst/>
            <a:ahLst/>
            <a:cxnLst/>
            <a:rect l="l" t="t" r="r" b="b"/>
            <a:pathLst>
              <a:path w="1348739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86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90"/>
                </a:lnTo>
                <a:lnTo>
                  <a:pt x="100457" y="18415"/>
                </a:lnTo>
                <a:close/>
              </a:path>
              <a:path w="1348739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33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348739" h="374650">
                <a:moveTo>
                  <a:pt x="582549" y="103124"/>
                </a:moveTo>
                <a:lnTo>
                  <a:pt x="572947" y="50698"/>
                </a:lnTo>
                <a:lnTo>
                  <a:pt x="544804" y="13233"/>
                </a:lnTo>
                <a:lnTo>
                  <a:pt x="516763" y="0"/>
                </a:lnTo>
                <a:lnTo>
                  <a:pt x="513842" y="8382"/>
                </a:lnTo>
                <a:lnTo>
                  <a:pt x="525767" y="13576"/>
                </a:lnTo>
                <a:lnTo>
                  <a:pt x="536028" y="20751"/>
                </a:lnTo>
                <a:lnTo>
                  <a:pt x="556882" y="53924"/>
                </a:lnTo>
                <a:lnTo>
                  <a:pt x="563753" y="101981"/>
                </a:lnTo>
                <a:lnTo>
                  <a:pt x="562978" y="120180"/>
                </a:lnTo>
                <a:lnTo>
                  <a:pt x="551434" y="164719"/>
                </a:lnTo>
                <a:lnTo>
                  <a:pt x="514223" y="197739"/>
                </a:lnTo>
                <a:lnTo>
                  <a:pt x="516763" y="206121"/>
                </a:lnTo>
                <a:lnTo>
                  <a:pt x="556120" y="182676"/>
                </a:lnTo>
                <a:lnTo>
                  <a:pt x="578269" y="139496"/>
                </a:lnTo>
                <a:lnTo>
                  <a:pt x="581469" y="122034"/>
                </a:lnTo>
                <a:lnTo>
                  <a:pt x="582549" y="103124"/>
                </a:lnTo>
                <a:close/>
              </a:path>
              <a:path w="1348739" h="374650">
                <a:moveTo>
                  <a:pt x="1000252" y="8382"/>
                </a:moveTo>
                <a:lnTo>
                  <a:pt x="997331" y="0"/>
                </a:lnTo>
                <a:lnTo>
                  <a:pt x="982370" y="5410"/>
                </a:lnTo>
                <a:lnTo>
                  <a:pt x="969276" y="13233"/>
                </a:lnTo>
                <a:lnTo>
                  <a:pt x="941133" y="50698"/>
                </a:lnTo>
                <a:lnTo>
                  <a:pt x="931545" y="103124"/>
                </a:lnTo>
                <a:lnTo>
                  <a:pt x="932611" y="122034"/>
                </a:lnTo>
                <a:lnTo>
                  <a:pt x="948563" y="170053"/>
                </a:lnTo>
                <a:lnTo>
                  <a:pt x="982345" y="200723"/>
                </a:lnTo>
                <a:lnTo>
                  <a:pt x="997331" y="206121"/>
                </a:lnTo>
                <a:lnTo>
                  <a:pt x="999998" y="197739"/>
                </a:lnTo>
                <a:lnTo>
                  <a:pt x="988225" y="192532"/>
                </a:lnTo>
                <a:lnTo>
                  <a:pt x="978090" y="185280"/>
                </a:lnTo>
                <a:lnTo>
                  <a:pt x="957300" y="151523"/>
                </a:lnTo>
                <a:lnTo>
                  <a:pt x="950341" y="101981"/>
                </a:lnTo>
                <a:lnTo>
                  <a:pt x="951115" y="84442"/>
                </a:lnTo>
                <a:lnTo>
                  <a:pt x="962660" y="41033"/>
                </a:lnTo>
                <a:lnTo>
                  <a:pt x="988390" y="13576"/>
                </a:lnTo>
                <a:lnTo>
                  <a:pt x="1000252" y="8382"/>
                </a:lnTo>
                <a:close/>
              </a:path>
              <a:path w="1348739" h="374650">
                <a:moveTo>
                  <a:pt x="1205865" y="103124"/>
                </a:moveTo>
                <a:lnTo>
                  <a:pt x="1196263" y="50698"/>
                </a:lnTo>
                <a:lnTo>
                  <a:pt x="1168120" y="13233"/>
                </a:lnTo>
                <a:lnTo>
                  <a:pt x="1140079" y="0"/>
                </a:lnTo>
                <a:lnTo>
                  <a:pt x="1137158" y="8382"/>
                </a:lnTo>
                <a:lnTo>
                  <a:pt x="1149083" y="13576"/>
                </a:lnTo>
                <a:lnTo>
                  <a:pt x="1159344" y="20751"/>
                </a:lnTo>
                <a:lnTo>
                  <a:pt x="1180211" y="53924"/>
                </a:lnTo>
                <a:lnTo>
                  <a:pt x="1187069" y="101981"/>
                </a:lnTo>
                <a:lnTo>
                  <a:pt x="1186294" y="120180"/>
                </a:lnTo>
                <a:lnTo>
                  <a:pt x="1174750" y="164719"/>
                </a:lnTo>
                <a:lnTo>
                  <a:pt x="1137539" y="197739"/>
                </a:lnTo>
                <a:lnTo>
                  <a:pt x="1140079" y="206121"/>
                </a:lnTo>
                <a:lnTo>
                  <a:pt x="1179436" y="182676"/>
                </a:lnTo>
                <a:lnTo>
                  <a:pt x="1201585" y="139496"/>
                </a:lnTo>
                <a:lnTo>
                  <a:pt x="1204785" y="122034"/>
                </a:lnTo>
                <a:lnTo>
                  <a:pt x="1205865" y="103124"/>
                </a:lnTo>
                <a:close/>
              </a:path>
              <a:path w="1348739" h="374650">
                <a:moveTo>
                  <a:pt x="1348359" y="190373"/>
                </a:moveTo>
                <a:lnTo>
                  <a:pt x="1342072" y="125209"/>
                </a:lnTo>
                <a:lnTo>
                  <a:pt x="1323213" y="69469"/>
                </a:lnTo>
                <a:lnTo>
                  <a:pt x="1292733" y="28130"/>
                </a:lnTo>
                <a:lnTo>
                  <a:pt x="1251585" y="6223"/>
                </a:lnTo>
                <a:lnTo>
                  <a:pt x="1247902" y="18415"/>
                </a:lnTo>
                <a:lnTo>
                  <a:pt x="1264805" y="27178"/>
                </a:lnTo>
                <a:lnTo>
                  <a:pt x="1279525" y="39941"/>
                </a:lnTo>
                <a:lnTo>
                  <a:pt x="1302385" y="77470"/>
                </a:lnTo>
                <a:lnTo>
                  <a:pt x="1316266" y="128511"/>
                </a:lnTo>
                <a:lnTo>
                  <a:pt x="1320927" y="190500"/>
                </a:lnTo>
                <a:lnTo>
                  <a:pt x="1319758" y="222770"/>
                </a:lnTo>
                <a:lnTo>
                  <a:pt x="1310474" y="279158"/>
                </a:lnTo>
                <a:lnTo>
                  <a:pt x="1292047" y="323977"/>
                </a:lnTo>
                <a:lnTo>
                  <a:pt x="1264805" y="353453"/>
                </a:lnTo>
                <a:lnTo>
                  <a:pt x="1247902" y="362204"/>
                </a:lnTo>
                <a:lnTo>
                  <a:pt x="1251585" y="374396"/>
                </a:lnTo>
                <a:lnTo>
                  <a:pt x="1292733" y="352488"/>
                </a:lnTo>
                <a:lnTo>
                  <a:pt x="1323213" y="311150"/>
                </a:lnTo>
                <a:lnTo>
                  <a:pt x="1342059" y="255435"/>
                </a:lnTo>
                <a:lnTo>
                  <a:pt x="1346784" y="224078"/>
                </a:lnTo>
                <a:lnTo>
                  <a:pt x="1348359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64023" y="5170170"/>
            <a:ext cx="1438275" cy="374650"/>
          </a:xfrm>
          <a:custGeom>
            <a:avLst/>
            <a:gdLst/>
            <a:ahLst/>
            <a:cxnLst/>
            <a:rect l="l" t="t" r="r" b="b"/>
            <a:pathLst>
              <a:path w="1438275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73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90"/>
                </a:lnTo>
                <a:lnTo>
                  <a:pt x="100457" y="18415"/>
                </a:lnTo>
                <a:close/>
              </a:path>
              <a:path w="1438275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33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438275" h="374650">
                <a:moveTo>
                  <a:pt x="626745" y="103124"/>
                </a:moveTo>
                <a:lnTo>
                  <a:pt x="617143" y="50698"/>
                </a:lnTo>
                <a:lnTo>
                  <a:pt x="589000" y="13233"/>
                </a:lnTo>
                <a:lnTo>
                  <a:pt x="560959" y="0"/>
                </a:lnTo>
                <a:lnTo>
                  <a:pt x="558038" y="8382"/>
                </a:lnTo>
                <a:lnTo>
                  <a:pt x="569963" y="13576"/>
                </a:lnTo>
                <a:lnTo>
                  <a:pt x="580224" y="20751"/>
                </a:lnTo>
                <a:lnTo>
                  <a:pt x="601091" y="53924"/>
                </a:lnTo>
                <a:lnTo>
                  <a:pt x="607949" y="101981"/>
                </a:lnTo>
                <a:lnTo>
                  <a:pt x="607174" y="120180"/>
                </a:lnTo>
                <a:lnTo>
                  <a:pt x="595630" y="164719"/>
                </a:lnTo>
                <a:lnTo>
                  <a:pt x="558419" y="197739"/>
                </a:lnTo>
                <a:lnTo>
                  <a:pt x="560959" y="206121"/>
                </a:lnTo>
                <a:lnTo>
                  <a:pt x="600316" y="182676"/>
                </a:lnTo>
                <a:lnTo>
                  <a:pt x="622465" y="139496"/>
                </a:lnTo>
                <a:lnTo>
                  <a:pt x="625665" y="122034"/>
                </a:lnTo>
                <a:lnTo>
                  <a:pt x="626745" y="103124"/>
                </a:lnTo>
                <a:close/>
              </a:path>
              <a:path w="1438275" h="374650">
                <a:moveTo>
                  <a:pt x="1044448" y="8382"/>
                </a:moveTo>
                <a:lnTo>
                  <a:pt x="1041527" y="0"/>
                </a:lnTo>
                <a:lnTo>
                  <a:pt x="1026566" y="5410"/>
                </a:lnTo>
                <a:lnTo>
                  <a:pt x="1013472" y="13233"/>
                </a:lnTo>
                <a:lnTo>
                  <a:pt x="985329" y="50698"/>
                </a:lnTo>
                <a:lnTo>
                  <a:pt x="975741" y="103124"/>
                </a:lnTo>
                <a:lnTo>
                  <a:pt x="976807" y="122034"/>
                </a:lnTo>
                <a:lnTo>
                  <a:pt x="992759" y="170053"/>
                </a:lnTo>
                <a:lnTo>
                  <a:pt x="1026541" y="200723"/>
                </a:lnTo>
                <a:lnTo>
                  <a:pt x="1041527" y="206121"/>
                </a:lnTo>
                <a:lnTo>
                  <a:pt x="1044194" y="197739"/>
                </a:lnTo>
                <a:lnTo>
                  <a:pt x="1032421" y="192532"/>
                </a:lnTo>
                <a:lnTo>
                  <a:pt x="1022286" y="185280"/>
                </a:lnTo>
                <a:lnTo>
                  <a:pt x="1001496" y="151523"/>
                </a:lnTo>
                <a:lnTo>
                  <a:pt x="994537" y="101981"/>
                </a:lnTo>
                <a:lnTo>
                  <a:pt x="995311" y="84442"/>
                </a:lnTo>
                <a:lnTo>
                  <a:pt x="1006856" y="41033"/>
                </a:lnTo>
                <a:lnTo>
                  <a:pt x="1032586" y="13576"/>
                </a:lnTo>
                <a:lnTo>
                  <a:pt x="1044448" y="8382"/>
                </a:lnTo>
                <a:close/>
              </a:path>
              <a:path w="1438275" h="374650">
                <a:moveTo>
                  <a:pt x="1294257" y="103124"/>
                </a:moveTo>
                <a:lnTo>
                  <a:pt x="1284655" y="50698"/>
                </a:lnTo>
                <a:lnTo>
                  <a:pt x="1256512" y="13233"/>
                </a:lnTo>
                <a:lnTo>
                  <a:pt x="1228471" y="0"/>
                </a:lnTo>
                <a:lnTo>
                  <a:pt x="1225550" y="8382"/>
                </a:lnTo>
                <a:lnTo>
                  <a:pt x="1237475" y="13576"/>
                </a:lnTo>
                <a:lnTo>
                  <a:pt x="1247736" y="20751"/>
                </a:lnTo>
                <a:lnTo>
                  <a:pt x="1268603" y="53924"/>
                </a:lnTo>
                <a:lnTo>
                  <a:pt x="1275448" y="101981"/>
                </a:lnTo>
                <a:lnTo>
                  <a:pt x="1274686" y="120180"/>
                </a:lnTo>
                <a:lnTo>
                  <a:pt x="1263142" y="164719"/>
                </a:lnTo>
                <a:lnTo>
                  <a:pt x="1225931" y="197739"/>
                </a:lnTo>
                <a:lnTo>
                  <a:pt x="1228471" y="206121"/>
                </a:lnTo>
                <a:lnTo>
                  <a:pt x="1267828" y="182676"/>
                </a:lnTo>
                <a:lnTo>
                  <a:pt x="1289977" y="139496"/>
                </a:lnTo>
                <a:lnTo>
                  <a:pt x="1293177" y="122034"/>
                </a:lnTo>
                <a:lnTo>
                  <a:pt x="1294257" y="103124"/>
                </a:lnTo>
                <a:close/>
              </a:path>
              <a:path w="1438275" h="374650">
                <a:moveTo>
                  <a:pt x="1438275" y="190373"/>
                </a:moveTo>
                <a:lnTo>
                  <a:pt x="1431988" y="125209"/>
                </a:lnTo>
                <a:lnTo>
                  <a:pt x="1413129" y="69469"/>
                </a:lnTo>
                <a:lnTo>
                  <a:pt x="1382649" y="28130"/>
                </a:lnTo>
                <a:lnTo>
                  <a:pt x="1341501" y="6223"/>
                </a:lnTo>
                <a:lnTo>
                  <a:pt x="1337818" y="18415"/>
                </a:lnTo>
                <a:lnTo>
                  <a:pt x="1354721" y="27178"/>
                </a:lnTo>
                <a:lnTo>
                  <a:pt x="1369428" y="39941"/>
                </a:lnTo>
                <a:lnTo>
                  <a:pt x="1392301" y="77470"/>
                </a:lnTo>
                <a:lnTo>
                  <a:pt x="1406182" y="128511"/>
                </a:lnTo>
                <a:lnTo>
                  <a:pt x="1410843" y="190500"/>
                </a:lnTo>
                <a:lnTo>
                  <a:pt x="1409674" y="222770"/>
                </a:lnTo>
                <a:lnTo>
                  <a:pt x="1400390" y="279158"/>
                </a:lnTo>
                <a:lnTo>
                  <a:pt x="1381963" y="323977"/>
                </a:lnTo>
                <a:lnTo>
                  <a:pt x="1354721" y="353453"/>
                </a:lnTo>
                <a:lnTo>
                  <a:pt x="1337818" y="362204"/>
                </a:lnTo>
                <a:lnTo>
                  <a:pt x="1341501" y="374396"/>
                </a:lnTo>
                <a:lnTo>
                  <a:pt x="1382636" y="352488"/>
                </a:lnTo>
                <a:lnTo>
                  <a:pt x="1413129" y="311150"/>
                </a:lnTo>
                <a:lnTo>
                  <a:pt x="1431988" y="255435"/>
                </a:lnTo>
                <a:lnTo>
                  <a:pt x="1436700" y="224078"/>
                </a:lnTo>
                <a:lnTo>
                  <a:pt x="1438275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08220" y="5131053"/>
            <a:ext cx="3766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6420" algn="l"/>
                <a:tab pos="1921510" algn="l"/>
              </a:tabLst>
            </a:pP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	𝑥  </a:t>
            </a:r>
            <a:r>
              <a:rPr sz="2625" spc="60" baseline="28571" dirty="0">
                <a:latin typeface="Cambria Math"/>
                <a:cs typeface="Cambria Math"/>
              </a:rPr>
              <a:t>𝑁 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3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625" spc="60" baseline="28571" dirty="0">
                <a:latin typeface="Cambria Math"/>
                <a:cs typeface="Cambria Math"/>
              </a:rPr>
              <a:t>𝑁	</a:t>
            </a:r>
            <a:r>
              <a:rPr sz="2400" dirty="0">
                <a:latin typeface="Cambria Math"/>
                <a:cs typeface="Cambria Math"/>
              </a:rPr>
              <a:t>} </a:t>
            </a:r>
            <a:r>
              <a:rPr sz="2400" spc="-30" dirty="0">
                <a:latin typeface="Segoe UI"/>
                <a:cs typeface="Segoe UI"/>
              </a:rPr>
              <a:t>of</a:t>
            </a:r>
            <a:r>
              <a:rPr sz="2400" spc="8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unknown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970" y="5103903"/>
            <a:ext cx="4194175" cy="12509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380365" algn="l"/>
                <a:tab pos="381000" algn="l"/>
                <a:tab pos="3131820" algn="l"/>
              </a:tabLst>
            </a:pPr>
            <a:r>
              <a:rPr sz="2400" spc="-30" dirty="0">
                <a:latin typeface="Segoe UI"/>
                <a:cs typeface="Segoe UI"/>
              </a:rPr>
              <a:t>Training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examples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{	𝑥 </a:t>
            </a:r>
            <a:r>
              <a:rPr sz="2625" spc="60" baseline="28571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𝑦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lang="en-US" sz="2400" spc="-135" dirty="0">
                <a:latin typeface="Cambria Math"/>
                <a:cs typeface="Cambria Math"/>
              </a:rPr>
              <a:t>  </a:t>
            </a:r>
            <a:r>
              <a:rPr lang="en-US" sz="2625" spc="60" baseline="28571" dirty="0">
                <a:latin typeface="Cambria Math"/>
                <a:cs typeface="Cambria Math"/>
              </a:rPr>
              <a:t>1</a:t>
            </a:r>
            <a:endParaRPr sz="2625" baseline="28571" dirty="0">
              <a:latin typeface="Cambria Math"/>
              <a:cs typeface="Cambria Math"/>
            </a:endParaRPr>
          </a:p>
          <a:p>
            <a:pPr marL="381000">
              <a:lnSpc>
                <a:spcPct val="100000"/>
              </a:lnSpc>
              <a:spcBef>
                <a:spcPts val="220"/>
              </a:spcBef>
            </a:pP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Segoe UI"/>
                <a:cs typeface="Segoe UI"/>
              </a:rPr>
              <a:t>Output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4370" y="6402425"/>
            <a:ext cx="8262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2254250" algn="l"/>
              </a:tabLst>
            </a:pPr>
            <a:r>
              <a:rPr sz="2400" spc="-5" dirty="0">
                <a:latin typeface="Segoe UI"/>
                <a:cs typeface="Segoe UI"/>
              </a:rPr>
              <a:t>Hypothesis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ℎ	∈ 𝐻 </a:t>
            </a:r>
            <a:r>
              <a:rPr sz="2400" dirty="0">
                <a:latin typeface="Segoe UI"/>
                <a:cs typeface="Segoe UI"/>
              </a:rPr>
              <a:t>that best </a:t>
            </a:r>
            <a:r>
              <a:rPr sz="2400" spc="-10" dirty="0">
                <a:latin typeface="Segoe UI"/>
                <a:cs typeface="Segoe UI"/>
              </a:rPr>
              <a:t>approximates </a:t>
            </a: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29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9180" y="483234"/>
            <a:ext cx="54870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Decision </a:t>
            </a:r>
            <a:r>
              <a:rPr sz="4400" spc="-135" dirty="0"/>
              <a:t>Tree</a:t>
            </a:r>
            <a:r>
              <a:rPr sz="4400" spc="-60" dirty="0"/>
              <a:t> </a:t>
            </a:r>
            <a:r>
              <a:rPr sz="4400" spc="-5" dirty="0"/>
              <a:t>Learning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281545" cy="464058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  <a:tab pos="4970780" algn="l"/>
              </a:tabLst>
            </a:pPr>
            <a:r>
              <a:rPr sz="3200" spc="-5" dirty="0">
                <a:latin typeface="Segoe UI"/>
                <a:cs typeface="Segoe UI"/>
              </a:rPr>
              <a:t>Finding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2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hypothesis</a:t>
            </a:r>
            <a:r>
              <a:rPr sz="3200" spc="5" dirty="0">
                <a:latin typeface="Segoe UI"/>
                <a:cs typeface="Segoe UI"/>
              </a:rPr>
              <a:t> </a:t>
            </a:r>
            <a:r>
              <a:rPr sz="3200" dirty="0">
                <a:latin typeface="Cambria Math"/>
                <a:cs typeface="Cambria Math"/>
              </a:rPr>
              <a:t>ℎ	∈</a:t>
            </a:r>
            <a:r>
              <a:rPr sz="3200" spc="17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𝐻</a:t>
            </a:r>
            <a:endParaRPr sz="3200">
              <a:latin typeface="Cambria Math"/>
              <a:cs typeface="Cambria Math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That </a:t>
            </a:r>
            <a:r>
              <a:rPr sz="2800" spc="-10" dirty="0">
                <a:latin typeface="Segoe UI"/>
                <a:cs typeface="Segoe UI"/>
              </a:rPr>
              <a:t>minimizes </a:t>
            </a:r>
            <a:r>
              <a:rPr sz="2800" spc="-5" dirty="0">
                <a:latin typeface="Segoe UI"/>
                <a:cs typeface="Segoe UI"/>
              </a:rPr>
              <a:t>training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error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Or maximizes training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accuracy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–"/>
            </a:pPr>
            <a:endParaRPr sz="36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How?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  <a:tab pos="1201420" algn="l"/>
              </a:tabLst>
            </a:pPr>
            <a:r>
              <a:rPr sz="2800" spc="-5" dirty="0">
                <a:latin typeface="Cambria Math"/>
                <a:cs typeface="Cambria Math"/>
              </a:rPr>
              <a:t>𝐻	</a:t>
            </a:r>
            <a:r>
              <a:rPr sz="2800" spc="-5" dirty="0">
                <a:latin typeface="Segoe UI"/>
                <a:cs typeface="Segoe UI"/>
              </a:rPr>
              <a:t>is </a:t>
            </a:r>
            <a:r>
              <a:rPr sz="2800" spc="-15" dirty="0">
                <a:latin typeface="Segoe UI"/>
                <a:cs typeface="Segoe UI"/>
              </a:rPr>
              <a:t>too large </a:t>
            </a:r>
            <a:r>
              <a:rPr sz="2800" spc="-5" dirty="0">
                <a:latin typeface="Segoe UI"/>
                <a:cs typeface="Segoe UI"/>
              </a:rPr>
              <a:t>for exhaustive </a:t>
            </a:r>
            <a:r>
              <a:rPr sz="2800" spc="-10" dirty="0">
                <a:latin typeface="Segoe UI"/>
                <a:cs typeface="Segoe UI"/>
              </a:rPr>
              <a:t>search!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40" dirty="0">
                <a:latin typeface="Segoe UI"/>
                <a:cs typeface="Segoe UI"/>
              </a:rPr>
              <a:t>We </a:t>
            </a:r>
            <a:r>
              <a:rPr sz="2800" spc="-10" dirty="0">
                <a:latin typeface="Segoe UI"/>
                <a:cs typeface="Segoe UI"/>
              </a:rPr>
              <a:t>will </a:t>
            </a:r>
            <a:r>
              <a:rPr sz="2800" spc="-5" dirty="0">
                <a:latin typeface="Segoe UI"/>
                <a:cs typeface="Segoe UI"/>
              </a:rPr>
              <a:t>use a </a:t>
            </a:r>
            <a:r>
              <a:rPr sz="2800" b="1" spc="-5" dirty="0">
                <a:latin typeface="Segoe UI"/>
                <a:cs typeface="Segoe UI"/>
              </a:rPr>
              <a:t>heuristic search</a:t>
            </a:r>
            <a:r>
              <a:rPr sz="2800" b="1" spc="7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algorithm</a:t>
            </a:r>
            <a:endParaRPr sz="28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Pick questions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spc="20" dirty="0">
                <a:latin typeface="Segoe UI"/>
                <a:cs typeface="Segoe UI"/>
              </a:rPr>
              <a:t>ask, </a:t>
            </a:r>
            <a:r>
              <a:rPr sz="2400" spc="-5" dirty="0">
                <a:latin typeface="Segoe UI"/>
                <a:cs typeface="Segoe UI"/>
              </a:rPr>
              <a:t>in</a:t>
            </a:r>
            <a:r>
              <a:rPr sz="2400" spc="5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order</a:t>
            </a:r>
            <a:endParaRPr sz="24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Segoe UI"/>
                <a:cs typeface="Segoe UI"/>
              </a:rPr>
              <a:t>Such </a:t>
            </a:r>
            <a:r>
              <a:rPr sz="2400" dirty="0">
                <a:latin typeface="Segoe UI"/>
                <a:cs typeface="Segoe UI"/>
              </a:rPr>
              <a:t>that </a:t>
            </a:r>
            <a:r>
              <a:rPr sz="2400" spc="-5" dirty="0">
                <a:latin typeface="Segoe UI"/>
                <a:cs typeface="Segoe UI"/>
              </a:rPr>
              <a:t>classification accuracy is</a:t>
            </a:r>
            <a:r>
              <a:rPr sz="2400" spc="16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maximized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9325" y="147955"/>
            <a:ext cx="470662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140" marR="5080" indent="-473075">
              <a:lnSpc>
                <a:spcPct val="100000"/>
              </a:lnSpc>
              <a:spcBef>
                <a:spcPts val="100"/>
              </a:spcBef>
            </a:pPr>
            <a:r>
              <a:rPr sz="4400" spc="-90" dirty="0"/>
              <a:t>Top-down </a:t>
            </a:r>
            <a:r>
              <a:rPr sz="4400" spc="-5" dirty="0"/>
              <a:t>Induction  </a:t>
            </a:r>
            <a:r>
              <a:rPr sz="4400" spc="-60" dirty="0"/>
              <a:t>of </a:t>
            </a:r>
            <a:r>
              <a:rPr sz="4400" spc="-5" dirty="0"/>
              <a:t>Decision</a:t>
            </a:r>
            <a:r>
              <a:rPr sz="4400" spc="10" dirty="0"/>
              <a:t> </a:t>
            </a:r>
            <a:r>
              <a:rPr sz="4400" spc="-135" dirty="0"/>
              <a:t>Trees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983689"/>
            <a:ext cx="8128634" cy="33324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onsolas"/>
                <a:cs typeface="Consolas"/>
              </a:rPr>
              <a:t>CurrentNode =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Root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DTtrain(examples </a:t>
            </a:r>
            <a:r>
              <a:rPr sz="2000" spc="-5" dirty="0">
                <a:latin typeface="Consolas"/>
                <a:cs typeface="Consolas"/>
              </a:rPr>
              <a:t>for CurrentNode,features at</a:t>
            </a:r>
            <a:r>
              <a:rPr sz="2000" spc="5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CurrentNode):</a:t>
            </a:r>
            <a:endParaRPr sz="2000" dirty="0">
              <a:latin typeface="Consolas"/>
              <a:cs typeface="Consolas"/>
            </a:endParaRPr>
          </a:p>
          <a:p>
            <a:pPr marL="812800" indent="-343535">
              <a:lnSpc>
                <a:spcPct val="100000"/>
              </a:lnSpc>
              <a:spcBef>
                <a:spcPts val="440"/>
              </a:spcBef>
              <a:buAutoNum type="arabicPeriod"/>
              <a:tabLst>
                <a:tab pos="813435" algn="l"/>
              </a:tabLst>
            </a:pPr>
            <a:r>
              <a:rPr sz="1800" spc="-5" dirty="0">
                <a:latin typeface="Consolas"/>
                <a:cs typeface="Consolas"/>
              </a:rPr>
              <a:t>Find F, the “best” decision feature for next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node</a:t>
            </a:r>
            <a:endParaRPr sz="1800" dirty="0">
              <a:latin typeface="Consolas"/>
              <a:cs typeface="Consolas"/>
            </a:endParaRPr>
          </a:p>
          <a:p>
            <a:pPr marL="812800" indent="-34353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813435" algn="l"/>
              </a:tabLst>
            </a:pPr>
            <a:r>
              <a:rPr sz="1800" spc="-10" dirty="0">
                <a:latin typeface="Consolas"/>
                <a:cs typeface="Consolas"/>
              </a:rPr>
              <a:t>For </a:t>
            </a:r>
            <a:r>
              <a:rPr sz="1800" spc="-5" dirty="0">
                <a:latin typeface="Consolas"/>
                <a:cs typeface="Consolas"/>
              </a:rPr>
              <a:t>each value of </a:t>
            </a:r>
            <a:r>
              <a:rPr sz="1800" spc="-10" dirty="0">
                <a:latin typeface="Consolas"/>
                <a:cs typeface="Consolas"/>
              </a:rPr>
              <a:t>F, create </a:t>
            </a:r>
            <a:r>
              <a:rPr sz="1800" dirty="0">
                <a:latin typeface="Consolas"/>
                <a:cs typeface="Consolas"/>
              </a:rPr>
              <a:t>new </a:t>
            </a:r>
            <a:r>
              <a:rPr sz="1800" spc="-5" dirty="0">
                <a:latin typeface="Consolas"/>
                <a:cs typeface="Consolas"/>
              </a:rPr>
              <a:t>descendant </a:t>
            </a:r>
            <a:r>
              <a:rPr sz="1800" dirty="0">
                <a:latin typeface="Consolas"/>
                <a:cs typeface="Consolas"/>
              </a:rPr>
              <a:t>of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node</a:t>
            </a:r>
            <a:endParaRPr sz="1800" dirty="0">
              <a:latin typeface="Consolas"/>
              <a:cs typeface="Consolas"/>
            </a:endParaRPr>
          </a:p>
          <a:p>
            <a:pPr marL="812800" indent="-34353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813435" algn="l"/>
              </a:tabLst>
            </a:pPr>
            <a:r>
              <a:rPr sz="1800" spc="-5" dirty="0">
                <a:latin typeface="Consolas"/>
                <a:cs typeface="Consolas"/>
              </a:rPr>
              <a:t>Sort training examples </a:t>
            </a:r>
            <a:r>
              <a:rPr sz="1800" dirty="0">
                <a:latin typeface="Consolas"/>
                <a:cs typeface="Consolas"/>
              </a:rPr>
              <a:t>to </a:t>
            </a:r>
            <a:r>
              <a:rPr sz="1800" spc="-5" dirty="0">
                <a:latin typeface="Consolas"/>
                <a:cs typeface="Consolas"/>
              </a:rPr>
              <a:t>leaf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nodes</a:t>
            </a:r>
            <a:endParaRPr sz="1800" dirty="0">
              <a:latin typeface="Consolas"/>
              <a:cs typeface="Consolas"/>
            </a:endParaRPr>
          </a:p>
          <a:p>
            <a:pPr marL="812800" indent="-34353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813435" algn="l"/>
              </a:tabLst>
            </a:pPr>
            <a:r>
              <a:rPr sz="1800" spc="-5" dirty="0">
                <a:latin typeface="Consolas"/>
                <a:cs typeface="Consolas"/>
              </a:rPr>
              <a:t>If training examples perfectly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classified</a:t>
            </a:r>
            <a:r>
              <a:rPr lang="en-US" sz="1800" spc="-5" dirty="0">
                <a:latin typeface="Consolas"/>
                <a:cs typeface="Consolas"/>
              </a:rPr>
              <a:t> at leaf</a:t>
            </a:r>
            <a:endParaRPr sz="18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405"/>
              </a:spcBef>
            </a:pPr>
            <a:r>
              <a:rPr sz="1600" spc="-10" dirty="0">
                <a:latin typeface="Consolas"/>
                <a:cs typeface="Consolas"/>
              </a:rPr>
              <a:t>Stop</a:t>
            </a:r>
            <a:endParaRPr sz="1600" dirty="0">
              <a:latin typeface="Consolas"/>
              <a:cs typeface="Consolas"/>
            </a:endParaRPr>
          </a:p>
          <a:p>
            <a:pPr marL="720090">
              <a:lnSpc>
                <a:spcPct val="100000"/>
              </a:lnSpc>
              <a:spcBef>
                <a:spcPts val="409"/>
              </a:spcBef>
            </a:pPr>
            <a:r>
              <a:rPr sz="1800" spc="-5" dirty="0">
                <a:latin typeface="Consolas"/>
                <a:cs typeface="Consolas"/>
              </a:rPr>
              <a:t>Else</a:t>
            </a:r>
            <a:endParaRPr sz="18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Consolas"/>
                <a:cs typeface="Consolas"/>
              </a:rPr>
              <a:t>Recursively </a:t>
            </a:r>
            <a:r>
              <a:rPr sz="1800" spc="-10" dirty="0">
                <a:latin typeface="Consolas"/>
                <a:cs typeface="Consolas"/>
              </a:rPr>
              <a:t>apply </a:t>
            </a:r>
            <a:r>
              <a:rPr sz="1800" spc="-5" dirty="0">
                <a:latin typeface="Consolas"/>
                <a:cs typeface="Consolas"/>
              </a:rPr>
              <a:t>DTtrain over </a:t>
            </a:r>
            <a:r>
              <a:rPr sz="1800" dirty="0">
                <a:latin typeface="Consolas"/>
                <a:cs typeface="Consolas"/>
              </a:rPr>
              <a:t>new </a:t>
            </a:r>
            <a:r>
              <a:rPr sz="1800" spc="-5" dirty="0">
                <a:latin typeface="Consolas"/>
                <a:cs typeface="Consolas"/>
              </a:rPr>
              <a:t>leaf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nodes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577" y="483234"/>
            <a:ext cx="76307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How to </a:t>
            </a:r>
            <a:r>
              <a:rPr sz="4400" spc="-5" dirty="0"/>
              <a:t>select </a:t>
            </a:r>
            <a:r>
              <a:rPr sz="4400" dirty="0"/>
              <a:t>the “best”</a:t>
            </a:r>
            <a:r>
              <a:rPr sz="4400" spc="-50" dirty="0"/>
              <a:t> </a:t>
            </a:r>
            <a:r>
              <a:rPr sz="4400" spc="-10" dirty="0"/>
              <a:t>feature?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855432" cy="4336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dirty="0">
                <a:latin typeface="Segoe UI"/>
                <a:cs typeface="Segoe UI"/>
              </a:rPr>
              <a:t>good </a:t>
            </a:r>
            <a:r>
              <a:rPr sz="2800" spc="-10" dirty="0">
                <a:latin typeface="Segoe UI"/>
                <a:cs typeface="Segoe UI"/>
              </a:rPr>
              <a:t>feature </a:t>
            </a:r>
            <a:r>
              <a:rPr sz="2800" spc="-5" dirty="0">
                <a:latin typeface="Segoe UI"/>
                <a:cs typeface="Segoe UI"/>
              </a:rPr>
              <a:t>is a </a:t>
            </a:r>
            <a:r>
              <a:rPr sz="2800" spc="-10" dirty="0">
                <a:latin typeface="Segoe UI"/>
                <a:cs typeface="Segoe UI"/>
              </a:rPr>
              <a:t>feature </a:t>
            </a:r>
            <a:r>
              <a:rPr sz="2800" spc="-5" dirty="0">
                <a:latin typeface="Segoe UI"/>
                <a:cs typeface="Segoe UI"/>
              </a:rPr>
              <a:t>that </a:t>
            </a:r>
            <a:r>
              <a:rPr sz="2800" spc="-10" dirty="0">
                <a:latin typeface="Segoe UI"/>
                <a:cs typeface="Segoe UI"/>
              </a:rPr>
              <a:t>lets </a:t>
            </a:r>
            <a:r>
              <a:rPr sz="2800" spc="-5" dirty="0">
                <a:latin typeface="Segoe UI"/>
                <a:cs typeface="Segoe UI"/>
              </a:rPr>
              <a:t>us </a:t>
            </a:r>
            <a:r>
              <a:rPr sz="2800" spc="-15" dirty="0">
                <a:latin typeface="Segoe UI"/>
                <a:cs typeface="Segoe UI"/>
              </a:rPr>
              <a:t>make  </a:t>
            </a:r>
            <a:r>
              <a:rPr sz="2800" spc="-10" dirty="0">
                <a:latin typeface="Segoe UI"/>
                <a:cs typeface="Segoe UI"/>
              </a:rPr>
              <a:t>correct </a:t>
            </a:r>
            <a:r>
              <a:rPr sz="2800" spc="-5" dirty="0">
                <a:latin typeface="Segoe UI"/>
                <a:cs typeface="Segoe UI"/>
              </a:rPr>
              <a:t>classification</a:t>
            </a:r>
            <a:r>
              <a:rPr sz="2800" spc="-4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decision</a:t>
            </a:r>
            <a:endParaRPr sz="35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Criteria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10" dirty="0">
                <a:latin typeface="Segoe UI"/>
                <a:cs typeface="Segoe UI"/>
              </a:rPr>
              <a:t>measure </a:t>
            </a:r>
            <a:r>
              <a:rPr sz="2800" spc="-5" dirty="0">
                <a:latin typeface="Segoe UI"/>
                <a:cs typeface="Segoe UI"/>
              </a:rPr>
              <a:t>how good a </a:t>
            </a:r>
            <a:r>
              <a:rPr sz="2800" spc="-10" dirty="0">
                <a:latin typeface="Segoe UI"/>
                <a:cs typeface="Segoe UI"/>
              </a:rPr>
              <a:t>feature</a:t>
            </a:r>
            <a:r>
              <a:rPr sz="2800" spc="6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is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400" spc="-5" dirty="0">
                <a:latin typeface="Segoe UI"/>
                <a:cs typeface="Segoe UI"/>
              </a:rPr>
              <a:t>C</a:t>
            </a:r>
            <a:r>
              <a:rPr sz="2400" spc="-5" dirty="0">
                <a:latin typeface="Segoe UI"/>
                <a:cs typeface="Segoe UI"/>
              </a:rPr>
              <a:t>lassification</a:t>
            </a:r>
            <a:r>
              <a:rPr sz="2400" spc="5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accuracy</a:t>
            </a:r>
            <a:endParaRPr sz="24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400" spc="-5" dirty="0">
                <a:latin typeface="Segoe UI"/>
                <a:cs typeface="Segoe UI"/>
              </a:rPr>
              <a:t>Information Gain (using </a:t>
            </a:r>
            <a:r>
              <a:rPr sz="2400" spc="-5" dirty="0">
                <a:latin typeface="Segoe UI"/>
                <a:cs typeface="Segoe UI"/>
              </a:rPr>
              <a:t>entropy</a:t>
            </a:r>
            <a:r>
              <a:rPr lang="en-US" sz="2400" spc="-5" dirty="0">
                <a:latin typeface="Segoe UI"/>
                <a:cs typeface="Segoe UI"/>
              </a:rPr>
              <a:t>)</a:t>
            </a: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400" spc="-5" dirty="0">
                <a:latin typeface="Segoe UI"/>
                <a:cs typeface="Segoe UI"/>
              </a:rPr>
              <a:t>The GINI Index (used in CART, IBM </a:t>
            </a:r>
            <a:r>
              <a:rPr lang="en-US" sz="2400" spc="-5" dirty="0" err="1">
                <a:latin typeface="Segoe UI"/>
                <a:cs typeface="Segoe UI"/>
              </a:rPr>
              <a:t>IntelligentMiner</a:t>
            </a:r>
            <a:r>
              <a:rPr lang="en-US" sz="2400" spc="-5" dirty="0">
                <a:latin typeface="Segoe UI"/>
                <a:cs typeface="Segoe UI"/>
              </a:rPr>
              <a:t>)</a:t>
            </a:r>
          </a:p>
          <a:p>
            <a:pPr marL="1213485" lvl="2" indent="-287020"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400" dirty="0">
                <a:latin typeface="Segoe UI"/>
                <a:cs typeface="Segoe UI"/>
                <a:hlinkClick r:id="rId2"/>
              </a:rPr>
              <a:t>https://www.slideshare.net/amrsb/decision-trees-for-machine-learning</a:t>
            </a:r>
            <a:r>
              <a:rPr lang="en-US" sz="2400" spc="-5" dirty="0">
                <a:latin typeface="Segoe UI"/>
                <a:cs typeface="Segoe UI"/>
              </a:rPr>
              <a:t> </a:t>
            </a:r>
            <a:endParaRPr sz="2400" dirty="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245" dirty="0">
                <a:latin typeface="Arial"/>
                <a:cs typeface="Arial"/>
              </a:rPr>
              <a:t> </a:t>
            </a:r>
            <a:r>
              <a:rPr sz="2400" dirty="0">
                <a:latin typeface="Segoe UI"/>
                <a:cs typeface="Segoe UI"/>
              </a:rPr>
              <a:t>…</a:t>
            </a:r>
            <a:endParaRPr sz="305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5" dirty="0">
                <a:latin typeface="Segoe UI"/>
                <a:cs typeface="Segoe UI"/>
              </a:rPr>
              <a:t>Let’s </a:t>
            </a:r>
            <a:r>
              <a:rPr sz="2800" spc="30" dirty="0">
                <a:latin typeface="Segoe UI"/>
                <a:cs typeface="Segoe UI"/>
              </a:rPr>
              <a:t>try </a:t>
            </a:r>
            <a:r>
              <a:rPr lang="en-US" sz="2800" spc="-10" dirty="0">
                <a:latin typeface="Segoe UI"/>
                <a:cs typeface="Segoe UI"/>
              </a:rPr>
              <a:t>some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dirty="0">
                <a:latin typeface="Segoe UI"/>
                <a:cs typeface="Segoe UI"/>
              </a:rPr>
              <a:t>on </a:t>
            </a:r>
            <a:r>
              <a:rPr sz="2800" spc="-5" dirty="0">
                <a:latin typeface="Segoe UI"/>
                <a:cs typeface="Segoe UI"/>
              </a:rPr>
              <a:t>the </a:t>
            </a:r>
            <a:r>
              <a:rPr sz="2800" spc="-35" dirty="0">
                <a:latin typeface="Segoe UI"/>
                <a:cs typeface="Segoe UI"/>
              </a:rPr>
              <a:t>PlayTennis</a:t>
            </a:r>
            <a:r>
              <a:rPr sz="2800" spc="-2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dataset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1729" y="147955"/>
            <a:ext cx="586105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tabLst>
                <a:tab pos="4522470" algn="l"/>
              </a:tabLst>
            </a:pPr>
            <a:r>
              <a:rPr sz="4400" spc="-80" dirty="0"/>
              <a:t>Let’s </a:t>
            </a:r>
            <a:r>
              <a:rPr sz="4400" spc="-5" dirty="0"/>
              <a:t>build </a:t>
            </a:r>
            <a:r>
              <a:rPr sz="4400" dirty="0"/>
              <a:t>a </a:t>
            </a:r>
            <a:r>
              <a:rPr sz="4400" spc="-5" dirty="0"/>
              <a:t>decision </a:t>
            </a:r>
            <a:r>
              <a:rPr sz="4400" spc="-20" dirty="0"/>
              <a:t>tree  </a:t>
            </a:r>
            <a:r>
              <a:rPr sz="4400" spc="-10" dirty="0"/>
              <a:t>using</a:t>
            </a:r>
            <a:r>
              <a:rPr sz="4400" spc="20" dirty="0"/>
              <a:t> </a:t>
            </a:r>
            <a:r>
              <a:rPr sz="4400" spc="-15" dirty="0"/>
              <a:t>features</a:t>
            </a:r>
            <a:r>
              <a:rPr sz="4400" spc="20" dirty="0"/>
              <a:t> </a:t>
            </a:r>
            <a:r>
              <a:rPr sz="4400" spc="-200" dirty="0"/>
              <a:t>W,	</a:t>
            </a:r>
            <a:r>
              <a:rPr sz="4400" dirty="0"/>
              <a:t>H,</a:t>
            </a:r>
            <a:r>
              <a:rPr sz="4400" spc="-45" dirty="0"/>
              <a:t> </a:t>
            </a:r>
            <a:r>
              <a:rPr sz="4400" dirty="0"/>
              <a:t>T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3831" y="1769443"/>
            <a:ext cx="6319628" cy="42922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0" marR="5080" indent="-1464945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Partitioning </a:t>
            </a:r>
            <a:r>
              <a:rPr sz="4400" dirty="0"/>
              <a:t>examples</a:t>
            </a:r>
            <a:r>
              <a:rPr sz="4400" spc="-95" dirty="0"/>
              <a:t> </a:t>
            </a:r>
            <a:r>
              <a:rPr sz="4400" spc="-15" dirty="0"/>
              <a:t>according  </a:t>
            </a:r>
            <a:r>
              <a:rPr sz="4400" dirty="0"/>
              <a:t>to Humidity</a:t>
            </a:r>
            <a:r>
              <a:rPr sz="4400" spc="-30" dirty="0"/>
              <a:t> </a:t>
            </a:r>
            <a:r>
              <a:rPr sz="4400" spc="-15" dirty="0"/>
              <a:t>feature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319783" y="1769443"/>
            <a:ext cx="7010400" cy="4292600"/>
            <a:chOff x="1319783" y="1769443"/>
            <a:chExt cx="7010400" cy="4292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227" y="1769443"/>
              <a:ext cx="6318270" cy="42922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49145" y="2061210"/>
              <a:ext cx="6768465" cy="3961129"/>
            </a:xfrm>
            <a:custGeom>
              <a:avLst/>
              <a:gdLst/>
              <a:ahLst/>
              <a:cxnLst/>
              <a:rect l="l" t="t" r="r" b="b"/>
              <a:pathLst>
                <a:path w="6768465" h="3961129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6587998" y="0"/>
                  </a:lnTo>
                  <a:lnTo>
                    <a:pt x="6635865" y="6434"/>
                  </a:lnTo>
                  <a:lnTo>
                    <a:pt x="6678882" y="24590"/>
                  </a:lnTo>
                  <a:lnTo>
                    <a:pt x="6715331" y="52752"/>
                  </a:lnTo>
                  <a:lnTo>
                    <a:pt x="6743493" y="89201"/>
                  </a:lnTo>
                  <a:lnTo>
                    <a:pt x="6761649" y="132218"/>
                  </a:lnTo>
                  <a:lnTo>
                    <a:pt x="6768083" y="180086"/>
                  </a:lnTo>
                  <a:lnTo>
                    <a:pt x="6768083" y="900429"/>
                  </a:lnTo>
                  <a:lnTo>
                    <a:pt x="6761649" y="948297"/>
                  </a:lnTo>
                  <a:lnTo>
                    <a:pt x="6743493" y="991314"/>
                  </a:lnTo>
                  <a:lnTo>
                    <a:pt x="6715331" y="1027763"/>
                  </a:lnTo>
                  <a:lnTo>
                    <a:pt x="6678882" y="1055925"/>
                  </a:lnTo>
                  <a:lnTo>
                    <a:pt x="6635865" y="1074081"/>
                  </a:lnTo>
                  <a:lnTo>
                    <a:pt x="6587998" y="1080515"/>
                  </a:lnTo>
                  <a:lnTo>
                    <a:pt x="180085" y="1080515"/>
                  </a:lnTo>
                  <a:lnTo>
                    <a:pt x="132218" y="1074081"/>
                  </a:lnTo>
                  <a:lnTo>
                    <a:pt x="89201" y="1055925"/>
                  </a:lnTo>
                  <a:lnTo>
                    <a:pt x="52752" y="1027763"/>
                  </a:lnTo>
                  <a:lnTo>
                    <a:pt x="24590" y="991314"/>
                  </a:lnTo>
                  <a:lnTo>
                    <a:pt x="6434" y="948297"/>
                  </a:lnTo>
                  <a:lnTo>
                    <a:pt x="0" y="900429"/>
                  </a:lnTo>
                  <a:lnTo>
                    <a:pt x="0" y="180086"/>
                  </a:lnTo>
                  <a:close/>
                </a:path>
                <a:path w="6768465" h="3961129">
                  <a:moveTo>
                    <a:pt x="0" y="2014220"/>
                  </a:moveTo>
                  <a:lnTo>
                    <a:pt x="3432" y="1997213"/>
                  </a:lnTo>
                  <a:lnTo>
                    <a:pt x="12795" y="1983327"/>
                  </a:lnTo>
                  <a:lnTo>
                    <a:pt x="26681" y="1973964"/>
                  </a:lnTo>
                  <a:lnTo>
                    <a:pt x="43687" y="1970532"/>
                  </a:lnTo>
                  <a:lnTo>
                    <a:pt x="6724396" y="1970532"/>
                  </a:lnTo>
                  <a:lnTo>
                    <a:pt x="6741402" y="1973964"/>
                  </a:lnTo>
                  <a:lnTo>
                    <a:pt x="6755288" y="1983327"/>
                  </a:lnTo>
                  <a:lnTo>
                    <a:pt x="6764651" y="1997213"/>
                  </a:lnTo>
                  <a:lnTo>
                    <a:pt x="6768083" y="2014220"/>
                  </a:lnTo>
                  <a:lnTo>
                    <a:pt x="6768083" y="2188972"/>
                  </a:lnTo>
                  <a:lnTo>
                    <a:pt x="6764651" y="2205978"/>
                  </a:lnTo>
                  <a:lnTo>
                    <a:pt x="6755288" y="2219864"/>
                  </a:lnTo>
                  <a:lnTo>
                    <a:pt x="6741402" y="2229227"/>
                  </a:lnTo>
                  <a:lnTo>
                    <a:pt x="6724396" y="2232660"/>
                  </a:lnTo>
                  <a:lnTo>
                    <a:pt x="43687" y="2232660"/>
                  </a:lnTo>
                  <a:lnTo>
                    <a:pt x="26681" y="2229227"/>
                  </a:lnTo>
                  <a:lnTo>
                    <a:pt x="12795" y="2219864"/>
                  </a:lnTo>
                  <a:lnTo>
                    <a:pt x="3432" y="2205978"/>
                  </a:lnTo>
                  <a:lnTo>
                    <a:pt x="0" y="2188972"/>
                  </a:lnTo>
                  <a:lnTo>
                    <a:pt x="0" y="2014220"/>
                  </a:lnTo>
                  <a:close/>
                </a:path>
                <a:path w="6768465" h="3961129">
                  <a:moveTo>
                    <a:pt x="0" y="3144773"/>
                  </a:moveTo>
                  <a:lnTo>
                    <a:pt x="3768" y="3126075"/>
                  </a:lnTo>
                  <a:lnTo>
                    <a:pt x="14049" y="3110817"/>
                  </a:lnTo>
                  <a:lnTo>
                    <a:pt x="29307" y="3100536"/>
                  </a:lnTo>
                  <a:lnTo>
                    <a:pt x="48006" y="3096767"/>
                  </a:lnTo>
                  <a:lnTo>
                    <a:pt x="6720078" y="3096767"/>
                  </a:lnTo>
                  <a:lnTo>
                    <a:pt x="6738776" y="3100536"/>
                  </a:lnTo>
                  <a:lnTo>
                    <a:pt x="6754034" y="3110817"/>
                  </a:lnTo>
                  <a:lnTo>
                    <a:pt x="6764315" y="3126075"/>
                  </a:lnTo>
                  <a:lnTo>
                    <a:pt x="6768083" y="3144773"/>
                  </a:lnTo>
                  <a:lnTo>
                    <a:pt x="6768083" y="3336798"/>
                  </a:lnTo>
                  <a:lnTo>
                    <a:pt x="6764315" y="3355496"/>
                  </a:lnTo>
                  <a:lnTo>
                    <a:pt x="6754034" y="3370754"/>
                  </a:lnTo>
                  <a:lnTo>
                    <a:pt x="6738776" y="3381035"/>
                  </a:lnTo>
                  <a:lnTo>
                    <a:pt x="6720078" y="3384804"/>
                  </a:lnTo>
                  <a:lnTo>
                    <a:pt x="48006" y="3384804"/>
                  </a:lnTo>
                  <a:lnTo>
                    <a:pt x="29307" y="3381035"/>
                  </a:lnTo>
                  <a:lnTo>
                    <a:pt x="14049" y="3370754"/>
                  </a:lnTo>
                  <a:lnTo>
                    <a:pt x="3768" y="3355496"/>
                  </a:lnTo>
                  <a:lnTo>
                    <a:pt x="0" y="3336798"/>
                  </a:lnTo>
                  <a:lnTo>
                    <a:pt x="0" y="3144773"/>
                  </a:lnTo>
                  <a:close/>
                </a:path>
                <a:path w="6768465" h="3961129">
                  <a:moveTo>
                    <a:pt x="0" y="3742436"/>
                  </a:moveTo>
                  <a:lnTo>
                    <a:pt x="3432" y="3725429"/>
                  </a:lnTo>
                  <a:lnTo>
                    <a:pt x="12795" y="3711543"/>
                  </a:lnTo>
                  <a:lnTo>
                    <a:pt x="26681" y="3702180"/>
                  </a:lnTo>
                  <a:lnTo>
                    <a:pt x="43687" y="3698748"/>
                  </a:lnTo>
                  <a:lnTo>
                    <a:pt x="6724396" y="3698748"/>
                  </a:lnTo>
                  <a:lnTo>
                    <a:pt x="6741402" y="3702180"/>
                  </a:lnTo>
                  <a:lnTo>
                    <a:pt x="6755288" y="3711543"/>
                  </a:lnTo>
                  <a:lnTo>
                    <a:pt x="6764651" y="3725429"/>
                  </a:lnTo>
                  <a:lnTo>
                    <a:pt x="6768083" y="3742436"/>
                  </a:lnTo>
                  <a:lnTo>
                    <a:pt x="6768083" y="3917188"/>
                  </a:lnTo>
                  <a:lnTo>
                    <a:pt x="6764651" y="3934194"/>
                  </a:lnTo>
                  <a:lnTo>
                    <a:pt x="6755288" y="3948080"/>
                  </a:lnTo>
                  <a:lnTo>
                    <a:pt x="6741402" y="3957443"/>
                  </a:lnTo>
                  <a:lnTo>
                    <a:pt x="6724396" y="3960876"/>
                  </a:lnTo>
                  <a:lnTo>
                    <a:pt x="43687" y="3960876"/>
                  </a:lnTo>
                  <a:lnTo>
                    <a:pt x="26681" y="3957443"/>
                  </a:lnTo>
                  <a:lnTo>
                    <a:pt x="12795" y="3948080"/>
                  </a:lnTo>
                  <a:lnTo>
                    <a:pt x="3432" y="3934194"/>
                  </a:lnTo>
                  <a:lnTo>
                    <a:pt x="0" y="3917188"/>
                  </a:lnTo>
                  <a:lnTo>
                    <a:pt x="0" y="3742436"/>
                  </a:lnTo>
                  <a:close/>
                </a:path>
              </a:pathLst>
            </a:custGeom>
            <a:ln w="25908">
              <a:solidFill>
                <a:srgbClr val="9F29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32737" y="3213354"/>
              <a:ext cx="6840220" cy="2520950"/>
            </a:xfrm>
            <a:custGeom>
              <a:avLst/>
              <a:gdLst/>
              <a:ahLst/>
              <a:cxnLst/>
              <a:rect l="l" t="t" r="r" b="b"/>
              <a:pathLst>
                <a:path w="6840220" h="2520950">
                  <a:moveTo>
                    <a:pt x="0" y="132080"/>
                  </a:moveTo>
                  <a:lnTo>
                    <a:pt x="6738" y="90350"/>
                  </a:lnTo>
                  <a:lnTo>
                    <a:pt x="25497" y="54095"/>
                  </a:lnTo>
                  <a:lnTo>
                    <a:pt x="54095" y="25497"/>
                  </a:lnTo>
                  <a:lnTo>
                    <a:pt x="90350" y="6738"/>
                  </a:lnTo>
                  <a:lnTo>
                    <a:pt x="132080" y="0"/>
                  </a:lnTo>
                  <a:lnTo>
                    <a:pt x="6636004" y="0"/>
                  </a:lnTo>
                  <a:lnTo>
                    <a:pt x="6677733" y="6738"/>
                  </a:lnTo>
                  <a:lnTo>
                    <a:pt x="6713988" y="25497"/>
                  </a:lnTo>
                  <a:lnTo>
                    <a:pt x="6742586" y="54095"/>
                  </a:lnTo>
                  <a:lnTo>
                    <a:pt x="6761345" y="90350"/>
                  </a:lnTo>
                  <a:lnTo>
                    <a:pt x="6768084" y="132080"/>
                  </a:lnTo>
                  <a:lnTo>
                    <a:pt x="6768084" y="660400"/>
                  </a:lnTo>
                  <a:lnTo>
                    <a:pt x="6761345" y="702129"/>
                  </a:lnTo>
                  <a:lnTo>
                    <a:pt x="6742586" y="738384"/>
                  </a:lnTo>
                  <a:lnTo>
                    <a:pt x="6713988" y="766982"/>
                  </a:lnTo>
                  <a:lnTo>
                    <a:pt x="6677733" y="785741"/>
                  </a:lnTo>
                  <a:lnTo>
                    <a:pt x="6636004" y="792480"/>
                  </a:lnTo>
                  <a:lnTo>
                    <a:pt x="132080" y="792480"/>
                  </a:lnTo>
                  <a:lnTo>
                    <a:pt x="90350" y="785741"/>
                  </a:lnTo>
                  <a:lnTo>
                    <a:pt x="54095" y="766982"/>
                  </a:lnTo>
                  <a:lnTo>
                    <a:pt x="25497" y="738384"/>
                  </a:lnTo>
                  <a:lnTo>
                    <a:pt x="6738" y="702129"/>
                  </a:lnTo>
                  <a:lnTo>
                    <a:pt x="0" y="660400"/>
                  </a:lnTo>
                  <a:lnTo>
                    <a:pt x="0" y="132080"/>
                  </a:lnTo>
                  <a:close/>
                </a:path>
                <a:path w="6840220" h="2520950">
                  <a:moveTo>
                    <a:pt x="0" y="1248918"/>
                  </a:moveTo>
                  <a:lnTo>
                    <a:pt x="6723" y="1207264"/>
                  </a:lnTo>
                  <a:lnTo>
                    <a:pt x="25444" y="1171078"/>
                  </a:lnTo>
                  <a:lnTo>
                    <a:pt x="53986" y="1142536"/>
                  </a:lnTo>
                  <a:lnTo>
                    <a:pt x="90172" y="1123815"/>
                  </a:lnTo>
                  <a:lnTo>
                    <a:pt x="131825" y="1117092"/>
                  </a:lnTo>
                  <a:lnTo>
                    <a:pt x="6636258" y="1117092"/>
                  </a:lnTo>
                  <a:lnTo>
                    <a:pt x="6677911" y="1123815"/>
                  </a:lnTo>
                  <a:lnTo>
                    <a:pt x="6714097" y="1142536"/>
                  </a:lnTo>
                  <a:lnTo>
                    <a:pt x="6742639" y="1171078"/>
                  </a:lnTo>
                  <a:lnTo>
                    <a:pt x="6761360" y="1207264"/>
                  </a:lnTo>
                  <a:lnTo>
                    <a:pt x="6768084" y="1248918"/>
                  </a:lnTo>
                  <a:lnTo>
                    <a:pt x="6768084" y="1776222"/>
                  </a:lnTo>
                  <a:lnTo>
                    <a:pt x="6761360" y="1817875"/>
                  </a:lnTo>
                  <a:lnTo>
                    <a:pt x="6742639" y="1854061"/>
                  </a:lnTo>
                  <a:lnTo>
                    <a:pt x="6714097" y="1882603"/>
                  </a:lnTo>
                  <a:lnTo>
                    <a:pt x="6677911" y="1901324"/>
                  </a:lnTo>
                  <a:lnTo>
                    <a:pt x="6636258" y="1908048"/>
                  </a:lnTo>
                  <a:lnTo>
                    <a:pt x="131825" y="1908048"/>
                  </a:lnTo>
                  <a:lnTo>
                    <a:pt x="90172" y="1901324"/>
                  </a:lnTo>
                  <a:lnTo>
                    <a:pt x="53986" y="1882603"/>
                  </a:lnTo>
                  <a:lnTo>
                    <a:pt x="25444" y="1854061"/>
                  </a:lnTo>
                  <a:lnTo>
                    <a:pt x="6723" y="1817875"/>
                  </a:lnTo>
                  <a:lnTo>
                    <a:pt x="0" y="1776222"/>
                  </a:lnTo>
                  <a:lnTo>
                    <a:pt x="0" y="1248918"/>
                  </a:lnTo>
                  <a:close/>
                </a:path>
                <a:path w="6840220" h="2520950">
                  <a:moveTo>
                    <a:pt x="71628" y="2340356"/>
                  </a:moveTo>
                  <a:lnTo>
                    <a:pt x="74459" y="2326308"/>
                  </a:lnTo>
                  <a:lnTo>
                    <a:pt x="82184" y="2314844"/>
                  </a:lnTo>
                  <a:lnTo>
                    <a:pt x="93648" y="2307119"/>
                  </a:lnTo>
                  <a:lnTo>
                    <a:pt x="107696" y="2304288"/>
                  </a:lnTo>
                  <a:lnTo>
                    <a:pt x="6803644" y="2304288"/>
                  </a:lnTo>
                  <a:lnTo>
                    <a:pt x="6817691" y="2307119"/>
                  </a:lnTo>
                  <a:lnTo>
                    <a:pt x="6829155" y="2314844"/>
                  </a:lnTo>
                  <a:lnTo>
                    <a:pt x="6836880" y="2326308"/>
                  </a:lnTo>
                  <a:lnTo>
                    <a:pt x="6839711" y="2340356"/>
                  </a:lnTo>
                  <a:lnTo>
                    <a:pt x="6839711" y="2484628"/>
                  </a:lnTo>
                  <a:lnTo>
                    <a:pt x="6836880" y="2498664"/>
                  </a:lnTo>
                  <a:lnTo>
                    <a:pt x="6829155" y="2510129"/>
                  </a:lnTo>
                  <a:lnTo>
                    <a:pt x="6817691" y="2517860"/>
                  </a:lnTo>
                  <a:lnTo>
                    <a:pt x="6803644" y="2520696"/>
                  </a:lnTo>
                  <a:lnTo>
                    <a:pt x="107696" y="2520696"/>
                  </a:lnTo>
                  <a:lnTo>
                    <a:pt x="93648" y="2517860"/>
                  </a:lnTo>
                  <a:lnTo>
                    <a:pt x="82184" y="2510129"/>
                  </a:lnTo>
                  <a:lnTo>
                    <a:pt x="74459" y="2498664"/>
                  </a:lnTo>
                  <a:lnTo>
                    <a:pt x="71628" y="2484628"/>
                  </a:lnTo>
                  <a:lnTo>
                    <a:pt x="71628" y="2340356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2764" y="147955"/>
            <a:ext cx="7678470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0" marR="5080" indent="-1464945"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Partitioning </a:t>
            </a:r>
            <a:r>
              <a:rPr sz="3200" dirty="0"/>
              <a:t>e</a:t>
            </a:r>
            <a:r>
              <a:rPr lang="en-US" sz="3200" dirty="0"/>
              <a:t>xamples: </a:t>
            </a:r>
            <a:r>
              <a:rPr sz="3200" dirty="0"/>
              <a:t>Humidity</a:t>
            </a:r>
            <a:r>
              <a:rPr sz="3200" spc="-30" dirty="0"/>
              <a:t> </a:t>
            </a:r>
            <a:r>
              <a:rPr lang="en-US" sz="3200" spc="-15" dirty="0"/>
              <a:t>= High</a:t>
            </a:r>
            <a:br>
              <a:rPr lang="en-US" sz="4400" spc="-15" dirty="0"/>
            </a:br>
            <a:endParaRPr sz="20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524000" y="1219200"/>
            <a:ext cx="6775383" cy="4292274"/>
            <a:chOff x="1542227" y="1769443"/>
            <a:chExt cx="6775383" cy="429227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227" y="1769443"/>
              <a:ext cx="6318270" cy="42922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49145" y="2061210"/>
              <a:ext cx="6768465" cy="3961129"/>
            </a:xfrm>
            <a:custGeom>
              <a:avLst/>
              <a:gdLst/>
              <a:ahLst/>
              <a:cxnLst/>
              <a:rect l="l" t="t" r="r" b="b"/>
              <a:pathLst>
                <a:path w="6768465" h="3961129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6587998" y="0"/>
                  </a:lnTo>
                  <a:lnTo>
                    <a:pt x="6635865" y="6434"/>
                  </a:lnTo>
                  <a:lnTo>
                    <a:pt x="6678882" y="24590"/>
                  </a:lnTo>
                  <a:lnTo>
                    <a:pt x="6715331" y="52752"/>
                  </a:lnTo>
                  <a:lnTo>
                    <a:pt x="6743493" y="89201"/>
                  </a:lnTo>
                  <a:lnTo>
                    <a:pt x="6761649" y="132218"/>
                  </a:lnTo>
                  <a:lnTo>
                    <a:pt x="6768083" y="180086"/>
                  </a:lnTo>
                  <a:lnTo>
                    <a:pt x="6768083" y="900429"/>
                  </a:lnTo>
                  <a:lnTo>
                    <a:pt x="6761649" y="948297"/>
                  </a:lnTo>
                  <a:lnTo>
                    <a:pt x="6743493" y="991314"/>
                  </a:lnTo>
                  <a:lnTo>
                    <a:pt x="6715331" y="1027763"/>
                  </a:lnTo>
                  <a:lnTo>
                    <a:pt x="6678882" y="1055925"/>
                  </a:lnTo>
                  <a:lnTo>
                    <a:pt x="6635865" y="1074081"/>
                  </a:lnTo>
                  <a:lnTo>
                    <a:pt x="6587998" y="1080515"/>
                  </a:lnTo>
                  <a:lnTo>
                    <a:pt x="180085" y="1080515"/>
                  </a:lnTo>
                  <a:lnTo>
                    <a:pt x="132218" y="1074081"/>
                  </a:lnTo>
                  <a:lnTo>
                    <a:pt x="89201" y="1055925"/>
                  </a:lnTo>
                  <a:lnTo>
                    <a:pt x="52752" y="1027763"/>
                  </a:lnTo>
                  <a:lnTo>
                    <a:pt x="24590" y="991314"/>
                  </a:lnTo>
                  <a:lnTo>
                    <a:pt x="6434" y="948297"/>
                  </a:lnTo>
                  <a:lnTo>
                    <a:pt x="0" y="900429"/>
                  </a:lnTo>
                  <a:lnTo>
                    <a:pt x="0" y="180086"/>
                  </a:lnTo>
                  <a:close/>
                </a:path>
                <a:path w="6768465" h="3961129">
                  <a:moveTo>
                    <a:pt x="0" y="2014220"/>
                  </a:moveTo>
                  <a:lnTo>
                    <a:pt x="3432" y="1997213"/>
                  </a:lnTo>
                  <a:lnTo>
                    <a:pt x="12795" y="1983327"/>
                  </a:lnTo>
                  <a:lnTo>
                    <a:pt x="26681" y="1973964"/>
                  </a:lnTo>
                  <a:lnTo>
                    <a:pt x="43687" y="1970532"/>
                  </a:lnTo>
                  <a:lnTo>
                    <a:pt x="6724396" y="1970532"/>
                  </a:lnTo>
                  <a:lnTo>
                    <a:pt x="6741402" y="1973964"/>
                  </a:lnTo>
                  <a:lnTo>
                    <a:pt x="6755288" y="1983327"/>
                  </a:lnTo>
                  <a:lnTo>
                    <a:pt x="6764651" y="1997213"/>
                  </a:lnTo>
                  <a:lnTo>
                    <a:pt x="6768083" y="2014220"/>
                  </a:lnTo>
                  <a:lnTo>
                    <a:pt x="6768083" y="2188972"/>
                  </a:lnTo>
                  <a:lnTo>
                    <a:pt x="6764651" y="2205978"/>
                  </a:lnTo>
                  <a:lnTo>
                    <a:pt x="6755288" y="2219864"/>
                  </a:lnTo>
                  <a:lnTo>
                    <a:pt x="6741402" y="2229227"/>
                  </a:lnTo>
                  <a:lnTo>
                    <a:pt x="6724396" y="2232660"/>
                  </a:lnTo>
                  <a:lnTo>
                    <a:pt x="43687" y="2232660"/>
                  </a:lnTo>
                  <a:lnTo>
                    <a:pt x="26681" y="2229227"/>
                  </a:lnTo>
                  <a:lnTo>
                    <a:pt x="12795" y="2219864"/>
                  </a:lnTo>
                  <a:lnTo>
                    <a:pt x="3432" y="2205978"/>
                  </a:lnTo>
                  <a:lnTo>
                    <a:pt x="0" y="2188972"/>
                  </a:lnTo>
                  <a:lnTo>
                    <a:pt x="0" y="2014220"/>
                  </a:lnTo>
                  <a:close/>
                </a:path>
                <a:path w="6768465" h="3961129">
                  <a:moveTo>
                    <a:pt x="0" y="3144773"/>
                  </a:moveTo>
                  <a:lnTo>
                    <a:pt x="3768" y="3126075"/>
                  </a:lnTo>
                  <a:lnTo>
                    <a:pt x="14049" y="3110817"/>
                  </a:lnTo>
                  <a:lnTo>
                    <a:pt x="29307" y="3100536"/>
                  </a:lnTo>
                  <a:lnTo>
                    <a:pt x="48006" y="3096767"/>
                  </a:lnTo>
                  <a:lnTo>
                    <a:pt x="6720078" y="3096767"/>
                  </a:lnTo>
                  <a:lnTo>
                    <a:pt x="6738776" y="3100536"/>
                  </a:lnTo>
                  <a:lnTo>
                    <a:pt x="6754034" y="3110817"/>
                  </a:lnTo>
                  <a:lnTo>
                    <a:pt x="6764315" y="3126075"/>
                  </a:lnTo>
                  <a:lnTo>
                    <a:pt x="6768083" y="3144773"/>
                  </a:lnTo>
                  <a:lnTo>
                    <a:pt x="6768083" y="3336798"/>
                  </a:lnTo>
                  <a:lnTo>
                    <a:pt x="6764315" y="3355496"/>
                  </a:lnTo>
                  <a:lnTo>
                    <a:pt x="6754034" y="3370754"/>
                  </a:lnTo>
                  <a:lnTo>
                    <a:pt x="6738776" y="3381035"/>
                  </a:lnTo>
                  <a:lnTo>
                    <a:pt x="6720078" y="3384804"/>
                  </a:lnTo>
                  <a:lnTo>
                    <a:pt x="48006" y="3384804"/>
                  </a:lnTo>
                  <a:lnTo>
                    <a:pt x="29307" y="3381035"/>
                  </a:lnTo>
                  <a:lnTo>
                    <a:pt x="14049" y="3370754"/>
                  </a:lnTo>
                  <a:lnTo>
                    <a:pt x="3768" y="3355496"/>
                  </a:lnTo>
                  <a:lnTo>
                    <a:pt x="0" y="3336798"/>
                  </a:lnTo>
                  <a:lnTo>
                    <a:pt x="0" y="3144773"/>
                  </a:lnTo>
                  <a:close/>
                </a:path>
                <a:path w="6768465" h="3961129">
                  <a:moveTo>
                    <a:pt x="0" y="3742436"/>
                  </a:moveTo>
                  <a:lnTo>
                    <a:pt x="3432" y="3725429"/>
                  </a:lnTo>
                  <a:lnTo>
                    <a:pt x="12795" y="3711543"/>
                  </a:lnTo>
                  <a:lnTo>
                    <a:pt x="26681" y="3702180"/>
                  </a:lnTo>
                  <a:lnTo>
                    <a:pt x="43687" y="3698748"/>
                  </a:lnTo>
                  <a:lnTo>
                    <a:pt x="6724396" y="3698748"/>
                  </a:lnTo>
                  <a:lnTo>
                    <a:pt x="6741402" y="3702180"/>
                  </a:lnTo>
                  <a:lnTo>
                    <a:pt x="6755288" y="3711543"/>
                  </a:lnTo>
                  <a:lnTo>
                    <a:pt x="6764651" y="3725429"/>
                  </a:lnTo>
                  <a:lnTo>
                    <a:pt x="6768083" y="3742436"/>
                  </a:lnTo>
                  <a:lnTo>
                    <a:pt x="6768083" y="3917188"/>
                  </a:lnTo>
                  <a:lnTo>
                    <a:pt x="6764651" y="3934194"/>
                  </a:lnTo>
                  <a:lnTo>
                    <a:pt x="6755288" y="3948080"/>
                  </a:lnTo>
                  <a:lnTo>
                    <a:pt x="6741402" y="3957443"/>
                  </a:lnTo>
                  <a:lnTo>
                    <a:pt x="6724396" y="3960876"/>
                  </a:lnTo>
                  <a:lnTo>
                    <a:pt x="43687" y="3960876"/>
                  </a:lnTo>
                  <a:lnTo>
                    <a:pt x="26681" y="3957443"/>
                  </a:lnTo>
                  <a:lnTo>
                    <a:pt x="12795" y="3948080"/>
                  </a:lnTo>
                  <a:lnTo>
                    <a:pt x="3432" y="3934194"/>
                  </a:lnTo>
                  <a:lnTo>
                    <a:pt x="0" y="3917188"/>
                  </a:lnTo>
                  <a:lnTo>
                    <a:pt x="0" y="3742436"/>
                  </a:lnTo>
                  <a:close/>
                </a:path>
              </a:pathLst>
            </a:custGeom>
            <a:ln w="25908">
              <a:solidFill>
                <a:srgbClr val="9F29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7FB4522-27D2-4C36-9336-EDE3F12813F7}"/>
              </a:ext>
            </a:extLst>
          </p:cNvPr>
          <p:cNvSpPr txBox="1"/>
          <p:nvPr/>
        </p:nvSpPr>
        <p:spPr>
          <a:xfrm>
            <a:off x="2286000" y="580286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5" dirty="0"/>
              <a:t>Majority label=No, </a:t>
            </a:r>
            <a:r>
              <a:rPr lang="en-US" sz="1800" spc="-15" dirty="0">
                <a:solidFill>
                  <a:srgbClr val="FF0000"/>
                </a:solidFill>
              </a:rPr>
              <a:t>Error=3 </a:t>
            </a:r>
            <a:r>
              <a:rPr lang="en-US" sz="1800" spc="-15" dirty="0"/>
              <a:t>if we make a leaf and stop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126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147955"/>
            <a:ext cx="7315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9185" marR="5080" indent="-1087120">
              <a:lnSpc>
                <a:spcPct val="100000"/>
              </a:lnSpc>
              <a:spcBef>
                <a:spcPts val="100"/>
              </a:spcBef>
              <a:tabLst>
                <a:tab pos="1784350" algn="l"/>
              </a:tabLst>
            </a:pPr>
            <a:r>
              <a:rPr sz="3200" spc="-5" dirty="0"/>
              <a:t>Partitioning</a:t>
            </a:r>
            <a:r>
              <a:rPr sz="3200" spc="-110" dirty="0"/>
              <a:t> </a:t>
            </a:r>
            <a:r>
              <a:rPr sz="3200" dirty="0"/>
              <a:t>examples:  H</a:t>
            </a:r>
            <a:r>
              <a:rPr lang="en-US" sz="3200" dirty="0"/>
              <a:t>umidity</a:t>
            </a:r>
            <a:r>
              <a:rPr sz="3200" dirty="0"/>
              <a:t>	=</a:t>
            </a:r>
            <a:r>
              <a:rPr lang="en-US" sz="3200" spc="-40" dirty="0"/>
              <a:t> </a:t>
            </a:r>
            <a:r>
              <a:rPr sz="3200" spc="-5" dirty="0"/>
              <a:t>Normal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319783" y="1295400"/>
            <a:ext cx="6865620" cy="4292600"/>
            <a:chOff x="1319783" y="1769443"/>
            <a:chExt cx="6865620" cy="4292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227" y="1769443"/>
              <a:ext cx="6318270" cy="42922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32737" y="3213354"/>
              <a:ext cx="6840220" cy="2520950"/>
            </a:xfrm>
            <a:custGeom>
              <a:avLst/>
              <a:gdLst/>
              <a:ahLst/>
              <a:cxnLst/>
              <a:rect l="l" t="t" r="r" b="b"/>
              <a:pathLst>
                <a:path w="6840220" h="2520950">
                  <a:moveTo>
                    <a:pt x="0" y="132080"/>
                  </a:moveTo>
                  <a:lnTo>
                    <a:pt x="6738" y="90350"/>
                  </a:lnTo>
                  <a:lnTo>
                    <a:pt x="25497" y="54095"/>
                  </a:lnTo>
                  <a:lnTo>
                    <a:pt x="54095" y="25497"/>
                  </a:lnTo>
                  <a:lnTo>
                    <a:pt x="90350" y="6738"/>
                  </a:lnTo>
                  <a:lnTo>
                    <a:pt x="132080" y="0"/>
                  </a:lnTo>
                  <a:lnTo>
                    <a:pt x="6636004" y="0"/>
                  </a:lnTo>
                  <a:lnTo>
                    <a:pt x="6677733" y="6738"/>
                  </a:lnTo>
                  <a:lnTo>
                    <a:pt x="6713988" y="25497"/>
                  </a:lnTo>
                  <a:lnTo>
                    <a:pt x="6742586" y="54095"/>
                  </a:lnTo>
                  <a:lnTo>
                    <a:pt x="6761345" y="90350"/>
                  </a:lnTo>
                  <a:lnTo>
                    <a:pt x="6768084" y="132080"/>
                  </a:lnTo>
                  <a:lnTo>
                    <a:pt x="6768084" y="660400"/>
                  </a:lnTo>
                  <a:lnTo>
                    <a:pt x="6761345" y="702129"/>
                  </a:lnTo>
                  <a:lnTo>
                    <a:pt x="6742586" y="738384"/>
                  </a:lnTo>
                  <a:lnTo>
                    <a:pt x="6713988" y="766982"/>
                  </a:lnTo>
                  <a:lnTo>
                    <a:pt x="6677733" y="785741"/>
                  </a:lnTo>
                  <a:lnTo>
                    <a:pt x="6636004" y="792480"/>
                  </a:lnTo>
                  <a:lnTo>
                    <a:pt x="132080" y="792480"/>
                  </a:lnTo>
                  <a:lnTo>
                    <a:pt x="90350" y="785741"/>
                  </a:lnTo>
                  <a:lnTo>
                    <a:pt x="54095" y="766982"/>
                  </a:lnTo>
                  <a:lnTo>
                    <a:pt x="25497" y="738384"/>
                  </a:lnTo>
                  <a:lnTo>
                    <a:pt x="6738" y="702129"/>
                  </a:lnTo>
                  <a:lnTo>
                    <a:pt x="0" y="660400"/>
                  </a:lnTo>
                  <a:lnTo>
                    <a:pt x="0" y="132080"/>
                  </a:lnTo>
                  <a:close/>
                </a:path>
                <a:path w="6840220" h="2520950">
                  <a:moveTo>
                    <a:pt x="0" y="1248918"/>
                  </a:moveTo>
                  <a:lnTo>
                    <a:pt x="6723" y="1207264"/>
                  </a:lnTo>
                  <a:lnTo>
                    <a:pt x="25444" y="1171078"/>
                  </a:lnTo>
                  <a:lnTo>
                    <a:pt x="53986" y="1142536"/>
                  </a:lnTo>
                  <a:lnTo>
                    <a:pt x="90172" y="1123815"/>
                  </a:lnTo>
                  <a:lnTo>
                    <a:pt x="131825" y="1117092"/>
                  </a:lnTo>
                  <a:lnTo>
                    <a:pt x="6636258" y="1117092"/>
                  </a:lnTo>
                  <a:lnTo>
                    <a:pt x="6677911" y="1123815"/>
                  </a:lnTo>
                  <a:lnTo>
                    <a:pt x="6714097" y="1142536"/>
                  </a:lnTo>
                  <a:lnTo>
                    <a:pt x="6742639" y="1171078"/>
                  </a:lnTo>
                  <a:lnTo>
                    <a:pt x="6761360" y="1207264"/>
                  </a:lnTo>
                  <a:lnTo>
                    <a:pt x="6768084" y="1248918"/>
                  </a:lnTo>
                  <a:lnTo>
                    <a:pt x="6768084" y="1776222"/>
                  </a:lnTo>
                  <a:lnTo>
                    <a:pt x="6761360" y="1817875"/>
                  </a:lnTo>
                  <a:lnTo>
                    <a:pt x="6742639" y="1854061"/>
                  </a:lnTo>
                  <a:lnTo>
                    <a:pt x="6714097" y="1882603"/>
                  </a:lnTo>
                  <a:lnTo>
                    <a:pt x="6677911" y="1901324"/>
                  </a:lnTo>
                  <a:lnTo>
                    <a:pt x="6636258" y="1908048"/>
                  </a:lnTo>
                  <a:lnTo>
                    <a:pt x="131825" y="1908048"/>
                  </a:lnTo>
                  <a:lnTo>
                    <a:pt x="90172" y="1901324"/>
                  </a:lnTo>
                  <a:lnTo>
                    <a:pt x="53986" y="1882603"/>
                  </a:lnTo>
                  <a:lnTo>
                    <a:pt x="25444" y="1854061"/>
                  </a:lnTo>
                  <a:lnTo>
                    <a:pt x="6723" y="1817875"/>
                  </a:lnTo>
                  <a:lnTo>
                    <a:pt x="0" y="1776222"/>
                  </a:lnTo>
                  <a:lnTo>
                    <a:pt x="0" y="1248918"/>
                  </a:lnTo>
                  <a:close/>
                </a:path>
                <a:path w="6840220" h="2520950">
                  <a:moveTo>
                    <a:pt x="71628" y="2340356"/>
                  </a:moveTo>
                  <a:lnTo>
                    <a:pt x="74459" y="2326308"/>
                  </a:lnTo>
                  <a:lnTo>
                    <a:pt x="82184" y="2314844"/>
                  </a:lnTo>
                  <a:lnTo>
                    <a:pt x="93648" y="2307119"/>
                  </a:lnTo>
                  <a:lnTo>
                    <a:pt x="107696" y="2304288"/>
                  </a:lnTo>
                  <a:lnTo>
                    <a:pt x="6803644" y="2304288"/>
                  </a:lnTo>
                  <a:lnTo>
                    <a:pt x="6817691" y="2307119"/>
                  </a:lnTo>
                  <a:lnTo>
                    <a:pt x="6829155" y="2314844"/>
                  </a:lnTo>
                  <a:lnTo>
                    <a:pt x="6836880" y="2326308"/>
                  </a:lnTo>
                  <a:lnTo>
                    <a:pt x="6839711" y="2340356"/>
                  </a:lnTo>
                  <a:lnTo>
                    <a:pt x="6839711" y="2484628"/>
                  </a:lnTo>
                  <a:lnTo>
                    <a:pt x="6836880" y="2498664"/>
                  </a:lnTo>
                  <a:lnTo>
                    <a:pt x="6829155" y="2510129"/>
                  </a:lnTo>
                  <a:lnTo>
                    <a:pt x="6817691" y="2517860"/>
                  </a:lnTo>
                  <a:lnTo>
                    <a:pt x="6803644" y="2520696"/>
                  </a:lnTo>
                  <a:lnTo>
                    <a:pt x="107696" y="2520696"/>
                  </a:lnTo>
                  <a:lnTo>
                    <a:pt x="93648" y="2517860"/>
                  </a:lnTo>
                  <a:lnTo>
                    <a:pt x="82184" y="2510129"/>
                  </a:lnTo>
                  <a:lnTo>
                    <a:pt x="74459" y="2498664"/>
                  </a:lnTo>
                  <a:lnTo>
                    <a:pt x="71628" y="2484628"/>
                  </a:lnTo>
                  <a:lnTo>
                    <a:pt x="71628" y="2340356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5824547-D5AC-49A3-835F-7E7273A5E8D2}"/>
              </a:ext>
            </a:extLst>
          </p:cNvPr>
          <p:cNvSpPr txBox="1"/>
          <p:nvPr/>
        </p:nvSpPr>
        <p:spPr>
          <a:xfrm>
            <a:off x="2286000" y="580286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5" dirty="0"/>
              <a:t>Majority label=Yes, </a:t>
            </a:r>
            <a:r>
              <a:rPr lang="en-US" sz="1800" spc="-15" dirty="0">
                <a:solidFill>
                  <a:srgbClr val="FF0000"/>
                </a:solidFill>
              </a:rPr>
              <a:t>Error=</a:t>
            </a:r>
            <a:r>
              <a:rPr lang="en-US" spc="-15" dirty="0">
                <a:solidFill>
                  <a:srgbClr val="FF0000"/>
                </a:solidFill>
              </a:rPr>
              <a:t>1</a:t>
            </a:r>
            <a:r>
              <a:rPr lang="en-US" sz="1800" spc="-15" dirty="0">
                <a:solidFill>
                  <a:srgbClr val="FF0000"/>
                </a:solidFill>
              </a:rPr>
              <a:t> </a:t>
            </a:r>
            <a:r>
              <a:rPr lang="en-US" sz="1800" spc="-15" dirty="0"/>
              <a:t>if we make a leaf and stop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lang="en-US" sz="4400" spc="-5" dirty="0"/>
              <a:t>Can we do better?</a:t>
            </a:r>
            <a:endParaRPr sz="4400" dirty="0"/>
          </a:p>
          <a:p>
            <a:pPr marL="1270" algn="ctr">
              <a:lnSpc>
                <a:spcPct val="100000"/>
              </a:lnSpc>
            </a:pPr>
            <a:r>
              <a:rPr sz="4400" dirty="0"/>
              <a:t>H = </a:t>
            </a:r>
            <a:r>
              <a:rPr sz="4400" spc="-5" dirty="0"/>
              <a:t>Normal and </a:t>
            </a:r>
            <a:r>
              <a:rPr sz="4400" dirty="0"/>
              <a:t>W =</a:t>
            </a:r>
            <a:r>
              <a:rPr sz="4400" spc="-110" dirty="0"/>
              <a:t> </a:t>
            </a:r>
            <a:r>
              <a:rPr sz="4400" spc="-20" dirty="0"/>
              <a:t>Strong</a:t>
            </a:r>
            <a:endParaRPr sz="4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167383" y="1600200"/>
            <a:ext cx="7018020" cy="4526280"/>
            <a:chOff x="1167383" y="1600200"/>
            <a:chExt cx="7018020" cy="4526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383" y="1600200"/>
              <a:ext cx="6804659" cy="45262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32737" y="3213353"/>
              <a:ext cx="6840220" cy="2520950"/>
            </a:xfrm>
            <a:custGeom>
              <a:avLst/>
              <a:gdLst/>
              <a:ahLst/>
              <a:cxnLst/>
              <a:rect l="l" t="t" r="r" b="b"/>
              <a:pathLst>
                <a:path w="6840220" h="2520950">
                  <a:moveTo>
                    <a:pt x="0" y="132080"/>
                  </a:moveTo>
                  <a:lnTo>
                    <a:pt x="6738" y="90350"/>
                  </a:lnTo>
                  <a:lnTo>
                    <a:pt x="25497" y="54095"/>
                  </a:lnTo>
                  <a:lnTo>
                    <a:pt x="54095" y="25497"/>
                  </a:lnTo>
                  <a:lnTo>
                    <a:pt x="90350" y="6738"/>
                  </a:lnTo>
                  <a:lnTo>
                    <a:pt x="132080" y="0"/>
                  </a:lnTo>
                  <a:lnTo>
                    <a:pt x="6636004" y="0"/>
                  </a:lnTo>
                  <a:lnTo>
                    <a:pt x="6677733" y="6738"/>
                  </a:lnTo>
                  <a:lnTo>
                    <a:pt x="6713988" y="25497"/>
                  </a:lnTo>
                  <a:lnTo>
                    <a:pt x="6742586" y="54095"/>
                  </a:lnTo>
                  <a:lnTo>
                    <a:pt x="6761345" y="90350"/>
                  </a:lnTo>
                  <a:lnTo>
                    <a:pt x="6768084" y="132080"/>
                  </a:lnTo>
                  <a:lnTo>
                    <a:pt x="6768084" y="660400"/>
                  </a:lnTo>
                  <a:lnTo>
                    <a:pt x="6761345" y="702129"/>
                  </a:lnTo>
                  <a:lnTo>
                    <a:pt x="6742586" y="738384"/>
                  </a:lnTo>
                  <a:lnTo>
                    <a:pt x="6713988" y="766982"/>
                  </a:lnTo>
                  <a:lnTo>
                    <a:pt x="6677733" y="785741"/>
                  </a:lnTo>
                  <a:lnTo>
                    <a:pt x="6636004" y="792480"/>
                  </a:lnTo>
                  <a:lnTo>
                    <a:pt x="132080" y="792480"/>
                  </a:lnTo>
                  <a:lnTo>
                    <a:pt x="90350" y="785741"/>
                  </a:lnTo>
                  <a:lnTo>
                    <a:pt x="54095" y="766982"/>
                  </a:lnTo>
                  <a:lnTo>
                    <a:pt x="25497" y="738384"/>
                  </a:lnTo>
                  <a:lnTo>
                    <a:pt x="6738" y="702129"/>
                  </a:lnTo>
                  <a:lnTo>
                    <a:pt x="0" y="660400"/>
                  </a:lnTo>
                  <a:lnTo>
                    <a:pt x="0" y="132080"/>
                  </a:lnTo>
                  <a:close/>
                </a:path>
                <a:path w="6840220" h="2520950">
                  <a:moveTo>
                    <a:pt x="0" y="1248918"/>
                  </a:moveTo>
                  <a:lnTo>
                    <a:pt x="6723" y="1207264"/>
                  </a:lnTo>
                  <a:lnTo>
                    <a:pt x="25444" y="1171078"/>
                  </a:lnTo>
                  <a:lnTo>
                    <a:pt x="53986" y="1142536"/>
                  </a:lnTo>
                  <a:lnTo>
                    <a:pt x="90172" y="1123815"/>
                  </a:lnTo>
                  <a:lnTo>
                    <a:pt x="131825" y="1117092"/>
                  </a:lnTo>
                  <a:lnTo>
                    <a:pt x="6636258" y="1117092"/>
                  </a:lnTo>
                  <a:lnTo>
                    <a:pt x="6677911" y="1123815"/>
                  </a:lnTo>
                  <a:lnTo>
                    <a:pt x="6714097" y="1142536"/>
                  </a:lnTo>
                  <a:lnTo>
                    <a:pt x="6742639" y="1171078"/>
                  </a:lnTo>
                  <a:lnTo>
                    <a:pt x="6761360" y="1207264"/>
                  </a:lnTo>
                  <a:lnTo>
                    <a:pt x="6768084" y="1248918"/>
                  </a:lnTo>
                  <a:lnTo>
                    <a:pt x="6768084" y="1776222"/>
                  </a:lnTo>
                  <a:lnTo>
                    <a:pt x="6761360" y="1817875"/>
                  </a:lnTo>
                  <a:lnTo>
                    <a:pt x="6742639" y="1854061"/>
                  </a:lnTo>
                  <a:lnTo>
                    <a:pt x="6714097" y="1882603"/>
                  </a:lnTo>
                  <a:lnTo>
                    <a:pt x="6677911" y="1901324"/>
                  </a:lnTo>
                  <a:lnTo>
                    <a:pt x="6636258" y="1908048"/>
                  </a:lnTo>
                  <a:lnTo>
                    <a:pt x="131825" y="1908048"/>
                  </a:lnTo>
                  <a:lnTo>
                    <a:pt x="90172" y="1901324"/>
                  </a:lnTo>
                  <a:lnTo>
                    <a:pt x="53986" y="1882603"/>
                  </a:lnTo>
                  <a:lnTo>
                    <a:pt x="25444" y="1854061"/>
                  </a:lnTo>
                  <a:lnTo>
                    <a:pt x="6723" y="1817875"/>
                  </a:lnTo>
                  <a:lnTo>
                    <a:pt x="0" y="1776222"/>
                  </a:lnTo>
                  <a:lnTo>
                    <a:pt x="0" y="1248918"/>
                  </a:lnTo>
                  <a:close/>
                </a:path>
                <a:path w="6840220" h="2520950">
                  <a:moveTo>
                    <a:pt x="71628" y="2340356"/>
                  </a:moveTo>
                  <a:lnTo>
                    <a:pt x="74459" y="2326308"/>
                  </a:lnTo>
                  <a:lnTo>
                    <a:pt x="82184" y="2314844"/>
                  </a:lnTo>
                  <a:lnTo>
                    <a:pt x="93648" y="2307119"/>
                  </a:lnTo>
                  <a:lnTo>
                    <a:pt x="107696" y="2304288"/>
                  </a:lnTo>
                  <a:lnTo>
                    <a:pt x="6803644" y="2304288"/>
                  </a:lnTo>
                  <a:lnTo>
                    <a:pt x="6817691" y="2307119"/>
                  </a:lnTo>
                  <a:lnTo>
                    <a:pt x="6829155" y="2314844"/>
                  </a:lnTo>
                  <a:lnTo>
                    <a:pt x="6836880" y="2326308"/>
                  </a:lnTo>
                  <a:lnTo>
                    <a:pt x="6839711" y="2340356"/>
                  </a:lnTo>
                  <a:lnTo>
                    <a:pt x="6839711" y="2484628"/>
                  </a:lnTo>
                  <a:lnTo>
                    <a:pt x="6836880" y="2498664"/>
                  </a:lnTo>
                  <a:lnTo>
                    <a:pt x="6829155" y="2510129"/>
                  </a:lnTo>
                  <a:lnTo>
                    <a:pt x="6817691" y="2517860"/>
                  </a:lnTo>
                  <a:lnTo>
                    <a:pt x="6803644" y="2520696"/>
                  </a:lnTo>
                  <a:lnTo>
                    <a:pt x="107696" y="2520696"/>
                  </a:lnTo>
                  <a:lnTo>
                    <a:pt x="93648" y="2517860"/>
                  </a:lnTo>
                  <a:lnTo>
                    <a:pt x="82184" y="2510129"/>
                  </a:lnTo>
                  <a:lnTo>
                    <a:pt x="74459" y="2498664"/>
                  </a:lnTo>
                  <a:lnTo>
                    <a:pt x="71628" y="2484628"/>
                  </a:lnTo>
                  <a:lnTo>
                    <a:pt x="71628" y="2340356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32737" y="3429761"/>
              <a:ext cx="6768465" cy="576580"/>
            </a:xfrm>
            <a:custGeom>
              <a:avLst/>
              <a:gdLst/>
              <a:ahLst/>
              <a:cxnLst/>
              <a:rect l="l" t="t" r="r" b="b"/>
              <a:pathLst>
                <a:path w="6768465" h="576579">
                  <a:moveTo>
                    <a:pt x="6672071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57"/>
                  </a:lnTo>
                  <a:lnTo>
                    <a:pt x="28098" y="547973"/>
                  </a:lnTo>
                  <a:lnTo>
                    <a:pt x="58614" y="568535"/>
                  </a:lnTo>
                  <a:lnTo>
                    <a:pt x="96012" y="576071"/>
                  </a:lnTo>
                  <a:lnTo>
                    <a:pt x="6672071" y="576071"/>
                  </a:lnTo>
                  <a:lnTo>
                    <a:pt x="6709469" y="568535"/>
                  </a:lnTo>
                  <a:lnTo>
                    <a:pt x="6739985" y="547973"/>
                  </a:lnTo>
                  <a:lnTo>
                    <a:pt x="6760547" y="517457"/>
                  </a:lnTo>
                  <a:lnTo>
                    <a:pt x="6768084" y="480060"/>
                  </a:lnTo>
                  <a:lnTo>
                    <a:pt x="6768084" y="96012"/>
                  </a:lnTo>
                  <a:lnTo>
                    <a:pt x="6760547" y="58614"/>
                  </a:lnTo>
                  <a:lnTo>
                    <a:pt x="6739985" y="28098"/>
                  </a:lnTo>
                  <a:lnTo>
                    <a:pt x="6709469" y="7536"/>
                  </a:lnTo>
                  <a:lnTo>
                    <a:pt x="6672071" y="0"/>
                  </a:lnTo>
                  <a:close/>
                </a:path>
              </a:pathLst>
            </a:custGeom>
            <a:solidFill>
              <a:srgbClr val="4E8542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32737" y="3429761"/>
              <a:ext cx="6768465" cy="576580"/>
            </a:xfrm>
            <a:custGeom>
              <a:avLst/>
              <a:gdLst/>
              <a:ahLst/>
              <a:cxnLst/>
              <a:rect l="l" t="t" r="r" b="b"/>
              <a:pathLst>
                <a:path w="6768465" h="576579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6672071" y="0"/>
                  </a:lnTo>
                  <a:lnTo>
                    <a:pt x="6709469" y="7536"/>
                  </a:lnTo>
                  <a:lnTo>
                    <a:pt x="6739985" y="28098"/>
                  </a:lnTo>
                  <a:lnTo>
                    <a:pt x="6760547" y="58614"/>
                  </a:lnTo>
                  <a:lnTo>
                    <a:pt x="6768084" y="96012"/>
                  </a:lnTo>
                  <a:lnTo>
                    <a:pt x="6768084" y="480060"/>
                  </a:lnTo>
                  <a:lnTo>
                    <a:pt x="6760547" y="517457"/>
                  </a:lnTo>
                  <a:lnTo>
                    <a:pt x="6739985" y="547973"/>
                  </a:lnTo>
                  <a:lnTo>
                    <a:pt x="6709469" y="568535"/>
                  </a:lnTo>
                  <a:lnTo>
                    <a:pt x="6672071" y="576071"/>
                  </a:lnTo>
                  <a:lnTo>
                    <a:pt x="96012" y="576071"/>
                  </a:lnTo>
                  <a:lnTo>
                    <a:pt x="58614" y="568535"/>
                  </a:lnTo>
                  <a:lnTo>
                    <a:pt x="28098" y="547973"/>
                  </a:lnTo>
                  <a:lnTo>
                    <a:pt x="7536" y="517457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32737" y="4869941"/>
              <a:ext cx="6768465" cy="238125"/>
            </a:xfrm>
            <a:custGeom>
              <a:avLst/>
              <a:gdLst/>
              <a:ahLst/>
              <a:cxnLst/>
              <a:rect l="l" t="t" r="r" b="b"/>
              <a:pathLst>
                <a:path w="6768465" h="238125">
                  <a:moveTo>
                    <a:pt x="6728459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3"/>
                  </a:lnTo>
                  <a:lnTo>
                    <a:pt x="0" y="198119"/>
                  </a:lnTo>
                  <a:lnTo>
                    <a:pt x="3119" y="213526"/>
                  </a:lnTo>
                  <a:lnTo>
                    <a:pt x="11620" y="226123"/>
                  </a:lnTo>
                  <a:lnTo>
                    <a:pt x="24217" y="234624"/>
                  </a:lnTo>
                  <a:lnTo>
                    <a:pt x="39624" y="237743"/>
                  </a:lnTo>
                  <a:lnTo>
                    <a:pt x="6728459" y="237743"/>
                  </a:lnTo>
                  <a:lnTo>
                    <a:pt x="6743866" y="234624"/>
                  </a:lnTo>
                  <a:lnTo>
                    <a:pt x="6756463" y="226123"/>
                  </a:lnTo>
                  <a:lnTo>
                    <a:pt x="6764964" y="213526"/>
                  </a:lnTo>
                  <a:lnTo>
                    <a:pt x="6768084" y="198119"/>
                  </a:lnTo>
                  <a:lnTo>
                    <a:pt x="6768084" y="39623"/>
                  </a:lnTo>
                  <a:lnTo>
                    <a:pt x="6764964" y="24217"/>
                  </a:lnTo>
                  <a:lnTo>
                    <a:pt x="6756463" y="11620"/>
                  </a:lnTo>
                  <a:lnTo>
                    <a:pt x="6743866" y="3119"/>
                  </a:lnTo>
                  <a:lnTo>
                    <a:pt x="6728459" y="0"/>
                  </a:lnTo>
                  <a:close/>
                </a:path>
              </a:pathLst>
            </a:custGeom>
            <a:solidFill>
              <a:srgbClr val="4E8542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32737" y="4869941"/>
              <a:ext cx="6768465" cy="238125"/>
            </a:xfrm>
            <a:custGeom>
              <a:avLst/>
              <a:gdLst/>
              <a:ahLst/>
              <a:cxnLst/>
              <a:rect l="l" t="t" r="r" b="b"/>
              <a:pathLst>
                <a:path w="6768465" h="238125">
                  <a:moveTo>
                    <a:pt x="0" y="39623"/>
                  </a:moveTo>
                  <a:lnTo>
                    <a:pt x="3119" y="24217"/>
                  </a:lnTo>
                  <a:lnTo>
                    <a:pt x="11620" y="11620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6728459" y="0"/>
                  </a:lnTo>
                  <a:lnTo>
                    <a:pt x="6743866" y="3119"/>
                  </a:lnTo>
                  <a:lnTo>
                    <a:pt x="6756463" y="11620"/>
                  </a:lnTo>
                  <a:lnTo>
                    <a:pt x="6764964" y="24217"/>
                  </a:lnTo>
                  <a:lnTo>
                    <a:pt x="6768084" y="39623"/>
                  </a:lnTo>
                  <a:lnTo>
                    <a:pt x="6768084" y="198119"/>
                  </a:lnTo>
                  <a:lnTo>
                    <a:pt x="6764964" y="213526"/>
                  </a:lnTo>
                  <a:lnTo>
                    <a:pt x="6756463" y="226123"/>
                  </a:lnTo>
                  <a:lnTo>
                    <a:pt x="6743866" y="234624"/>
                  </a:lnTo>
                  <a:lnTo>
                    <a:pt x="6728459" y="237743"/>
                  </a:lnTo>
                  <a:lnTo>
                    <a:pt x="39624" y="237743"/>
                  </a:lnTo>
                  <a:lnTo>
                    <a:pt x="24217" y="234624"/>
                  </a:lnTo>
                  <a:lnTo>
                    <a:pt x="11620" y="226123"/>
                  </a:lnTo>
                  <a:lnTo>
                    <a:pt x="3119" y="213526"/>
                  </a:lnTo>
                  <a:lnTo>
                    <a:pt x="0" y="198119"/>
                  </a:lnTo>
                  <a:lnTo>
                    <a:pt x="0" y="39623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0" marR="5080" indent="-94361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Another </a:t>
            </a:r>
            <a:r>
              <a:rPr sz="4400" spc="-15" dirty="0"/>
              <a:t>feature</a:t>
            </a:r>
            <a:r>
              <a:rPr sz="4400" spc="-70" dirty="0"/>
              <a:t> </a:t>
            </a:r>
            <a:r>
              <a:rPr sz="4400" spc="-5" dirty="0"/>
              <a:t>selection  </a:t>
            </a:r>
            <a:r>
              <a:rPr sz="4400" dirty="0"/>
              <a:t>criterion:</a:t>
            </a:r>
            <a:r>
              <a:rPr sz="4400" spc="-45" dirty="0"/>
              <a:t> </a:t>
            </a:r>
            <a:r>
              <a:rPr sz="4400" spc="-15" dirty="0"/>
              <a:t>Entropy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36177"/>
            <a:ext cx="6881495" cy="27228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Used in the </a:t>
            </a:r>
            <a:r>
              <a:rPr sz="2800" spc="-10" dirty="0">
                <a:latin typeface="Segoe UI"/>
                <a:cs typeface="Segoe UI"/>
              </a:rPr>
              <a:t>ID3 </a:t>
            </a:r>
            <a:r>
              <a:rPr sz="2800" spc="-5" dirty="0">
                <a:latin typeface="Segoe UI"/>
                <a:cs typeface="Segoe UI"/>
              </a:rPr>
              <a:t>algorithm [Quinlan]</a:t>
            </a:r>
            <a:endParaRPr sz="2800" dirty="0">
              <a:latin typeface="Segoe UI"/>
              <a:cs typeface="Segoe UI"/>
            </a:endParaRPr>
          </a:p>
          <a:p>
            <a:pPr marL="756285" marR="59690" indent="-28702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dirty="0">
                <a:latin typeface="Segoe UI"/>
                <a:cs typeface="Segoe UI"/>
              </a:rPr>
              <a:t>pick </a:t>
            </a:r>
            <a:r>
              <a:rPr sz="2400" spc="-5" dirty="0">
                <a:latin typeface="Segoe UI"/>
                <a:cs typeface="Segoe UI"/>
              </a:rPr>
              <a:t>feature </a:t>
            </a:r>
            <a:r>
              <a:rPr sz="2400" dirty="0">
                <a:latin typeface="Segoe UI"/>
                <a:cs typeface="Segoe UI"/>
              </a:rPr>
              <a:t>with </a:t>
            </a:r>
            <a:r>
              <a:rPr sz="2400" spc="-5" dirty="0">
                <a:latin typeface="Segoe UI"/>
                <a:cs typeface="Segoe UI"/>
              </a:rPr>
              <a:t>smallest entropy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spc="-5" dirty="0">
                <a:latin typeface="Segoe UI"/>
                <a:cs typeface="Segoe UI"/>
              </a:rPr>
              <a:t>split </a:t>
            </a:r>
            <a:r>
              <a:rPr sz="2400" dirty="0">
                <a:latin typeface="Segoe UI"/>
                <a:cs typeface="Segoe UI"/>
              </a:rPr>
              <a:t>the  examples at </a:t>
            </a:r>
            <a:r>
              <a:rPr sz="2400" spc="-10" dirty="0">
                <a:latin typeface="Segoe UI"/>
                <a:cs typeface="Segoe UI"/>
              </a:rPr>
              <a:t>current</a:t>
            </a:r>
            <a:r>
              <a:rPr sz="2400" spc="-5" dirty="0">
                <a:latin typeface="Segoe UI"/>
                <a:cs typeface="Segoe UI"/>
              </a:rPr>
              <a:t> iteration</a:t>
            </a:r>
            <a:endParaRPr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50" dirty="0">
              <a:latin typeface="Segoe UI"/>
              <a:cs typeface="Segoe UI"/>
            </a:endParaRPr>
          </a:p>
          <a:p>
            <a:pPr marL="355600" marR="8255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Entropy measures </a:t>
            </a:r>
            <a:r>
              <a:rPr sz="2800" spc="-5" dirty="0">
                <a:latin typeface="Segoe UI"/>
                <a:cs typeface="Segoe UI"/>
              </a:rPr>
              <a:t>impurity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dirty="0">
                <a:latin typeface="Segoe UI"/>
                <a:cs typeface="Segoe UI"/>
              </a:rPr>
              <a:t>sample </a:t>
            </a:r>
            <a:r>
              <a:rPr sz="2800" spc="-25" dirty="0">
                <a:latin typeface="Segoe UI"/>
                <a:cs typeface="Segoe UI"/>
              </a:rPr>
              <a:t>of  </a:t>
            </a:r>
            <a:r>
              <a:rPr sz="2800" spc="-5" dirty="0">
                <a:latin typeface="Segoe UI"/>
                <a:cs typeface="Segoe UI"/>
              </a:rPr>
              <a:t>examples</a:t>
            </a:r>
            <a:endParaRPr sz="2800" dirty="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378" y="4797573"/>
            <a:ext cx="7137174" cy="18270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4692" y="657012"/>
            <a:ext cx="1797908" cy="61555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50" dirty="0">
                <a:latin typeface="Calibri Light"/>
                <a:cs typeface="Calibri Light"/>
              </a:rPr>
              <a:t>E</a:t>
            </a:r>
            <a:r>
              <a:rPr sz="3900" spc="5" dirty="0">
                <a:latin typeface="Calibri Light"/>
                <a:cs typeface="Calibri Light"/>
              </a:rPr>
              <a:t>n</a:t>
            </a:r>
            <a:r>
              <a:rPr sz="3900" spc="25" dirty="0">
                <a:latin typeface="Calibri Light"/>
                <a:cs typeface="Calibri Light"/>
              </a:rPr>
              <a:t>t</a:t>
            </a:r>
            <a:r>
              <a:rPr sz="3900" spc="-55" dirty="0">
                <a:latin typeface="Calibri Light"/>
                <a:cs typeface="Calibri Light"/>
              </a:rPr>
              <a:t>r</a:t>
            </a:r>
            <a:r>
              <a:rPr sz="3900" spc="50" dirty="0">
                <a:latin typeface="Calibri Light"/>
                <a:cs typeface="Calibri Light"/>
              </a:rPr>
              <a:t>o</a:t>
            </a:r>
            <a:r>
              <a:rPr sz="3900" spc="25" dirty="0">
                <a:latin typeface="Calibri Light"/>
                <a:cs typeface="Calibri Light"/>
              </a:rPr>
              <a:t>p</a:t>
            </a:r>
            <a:r>
              <a:rPr sz="3900" spc="40" dirty="0">
                <a:latin typeface="Calibri Light"/>
                <a:cs typeface="Calibri Light"/>
              </a:rPr>
              <a:t>y</a:t>
            </a:r>
            <a:endParaRPr sz="39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988" y="1521661"/>
            <a:ext cx="8126730" cy="38100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450"/>
              </a:spcBef>
              <a:buSzPct val="102127"/>
              <a:buFont typeface="Arial"/>
              <a:buChar char="•"/>
              <a:tabLst>
                <a:tab pos="266700" algn="l"/>
              </a:tabLst>
            </a:pPr>
            <a:r>
              <a:rPr sz="3525" b="1" spc="60" baseline="1182" dirty="0">
                <a:latin typeface="Segoe UI Emoji"/>
                <a:cs typeface="Segoe UI Emoji"/>
              </a:rPr>
              <a:t>Entropy (Information</a:t>
            </a:r>
            <a:r>
              <a:rPr sz="3525" b="1" spc="22" baseline="1182" dirty="0">
                <a:latin typeface="Segoe UI Emoji"/>
                <a:cs typeface="Segoe UI Emoji"/>
              </a:rPr>
              <a:t> </a:t>
            </a:r>
            <a:r>
              <a:rPr sz="3525" b="1" spc="82" baseline="1182" dirty="0">
                <a:latin typeface="Segoe UI Emoji"/>
                <a:cs typeface="Segoe UI Emoji"/>
              </a:rPr>
              <a:t>Theory)</a:t>
            </a:r>
            <a:endParaRPr sz="3525" baseline="1182">
              <a:latin typeface="Segoe UI Emoji"/>
              <a:cs typeface="Segoe UI Emoji"/>
            </a:endParaRPr>
          </a:p>
          <a:p>
            <a:pPr marL="723265" lvl="1" indent="-22860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723265" algn="l"/>
                <a:tab pos="723900" algn="l"/>
              </a:tabLst>
            </a:pPr>
            <a:r>
              <a:rPr sz="2200" dirty="0">
                <a:latin typeface="Segoe UI Emoji"/>
                <a:cs typeface="Segoe UI Emoji"/>
              </a:rPr>
              <a:t>A </a:t>
            </a:r>
            <a:r>
              <a:rPr sz="2200" spc="-5" dirty="0">
                <a:latin typeface="Segoe UI Emoji"/>
                <a:cs typeface="Segoe UI Emoji"/>
              </a:rPr>
              <a:t>measure </a:t>
            </a:r>
            <a:r>
              <a:rPr sz="2200" spc="-25" dirty="0">
                <a:latin typeface="Segoe UI Emoji"/>
                <a:cs typeface="Segoe UI Emoji"/>
              </a:rPr>
              <a:t>of </a:t>
            </a:r>
            <a:r>
              <a:rPr sz="2200" spc="5" dirty="0">
                <a:latin typeface="Segoe UI Emoji"/>
                <a:cs typeface="Segoe UI Emoji"/>
              </a:rPr>
              <a:t>uncertainty </a:t>
            </a:r>
            <a:r>
              <a:rPr sz="2200" spc="-5" dirty="0">
                <a:latin typeface="Segoe UI Emoji"/>
                <a:cs typeface="Segoe UI Emoji"/>
              </a:rPr>
              <a:t>associated with </a:t>
            </a:r>
            <a:r>
              <a:rPr sz="2200" dirty="0">
                <a:latin typeface="Segoe UI Emoji"/>
                <a:cs typeface="Segoe UI Emoji"/>
              </a:rPr>
              <a:t>a </a:t>
            </a:r>
            <a:r>
              <a:rPr sz="2200" spc="-5" dirty="0">
                <a:latin typeface="Segoe UI Emoji"/>
                <a:cs typeface="Segoe UI Emoji"/>
              </a:rPr>
              <a:t>random</a:t>
            </a:r>
            <a:r>
              <a:rPr sz="2200" spc="15" dirty="0">
                <a:latin typeface="Segoe UI Emoji"/>
                <a:cs typeface="Segoe UI Emoji"/>
              </a:rPr>
              <a:t> </a:t>
            </a:r>
            <a:r>
              <a:rPr sz="2200" spc="-5" dirty="0">
                <a:latin typeface="Segoe UI Emoji"/>
                <a:cs typeface="Segoe UI Emoji"/>
              </a:rPr>
              <a:t>number</a:t>
            </a:r>
            <a:endParaRPr sz="2200">
              <a:latin typeface="Segoe UI Emoji"/>
              <a:cs typeface="Segoe UI Emoji"/>
            </a:endParaRPr>
          </a:p>
          <a:p>
            <a:pPr marL="722630" lvl="1" indent="-229235">
              <a:lnSpc>
                <a:spcPts val="2520"/>
              </a:lnSpc>
              <a:spcBef>
                <a:spcPts val="170"/>
              </a:spcBef>
              <a:buFont typeface="Arial"/>
              <a:buChar char="•"/>
              <a:tabLst>
                <a:tab pos="722630" algn="l"/>
                <a:tab pos="723265" algn="l"/>
                <a:tab pos="2305050" algn="l"/>
              </a:tabLst>
            </a:pPr>
            <a:r>
              <a:rPr sz="2200" u="sng" dirty="0">
                <a:uFill>
                  <a:solidFill>
                    <a:srgbClr val="000000"/>
                  </a:solidFill>
                </a:uFill>
                <a:latin typeface="Segoe UI Emoji"/>
                <a:cs typeface="Segoe UI Emoji"/>
              </a:rPr>
              <a:t>Calculation</a:t>
            </a:r>
            <a:r>
              <a:rPr sz="2200" dirty="0">
                <a:latin typeface="Segoe UI Emoji"/>
                <a:cs typeface="Segoe UI Emoji"/>
              </a:rPr>
              <a:t>:	</a:t>
            </a:r>
            <a:r>
              <a:rPr sz="2200" spc="-5" dirty="0">
                <a:latin typeface="Segoe UI Emoji"/>
                <a:cs typeface="Segoe UI Emoji"/>
              </a:rPr>
              <a:t>For a </a:t>
            </a:r>
            <a:r>
              <a:rPr sz="2200" spc="-10" dirty="0">
                <a:latin typeface="Segoe UI Emoji"/>
                <a:cs typeface="Segoe UI Emoji"/>
              </a:rPr>
              <a:t>discrete </a:t>
            </a:r>
            <a:r>
              <a:rPr sz="2200" spc="-5" dirty="0">
                <a:latin typeface="Segoe UI Emoji"/>
                <a:cs typeface="Segoe UI Emoji"/>
              </a:rPr>
              <a:t>random </a:t>
            </a:r>
            <a:r>
              <a:rPr sz="2200" spc="-10" dirty="0">
                <a:latin typeface="Segoe UI Emoji"/>
                <a:cs typeface="Segoe UI Emoji"/>
              </a:rPr>
              <a:t>variable </a:t>
            </a:r>
            <a:r>
              <a:rPr sz="2200" spc="-5" dirty="0">
                <a:latin typeface="Segoe UI Emoji"/>
                <a:cs typeface="Segoe UI Emoji"/>
              </a:rPr>
              <a:t>Y taking</a:t>
            </a:r>
            <a:r>
              <a:rPr sz="2200" spc="50" dirty="0">
                <a:latin typeface="Segoe UI Emoji"/>
                <a:cs typeface="Segoe UI Emoji"/>
              </a:rPr>
              <a:t> </a:t>
            </a:r>
            <a:r>
              <a:rPr sz="2200" spc="-10" dirty="0">
                <a:latin typeface="Segoe UI Emoji"/>
                <a:cs typeface="Segoe UI Emoji"/>
              </a:rPr>
              <a:t>m</a:t>
            </a:r>
            <a:endParaRPr sz="2200">
              <a:latin typeface="Segoe UI Emoji"/>
              <a:cs typeface="Segoe UI Emoji"/>
            </a:endParaRPr>
          </a:p>
          <a:p>
            <a:pPr marL="723900">
              <a:lnSpc>
                <a:spcPts val="2520"/>
              </a:lnSpc>
            </a:pPr>
            <a:r>
              <a:rPr sz="2200" spc="-5" dirty="0">
                <a:latin typeface="Segoe UI Emoji"/>
                <a:cs typeface="Segoe UI Emoji"/>
              </a:rPr>
              <a:t>distinct </a:t>
            </a:r>
            <a:r>
              <a:rPr sz="2200" spc="-10" dirty="0">
                <a:latin typeface="Segoe UI Emoji"/>
                <a:cs typeface="Segoe UI Emoji"/>
              </a:rPr>
              <a:t>values </a:t>
            </a:r>
            <a:r>
              <a:rPr sz="2200" spc="-5" dirty="0">
                <a:latin typeface="Segoe UI Emoji"/>
                <a:cs typeface="Segoe UI Emoji"/>
              </a:rPr>
              <a:t>{y</a:t>
            </a:r>
            <a:r>
              <a:rPr sz="2175" spc="-7" baseline="-19157" dirty="0">
                <a:latin typeface="Segoe UI Emoji"/>
                <a:cs typeface="Segoe UI Emoji"/>
              </a:rPr>
              <a:t>1</a:t>
            </a:r>
            <a:r>
              <a:rPr sz="2200" spc="-5" dirty="0">
                <a:latin typeface="Segoe UI Emoji"/>
                <a:cs typeface="Segoe UI Emoji"/>
              </a:rPr>
              <a:t>, y</a:t>
            </a:r>
            <a:r>
              <a:rPr sz="2175" spc="-7" baseline="-19157" dirty="0">
                <a:latin typeface="Segoe UI Emoji"/>
                <a:cs typeface="Segoe UI Emoji"/>
              </a:rPr>
              <a:t>2</a:t>
            </a:r>
            <a:r>
              <a:rPr sz="2200" spc="-5" dirty="0">
                <a:latin typeface="Segoe UI Emoji"/>
                <a:cs typeface="Segoe UI Emoji"/>
              </a:rPr>
              <a:t>, …,</a:t>
            </a:r>
            <a:r>
              <a:rPr sz="2200" spc="10" dirty="0">
                <a:latin typeface="Segoe UI Emoji"/>
                <a:cs typeface="Segoe UI Emoji"/>
              </a:rPr>
              <a:t> </a:t>
            </a:r>
            <a:r>
              <a:rPr sz="2200" dirty="0">
                <a:latin typeface="Segoe UI Emoji"/>
                <a:cs typeface="Segoe UI Emoji"/>
              </a:rPr>
              <a:t>y</a:t>
            </a:r>
            <a:r>
              <a:rPr sz="2175" baseline="-19157" dirty="0">
                <a:latin typeface="Segoe UI Emoji"/>
                <a:cs typeface="Segoe UI Emoji"/>
              </a:rPr>
              <a:t>m</a:t>
            </a:r>
            <a:r>
              <a:rPr sz="2200" dirty="0">
                <a:latin typeface="Segoe UI Emoji"/>
                <a:cs typeface="Segoe UI Emoji"/>
              </a:rPr>
              <a:t>}</a:t>
            </a:r>
            <a:endParaRPr sz="2200">
              <a:latin typeface="Segoe UI Emoji"/>
              <a:cs typeface="Segoe UI Emoji"/>
            </a:endParaRPr>
          </a:p>
          <a:p>
            <a:pPr>
              <a:lnSpc>
                <a:spcPct val="100000"/>
              </a:lnSpc>
            </a:pPr>
            <a:endParaRPr sz="3200">
              <a:latin typeface="Segoe UI Emoji"/>
              <a:cs typeface="Segoe UI Emoji"/>
            </a:endParaRPr>
          </a:p>
          <a:p>
            <a:pPr marL="723265" lvl="1" indent="-228600">
              <a:lnSpc>
                <a:spcPct val="100000"/>
              </a:lnSpc>
              <a:spcBef>
                <a:spcPts val="2200"/>
              </a:spcBef>
              <a:buFont typeface="Arial"/>
              <a:buChar char="•"/>
              <a:tabLst>
                <a:tab pos="723265" algn="l"/>
                <a:tab pos="723900" algn="l"/>
              </a:tabLst>
            </a:pPr>
            <a:r>
              <a:rPr sz="2200" spc="-5" dirty="0">
                <a:latin typeface="Segoe UI Emoji"/>
                <a:cs typeface="Segoe UI Emoji"/>
              </a:rPr>
              <a:t>Interpretation</a:t>
            </a:r>
            <a:endParaRPr sz="2200">
              <a:latin typeface="Segoe UI Emoji"/>
              <a:cs typeface="Segoe UI Emoji"/>
            </a:endParaRPr>
          </a:p>
          <a:p>
            <a:pPr marL="1179830" lvl="2" indent="-22923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1179830" algn="l"/>
                <a:tab pos="1180465" algn="l"/>
              </a:tabLst>
            </a:pPr>
            <a:r>
              <a:rPr sz="2200" dirty="0">
                <a:latin typeface="Segoe UI Emoji"/>
                <a:cs typeface="Segoe UI Emoji"/>
              </a:rPr>
              <a:t>Higher </a:t>
            </a:r>
            <a:r>
              <a:rPr sz="2200" spc="-10" dirty="0">
                <a:latin typeface="Segoe UI Emoji"/>
                <a:cs typeface="Segoe UI Emoji"/>
              </a:rPr>
              <a:t>entropy </a:t>
            </a:r>
            <a:r>
              <a:rPr sz="2200" dirty="0">
                <a:latin typeface="Segoe UI Emoji"/>
                <a:cs typeface="Segoe UI Emoji"/>
              </a:rPr>
              <a:t>→ higher</a:t>
            </a:r>
            <a:r>
              <a:rPr sz="2200" spc="-25" dirty="0">
                <a:latin typeface="Segoe UI Emoji"/>
                <a:cs typeface="Segoe UI Emoji"/>
              </a:rPr>
              <a:t> </a:t>
            </a:r>
            <a:r>
              <a:rPr sz="2200" spc="5" dirty="0">
                <a:latin typeface="Segoe UI Emoji"/>
                <a:cs typeface="Segoe UI Emoji"/>
              </a:rPr>
              <a:t>uncertainty</a:t>
            </a:r>
            <a:endParaRPr sz="2200">
              <a:latin typeface="Segoe UI Emoji"/>
              <a:cs typeface="Segoe UI Emoji"/>
            </a:endParaRPr>
          </a:p>
          <a:p>
            <a:pPr marL="1179830" lvl="2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1179195" algn="l"/>
                <a:tab pos="1179830" algn="l"/>
              </a:tabLst>
            </a:pPr>
            <a:r>
              <a:rPr sz="2200" spc="-5" dirty="0">
                <a:latin typeface="Segoe UI Emoji"/>
                <a:cs typeface="Segoe UI Emoji"/>
              </a:rPr>
              <a:t>Lower </a:t>
            </a:r>
            <a:r>
              <a:rPr sz="2200" spc="-10" dirty="0">
                <a:latin typeface="Segoe UI Emoji"/>
                <a:cs typeface="Segoe UI Emoji"/>
              </a:rPr>
              <a:t>entropy </a:t>
            </a:r>
            <a:r>
              <a:rPr sz="2200" dirty="0">
                <a:latin typeface="Segoe UI Emoji"/>
                <a:cs typeface="Segoe UI Emoji"/>
              </a:rPr>
              <a:t>→ </a:t>
            </a:r>
            <a:r>
              <a:rPr sz="2200" spc="-5" dirty="0">
                <a:latin typeface="Segoe UI Emoji"/>
                <a:cs typeface="Segoe UI Emoji"/>
              </a:rPr>
              <a:t>lower</a:t>
            </a:r>
            <a:r>
              <a:rPr sz="2200" spc="-20" dirty="0">
                <a:latin typeface="Segoe UI Emoji"/>
                <a:cs typeface="Segoe UI Emoji"/>
              </a:rPr>
              <a:t> </a:t>
            </a:r>
            <a:r>
              <a:rPr sz="2200" spc="5" dirty="0">
                <a:latin typeface="Segoe UI Emoji"/>
                <a:cs typeface="Segoe UI Emoji"/>
              </a:rPr>
              <a:t>uncertainty</a:t>
            </a:r>
            <a:endParaRPr sz="2200">
              <a:latin typeface="Segoe UI Emoji"/>
              <a:cs typeface="Segoe UI Emoji"/>
            </a:endParaRPr>
          </a:p>
          <a:p>
            <a:pPr marL="266700" indent="-228600">
              <a:lnSpc>
                <a:spcPct val="100000"/>
              </a:lnSpc>
              <a:spcBef>
                <a:spcPts val="810"/>
              </a:spcBef>
              <a:buSzPct val="102127"/>
              <a:buFont typeface="Arial"/>
              <a:buChar char="•"/>
              <a:tabLst>
                <a:tab pos="266700" algn="l"/>
              </a:tabLst>
            </a:pPr>
            <a:r>
              <a:rPr sz="3525" b="1" spc="67" baseline="1182" dirty="0">
                <a:latin typeface="Segoe UI Emoji"/>
                <a:cs typeface="Segoe UI Emoji"/>
              </a:rPr>
              <a:t>Conditional</a:t>
            </a:r>
            <a:r>
              <a:rPr sz="3525" b="1" spc="44" baseline="1182" dirty="0">
                <a:latin typeface="Segoe UI Emoji"/>
                <a:cs typeface="Segoe UI Emoji"/>
              </a:rPr>
              <a:t> </a:t>
            </a:r>
            <a:r>
              <a:rPr sz="3525" b="1" spc="60" baseline="1182" dirty="0">
                <a:latin typeface="Segoe UI Emoji"/>
                <a:cs typeface="Segoe UI Emoji"/>
              </a:rPr>
              <a:t>entropy</a:t>
            </a:r>
            <a:endParaRPr sz="3525" baseline="1182">
              <a:latin typeface="Segoe UI Emoji"/>
              <a:cs typeface="Segoe UI Emoj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00175" y="3038805"/>
            <a:ext cx="7555230" cy="3051175"/>
            <a:chOff x="1400175" y="3038805"/>
            <a:chExt cx="7555230" cy="30511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5664" y="3590544"/>
              <a:ext cx="2499360" cy="24993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0175" y="3038805"/>
              <a:ext cx="5221617" cy="7399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0175" y="5526929"/>
              <a:ext cx="3508070" cy="53371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522109" y="6152164"/>
            <a:ext cx="802005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50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5"/>
              </a:spcBef>
            </a:pPr>
            <a:r>
              <a:rPr sz="1600" b="1" dirty="0">
                <a:latin typeface="Tahoma"/>
                <a:cs typeface="Tahoma"/>
              </a:rPr>
              <a:t>m =</a:t>
            </a:r>
            <a:r>
              <a:rPr sz="1600" b="1" spc="-4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2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9305" y="657013"/>
            <a:ext cx="348615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5" dirty="0">
                <a:latin typeface="Calibri Light"/>
                <a:cs typeface="Calibri Light"/>
              </a:rPr>
              <a:t>Information</a:t>
            </a:r>
            <a:r>
              <a:rPr sz="3900" spc="-40" dirty="0">
                <a:latin typeface="Calibri Light"/>
                <a:cs typeface="Calibri Light"/>
              </a:rPr>
              <a:t> </a:t>
            </a:r>
            <a:r>
              <a:rPr sz="3900" spc="45" dirty="0">
                <a:latin typeface="Calibri Light"/>
                <a:cs typeface="Calibri Light"/>
              </a:rPr>
              <a:t>Gain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6993" y="3447958"/>
            <a:ext cx="13271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i="1" spc="45" dirty="0">
                <a:latin typeface="Times New Roman"/>
                <a:cs typeface="Times New Roman"/>
              </a:rPr>
              <a:t>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694690" y="1573276"/>
            <a:ext cx="8073390" cy="32547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indent="-228600">
              <a:lnSpc>
                <a:spcPts val="2520"/>
              </a:lnSpc>
              <a:spcBef>
                <a:spcPts val="1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pc="-5" dirty="0"/>
              <a:t>Select </a:t>
            </a:r>
            <a:r>
              <a:rPr dirty="0"/>
              <a:t>the </a:t>
            </a:r>
            <a:r>
              <a:rPr spc="-5" dirty="0"/>
              <a:t>attribute with </a:t>
            </a:r>
            <a:r>
              <a:rPr dirty="0"/>
              <a:t>the </a:t>
            </a:r>
            <a:r>
              <a:rPr dirty="0">
                <a:solidFill>
                  <a:srgbClr val="C00000"/>
                </a:solidFill>
              </a:rPr>
              <a:t>highest </a:t>
            </a:r>
            <a:r>
              <a:rPr spc="-5" dirty="0"/>
              <a:t>information </a:t>
            </a:r>
            <a:r>
              <a:rPr dirty="0"/>
              <a:t>gain </a:t>
            </a:r>
            <a:r>
              <a:rPr spc="-5" dirty="0"/>
              <a:t>(used</a:t>
            </a:r>
            <a:r>
              <a:rPr spc="35" dirty="0"/>
              <a:t> </a:t>
            </a:r>
            <a:r>
              <a:rPr dirty="0"/>
              <a:t>in</a:t>
            </a:r>
          </a:p>
          <a:p>
            <a:pPr marL="254000">
              <a:lnSpc>
                <a:spcPts val="2520"/>
              </a:lnSpc>
            </a:pPr>
            <a:r>
              <a:rPr dirty="0"/>
              <a:t>classical algorithms:</a:t>
            </a:r>
            <a:r>
              <a:rPr spc="-10" dirty="0"/>
              <a:t> </a:t>
            </a:r>
            <a:r>
              <a:rPr spc="-5" dirty="0"/>
              <a:t>ID3/C4.5</a:t>
            </a:r>
            <a:r>
              <a:rPr lang="en-US" spc="-5" dirty="0"/>
              <a:t>/C5</a:t>
            </a:r>
            <a:r>
              <a:rPr spc="-5" dirty="0"/>
              <a:t>)</a:t>
            </a:r>
          </a:p>
          <a:p>
            <a:pPr marL="254000" marR="156845" indent="-228600">
              <a:lnSpc>
                <a:spcPts val="2400"/>
              </a:lnSpc>
              <a:spcBef>
                <a:spcPts val="95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pc="-5" dirty="0"/>
              <a:t>Let </a:t>
            </a:r>
            <a:r>
              <a:rPr i="1" dirty="0">
                <a:latin typeface="Times New Roman"/>
                <a:cs typeface="Times New Roman"/>
              </a:rPr>
              <a:t>p</a:t>
            </a:r>
            <a:r>
              <a:rPr sz="2250" i="1" baseline="-18518" dirty="0">
                <a:latin typeface="Times New Roman"/>
                <a:cs typeface="Times New Roman"/>
              </a:rPr>
              <a:t>i </a:t>
            </a:r>
            <a:r>
              <a:rPr sz="2200" spc="-10" dirty="0"/>
              <a:t>be </a:t>
            </a:r>
            <a:r>
              <a:rPr sz="2200" dirty="0"/>
              <a:t>the </a:t>
            </a:r>
            <a:r>
              <a:rPr sz="2200" spc="-10" dirty="0"/>
              <a:t>probability </a:t>
            </a:r>
            <a:r>
              <a:rPr sz="2200" dirty="0"/>
              <a:t>that </a:t>
            </a:r>
            <a:r>
              <a:rPr sz="2200" spc="-5" dirty="0"/>
              <a:t>an </a:t>
            </a:r>
            <a:r>
              <a:rPr sz="2200" spc="5" dirty="0"/>
              <a:t>arbitrary </a:t>
            </a:r>
            <a:r>
              <a:rPr sz="2200" spc="-5" dirty="0"/>
              <a:t>tuple in </a:t>
            </a:r>
            <a:r>
              <a:rPr sz="2200" i="1" dirty="0">
                <a:latin typeface="Times New Roman"/>
                <a:cs typeface="Times New Roman"/>
              </a:rPr>
              <a:t>D </a:t>
            </a:r>
            <a:r>
              <a:rPr sz="2200" spc="-5" dirty="0"/>
              <a:t>belongs </a:t>
            </a:r>
            <a:r>
              <a:rPr sz="2200" spc="-10" dirty="0"/>
              <a:t>to  </a:t>
            </a:r>
            <a:r>
              <a:rPr sz="2200" spc="-5" dirty="0"/>
              <a:t>class </a:t>
            </a:r>
            <a:r>
              <a:rPr sz="2200" i="1" spc="-5" dirty="0">
                <a:latin typeface="Times New Roman"/>
                <a:cs typeface="Times New Roman"/>
              </a:rPr>
              <a:t>C</a:t>
            </a:r>
            <a:r>
              <a:rPr sz="2250" i="1" spc="-7" baseline="-18518" dirty="0">
                <a:latin typeface="Times New Roman"/>
                <a:cs typeface="Times New Roman"/>
              </a:rPr>
              <a:t>i</a:t>
            </a:r>
            <a:r>
              <a:rPr sz="2200" spc="-5" dirty="0"/>
              <a:t> estimated by |</a:t>
            </a:r>
            <a:r>
              <a:rPr sz="2200" i="1" spc="-5" dirty="0">
                <a:latin typeface="Times New Roman"/>
                <a:cs typeface="Times New Roman"/>
              </a:rPr>
              <a:t>C</a:t>
            </a:r>
            <a:r>
              <a:rPr sz="2250" i="1" spc="-7" baseline="-18518" dirty="0">
                <a:latin typeface="Times New Roman"/>
                <a:cs typeface="Times New Roman"/>
              </a:rPr>
              <a:t>i</a:t>
            </a:r>
            <a:r>
              <a:rPr sz="2200" spc="-5" dirty="0"/>
              <a:t>, </a:t>
            </a:r>
            <a:r>
              <a:rPr sz="2200" i="1" spc="-5" dirty="0">
                <a:latin typeface="Times New Roman"/>
                <a:cs typeface="Times New Roman"/>
              </a:rPr>
              <a:t>D</a:t>
            </a:r>
            <a:r>
              <a:rPr sz="2200" spc="-5" dirty="0"/>
              <a:t>| </a:t>
            </a:r>
            <a:r>
              <a:rPr sz="2200" dirty="0"/>
              <a:t>/</a:t>
            </a:r>
            <a:r>
              <a:rPr sz="2200" spc="5" dirty="0"/>
              <a:t> </a:t>
            </a:r>
            <a:r>
              <a:rPr sz="2200" spc="-5" dirty="0"/>
              <a:t>|</a:t>
            </a:r>
            <a:r>
              <a:rPr sz="2200" i="1" spc="-5" dirty="0">
                <a:latin typeface="Times New Roman"/>
                <a:cs typeface="Times New Roman"/>
              </a:rPr>
              <a:t>D</a:t>
            </a:r>
            <a:r>
              <a:rPr sz="2200" spc="-5" dirty="0"/>
              <a:t>|</a:t>
            </a:r>
            <a:endParaRPr sz="2200" dirty="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pc="-5" dirty="0"/>
              <a:t>Expected information </a:t>
            </a:r>
            <a:r>
              <a:rPr spc="-10" dirty="0"/>
              <a:t>(entropy) </a:t>
            </a:r>
            <a:r>
              <a:rPr spc="-5" dirty="0"/>
              <a:t>needed </a:t>
            </a:r>
            <a:r>
              <a:rPr spc="-10" dirty="0"/>
              <a:t>to </a:t>
            </a:r>
            <a:r>
              <a:rPr dirty="0"/>
              <a:t>classify a </a:t>
            </a:r>
            <a:r>
              <a:rPr spc="-5" dirty="0"/>
              <a:t>tuple </a:t>
            </a:r>
            <a:r>
              <a:rPr dirty="0"/>
              <a:t>in</a:t>
            </a:r>
            <a:r>
              <a:rPr spc="60" dirty="0"/>
              <a:t> </a:t>
            </a:r>
            <a:r>
              <a:rPr i="1" spc="-5" dirty="0">
                <a:latin typeface="Times New Roman"/>
                <a:cs typeface="Times New Roman"/>
              </a:rPr>
              <a:t>D</a:t>
            </a:r>
            <a:r>
              <a:rPr spc="-5" dirty="0"/>
              <a:t>:</a:t>
            </a:r>
          </a:p>
          <a:p>
            <a:pPr marR="292100" algn="ctr">
              <a:lnSpc>
                <a:spcPct val="100000"/>
              </a:lnSpc>
              <a:spcBef>
                <a:spcPts val="850"/>
              </a:spcBef>
            </a:pPr>
            <a:r>
              <a:rPr sz="1900" i="1" spc="60" dirty="0">
                <a:latin typeface="Times New Roman"/>
                <a:cs typeface="Times New Roman"/>
              </a:rPr>
              <a:t>Info</a:t>
            </a:r>
            <a:r>
              <a:rPr sz="1900" spc="60" dirty="0">
                <a:latin typeface="Times New Roman"/>
                <a:cs typeface="Times New Roman"/>
              </a:rPr>
              <a:t>(</a:t>
            </a:r>
            <a:r>
              <a:rPr sz="1900" i="1" spc="60" dirty="0">
                <a:latin typeface="Times New Roman"/>
                <a:cs typeface="Times New Roman"/>
              </a:rPr>
              <a:t>D</a:t>
            </a:r>
            <a:r>
              <a:rPr sz="1900" spc="60" dirty="0">
                <a:latin typeface="Times New Roman"/>
                <a:cs typeface="Times New Roman"/>
              </a:rPr>
              <a:t>)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55" dirty="0">
                <a:latin typeface="Symbol"/>
                <a:cs typeface="Symbol"/>
              </a:rPr>
              <a:t>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95" dirty="0">
                <a:latin typeface="Symbol"/>
                <a:cs typeface="Symbol"/>
              </a:rPr>
              <a:t></a:t>
            </a:r>
            <a:r>
              <a:rPr sz="4275" spc="142" baseline="-8771" dirty="0">
                <a:latin typeface="Symbol"/>
                <a:cs typeface="Symbol"/>
              </a:rPr>
              <a:t></a:t>
            </a:r>
            <a:r>
              <a:rPr sz="4275" spc="-345" baseline="-8771" dirty="0">
                <a:latin typeface="Times New Roman"/>
                <a:cs typeface="Times New Roman"/>
              </a:rPr>
              <a:t> </a:t>
            </a:r>
            <a:r>
              <a:rPr sz="1900" i="1" spc="20" dirty="0">
                <a:latin typeface="Times New Roman"/>
                <a:cs typeface="Times New Roman"/>
              </a:rPr>
              <a:t>p</a:t>
            </a:r>
            <a:r>
              <a:rPr sz="1650" i="1" spc="30" baseline="-25252" dirty="0">
                <a:latin typeface="Times New Roman"/>
                <a:cs typeface="Times New Roman"/>
              </a:rPr>
              <a:t>i</a:t>
            </a:r>
            <a:r>
              <a:rPr sz="1650" i="1" spc="292" baseline="-25252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log</a:t>
            </a:r>
            <a:r>
              <a:rPr sz="1650" spc="89" baseline="-25252" dirty="0">
                <a:latin typeface="Times New Roman"/>
                <a:cs typeface="Times New Roman"/>
              </a:rPr>
              <a:t>2</a:t>
            </a:r>
            <a:r>
              <a:rPr sz="1650" spc="-89" baseline="-25252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Times New Roman"/>
                <a:cs typeface="Times New Roman"/>
              </a:rPr>
              <a:t>(</a:t>
            </a:r>
            <a:r>
              <a:rPr sz="1900" spc="-185" dirty="0">
                <a:latin typeface="Times New Roman"/>
                <a:cs typeface="Times New Roman"/>
              </a:rPr>
              <a:t> </a:t>
            </a:r>
            <a:r>
              <a:rPr sz="1900" i="1" spc="20" dirty="0">
                <a:latin typeface="Times New Roman"/>
                <a:cs typeface="Times New Roman"/>
              </a:rPr>
              <a:t>p</a:t>
            </a:r>
            <a:r>
              <a:rPr sz="1650" i="1" spc="30" baseline="-25252" dirty="0">
                <a:latin typeface="Times New Roman"/>
                <a:cs typeface="Times New Roman"/>
              </a:rPr>
              <a:t>i</a:t>
            </a:r>
            <a:r>
              <a:rPr sz="1650" i="1" spc="-22" baseline="-25252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Times New Roman"/>
                <a:cs typeface="Times New Roman"/>
              </a:rPr>
              <a:t>)</a:t>
            </a:r>
            <a:endParaRPr sz="1900" dirty="0">
              <a:latin typeface="Times New Roman"/>
              <a:cs typeface="Times New Roman"/>
            </a:endParaRPr>
          </a:p>
          <a:p>
            <a:pPr marR="240029" algn="ctr">
              <a:lnSpc>
                <a:spcPct val="100000"/>
              </a:lnSpc>
              <a:spcBef>
                <a:spcPts val="170"/>
              </a:spcBef>
            </a:pPr>
            <a:r>
              <a:rPr sz="1100" i="1" spc="30" dirty="0">
                <a:latin typeface="Times New Roman"/>
                <a:cs typeface="Times New Roman"/>
              </a:rPr>
              <a:t>i</a:t>
            </a:r>
            <a:r>
              <a:rPr sz="1100" spc="30" dirty="0">
                <a:latin typeface="Symbol"/>
                <a:cs typeface="Symbol"/>
              </a:rPr>
              <a:t></a:t>
            </a:r>
            <a:r>
              <a:rPr sz="1100" spc="30" dirty="0">
                <a:latin typeface="Times New Roman"/>
                <a:cs typeface="Times New Roman"/>
              </a:rPr>
              <a:t>1</a:t>
            </a:r>
            <a:endParaRPr sz="1100" dirty="0">
              <a:latin typeface="Times New Roman"/>
              <a:cs typeface="Times New Roman"/>
            </a:endParaRPr>
          </a:p>
          <a:p>
            <a:pPr marL="254000" indent="-228600">
              <a:lnSpc>
                <a:spcPts val="2470"/>
              </a:lnSpc>
              <a:spcBef>
                <a:spcPts val="31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pc="-5" dirty="0"/>
              <a:t>Information needed </a:t>
            </a:r>
            <a:r>
              <a:rPr dirty="0"/>
              <a:t>(after using </a:t>
            </a:r>
            <a:r>
              <a:rPr i="1" dirty="0">
                <a:latin typeface="Times New Roman"/>
                <a:cs typeface="Times New Roman"/>
              </a:rPr>
              <a:t>A </a:t>
            </a:r>
            <a:r>
              <a:rPr sz="2150" spc="5" dirty="0"/>
              <a:t>to </a:t>
            </a:r>
            <a:r>
              <a:rPr sz="2150" spc="10" dirty="0"/>
              <a:t>split </a:t>
            </a:r>
            <a:r>
              <a:rPr i="1" dirty="0">
                <a:latin typeface="Times New Roman"/>
                <a:cs typeface="Times New Roman"/>
              </a:rPr>
              <a:t>D </a:t>
            </a:r>
            <a:r>
              <a:rPr spc="-5" dirty="0"/>
              <a:t>into </a:t>
            </a:r>
            <a:r>
              <a:rPr i="1" dirty="0">
                <a:latin typeface="Times New Roman"/>
                <a:cs typeface="Times New Roman"/>
              </a:rPr>
              <a:t>v </a:t>
            </a:r>
            <a:r>
              <a:rPr sz="2150" spc="20" dirty="0"/>
              <a:t>partitions)</a:t>
            </a:r>
            <a:r>
              <a:rPr sz="2150" spc="165" dirty="0"/>
              <a:t> </a:t>
            </a:r>
            <a:r>
              <a:rPr sz="2150" spc="-5" dirty="0"/>
              <a:t>to</a:t>
            </a:r>
            <a:endParaRPr sz="2150" dirty="0">
              <a:latin typeface="Times New Roman"/>
              <a:cs typeface="Times New Roman"/>
            </a:endParaRPr>
          </a:p>
          <a:p>
            <a:pPr marL="254000">
              <a:lnSpc>
                <a:spcPts val="2470"/>
              </a:lnSpc>
            </a:pPr>
            <a:r>
              <a:rPr dirty="0"/>
              <a:t>classify </a:t>
            </a:r>
            <a:r>
              <a:rPr i="1" dirty="0">
                <a:latin typeface="Times New Roman"/>
                <a:cs typeface="Times New Roman"/>
              </a:rPr>
              <a:t>D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spc="-5" dirty="0"/>
              <a:t>:</a:t>
            </a:r>
          </a:p>
        </p:txBody>
      </p:sp>
      <p:sp>
        <p:nvSpPr>
          <p:cNvPr id="7" name="object 7"/>
          <p:cNvSpPr/>
          <p:nvPr/>
        </p:nvSpPr>
        <p:spPr>
          <a:xfrm>
            <a:off x="4522346" y="5061942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4">
                <a:moveTo>
                  <a:pt x="0" y="0"/>
                </a:moveTo>
                <a:lnTo>
                  <a:pt x="497121" y="0"/>
                </a:lnTo>
              </a:path>
            </a:pathLst>
          </a:custGeom>
          <a:ln w="93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68182" y="5029988"/>
            <a:ext cx="68580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50" i="1" spc="45" dirty="0">
                <a:latin typeface="Times New Roman"/>
                <a:cs typeface="Times New Roman"/>
              </a:rPr>
              <a:t>j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3271" y="4876079"/>
            <a:ext cx="111823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0025" indent="-187960">
              <a:lnSpc>
                <a:spcPct val="100000"/>
              </a:lnSpc>
              <a:spcBef>
                <a:spcPts val="120"/>
              </a:spcBef>
              <a:buFont typeface="Symbol"/>
              <a:buChar char=""/>
              <a:tabLst>
                <a:tab pos="200660" algn="l"/>
              </a:tabLst>
            </a:pPr>
            <a:r>
              <a:rPr sz="1800" i="1" spc="135" dirty="0">
                <a:latin typeface="Times New Roman"/>
                <a:cs typeface="Times New Roman"/>
              </a:rPr>
              <a:t>Info</a:t>
            </a:r>
            <a:r>
              <a:rPr sz="1800" spc="135" dirty="0">
                <a:latin typeface="Times New Roman"/>
                <a:cs typeface="Times New Roman"/>
              </a:rPr>
              <a:t>(</a:t>
            </a:r>
            <a:r>
              <a:rPr sz="1800" i="1" spc="135" dirty="0">
                <a:latin typeface="Times New Roman"/>
                <a:cs typeface="Times New Roman"/>
              </a:rPr>
              <a:t>D</a:t>
            </a:r>
            <a:r>
              <a:rPr sz="1800" i="1" spc="265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4929" y="4737162"/>
            <a:ext cx="94615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50" i="1" spc="70" dirty="0">
                <a:latin typeface="Times New Roman"/>
                <a:cs typeface="Times New Roman"/>
              </a:rPr>
              <a:t>v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2295" y="4855899"/>
            <a:ext cx="68580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50" i="1" spc="45" dirty="0">
                <a:latin typeface="Times New Roman"/>
                <a:cs typeface="Times New Roman"/>
              </a:rPr>
              <a:t>j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58498" y="5056757"/>
            <a:ext cx="42481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55" dirty="0">
                <a:latin typeface="Times New Roman"/>
                <a:cs typeface="Times New Roman"/>
              </a:rPr>
              <a:t>| </a:t>
            </a:r>
            <a:r>
              <a:rPr sz="1800" i="1" spc="204" dirty="0">
                <a:latin typeface="Times New Roman"/>
                <a:cs typeface="Times New Roman"/>
              </a:rPr>
              <a:t>D</a:t>
            </a:r>
            <a:r>
              <a:rPr sz="1800" i="1" spc="-24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|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10728" y="4701971"/>
            <a:ext cx="520700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4025" algn="l"/>
              </a:tabLst>
            </a:pPr>
            <a:r>
              <a:rPr sz="1800" spc="55" dirty="0">
                <a:latin typeface="Times New Roman"/>
                <a:cs typeface="Times New Roman"/>
              </a:rPr>
              <a:t>|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204" dirty="0">
                <a:latin typeface="Times New Roman"/>
                <a:cs typeface="Times New Roman"/>
              </a:rPr>
              <a:t>D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spc="55" dirty="0">
                <a:latin typeface="Times New Roman"/>
                <a:cs typeface="Times New Roman"/>
              </a:rPr>
              <a:t>|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26330" y="5029988"/>
            <a:ext cx="120014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50" i="1" spc="10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95780" y="4876079"/>
            <a:ext cx="116522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i="1" spc="114" dirty="0">
                <a:latin typeface="Times New Roman"/>
                <a:cs typeface="Times New Roman"/>
              </a:rPr>
              <a:t>Info </a:t>
            </a:r>
            <a:r>
              <a:rPr sz="1800" spc="175" dirty="0">
                <a:latin typeface="Times New Roman"/>
                <a:cs typeface="Times New Roman"/>
              </a:rPr>
              <a:t>(</a:t>
            </a:r>
            <a:r>
              <a:rPr sz="1800" i="1" spc="175" dirty="0">
                <a:latin typeface="Times New Roman"/>
                <a:cs typeface="Times New Roman"/>
              </a:rPr>
              <a:t>D</a:t>
            </a:r>
            <a:r>
              <a:rPr sz="1800" spc="175" dirty="0">
                <a:latin typeface="Times New Roman"/>
                <a:cs typeface="Times New Roman"/>
              </a:rPr>
              <a:t>)</a:t>
            </a:r>
            <a:r>
              <a:rPr sz="1800" spc="-254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Symbol"/>
                <a:cs typeface="Symbol"/>
              </a:rPr>
              <a:t>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1842" y="4814130"/>
            <a:ext cx="295910" cy="4419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00" spc="-1120" dirty="0">
                <a:latin typeface="Symbol"/>
                <a:cs typeface="Symbol"/>
              </a:rPr>
              <a:t>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7678" y="5193310"/>
            <a:ext cx="234950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50" i="1" spc="45" dirty="0">
                <a:latin typeface="Times New Roman"/>
                <a:cs typeface="Times New Roman"/>
              </a:rPr>
              <a:t>j</a:t>
            </a:r>
            <a:r>
              <a:rPr sz="1050" i="1" spc="-204" dirty="0">
                <a:latin typeface="Times New Roman"/>
                <a:cs typeface="Times New Roman"/>
              </a:rPr>
              <a:t> </a:t>
            </a:r>
            <a:r>
              <a:rPr sz="1050" spc="45" dirty="0">
                <a:latin typeface="Symbol"/>
                <a:cs typeface="Symbol"/>
              </a:rPr>
              <a:t></a:t>
            </a:r>
            <a:r>
              <a:rPr sz="1050" spc="4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1990" y="5306111"/>
            <a:ext cx="6160770" cy="102743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500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spc="-5" dirty="0">
                <a:latin typeface="Segoe UI Emoji"/>
                <a:cs typeface="Segoe UI Emoji"/>
              </a:rPr>
              <a:t>Information </a:t>
            </a:r>
            <a:r>
              <a:rPr sz="2200" dirty="0">
                <a:latin typeface="Segoe UI Emoji"/>
                <a:cs typeface="Segoe UI Emoji"/>
              </a:rPr>
              <a:t>gained </a:t>
            </a:r>
            <a:r>
              <a:rPr sz="2200" spc="-5" dirty="0">
                <a:latin typeface="Segoe UI Emoji"/>
                <a:cs typeface="Segoe UI Emoji"/>
              </a:rPr>
              <a:t>by </a:t>
            </a:r>
            <a:r>
              <a:rPr sz="2200" dirty="0">
                <a:latin typeface="Segoe UI Emoji"/>
                <a:cs typeface="Segoe UI Emoji"/>
              </a:rPr>
              <a:t>branching </a:t>
            </a:r>
            <a:r>
              <a:rPr sz="2200" spc="-5" dirty="0">
                <a:latin typeface="Segoe UI Emoji"/>
                <a:cs typeface="Segoe UI Emoji"/>
              </a:rPr>
              <a:t>on attribute</a:t>
            </a:r>
            <a:r>
              <a:rPr sz="2200" spc="-15" dirty="0">
                <a:latin typeface="Segoe UI Emoji"/>
                <a:cs typeface="Segoe UI Emoji"/>
              </a:rPr>
              <a:t> </a:t>
            </a:r>
            <a:r>
              <a:rPr sz="2200" dirty="0">
                <a:latin typeface="Segoe UI Emoji"/>
                <a:cs typeface="Segoe UI Emoji"/>
              </a:rPr>
              <a:t>A</a:t>
            </a:r>
            <a:endParaRPr sz="2200">
              <a:latin typeface="Segoe UI Emoji"/>
              <a:cs typeface="Segoe UI Emoji"/>
            </a:endParaRPr>
          </a:p>
          <a:p>
            <a:pPr marL="2402205">
              <a:lnSpc>
                <a:spcPct val="100000"/>
              </a:lnSpc>
              <a:spcBef>
                <a:spcPts val="1330"/>
              </a:spcBef>
            </a:pPr>
            <a:r>
              <a:rPr sz="2100" i="1" spc="-5" dirty="0">
                <a:latin typeface="Times New Roman"/>
                <a:cs typeface="Times New Roman"/>
              </a:rPr>
              <a:t>Gain(A)</a:t>
            </a:r>
            <a:r>
              <a:rPr sz="2100" i="1" spc="-325" dirty="0">
                <a:latin typeface="Times New Roman"/>
                <a:cs typeface="Times New Roman"/>
              </a:rPr>
              <a:t> </a:t>
            </a:r>
            <a:r>
              <a:rPr sz="2100" spc="50" dirty="0">
                <a:latin typeface="Symbol"/>
                <a:cs typeface="Symbol"/>
              </a:rPr>
              <a:t>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Info(D)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-200" dirty="0">
                <a:latin typeface="Times New Roman"/>
                <a:cs typeface="Times New Roman"/>
              </a:rPr>
              <a:t> </a:t>
            </a:r>
            <a:r>
              <a:rPr sz="2100" i="1" spc="-5" dirty="0">
                <a:latin typeface="Times New Roman"/>
                <a:cs typeface="Times New Roman"/>
              </a:rPr>
              <a:t>Info</a:t>
            </a:r>
            <a:r>
              <a:rPr sz="1800" i="1" spc="-7" baseline="-23148" dirty="0">
                <a:latin typeface="Times New Roman"/>
                <a:cs typeface="Times New Roman"/>
              </a:rPr>
              <a:t>A</a:t>
            </a:r>
            <a:r>
              <a:rPr sz="2100" i="1" spc="-5" dirty="0">
                <a:latin typeface="Times New Roman"/>
                <a:cs typeface="Times New Roman"/>
              </a:rPr>
              <a:t>(D)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4452" y="657013"/>
            <a:ext cx="545592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5" dirty="0">
                <a:latin typeface="Calibri Light"/>
                <a:cs typeface="Calibri Light"/>
              </a:rPr>
              <a:t>Information </a:t>
            </a:r>
            <a:r>
              <a:rPr sz="3900" spc="40" dirty="0">
                <a:latin typeface="Calibri Light"/>
                <a:cs typeface="Calibri Light"/>
              </a:rPr>
              <a:t>Gain:</a:t>
            </a:r>
            <a:r>
              <a:rPr sz="3900" spc="-25" dirty="0">
                <a:latin typeface="Calibri Light"/>
                <a:cs typeface="Calibri Light"/>
              </a:rPr>
              <a:t> </a:t>
            </a:r>
            <a:r>
              <a:rPr sz="3900" spc="35" dirty="0">
                <a:latin typeface="Calibri Light"/>
                <a:cs typeface="Calibri Light"/>
              </a:rPr>
              <a:t>Example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152" y="1422908"/>
            <a:ext cx="3382645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40"/>
              </a:spcBef>
              <a:buSzPct val="77777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Class </a:t>
            </a:r>
            <a:r>
              <a:rPr sz="1800" dirty="0">
                <a:solidFill>
                  <a:srgbClr val="121328"/>
                </a:solidFill>
                <a:latin typeface="Segoe UI Emoji"/>
                <a:cs typeface="Segoe UI Emoji"/>
              </a:rPr>
              <a:t>P: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buys_computer </a:t>
            </a:r>
            <a:r>
              <a:rPr sz="1800" dirty="0">
                <a:solidFill>
                  <a:srgbClr val="121328"/>
                </a:solidFill>
                <a:latin typeface="Segoe UI Emoji"/>
                <a:cs typeface="Segoe UI Emoji"/>
              </a:rPr>
              <a:t>=</a:t>
            </a:r>
            <a:r>
              <a:rPr sz="1800" spc="-80" dirty="0">
                <a:solidFill>
                  <a:srgbClr val="121328"/>
                </a:solidFill>
                <a:latin typeface="Segoe UI Emoji"/>
                <a:cs typeface="Segoe UI Emoji"/>
              </a:rPr>
              <a:t>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“yes”</a:t>
            </a:r>
            <a:endParaRPr sz="1800">
              <a:latin typeface="Segoe UI Emoji"/>
              <a:cs typeface="Segoe UI Emoj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SzPct val="77777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Class </a:t>
            </a:r>
            <a:r>
              <a:rPr sz="1800" dirty="0">
                <a:solidFill>
                  <a:srgbClr val="121328"/>
                </a:solidFill>
                <a:latin typeface="Segoe UI Emoji"/>
                <a:cs typeface="Segoe UI Emoji"/>
              </a:rPr>
              <a:t>N: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buys_computer </a:t>
            </a:r>
            <a:r>
              <a:rPr sz="1800" dirty="0">
                <a:solidFill>
                  <a:srgbClr val="121328"/>
                </a:solidFill>
                <a:latin typeface="Segoe UI Emoji"/>
                <a:cs typeface="Segoe UI Emoji"/>
              </a:rPr>
              <a:t>=</a:t>
            </a:r>
            <a:r>
              <a:rPr sz="1800" spc="-80" dirty="0">
                <a:solidFill>
                  <a:srgbClr val="121328"/>
                </a:solidFill>
                <a:latin typeface="Segoe UI Emoji"/>
                <a:cs typeface="Segoe UI Emoji"/>
              </a:rPr>
              <a:t> </a:t>
            </a:r>
            <a:r>
              <a:rPr sz="1800" spc="-35" dirty="0">
                <a:solidFill>
                  <a:srgbClr val="121328"/>
                </a:solidFill>
                <a:latin typeface="Segoe UI Emoji"/>
                <a:cs typeface="Segoe UI Emoji"/>
              </a:rPr>
              <a:t>“no”</a:t>
            </a:r>
            <a:endParaRPr sz="1800">
              <a:latin typeface="Segoe UI Emoji"/>
              <a:cs typeface="Segoe UI Emoj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" y="2276855"/>
            <a:ext cx="2731007" cy="1066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" y="3605784"/>
            <a:ext cx="4309872" cy="26243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96799" y="1438147"/>
            <a:ext cx="2318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Step </a:t>
            </a:r>
            <a:r>
              <a:rPr sz="1800" b="1" dirty="0">
                <a:latin typeface="Calibri"/>
                <a:cs typeface="Calibri"/>
              </a:rPr>
              <a:t>1: </a:t>
            </a: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Info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76002" y="203985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27" y="0"/>
                </a:lnTo>
              </a:path>
            </a:pathLst>
          </a:custGeom>
          <a:ln w="7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46940" y="203985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27" y="0"/>
                </a:lnTo>
              </a:path>
            </a:pathLst>
          </a:custGeom>
          <a:ln w="7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14671" y="203985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27" y="0"/>
                </a:lnTo>
              </a:path>
            </a:pathLst>
          </a:custGeom>
          <a:ln w="7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85779" y="203985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27" y="0"/>
                </a:lnTo>
              </a:path>
            </a:pathLst>
          </a:custGeom>
          <a:ln w="7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54445" y="2033010"/>
            <a:ext cx="203263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83260" algn="l"/>
                <a:tab pos="1151255" algn="l"/>
                <a:tab pos="1821814" algn="l"/>
              </a:tabLst>
            </a:pPr>
            <a:r>
              <a:rPr sz="1500" spc="20" dirty="0">
                <a:latin typeface="Times New Roman"/>
                <a:cs typeface="Times New Roman"/>
              </a:rPr>
              <a:t>1</a:t>
            </a:r>
            <a:r>
              <a:rPr sz="1500" spc="70" dirty="0">
                <a:latin typeface="Times New Roman"/>
                <a:cs typeface="Times New Roman"/>
              </a:rPr>
              <a:t>4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20" dirty="0">
                <a:latin typeface="Times New Roman"/>
                <a:cs typeface="Times New Roman"/>
              </a:rPr>
              <a:t>1</a:t>
            </a:r>
            <a:r>
              <a:rPr sz="1500" spc="70" dirty="0">
                <a:latin typeface="Times New Roman"/>
                <a:cs typeface="Times New Roman"/>
              </a:rPr>
              <a:t>4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20" dirty="0">
                <a:latin typeface="Times New Roman"/>
                <a:cs typeface="Times New Roman"/>
              </a:rPr>
              <a:t>1</a:t>
            </a:r>
            <a:r>
              <a:rPr sz="1500" spc="70" dirty="0">
                <a:latin typeface="Times New Roman"/>
                <a:cs typeface="Times New Roman"/>
              </a:rPr>
              <a:t>4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20" dirty="0">
                <a:latin typeface="Times New Roman"/>
                <a:cs typeface="Times New Roman"/>
              </a:rPr>
              <a:t>14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74128" y="2011191"/>
            <a:ext cx="122555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51255" algn="l"/>
              </a:tabLst>
            </a:pPr>
            <a:r>
              <a:rPr sz="850" spc="50" dirty="0">
                <a:latin typeface="Times New Roman"/>
                <a:cs typeface="Times New Roman"/>
              </a:rPr>
              <a:t>2	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58760" y="1883044"/>
            <a:ext cx="4479290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500" i="1" spc="70" dirty="0">
                <a:latin typeface="Times New Roman"/>
                <a:cs typeface="Times New Roman"/>
              </a:rPr>
              <a:t>Info</a:t>
            </a:r>
            <a:r>
              <a:rPr sz="1500" spc="70" dirty="0">
                <a:latin typeface="Times New Roman"/>
                <a:cs typeface="Times New Roman"/>
              </a:rPr>
              <a:t>(</a:t>
            </a:r>
            <a:r>
              <a:rPr sz="1500" i="1" spc="70" dirty="0">
                <a:latin typeface="Times New Roman"/>
                <a:cs typeface="Times New Roman"/>
              </a:rPr>
              <a:t>D</a:t>
            </a:r>
            <a:r>
              <a:rPr sz="1500" spc="70" dirty="0">
                <a:latin typeface="Times New Roman"/>
                <a:cs typeface="Times New Roman"/>
              </a:rPr>
              <a:t>) </a:t>
            </a:r>
            <a:r>
              <a:rPr sz="1500" spc="75" dirty="0">
                <a:latin typeface="Symbol"/>
                <a:cs typeface="Symbol"/>
              </a:rPr>
              <a:t>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i="1" spc="45" dirty="0">
                <a:latin typeface="Times New Roman"/>
                <a:cs typeface="Times New Roman"/>
              </a:rPr>
              <a:t>I </a:t>
            </a:r>
            <a:r>
              <a:rPr sz="1500" spc="25" dirty="0">
                <a:latin typeface="Times New Roman"/>
                <a:cs typeface="Times New Roman"/>
              </a:rPr>
              <a:t>(9,5) </a:t>
            </a:r>
            <a:r>
              <a:rPr sz="1500" spc="75" dirty="0">
                <a:latin typeface="Symbol"/>
                <a:cs typeface="Symbol"/>
              </a:rPr>
              <a:t>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spc="75" dirty="0">
                <a:latin typeface="Symbol"/>
                <a:cs typeface="Symbol"/>
              </a:rPr>
              <a:t>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2250" spc="104" baseline="35185" dirty="0">
                <a:latin typeface="Times New Roman"/>
                <a:cs typeface="Times New Roman"/>
              </a:rPr>
              <a:t>9 </a:t>
            </a:r>
            <a:r>
              <a:rPr sz="1500" spc="50" dirty="0">
                <a:latin typeface="Times New Roman"/>
                <a:cs typeface="Times New Roman"/>
              </a:rPr>
              <a:t>log </a:t>
            </a:r>
            <a:r>
              <a:rPr sz="1500" spc="45" dirty="0">
                <a:latin typeface="Times New Roman"/>
                <a:cs typeface="Times New Roman"/>
              </a:rPr>
              <a:t>( </a:t>
            </a:r>
            <a:r>
              <a:rPr sz="2250" spc="104" baseline="35185" dirty="0">
                <a:latin typeface="Times New Roman"/>
                <a:cs typeface="Times New Roman"/>
              </a:rPr>
              <a:t>9 </a:t>
            </a:r>
            <a:r>
              <a:rPr sz="1500" spc="45" dirty="0">
                <a:latin typeface="Times New Roman"/>
                <a:cs typeface="Times New Roman"/>
              </a:rPr>
              <a:t>) </a:t>
            </a:r>
            <a:r>
              <a:rPr sz="1500" spc="75" dirty="0">
                <a:latin typeface="Symbol"/>
                <a:cs typeface="Symbol"/>
              </a:rPr>
              <a:t>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2250" spc="104" baseline="35185" dirty="0">
                <a:latin typeface="Times New Roman"/>
                <a:cs typeface="Times New Roman"/>
              </a:rPr>
              <a:t>5 </a:t>
            </a:r>
            <a:r>
              <a:rPr lang="en-US" sz="2250" spc="104" baseline="35185" dirty="0">
                <a:latin typeface="Times New Roman"/>
                <a:cs typeface="Times New Roman"/>
              </a:rPr>
              <a:t> </a:t>
            </a:r>
            <a:r>
              <a:rPr sz="1500" spc="50" dirty="0">
                <a:latin typeface="Times New Roman"/>
                <a:cs typeface="Times New Roman"/>
              </a:rPr>
              <a:t>log</a:t>
            </a:r>
            <a:r>
              <a:rPr lang="en-US" sz="1500" spc="50" dirty="0">
                <a:latin typeface="Times New Roman"/>
                <a:cs typeface="Times New Roman"/>
              </a:rPr>
              <a:t>  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45" dirty="0">
                <a:latin typeface="Times New Roman"/>
                <a:cs typeface="Times New Roman"/>
              </a:rPr>
              <a:t>( </a:t>
            </a:r>
            <a:r>
              <a:rPr sz="2250" spc="104" baseline="35185" dirty="0">
                <a:latin typeface="Times New Roman"/>
                <a:cs typeface="Times New Roman"/>
              </a:rPr>
              <a:t>5 </a:t>
            </a:r>
            <a:r>
              <a:rPr sz="1500" spc="45" dirty="0">
                <a:latin typeface="Times New Roman"/>
                <a:cs typeface="Times New Roman"/>
              </a:rPr>
              <a:t>)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65" dirty="0">
                <a:latin typeface="Symbol"/>
                <a:cs typeface="Symbol"/>
              </a:rPr>
              <a:t></a:t>
            </a:r>
            <a:r>
              <a:rPr sz="1500" spc="65" dirty="0">
                <a:latin typeface="Times New Roman"/>
                <a:cs typeface="Times New Roman"/>
              </a:rPr>
              <a:t>0.940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43126" y="3088731"/>
            <a:ext cx="217170" cy="0"/>
          </a:xfrm>
          <a:custGeom>
            <a:avLst/>
            <a:gdLst/>
            <a:ahLst/>
            <a:cxnLst/>
            <a:rect l="l" t="t" r="r" b="b"/>
            <a:pathLst>
              <a:path w="217170">
                <a:moveTo>
                  <a:pt x="0" y="0"/>
                </a:moveTo>
                <a:lnTo>
                  <a:pt x="217161" y="0"/>
                </a:lnTo>
              </a:path>
            </a:pathLst>
          </a:custGeom>
          <a:ln w="73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14959" y="3088731"/>
            <a:ext cx="217804" cy="0"/>
          </a:xfrm>
          <a:custGeom>
            <a:avLst/>
            <a:gdLst/>
            <a:ahLst/>
            <a:cxnLst/>
            <a:rect l="l" t="t" r="r" b="b"/>
            <a:pathLst>
              <a:path w="217804">
                <a:moveTo>
                  <a:pt x="0" y="0"/>
                </a:moveTo>
                <a:lnTo>
                  <a:pt x="217613" y="0"/>
                </a:lnTo>
              </a:path>
            </a:pathLst>
          </a:custGeom>
          <a:ln w="73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07113" y="3569255"/>
            <a:ext cx="217804" cy="0"/>
          </a:xfrm>
          <a:custGeom>
            <a:avLst/>
            <a:gdLst/>
            <a:ahLst/>
            <a:cxnLst/>
            <a:rect l="l" t="t" r="r" b="b"/>
            <a:pathLst>
              <a:path w="217804">
                <a:moveTo>
                  <a:pt x="0" y="0"/>
                </a:moveTo>
                <a:lnTo>
                  <a:pt x="217613" y="0"/>
                </a:lnTo>
              </a:path>
            </a:pathLst>
          </a:custGeom>
          <a:ln w="73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05241" y="3421766"/>
            <a:ext cx="2080537" cy="3731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ts val="1390"/>
              </a:lnSpc>
              <a:spcBef>
                <a:spcPts val="110"/>
              </a:spcBef>
            </a:pPr>
            <a:r>
              <a:rPr sz="1400" spc="180" dirty="0">
                <a:latin typeface="Symbol"/>
                <a:cs typeface="Symbol"/>
              </a:rPr>
              <a:t>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2100" spc="247" baseline="35714" dirty="0">
                <a:latin typeface="Times New Roman"/>
                <a:cs typeface="Times New Roman"/>
              </a:rPr>
              <a:t>5 </a:t>
            </a:r>
            <a:r>
              <a:rPr lang="en-US" sz="2100" spc="247" baseline="35714" dirty="0">
                <a:latin typeface="Times New Roman"/>
                <a:cs typeface="Times New Roman"/>
              </a:rPr>
              <a:t> </a:t>
            </a:r>
            <a:r>
              <a:rPr sz="1400" i="1" spc="110" dirty="0">
                <a:latin typeface="Times New Roman"/>
                <a:cs typeface="Times New Roman"/>
              </a:rPr>
              <a:t>I </a:t>
            </a:r>
            <a:r>
              <a:rPr sz="1400" spc="105" dirty="0">
                <a:latin typeface="Times New Roman"/>
                <a:cs typeface="Times New Roman"/>
              </a:rPr>
              <a:t>(3,2) </a:t>
            </a:r>
            <a:r>
              <a:rPr sz="1400" spc="180" dirty="0">
                <a:latin typeface="Symbol"/>
                <a:cs typeface="Symbol"/>
              </a:rPr>
              <a:t>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spc="150" dirty="0">
                <a:latin typeface="Times New Roman"/>
                <a:cs typeface="Times New Roman"/>
              </a:rPr>
              <a:t>0.694</a:t>
            </a:r>
            <a:endParaRPr sz="1400" dirty="0">
              <a:latin typeface="Times New Roman"/>
              <a:cs typeface="Times New Roman"/>
            </a:endParaRPr>
          </a:p>
          <a:p>
            <a:pPr marL="192405">
              <a:lnSpc>
                <a:spcPts val="1390"/>
              </a:lnSpc>
            </a:pPr>
            <a:r>
              <a:rPr sz="1400" spc="120" dirty="0">
                <a:latin typeface="Times New Roman"/>
                <a:cs typeface="Times New Roman"/>
              </a:rPr>
              <a:t>14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21009" y="3081519"/>
            <a:ext cx="120713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84250" algn="l"/>
              </a:tabLst>
            </a:pPr>
            <a:r>
              <a:rPr sz="1400" spc="120" dirty="0">
                <a:latin typeface="Times New Roman"/>
                <a:cs typeface="Times New Roman"/>
              </a:rPr>
              <a:t>1</a:t>
            </a:r>
            <a:r>
              <a:rPr sz="1400" spc="165" dirty="0">
                <a:latin typeface="Times New Roman"/>
                <a:cs typeface="Times New Roman"/>
              </a:rPr>
              <a:t>4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120" dirty="0">
                <a:latin typeface="Times New Roman"/>
                <a:cs typeface="Times New Roman"/>
              </a:rPr>
              <a:t>14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97228" y="2941242"/>
            <a:ext cx="2938780" cy="229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598805" algn="l"/>
              </a:tabLst>
            </a:pPr>
            <a:r>
              <a:rPr sz="1400" i="1" spc="135" dirty="0">
                <a:latin typeface="Times New Roman"/>
                <a:cs typeface="Times New Roman"/>
              </a:rPr>
              <a:t>Info	</a:t>
            </a:r>
            <a:r>
              <a:rPr sz="1400" spc="190" dirty="0">
                <a:latin typeface="Times New Roman"/>
                <a:cs typeface="Times New Roman"/>
              </a:rPr>
              <a:t>(</a:t>
            </a:r>
            <a:r>
              <a:rPr sz="1400" i="1" spc="190" dirty="0">
                <a:latin typeface="Times New Roman"/>
                <a:cs typeface="Times New Roman"/>
              </a:rPr>
              <a:t>D</a:t>
            </a:r>
            <a:r>
              <a:rPr sz="1400" spc="190" dirty="0">
                <a:latin typeface="Times New Roman"/>
                <a:cs typeface="Times New Roman"/>
              </a:rPr>
              <a:t>) </a:t>
            </a:r>
            <a:r>
              <a:rPr sz="1400" spc="180" dirty="0">
                <a:latin typeface="Symbol"/>
                <a:cs typeface="Symbol"/>
              </a:rPr>
              <a:t>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2100" spc="247" baseline="35714" dirty="0">
                <a:latin typeface="Times New Roman"/>
                <a:cs typeface="Times New Roman"/>
              </a:rPr>
              <a:t>5 </a:t>
            </a:r>
            <a:r>
              <a:rPr lang="en-US" sz="2100" spc="247" baseline="35714" dirty="0">
                <a:latin typeface="Times New Roman"/>
                <a:cs typeface="Times New Roman"/>
              </a:rPr>
              <a:t> </a:t>
            </a:r>
            <a:r>
              <a:rPr sz="1400" i="1" spc="110" dirty="0">
                <a:latin typeface="Times New Roman"/>
                <a:cs typeface="Times New Roman"/>
              </a:rPr>
              <a:t>I </a:t>
            </a:r>
            <a:r>
              <a:rPr sz="1400" spc="105" dirty="0">
                <a:latin typeface="Times New Roman"/>
                <a:cs typeface="Times New Roman"/>
              </a:rPr>
              <a:t>(2,3) </a:t>
            </a:r>
            <a:r>
              <a:rPr sz="1400" spc="180" dirty="0">
                <a:latin typeface="Symbol"/>
                <a:cs typeface="Symbol"/>
              </a:rPr>
              <a:t>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2100" spc="247" baseline="35714" dirty="0">
                <a:latin typeface="Times New Roman"/>
                <a:cs typeface="Times New Roman"/>
              </a:rPr>
              <a:t>4 </a:t>
            </a:r>
            <a:r>
              <a:rPr sz="1400" i="1" spc="110" dirty="0">
                <a:latin typeface="Times New Roman"/>
                <a:cs typeface="Times New Roman"/>
              </a:rPr>
              <a:t>I</a:t>
            </a:r>
            <a:r>
              <a:rPr sz="1400" i="1" spc="-240" dirty="0">
                <a:latin typeface="Times New Roman"/>
                <a:cs typeface="Times New Roman"/>
              </a:rPr>
              <a:t> </a:t>
            </a:r>
            <a:r>
              <a:rPr sz="1400" spc="120" dirty="0">
                <a:latin typeface="Times New Roman"/>
                <a:cs typeface="Times New Roman"/>
              </a:rPr>
              <a:t>(4,0)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73947" y="3061015"/>
            <a:ext cx="21526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spc="110" dirty="0">
                <a:latin typeface="Times New Roman"/>
                <a:cs typeface="Times New Roman"/>
              </a:rPr>
              <a:t>age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71399" y="2398267"/>
            <a:ext cx="417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Step </a:t>
            </a:r>
            <a:r>
              <a:rPr sz="1800" b="1" dirty="0">
                <a:latin typeface="Calibri"/>
                <a:cs typeface="Calibri"/>
              </a:rPr>
              <a:t>2: </a:t>
            </a:r>
            <a:r>
              <a:rPr sz="1800" spc="-10" dirty="0">
                <a:latin typeface="Calibri"/>
                <a:cs typeface="Calibri"/>
              </a:rPr>
              <a:t>Calculate </a:t>
            </a:r>
            <a:r>
              <a:rPr sz="1800" i="1" spc="-5" dirty="0">
                <a:latin typeface="Times New Roman"/>
                <a:cs typeface="Times New Roman"/>
              </a:rPr>
              <a:t>Info</a:t>
            </a:r>
            <a:r>
              <a:rPr sz="1800" i="1" spc="-7" baseline="-13888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Calibri"/>
                <a:cs typeface="Calibri"/>
              </a:rPr>
              <a:t>)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each </a:t>
            </a:r>
            <a:r>
              <a:rPr sz="1800" spc="-15" dirty="0">
                <a:latin typeface="Calibri"/>
                <a:cs typeface="Calibri"/>
              </a:rPr>
              <a:t>feature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90597" y="4010969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398" y="0"/>
                </a:lnTo>
              </a:path>
            </a:pathLst>
          </a:custGeom>
          <a:ln w="8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10970" y="3864413"/>
            <a:ext cx="434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75" spc="112" baseline="47138" dirty="0">
                <a:latin typeface="Times New Roman"/>
                <a:cs typeface="Times New Roman"/>
              </a:rPr>
              <a:t>5 </a:t>
            </a:r>
            <a:r>
              <a:rPr sz="2475" i="1" spc="75" baseline="11784" dirty="0">
                <a:latin typeface="Times New Roman"/>
                <a:cs typeface="Times New Roman"/>
              </a:rPr>
              <a:t>I </a:t>
            </a:r>
            <a:r>
              <a:rPr sz="2475" spc="60" baseline="11784" dirty="0">
                <a:latin typeface="Times New Roman"/>
                <a:cs typeface="Times New Roman"/>
              </a:rPr>
              <a:t>(2,3)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means “age </a:t>
            </a:r>
            <a:r>
              <a:rPr sz="1800" dirty="0">
                <a:solidFill>
                  <a:srgbClr val="121328"/>
                </a:solidFill>
                <a:latin typeface="Segoe UI Emoji"/>
                <a:cs typeface="Segoe UI Emoji"/>
              </a:rPr>
              <a:t>&lt;=30” </a:t>
            </a:r>
            <a:r>
              <a:rPr sz="1800" spc="-10" dirty="0">
                <a:solidFill>
                  <a:srgbClr val="121328"/>
                </a:solidFill>
                <a:latin typeface="Segoe UI Emoji"/>
                <a:cs typeface="Segoe UI Emoji"/>
              </a:rPr>
              <a:t>has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5 </a:t>
            </a:r>
            <a:r>
              <a:rPr sz="1800" spc="-10" dirty="0">
                <a:solidFill>
                  <a:srgbClr val="121328"/>
                </a:solidFill>
                <a:latin typeface="Segoe UI Emoji"/>
                <a:cs typeface="Segoe UI Emoji"/>
              </a:rPr>
              <a:t>out </a:t>
            </a:r>
            <a:r>
              <a:rPr sz="1800" spc="-25" dirty="0">
                <a:solidFill>
                  <a:srgbClr val="121328"/>
                </a:solidFill>
                <a:latin typeface="Segoe UI Emoji"/>
                <a:cs typeface="Segoe UI Emoji"/>
              </a:rPr>
              <a:t>of</a:t>
            </a:r>
            <a:r>
              <a:rPr sz="1800" spc="-340" dirty="0">
                <a:solidFill>
                  <a:srgbClr val="121328"/>
                </a:solidFill>
                <a:latin typeface="Segoe UI Emoji"/>
                <a:cs typeface="Segoe UI Emoji"/>
              </a:rPr>
              <a:t>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14</a:t>
            </a:r>
            <a:endParaRPr sz="1800">
              <a:latin typeface="Segoe UI Emoji"/>
              <a:cs typeface="Segoe UI Emoj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12567" y="3978620"/>
            <a:ext cx="4389120" cy="242887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310"/>
              </a:spcBef>
            </a:pPr>
            <a:r>
              <a:rPr sz="2475" spc="7" baseline="38720" dirty="0">
                <a:latin typeface="Times New Roman"/>
                <a:cs typeface="Times New Roman"/>
              </a:rPr>
              <a:t>14</a:t>
            </a:r>
            <a:r>
              <a:rPr sz="1800" spc="5" dirty="0">
                <a:solidFill>
                  <a:srgbClr val="121328"/>
                </a:solidFill>
                <a:latin typeface="Segoe UI Emoji"/>
                <a:cs typeface="Segoe UI Emoji"/>
              </a:rPr>
              <a:t>samples,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with 2 </a:t>
            </a:r>
            <a:r>
              <a:rPr sz="1750" spc="-10" dirty="0">
                <a:solidFill>
                  <a:srgbClr val="121328"/>
                </a:solidFill>
                <a:latin typeface="Segoe UI Emoji"/>
                <a:cs typeface="Segoe UI Emoji"/>
              </a:rPr>
              <a:t>yes’s </a:t>
            </a:r>
            <a:r>
              <a:rPr sz="1800" spc="-10" dirty="0">
                <a:solidFill>
                  <a:srgbClr val="121328"/>
                </a:solidFill>
                <a:latin typeface="Segoe UI Emoji"/>
                <a:cs typeface="Segoe UI Emoji"/>
              </a:rPr>
              <a:t>and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3 </a:t>
            </a:r>
            <a:r>
              <a:rPr sz="1800" spc="-50" dirty="0">
                <a:solidFill>
                  <a:srgbClr val="121328"/>
                </a:solidFill>
                <a:latin typeface="Segoe UI Emoji"/>
                <a:cs typeface="Segoe UI Emoji"/>
              </a:rPr>
              <a:t>no’s.</a:t>
            </a:r>
            <a:r>
              <a:rPr sz="1800" spc="20" dirty="0">
                <a:solidFill>
                  <a:srgbClr val="121328"/>
                </a:solidFill>
                <a:latin typeface="Segoe UI Emoji"/>
                <a:cs typeface="Segoe UI Emoji"/>
              </a:rPr>
              <a:t>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Hence</a:t>
            </a:r>
            <a:endParaRPr sz="1800" dirty="0">
              <a:latin typeface="Segoe UI Emoji"/>
              <a:cs typeface="Segoe UI Emoji"/>
            </a:endParaRPr>
          </a:p>
          <a:p>
            <a:pPr marL="632460">
              <a:lnSpc>
                <a:spcPct val="100000"/>
              </a:lnSpc>
              <a:spcBef>
                <a:spcPts val="1130"/>
              </a:spcBef>
            </a:pPr>
            <a:r>
              <a:rPr sz="1650" i="1" spc="20" dirty="0">
                <a:latin typeface="Times New Roman"/>
                <a:cs typeface="Times New Roman"/>
              </a:rPr>
              <a:t>Gain</a:t>
            </a:r>
            <a:r>
              <a:rPr sz="1650" spc="20" dirty="0">
                <a:latin typeface="Times New Roman"/>
                <a:cs typeface="Times New Roman"/>
              </a:rPr>
              <a:t>(</a:t>
            </a:r>
            <a:r>
              <a:rPr sz="1650" i="1" spc="20" dirty="0">
                <a:latin typeface="Times New Roman"/>
                <a:cs typeface="Times New Roman"/>
              </a:rPr>
              <a:t>age</a:t>
            </a:r>
            <a:r>
              <a:rPr sz="1650" spc="20" dirty="0">
                <a:latin typeface="Times New Roman"/>
                <a:cs typeface="Times New Roman"/>
              </a:rPr>
              <a:t>)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25" dirty="0">
                <a:latin typeface="Symbol"/>
                <a:cs typeface="Symbol"/>
              </a:rPr>
              <a:t>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i="1" spc="35" dirty="0">
                <a:latin typeface="Times New Roman"/>
                <a:cs typeface="Times New Roman"/>
              </a:rPr>
              <a:t>Info</a:t>
            </a:r>
            <a:r>
              <a:rPr sz="1650" spc="35" dirty="0">
                <a:latin typeface="Times New Roman"/>
                <a:cs typeface="Times New Roman"/>
              </a:rPr>
              <a:t>(</a:t>
            </a:r>
            <a:r>
              <a:rPr sz="1650" i="1" spc="35" dirty="0">
                <a:latin typeface="Times New Roman"/>
                <a:cs typeface="Times New Roman"/>
              </a:rPr>
              <a:t>D</a:t>
            </a:r>
            <a:r>
              <a:rPr sz="1650" spc="35" dirty="0">
                <a:latin typeface="Times New Roman"/>
                <a:cs typeface="Times New Roman"/>
              </a:rPr>
              <a:t>)</a:t>
            </a:r>
            <a:r>
              <a:rPr sz="1650" spc="-145" dirty="0">
                <a:latin typeface="Times New Roman"/>
                <a:cs typeface="Times New Roman"/>
              </a:rPr>
              <a:t> </a:t>
            </a:r>
            <a:r>
              <a:rPr sz="1650" spc="25" dirty="0">
                <a:latin typeface="Symbol"/>
                <a:cs typeface="Symbol"/>
              </a:rPr>
              <a:t></a:t>
            </a:r>
            <a:r>
              <a:rPr sz="1650" spc="-85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Info</a:t>
            </a:r>
            <a:r>
              <a:rPr sz="1425" i="1" spc="22" baseline="-23391" dirty="0">
                <a:latin typeface="Times New Roman"/>
                <a:cs typeface="Times New Roman"/>
              </a:rPr>
              <a:t>age</a:t>
            </a:r>
            <a:r>
              <a:rPr sz="1425" i="1" spc="-104" baseline="-23391" dirty="0">
                <a:latin typeface="Times New Roman"/>
                <a:cs typeface="Times New Roman"/>
              </a:rPr>
              <a:t> </a:t>
            </a:r>
            <a:r>
              <a:rPr sz="1650" spc="65" dirty="0">
                <a:latin typeface="Times New Roman"/>
                <a:cs typeface="Times New Roman"/>
              </a:rPr>
              <a:t>(</a:t>
            </a:r>
            <a:r>
              <a:rPr sz="1650" i="1" spc="65" dirty="0">
                <a:latin typeface="Times New Roman"/>
                <a:cs typeface="Times New Roman"/>
              </a:rPr>
              <a:t>D</a:t>
            </a:r>
            <a:r>
              <a:rPr sz="1650" spc="65" dirty="0">
                <a:latin typeface="Times New Roman"/>
                <a:cs typeface="Times New Roman"/>
              </a:rPr>
              <a:t>)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25" dirty="0">
                <a:latin typeface="Symbol"/>
                <a:cs typeface="Symbol"/>
              </a:rPr>
              <a:t>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0.246</a:t>
            </a:r>
          </a:p>
          <a:p>
            <a:pPr marL="130810">
              <a:lnSpc>
                <a:spcPct val="100000"/>
              </a:lnSpc>
              <a:spcBef>
                <a:spcPts val="180"/>
              </a:spcBef>
            </a:pPr>
            <a:r>
              <a:rPr sz="1800" spc="-10" dirty="0">
                <a:latin typeface="Segoe UI Emoji"/>
                <a:cs typeface="Segoe UI Emoji"/>
              </a:rPr>
              <a:t>Similarly</a:t>
            </a:r>
            <a:r>
              <a:rPr sz="1750" spc="-10" dirty="0">
                <a:latin typeface="Segoe UI Emoji"/>
                <a:cs typeface="Segoe UI Emoji"/>
              </a:rPr>
              <a:t>,</a:t>
            </a:r>
            <a:endParaRPr sz="1750" dirty="0">
              <a:latin typeface="Segoe UI Emoji"/>
              <a:cs typeface="Segoe UI Emoji"/>
            </a:endParaRPr>
          </a:p>
          <a:p>
            <a:pPr marL="690245" marR="1255395">
              <a:lnSpc>
                <a:spcPct val="116599"/>
              </a:lnSpc>
              <a:spcBef>
                <a:spcPts val="180"/>
              </a:spcBef>
            </a:pPr>
            <a:r>
              <a:rPr sz="1650" i="1" spc="-10" dirty="0">
                <a:latin typeface="Times New Roman"/>
                <a:cs typeface="Times New Roman"/>
              </a:rPr>
              <a:t>Gain</a:t>
            </a:r>
            <a:r>
              <a:rPr sz="1650" spc="-10" dirty="0">
                <a:latin typeface="Times New Roman"/>
                <a:cs typeface="Times New Roman"/>
              </a:rPr>
              <a:t>(</a:t>
            </a:r>
            <a:r>
              <a:rPr sz="1650" i="1" spc="-10" dirty="0">
                <a:latin typeface="Times New Roman"/>
                <a:cs typeface="Times New Roman"/>
              </a:rPr>
              <a:t>income</a:t>
            </a:r>
            <a:r>
              <a:rPr sz="1650" spc="-10" dirty="0">
                <a:latin typeface="Times New Roman"/>
                <a:cs typeface="Times New Roman"/>
              </a:rPr>
              <a:t>) </a:t>
            </a:r>
            <a:r>
              <a:rPr sz="1650" dirty="0">
                <a:latin typeface="Symbol"/>
                <a:cs typeface="Symbol"/>
              </a:rPr>
              <a:t></a:t>
            </a:r>
            <a:r>
              <a:rPr sz="165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0.029  </a:t>
            </a:r>
            <a:r>
              <a:rPr sz="1650" i="1" spc="5" dirty="0">
                <a:latin typeface="Times New Roman"/>
                <a:cs typeface="Times New Roman"/>
              </a:rPr>
              <a:t>Gain</a:t>
            </a:r>
            <a:r>
              <a:rPr sz="1650" spc="5" dirty="0">
                <a:latin typeface="Times New Roman"/>
                <a:cs typeface="Times New Roman"/>
              </a:rPr>
              <a:t>(</a:t>
            </a:r>
            <a:r>
              <a:rPr sz="1650" i="1" spc="5" dirty="0">
                <a:latin typeface="Times New Roman"/>
                <a:cs typeface="Times New Roman"/>
              </a:rPr>
              <a:t>student</a:t>
            </a:r>
            <a:r>
              <a:rPr sz="1650" spc="5" dirty="0">
                <a:latin typeface="Times New Roman"/>
                <a:cs typeface="Times New Roman"/>
              </a:rPr>
              <a:t>) </a:t>
            </a:r>
            <a:r>
              <a:rPr sz="1650" dirty="0">
                <a:latin typeface="Symbol"/>
                <a:cs typeface="Symbol"/>
              </a:rPr>
              <a:t></a:t>
            </a:r>
            <a:r>
              <a:rPr sz="165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0.151  </a:t>
            </a:r>
            <a:r>
              <a:rPr sz="1650" i="1" spc="-5" dirty="0">
                <a:latin typeface="Times New Roman"/>
                <a:cs typeface="Times New Roman"/>
              </a:rPr>
              <a:t>Gain</a:t>
            </a:r>
            <a:r>
              <a:rPr sz="1650" spc="-5" dirty="0">
                <a:latin typeface="Times New Roman"/>
                <a:cs typeface="Times New Roman"/>
              </a:rPr>
              <a:t>(</a:t>
            </a:r>
            <a:r>
              <a:rPr sz="1650" i="1" spc="-5" dirty="0">
                <a:latin typeface="Times New Roman"/>
                <a:cs typeface="Times New Roman"/>
              </a:rPr>
              <a:t>credit</a:t>
            </a:r>
            <a:r>
              <a:rPr sz="1650" i="1" spc="-10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_</a:t>
            </a:r>
            <a:r>
              <a:rPr sz="1650" spc="-120" dirty="0">
                <a:latin typeface="Times New Roman"/>
                <a:cs typeface="Times New Roman"/>
              </a:rPr>
              <a:t> </a:t>
            </a:r>
            <a:r>
              <a:rPr sz="1650" i="1" spc="10" dirty="0">
                <a:latin typeface="Times New Roman"/>
                <a:cs typeface="Times New Roman"/>
              </a:rPr>
              <a:t>rating</a:t>
            </a:r>
            <a:r>
              <a:rPr sz="1650" spc="10" dirty="0">
                <a:latin typeface="Times New Roman"/>
                <a:cs typeface="Times New Roman"/>
              </a:rPr>
              <a:t>)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Symbol"/>
                <a:cs typeface="Symbol"/>
              </a:rPr>
              <a:t>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0.048</a:t>
            </a:r>
            <a:endParaRPr sz="165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alibri"/>
                <a:cs typeface="Calibri"/>
              </a:rPr>
              <a:t>Step </a:t>
            </a:r>
            <a:r>
              <a:rPr sz="1800" b="1" dirty="0">
                <a:latin typeface="Calibri"/>
                <a:cs typeface="Calibri"/>
              </a:rPr>
              <a:t>3: </a:t>
            </a:r>
            <a:r>
              <a:rPr sz="1800" spc="-5" dirty="0">
                <a:latin typeface="Calibri"/>
                <a:cs typeface="Calibri"/>
              </a:rPr>
              <a:t>Choose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feature </a:t>
            </a:r>
            <a:r>
              <a:rPr sz="1800" spc="-5" dirty="0">
                <a:latin typeface="Calibri"/>
                <a:cs typeface="Calibri"/>
              </a:rPr>
              <a:t>with highest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Gain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37967" y="6372859"/>
            <a:ext cx="2397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(e.g., </a:t>
            </a:r>
            <a:r>
              <a:rPr sz="1800" spc="-5" dirty="0">
                <a:latin typeface="Calibri"/>
                <a:cs typeface="Calibri"/>
              </a:rPr>
              <a:t>age in 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27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8002" name="Text Box 2"/>
          <p:cNvSpPr txBox="1">
            <a:spLocks noChangeArrowheads="1"/>
          </p:cNvSpPr>
          <p:nvPr/>
        </p:nvSpPr>
        <p:spPr bwMode="auto">
          <a:xfrm>
            <a:off x="2226926" y="762000"/>
            <a:ext cx="425007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Attributes</a:t>
            </a:r>
          </a:p>
        </p:txBody>
      </p:sp>
      <p:sp>
        <p:nvSpPr>
          <p:cNvPr id="128003" name="Text Box 3"/>
          <p:cNvSpPr txBox="1">
            <a:spLocks noChangeArrowheads="1"/>
          </p:cNvSpPr>
          <p:nvPr/>
        </p:nvSpPr>
        <p:spPr bwMode="auto">
          <a:xfrm>
            <a:off x="1143000" y="1687116"/>
            <a:ext cx="7315199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dirty="0">
                <a:solidFill>
                  <a:prstClr val="black"/>
                </a:solidFill>
                <a:latin typeface="Arial Narrow" pitchFamily="34" charset="0"/>
              </a:rPr>
              <a:t> 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Real-valued attributes can, in advance, be discretized into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ranges, such as </a:t>
            </a:r>
            <a:r>
              <a:rPr lang="en-US" sz="2000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Alternatively, one can develop splitting nodes based on thresholds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of the form 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c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that partition the data into examples that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satisfy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c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and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&gt;= c. 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information gain for these splits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is calculated in the same way and compared to the information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gain of discrete splits. 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find the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with the highest gain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each continuous feature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A: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Sort examples according to the value of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ordered pair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different labels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Check the mid-point as a possible threshold. </a:t>
            </a:r>
            <a:r>
              <a:rPr lang="en-US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S</a:t>
            </a:r>
            <a:r>
              <a:rPr lang="en-US" sz="2000" baseline="-25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&lt;=x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sz="2000" baseline="-25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&gt;=y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143000" y="4038600"/>
            <a:ext cx="685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0"/>
              </a:spcBef>
              <a:buClrTx/>
              <a:buSzPct val="60000"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28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2971800" y="914400"/>
            <a:ext cx="425007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Attributes</a:t>
            </a: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1219200" y="1714501"/>
            <a:ext cx="6705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dirty="0">
                <a:solidFill>
                  <a:srgbClr val="000066"/>
                </a:solidFill>
                <a:latin typeface="Arial Narrow" pitchFamily="34" charset="0"/>
              </a:rPr>
              <a:t> 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(T):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40   50   60   70   76   80  90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Class:                     -     -     +      -     +    +     -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threshold with the highest information gain        </a:t>
            </a: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1230422" y="2934325"/>
            <a:ext cx="5398978" cy="72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100" dirty="0">
                <a:solidFill>
                  <a:srgbClr val="000066"/>
                </a:solidFill>
                <a:latin typeface="Arial Narrow" pitchFamily="34" charset="0"/>
              </a:rPr>
              <a:t> </a:t>
            </a:r>
            <a:r>
              <a:rPr lang="en-US" sz="2000" dirty="0">
                <a:solidFill>
                  <a:srgbClr val="000066"/>
                </a:solidFill>
                <a:latin typeface="Arial Narrow" pitchFamily="34" charset="0"/>
              </a:rPr>
              <a:t>Check thresholds:   </a:t>
            </a:r>
            <a:r>
              <a:rPr lang="en-US" sz="2000" dirty="0">
                <a:solidFill>
                  <a:srgbClr val="0000FF"/>
                </a:solidFill>
                <a:latin typeface="Arial Narrow" pitchFamily="34" charset="0"/>
              </a:rPr>
              <a:t>T &lt; 55 or T &lt; 65 or T&lt;73 or  T &lt; 85</a:t>
            </a:r>
            <a:endParaRPr lang="en-US" sz="2000" dirty="0">
              <a:solidFill>
                <a:srgbClr val="000066"/>
              </a:solidFill>
              <a:latin typeface="Arial Narrow" pitchFamily="34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Arial Narrow" pitchFamily="34" charset="0"/>
              </a:rPr>
              <a:t>  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29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1066800" y="1843088"/>
            <a:ext cx="702468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dirty="0">
                <a:solidFill>
                  <a:srgbClr val="000066"/>
                </a:solidFill>
                <a:latin typeface="Arial Narrow" pitchFamily="34" charset="0"/>
              </a:rPr>
              <a:t> 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Diagnosis = &lt; temperature, </a:t>
            </a:r>
            <a:r>
              <a:rPr lang="en-US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blood_pressure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blood_test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,…&gt; </a:t>
            </a: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times values are not available for some attributes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during training or testing  (e.g., medical diagnosis)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evaluate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Gain(</a:t>
            </a:r>
            <a:r>
              <a:rPr lang="en-US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where in some of the examples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 value for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is not given    </a:t>
            </a:r>
            <a:endParaRPr lang="en-US" sz="20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125" name="Rectangle 13"/>
          <p:cNvSpPr>
            <a:spLocks noChangeArrowheads="1"/>
          </p:cNvSpPr>
          <p:nvPr/>
        </p:nvSpPr>
        <p:spPr bwMode="auto">
          <a:xfrm>
            <a:off x="1657350" y="91440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700" dirty="0">
                <a:latin typeface="Times New Roman" pitchFamily="18" charset="0"/>
                <a:cs typeface="Arial" pitchFamily="34" charset="0"/>
              </a:rPr>
              <a:t>Missing Values with Decision Trees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057400" y="4293393"/>
            <a:ext cx="5200650" cy="1574007"/>
            <a:chOff x="1056" y="2645"/>
            <a:chExt cx="4368" cy="1322"/>
          </a:xfrm>
        </p:grpSpPr>
        <p:sp>
          <p:nvSpPr>
            <p:cNvPr id="90127" name="Text Box 15"/>
            <p:cNvSpPr txBox="1">
              <a:spLocks noChangeArrowheads="1"/>
            </p:cNvSpPr>
            <p:nvPr/>
          </p:nvSpPr>
          <p:spPr bwMode="auto">
            <a:xfrm>
              <a:off x="1104" y="2645"/>
              <a:ext cx="4320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 dirty="0">
                  <a:solidFill>
                    <a:srgbClr val="0000FF"/>
                  </a:solidFill>
                  <a:latin typeface="Arial Narrow" pitchFamily="34" charset="0"/>
                </a:rPr>
                <a:t>Day    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Outlook </a:t>
              </a:r>
              <a:r>
                <a:rPr lang="en-US" sz="1500" b="1" dirty="0">
                  <a:solidFill>
                    <a:srgbClr val="0000FF"/>
                  </a:solidFill>
                  <a:latin typeface="Arial Narrow" pitchFamily="34" charset="0"/>
                </a:rPr>
                <a:t>   Temperature      Humidity    Wind</a:t>
              </a:r>
              <a:r>
                <a:rPr lang="en-US" sz="1500" b="1" dirty="0">
                  <a:solidFill>
                    <a:prstClr val="black"/>
                  </a:solidFill>
                  <a:latin typeface="Arial Narrow" pitchFamily="34" charset="0"/>
                </a:rPr>
                <a:t>       </a:t>
              </a:r>
              <a:r>
                <a:rPr lang="en-US" sz="1500" b="1" dirty="0" err="1">
                  <a:solidFill>
                    <a:srgbClr val="A50021"/>
                  </a:solidFill>
                  <a:latin typeface="Arial Narrow" pitchFamily="34" charset="0"/>
                </a:rPr>
                <a:t>PlayTennis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     </a:t>
              </a:r>
              <a:endParaRPr lang="en-US" sz="1500" u="sng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28" name="Text Box 16"/>
            <p:cNvSpPr txBox="1">
              <a:spLocks noChangeArrowheads="1"/>
            </p:cNvSpPr>
            <p:nvPr/>
          </p:nvSpPr>
          <p:spPr bwMode="auto">
            <a:xfrm>
              <a:off x="1152" y="2829"/>
              <a:ext cx="3742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 dirty="0">
                  <a:solidFill>
                    <a:prstClr val="black"/>
                  </a:solidFill>
                  <a:latin typeface="Arial Narrow" pitchFamily="34" charset="0"/>
                </a:rPr>
                <a:t> 1       Sunny            Hot              High          Weak             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No</a:t>
              </a:r>
              <a:endParaRPr lang="en-US" sz="1500" u="sng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29" name="Text Box 17"/>
            <p:cNvSpPr txBox="1">
              <a:spLocks noChangeArrowheads="1"/>
            </p:cNvSpPr>
            <p:nvPr/>
          </p:nvSpPr>
          <p:spPr bwMode="auto">
            <a:xfrm>
              <a:off x="1152" y="3046"/>
              <a:ext cx="3715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 dirty="0">
                  <a:solidFill>
                    <a:prstClr val="black"/>
                  </a:solidFill>
                  <a:latin typeface="Arial Narrow" pitchFamily="34" charset="0"/>
                </a:rPr>
                <a:t> 2       Sunny            Hot              High         Strong            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No</a:t>
              </a:r>
              <a:endParaRPr lang="en-US" sz="1500" u="sng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30" name="Text Box 18"/>
            <p:cNvSpPr txBox="1">
              <a:spLocks noChangeArrowheads="1"/>
            </p:cNvSpPr>
            <p:nvPr/>
          </p:nvSpPr>
          <p:spPr bwMode="auto">
            <a:xfrm>
              <a:off x="1152" y="3263"/>
              <a:ext cx="3770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 dirty="0">
                  <a:solidFill>
                    <a:prstClr val="black"/>
                  </a:solidFill>
                  <a:latin typeface="Arial Narrow" pitchFamily="34" charset="0"/>
                </a:rPr>
                <a:t> 8       Sunny            Mild             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??? </a:t>
              </a:r>
              <a:r>
                <a:rPr lang="en-US" sz="1500" b="1" dirty="0">
                  <a:solidFill>
                    <a:prstClr val="black"/>
                  </a:solidFill>
                  <a:latin typeface="Arial Narrow" pitchFamily="34" charset="0"/>
                </a:rPr>
                <a:t>           Weak             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No</a:t>
              </a:r>
              <a:endParaRPr lang="en-US" sz="1500" u="sng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31" name="Text Box 19"/>
            <p:cNvSpPr txBox="1">
              <a:spLocks noChangeArrowheads="1"/>
            </p:cNvSpPr>
            <p:nvPr/>
          </p:nvSpPr>
          <p:spPr bwMode="auto">
            <a:xfrm>
              <a:off x="1152" y="3480"/>
              <a:ext cx="4176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>
                  <a:solidFill>
                    <a:prstClr val="black"/>
                  </a:solidFill>
                  <a:latin typeface="Arial Narrow" pitchFamily="34" charset="0"/>
                </a:rPr>
                <a:t> 9       Sunny            Cool             Normal      Weak            </a:t>
              </a:r>
              <a:r>
                <a:rPr lang="en-US" sz="1500" b="1">
                  <a:solidFill>
                    <a:srgbClr val="A50021"/>
                  </a:solidFill>
                  <a:latin typeface="Arial Narrow" pitchFamily="34" charset="0"/>
                </a:rPr>
                <a:t>Yes</a:t>
              </a:r>
              <a:endParaRPr lang="en-US" sz="1500" u="sng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32" name="Text Box 20"/>
            <p:cNvSpPr txBox="1">
              <a:spLocks noChangeArrowheads="1"/>
            </p:cNvSpPr>
            <p:nvPr/>
          </p:nvSpPr>
          <p:spPr bwMode="auto">
            <a:xfrm>
              <a:off x="1152" y="3696"/>
              <a:ext cx="4128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>
                  <a:solidFill>
                    <a:prstClr val="black"/>
                  </a:solidFill>
                  <a:latin typeface="Arial Narrow" pitchFamily="34" charset="0"/>
                </a:rPr>
                <a:t>11      Sunny            Mild              Normal     Strong           </a:t>
              </a:r>
              <a:r>
                <a:rPr lang="en-US" sz="1500" b="1">
                  <a:solidFill>
                    <a:srgbClr val="A50021"/>
                  </a:solidFill>
                  <a:latin typeface="Arial Narrow" pitchFamily="34" charset="0"/>
                </a:rPr>
                <a:t>Yes</a:t>
              </a:r>
              <a:endParaRPr lang="en-US" sz="1500" u="sng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33" name="Line 21"/>
            <p:cNvSpPr>
              <a:spLocks noChangeShapeType="1"/>
            </p:cNvSpPr>
            <p:nvPr/>
          </p:nvSpPr>
          <p:spPr bwMode="auto">
            <a:xfrm>
              <a:off x="1056" y="2862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ClrTx/>
                <a:buSzPct val="60000"/>
              </a:pPr>
              <a:endParaRPr lang="en-US">
                <a:solidFill>
                  <a:prstClr val="black"/>
                </a:solidFill>
                <a:latin typeface="Arial Narrow" pitchFamily="34" charset="0"/>
              </a:endParaRPr>
            </a:p>
          </p:txBody>
        </p:sp>
        <p:sp>
          <p:nvSpPr>
            <p:cNvPr id="90134" name="Line 22"/>
            <p:cNvSpPr>
              <a:spLocks noChangeShapeType="1"/>
            </p:cNvSpPr>
            <p:nvPr/>
          </p:nvSpPr>
          <p:spPr bwMode="auto">
            <a:xfrm>
              <a:off x="1056" y="2678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ClrTx/>
                <a:buSzPct val="60000"/>
              </a:pPr>
              <a:endParaRPr lang="en-US">
                <a:solidFill>
                  <a:prstClr val="black"/>
                </a:solidFill>
                <a:latin typeface="Arial Narrow" pitchFamily="34" charset="0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" name="Group 1070"/>
          <p:cNvGrpSpPr>
            <a:grpSpLocks/>
          </p:cNvGrpSpPr>
          <p:nvPr/>
        </p:nvGrpSpPr>
        <p:grpSpPr bwMode="auto">
          <a:xfrm>
            <a:off x="1257301" y="1885951"/>
            <a:ext cx="2603897" cy="2119313"/>
            <a:chOff x="96" y="864"/>
            <a:chExt cx="2187" cy="1780"/>
          </a:xfrm>
        </p:grpSpPr>
        <p:sp>
          <p:nvSpPr>
            <p:cNvPr id="95241" name="Text Box 1033"/>
            <p:cNvSpPr txBox="1">
              <a:spLocks noChangeArrowheads="1"/>
            </p:cNvSpPr>
            <p:nvPr/>
          </p:nvSpPr>
          <p:spPr bwMode="auto">
            <a:xfrm>
              <a:off x="1464" y="1904"/>
              <a:ext cx="819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>
                  <a:solidFill>
                    <a:srgbClr val="A50021"/>
                  </a:solidFill>
                  <a:latin typeface="Arial Narrow" pitchFamily="34" charset="0"/>
                </a:rPr>
                <a:t>4,5,6,10,14</a:t>
              </a:r>
              <a:endParaRPr lang="en-US" sz="1500" b="1">
                <a:solidFill>
                  <a:srgbClr val="0000FF"/>
                </a:solidFill>
                <a:latin typeface="Arial Narrow" pitchFamily="34" charset="0"/>
              </a:endParaRPr>
            </a:p>
          </p:txBody>
        </p:sp>
        <p:grpSp>
          <p:nvGrpSpPr>
            <p:cNvPr id="3" name="Group 1065"/>
            <p:cNvGrpSpPr>
              <a:grpSpLocks/>
            </p:cNvGrpSpPr>
            <p:nvPr/>
          </p:nvGrpSpPr>
          <p:grpSpPr bwMode="auto">
            <a:xfrm>
              <a:off x="96" y="864"/>
              <a:ext cx="2020" cy="1780"/>
              <a:chOff x="154" y="1200"/>
              <a:chExt cx="2020" cy="1780"/>
            </a:xfrm>
          </p:grpSpPr>
          <p:sp>
            <p:nvSpPr>
              <p:cNvPr id="95235" name="Text Box 1027"/>
              <p:cNvSpPr txBox="1">
                <a:spLocks noChangeArrowheads="1"/>
              </p:cNvSpPr>
              <p:nvPr/>
            </p:nvSpPr>
            <p:spPr bwMode="auto">
              <a:xfrm>
                <a:off x="912" y="1200"/>
                <a:ext cx="692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FF"/>
                    </a:solidFill>
                    <a:latin typeface="Arial Narrow" pitchFamily="34" charset="0"/>
                  </a:rPr>
                  <a:t>Outlook </a:t>
                </a:r>
              </a:p>
            </p:txBody>
          </p:sp>
          <p:sp>
            <p:nvSpPr>
              <p:cNvPr id="95236" name="Text Box 1028"/>
              <p:cNvSpPr txBox="1">
                <a:spLocks noChangeArrowheads="1"/>
              </p:cNvSpPr>
              <p:nvPr/>
            </p:nvSpPr>
            <p:spPr bwMode="auto">
              <a:xfrm>
                <a:off x="902" y="1989"/>
                <a:ext cx="725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66"/>
                    </a:solidFill>
                    <a:latin typeface="Arial Narrow" pitchFamily="34" charset="0"/>
                  </a:rPr>
                  <a:t>Overcast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37" name="Text Box 1029"/>
              <p:cNvSpPr txBox="1">
                <a:spLocks noChangeArrowheads="1"/>
              </p:cNvSpPr>
              <p:nvPr/>
            </p:nvSpPr>
            <p:spPr bwMode="auto">
              <a:xfrm>
                <a:off x="1732" y="1958"/>
                <a:ext cx="442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66"/>
                    </a:solidFill>
                    <a:latin typeface="Arial Narrow" pitchFamily="34" charset="0"/>
                  </a:rPr>
                  <a:t>Rain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cxnSp>
            <p:nvCxnSpPr>
              <p:cNvPr id="95238" name="AutoShape 1030"/>
              <p:cNvCxnSpPr>
                <a:cxnSpLocks noChangeShapeType="1"/>
                <a:stCxn id="95235" idx="2"/>
                <a:endCxn id="95237" idx="0"/>
              </p:cNvCxnSpPr>
              <p:nvPr/>
            </p:nvCxnSpPr>
            <p:spPr bwMode="auto">
              <a:xfrm>
                <a:off x="1258" y="1471"/>
                <a:ext cx="695" cy="48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5239" name="AutoShape 1031"/>
              <p:cNvCxnSpPr>
                <a:cxnSpLocks noChangeShapeType="1"/>
                <a:stCxn id="95235" idx="2"/>
                <a:endCxn id="95236" idx="0"/>
              </p:cNvCxnSpPr>
              <p:nvPr/>
            </p:nvCxnSpPr>
            <p:spPr bwMode="auto">
              <a:xfrm>
                <a:off x="1258" y="1471"/>
                <a:ext cx="6" cy="51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sp>
            <p:nvSpPr>
              <p:cNvPr id="95240" name="Text Box 1032"/>
              <p:cNvSpPr txBox="1">
                <a:spLocks noChangeArrowheads="1"/>
              </p:cNvSpPr>
              <p:nvPr/>
            </p:nvSpPr>
            <p:spPr bwMode="auto">
              <a:xfrm>
                <a:off x="863" y="2239"/>
                <a:ext cx="708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A50021"/>
                    </a:solidFill>
                    <a:latin typeface="Arial Narrow" pitchFamily="34" charset="0"/>
                  </a:rPr>
                  <a:t>3,7,12,13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42" name="Text Box 1034"/>
              <p:cNvSpPr txBox="1">
                <a:spLocks noChangeArrowheads="1"/>
              </p:cNvSpPr>
              <p:nvPr/>
            </p:nvSpPr>
            <p:spPr bwMode="auto">
              <a:xfrm>
                <a:off x="1682" y="2469"/>
                <a:ext cx="461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A50021"/>
                    </a:solidFill>
                    <a:latin typeface="Arial Narrow" pitchFamily="34" charset="0"/>
                  </a:rPr>
                  <a:t>3+,2-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43" name="Text Box 1035"/>
              <p:cNvSpPr txBox="1">
                <a:spLocks noChangeArrowheads="1"/>
              </p:cNvSpPr>
              <p:nvPr/>
            </p:nvSpPr>
            <p:spPr bwMode="auto">
              <a:xfrm>
                <a:off x="282" y="1989"/>
                <a:ext cx="560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66"/>
                    </a:solidFill>
                    <a:latin typeface="Arial Narrow" pitchFamily="34" charset="0"/>
                  </a:rPr>
                  <a:t>Sunny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44" name="Text Box 1036"/>
              <p:cNvSpPr txBox="1">
                <a:spLocks noChangeArrowheads="1"/>
              </p:cNvSpPr>
              <p:nvPr/>
            </p:nvSpPr>
            <p:spPr bwMode="auto">
              <a:xfrm>
                <a:off x="154" y="2239"/>
                <a:ext cx="738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A50021"/>
                    </a:solidFill>
                    <a:latin typeface="Arial Narrow" pitchFamily="34" charset="0"/>
                  </a:rPr>
                  <a:t>1,2,8,9,11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cxnSp>
            <p:nvCxnSpPr>
              <p:cNvPr id="95245" name="AutoShape 1037"/>
              <p:cNvCxnSpPr>
                <a:cxnSpLocks noChangeShapeType="1"/>
                <a:stCxn id="95235" idx="2"/>
                <a:endCxn id="95243" idx="0"/>
              </p:cNvCxnSpPr>
              <p:nvPr/>
            </p:nvCxnSpPr>
            <p:spPr bwMode="auto">
              <a:xfrm flipH="1">
                <a:off x="562" y="1471"/>
                <a:ext cx="696" cy="51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sp>
            <p:nvSpPr>
              <p:cNvPr id="95246" name="Text Box 1038"/>
              <p:cNvSpPr txBox="1">
                <a:spLocks noChangeArrowheads="1"/>
              </p:cNvSpPr>
              <p:nvPr/>
            </p:nvSpPr>
            <p:spPr bwMode="auto">
              <a:xfrm>
                <a:off x="969" y="2469"/>
                <a:ext cx="461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A50021"/>
                    </a:solidFill>
                    <a:latin typeface="Arial Narrow" pitchFamily="34" charset="0"/>
                  </a:rPr>
                  <a:t>4+,0-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47" name="Text Box 1039"/>
              <p:cNvSpPr txBox="1">
                <a:spLocks noChangeArrowheads="1"/>
              </p:cNvSpPr>
              <p:nvPr/>
            </p:nvSpPr>
            <p:spPr bwMode="auto">
              <a:xfrm>
                <a:off x="277" y="2469"/>
                <a:ext cx="461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A50021"/>
                    </a:solidFill>
                    <a:latin typeface="Arial Narrow" pitchFamily="34" charset="0"/>
                  </a:rPr>
                  <a:t>2+,3-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48" name="Text Box 1040"/>
              <p:cNvSpPr txBox="1">
                <a:spLocks noChangeArrowheads="1"/>
              </p:cNvSpPr>
              <p:nvPr/>
            </p:nvSpPr>
            <p:spPr bwMode="auto">
              <a:xfrm>
                <a:off x="1041" y="2709"/>
                <a:ext cx="385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 u="sng">
                    <a:solidFill>
                      <a:srgbClr val="0000FF"/>
                    </a:solidFill>
                    <a:latin typeface="Arial Narrow" pitchFamily="34" charset="0"/>
                  </a:rPr>
                  <a:t>Yes</a:t>
                </a:r>
              </a:p>
            </p:txBody>
          </p:sp>
          <p:sp>
            <p:nvSpPr>
              <p:cNvPr id="95249" name="Text Box 1041"/>
              <p:cNvSpPr txBox="1">
                <a:spLocks noChangeArrowheads="1"/>
              </p:cNvSpPr>
              <p:nvPr/>
            </p:nvSpPr>
            <p:spPr bwMode="auto">
              <a:xfrm>
                <a:off x="410" y="2709"/>
                <a:ext cx="236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FF"/>
                    </a:solidFill>
                    <a:latin typeface="Arial Narrow" pitchFamily="34" charset="0"/>
                  </a:rPr>
                  <a:t>?</a:t>
                </a:r>
              </a:p>
            </p:txBody>
          </p:sp>
          <p:sp>
            <p:nvSpPr>
              <p:cNvPr id="95250" name="Text Box 1042"/>
              <p:cNvSpPr txBox="1">
                <a:spLocks noChangeArrowheads="1"/>
              </p:cNvSpPr>
              <p:nvPr/>
            </p:nvSpPr>
            <p:spPr bwMode="auto">
              <a:xfrm>
                <a:off x="1797" y="2709"/>
                <a:ext cx="272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FF"/>
                    </a:solidFill>
                    <a:latin typeface="Arial Narrow" pitchFamily="34" charset="0"/>
                  </a:rPr>
                  <a:t>? </a:t>
                </a:r>
              </a:p>
            </p:txBody>
          </p:sp>
        </p:grpSp>
      </p:grpSp>
      <p:graphicFrame>
        <p:nvGraphicFramePr>
          <p:cNvPr id="95251" name="Object 1043"/>
          <p:cNvGraphicFramePr>
            <a:graphicFrameLocks noChangeAspect="1"/>
          </p:cNvGraphicFramePr>
          <p:nvPr/>
        </p:nvGraphicFramePr>
        <p:xfrm>
          <a:off x="1543050" y="4745998"/>
          <a:ext cx="23431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600200" imgH="241200" progId="Equation.3">
                  <p:embed/>
                </p:oleObj>
              </mc:Choice>
              <mc:Fallback>
                <p:oleObj name="Equation" r:id="rId3" imgW="1600200" imgH="241200" progId="Equation.3">
                  <p:embed/>
                  <p:pic>
                    <p:nvPicPr>
                      <p:cNvPr id="95251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4745998"/>
                        <a:ext cx="2343150" cy="3571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3" name="Object 1045"/>
          <p:cNvGraphicFramePr>
            <a:graphicFrameLocks noChangeAspect="1"/>
          </p:cNvGraphicFramePr>
          <p:nvPr/>
        </p:nvGraphicFramePr>
        <p:xfrm>
          <a:off x="1534716" y="4243387"/>
          <a:ext cx="19050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1384200" imgH="241200" progId="Equation.3">
                  <p:embed/>
                </p:oleObj>
              </mc:Choice>
              <mc:Fallback>
                <p:oleObj name="Equation" r:id="rId5" imgW="1384200" imgH="241200" progId="Equation.3">
                  <p:embed/>
                  <p:pic>
                    <p:nvPicPr>
                      <p:cNvPr id="95253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4716" y="4243387"/>
                        <a:ext cx="1905000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71" name="Rectangle 1063"/>
          <p:cNvSpPr>
            <a:spLocks noChangeArrowheads="1"/>
          </p:cNvSpPr>
          <p:nvPr/>
        </p:nvSpPr>
        <p:spPr bwMode="auto">
          <a:xfrm>
            <a:off x="1257300" y="97155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700" dirty="0">
                <a:latin typeface="Times New Roman" pitchFamily="18" charset="0"/>
                <a:cs typeface="Arial" pitchFamily="34" charset="0"/>
              </a:rPr>
              <a:t>Missing Values At Training</a:t>
            </a:r>
          </a:p>
        </p:txBody>
      </p:sp>
      <p:sp>
        <p:nvSpPr>
          <p:cNvPr id="95272" name="Text Box 1064"/>
          <p:cNvSpPr txBox="1">
            <a:spLocks noChangeArrowheads="1"/>
          </p:cNvSpPr>
          <p:nvPr/>
        </p:nvSpPr>
        <p:spPr bwMode="auto">
          <a:xfrm>
            <a:off x="3486150" y="1657351"/>
            <a:ext cx="417195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200" b="1">
                <a:solidFill>
                  <a:srgbClr val="0000FF"/>
                </a:solidFill>
                <a:latin typeface="Arial Narrow" pitchFamily="34" charset="0"/>
              </a:rPr>
              <a:t>Day    </a:t>
            </a:r>
            <a:r>
              <a:rPr lang="en-US" sz="1200" b="1">
                <a:solidFill>
                  <a:srgbClr val="A50021"/>
                </a:solidFill>
                <a:latin typeface="Arial Narrow" pitchFamily="34" charset="0"/>
              </a:rPr>
              <a:t>Outlook </a:t>
            </a:r>
            <a:r>
              <a:rPr lang="en-US" sz="1200" b="1">
                <a:solidFill>
                  <a:srgbClr val="0000FF"/>
                </a:solidFill>
                <a:latin typeface="Arial Narrow" pitchFamily="34" charset="0"/>
              </a:rPr>
              <a:t>   Temperature      Humidity    Wind</a:t>
            </a:r>
            <a:r>
              <a:rPr lang="en-US" sz="1200" b="1">
                <a:solidFill>
                  <a:prstClr val="black"/>
                </a:solidFill>
                <a:latin typeface="Arial Narrow" pitchFamily="34" charset="0"/>
              </a:rPr>
              <a:t>       </a:t>
            </a:r>
            <a:r>
              <a:rPr lang="en-US" sz="1200" b="1">
                <a:solidFill>
                  <a:srgbClr val="A50021"/>
                </a:solidFill>
                <a:latin typeface="Arial Narrow" pitchFamily="34" charset="0"/>
              </a:rPr>
              <a:t>PlayTennis</a:t>
            </a:r>
            <a:r>
              <a:rPr lang="en-US" sz="1200">
                <a:solidFill>
                  <a:prstClr val="black"/>
                </a:solidFill>
                <a:latin typeface="Arial Narrow" pitchFamily="34" charset="0"/>
              </a:rPr>
              <a:t> </a:t>
            </a:r>
            <a:br>
              <a:rPr lang="en-US" sz="1200">
                <a:solidFill>
                  <a:prstClr val="black"/>
                </a:solidFill>
                <a:latin typeface="Arial Narrow" pitchFamily="34" charset="0"/>
              </a:rPr>
            </a:br>
            <a:r>
              <a:rPr lang="en-US" sz="1200" b="1">
                <a:solidFill>
                  <a:prstClr val="black"/>
                </a:solidFill>
                <a:latin typeface="Arial Narrow" pitchFamily="34" charset="0"/>
              </a:rPr>
              <a:t>8         Sunny            Mild                  </a:t>
            </a:r>
            <a:r>
              <a:rPr lang="en-US" sz="1200" b="1">
                <a:solidFill>
                  <a:srgbClr val="A50021"/>
                </a:solidFill>
                <a:latin typeface="Arial Narrow" pitchFamily="34" charset="0"/>
              </a:rPr>
              <a:t>??? </a:t>
            </a:r>
            <a:r>
              <a:rPr lang="en-US" sz="1200" b="1">
                <a:solidFill>
                  <a:prstClr val="black"/>
                </a:solidFill>
                <a:latin typeface="Arial Narrow" pitchFamily="34" charset="0"/>
              </a:rPr>
              <a:t>         Weak             </a:t>
            </a:r>
            <a:r>
              <a:rPr lang="en-US" sz="1200" b="1">
                <a:solidFill>
                  <a:srgbClr val="A50021"/>
                </a:solidFill>
                <a:latin typeface="Arial Narrow" pitchFamily="34" charset="0"/>
              </a:rPr>
              <a:t>No</a:t>
            </a:r>
          </a:p>
        </p:txBody>
      </p:sp>
      <p:sp>
        <p:nvSpPr>
          <p:cNvPr id="95276" name="Text Box 1068"/>
          <p:cNvSpPr txBox="1">
            <a:spLocks noChangeArrowheads="1"/>
          </p:cNvSpPr>
          <p:nvPr/>
        </p:nvSpPr>
        <p:spPr bwMode="auto">
          <a:xfrm>
            <a:off x="4248150" y="3028951"/>
            <a:ext cx="4057650" cy="14773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02419" indent="-4763" eaLnBrk="0" hangingPunct="0">
              <a:spcBef>
                <a:spcPct val="50000"/>
              </a:spcBef>
              <a:buSzPct val="60000"/>
            </a:pPr>
            <a:r>
              <a:rPr lang="en-US" b="1" dirty="0">
                <a:solidFill>
                  <a:prstClr val="black"/>
                </a:solidFill>
                <a:latin typeface="Arial Narrow" pitchFamily="34" charset="0"/>
              </a:rPr>
              <a:t>A) the most common Humidity at Sunny</a:t>
            </a:r>
          </a:p>
          <a:p>
            <a:pPr marL="302419" indent="-4763" eaLnBrk="0" hangingPunct="0">
              <a:spcBef>
                <a:spcPct val="50000"/>
              </a:spcBef>
              <a:buSzPct val="60000"/>
            </a:pPr>
            <a:r>
              <a:rPr lang="en-US" b="1" dirty="0">
                <a:solidFill>
                  <a:prstClr val="black"/>
                </a:solidFill>
                <a:latin typeface="Arial Narrow" pitchFamily="34" charset="0"/>
              </a:rPr>
              <a:t>B) as (A) but with </a:t>
            </a:r>
            <a:r>
              <a:rPr lang="en-US" b="1" dirty="0" err="1">
                <a:solidFill>
                  <a:prstClr val="black"/>
                </a:solidFill>
                <a:latin typeface="Arial Narrow" pitchFamily="34" charset="0"/>
              </a:rPr>
              <a:t>PlayTennis</a:t>
            </a:r>
            <a:r>
              <a:rPr lang="en-US" b="1" dirty="0">
                <a:solidFill>
                  <a:prstClr val="black"/>
                </a:solidFill>
                <a:latin typeface="Arial Narrow" pitchFamily="34" charset="0"/>
              </a:rPr>
              <a:t> = No (useless in testing)</a:t>
            </a:r>
          </a:p>
          <a:p>
            <a:pPr marL="302419" indent="-4763" eaLnBrk="0" hangingPunct="0">
              <a:spcBef>
                <a:spcPct val="50000"/>
              </a:spcBef>
              <a:buSzPct val="60000"/>
            </a:pPr>
            <a:r>
              <a:rPr lang="en-US" b="1" dirty="0">
                <a:solidFill>
                  <a:prstClr val="black"/>
                </a:solidFill>
                <a:latin typeface="Arial Narrow" pitchFamily="34" charset="0"/>
              </a:rPr>
              <a:t>C) Fractional instances</a:t>
            </a:r>
          </a:p>
        </p:txBody>
      </p:sp>
      <p:sp>
        <p:nvSpPr>
          <p:cNvPr id="95277" name="Text Box 1069"/>
          <p:cNvSpPr txBox="1">
            <a:spLocks noChangeArrowheads="1"/>
          </p:cNvSpPr>
          <p:nvPr/>
        </p:nvSpPr>
        <p:spPr bwMode="auto">
          <a:xfrm>
            <a:off x="4057650" y="2628901"/>
            <a:ext cx="3200400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SzPct val="60000"/>
            </a:pPr>
            <a:r>
              <a:rPr lang="en-US" sz="2100" b="1" dirty="0">
                <a:solidFill>
                  <a:prstClr val="black"/>
                </a:solidFill>
                <a:latin typeface="Arial Narrow" pitchFamily="34" charset="0"/>
              </a:rPr>
              <a:t>Use: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31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295400" y="1828800"/>
            <a:ext cx="7002238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Diagnosis = &lt; temperature, </a:t>
            </a:r>
            <a:r>
              <a:rPr lang="en-US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blood_pressure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blood_test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=?,…&gt; </a:t>
            </a: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times values are not available for all attributes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during training or testing  (e.g., medical diagnosis)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evaluate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Gain(</a:t>
            </a:r>
            <a:r>
              <a:rPr lang="en-US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where in some of the examples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 value for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is not given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classify an example without knowing the value of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20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i="1" dirty="0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87056" name="Rectangle 16"/>
          <p:cNvSpPr>
            <a:spLocks noChangeArrowheads="1"/>
          </p:cNvSpPr>
          <p:nvPr/>
        </p:nvSpPr>
        <p:spPr bwMode="auto">
          <a:xfrm>
            <a:off x="1657350" y="91440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700" dirty="0">
                <a:latin typeface="Times New Roman" pitchFamily="18" charset="0"/>
                <a:cs typeface="Arial" pitchFamily="34" charset="0"/>
              </a:rPr>
              <a:t>Missing Values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32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2721770" y="2432448"/>
            <a:ext cx="82426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FF"/>
                </a:solidFill>
                <a:latin typeface="Arial Narrow" pitchFamily="34" charset="0"/>
              </a:rPr>
              <a:t>Outlook </a:t>
            </a: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2709864" y="3371851"/>
            <a:ext cx="86273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Overcast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4015978" y="3334942"/>
            <a:ext cx="52610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Rain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cxnSp>
        <p:nvCxnSpPr>
          <p:cNvPr id="97286" name="AutoShape 6"/>
          <p:cNvCxnSpPr>
            <a:cxnSpLocks noChangeShapeType="1"/>
            <a:stCxn id="97283" idx="2"/>
            <a:endCxn id="97285" idx="0"/>
          </p:cNvCxnSpPr>
          <p:nvPr/>
        </p:nvCxnSpPr>
        <p:spPr bwMode="auto">
          <a:xfrm>
            <a:off x="3133903" y="2755613"/>
            <a:ext cx="1145128" cy="57932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97287" name="AutoShape 7"/>
          <p:cNvCxnSpPr>
            <a:cxnSpLocks noChangeShapeType="1"/>
            <a:stCxn id="97283" idx="2"/>
            <a:endCxn id="97284" idx="0"/>
          </p:cNvCxnSpPr>
          <p:nvPr/>
        </p:nvCxnSpPr>
        <p:spPr bwMode="auto">
          <a:xfrm>
            <a:off x="3133903" y="2755613"/>
            <a:ext cx="7330" cy="616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2663430" y="3669507"/>
            <a:ext cx="84350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A50021"/>
                </a:solidFill>
                <a:latin typeface="Arial Narrow" pitchFamily="34" charset="0"/>
              </a:rPr>
              <a:t>3,7,12,13</a:t>
            </a:r>
            <a:endParaRPr lang="en-US" sz="1500" b="1" dirty="0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89" name="Text Box 9"/>
          <p:cNvSpPr txBox="1">
            <a:spLocks noChangeArrowheads="1"/>
          </p:cNvSpPr>
          <p:nvPr/>
        </p:nvSpPr>
        <p:spPr bwMode="auto">
          <a:xfrm>
            <a:off x="3765948" y="3670698"/>
            <a:ext cx="97494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A50021"/>
                </a:solidFill>
                <a:latin typeface="Arial Narrow" pitchFamily="34" charset="0"/>
              </a:rPr>
              <a:t>4,5,6,10,14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90" name="Text Box 10"/>
          <p:cNvSpPr txBox="1">
            <a:spLocks noChangeArrowheads="1"/>
          </p:cNvSpPr>
          <p:nvPr/>
        </p:nvSpPr>
        <p:spPr bwMode="auto">
          <a:xfrm>
            <a:off x="3956447" y="3943351"/>
            <a:ext cx="54854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A50021"/>
                </a:solidFill>
                <a:latin typeface="Arial Narrow" pitchFamily="34" charset="0"/>
              </a:rPr>
              <a:t>3+,2-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91" name="Text Box 11"/>
          <p:cNvSpPr txBox="1">
            <a:spLocks noChangeArrowheads="1"/>
          </p:cNvSpPr>
          <p:nvPr/>
        </p:nvSpPr>
        <p:spPr bwMode="auto">
          <a:xfrm>
            <a:off x="1739504" y="3371851"/>
            <a:ext cx="66717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Sunny</a:t>
            </a:r>
            <a:endParaRPr lang="en-US" sz="1500" b="1" dirty="0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92" name="Text Box 12"/>
          <p:cNvSpPr txBox="1">
            <a:spLocks noChangeArrowheads="1"/>
          </p:cNvSpPr>
          <p:nvPr/>
        </p:nvSpPr>
        <p:spPr bwMode="auto">
          <a:xfrm>
            <a:off x="1587104" y="3669507"/>
            <a:ext cx="87812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A50021"/>
                </a:solidFill>
                <a:latin typeface="Arial Narrow" pitchFamily="34" charset="0"/>
              </a:rPr>
              <a:t>1,2,8,9,11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cxnSp>
        <p:nvCxnSpPr>
          <p:cNvPr id="97293" name="AutoShape 13"/>
          <p:cNvCxnSpPr>
            <a:cxnSpLocks noChangeShapeType="1"/>
            <a:stCxn id="97283" idx="2"/>
            <a:endCxn id="97291" idx="0"/>
          </p:cNvCxnSpPr>
          <p:nvPr/>
        </p:nvCxnSpPr>
        <p:spPr bwMode="auto">
          <a:xfrm flipH="1">
            <a:off x="2073089" y="2755613"/>
            <a:ext cx="1060814" cy="616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97294" name="Text Box 14"/>
          <p:cNvSpPr txBox="1">
            <a:spLocks noChangeArrowheads="1"/>
          </p:cNvSpPr>
          <p:nvPr/>
        </p:nvSpPr>
        <p:spPr bwMode="auto">
          <a:xfrm>
            <a:off x="2789635" y="3943351"/>
            <a:ext cx="54854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A50021"/>
                </a:solidFill>
                <a:latin typeface="Arial Narrow" pitchFamily="34" charset="0"/>
              </a:rPr>
              <a:t>4+,0-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95" name="Text Box 15"/>
          <p:cNvSpPr txBox="1">
            <a:spLocks noChangeArrowheads="1"/>
          </p:cNvSpPr>
          <p:nvPr/>
        </p:nvSpPr>
        <p:spPr bwMode="auto">
          <a:xfrm>
            <a:off x="1733551" y="3943351"/>
            <a:ext cx="54854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A50021"/>
                </a:solidFill>
                <a:latin typeface="Arial Narrow" pitchFamily="34" charset="0"/>
              </a:rPr>
              <a:t>2+,3-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96" name="Text Box 16"/>
          <p:cNvSpPr txBox="1">
            <a:spLocks noChangeArrowheads="1"/>
          </p:cNvSpPr>
          <p:nvPr/>
        </p:nvSpPr>
        <p:spPr bwMode="auto">
          <a:xfrm>
            <a:off x="2875361" y="4229101"/>
            <a:ext cx="458139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u="sng">
                <a:solidFill>
                  <a:srgbClr val="0000FF"/>
                </a:solidFill>
                <a:latin typeface="Arial Narrow" pitchFamily="34" charset="0"/>
              </a:rPr>
              <a:t>Yes</a:t>
            </a:r>
          </a:p>
        </p:txBody>
      </p:sp>
      <p:sp>
        <p:nvSpPr>
          <p:cNvPr id="97297" name="Text Box 17"/>
          <p:cNvSpPr txBox="1">
            <a:spLocks noChangeArrowheads="1"/>
          </p:cNvSpPr>
          <p:nvPr/>
        </p:nvSpPr>
        <p:spPr bwMode="auto">
          <a:xfrm>
            <a:off x="1657351" y="4229101"/>
            <a:ext cx="85792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FF"/>
                </a:solidFill>
                <a:latin typeface="Arial Narrow" pitchFamily="34" charset="0"/>
              </a:rPr>
              <a:t>Humidity</a:t>
            </a:r>
          </a:p>
        </p:txBody>
      </p:sp>
      <p:sp>
        <p:nvSpPr>
          <p:cNvPr id="97298" name="Text Box 18"/>
          <p:cNvSpPr txBox="1">
            <a:spLocks noChangeArrowheads="1"/>
          </p:cNvSpPr>
          <p:nvPr/>
        </p:nvSpPr>
        <p:spPr bwMode="auto">
          <a:xfrm>
            <a:off x="4093369" y="4229101"/>
            <a:ext cx="56804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FF"/>
                </a:solidFill>
                <a:latin typeface="Arial Narrow" pitchFamily="34" charset="0"/>
              </a:rPr>
              <a:t>Wind</a:t>
            </a:r>
          </a:p>
        </p:txBody>
      </p:sp>
      <p:sp>
        <p:nvSpPr>
          <p:cNvPr id="97299" name="Text Box 19"/>
          <p:cNvSpPr txBox="1">
            <a:spLocks noChangeArrowheads="1"/>
          </p:cNvSpPr>
          <p:nvPr/>
        </p:nvSpPr>
        <p:spPr bwMode="auto">
          <a:xfrm>
            <a:off x="2145507" y="4886326"/>
            <a:ext cx="72648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Normal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300" name="Text Box 20"/>
          <p:cNvSpPr txBox="1">
            <a:spLocks noChangeArrowheads="1"/>
          </p:cNvSpPr>
          <p:nvPr/>
        </p:nvSpPr>
        <p:spPr bwMode="auto">
          <a:xfrm>
            <a:off x="1319214" y="4886326"/>
            <a:ext cx="53412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High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cxnSp>
        <p:nvCxnSpPr>
          <p:cNvPr id="97301" name="AutoShape 21"/>
          <p:cNvCxnSpPr>
            <a:cxnSpLocks noChangeShapeType="1"/>
            <a:stCxn id="97299" idx="0"/>
            <a:endCxn id="97297" idx="2"/>
          </p:cNvCxnSpPr>
          <p:nvPr/>
        </p:nvCxnSpPr>
        <p:spPr bwMode="auto">
          <a:xfrm flipH="1" flipV="1">
            <a:off x="2086315" y="4552266"/>
            <a:ext cx="422433" cy="3340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97302" name="AutoShape 22"/>
          <p:cNvCxnSpPr>
            <a:cxnSpLocks noChangeShapeType="1"/>
            <a:stCxn id="97300" idx="0"/>
            <a:endCxn id="97297" idx="2"/>
          </p:cNvCxnSpPr>
          <p:nvPr/>
        </p:nvCxnSpPr>
        <p:spPr bwMode="auto">
          <a:xfrm flipV="1">
            <a:off x="1586275" y="4552266"/>
            <a:ext cx="500040" cy="3340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97303" name="Text Box 23"/>
          <p:cNvSpPr txBox="1">
            <a:spLocks noChangeArrowheads="1"/>
          </p:cNvSpPr>
          <p:nvPr/>
        </p:nvSpPr>
        <p:spPr bwMode="auto">
          <a:xfrm>
            <a:off x="1375172" y="5120880"/>
            <a:ext cx="39466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u="sng">
                <a:solidFill>
                  <a:srgbClr val="0000FF"/>
                </a:solidFill>
                <a:latin typeface="Arial Narrow" pitchFamily="34" charset="0"/>
              </a:rPr>
              <a:t>No</a:t>
            </a:r>
          </a:p>
        </p:txBody>
      </p:sp>
      <p:sp>
        <p:nvSpPr>
          <p:cNvPr id="97304" name="Text Box 24"/>
          <p:cNvSpPr txBox="1">
            <a:spLocks noChangeArrowheads="1"/>
          </p:cNvSpPr>
          <p:nvPr/>
        </p:nvSpPr>
        <p:spPr bwMode="auto">
          <a:xfrm>
            <a:off x="4480322" y="4886326"/>
            <a:ext cx="59554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Weak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305" name="Text Box 25"/>
          <p:cNvSpPr txBox="1">
            <a:spLocks noChangeArrowheads="1"/>
          </p:cNvSpPr>
          <p:nvPr/>
        </p:nvSpPr>
        <p:spPr bwMode="auto">
          <a:xfrm>
            <a:off x="3654028" y="4886326"/>
            <a:ext cx="69281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Strong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306" name="Text Box 26"/>
          <p:cNvSpPr txBox="1">
            <a:spLocks noChangeArrowheads="1"/>
          </p:cNvSpPr>
          <p:nvPr/>
        </p:nvSpPr>
        <p:spPr bwMode="auto">
          <a:xfrm>
            <a:off x="3709988" y="5120880"/>
            <a:ext cx="39466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u="sng">
                <a:solidFill>
                  <a:srgbClr val="0000FF"/>
                </a:solidFill>
                <a:latin typeface="Arial Narrow" pitchFamily="34" charset="0"/>
              </a:rPr>
              <a:t>No</a:t>
            </a:r>
          </a:p>
        </p:txBody>
      </p:sp>
      <p:sp>
        <p:nvSpPr>
          <p:cNvPr id="97307" name="Text Box 27"/>
          <p:cNvSpPr txBox="1">
            <a:spLocks noChangeArrowheads="1"/>
          </p:cNvSpPr>
          <p:nvPr/>
        </p:nvSpPr>
        <p:spPr bwMode="auto">
          <a:xfrm>
            <a:off x="4595814" y="5120880"/>
            <a:ext cx="458139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u="sng">
                <a:solidFill>
                  <a:srgbClr val="0000FF"/>
                </a:solidFill>
                <a:latin typeface="Arial Narrow" pitchFamily="34" charset="0"/>
              </a:rPr>
              <a:t>Yes</a:t>
            </a:r>
          </a:p>
        </p:txBody>
      </p:sp>
      <p:cxnSp>
        <p:nvCxnSpPr>
          <p:cNvPr id="97308" name="AutoShape 28"/>
          <p:cNvCxnSpPr>
            <a:cxnSpLocks noChangeShapeType="1"/>
            <a:stCxn id="97298" idx="2"/>
            <a:endCxn id="97304" idx="0"/>
          </p:cNvCxnSpPr>
          <p:nvPr/>
        </p:nvCxnSpPr>
        <p:spPr bwMode="auto">
          <a:xfrm>
            <a:off x="4377390" y="4552266"/>
            <a:ext cx="400706" cy="3340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97309" name="AutoShape 29"/>
          <p:cNvCxnSpPr>
            <a:cxnSpLocks noChangeShapeType="1"/>
            <a:stCxn id="97305" idx="0"/>
            <a:endCxn id="97298" idx="2"/>
          </p:cNvCxnSpPr>
          <p:nvPr/>
        </p:nvCxnSpPr>
        <p:spPr bwMode="auto">
          <a:xfrm flipV="1">
            <a:off x="4000437" y="4552266"/>
            <a:ext cx="376953" cy="3340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97310" name="Text Box 30"/>
          <p:cNvSpPr txBox="1">
            <a:spLocks noChangeArrowheads="1"/>
          </p:cNvSpPr>
          <p:nvPr/>
        </p:nvSpPr>
        <p:spPr bwMode="auto">
          <a:xfrm>
            <a:off x="2225280" y="5120880"/>
            <a:ext cx="458139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u="sng">
                <a:solidFill>
                  <a:srgbClr val="0000FF"/>
                </a:solidFill>
                <a:latin typeface="Arial Narrow" pitchFamily="34" charset="0"/>
              </a:rPr>
              <a:t>Yes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311" name="Text Box 31"/>
          <p:cNvSpPr txBox="1">
            <a:spLocks noChangeArrowheads="1"/>
          </p:cNvSpPr>
          <p:nvPr/>
        </p:nvSpPr>
        <p:spPr bwMode="auto">
          <a:xfrm>
            <a:off x="1485901" y="1714501"/>
            <a:ext cx="576465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Outlook = </a:t>
            </a:r>
            <a:r>
              <a:rPr lang="en-US" sz="1500" b="1" dirty="0">
                <a:solidFill>
                  <a:srgbClr val="A50021"/>
                </a:solidFill>
                <a:latin typeface="Arial Narrow" pitchFamily="34" charset="0"/>
              </a:rPr>
              <a:t>???</a:t>
            </a: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, Temp = Hot,  Humidity = Normal,  Wind = Strong, </a:t>
            </a:r>
            <a:r>
              <a:rPr lang="en-US" sz="1500" b="1" dirty="0">
                <a:solidFill>
                  <a:srgbClr val="0000FF"/>
                </a:solidFill>
                <a:latin typeface="Arial Narrow" pitchFamily="34" charset="0"/>
              </a:rPr>
              <a:t> </a:t>
            </a:r>
            <a:r>
              <a:rPr lang="en-US" sz="1500" b="1" dirty="0">
                <a:solidFill>
                  <a:srgbClr val="A50021"/>
                </a:solidFill>
                <a:latin typeface="Arial Narrow" pitchFamily="34" charset="0"/>
              </a:rPr>
              <a:t>label = ??</a:t>
            </a:r>
          </a:p>
        </p:txBody>
      </p:sp>
      <p:sp>
        <p:nvSpPr>
          <p:cNvPr id="97313" name="Text Box 33"/>
          <p:cNvSpPr txBox="1">
            <a:spLocks noChangeArrowheads="1"/>
          </p:cNvSpPr>
          <p:nvPr/>
        </p:nvSpPr>
        <p:spPr bwMode="auto">
          <a:xfrm>
            <a:off x="4819650" y="2514601"/>
            <a:ext cx="325755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A) use most common value in training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B) Blend by labels: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	5/14 Yes + 4/14 Yes +5/14 No = </a:t>
            </a:r>
            <a:r>
              <a:rPr lang="en-US" sz="1500" b="1" dirty="0">
                <a:solidFill>
                  <a:srgbClr val="A50021"/>
                </a:solidFill>
                <a:latin typeface="Arial Narrow" pitchFamily="34" charset="0"/>
              </a:rPr>
              <a:t>Yes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prstClr val="black"/>
                </a:solidFill>
                <a:latin typeface="Arial Narrow" pitchFamily="34" charset="0"/>
              </a:rPr>
              <a:t>Blend by probability</a:t>
            </a:r>
            <a:br>
              <a:rPr lang="en-US" sz="1500" b="1" dirty="0">
                <a:solidFill>
                  <a:prstClr val="black"/>
                </a:solidFill>
                <a:latin typeface="Arial Narrow" pitchFamily="34" charset="0"/>
              </a:rPr>
            </a:br>
            <a:r>
              <a:rPr lang="en-US" sz="1500" b="1" dirty="0">
                <a:solidFill>
                  <a:prstClr val="black"/>
                </a:solidFill>
                <a:latin typeface="Arial Narrow" pitchFamily="34" charset="0"/>
              </a:rPr>
              <a:t>	(estimated by counts)</a:t>
            </a:r>
            <a:endParaRPr lang="en-US" sz="1500" b="1" dirty="0">
              <a:solidFill>
                <a:srgbClr val="A50021"/>
              </a:solidFill>
              <a:latin typeface="Arial Narrow" pitchFamily="34" charset="0"/>
            </a:endParaRPr>
          </a:p>
        </p:txBody>
      </p:sp>
      <p:sp>
        <p:nvSpPr>
          <p:cNvPr id="97316" name="Rectangle 36"/>
          <p:cNvSpPr>
            <a:spLocks noChangeArrowheads="1"/>
          </p:cNvSpPr>
          <p:nvPr/>
        </p:nvSpPr>
        <p:spPr bwMode="auto">
          <a:xfrm>
            <a:off x="1657350" y="91440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700" dirty="0">
                <a:latin typeface="Times New Roman" pitchFamily="18" charset="0"/>
                <a:cs typeface="Arial" pitchFamily="34" charset="0"/>
              </a:rPr>
              <a:t>Missing Values At Testing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33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0386" name="Text Box 34"/>
          <p:cNvSpPr txBox="1">
            <a:spLocks noChangeArrowheads="1"/>
          </p:cNvSpPr>
          <p:nvPr/>
        </p:nvSpPr>
        <p:spPr bwMode="auto">
          <a:xfrm>
            <a:off x="1066800" y="1771651"/>
            <a:ext cx="7460697" cy="3585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400" dirty="0">
                <a:solidFill>
                  <a:srgbClr val="000066"/>
                </a:solidFill>
                <a:latin typeface="Arial Narrow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with different costs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-Solution: </a:t>
            </a:r>
            <a:r>
              <a:rPr 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information gain so that low cost attributes are preferred</a:t>
            </a: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endParaRPr lang="en-US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Alternative measures for </a:t>
            </a:r>
            <a:r>
              <a:rPr lang="en-US" sz="32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</a:t>
            </a:r>
            <a:r>
              <a:rPr lang="en-US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attributes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different attributes have different number of values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information gain tends to prefer those with many values (e.g. Date)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They do not generalize well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-Solution: Use </a:t>
            </a:r>
            <a:r>
              <a:rPr lang="en-US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GainRatio</a:t>
            </a:r>
            <a:endParaRPr lang="en-US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endParaRPr lang="en-US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</a:pPr>
            <a:endParaRPr lang="en-US" sz="15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</a:pPr>
            <a:endParaRPr lang="en-US" i="1" dirty="0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100387" name="Rectangle 35"/>
          <p:cNvSpPr>
            <a:spLocks noChangeArrowheads="1"/>
          </p:cNvSpPr>
          <p:nvPr/>
        </p:nvSpPr>
        <p:spPr bwMode="auto">
          <a:xfrm>
            <a:off x="1657350" y="91440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3600" dirty="0">
                <a:latin typeface="Times New Roman" pitchFamily="18" charset="0"/>
                <a:cs typeface="Arial" pitchFamily="34" charset="0"/>
              </a:rPr>
              <a:t>Other Issues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667" rIns="0" bIns="0" rtlCol="0">
            <a:spAutoFit/>
          </a:bodyPr>
          <a:lstStyle/>
          <a:p>
            <a:pPr marL="137795" marR="5080" indent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A </a:t>
            </a:r>
            <a:r>
              <a:rPr spc="-5" dirty="0"/>
              <a:t>decision </a:t>
            </a:r>
            <a:r>
              <a:rPr spc="-20" dirty="0"/>
              <a:t>tree </a:t>
            </a:r>
            <a:r>
              <a:rPr dirty="0"/>
              <a:t>to </a:t>
            </a:r>
            <a:r>
              <a:rPr spc="-5" dirty="0"/>
              <a:t>distinguish homes </a:t>
            </a:r>
            <a:r>
              <a:rPr dirty="0"/>
              <a:t>in  New </a:t>
            </a:r>
            <a:r>
              <a:rPr spc="-125" dirty="0"/>
              <a:t>York </a:t>
            </a:r>
            <a:r>
              <a:rPr spc="-20" dirty="0"/>
              <a:t>from </a:t>
            </a:r>
            <a:r>
              <a:rPr spc="-5" dirty="0"/>
              <a:t>homes in San</a:t>
            </a:r>
            <a:r>
              <a:rPr spc="95" dirty="0"/>
              <a:t> </a:t>
            </a:r>
            <a:r>
              <a:rPr dirty="0"/>
              <a:t>Francisco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345307"/>
            <a:ext cx="68116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u="heavy" spc="-5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Segoe UI"/>
                <a:cs typeface="Segoe UI"/>
                <a:hlinkClick r:id="rId2"/>
              </a:rPr>
              <a:t>http://r2d3.us/visual-intro-to-machine-learning-part-1/</a:t>
            </a:r>
            <a:endParaRPr sz="2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483234"/>
            <a:ext cx="57150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sz="4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4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Trees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5559"/>
            <a:ext cx="7939405" cy="3263714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tree?</a:t>
            </a: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from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data?</a:t>
            </a:r>
          </a:p>
          <a:p>
            <a:pPr marL="756285" marR="5080" lvl="1" indent="-287020">
              <a:lnSpc>
                <a:spcPts val="3010"/>
              </a:lnSpc>
              <a:spcBef>
                <a:spcPts val="106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 error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lnSpc>
                <a:spcPts val="2970"/>
              </a:lnSpc>
              <a:buSzPct val="107692"/>
              <a:buChar char="–"/>
              <a:tabLst>
                <a:tab pos="75692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using Information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lnSpc>
                <a:spcPts val="2970"/>
              </a:lnSpc>
              <a:buSzPct val="107692"/>
              <a:buChar char="–"/>
              <a:tabLst>
                <a:tab pos="756920" algn="l"/>
              </a:tabLst>
            </a:pP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Attributes</a:t>
            </a:r>
          </a:p>
          <a:p>
            <a:pPr marL="756285" lvl="1" indent="-287020">
              <a:lnSpc>
                <a:spcPts val="2970"/>
              </a:lnSpc>
              <a:buSzPct val="107692"/>
              <a:buChar char="–"/>
              <a:tabLst>
                <a:tab pos="756920" algn="l"/>
              </a:tabLst>
            </a:pP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9F2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1894</Words>
  <Application>Microsoft Office PowerPoint</Application>
  <PresentationFormat>On-screen Show (4:3)</PresentationFormat>
  <Paragraphs>377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Consolas</vt:lpstr>
      <vt:lpstr>Cambria Math</vt:lpstr>
      <vt:lpstr>Calibri</vt:lpstr>
      <vt:lpstr>Wingdings</vt:lpstr>
      <vt:lpstr>Calibri Light</vt:lpstr>
      <vt:lpstr>Symbol</vt:lpstr>
      <vt:lpstr>Arial</vt:lpstr>
      <vt:lpstr>Segoe UI Light</vt:lpstr>
      <vt:lpstr>Times New Roman</vt:lpstr>
      <vt:lpstr>Segoe UI Emoji</vt:lpstr>
      <vt:lpstr>Arial Narrow</vt:lpstr>
      <vt:lpstr>Tahoma</vt:lpstr>
      <vt:lpstr>Segoe UI</vt:lpstr>
      <vt:lpstr>Office Theme</vt:lpstr>
      <vt:lpstr>Equation</vt:lpstr>
      <vt:lpstr>CSCI/ARTI 8950 Machine Learning</vt:lpstr>
      <vt:lpstr>Machine Learning as Function Approximation</vt:lpstr>
      <vt:lpstr>Today: Decision Trees</vt:lpstr>
      <vt:lpstr>Tree-based Models</vt:lpstr>
      <vt:lpstr>Easy to Interpret</vt:lpstr>
      <vt:lpstr>Decision Tree Induction</vt:lpstr>
      <vt:lpstr>An example training set</vt:lpstr>
      <vt:lpstr>A decision tree to decide whether to play tennis</vt:lpstr>
      <vt:lpstr>Decision Trees</vt:lpstr>
      <vt:lpstr>Exercise</vt:lpstr>
      <vt:lpstr>When to use a Decision Tree?</vt:lpstr>
      <vt:lpstr>Today: Decision Trees</vt:lpstr>
      <vt:lpstr>How to Choose Attribute?</vt:lpstr>
      <vt:lpstr>Function Approximation  with Decision Trees</vt:lpstr>
      <vt:lpstr>Decision Tree Learning</vt:lpstr>
      <vt:lpstr>Top-down Induction  of Decision Trees</vt:lpstr>
      <vt:lpstr>How to select the “best” feature?</vt:lpstr>
      <vt:lpstr>Let’s build a decision tree  using features W, H, T</vt:lpstr>
      <vt:lpstr>Partitioning examples according  to Humidity feature</vt:lpstr>
      <vt:lpstr>Partitioning examples: Humidity = High </vt:lpstr>
      <vt:lpstr>Partitioning examples:  Humidity = Normal</vt:lpstr>
      <vt:lpstr>Can we do better? H = Normal and W = Strong</vt:lpstr>
      <vt:lpstr>Another feature selection  criterion: Entropy</vt:lpstr>
      <vt:lpstr>Entropy</vt:lpstr>
      <vt:lpstr>Information Gain</vt:lpstr>
      <vt:lpstr>Information Gain: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decision tree to distinguish homes in  New York from homes in San Francisco</vt:lpstr>
      <vt:lpstr>Summary: Decision Trees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CSCI_8950_Lec3_Decision_Trees</dc:title>
  <cp:lastModifiedBy>Khaled M Rasheed</cp:lastModifiedBy>
  <cp:revision>36</cp:revision>
  <cp:lastPrinted>2021-01-19T02:11:38Z</cp:lastPrinted>
  <dcterms:created xsi:type="dcterms:W3CDTF">2020-10-05T08:00:27Z</dcterms:created>
  <dcterms:modified xsi:type="dcterms:W3CDTF">2026-08-20T14:10:16Z</dcterms:modified>
</cp:coreProperties>
</file>