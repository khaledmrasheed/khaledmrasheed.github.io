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3"/>
  </p:notesMasterIdLst>
  <p:sldIdLst>
    <p:sldId id="256" r:id="rId2"/>
    <p:sldId id="286" r:id="rId3"/>
    <p:sldId id="287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7" r:id="rId13"/>
    <p:sldId id="298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</p:sldIdLst>
  <p:sldSz cx="9144000" cy="6858000" type="screen4x3"/>
  <p:notesSz cx="9239250" cy="6858000"/>
  <p:embeddedFontLst>
    <p:embeddedFont>
      <p:font typeface="Calibri" panose="020F0502020204030204" pitchFamily="34" charset="0"/>
      <p:regular r:id="rId44"/>
      <p:bold r:id="rId45"/>
      <p:italic r:id="rId46"/>
      <p:boldItalic r:id="rId47"/>
    </p:embeddedFont>
    <p:embeddedFont>
      <p:font typeface="Calibri Light" panose="020F0302020204030204" pitchFamily="34" charset="0"/>
      <p:regular r:id="rId48"/>
      <p:italic r:id="rId49"/>
    </p:embeddedFont>
    <p:embeddedFont>
      <p:font typeface="Cambria Math" panose="02040503050406030204" pitchFamily="18" charset="0"/>
      <p:regular r:id="rId50"/>
    </p:embeddedFont>
    <p:embeddedFont>
      <p:font typeface="Segoe UI" panose="020B0502040204020203" pitchFamily="34" charset="0"/>
      <p:regular r:id="rId51"/>
      <p:bold r:id="rId52"/>
      <p:italic r:id="rId53"/>
      <p:boldItalic r:id="rId54"/>
    </p:embeddedFont>
    <p:embeddedFont>
      <p:font typeface="Segoe UI Light" panose="020B0502040204020203" pitchFamily="34" charset="0"/>
      <p:regular r:id="rId55"/>
      <p:italic r:id="rId5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734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font" Target="fonts/font1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56" Type="http://schemas.openxmlformats.org/officeDocument/2006/relationships/font" Target="fonts/font13.fntdata"/><Relationship Id="rId8" Type="http://schemas.openxmlformats.org/officeDocument/2006/relationships/slide" Target="slides/slide7.xml"/><Relationship Id="rId51" Type="http://schemas.openxmlformats.org/officeDocument/2006/relationships/font" Target="fonts/font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font" Target="fonts/font9.fntdata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03675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33988" y="0"/>
            <a:ext cx="4003675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622D29-F631-4F94-91EB-9B69DA8B3B7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76575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3925" y="3300413"/>
            <a:ext cx="73914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4003675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33988" y="6513513"/>
            <a:ext cx="4003675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F0D53-42AC-4808-BF37-0CB9956A6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097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61538" y="483234"/>
            <a:ext cx="3820922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72436" y="2382012"/>
            <a:ext cx="5599127" cy="3726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495" y="149352"/>
            <a:ext cx="6355080" cy="72847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12419" y="1635421"/>
            <a:ext cx="6919595" cy="623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00" spc="20" dirty="0">
                <a:solidFill>
                  <a:srgbClr val="0070C0"/>
                </a:solidFill>
                <a:latin typeface="Calibri Light"/>
                <a:cs typeface="Calibri Light"/>
              </a:rPr>
              <a:t>CSCI/ARTI </a:t>
            </a:r>
            <a:r>
              <a:rPr sz="3900" spc="45" dirty="0">
                <a:solidFill>
                  <a:srgbClr val="0070C0"/>
                </a:solidFill>
                <a:latin typeface="Calibri Light"/>
                <a:cs typeface="Calibri Light"/>
              </a:rPr>
              <a:t>8950 Machine</a:t>
            </a:r>
            <a:r>
              <a:rPr sz="3900" spc="-35" dirty="0">
                <a:solidFill>
                  <a:srgbClr val="0070C0"/>
                </a:solidFill>
                <a:latin typeface="Calibri Light"/>
                <a:cs typeface="Calibri Light"/>
              </a:rPr>
              <a:t> </a:t>
            </a:r>
            <a:r>
              <a:rPr sz="3900" spc="40" dirty="0">
                <a:solidFill>
                  <a:srgbClr val="0070C0"/>
                </a:solidFill>
                <a:latin typeface="Calibri Light"/>
                <a:cs typeface="Calibri Light"/>
              </a:rPr>
              <a:t>Learning</a:t>
            </a:r>
            <a:endParaRPr sz="39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838200" y="2382012"/>
            <a:ext cx="7543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Lecture </a:t>
            </a:r>
            <a:r>
              <a:rPr lang="en-US" sz="2800" spc="-5"/>
              <a:t>Notes </a:t>
            </a:r>
            <a:r>
              <a:rPr lang="en-US" sz="2800" spc="-5" dirty="0"/>
              <a:t>8</a:t>
            </a:r>
            <a:r>
              <a:rPr sz="2800"/>
              <a:t>: </a:t>
            </a:r>
            <a:r>
              <a:rPr spc="-5" dirty="0"/>
              <a:t>Multiclass</a:t>
            </a:r>
            <a:r>
              <a:rPr spc="-45" dirty="0"/>
              <a:t> </a:t>
            </a:r>
            <a:r>
              <a:rPr spc="-5" dirty="0"/>
              <a:t>Classification</a:t>
            </a:r>
            <a:endParaRPr sz="2800" dirty="0"/>
          </a:p>
        </p:txBody>
      </p:sp>
      <p:sp>
        <p:nvSpPr>
          <p:cNvPr id="5" name="object 5"/>
          <p:cNvSpPr txBox="1"/>
          <p:nvPr/>
        </p:nvSpPr>
        <p:spPr>
          <a:xfrm>
            <a:off x="2910756" y="6524243"/>
            <a:ext cx="6093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Credit: some </a:t>
            </a:r>
            <a:r>
              <a:rPr sz="1400" spc="-10" dirty="0">
                <a:latin typeface="Calibri"/>
                <a:cs typeface="Calibri"/>
              </a:rPr>
              <a:t>examples </a:t>
            </a:r>
            <a:r>
              <a:rPr sz="1400" dirty="0">
                <a:latin typeface="Calibri"/>
                <a:cs typeface="Calibri"/>
              </a:rPr>
              <a:t>&amp; </a:t>
            </a:r>
            <a:r>
              <a:rPr sz="1400" spc="-5" dirty="0">
                <a:latin typeface="Calibri"/>
                <a:cs typeface="Calibri"/>
              </a:rPr>
              <a:t>figures by Marine Carpuat, </a:t>
            </a:r>
            <a:r>
              <a:rPr sz="1400" spc="-45" dirty="0">
                <a:latin typeface="Calibri"/>
                <a:cs typeface="Calibri"/>
              </a:rPr>
              <a:t>Tom </a:t>
            </a:r>
            <a:r>
              <a:rPr sz="1400" spc="-5" dirty="0">
                <a:latin typeface="Calibri"/>
                <a:cs typeface="Calibri"/>
              </a:rPr>
              <a:t>Mitchell </a:t>
            </a:r>
            <a:r>
              <a:rPr sz="1400" dirty="0">
                <a:latin typeface="Calibri"/>
                <a:cs typeface="Calibri"/>
              </a:rPr>
              <a:t>and Hal </a:t>
            </a:r>
            <a:r>
              <a:rPr sz="1400" spc="-5" dirty="0">
                <a:latin typeface="Calibri"/>
                <a:cs typeface="Calibri"/>
              </a:rPr>
              <a:t>Daumé</a:t>
            </a:r>
            <a:r>
              <a:rPr sz="1400" spc="1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III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7282E25-FB98-4F26-BFD3-3B2603417E1F}"/>
              </a:ext>
            </a:extLst>
          </p:cNvPr>
          <p:cNvSpPr txBox="1">
            <a:spLocks/>
          </p:cNvSpPr>
          <p:nvPr/>
        </p:nvSpPr>
        <p:spPr>
          <a:xfrm>
            <a:off x="1143000" y="3662998"/>
            <a:ext cx="6858000" cy="2661602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 marL="0">
              <a:defRPr sz="2200" b="0" i="0">
                <a:solidFill>
                  <a:schemeClr val="tx1"/>
                </a:solidFill>
                <a:latin typeface="Segoe UI Emoji"/>
                <a:ea typeface="+mn-ea"/>
                <a:cs typeface="Segoe UI Emoj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Khaled Rasheed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Professor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School of Computing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Member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Institute for Artificial Intelligence</a:t>
            </a:r>
          </a:p>
          <a:p>
            <a:pPr algn="ctr"/>
            <a:r>
              <a:rPr lang="en-US" sz="2400" kern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University of Georgia</a:t>
            </a:r>
            <a:endParaRPr lang="en-US" sz="2400" kern="0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5940" y="1712035"/>
            <a:ext cx="7629525" cy="4128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Using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Segoe UI"/>
                <a:cs typeface="Segoe UI"/>
              </a:rPr>
              <a:t>standa</a:t>
            </a:r>
            <a:r>
              <a:rPr sz="3200" spc="-25" dirty="0">
                <a:latin typeface="Segoe UI"/>
                <a:cs typeface="Segoe UI"/>
              </a:rPr>
              <a:t>r</a:t>
            </a:r>
            <a:r>
              <a:rPr sz="3200" dirty="0">
                <a:latin typeface="Segoe UI"/>
                <a:cs typeface="Segoe UI"/>
              </a:rPr>
              <a:t>d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bina</a:t>
            </a:r>
            <a:r>
              <a:rPr sz="3200" spc="135" dirty="0">
                <a:latin typeface="Segoe UI"/>
                <a:cs typeface="Segoe UI"/>
              </a:rPr>
              <a:t>r</a:t>
            </a:r>
            <a:r>
              <a:rPr sz="3200" dirty="0">
                <a:latin typeface="Segoe UI"/>
                <a:cs typeface="Segoe UI"/>
              </a:rPr>
              <a:t>y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classif</a:t>
            </a:r>
            <a:r>
              <a:rPr sz="3200" spc="-5" dirty="0">
                <a:latin typeface="Segoe UI"/>
                <a:cs typeface="Segoe UI"/>
              </a:rPr>
              <a:t>ie</a:t>
            </a:r>
            <a:r>
              <a:rPr sz="3200" spc="30" dirty="0">
                <a:latin typeface="Segoe UI"/>
                <a:cs typeface="Segoe UI"/>
              </a:rPr>
              <a:t>r</a:t>
            </a:r>
            <a:r>
              <a:rPr sz="3200" dirty="0">
                <a:latin typeface="Segoe UI"/>
                <a:cs typeface="Segoe UI"/>
              </a:rPr>
              <a:t>s</a:t>
            </a:r>
            <a:r>
              <a:rPr sz="3200" spc="45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Segoe UI"/>
                <a:cs typeface="Segoe UI"/>
              </a:rPr>
              <a:t>t</a:t>
            </a:r>
            <a:r>
              <a:rPr sz="3200" dirty="0">
                <a:latin typeface="Segoe UI"/>
                <a:cs typeface="Segoe UI"/>
              </a:rPr>
              <a:t>o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Segoe UI"/>
                <a:cs typeface="Segoe UI"/>
              </a:rPr>
              <a:t>sol</a:t>
            </a:r>
            <a:r>
              <a:rPr sz="3200" spc="-20" dirty="0">
                <a:latin typeface="Segoe UI"/>
                <a:cs typeface="Segoe UI"/>
              </a:rPr>
              <a:t>v</a:t>
            </a:r>
            <a:r>
              <a:rPr sz="3200" dirty="0">
                <a:latin typeface="Segoe UI"/>
                <a:cs typeface="Segoe UI"/>
              </a:rPr>
              <a:t>e</a:t>
            </a:r>
          </a:p>
          <a:p>
            <a:pPr marL="355600">
              <a:lnSpc>
                <a:spcPct val="100000"/>
              </a:lnSpc>
            </a:pPr>
            <a:r>
              <a:rPr sz="3200" dirty="0">
                <a:latin typeface="Segoe UI"/>
                <a:cs typeface="Segoe UI"/>
              </a:rPr>
              <a:t>other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p</a:t>
            </a:r>
            <a:r>
              <a:rPr sz="3200" spc="-30" dirty="0">
                <a:latin typeface="Segoe UI"/>
                <a:cs typeface="Segoe UI"/>
              </a:rPr>
              <a:t>r</a:t>
            </a:r>
            <a:r>
              <a:rPr sz="3200" dirty="0">
                <a:latin typeface="Segoe UI"/>
                <a:cs typeface="Segoe UI"/>
              </a:rPr>
              <a:t>obl</a:t>
            </a:r>
            <a:r>
              <a:rPr sz="3200" spc="5" dirty="0">
                <a:latin typeface="Segoe UI"/>
                <a:cs typeface="Segoe UI"/>
              </a:rPr>
              <a:t>e</a:t>
            </a:r>
            <a:r>
              <a:rPr sz="3200" spc="-5" dirty="0">
                <a:latin typeface="Segoe UI"/>
                <a:cs typeface="Segoe UI"/>
              </a:rPr>
              <a:t>ms</a:t>
            </a:r>
            <a:endParaRPr sz="3200" dirty="0">
              <a:latin typeface="Segoe UI"/>
              <a:cs typeface="Segoe UI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0" dirty="0">
                <a:latin typeface="Segoe UI"/>
                <a:cs typeface="Segoe UI"/>
              </a:rPr>
              <a:t>W</a:t>
            </a:r>
            <a:r>
              <a:rPr sz="2800" spc="-15" dirty="0">
                <a:latin typeface="Segoe UI"/>
                <a:cs typeface="Segoe UI"/>
              </a:rPr>
              <a:t>eigh</a:t>
            </a:r>
            <a:r>
              <a:rPr sz="2800" spc="-40" dirty="0">
                <a:latin typeface="Segoe UI"/>
                <a:cs typeface="Segoe UI"/>
              </a:rPr>
              <a:t>t</a:t>
            </a:r>
            <a:r>
              <a:rPr sz="2800" spc="-20" dirty="0">
                <a:latin typeface="Segoe UI"/>
                <a:cs typeface="Segoe UI"/>
              </a:rPr>
              <a:t>ed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classif</a:t>
            </a:r>
            <a:r>
              <a:rPr sz="2800" spc="-20" dirty="0">
                <a:latin typeface="Segoe UI"/>
                <a:cs typeface="Segoe UI"/>
              </a:rPr>
              <a:t>i</a:t>
            </a:r>
            <a:r>
              <a:rPr sz="2800" spc="-15" dirty="0">
                <a:latin typeface="Segoe UI"/>
                <a:cs typeface="Segoe UI"/>
              </a:rPr>
              <a:t>c</a:t>
            </a:r>
            <a:r>
              <a:rPr sz="2800" spc="-10" dirty="0">
                <a:latin typeface="Segoe UI"/>
                <a:cs typeface="Segoe UI"/>
              </a:rPr>
              <a:t>a</a:t>
            </a:r>
            <a:r>
              <a:rPr sz="2800" spc="-15" dirty="0">
                <a:latin typeface="Segoe UI"/>
                <a:cs typeface="Segoe UI"/>
              </a:rPr>
              <a:t>tion</a:t>
            </a:r>
            <a:endParaRPr sz="2800" dirty="0">
              <a:latin typeface="Segoe UI"/>
              <a:cs typeface="Segoe UI"/>
            </a:endParaRPr>
          </a:p>
          <a:p>
            <a:pPr marL="756285" lvl="1" indent="-286385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25" dirty="0">
                <a:latin typeface="Segoe UI"/>
                <a:cs typeface="Segoe UI"/>
              </a:rPr>
              <a:t>Mul</a:t>
            </a:r>
            <a:r>
              <a:rPr sz="2800" spc="-15" dirty="0">
                <a:latin typeface="Segoe UI"/>
                <a:cs typeface="Segoe UI"/>
              </a:rPr>
              <a:t>ticlass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cla</a:t>
            </a:r>
            <a:r>
              <a:rPr sz="2800" spc="-10" dirty="0">
                <a:latin typeface="Segoe UI"/>
                <a:cs typeface="Segoe UI"/>
              </a:rPr>
              <a:t>s</a:t>
            </a:r>
            <a:r>
              <a:rPr sz="2800" spc="-20" dirty="0">
                <a:latin typeface="Segoe UI"/>
                <a:cs typeface="Segoe UI"/>
              </a:rPr>
              <a:t>sification</a:t>
            </a:r>
            <a:endParaRPr sz="28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Arial"/>
              <a:buChar char="–"/>
            </a:pPr>
            <a:endParaRPr sz="415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Algorithm</a:t>
            </a:r>
            <a:r>
              <a:rPr sz="3200" dirty="0">
                <a:latin typeface="Segoe UI"/>
                <a:cs typeface="Segoe UI"/>
              </a:rPr>
              <a:t>s</a:t>
            </a:r>
            <a:r>
              <a:rPr sz="3200" spc="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&amp;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guaran</a:t>
            </a:r>
            <a:r>
              <a:rPr sz="3200" spc="-25" dirty="0">
                <a:latin typeface="Segoe UI"/>
                <a:cs typeface="Segoe UI"/>
              </a:rPr>
              <a:t>t</a:t>
            </a:r>
            <a:r>
              <a:rPr sz="3200" dirty="0">
                <a:latin typeface="Segoe UI"/>
                <a:cs typeface="Segoe UI"/>
              </a:rPr>
              <a:t>e</a:t>
            </a:r>
            <a:r>
              <a:rPr sz="3200" spc="5" dirty="0">
                <a:latin typeface="Segoe UI"/>
                <a:cs typeface="Segoe UI"/>
              </a:rPr>
              <a:t>e</a:t>
            </a:r>
            <a:r>
              <a:rPr sz="3200" dirty="0">
                <a:latin typeface="Segoe UI"/>
                <a:cs typeface="Segoe UI"/>
              </a:rPr>
              <a:t>s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on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er</a:t>
            </a:r>
            <a:r>
              <a:rPr sz="3200" spc="-25" dirty="0">
                <a:latin typeface="Segoe UI"/>
                <a:cs typeface="Segoe UI"/>
              </a:rPr>
              <a:t>r</a:t>
            </a:r>
            <a:r>
              <a:rPr sz="3200" dirty="0">
                <a:latin typeface="Segoe UI"/>
                <a:cs typeface="Segoe UI"/>
              </a:rPr>
              <a:t>or</a:t>
            </a:r>
            <a:r>
              <a:rPr sz="3200" spc="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ra</a:t>
            </a:r>
            <a:r>
              <a:rPr sz="3200" spc="-20" dirty="0">
                <a:latin typeface="Segoe UI"/>
                <a:cs typeface="Segoe UI"/>
              </a:rPr>
              <a:t>t</a:t>
            </a:r>
            <a:r>
              <a:rPr sz="3200" dirty="0">
                <a:latin typeface="Segoe UI"/>
                <a:cs typeface="Segoe UI"/>
              </a:rPr>
              <a:t>e</a:t>
            </a: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415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Fundam</a:t>
            </a:r>
            <a:r>
              <a:rPr sz="3200" spc="10" dirty="0">
                <a:latin typeface="Segoe UI"/>
                <a:cs typeface="Segoe UI"/>
              </a:rPr>
              <a:t>e</a:t>
            </a:r>
            <a:r>
              <a:rPr sz="3200" dirty="0">
                <a:latin typeface="Segoe UI"/>
                <a:cs typeface="Segoe UI"/>
              </a:rPr>
              <a:t>ntal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ML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concept:</a:t>
            </a:r>
            <a:r>
              <a:rPr sz="3200" spc="80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Segoe UI"/>
                <a:cs typeface="Segoe UI"/>
              </a:rPr>
              <a:t>r</a:t>
            </a:r>
            <a:r>
              <a:rPr sz="3200" dirty="0">
                <a:latin typeface="Segoe UI"/>
                <a:cs typeface="Segoe UI"/>
              </a:rPr>
              <a:t>eduction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AC544088-2AFC-4FA6-96F6-27B517306F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2238" y="482600"/>
            <a:ext cx="3819525" cy="69691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pc="-695" dirty="0"/>
              <a:t>T</a:t>
            </a:r>
            <a:r>
              <a:rPr spc="-5" dirty="0"/>
              <a:t>opics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1195" y="483234"/>
            <a:ext cx="7801609" cy="1018227"/>
          </a:xfrm>
          <a:prstGeom prst="rect">
            <a:avLst/>
          </a:prstGeom>
        </p:spPr>
        <p:txBody>
          <a:bodyPr vert="horz" wrap="square" lIns="0" tIns="347980" rIns="0" bIns="0" rtlCol="0">
            <a:spAutoFit/>
          </a:bodyPr>
          <a:lstStyle/>
          <a:p>
            <a:pPr marL="194945">
              <a:lnSpc>
                <a:spcPts val="5230"/>
              </a:lnSpc>
            </a:pPr>
            <a:r>
              <a:rPr spc="-5" dirty="0"/>
              <a:t>Im</a:t>
            </a:r>
            <a:r>
              <a:rPr spc="5" dirty="0"/>
              <a:t>b</a:t>
            </a:r>
            <a:r>
              <a:rPr spc="-5" dirty="0"/>
              <a:t>ala</a:t>
            </a:r>
            <a:r>
              <a:rPr spc="-15" dirty="0"/>
              <a:t>n</a:t>
            </a:r>
            <a:r>
              <a:rPr dirty="0"/>
              <a:t>ced</a:t>
            </a:r>
            <a:r>
              <a:rPr spc="65" dirty="0">
                <a:latin typeface="Times New Roman"/>
                <a:cs typeface="Times New Roman"/>
              </a:rPr>
              <a:t> </a:t>
            </a:r>
            <a:r>
              <a:rPr spc="-5" dirty="0"/>
              <a:t>dat</a:t>
            </a:r>
            <a:r>
              <a:rPr dirty="0"/>
              <a:t>a</a:t>
            </a:r>
            <a:r>
              <a:rPr spc="105" dirty="0">
                <a:latin typeface="Times New Roman"/>
                <a:cs typeface="Times New Roman"/>
              </a:rPr>
              <a:t> </a:t>
            </a:r>
            <a:r>
              <a:rPr spc="-5" dirty="0"/>
              <a:t>distr</a:t>
            </a:r>
            <a:r>
              <a:rPr spc="-15" dirty="0"/>
              <a:t>i</a:t>
            </a:r>
            <a:r>
              <a:rPr spc="-5" dirty="0"/>
              <a:t>butions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712035"/>
            <a:ext cx="7936865" cy="4885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Sometim</a:t>
            </a:r>
            <a:r>
              <a:rPr sz="3200" spc="10" dirty="0">
                <a:latin typeface="Segoe UI"/>
                <a:cs typeface="Segoe UI"/>
              </a:rPr>
              <a:t>e</a:t>
            </a:r>
            <a:r>
              <a:rPr sz="3200" dirty="0">
                <a:latin typeface="Segoe UI"/>
                <a:cs typeface="Segoe UI"/>
              </a:rPr>
              <a:t>s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training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e</a:t>
            </a:r>
            <a:r>
              <a:rPr sz="3200" spc="5" dirty="0">
                <a:latin typeface="Segoe UI"/>
                <a:cs typeface="Segoe UI"/>
              </a:rPr>
              <a:t>x</a:t>
            </a:r>
            <a:r>
              <a:rPr sz="3200" dirty="0">
                <a:latin typeface="Segoe UI"/>
                <a:cs typeface="Segoe UI"/>
              </a:rPr>
              <a:t>ampl</a:t>
            </a:r>
            <a:r>
              <a:rPr sz="3200" spc="5" dirty="0">
                <a:latin typeface="Segoe UI"/>
                <a:cs typeface="Segoe UI"/>
              </a:rPr>
              <a:t>e</a:t>
            </a:r>
            <a:r>
              <a:rPr sz="3200" dirty="0">
                <a:latin typeface="Segoe UI"/>
                <a:cs typeface="Segoe UI"/>
              </a:rPr>
              <a:t>s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a</a:t>
            </a:r>
            <a:r>
              <a:rPr sz="3200" spc="-35" dirty="0">
                <a:latin typeface="Segoe UI"/>
                <a:cs typeface="Segoe UI"/>
              </a:rPr>
              <a:t>r</a:t>
            </a:r>
            <a:r>
              <a:rPr sz="3200" dirty="0">
                <a:latin typeface="Segoe UI"/>
                <a:cs typeface="Segoe UI"/>
              </a:rPr>
              <a:t>e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Segoe UI"/>
                <a:cs typeface="Segoe UI"/>
              </a:rPr>
              <a:t>d</a:t>
            </a:r>
            <a:r>
              <a:rPr sz="3200" dirty="0">
                <a:latin typeface="Segoe UI"/>
                <a:cs typeface="Segoe UI"/>
              </a:rPr>
              <a:t>rawn</a:t>
            </a:r>
          </a:p>
          <a:p>
            <a:pPr marL="355600">
              <a:lnSpc>
                <a:spcPct val="100000"/>
              </a:lnSpc>
            </a:pPr>
            <a:r>
              <a:rPr sz="3200" dirty="0">
                <a:latin typeface="Segoe UI"/>
                <a:cs typeface="Segoe UI"/>
              </a:rPr>
              <a:t>f</a:t>
            </a:r>
            <a:r>
              <a:rPr sz="3200" spc="-30" dirty="0">
                <a:latin typeface="Segoe UI"/>
                <a:cs typeface="Segoe UI"/>
              </a:rPr>
              <a:t>r</a:t>
            </a:r>
            <a:r>
              <a:rPr sz="3200" dirty="0">
                <a:latin typeface="Segoe UI"/>
                <a:cs typeface="Segoe UI"/>
              </a:rPr>
              <a:t>om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an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Segoe UI"/>
                <a:cs typeface="Segoe UI"/>
              </a:rPr>
              <a:t>im</a:t>
            </a:r>
            <a:r>
              <a:rPr sz="3200" spc="-40" dirty="0">
                <a:latin typeface="Segoe UI"/>
                <a:cs typeface="Segoe UI"/>
              </a:rPr>
              <a:t>b</a:t>
            </a:r>
            <a:r>
              <a:rPr sz="3200" dirty="0">
                <a:latin typeface="Segoe UI"/>
                <a:cs typeface="Segoe UI"/>
              </a:rPr>
              <a:t>al</a:t>
            </a:r>
            <a:r>
              <a:rPr sz="3200" spc="5" dirty="0">
                <a:latin typeface="Segoe UI"/>
                <a:cs typeface="Segoe UI"/>
              </a:rPr>
              <a:t>a</a:t>
            </a:r>
            <a:r>
              <a:rPr sz="3200" dirty="0">
                <a:latin typeface="Segoe UI"/>
                <a:cs typeface="Segoe UI"/>
              </a:rPr>
              <a:t>nced</a:t>
            </a:r>
            <a:r>
              <a:rPr sz="3200" spc="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distribution</a:t>
            </a:r>
            <a:endParaRPr sz="315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This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Segoe UI"/>
                <a:cs typeface="Segoe UI"/>
              </a:rPr>
              <a:t>r</a:t>
            </a:r>
            <a:r>
              <a:rPr sz="3200" dirty="0">
                <a:latin typeface="Segoe UI"/>
                <a:cs typeface="Segoe UI"/>
              </a:rPr>
              <a:t>esults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Segoe UI"/>
                <a:cs typeface="Segoe UI"/>
              </a:rPr>
              <a:t>i</a:t>
            </a:r>
            <a:r>
              <a:rPr sz="3200" dirty="0">
                <a:latin typeface="Segoe UI"/>
                <a:cs typeface="Segoe UI"/>
              </a:rPr>
              <a:t>n</a:t>
            </a:r>
            <a:r>
              <a:rPr sz="3200" spc="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an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Segoe UI"/>
                <a:cs typeface="Segoe UI"/>
              </a:rPr>
              <a:t>im</a:t>
            </a:r>
            <a:r>
              <a:rPr sz="3200" spc="-30" dirty="0">
                <a:latin typeface="Segoe UI"/>
                <a:cs typeface="Segoe UI"/>
              </a:rPr>
              <a:t>b</a:t>
            </a:r>
            <a:r>
              <a:rPr sz="3200" dirty="0">
                <a:latin typeface="Segoe UI"/>
                <a:cs typeface="Segoe UI"/>
              </a:rPr>
              <a:t>alanced</a:t>
            </a:r>
            <a:r>
              <a:rPr sz="3200" spc="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training</a:t>
            </a:r>
            <a:r>
              <a:rPr sz="3200" spc="7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Segoe UI"/>
                <a:cs typeface="Segoe UI"/>
              </a:rPr>
              <a:t>set</a:t>
            </a:r>
            <a:endParaRPr sz="3200" dirty="0">
              <a:latin typeface="Segoe UI"/>
              <a:cs typeface="Segoe UI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5" dirty="0">
                <a:latin typeface="Segoe UI"/>
                <a:cs typeface="Segoe UI"/>
              </a:rPr>
              <a:t>“needle</a:t>
            </a:r>
            <a:r>
              <a:rPr sz="2800" spc="-5" dirty="0">
                <a:latin typeface="Segoe UI"/>
                <a:cs typeface="Segoe UI"/>
              </a:rPr>
              <a:t> </a:t>
            </a:r>
            <a:r>
              <a:rPr sz="2800" spc="-15" dirty="0">
                <a:latin typeface="Segoe UI"/>
                <a:cs typeface="Segoe UI"/>
              </a:rPr>
              <a:t>in</a:t>
            </a:r>
            <a:r>
              <a:rPr sz="2800" spc="-5" dirty="0">
                <a:latin typeface="Segoe UI"/>
                <a:cs typeface="Segoe UI"/>
              </a:rPr>
              <a:t> </a:t>
            </a:r>
            <a:r>
              <a:rPr sz="2800" spc="-15" dirty="0">
                <a:latin typeface="Segoe UI"/>
                <a:cs typeface="Segoe UI"/>
              </a:rPr>
              <a:t>a</a:t>
            </a:r>
            <a:r>
              <a:rPr sz="2800" spc="-5" dirty="0">
                <a:latin typeface="Segoe UI"/>
                <a:cs typeface="Segoe UI"/>
              </a:rPr>
              <a:t> </a:t>
            </a:r>
            <a:r>
              <a:rPr sz="2800" spc="-15" dirty="0">
                <a:latin typeface="Segoe UI"/>
                <a:cs typeface="Segoe UI"/>
              </a:rPr>
              <a:t>hayst</a:t>
            </a:r>
            <a:r>
              <a:rPr sz="2800" spc="-5" dirty="0">
                <a:latin typeface="Segoe UI"/>
                <a:cs typeface="Segoe UI"/>
              </a:rPr>
              <a:t>a</a:t>
            </a:r>
            <a:r>
              <a:rPr sz="2800" spc="-15" dirty="0">
                <a:latin typeface="Segoe UI"/>
                <a:cs typeface="Segoe UI"/>
              </a:rPr>
              <a:t>ck”</a:t>
            </a:r>
            <a:r>
              <a:rPr sz="2800" spc="-30" dirty="0">
                <a:latin typeface="Segoe UI"/>
                <a:cs typeface="Segoe UI"/>
              </a:rPr>
              <a:t> </a:t>
            </a:r>
            <a:r>
              <a:rPr sz="2800" spc="-20" dirty="0">
                <a:latin typeface="Segoe UI"/>
                <a:cs typeface="Segoe UI"/>
              </a:rPr>
              <a:t>p</a:t>
            </a:r>
            <a:r>
              <a:rPr sz="2800" spc="-50" dirty="0">
                <a:latin typeface="Segoe UI"/>
                <a:cs typeface="Segoe UI"/>
              </a:rPr>
              <a:t>r</a:t>
            </a:r>
            <a:r>
              <a:rPr sz="2800" spc="-15" dirty="0">
                <a:latin typeface="Segoe UI"/>
                <a:cs typeface="Segoe UI"/>
              </a:rPr>
              <a:t>oblems</a:t>
            </a:r>
            <a:endParaRPr sz="2800" dirty="0">
              <a:latin typeface="Segoe UI"/>
              <a:cs typeface="Segoe UI"/>
            </a:endParaRPr>
          </a:p>
          <a:p>
            <a:pPr marL="756285" marR="5080" lvl="1" indent="-286385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5" dirty="0">
                <a:latin typeface="Segoe UI"/>
                <a:cs typeface="Segoe UI"/>
              </a:rPr>
              <a:t>E.g</a:t>
            </a:r>
            <a:r>
              <a:rPr sz="2800" spc="-5" dirty="0">
                <a:latin typeface="Segoe UI"/>
                <a:cs typeface="Segoe UI"/>
              </a:rPr>
              <a:t>.</a:t>
            </a:r>
            <a:r>
              <a:rPr sz="2800" spc="-10" dirty="0">
                <a:latin typeface="Segoe UI"/>
                <a:cs typeface="Segoe UI"/>
              </a:rPr>
              <a:t>,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find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Segoe UI"/>
                <a:cs typeface="Segoe UI"/>
              </a:rPr>
              <a:t>fra</a:t>
            </a:r>
            <a:r>
              <a:rPr sz="2800" spc="-15" dirty="0">
                <a:latin typeface="Segoe UI"/>
                <a:cs typeface="Segoe UI"/>
              </a:rPr>
              <a:t>udulent</a:t>
            </a:r>
            <a:r>
              <a:rPr sz="2800" spc="8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trans</a:t>
            </a:r>
            <a:r>
              <a:rPr sz="2800" spc="-5" dirty="0">
                <a:latin typeface="Segoe UI"/>
                <a:cs typeface="Segoe UI"/>
              </a:rPr>
              <a:t>a</a:t>
            </a:r>
            <a:r>
              <a:rPr sz="2800" spc="-15" dirty="0">
                <a:latin typeface="Segoe UI"/>
                <a:cs typeface="Segoe UI"/>
              </a:rPr>
              <a:t>ctions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i</a:t>
            </a:r>
            <a:r>
              <a:rPr sz="2800" spc="-20" dirty="0">
                <a:latin typeface="Segoe UI"/>
                <a:cs typeface="Segoe UI"/>
              </a:rPr>
              <a:t>n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c</a:t>
            </a:r>
            <a:r>
              <a:rPr sz="2800" spc="-45" dirty="0">
                <a:latin typeface="Segoe UI"/>
                <a:cs typeface="Segoe UI"/>
              </a:rPr>
              <a:t>r</a:t>
            </a:r>
            <a:r>
              <a:rPr sz="2800" spc="-15" dirty="0">
                <a:latin typeface="Segoe UI"/>
                <a:cs typeface="Segoe UI"/>
              </a:rPr>
              <a:t>edit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ca</a:t>
            </a:r>
            <a:r>
              <a:rPr sz="2800" spc="-40" dirty="0">
                <a:latin typeface="Segoe UI"/>
                <a:cs typeface="Segoe UI"/>
              </a:rPr>
              <a:t>r</a:t>
            </a:r>
            <a:r>
              <a:rPr sz="2800" spc="-20" dirty="0">
                <a:latin typeface="Segoe UI"/>
                <a:cs typeface="Segoe UI"/>
              </a:rPr>
              <a:t>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his</a:t>
            </a:r>
            <a:r>
              <a:rPr sz="2800" spc="-40" dirty="0">
                <a:latin typeface="Segoe UI"/>
                <a:cs typeface="Segoe UI"/>
              </a:rPr>
              <a:t>t</a:t>
            </a:r>
            <a:r>
              <a:rPr sz="2800" spc="-15" dirty="0">
                <a:latin typeface="Segoe UI"/>
                <a:cs typeface="Segoe UI"/>
              </a:rPr>
              <a:t>ories</a:t>
            </a:r>
            <a:endParaRPr lang="en-US" sz="2800" spc="-15" dirty="0">
              <a:latin typeface="Segoe UI"/>
              <a:cs typeface="Segoe UI"/>
            </a:endParaRPr>
          </a:p>
          <a:p>
            <a:pPr marL="756285" marR="5080" lvl="1" indent="-286385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</a:pPr>
            <a:r>
              <a:rPr lang="en-US" sz="2800" spc="-15" dirty="0">
                <a:latin typeface="Segoe UI"/>
                <a:cs typeface="Segoe UI"/>
              </a:rPr>
              <a:t>The class of interest is the minority class (usually the positive class)</a:t>
            </a:r>
            <a:endParaRPr sz="3150" dirty="0">
              <a:latin typeface="Times New Roman"/>
              <a:cs typeface="Times New Roman"/>
            </a:endParaRPr>
          </a:p>
          <a:p>
            <a:pPr marL="355600" marR="1016635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-5" dirty="0">
                <a:solidFill>
                  <a:srgbClr val="FF0000"/>
                </a:solidFill>
                <a:latin typeface="Segoe UI"/>
                <a:cs typeface="Segoe UI"/>
              </a:rPr>
              <a:t>Wh</a:t>
            </a:r>
            <a:r>
              <a:rPr sz="3200" dirty="0">
                <a:solidFill>
                  <a:srgbClr val="FF0000"/>
                </a:solidFill>
                <a:latin typeface="Segoe UI"/>
                <a:cs typeface="Segoe UI"/>
              </a:rPr>
              <a:t>y</a:t>
            </a:r>
            <a:r>
              <a:rPr sz="3200" spc="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Segoe UI"/>
                <a:cs typeface="Segoe UI"/>
              </a:rPr>
              <a:t>i</a:t>
            </a:r>
            <a:r>
              <a:rPr sz="3200" dirty="0">
                <a:solidFill>
                  <a:srgbClr val="FF0000"/>
                </a:solidFill>
                <a:latin typeface="Segoe UI"/>
                <a:cs typeface="Segoe UI"/>
              </a:rPr>
              <a:t>s</a:t>
            </a:r>
            <a:r>
              <a:rPr sz="3200" spc="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Segoe UI"/>
                <a:cs typeface="Segoe UI"/>
              </a:rPr>
              <a:t>this</a:t>
            </a:r>
            <a:r>
              <a:rPr sz="3200" spc="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Segoe UI"/>
                <a:cs typeface="Segoe UI"/>
              </a:rPr>
              <a:t>a</a:t>
            </a:r>
            <a:r>
              <a:rPr sz="3200" spc="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Segoe UI"/>
                <a:cs typeface="Segoe UI"/>
              </a:rPr>
              <a:t>big</a:t>
            </a:r>
            <a:r>
              <a:rPr sz="3200" spc="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Segoe UI"/>
                <a:cs typeface="Segoe UI"/>
              </a:rPr>
              <a:t>p</a:t>
            </a:r>
            <a:r>
              <a:rPr sz="3200" spc="-25" dirty="0">
                <a:solidFill>
                  <a:srgbClr val="FF0000"/>
                </a:solidFill>
                <a:latin typeface="Segoe UI"/>
                <a:cs typeface="Segoe UI"/>
              </a:rPr>
              <a:t>r</a:t>
            </a:r>
            <a:r>
              <a:rPr sz="3200" dirty="0">
                <a:solidFill>
                  <a:srgbClr val="FF0000"/>
                </a:solidFill>
                <a:latin typeface="Segoe UI"/>
                <a:cs typeface="Segoe UI"/>
              </a:rPr>
              <a:t>obl</a:t>
            </a:r>
            <a:r>
              <a:rPr sz="3200" spc="5" dirty="0">
                <a:solidFill>
                  <a:srgbClr val="FF0000"/>
                </a:solidFill>
                <a:latin typeface="Segoe UI"/>
                <a:cs typeface="Segoe UI"/>
              </a:rPr>
              <a:t>e</a:t>
            </a:r>
            <a:r>
              <a:rPr sz="3200" dirty="0">
                <a:solidFill>
                  <a:srgbClr val="FF0000"/>
                </a:solidFill>
                <a:latin typeface="Segoe UI"/>
                <a:cs typeface="Segoe UI"/>
              </a:rPr>
              <a:t>m</a:t>
            </a:r>
            <a:r>
              <a:rPr sz="3200" spc="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Segoe UI"/>
                <a:cs typeface="Segoe UI"/>
              </a:rPr>
              <a:t>for</a:t>
            </a:r>
            <a:r>
              <a:rPr sz="3200" spc="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Segoe UI"/>
                <a:cs typeface="Segoe UI"/>
              </a:rPr>
              <a:t>t</a:t>
            </a:r>
            <a:r>
              <a:rPr sz="3200" dirty="0">
                <a:solidFill>
                  <a:srgbClr val="FF0000"/>
                </a:solidFill>
                <a:latin typeface="Segoe UI"/>
                <a:cs typeface="Segoe UI"/>
              </a:rPr>
              <a:t>he</a:t>
            </a:r>
            <a:r>
              <a:rPr sz="3200" spc="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5" dirty="0">
                <a:solidFill>
                  <a:srgbClr val="FF0000"/>
                </a:solidFill>
                <a:latin typeface="Segoe UI"/>
                <a:cs typeface="Segoe UI"/>
              </a:rPr>
              <a:t>M</a:t>
            </a:r>
            <a:r>
              <a:rPr sz="3200" dirty="0">
                <a:solidFill>
                  <a:srgbClr val="FF0000"/>
                </a:solidFill>
                <a:latin typeface="Segoe UI"/>
                <a:cs typeface="Segoe UI"/>
              </a:rPr>
              <a:t>L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Segoe UI"/>
                <a:cs typeface="Segoe UI"/>
              </a:rPr>
              <a:t>algor</a:t>
            </a:r>
            <a:r>
              <a:rPr sz="3200" spc="5" dirty="0">
                <a:solidFill>
                  <a:srgbClr val="FF0000"/>
                </a:solidFill>
                <a:latin typeface="Segoe UI"/>
                <a:cs typeface="Segoe UI"/>
              </a:rPr>
              <a:t>i</a:t>
            </a:r>
            <a:r>
              <a:rPr sz="3200" dirty="0">
                <a:solidFill>
                  <a:srgbClr val="FF0000"/>
                </a:solidFill>
                <a:latin typeface="Segoe UI"/>
                <a:cs typeface="Segoe UI"/>
              </a:rPr>
              <a:t>thms</a:t>
            </a:r>
            <a:r>
              <a:rPr sz="3200" spc="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Segoe UI"/>
                <a:cs typeface="Segoe UI"/>
              </a:rPr>
              <a:t>w</a:t>
            </a:r>
            <a:r>
              <a:rPr sz="3200" dirty="0">
                <a:solidFill>
                  <a:srgbClr val="FF0000"/>
                </a:solidFill>
                <a:latin typeface="Segoe UI"/>
                <a:cs typeface="Segoe UI"/>
              </a:rPr>
              <a:t>e</a:t>
            </a:r>
            <a:r>
              <a:rPr sz="3200" spc="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Segoe UI"/>
                <a:cs typeface="Segoe UI"/>
              </a:rPr>
              <a:t>know?</a:t>
            </a:r>
            <a:endParaRPr sz="3200" dirty="0">
              <a:solidFill>
                <a:srgbClr val="FF0000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45134" y="266187"/>
            <a:ext cx="6254750" cy="1229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23520">
              <a:lnSpc>
                <a:spcPct val="100000"/>
              </a:lnSpc>
            </a:pPr>
            <a:r>
              <a:rPr sz="4400" b="0" spc="-5" dirty="0">
                <a:latin typeface="Segoe UI Light"/>
                <a:cs typeface="Segoe UI Light"/>
              </a:rPr>
              <a:t>Recall</a:t>
            </a:r>
            <a:r>
              <a:rPr sz="4400" b="0" dirty="0">
                <a:latin typeface="Segoe UI Light"/>
                <a:cs typeface="Segoe UI Light"/>
              </a:rPr>
              <a:t>:</a:t>
            </a:r>
            <a:r>
              <a:rPr sz="4400" b="0" spc="90" dirty="0">
                <a:latin typeface="Times New Roman"/>
                <a:cs typeface="Times New Roman"/>
              </a:rPr>
              <a:t> </a:t>
            </a:r>
            <a:r>
              <a:rPr sz="4400" b="0" dirty="0">
                <a:latin typeface="Segoe UI Light"/>
                <a:cs typeface="Segoe UI Light"/>
              </a:rPr>
              <a:t>Machine</a:t>
            </a:r>
            <a:r>
              <a:rPr sz="4400" b="0" spc="75" dirty="0">
                <a:latin typeface="Times New Roman"/>
                <a:cs typeface="Times New Roman"/>
              </a:rPr>
              <a:t> </a:t>
            </a:r>
            <a:r>
              <a:rPr sz="4400" b="0" dirty="0">
                <a:latin typeface="Segoe UI Light"/>
                <a:cs typeface="Segoe UI Light"/>
              </a:rPr>
              <a:t>Lea</a:t>
            </a:r>
            <a:r>
              <a:rPr sz="4400" b="0" spc="-25" dirty="0">
                <a:latin typeface="Segoe UI Light"/>
                <a:cs typeface="Segoe UI Light"/>
              </a:rPr>
              <a:t>r</a:t>
            </a:r>
            <a:r>
              <a:rPr sz="4400" b="0" spc="-5" dirty="0">
                <a:latin typeface="Segoe UI Light"/>
                <a:cs typeface="Segoe UI Light"/>
              </a:rPr>
              <a:t>ning</a:t>
            </a:r>
            <a:r>
              <a:rPr sz="4400" b="0" spc="-5" dirty="0">
                <a:latin typeface="Times New Roman"/>
                <a:cs typeface="Times New Roman"/>
              </a:rPr>
              <a:t> </a:t>
            </a:r>
            <a:r>
              <a:rPr sz="4400" b="0" spc="-5" dirty="0">
                <a:latin typeface="Segoe UI Light"/>
                <a:cs typeface="Segoe UI Light"/>
              </a:rPr>
              <a:t>a</a:t>
            </a:r>
            <a:r>
              <a:rPr sz="4400" b="0" dirty="0">
                <a:latin typeface="Segoe UI Light"/>
                <a:cs typeface="Segoe UI Light"/>
              </a:rPr>
              <a:t>s</a:t>
            </a:r>
            <a:r>
              <a:rPr sz="4400" b="0" spc="105" dirty="0">
                <a:latin typeface="Times New Roman"/>
                <a:cs typeface="Times New Roman"/>
              </a:rPr>
              <a:t> </a:t>
            </a:r>
            <a:r>
              <a:rPr sz="4400" b="0" dirty="0">
                <a:latin typeface="Segoe UI Light"/>
                <a:cs typeface="Segoe UI Light"/>
              </a:rPr>
              <a:t>Function</a:t>
            </a:r>
            <a:r>
              <a:rPr sz="4400" b="0" spc="50" dirty="0">
                <a:latin typeface="Times New Roman"/>
                <a:cs typeface="Times New Roman"/>
              </a:rPr>
              <a:t> </a:t>
            </a:r>
            <a:r>
              <a:rPr sz="4400" b="0" dirty="0">
                <a:latin typeface="Segoe UI Light"/>
                <a:cs typeface="Segoe UI Light"/>
              </a:rPr>
              <a:t>Ap</a:t>
            </a:r>
            <a:r>
              <a:rPr sz="4400" b="0" spc="5" dirty="0">
                <a:latin typeface="Segoe UI Light"/>
                <a:cs typeface="Segoe UI Light"/>
              </a:rPr>
              <a:t>p</a:t>
            </a:r>
            <a:r>
              <a:rPr sz="4400" b="0" spc="-85" dirty="0">
                <a:latin typeface="Segoe UI Light"/>
                <a:cs typeface="Segoe UI Light"/>
              </a:rPr>
              <a:t>ro</a:t>
            </a:r>
            <a:r>
              <a:rPr sz="4400" b="0" dirty="0">
                <a:latin typeface="Segoe UI Light"/>
                <a:cs typeface="Segoe UI Light"/>
              </a:rPr>
              <a:t>xi</a:t>
            </a:r>
            <a:r>
              <a:rPr sz="4400" b="0" spc="-20" dirty="0">
                <a:latin typeface="Segoe UI Light"/>
                <a:cs typeface="Segoe UI Light"/>
              </a:rPr>
              <a:t>m</a:t>
            </a:r>
            <a:r>
              <a:rPr sz="4400" b="0" spc="-5" dirty="0">
                <a:latin typeface="Segoe UI Light"/>
                <a:cs typeface="Segoe UI Light"/>
              </a:rPr>
              <a:t>ation</a:t>
            </a:r>
            <a:endParaRPr sz="4400">
              <a:latin typeface="Segoe UI Light"/>
              <a:cs typeface="Segoe U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4369" y="1969883"/>
            <a:ext cx="215900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55"/>
              </a:lnSpc>
            </a:pPr>
            <a:r>
              <a:rPr sz="2400" spc="-20" dirty="0">
                <a:latin typeface="Segoe UI"/>
                <a:cs typeface="Segoe UI"/>
              </a:rPr>
              <a:t>P</a:t>
            </a:r>
            <a:r>
              <a:rPr sz="2400" spc="-45" dirty="0">
                <a:latin typeface="Segoe UI"/>
                <a:cs typeface="Segoe UI"/>
              </a:rPr>
              <a:t>r</a:t>
            </a:r>
            <a:r>
              <a:rPr sz="2400" dirty="0">
                <a:latin typeface="Segoe UI"/>
                <a:cs typeface="Segoe UI"/>
              </a:rPr>
              <a:t>oblem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Segoe UI"/>
                <a:cs typeface="Segoe UI"/>
              </a:rPr>
              <a:t>se</a:t>
            </a:r>
            <a:r>
              <a:rPr sz="2400" spc="5" dirty="0">
                <a:latin typeface="Segoe UI"/>
                <a:cs typeface="Segoe UI"/>
              </a:rPr>
              <a:t>t</a:t>
            </a:r>
            <a:r>
              <a:rPr sz="2400" spc="-15" dirty="0">
                <a:latin typeface="Segoe UI"/>
                <a:cs typeface="Segoe UI"/>
              </a:rPr>
              <a:t>ting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44780" y="3305555"/>
            <a:ext cx="405130" cy="283845"/>
          </a:xfrm>
          <a:custGeom>
            <a:avLst/>
            <a:gdLst/>
            <a:ahLst/>
            <a:cxnLst/>
            <a:rect l="l" t="t" r="r" b="b"/>
            <a:pathLst>
              <a:path w="405129" h="283845">
                <a:moveTo>
                  <a:pt x="405109" y="2651"/>
                </a:moveTo>
                <a:lnTo>
                  <a:pt x="382249" y="2651"/>
                </a:lnTo>
                <a:lnTo>
                  <a:pt x="382249" y="279638"/>
                </a:lnTo>
                <a:lnTo>
                  <a:pt x="405109" y="279638"/>
                </a:lnTo>
                <a:lnTo>
                  <a:pt x="405109" y="2651"/>
                </a:lnTo>
                <a:close/>
              </a:path>
              <a:path w="405129" h="283845">
                <a:moveTo>
                  <a:pt x="94853" y="0"/>
                </a:moveTo>
                <a:lnTo>
                  <a:pt x="91043" y="0"/>
                </a:lnTo>
                <a:lnTo>
                  <a:pt x="85276" y="198"/>
                </a:lnTo>
                <a:lnTo>
                  <a:pt x="47307" y="9967"/>
                </a:lnTo>
                <a:lnTo>
                  <a:pt x="22505" y="49112"/>
                </a:lnTo>
                <a:lnTo>
                  <a:pt x="21492" y="64765"/>
                </a:lnTo>
                <a:lnTo>
                  <a:pt x="22488" y="76874"/>
                </a:lnTo>
                <a:lnTo>
                  <a:pt x="24871" y="90281"/>
                </a:lnTo>
                <a:lnTo>
                  <a:pt x="27157" y="100827"/>
                </a:lnTo>
                <a:lnTo>
                  <a:pt x="28437" y="107960"/>
                </a:lnTo>
                <a:lnTo>
                  <a:pt x="28437" y="118353"/>
                </a:lnTo>
                <a:lnTo>
                  <a:pt x="26029" y="123962"/>
                </a:lnTo>
                <a:lnTo>
                  <a:pt x="16642" y="132587"/>
                </a:lnTo>
                <a:lnTo>
                  <a:pt x="9509" y="134873"/>
                </a:lnTo>
                <a:lnTo>
                  <a:pt x="0" y="135117"/>
                </a:lnTo>
                <a:lnTo>
                  <a:pt x="0" y="147309"/>
                </a:lnTo>
                <a:lnTo>
                  <a:pt x="9509" y="147706"/>
                </a:lnTo>
                <a:lnTo>
                  <a:pt x="16642" y="149992"/>
                </a:lnTo>
                <a:lnTo>
                  <a:pt x="26029" y="158617"/>
                </a:lnTo>
                <a:lnTo>
                  <a:pt x="28437" y="164195"/>
                </a:lnTo>
                <a:lnTo>
                  <a:pt x="28414" y="171944"/>
                </a:lnTo>
                <a:lnTo>
                  <a:pt x="27179" y="180751"/>
                </a:lnTo>
                <a:lnTo>
                  <a:pt x="23674" y="198165"/>
                </a:lnTo>
                <a:lnTo>
                  <a:pt x="22018" y="210459"/>
                </a:lnTo>
                <a:lnTo>
                  <a:pt x="26560" y="249701"/>
                </a:lnTo>
                <a:lnTo>
                  <a:pt x="62353" y="280106"/>
                </a:lnTo>
                <a:lnTo>
                  <a:pt x="91043" y="283829"/>
                </a:lnTo>
                <a:lnTo>
                  <a:pt x="94853" y="283829"/>
                </a:lnTo>
                <a:lnTo>
                  <a:pt x="94853" y="272552"/>
                </a:lnTo>
                <a:lnTo>
                  <a:pt x="79769" y="271328"/>
                </a:lnTo>
                <a:lnTo>
                  <a:pt x="67878" y="267189"/>
                </a:lnTo>
                <a:lnTo>
                  <a:pt x="57488" y="259828"/>
                </a:lnTo>
                <a:lnTo>
                  <a:pt x="51505" y="250630"/>
                </a:lnTo>
                <a:lnTo>
                  <a:pt x="47920" y="238244"/>
                </a:lnTo>
                <a:lnTo>
                  <a:pt x="46727" y="222572"/>
                </a:lnTo>
                <a:lnTo>
                  <a:pt x="47500" y="211031"/>
                </a:lnTo>
                <a:lnTo>
                  <a:pt x="49651" y="197236"/>
                </a:lnTo>
                <a:lnTo>
                  <a:pt x="51694" y="186933"/>
                </a:lnTo>
                <a:lnTo>
                  <a:pt x="52699" y="179710"/>
                </a:lnTo>
                <a:lnTo>
                  <a:pt x="52699" y="166877"/>
                </a:lnTo>
                <a:lnTo>
                  <a:pt x="50170" y="160019"/>
                </a:lnTo>
                <a:lnTo>
                  <a:pt x="45201" y="154564"/>
                </a:lnTo>
                <a:lnTo>
                  <a:pt x="40264" y="149230"/>
                </a:lnTo>
                <a:lnTo>
                  <a:pt x="34289" y="145145"/>
                </a:lnTo>
                <a:lnTo>
                  <a:pt x="27553" y="142615"/>
                </a:lnTo>
                <a:lnTo>
                  <a:pt x="27553" y="139964"/>
                </a:lnTo>
                <a:lnTo>
                  <a:pt x="34289" y="137281"/>
                </a:lnTo>
                <a:lnTo>
                  <a:pt x="40264" y="133349"/>
                </a:lnTo>
                <a:lnTo>
                  <a:pt x="45201" y="127894"/>
                </a:lnTo>
                <a:lnTo>
                  <a:pt x="50170" y="122560"/>
                </a:lnTo>
                <a:lnTo>
                  <a:pt x="52699" y="115580"/>
                </a:lnTo>
                <a:lnTo>
                  <a:pt x="52607" y="104714"/>
                </a:lnTo>
                <a:lnTo>
                  <a:pt x="51389" y="94879"/>
                </a:lnTo>
                <a:lnTo>
                  <a:pt x="48276" y="76978"/>
                </a:lnTo>
                <a:lnTo>
                  <a:pt x="47241" y="65331"/>
                </a:lnTo>
                <a:lnTo>
                  <a:pt x="56228" y="27596"/>
                </a:lnTo>
                <a:lnTo>
                  <a:pt x="92689" y="11308"/>
                </a:lnTo>
                <a:lnTo>
                  <a:pt x="94853" y="11308"/>
                </a:lnTo>
                <a:lnTo>
                  <a:pt x="948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74369" y="2395848"/>
            <a:ext cx="5004435" cy="1219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5" dirty="0">
                <a:latin typeface="Segoe UI"/>
                <a:cs typeface="Segoe UI"/>
              </a:rPr>
              <a:t>Se</a:t>
            </a:r>
            <a:r>
              <a:rPr sz="2400" dirty="0">
                <a:latin typeface="Segoe UI"/>
                <a:cs typeface="Segoe UI"/>
              </a:rPr>
              <a:t>t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Segoe UI"/>
                <a:cs typeface="Segoe UI"/>
              </a:rPr>
              <a:t>o</a:t>
            </a:r>
            <a:r>
              <a:rPr sz="2400" dirty="0">
                <a:latin typeface="Segoe UI"/>
                <a:cs typeface="Segoe UI"/>
              </a:rPr>
              <a:t>f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egoe UI"/>
                <a:cs typeface="Segoe UI"/>
              </a:rPr>
              <a:t>possible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Segoe UI"/>
                <a:cs typeface="Segoe UI"/>
              </a:rPr>
              <a:t>i</a:t>
            </a:r>
            <a:r>
              <a:rPr sz="2400" spc="-10" dirty="0">
                <a:latin typeface="Segoe UI"/>
                <a:cs typeface="Segoe UI"/>
              </a:rPr>
              <a:t>n</a:t>
            </a:r>
            <a:r>
              <a:rPr sz="2400" spc="-5" dirty="0">
                <a:latin typeface="Segoe UI"/>
                <a:cs typeface="Segoe UI"/>
              </a:rPr>
              <a:t>stance</a:t>
            </a:r>
            <a:r>
              <a:rPr sz="2400" dirty="0">
                <a:latin typeface="Segoe UI"/>
                <a:cs typeface="Segoe UI"/>
              </a:rPr>
              <a:t>s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mbria Math"/>
                <a:cs typeface="Cambria Math"/>
              </a:rPr>
              <a:t>𝑋</a:t>
            </a:r>
            <a:endParaRPr sz="240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4467860" algn="l"/>
              </a:tabLst>
            </a:pPr>
            <a:r>
              <a:rPr sz="2400" spc="-20" dirty="0">
                <a:latin typeface="Segoe UI"/>
                <a:cs typeface="Segoe UI"/>
              </a:rPr>
              <a:t>U</a:t>
            </a:r>
            <a:r>
              <a:rPr sz="2400" spc="-25" dirty="0">
                <a:latin typeface="Segoe UI"/>
                <a:cs typeface="Segoe UI"/>
              </a:rPr>
              <a:t>n</a:t>
            </a:r>
            <a:r>
              <a:rPr sz="2400" spc="-20" dirty="0">
                <a:latin typeface="Segoe UI"/>
                <a:cs typeface="Segoe UI"/>
              </a:rPr>
              <a:t>k</a:t>
            </a:r>
            <a:r>
              <a:rPr sz="2400" spc="-25" dirty="0">
                <a:latin typeface="Segoe UI"/>
                <a:cs typeface="Segoe UI"/>
              </a:rPr>
              <a:t>n</a:t>
            </a:r>
            <a:r>
              <a:rPr sz="2400" spc="-15" dirty="0">
                <a:latin typeface="Segoe UI"/>
                <a:cs typeface="Segoe UI"/>
              </a:rPr>
              <a:t>own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ta</a:t>
            </a:r>
            <a:r>
              <a:rPr sz="2400" spc="-40" dirty="0">
                <a:latin typeface="Segoe UI"/>
                <a:cs typeface="Segoe UI"/>
              </a:rPr>
              <a:t>r</a:t>
            </a:r>
            <a:r>
              <a:rPr sz="2400" spc="-15" dirty="0">
                <a:latin typeface="Segoe UI"/>
                <a:cs typeface="Segoe UI"/>
              </a:rPr>
              <a:t>get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fu</a:t>
            </a:r>
            <a:r>
              <a:rPr sz="2400" spc="-25" dirty="0">
                <a:latin typeface="Segoe UI"/>
                <a:cs typeface="Segoe UI"/>
              </a:rPr>
              <a:t>n</a:t>
            </a:r>
            <a:r>
              <a:rPr sz="2400" spc="-10" dirty="0">
                <a:latin typeface="Segoe UI"/>
                <a:cs typeface="Segoe UI"/>
              </a:rPr>
              <a:t>ct</a:t>
            </a:r>
            <a:r>
              <a:rPr sz="2400" spc="-20" dirty="0">
                <a:latin typeface="Segoe UI"/>
                <a:cs typeface="Segoe UI"/>
              </a:rPr>
              <a:t>i</a:t>
            </a:r>
            <a:r>
              <a:rPr sz="2400" spc="-15" dirty="0">
                <a:latin typeface="Segoe UI"/>
                <a:cs typeface="Segoe UI"/>
              </a:rPr>
              <a:t>on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Cambria Math"/>
                <a:cs typeface="Cambria Math"/>
              </a:rPr>
              <a:t>𝑓</a:t>
            </a:r>
            <a:r>
              <a:rPr sz="2400" dirty="0">
                <a:latin typeface="Cambria Math"/>
                <a:cs typeface="Cambria Math"/>
              </a:rPr>
              <a:t>:</a:t>
            </a:r>
            <a:r>
              <a:rPr sz="2400" spc="-1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𝑋	→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𝑌</a:t>
            </a:r>
            <a:endParaRPr sz="240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4773930" algn="l"/>
              </a:tabLst>
            </a:pPr>
            <a:r>
              <a:rPr sz="2400" spc="-5" dirty="0">
                <a:latin typeface="Segoe UI"/>
                <a:cs typeface="Segoe UI"/>
              </a:rPr>
              <a:t>Se</a:t>
            </a:r>
            <a:r>
              <a:rPr sz="2400" dirty="0">
                <a:latin typeface="Segoe UI"/>
                <a:cs typeface="Segoe UI"/>
              </a:rPr>
              <a:t>t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Segoe UI"/>
                <a:cs typeface="Segoe UI"/>
              </a:rPr>
              <a:t>o</a:t>
            </a:r>
            <a:r>
              <a:rPr sz="2400" spc="-10" dirty="0">
                <a:latin typeface="Segoe UI"/>
                <a:cs typeface="Segoe UI"/>
              </a:rPr>
              <a:t>f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funct</a:t>
            </a:r>
            <a:r>
              <a:rPr sz="2400" spc="-20" dirty="0">
                <a:latin typeface="Segoe UI"/>
                <a:cs typeface="Segoe UI"/>
              </a:rPr>
              <a:t>i</a:t>
            </a:r>
            <a:r>
              <a:rPr sz="2400" spc="-15" dirty="0">
                <a:latin typeface="Segoe UI"/>
                <a:cs typeface="Segoe UI"/>
              </a:rPr>
              <a:t>on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hypothe</a:t>
            </a:r>
            <a:r>
              <a:rPr sz="2400" spc="-10" dirty="0">
                <a:latin typeface="Segoe UI"/>
                <a:cs typeface="Segoe UI"/>
              </a:rPr>
              <a:t>s</a:t>
            </a:r>
            <a:r>
              <a:rPr sz="2400" dirty="0">
                <a:latin typeface="Segoe UI"/>
                <a:cs typeface="Segoe UI"/>
              </a:rPr>
              <a:t>es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mbria Math"/>
                <a:cs typeface="Cambria Math"/>
              </a:rPr>
              <a:t>𝐻</a:t>
            </a:r>
            <a:r>
              <a:rPr sz="2400" spc="20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	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41344" y="3284303"/>
            <a:ext cx="133731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73735" algn="l"/>
              </a:tabLst>
            </a:pPr>
            <a:r>
              <a:rPr sz="2400" spc="50" dirty="0">
                <a:latin typeface="Cambria Math"/>
                <a:cs typeface="Cambria Math"/>
              </a:rPr>
              <a:t>ℎ</a:t>
            </a:r>
            <a:r>
              <a:rPr sz="2400" dirty="0">
                <a:latin typeface="Cambria Math"/>
                <a:cs typeface="Cambria Math"/>
              </a:rPr>
              <a:t>: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𝑋	→</a:t>
            </a:r>
            <a:r>
              <a:rPr sz="2400" spc="145" dirty="0">
                <a:latin typeface="Cambria Math"/>
                <a:cs typeface="Cambria Math"/>
              </a:rPr>
              <a:t> </a:t>
            </a:r>
            <a:r>
              <a:rPr sz="2400" spc="50" dirty="0">
                <a:latin typeface="Cambria Math"/>
                <a:cs typeface="Cambria Math"/>
              </a:rPr>
              <a:t>𝑌</a:t>
            </a:r>
            <a:r>
              <a:rPr sz="2400" dirty="0">
                <a:latin typeface="Cambria Math"/>
                <a:cs typeface="Cambria Math"/>
              </a:rPr>
              <a:t>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70292" y="4396109"/>
            <a:ext cx="1348740" cy="368300"/>
          </a:xfrm>
          <a:custGeom>
            <a:avLst/>
            <a:gdLst/>
            <a:ahLst/>
            <a:cxnLst/>
            <a:rect l="l" t="t" r="r" b="b"/>
            <a:pathLst>
              <a:path w="1348739" h="368300">
                <a:moveTo>
                  <a:pt x="1251577" y="0"/>
                </a:moveTo>
                <a:lnTo>
                  <a:pt x="1254852" y="15190"/>
                </a:lnTo>
                <a:lnTo>
                  <a:pt x="1264767" y="20985"/>
                </a:lnTo>
                <a:lnTo>
                  <a:pt x="1273950" y="28367"/>
                </a:lnTo>
                <a:lnTo>
                  <a:pt x="1297434" y="60885"/>
                </a:lnTo>
                <a:lnTo>
                  <a:pt x="1313394" y="107558"/>
                </a:lnTo>
                <a:lnTo>
                  <a:pt x="1319026" y="145264"/>
                </a:lnTo>
                <a:lnTo>
                  <a:pt x="1320890" y="189590"/>
                </a:lnTo>
                <a:lnTo>
                  <a:pt x="1320513" y="203520"/>
                </a:lnTo>
                <a:lnTo>
                  <a:pt x="1316675" y="242749"/>
                </a:lnTo>
                <a:lnTo>
                  <a:pt x="1304740" y="290286"/>
                </a:lnTo>
                <a:lnTo>
                  <a:pt x="1286440" y="326058"/>
                </a:lnTo>
                <a:lnTo>
                  <a:pt x="1247889" y="355972"/>
                </a:lnTo>
                <a:lnTo>
                  <a:pt x="1258339" y="366148"/>
                </a:lnTo>
                <a:lnTo>
                  <a:pt x="1299929" y="339227"/>
                </a:lnTo>
                <a:lnTo>
                  <a:pt x="1323422" y="304478"/>
                </a:lnTo>
                <a:lnTo>
                  <a:pt x="1339375" y="260511"/>
                </a:lnTo>
                <a:lnTo>
                  <a:pt x="1346099" y="222660"/>
                </a:lnTo>
                <a:lnTo>
                  <a:pt x="1348328" y="179877"/>
                </a:lnTo>
                <a:lnTo>
                  <a:pt x="1347935" y="166602"/>
                </a:lnTo>
                <a:lnTo>
                  <a:pt x="1343686" y="128463"/>
                </a:lnTo>
                <a:lnTo>
                  <a:pt x="1330121" y="80114"/>
                </a:lnTo>
                <a:lnTo>
                  <a:pt x="1312141" y="44156"/>
                </a:lnTo>
                <a:lnTo>
                  <a:pt x="1285244" y="15896"/>
                </a:lnTo>
                <a:lnTo>
                  <a:pt x="1263550" y="3924"/>
                </a:lnTo>
                <a:lnTo>
                  <a:pt x="1251577" y="0"/>
                </a:lnTo>
                <a:close/>
              </a:path>
              <a:path w="1348739" h="368300">
                <a:moveTo>
                  <a:pt x="96751" y="0"/>
                </a:moveTo>
                <a:lnTo>
                  <a:pt x="57697" y="20136"/>
                </a:lnTo>
                <a:lnTo>
                  <a:pt x="32012" y="50698"/>
                </a:lnTo>
                <a:lnTo>
                  <a:pt x="12195" y="96008"/>
                </a:lnTo>
                <a:lnTo>
                  <a:pt x="2229" y="145497"/>
                </a:lnTo>
                <a:lnTo>
                  <a:pt x="0" y="188276"/>
                </a:lnTo>
                <a:lnTo>
                  <a:pt x="389" y="201537"/>
                </a:lnTo>
                <a:lnTo>
                  <a:pt x="4631" y="239658"/>
                </a:lnTo>
                <a:lnTo>
                  <a:pt x="18199" y="288029"/>
                </a:lnTo>
                <a:lnTo>
                  <a:pt x="36187" y="324008"/>
                </a:lnTo>
                <a:lnTo>
                  <a:pt x="63085" y="352268"/>
                </a:lnTo>
                <a:lnTo>
                  <a:pt x="96751" y="368164"/>
                </a:lnTo>
                <a:lnTo>
                  <a:pt x="93461" y="352966"/>
                </a:lnTo>
                <a:lnTo>
                  <a:pt x="83549" y="347170"/>
                </a:lnTo>
                <a:lnTo>
                  <a:pt x="74367" y="339790"/>
                </a:lnTo>
                <a:lnTo>
                  <a:pt x="50865" y="307283"/>
                </a:lnTo>
                <a:lnTo>
                  <a:pt x="34915" y="260666"/>
                </a:lnTo>
                <a:lnTo>
                  <a:pt x="29299" y="222977"/>
                </a:lnTo>
                <a:lnTo>
                  <a:pt x="27443" y="178543"/>
                </a:lnTo>
                <a:lnTo>
                  <a:pt x="27830" y="164626"/>
                </a:lnTo>
                <a:lnTo>
                  <a:pt x="31689" y="125425"/>
                </a:lnTo>
                <a:lnTo>
                  <a:pt x="43632" y="77892"/>
                </a:lnTo>
                <a:lnTo>
                  <a:pt x="61926" y="42088"/>
                </a:lnTo>
                <a:lnTo>
                  <a:pt x="100439" y="12191"/>
                </a:lnTo>
                <a:lnTo>
                  <a:pt x="967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78532" y="4389882"/>
            <a:ext cx="274320" cy="206375"/>
          </a:xfrm>
          <a:custGeom>
            <a:avLst/>
            <a:gdLst/>
            <a:ahLst/>
            <a:cxnLst/>
            <a:rect l="l" t="t" r="r" b="b"/>
            <a:pathLst>
              <a:path w="274320" h="206375">
                <a:moveTo>
                  <a:pt x="208494" y="0"/>
                </a:moveTo>
                <a:lnTo>
                  <a:pt x="211068" y="10433"/>
                </a:lnTo>
                <a:lnTo>
                  <a:pt x="221217" y="15989"/>
                </a:lnTo>
                <a:lnTo>
                  <a:pt x="230366" y="23825"/>
                </a:lnTo>
                <a:lnTo>
                  <a:pt x="249747" y="57835"/>
                </a:lnTo>
                <a:lnTo>
                  <a:pt x="254940" y="96598"/>
                </a:lnTo>
                <a:lnTo>
                  <a:pt x="255149" y="113974"/>
                </a:lnTo>
                <a:lnTo>
                  <a:pt x="253942" y="125968"/>
                </a:lnTo>
                <a:lnTo>
                  <a:pt x="236757" y="175353"/>
                </a:lnTo>
                <a:lnTo>
                  <a:pt x="205964" y="197738"/>
                </a:lnTo>
                <a:lnTo>
                  <a:pt x="212236" y="205051"/>
                </a:lnTo>
                <a:lnTo>
                  <a:pt x="252330" y="176298"/>
                </a:lnTo>
                <a:lnTo>
                  <a:pt x="269469" y="141300"/>
                </a:lnTo>
                <a:lnTo>
                  <a:pt x="274280" y="100405"/>
                </a:lnTo>
                <a:lnTo>
                  <a:pt x="273599" y="88141"/>
                </a:lnTo>
                <a:lnTo>
                  <a:pt x="258774" y="40307"/>
                </a:lnTo>
                <a:lnTo>
                  <a:pt x="232497" y="10417"/>
                </a:lnTo>
                <a:lnTo>
                  <a:pt x="221154" y="4359"/>
                </a:lnTo>
                <a:lnTo>
                  <a:pt x="208494" y="0"/>
                </a:lnTo>
                <a:close/>
              </a:path>
              <a:path w="274320" h="206375">
                <a:moveTo>
                  <a:pt x="65756" y="0"/>
                </a:moveTo>
                <a:lnTo>
                  <a:pt x="31009" y="19573"/>
                </a:lnTo>
                <a:lnTo>
                  <a:pt x="8533" y="53314"/>
                </a:lnTo>
                <a:lnTo>
                  <a:pt x="527" y="91019"/>
                </a:lnTo>
                <a:lnTo>
                  <a:pt x="0" y="105707"/>
                </a:lnTo>
                <a:lnTo>
                  <a:pt x="668" y="118000"/>
                </a:lnTo>
                <a:lnTo>
                  <a:pt x="15443" y="165846"/>
                </a:lnTo>
                <a:lnTo>
                  <a:pt x="41717" y="195703"/>
                </a:lnTo>
                <a:lnTo>
                  <a:pt x="65756" y="206120"/>
                </a:lnTo>
                <a:lnTo>
                  <a:pt x="63012" y="195668"/>
                </a:lnTo>
                <a:lnTo>
                  <a:pt x="52996" y="190072"/>
                </a:lnTo>
                <a:lnTo>
                  <a:pt x="43943" y="182153"/>
                </a:lnTo>
                <a:lnTo>
                  <a:pt x="24639" y="147659"/>
                </a:lnTo>
                <a:lnTo>
                  <a:pt x="19279" y="108954"/>
                </a:lnTo>
                <a:lnTo>
                  <a:pt x="19022" y="91910"/>
                </a:lnTo>
                <a:lnTo>
                  <a:pt x="20175" y="79974"/>
                </a:lnTo>
                <a:lnTo>
                  <a:pt x="37542" y="30532"/>
                </a:lnTo>
                <a:lnTo>
                  <a:pt x="68682" y="8381"/>
                </a:lnTo>
                <a:lnTo>
                  <a:pt x="657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401849" y="4389882"/>
            <a:ext cx="274320" cy="206375"/>
          </a:xfrm>
          <a:custGeom>
            <a:avLst/>
            <a:gdLst/>
            <a:ahLst/>
            <a:cxnLst/>
            <a:rect l="l" t="t" r="r" b="b"/>
            <a:pathLst>
              <a:path w="274320" h="206375">
                <a:moveTo>
                  <a:pt x="208494" y="0"/>
                </a:moveTo>
                <a:lnTo>
                  <a:pt x="211068" y="10433"/>
                </a:lnTo>
                <a:lnTo>
                  <a:pt x="221217" y="15989"/>
                </a:lnTo>
                <a:lnTo>
                  <a:pt x="230366" y="23825"/>
                </a:lnTo>
                <a:lnTo>
                  <a:pt x="249747" y="57835"/>
                </a:lnTo>
                <a:lnTo>
                  <a:pt x="254940" y="96598"/>
                </a:lnTo>
                <a:lnTo>
                  <a:pt x="255149" y="113974"/>
                </a:lnTo>
                <a:lnTo>
                  <a:pt x="253942" y="125968"/>
                </a:lnTo>
                <a:lnTo>
                  <a:pt x="236757" y="175353"/>
                </a:lnTo>
                <a:lnTo>
                  <a:pt x="205964" y="197738"/>
                </a:lnTo>
                <a:lnTo>
                  <a:pt x="212236" y="205051"/>
                </a:lnTo>
                <a:lnTo>
                  <a:pt x="252330" y="176298"/>
                </a:lnTo>
                <a:lnTo>
                  <a:pt x="269469" y="141300"/>
                </a:lnTo>
                <a:lnTo>
                  <a:pt x="274280" y="100405"/>
                </a:lnTo>
                <a:lnTo>
                  <a:pt x="273599" y="88141"/>
                </a:lnTo>
                <a:lnTo>
                  <a:pt x="258774" y="40307"/>
                </a:lnTo>
                <a:lnTo>
                  <a:pt x="232497" y="10417"/>
                </a:lnTo>
                <a:lnTo>
                  <a:pt x="221154" y="4359"/>
                </a:lnTo>
                <a:lnTo>
                  <a:pt x="208494" y="0"/>
                </a:lnTo>
                <a:close/>
              </a:path>
              <a:path w="274320" h="206375">
                <a:moveTo>
                  <a:pt x="65756" y="0"/>
                </a:moveTo>
                <a:lnTo>
                  <a:pt x="31009" y="19573"/>
                </a:lnTo>
                <a:lnTo>
                  <a:pt x="8533" y="53314"/>
                </a:lnTo>
                <a:lnTo>
                  <a:pt x="527" y="91019"/>
                </a:lnTo>
                <a:lnTo>
                  <a:pt x="0" y="105707"/>
                </a:lnTo>
                <a:lnTo>
                  <a:pt x="668" y="118000"/>
                </a:lnTo>
                <a:lnTo>
                  <a:pt x="15443" y="165846"/>
                </a:lnTo>
                <a:lnTo>
                  <a:pt x="41717" y="195703"/>
                </a:lnTo>
                <a:lnTo>
                  <a:pt x="65756" y="206120"/>
                </a:lnTo>
                <a:lnTo>
                  <a:pt x="63012" y="195668"/>
                </a:lnTo>
                <a:lnTo>
                  <a:pt x="52996" y="190072"/>
                </a:lnTo>
                <a:lnTo>
                  <a:pt x="43943" y="182153"/>
                </a:lnTo>
                <a:lnTo>
                  <a:pt x="24639" y="147659"/>
                </a:lnTo>
                <a:lnTo>
                  <a:pt x="19279" y="108954"/>
                </a:lnTo>
                <a:lnTo>
                  <a:pt x="19022" y="91910"/>
                </a:lnTo>
                <a:lnTo>
                  <a:pt x="20175" y="79974"/>
                </a:lnTo>
                <a:lnTo>
                  <a:pt x="37542" y="30532"/>
                </a:lnTo>
                <a:lnTo>
                  <a:pt x="68682" y="8381"/>
                </a:lnTo>
                <a:lnTo>
                  <a:pt x="657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264040" y="4396109"/>
            <a:ext cx="1438275" cy="368300"/>
          </a:xfrm>
          <a:custGeom>
            <a:avLst/>
            <a:gdLst/>
            <a:ahLst/>
            <a:cxnLst/>
            <a:rect l="l" t="t" r="r" b="b"/>
            <a:pathLst>
              <a:path w="1438275" h="368300">
                <a:moveTo>
                  <a:pt x="1341493" y="0"/>
                </a:moveTo>
                <a:lnTo>
                  <a:pt x="1344768" y="15190"/>
                </a:lnTo>
                <a:lnTo>
                  <a:pt x="1354683" y="20985"/>
                </a:lnTo>
                <a:lnTo>
                  <a:pt x="1363866" y="28367"/>
                </a:lnTo>
                <a:lnTo>
                  <a:pt x="1387350" y="60885"/>
                </a:lnTo>
                <a:lnTo>
                  <a:pt x="1403310" y="107558"/>
                </a:lnTo>
                <a:lnTo>
                  <a:pt x="1408942" y="145264"/>
                </a:lnTo>
                <a:lnTo>
                  <a:pt x="1410806" y="189590"/>
                </a:lnTo>
                <a:lnTo>
                  <a:pt x="1410429" y="203520"/>
                </a:lnTo>
                <a:lnTo>
                  <a:pt x="1406591" y="242749"/>
                </a:lnTo>
                <a:lnTo>
                  <a:pt x="1394656" y="290286"/>
                </a:lnTo>
                <a:lnTo>
                  <a:pt x="1376356" y="326058"/>
                </a:lnTo>
                <a:lnTo>
                  <a:pt x="1337805" y="355972"/>
                </a:lnTo>
                <a:lnTo>
                  <a:pt x="1348255" y="366148"/>
                </a:lnTo>
                <a:lnTo>
                  <a:pt x="1389845" y="339227"/>
                </a:lnTo>
                <a:lnTo>
                  <a:pt x="1413338" y="304478"/>
                </a:lnTo>
                <a:lnTo>
                  <a:pt x="1429291" y="260511"/>
                </a:lnTo>
                <a:lnTo>
                  <a:pt x="1436015" y="222660"/>
                </a:lnTo>
                <a:lnTo>
                  <a:pt x="1438244" y="179877"/>
                </a:lnTo>
                <a:lnTo>
                  <a:pt x="1437851" y="166602"/>
                </a:lnTo>
                <a:lnTo>
                  <a:pt x="1433602" y="128463"/>
                </a:lnTo>
                <a:lnTo>
                  <a:pt x="1420037" y="80114"/>
                </a:lnTo>
                <a:lnTo>
                  <a:pt x="1402057" y="44156"/>
                </a:lnTo>
                <a:lnTo>
                  <a:pt x="1375160" y="15896"/>
                </a:lnTo>
                <a:lnTo>
                  <a:pt x="1353466" y="3924"/>
                </a:lnTo>
                <a:lnTo>
                  <a:pt x="1341493" y="0"/>
                </a:lnTo>
                <a:close/>
              </a:path>
              <a:path w="1438275" h="368300">
                <a:moveTo>
                  <a:pt x="96751" y="0"/>
                </a:moveTo>
                <a:lnTo>
                  <a:pt x="57697" y="20136"/>
                </a:lnTo>
                <a:lnTo>
                  <a:pt x="32012" y="50698"/>
                </a:lnTo>
                <a:lnTo>
                  <a:pt x="12195" y="96008"/>
                </a:lnTo>
                <a:lnTo>
                  <a:pt x="2229" y="145497"/>
                </a:lnTo>
                <a:lnTo>
                  <a:pt x="0" y="188276"/>
                </a:lnTo>
                <a:lnTo>
                  <a:pt x="389" y="201537"/>
                </a:lnTo>
                <a:lnTo>
                  <a:pt x="4631" y="239658"/>
                </a:lnTo>
                <a:lnTo>
                  <a:pt x="18199" y="288029"/>
                </a:lnTo>
                <a:lnTo>
                  <a:pt x="36187" y="324008"/>
                </a:lnTo>
                <a:lnTo>
                  <a:pt x="63085" y="352268"/>
                </a:lnTo>
                <a:lnTo>
                  <a:pt x="96751" y="368164"/>
                </a:lnTo>
                <a:lnTo>
                  <a:pt x="93461" y="352966"/>
                </a:lnTo>
                <a:lnTo>
                  <a:pt x="83549" y="347170"/>
                </a:lnTo>
                <a:lnTo>
                  <a:pt x="74367" y="339790"/>
                </a:lnTo>
                <a:lnTo>
                  <a:pt x="50865" y="307283"/>
                </a:lnTo>
                <a:lnTo>
                  <a:pt x="34915" y="260666"/>
                </a:lnTo>
                <a:lnTo>
                  <a:pt x="29299" y="222977"/>
                </a:lnTo>
                <a:lnTo>
                  <a:pt x="27443" y="178543"/>
                </a:lnTo>
                <a:lnTo>
                  <a:pt x="27830" y="164626"/>
                </a:lnTo>
                <a:lnTo>
                  <a:pt x="31689" y="125425"/>
                </a:lnTo>
                <a:lnTo>
                  <a:pt x="43632" y="77892"/>
                </a:lnTo>
                <a:lnTo>
                  <a:pt x="61926" y="42088"/>
                </a:lnTo>
                <a:lnTo>
                  <a:pt x="100439" y="12191"/>
                </a:lnTo>
                <a:lnTo>
                  <a:pt x="967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572281" y="4389882"/>
            <a:ext cx="318770" cy="206375"/>
          </a:xfrm>
          <a:custGeom>
            <a:avLst/>
            <a:gdLst/>
            <a:ahLst/>
            <a:cxnLst/>
            <a:rect l="l" t="t" r="r" b="b"/>
            <a:pathLst>
              <a:path w="318770" h="206375">
                <a:moveTo>
                  <a:pt x="252690" y="0"/>
                </a:moveTo>
                <a:lnTo>
                  <a:pt x="255264" y="10433"/>
                </a:lnTo>
                <a:lnTo>
                  <a:pt x="265413" y="15989"/>
                </a:lnTo>
                <a:lnTo>
                  <a:pt x="274562" y="23825"/>
                </a:lnTo>
                <a:lnTo>
                  <a:pt x="293943" y="57835"/>
                </a:lnTo>
                <a:lnTo>
                  <a:pt x="299136" y="96598"/>
                </a:lnTo>
                <a:lnTo>
                  <a:pt x="299345" y="113974"/>
                </a:lnTo>
                <a:lnTo>
                  <a:pt x="298138" y="125968"/>
                </a:lnTo>
                <a:lnTo>
                  <a:pt x="280953" y="175353"/>
                </a:lnTo>
                <a:lnTo>
                  <a:pt x="250160" y="197738"/>
                </a:lnTo>
                <a:lnTo>
                  <a:pt x="256432" y="205051"/>
                </a:lnTo>
                <a:lnTo>
                  <a:pt x="296526" y="176298"/>
                </a:lnTo>
                <a:lnTo>
                  <a:pt x="313665" y="141300"/>
                </a:lnTo>
                <a:lnTo>
                  <a:pt x="318476" y="100405"/>
                </a:lnTo>
                <a:lnTo>
                  <a:pt x="317795" y="88141"/>
                </a:lnTo>
                <a:lnTo>
                  <a:pt x="302970" y="40307"/>
                </a:lnTo>
                <a:lnTo>
                  <a:pt x="276693" y="10417"/>
                </a:lnTo>
                <a:lnTo>
                  <a:pt x="265350" y="4359"/>
                </a:lnTo>
                <a:lnTo>
                  <a:pt x="252690" y="0"/>
                </a:lnTo>
                <a:close/>
              </a:path>
              <a:path w="318770" h="206375">
                <a:moveTo>
                  <a:pt x="65756" y="0"/>
                </a:moveTo>
                <a:lnTo>
                  <a:pt x="31009" y="19573"/>
                </a:lnTo>
                <a:lnTo>
                  <a:pt x="8533" y="53314"/>
                </a:lnTo>
                <a:lnTo>
                  <a:pt x="527" y="91019"/>
                </a:lnTo>
                <a:lnTo>
                  <a:pt x="0" y="105707"/>
                </a:lnTo>
                <a:lnTo>
                  <a:pt x="668" y="118000"/>
                </a:lnTo>
                <a:lnTo>
                  <a:pt x="15443" y="165846"/>
                </a:lnTo>
                <a:lnTo>
                  <a:pt x="41717" y="195703"/>
                </a:lnTo>
                <a:lnTo>
                  <a:pt x="65756" y="206120"/>
                </a:lnTo>
                <a:lnTo>
                  <a:pt x="63012" y="195668"/>
                </a:lnTo>
                <a:lnTo>
                  <a:pt x="52996" y="190072"/>
                </a:lnTo>
                <a:lnTo>
                  <a:pt x="43943" y="182153"/>
                </a:lnTo>
                <a:lnTo>
                  <a:pt x="24639" y="147659"/>
                </a:lnTo>
                <a:lnTo>
                  <a:pt x="19279" y="108954"/>
                </a:lnTo>
                <a:lnTo>
                  <a:pt x="19022" y="91910"/>
                </a:lnTo>
                <a:lnTo>
                  <a:pt x="20175" y="79974"/>
                </a:lnTo>
                <a:lnTo>
                  <a:pt x="37542" y="30532"/>
                </a:lnTo>
                <a:lnTo>
                  <a:pt x="68682" y="8381"/>
                </a:lnTo>
                <a:lnTo>
                  <a:pt x="657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39793" y="4389882"/>
            <a:ext cx="318770" cy="206375"/>
          </a:xfrm>
          <a:custGeom>
            <a:avLst/>
            <a:gdLst/>
            <a:ahLst/>
            <a:cxnLst/>
            <a:rect l="l" t="t" r="r" b="b"/>
            <a:pathLst>
              <a:path w="318770" h="206375">
                <a:moveTo>
                  <a:pt x="252690" y="0"/>
                </a:moveTo>
                <a:lnTo>
                  <a:pt x="255264" y="10433"/>
                </a:lnTo>
                <a:lnTo>
                  <a:pt x="265413" y="15989"/>
                </a:lnTo>
                <a:lnTo>
                  <a:pt x="274562" y="23825"/>
                </a:lnTo>
                <a:lnTo>
                  <a:pt x="293943" y="57835"/>
                </a:lnTo>
                <a:lnTo>
                  <a:pt x="299136" y="96598"/>
                </a:lnTo>
                <a:lnTo>
                  <a:pt x="299345" y="113974"/>
                </a:lnTo>
                <a:lnTo>
                  <a:pt x="298138" y="125968"/>
                </a:lnTo>
                <a:lnTo>
                  <a:pt x="280953" y="175353"/>
                </a:lnTo>
                <a:lnTo>
                  <a:pt x="250160" y="197738"/>
                </a:lnTo>
                <a:lnTo>
                  <a:pt x="256432" y="205051"/>
                </a:lnTo>
                <a:lnTo>
                  <a:pt x="296526" y="176298"/>
                </a:lnTo>
                <a:lnTo>
                  <a:pt x="313665" y="141300"/>
                </a:lnTo>
                <a:lnTo>
                  <a:pt x="318476" y="100405"/>
                </a:lnTo>
                <a:lnTo>
                  <a:pt x="317795" y="88141"/>
                </a:lnTo>
                <a:lnTo>
                  <a:pt x="302970" y="40307"/>
                </a:lnTo>
                <a:lnTo>
                  <a:pt x="276693" y="10417"/>
                </a:lnTo>
                <a:lnTo>
                  <a:pt x="265350" y="4359"/>
                </a:lnTo>
                <a:lnTo>
                  <a:pt x="252690" y="0"/>
                </a:lnTo>
                <a:close/>
              </a:path>
              <a:path w="318770" h="206375">
                <a:moveTo>
                  <a:pt x="65756" y="0"/>
                </a:moveTo>
                <a:lnTo>
                  <a:pt x="31009" y="19573"/>
                </a:lnTo>
                <a:lnTo>
                  <a:pt x="8533" y="53314"/>
                </a:lnTo>
                <a:lnTo>
                  <a:pt x="527" y="91019"/>
                </a:lnTo>
                <a:lnTo>
                  <a:pt x="0" y="105707"/>
                </a:lnTo>
                <a:lnTo>
                  <a:pt x="668" y="118000"/>
                </a:lnTo>
                <a:lnTo>
                  <a:pt x="15443" y="165846"/>
                </a:lnTo>
                <a:lnTo>
                  <a:pt x="41717" y="195703"/>
                </a:lnTo>
                <a:lnTo>
                  <a:pt x="65756" y="206120"/>
                </a:lnTo>
                <a:lnTo>
                  <a:pt x="63012" y="195668"/>
                </a:lnTo>
                <a:lnTo>
                  <a:pt x="52996" y="190072"/>
                </a:lnTo>
                <a:lnTo>
                  <a:pt x="43943" y="182153"/>
                </a:lnTo>
                <a:lnTo>
                  <a:pt x="24639" y="147659"/>
                </a:lnTo>
                <a:lnTo>
                  <a:pt x="19279" y="108954"/>
                </a:lnTo>
                <a:lnTo>
                  <a:pt x="19022" y="91910"/>
                </a:lnTo>
                <a:lnTo>
                  <a:pt x="20175" y="79974"/>
                </a:lnTo>
                <a:lnTo>
                  <a:pt x="37542" y="30532"/>
                </a:lnTo>
                <a:lnTo>
                  <a:pt x="68682" y="8381"/>
                </a:lnTo>
                <a:lnTo>
                  <a:pt x="657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74370" y="3932535"/>
            <a:ext cx="4143375" cy="1209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20" dirty="0">
                <a:latin typeface="Segoe UI"/>
                <a:cs typeface="Segoe UI"/>
              </a:rPr>
              <a:t>Input</a:t>
            </a:r>
            <a:endParaRPr sz="24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355600" algn="l"/>
                <a:tab pos="3106420" algn="l"/>
              </a:tabLst>
            </a:pPr>
            <a:r>
              <a:rPr sz="2400" spc="-220" dirty="0">
                <a:latin typeface="Segoe UI"/>
                <a:cs typeface="Segoe UI"/>
              </a:rPr>
              <a:t>T</a:t>
            </a:r>
            <a:r>
              <a:rPr sz="2400" spc="-10" dirty="0">
                <a:latin typeface="Segoe UI"/>
                <a:cs typeface="Segoe UI"/>
              </a:rPr>
              <a:t>ra</a:t>
            </a:r>
            <a:r>
              <a:rPr sz="2400" spc="-5" dirty="0">
                <a:latin typeface="Segoe UI"/>
                <a:cs typeface="Segoe UI"/>
              </a:rPr>
              <a:t>in</a:t>
            </a:r>
            <a:r>
              <a:rPr sz="2400" spc="-15" dirty="0">
                <a:latin typeface="Segoe UI"/>
                <a:cs typeface="Segoe UI"/>
              </a:rPr>
              <a:t>ing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ex</a:t>
            </a:r>
            <a:r>
              <a:rPr sz="2400" dirty="0">
                <a:latin typeface="Segoe UI"/>
                <a:cs typeface="Segoe UI"/>
              </a:rPr>
              <a:t>amples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mbria Math"/>
                <a:cs typeface="Cambria Math"/>
              </a:rPr>
              <a:t>{	𝑥 </a:t>
            </a:r>
            <a:r>
              <a:rPr sz="2400" spc="-195" dirty="0">
                <a:latin typeface="Cambria Math"/>
                <a:cs typeface="Cambria Math"/>
              </a:rPr>
              <a:t> </a:t>
            </a:r>
            <a:r>
              <a:rPr sz="2625" spc="52" baseline="28571" dirty="0">
                <a:latin typeface="Cambria Math"/>
                <a:cs typeface="Cambria Math"/>
              </a:rPr>
              <a:t>1</a:t>
            </a:r>
            <a:r>
              <a:rPr sz="2625" baseline="28571" dirty="0">
                <a:latin typeface="Cambria Math"/>
                <a:cs typeface="Cambria Math"/>
              </a:rPr>
              <a:t> </a:t>
            </a:r>
            <a:r>
              <a:rPr sz="2625" spc="75" baseline="28571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𝑦 </a:t>
            </a:r>
            <a:r>
              <a:rPr sz="2400" spc="-220" dirty="0">
                <a:latin typeface="Cambria Math"/>
                <a:cs typeface="Cambria Math"/>
              </a:rPr>
              <a:t> </a:t>
            </a:r>
            <a:r>
              <a:rPr sz="2625" spc="52" baseline="28571" dirty="0">
                <a:latin typeface="Cambria Math"/>
                <a:cs typeface="Cambria Math"/>
              </a:rPr>
              <a:t>1</a:t>
            </a:r>
            <a:endParaRPr sz="2625" baseline="28571">
              <a:latin typeface="Cambria Math"/>
              <a:cs typeface="Cambria Math"/>
            </a:endParaRPr>
          </a:p>
          <a:p>
            <a:pPr marL="355600">
              <a:lnSpc>
                <a:spcPct val="100000"/>
              </a:lnSpc>
              <a:spcBef>
                <a:spcPts val="215"/>
              </a:spcBef>
            </a:pPr>
            <a:r>
              <a:rPr sz="2400" spc="-15" dirty="0">
                <a:latin typeface="Segoe UI"/>
                <a:cs typeface="Segoe UI"/>
              </a:rPr>
              <a:t>ta</a:t>
            </a:r>
            <a:r>
              <a:rPr sz="2400" spc="-40" dirty="0">
                <a:latin typeface="Segoe UI"/>
                <a:cs typeface="Segoe UI"/>
              </a:rPr>
              <a:t>r</a:t>
            </a:r>
            <a:r>
              <a:rPr sz="2400" spc="-15" dirty="0">
                <a:latin typeface="Segoe UI"/>
                <a:cs typeface="Segoe UI"/>
              </a:rPr>
              <a:t>get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fu</a:t>
            </a:r>
            <a:r>
              <a:rPr sz="2400" spc="-25" dirty="0">
                <a:latin typeface="Segoe UI"/>
                <a:cs typeface="Segoe UI"/>
              </a:rPr>
              <a:t>n</a:t>
            </a:r>
            <a:r>
              <a:rPr sz="2400" spc="-10" dirty="0">
                <a:latin typeface="Segoe UI"/>
                <a:cs typeface="Segoe UI"/>
              </a:rPr>
              <a:t>ct</a:t>
            </a:r>
            <a:r>
              <a:rPr sz="2400" spc="-20" dirty="0">
                <a:latin typeface="Segoe UI"/>
                <a:cs typeface="Segoe UI"/>
              </a:rPr>
              <a:t>i</a:t>
            </a:r>
            <a:r>
              <a:rPr sz="2400" spc="-15" dirty="0">
                <a:latin typeface="Segoe UI"/>
                <a:cs typeface="Segoe UI"/>
              </a:rPr>
              <a:t>on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mbria Math"/>
                <a:cs typeface="Cambria Math"/>
              </a:rPr>
              <a:t>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33623" y="4371192"/>
            <a:ext cx="1661795" cy="377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41020" algn="l"/>
              </a:tabLst>
            </a:pP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…	𝑥 </a:t>
            </a:r>
            <a:r>
              <a:rPr sz="2400" spc="-200" dirty="0">
                <a:latin typeface="Cambria Math"/>
                <a:cs typeface="Cambria Math"/>
              </a:rPr>
              <a:t> </a:t>
            </a:r>
            <a:r>
              <a:rPr sz="2625" spc="75" baseline="28571" dirty="0">
                <a:latin typeface="Cambria Math"/>
                <a:cs typeface="Cambria Math"/>
              </a:rPr>
              <a:t>𝑁</a:t>
            </a:r>
            <a:r>
              <a:rPr sz="2625" baseline="28571" dirty="0">
                <a:latin typeface="Cambria Math"/>
                <a:cs typeface="Cambria Math"/>
              </a:rPr>
              <a:t> </a:t>
            </a:r>
            <a:r>
              <a:rPr sz="2625" spc="135" baseline="28571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𝑦 </a:t>
            </a:r>
            <a:r>
              <a:rPr sz="2400" spc="-220" dirty="0">
                <a:latin typeface="Cambria Math"/>
                <a:cs typeface="Cambria Math"/>
              </a:rPr>
              <a:t> </a:t>
            </a:r>
            <a:r>
              <a:rPr sz="2625" spc="75" baseline="28571" dirty="0">
                <a:latin typeface="Cambria Math"/>
                <a:cs typeface="Cambria Math"/>
              </a:rPr>
              <a:t>𝑁</a:t>
            </a:r>
            <a:endParaRPr sz="2625" baseline="28571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17543" y="4408277"/>
            <a:ext cx="1819275" cy="340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ambria Math"/>
                <a:cs typeface="Cambria Math"/>
              </a:rPr>
              <a:t>}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spc="-70" dirty="0">
                <a:latin typeface="Segoe UI"/>
                <a:cs typeface="Segoe UI"/>
              </a:rPr>
              <a:t>o</a:t>
            </a:r>
            <a:r>
              <a:rPr sz="2400" spc="-10" dirty="0">
                <a:latin typeface="Segoe UI"/>
                <a:cs typeface="Segoe UI"/>
              </a:rPr>
              <a:t>f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un</a:t>
            </a:r>
            <a:r>
              <a:rPr sz="2400" spc="-25" dirty="0">
                <a:latin typeface="Segoe UI"/>
                <a:cs typeface="Segoe UI"/>
              </a:rPr>
              <a:t>k</a:t>
            </a:r>
            <a:r>
              <a:rPr sz="2400" spc="-15" dirty="0">
                <a:latin typeface="Segoe UI"/>
                <a:cs typeface="Segoe UI"/>
              </a:rPr>
              <a:t>nown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4370" y="5459898"/>
            <a:ext cx="8262620" cy="779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5" dirty="0">
                <a:latin typeface="Segoe UI"/>
                <a:cs typeface="Segoe UI"/>
              </a:rPr>
              <a:t>Out</a:t>
            </a:r>
            <a:r>
              <a:rPr sz="2400" spc="-10" dirty="0">
                <a:latin typeface="Segoe UI"/>
                <a:cs typeface="Segoe UI"/>
              </a:rPr>
              <a:t>p</a:t>
            </a:r>
            <a:r>
              <a:rPr sz="2400" spc="-15" dirty="0">
                <a:latin typeface="Segoe UI"/>
                <a:cs typeface="Segoe UI"/>
              </a:rPr>
              <a:t>ut</a:t>
            </a:r>
            <a:endParaRPr sz="24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2254250" algn="l"/>
              </a:tabLst>
            </a:pPr>
            <a:r>
              <a:rPr sz="2400" spc="-15" dirty="0">
                <a:latin typeface="Segoe UI"/>
                <a:cs typeface="Segoe UI"/>
              </a:rPr>
              <a:t>Hypoth</a:t>
            </a:r>
            <a:r>
              <a:rPr sz="2400" spc="-10" dirty="0">
                <a:latin typeface="Segoe UI"/>
                <a:cs typeface="Segoe UI"/>
              </a:rPr>
              <a:t>e</a:t>
            </a:r>
            <a:r>
              <a:rPr sz="2400" spc="-5" dirty="0">
                <a:latin typeface="Segoe UI"/>
                <a:cs typeface="Segoe UI"/>
              </a:rPr>
              <a:t>si</a:t>
            </a:r>
            <a:r>
              <a:rPr sz="2400" dirty="0">
                <a:latin typeface="Segoe UI"/>
                <a:cs typeface="Segoe UI"/>
              </a:rPr>
              <a:t>s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mbria Math"/>
                <a:cs typeface="Cambria Math"/>
              </a:rPr>
              <a:t>ℎ	∈</a:t>
            </a:r>
            <a:r>
              <a:rPr sz="2400" spc="14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𝐻</a:t>
            </a:r>
            <a:r>
              <a:rPr sz="2400" spc="60" dirty="0">
                <a:latin typeface="Cambria Math"/>
                <a:cs typeface="Cambria Math"/>
              </a:rPr>
              <a:t> </a:t>
            </a:r>
            <a:r>
              <a:rPr sz="2400" spc="-15" dirty="0">
                <a:latin typeface="Segoe UI"/>
                <a:cs typeface="Segoe UI"/>
              </a:rPr>
              <a:t>that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b</a:t>
            </a:r>
            <a:r>
              <a:rPr sz="2400" spc="-10" dirty="0">
                <a:latin typeface="Segoe UI"/>
                <a:cs typeface="Segoe UI"/>
              </a:rPr>
              <a:t>e</a:t>
            </a:r>
            <a:r>
              <a:rPr sz="2400" spc="-5" dirty="0">
                <a:latin typeface="Segoe UI"/>
                <a:cs typeface="Segoe UI"/>
              </a:rPr>
              <a:t>s</a:t>
            </a:r>
            <a:r>
              <a:rPr sz="2400" dirty="0">
                <a:latin typeface="Segoe UI"/>
                <a:cs typeface="Segoe UI"/>
              </a:rPr>
              <a:t>t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a</a:t>
            </a:r>
            <a:r>
              <a:rPr sz="2400" spc="-10" dirty="0">
                <a:latin typeface="Segoe UI"/>
                <a:cs typeface="Segoe UI"/>
              </a:rPr>
              <a:t>p</a:t>
            </a:r>
            <a:r>
              <a:rPr sz="2400" spc="-15" dirty="0">
                <a:latin typeface="Segoe UI"/>
                <a:cs typeface="Segoe UI"/>
              </a:rPr>
              <a:t>p</a:t>
            </a:r>
            <a:r>
              <a:rPr sz="2400" spc="-40" dirty="0">
                <a:latin typeface="Segoe UI"/>
                <a:cs typeface="Segoe UI"/>
              </a:rPr>
              <a:t>r</a:t>
            </a:r>
            <a:r>
              <a:rPr sz="2400" spc="-45" dirty="0">
                <a:latin typeface="Segoe UI"/>
                <a:cs typeface="Segoe UI"/>
              </a:rPr>
              <a:t>o</a:t>
            </a:r>
            <a:r>
              <a:rPr sz="2400" dirty="0">
                <a:latin typeface="Segoe UI"/>
                <a:cs typeface="Segoe UI"/>
              </a:rPr>
              <a:t>xima</a:t>
            </a:r>
            <a:r>
              <a:rPr sz="2400" spc="-25" dirty="0">
                <a:latin typeface="Segoe UI"/>
                <a:cs typeface="Segoe UI"/>
              </a:rPr>
              <a:t>t</a:t>
            </a:r>
            <a:r>
              <a:rPr sz="2400" dirty="0">
                <a:latin typeface="Segoe UI"/>
                <a:cs typeface="Segoe UI"/>
              </a:rPr>
              <a:t>es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ta</a:t>
            </a:r>
            <a:r>
              <a:rPr sz="2400" spc="-40" dirty="0">
                <a:latin typeface="Segoe UI"/>
                <a:cs typeface="Segoe UI"/>
              </a:rPr>
              <a:t>r</a:t>
            </a:r>
            <a:r>
              <a:rPr sz="2400" spc="-15" dirty="0">
                <a:latin typeface="Segoe UI"/>
                <a:cs typeface="Segoe UI"/>
              </a:rPr>
              <a:t>get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fu</a:t>
            </a:r>
            <a:r>
              <a:rPr sz="2400" spc="-25" dirty="0">
                <a:latin typeface="Segoe UI"/>
                <a:cs typeface="Segoe UI"/>
              </a:rPr>
              <a:t>n</a:t>
            </a:r>
            <a:r>
              <a:rPr sz="2400" spc="-10" dirty="0">
                <a:latin typeface="Segoe UI"/>
                <a:cs typeface="Segoe UI"/>
              </a:rPr>
              <a:t>ct</a:t>
            </a:r>
            <a:r>
              <a:rPr sz="2400" spc="-20" dirty="0">
                <a:latin typeface="Segoe UI"/>
                <a:cs typeface="Segoe UI"/>
              </a:rPr>
              <a:t>i</a:t>
            </a:r>
            <a:r>
              <a:rPr sz="2400" spc="-15" dirty="0">
                <a:latin typeface="Segoe UI"/>
                <a:cs typeface="Segoe UI"/>
              </a:rPr>
              <a:t>on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mbria Math"/>
                <a:cs typeface="Cambria Math"/>
              </a:rPr>
              <a:t>𝑓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483234"/>
            <a:ext cx="6705600" cy="1015663"/>
          </a:xfrm>
          <a:prstGeom prst="rect">
            <a:avLst/>
          </a:prstGeom>
        </p:spPr>
        <p:txBody>
          <a:bodyPr vert="horz" wrap="square" lIns="0" tIns="335280" rIns="0" bIns="0" rtlCol="0">
            <a:spAutoFit/>
          </a:bodyPr>
          <a:lstStyle/>
          <a:p>
            <a:pPr marL="1255395">
              <a:lnSpc>
                <a:spcPct val="100000"/>
              </a:lnSpc>
            </a:pPr>
            <a:r>
              <a:rPr spc="-5" dirty="0"/>
              <a:t>Recall</a:t>
            </a:r>
            <a:r>
              <a:rPr dirty="0"/>
              <a:t>:</a:t>
            </a:r>
            <a:r>
              <a:rPr spc="90" dirty="0">
                <a:latin typeface="Times New Roman"/>
                <a:cs typeface="Times New Roman"/>
              </a:rPr>
              <a:t> </a:t>
            </a:r>
            <a:r>
              <a:rPr dirty="0"/>
              <a:t>Expected</a:t>
            </a:r>
            <a:r>
              <a:rPr spc="80" dirty="0">
                <a:latin typeface="Times New Roman"/>
                <a:cs typeface="Times New Roman"/>
              </a:rPr>
              <a:t> </a:t>
            </a:r>
            <a:r>
              <a:rPr spc="-5" dirty="0"/>
              <a:t>loss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534400" cy="3062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81025" indent="-342900">
              <a:lnSpc>
                <a:spcPct val="100000"/>
              </a:lnSpc>
              <a:buFont typeface="Arial"/>
              <a:buChar char="•"/>
              <a:tabLst>
                <a:tab pos="581025" algn="l"/>
              </a:tabLst>
            </a:pPr>
            <a:r>
              <a:rPr spc="-30" dirty="0">
                <a:latin typeface="Cambria Math"/>
                <a:cs typeface="Cambria Math"/>
              </a:rPr>
              <a:t>𝑓</a:t>
            </a:r>
            <a:r>
              <a:rPr spc="235" dirty="0">
                <a:latin typeface="Cambria Math"/>
                <a:cs typeface="Cambria Math"/>
              </a:rPr>
              <a:t> </a:t>
            </a:r>
            <a:r>
              <a:rPr spc="-20" dirty="0"/>
              <a:t>sh</a:t>
            </a:r>
            <a:r>
              <a:rPr spc="-15" dirty="0"/>
              <a:t>ould</a:t>
            </a:r>
            <a:r>
              <a:rPr spc="65" dirty="0">
                <a:latin typeface="Times New Roman"/>
                <a:cs typeface="Times New Roman"/>
              </a:rPr>
              <a:t> </a:t>
            </a:r>
            <a:r>
              <a:rPr spc="-25" dirty="0"/>
              <a:t>ma</a:t>
            </a:r>
            <a:r>
              <a:rPr spc="-70" dirty="0"/>
              <a:t>k</a:t>
            </a:r>
            <a:r>
              <a:rPr spc="-15" dirty="0"/>
              <a:t>e</a:t>
            </a:r>
            <a:r>
              <a:rPr spc="55" dirty="0">
                <a:latin typeface="Times New Roman"/>
                <a:cs typeface="Times New Roman"/>
              </a:rPr>
              <a:t> </a:t>
            </a:r>
            <a:r>
              <a:rPr spc="-20" dirty="0"/>
              <a:t>good</a:t>
            </a:r>
            <a:r>
              <a:rPr spc="65" dirty="0">
                <a:latin typeface="Times New Roman"/>
                <a:cs typeface="Times New Roman"/>
              </a:rPr>
              <a:t> </a:t>
            </a:r>
            <a:r>
              <a:rPr spc="-20" dirty="0"/>
              <a:t>p</a:t>
            </a:r>
            <a:r>
              <a:rPr spc="-55" dirty="0"/>
              <a:t>r</a:t>
            </a:r>
            <a:r>
              <a:rPr spc="-15" dirty="0"/>
              <a:t>edictions</a:t>
            </a:r>
          </a:p>
          <a:p>
            <a:pPr marL="981710" lvl="1" indent="-286385">
              <a:lnSpc>
                <a:spcPct val="100000"/>
              </a:lnSpc>
              <a:spcBef>
                <a:spcPts val="590"/>
              </a:spcBef>
              <a:buFont typeface="Arial"/>
              <a:buChar char="–"/>
              <a:tabLst>
                <a:tab pos="982344" algn="l"/>
              </a:tabLst>
            </a:pPr>
            <a:r>
              <a:rPr sz="2400" dirty="0">
                <a:latin typeface="Segoe UI"/>
                <a:cs typeface="Segoe UI"/>
              </a:rPr>
              <a:t>as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Segoe UI"/>
                <a:cs typeface="Segoe UI"/>
              </a:rPr>
              <a:t>m</a:t>
            </a:r>
            <a:r>
              <a:rPr sz="2400" spc="5" dirty="0">
                <a:latin typeface="Segoe UI"/>
                <a:cs typeface="Segoe UI"/>
              </a:rPr>
              <a:t>e</a:t>
            </a:r>
            <a:r>
              <a:rPr sz="2400" spc="-15" dirty="0">
                <a:latin typeface="Segoe UI"/>
                <a:cs typeface="Segoe UI"/>
              </a:rPr>
              <a:t>asu</a:t>
            </a:r>
            <a:r>
              <a:rPr sz="2400" spc="-40" dirty="0">
                <a:latin typeface="Segoe UI"/>
                <a:cs typeface="Segoe UI"/>
              </a:rPr>
              <a:t>r</a:t>
            </a:r>
            <a:r>
              <a:rPr sz="2400" spc="-15" dirty="0">
                <a:latin typeface="Segoe UI"/>
                <a:cs typeface="Segoe UI"/>
              </a:rPr>
              <a:t>ed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by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Segoe UI"/>
                <a:cs typeface="Segoe UI"/>
              </a:rPr>
              <a:t>los</a:t>
            </a:r>
            <a:r>
              <a:rPr sz="2400" dirty="0">
                <a:latin typeface="Segoe UI"/>
                <a:cs typeface="Segoe UI"/>
              </a:rPr>
              <a:t>s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mbria Math"/>
                <a:cs typeface="Cambria Math"/>
              </a:rPr>
              <a:t>𝑙</a:t>
            </a:r>
          </a:p>
          <a:p>
            <a:pPr marL="981710" lvl="1" indent="-286385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982344" algn="l"/>
              </a:tabLst>
            </a:pPr>
            <a:r>
              <a:rPr sz="2400" spc="-20" dirty="0">
                <a:latin typeface="Segoe UI"/>
                <a:cs typeface="Segoe UI"/>
              </a:rPr>
              <a:t>o</a:t>
            </a:r>
            <a:r>
              <a:rPr sz="2400" spc="-15" dirty="0">
                <a:latin typeface="Segoe UI"/>
                <a:cs typeface="Segoe UI"/>
              </a:rPr>
              <a:t>n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Segoe UI"/>
                <a:cs typeface="Segoe UI"/>
              </a:rPr>
              <a:t>futur</a:t>
            </a:r>
            <a:r>
              <a:rPr sz="2400" b="1" dirty="0">
                <a:latin typeface="Segoe UI"/>
                <a:cs typeface="Segoe UI"/>
              </a:rPr>
              <a:t>e</a:t>
            </a:r>
            <a:r>
              <a:rPr sz="2400" b="1" spc="6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ex</a:t>
            </a:r>
            <a:r>
              <a:rPr sz="2400" dirty="0">
                <a:latin typeface="Segoe UI"/>
                <a:cs typeface="Segoe UI"/>
              </a:rPr>
              <a:t>amples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that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a</a:t>
            </a:r>
            <a:r>
              <a:rPr sz="2400" spc="-40" dirty="0">
                <a:latin typeface="Segoe UI"/>
                <a:cs typeface="Segoe UI"/>
              </a:rPr>
              <a:t>r</a:t>
            </a:r>
            <a:r>
              <a:rPr sz="2400" spc="-15" dirty="0">
                <a:latin typeface="Segoe UI"/>
                <a:cs typeface="Segoe UI"/>
              </a:rPr>
              <a:t>e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a</a:t>
            </a:r>
            <a:r>
              <a:rPr sz="2400" spc="-20" dirty="0">
                <a:latin typeface="Segoe UI"/>
                <a:cs typeface="Segoe UI"/>
              </a:rPr>
              <a:t>l</a:t>
            </a:r>
            <a:r>
              <a:rPr sz="2400" spc="-5" dirty="0">
                <a:latin typeface="Segoe UI"/>
                <a:cs typeface="Segoe UI"/>
              </a:rPr>
              <a:t>s</a:t>
            </a:r>
            <a:r>
              <a:rPr sz="2400" dirty="0">
                <a:latin typeface="Segoe UI"/>
                <a:cs typeface="Segoe UI"/>
              </a:rPr>
              <a:t>o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d</a:t>
            </a:r>
            <a:r>
              <a:rPr sz="2400" spc="-5" dirty="0">
                <a:latin typeface="Segoe UI"/>
                <a:cs typeface="Segoe UI"/>
              </a:rPr>
              <a:t>r</a:t>
            </a:r>
            <a:r>
              <a:rPr sz="2400" spc="-15" dirty="0">
                <a:latin typeface="Segoe UI"/>
                <a:cs typeface="Segoe UI"/>
              </a:rPr>
              <a:t>awn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egoe UI"/>
                <a:cs typeface="Segoe UI"/>
              </a:rPr>
              <a:t>f</a:t>
            </a:r>
            <a:r>
              <a:rPr sz="2400" spc="-40" dirty="0">
                <a:latin typeface="Segoe UI"/>
                <a:cs typeface="Segoe UI"/>
              </a:rPr>
              <a:t>r</a:t>
            </a:r>
            <a:r>
              <a:rPr sz="2400" dirty="0">
                <a:latin typeface="Segoe UI"/>
                <a:cs typeface="Segoe UI"/>
              </a:rPr>
              <a:t>om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mbria Math"/>
                <a:cs typeface="Cambria Math"/>
              </a:rPr>
              <a:t>𝐷</a:t>
            </a:r>
          </a:p>
          <a:p>
            <a:pPr marL="225425" lvl="1">
              <a:lnSpc>
                <a:spcPct val="100000"/>
              </a:lnSpc>
              <a:spcBef>
                <a:spcPts val="30"/>
              </a:spcBef>
              <a:buFont typeface="Arial"/>
              <a:buChar char="–"/>
            </a:pPr>
            <a:endParaRPr sz="2400" dirty="0">
              <a:latin typeface="Cambria Math"/>
              <a:cs typeface="Cambria Math"/>
            </a:endParaRPr>
          </a:p>
          <a:p>
            <a:pPr marL="581025" indent="-342900">
              <a:lnSpc>
                <a:spcPct val="100000"/>
              </a:lnSpc>
              <a:buFont typeface="Arial"/>
              <a:buChar char="•"/>
              <a:tabLst>
                <a:tab pos="581660" algn="l"/>
              </a:tabLst>
            </a:pPr>
            <a:r>
              <a:rPr spc="-20" dirty="0"/>
              <a:t>F</a:t>
            </a:r>
            <a:r>
              <a:rPr spc="-10" dirty="0"/>
              <a:t>o</a:t>
            </a:r>
            <a:r>
              <a:rPr spc="-20" dirty="0"/>
              <a:t>rm</a:t>
            </a:r>
            <a:r>
              <a:rPr spc="-5" dirty="0"/>
              <a:t>a</a:t>
            </a:r>
            <a:r>
              <a:rPr spc="-15" dirty="0"/>
              <a:t>l</a:t>
            </a:r>
            <a:r>
              <a:rPr spc="-20" dirty="0"/>
              <a:t>l</a:t>
            </a:r>
            <a:r>
              <a:rPr spc="-15" dirty="0"/>
              <a:t>y</a:t>
            </a:r>
          </a:p>
          <a:p>
            <a:pPr marL="981710" marR="5080" lvl="1" indent="-286385">
              <a:lnSpc>
                <a:spcPct val="100000"/>
              </a:lnSpc>
              <a:spcBef>
                <a:spcPts val="590"/>
              </a:spcBef>
              <a:buFont typeface="Arial"/>
              <a:buChar char="–"/>
              <a:tabLst>
                <a:tab pos="982344" algn="l"/>
              </a:tabLst>
            </a:pPr>
            <a:r>
              <a:rPr sz="2400" dirty="0">
                <a:latin typeface="Cambria Math"/>
                <a:cs typeface="Cambria Math"/>
              </a:rPr>
              <a:t>𝜀</a:t>
            </a:r>
            <a:r>
              <a:rPr sz="2400" spc="70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Segoe UI"/>
                <a:cs typeface="Segoe UI"/>
              </a:rPr>
              <a:t>,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the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exp</a:t>
            </a:r>
            <a:r>
              <a:rPr sz="2400" spc="-10" dirty="0">
                <a:latin typeface="Segoe UI"/>
                <a:cs typeface="Segoe UI"/>
              </a:rPr>
              <a:t>e</a:t>
            </a:r>
            <a:r>
              <a:rPr sz="2400" spc="-15" dirty="0">
                <a:latin typeface="Segoe UI"/>
                <a:cs typeface="Segoe UI"/>
              </a:rPr>
              <a:t>c</a:t>
            </a:r>
            <a:r>
              <a:rPr sz="2400" spc="-40" dirty="0">
                <a:latin typeface="Segoe UI"/>
                <a:cs typeface="Segoe UI"/>
              </a:rPr>
              <a:t>t</a:t>
            </a:r>
            <a:r>
              <a:rPr sz="2400" spc="-15" dirty="0">
                <a:latin typeface="Segoe UI"/>
                <a:cs typeface="Segoe UI"/>
              </a:rPr>
              <a:t>ed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Segoe UI"/>
                <a:cs typeface="Segoe UI"/>
              </a:rPr>
              <a:t>l</a:t>
            </a:r>
            <a:r>
              <a:rPr sz="2400" spc="-10" dirty="0">
                <a:latin typeface="Segoe UI"/>
                <a:cs typeface="Segoe UI"/>
              </a:rPr>
              <a:t>o</a:t>
            </a:r>
            <a:r>
              <a:rPr sz="2400" spc="-5" dirty="0">
                <a:latin typeface="Segoe UI"/>
                <a:cs typeface="Segoe UI"/>
              </a:rPr>
              <a:t>s</a:t>
            </a:r>
            <a:r>
              <a:rPr sz="2400" dirty="0">
                <a:latin typeface="Segoe UI"/>
                <a:cs typeface="Segoe UI"/>
              </a:rPr>
              <a:t>s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Segoe UI"/>
                <a:cs typeface="Segoe UI"/>
              </a:rPr>
              <a:t>o</a:t>
            </a:r>
            <a:r>
              <a:rPr sz="2400" spc="-10" dirty="0">
                <a:latin typeface="Segoe UI"/>
                <a:cs typeface="Segoe UI"/>
              </a:rPr>
              <a:t>f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mbria Math"/>
                <a:cs typeface="Cambria Math"/>
              </a:rPr>
              <a:t>𝑓</a:t>
            </a:r>
            <a:r>
              <a:rPr sz="2400" spc="70" dirty="0">
                <a:latin typeface="Cambria Math"/>
                <a:cs typeface="Cambria Math"/>
              </a:rPr>
              <a:t> </a:t>
            </a:r>
            <a:r>
              <a:rPr sz="2400" spc="-15" dirty="0">
                <a:latin typeface="Segoe UI"/>
                <a:cs typeface="Segoe UI"/>
              </a:rPr>
              <a:t>o</a:t>
            </a:r>
            <a:r>
              <a:rPr sz="2400" spc="-30" dirty="0">
                <a:latin typeface="Segoe UI"/>
                <a:cs typeface="Segoe UI"/>
              </a:rPr>
              <a:t>v</a:t>
            </a:r>
            <a:r>
              <a:rPr sz="2400" spc="-15" dirty="0">
                <a:latin typeface="Segoe UI"/>
                <a:cs typeface="Segoe UI"/>
              </a:rPr>
              <a:t>er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mbria Math"/>
                <a:cs typeface="Cambria Math"/>
              </a:rPr>
              <a:t>𝐷</a:t>
            </a:r>
            <a:r>
              <a:rPr sz="2400" spc="195" dirty="0">
                <a:latin typeface="Cambria Math"/>
                <a:cs typeface="Cambria Math"/>
              </a:rPr>
              <a:t> </a:t>
            </a:r>
            <a:r>
              <a:rPr sz="2400" spc="-15" dirty="0">
                <a:latin typeface="Segoe UI"/>
                <a:cs typeface="Segoe UI"/>
              </a:rPr>
              <a:t>with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Segoe UI"/>
                <a:cs typeface="Segoe UI"/>
              </a:rPr>
              <a:t>r</a:t>
            </a:r>
            <a:r>
              <a:rPr sz="2400" dirty="0">
                <a:latin typeface="Segoe UI"/>
                <a:cs typeface="Segoe UI"/>
              </a:rPr>
              <a:t>es</a:t>
            </a:r>
            <a:r>
              <a:rPr sz="2400" spc="5" dirty="0">
                <a:latin typeface="Segoe UI"/>
                <a:cs typeface="Segoe UI"/>
              </a:rPr>
              <a:t>p</a:t>
            </a:r>
            <a:r>
              <a:rPr sz="2400" spc="-15" dirty="0">
                <a:latin typeface="Segoe UI"/>
                <a:cs typeface="Segoe UI"/>
              </a:rPr>
              <a:t>ect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Segoe UI"/>
                <a:cs typeface="Segoe UI"/>
              </a:rPr>
              <a:t>t</a:t>
            </a:r>
            <a:r>
              <a:rPr sz="2400" spc="-15" dirty="0">
                <a:latin typeface="Segoe UI"/>
                <a:cs typeface="Segoe UI"/>
              </a:rPr>
              <a:t>o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mbria Math"/>
                <a:cs typeface="Cambria Math"/>
              </a:rPr>
              <a:t>𝑙</a:t>
            </a:r>
            <a:r>
              <a:rPr sz="2400" spc="21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Segoe UI"/>
                <a:cs typeface="Segoe UI"/>
              </a:rPr>
              <a:t>shou</a:t>
            </a:r>
            <a:r>
              <a:rPr sz="2400" spc="-10" dirty="0">
                <a:latin typeface="Segoe UI"/>
                <a:cs typeface="Segoe UI"/>
              </a:rPr>
              <a:t>l</a:t>
            </a:r>
            <a:r>
              <a:rPr sz="2400" spc="-15" dirty="0">
                <a:latin typeface="Segoe UI"/>
                <a:cs typeface="Segoe UI"/>
              </a:rPr>
              <a:t>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be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Segoe UI"/>
                <a:cs typeface="Segoe UI"/>
              </a:rPr>
              <a:t>small</a:t>
            </a:r>
            <a:endParaRPr sz="2400" dirty="0">
              <a:latin typeface="Segoe UI"/>
              <a:cs typeface="Segoe U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48EFF4-9C13-4501-BBC1-333ADB4F8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5257800"/>
            <a:ext cx="3657600" cy="114300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5FC1B4A3-60E8-4D43-8109-DB40B94A08FA}"/>
              </a:ext>
            </a:extLst>
          </p:cNvPr>
          <p:cNvGrpSpPr/>
          <p:nvPr/>
        </p:nvGrpSpPr>
        <p:grpSpPr>
          <a:xfrm>
            <a:off x="914400" y="5401326"/>
            <a:ext cx="3978086" cy="432437"/>
            <a:chOff x="1066610" y="5401326"/>
            <a:chExt cx="3978086" cy="432437"/>
          </a:xfrm>
        </p:grpSpPr>
        <p:sp>
          <p:nvSpPr>
            <p:cNvPr id="12" name="object 4">
              <a:extLst>
                <a:ext uri="{FF2B5EF4-FFF2-40B4-BE49-F238E27FC236}">
                  <a16:creationId xmlns:a16="http://schemas.microsoft.com/office/drawing/2014/main" id="{F666A6C6-D15E-4DAE-B421-DAF8484FA281}"/>
                </a:ext>
              </a:extLst>
            </p:cNvPr>
            <p:cNvSpPr/>
            <p:nvPr/>
          </p:nvSpPr>
          <p:spPr>
            <a:xfrm>
              <a:off x="1964647" y="5567303"/>
              <a:ext cx="555625" cy="240029"/>
            </a:xfrm>
            <a:custGeom>
              <a:avLst/>
              <a:gdLst/>
              <a:ahLst/>
              <a:cxnLst/>
              <a:rect l="l" t="t" r="r" b="b"/>
              <a:pathLst>
                <a:path w="555625" h="240029">
                  <a:moveTo>
                    <a:pt x="478955" y="0"/>
                  </a:moveTo>
                  <a:lnTo>
                    <a:pt x="484023" y="12953"/>
                  </a:lnTo>
                  <a:lnTo>
                    <a:pt x="495011" y="19192"/>
                  </a:lnTo>
                  <a:lnTo>
                    <a:pt x="504661" y="27273"/>
                  </a:lnTo>
                  <a:lnTo>
                    <a:pt x="527607" y="69659"/>
                  </a:lnTo>
                  <a:lnTo>
                    <a:pt x="533158" y="108811"/>
                  </a:lnTo>
                  <a:lnTo>
                    <a:pt x="533501" y="124773"/>
                  </a:lnTo>
                  <a:lnTo>
                    <a:pt x="532817" y="137882"/>
                  </a:lnTo>
                  <a:lnTo>
                    <a:pt x="521142" y="186584"/>
                  </a:lnTo>
                  <a:lnTo>
                    <a:pt x="498582" y="218021"/>
                  </a:lnTo>
                  <a:lnTo>
                    <a:pt x="475907" y="230181"/>
                  </a:lnTo>
                  <a:lnTo>
                    <a:pt x="488128" y="237063"/>
                  </a:lnTo>
                  <a:lnTo>
                    <a:pt x="528990" y="207379"/>
                  </a:lnTo>
                  <a:lnTo>
                    <a:pt x="549395" y="165473"/>
                  </a:lnTo>
                  <a:lnTo>
                    <a:pt x="554827" y="124975"/>
                  </a:lnTo>
                  <a:lnTo>
                    <a:pt x="555076" y="108382"/>
                  </a:lnTo>
                  <a:lnTo>
                    <a:pt x="553838" y="95798"/>
                  </a:lnTo>
                  <a:lnTo>
                    <a:pt x="538384" y="47781"/>
                  </a:lnTo>
                  <a:lnTo>
                    <a:pt x="513869" y="17071"/>
                  </a:lnTo>
                  <a:lnTo>
                    <a:pt x="491712" y="4228"/>
                  </a:lnTo>
                  <a:lnTo>
                    <a:pt x="478955" y="0"/>
                  </a:lnTo>
                  <a:close/>
                </a:path>
                <a:path w="555625" h="240029">
                  <a:moveTo>
                    <a:pt x="76238" y="0"/>
                  </a:moveTo>
                  <a:lnTo>
                    <a:pt x="35008" y="22817"/>
                  </a:lnTo>
                  <a:lnTo>
                    <a:pt x="9129" y="63601"/>
                  </a:lnTo>
                  <a:lnTo>
                    <a:pt x="255" y="115097"/>
                  </a:lnTo>
                  <a:lnTo>
                    <a:pt x="0" y="131661"/>
                  </a:lnTo>
                  <a:lnTo>
                    <a:pt x="1238" y="144264"/>
                  </a:lnTo>
                  <a:lnTo>
                    <a:pt x="16710" y="192255"/>
                  </a:lnTo>
                  <a:lnTo>
                    <a:pt x="41241" y="222866"/>
                  </a:lnTo>
                  <a:lnTo>
                    <a:pt x="76238" y="239923"/>
                  </a:lnTo>
                  <a:lnTo>
                    <a:pt x="71021" y="226920"/>
                  </a:lnTo>
                  <a:lnTo>
                    <a:pt x="60119" y="220653"/>
                  </a:lnTo>
                  <a:lnTo>
                    <a:pt x="50532" y="212512"/>
                  </a:lnTo>
                  <a:lnTo>
                    <a:pt x="27620" y="169546"/>
                  </a:lnTo>
                  <a:lnTo>
                    <a:pt x="22026" y="130436"/>
                  </a:lnTo>
                  <a:lnTo>
                    <a:pt x="21666" y="114859"/>
                  </a:lnTo>
                  <a:lnTo>
                    <a:pt x="22260" y="101775"/>
                  </a:lnTo>
                  <a:lnTo>
                    <a:pt x="33911" y="53042"/>
                  </a:lnTo>
                  <a:lnTo>
                    <a:pt x="56651" y="21733"/>
                  </a:lnTo>
                  <a:lnTo>
                    <a:pt x="79667" y="9643"/>
                  </a:lnTo>
                  <a:lnTo>
                    <a:pt x="762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5">
              <a:extLst>
                <a:ext uri="{FF2B5EF4-FFF2-40B4-BE49-F238E27FC236}">
                  <a16:creationId xmlns:a16="http://schemas.microsoft.com/office/drawing/2014/main" id="{C92110F0-3913-466D-BEF3-32B24221C7F7}"/>
                </a:ext>
              </a:extLst>
            </p:cNvPr>
            <p:cNvSpPr txBox="1"/>
            <p:nvPr/>
          </p:nvSpPr>
          <p:spPr>
            <a:xfrm>
              <a:off x="1066610" y="5401329"/>
              <a:ext cx="1859914" cy="43243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3354"/>
                </a:lnSpc>
              </a:pPr>
              <a:r>
                <a:rPr sz="4200" spc="-44" baseline="11904" dirty="0">
                  <a:latin typeface="Cambria Math"/>
                  <a:cs typeface="Cambria Math"/>
                </a:rPr>
                <a:t>𝜀</a:t>
              </a:r>
              <a:r>
                <a:rPr sz="4200" spc="382" baseline="11904" dirty="0">
                  <a:latin typeface="Cambria Math"/>
                  <a:cs typeface="Cambria Math"/>
                </a:rPr>
                <a:t> </a:t>
              </a:r>
              <a:r>
                <a:rPr sz="4200" spc="-37" baseline="11904" dirty="0">
                  <a:latin typeface="Cambria Math"/>
                  <a:cs typeface="Cambria Math"/>
                </a:rPr>
                <a:t>≜</a:t>
              </a:r>
              <a:r>
                <a:rPr sz="4200" spc="240" baseline="11904" dirty="0">
                  <a:latin typeface="Cambria Math"/>
                  <a:cs typeface="Cambria Math"/>
                </a:rPr>
                <a:t> </a:t>
              </a:r>
              <a:r>
                <a:rPr sz="4200" spc="-44" baseline="11904" dirty="0">
                  <a:latin typeface="Cambria Math"/>
                  <a:cs typeface="Cambria Math"/>
                </a:rPr>
                <a:t>𝔼</a:t>
              </a:r>
              <a:r>
                <a:rPr sz="4200" spc="345" baseline="11904" dirty="0">
                  <a:latin typeface="Cambria Math"/>
                  <a:cs typeface="Cambria Math"/>
                </a:rPr>
                <a:t> </a:t>
              </a:r>
              <a:r>
                <a:rPr sz="2050" spc="270" dirty="0">
                  <a:latin typeface="Cambria Math"/>
                  <a:cs typeface="Cambria Math"/>
                </a:rPr>
                <a:t>𝑥</a:t>
              </a:r>
              <a:r>
                <a:rPr sz="2050" spc="-5" dirty="0">
                  <a:latin typeface="Cambria Math"/>
                  <a:cs typeface="Cambria Math"/>
                </a:rPr>
                <a:t>,</a:t>
              </a:r>
              <a:r>
                <a:rPr sz="2050" spc="245" dirty="0">
                  <a:latin typeface="Cambria Math"/>
                  <a:cs typeface="Cambria Math"/>
                </a:rPr>
                <a:t>𝑦</a:t>
              </a:r>
              <a:r>
                <a:rPr sz="2050" dirty="0">
                  <a:latin typeface="Cambria Math"/>
                  <a:cs typeface="Cambria Math"/>
                </a:rPr>
                <a:t>  </a:t>
              </a:r>
              <a:r>
                <a:rPr sz="2050" spc="-20" dirty="0">
                  <a:latin typeface="Cambria Math"/>
                  <a:cs typeface="Cambria Math"/>
                </a:rPr>
                <a:t>~</a:t>
              </a:r>
              <a:r>
                <a:rPr sz="2050" spc="40" dirty="0">
                  <a:latin typeface="Cambria Math"/>
                  <a:cs typeface="Cambria Math"/>
                </a:rPr>
                <a:t>𝐷</a:t>
              </a:r>
              <a:endParaRPr sz="2050" dirty="0">
                <a:latin typeface="Cambria Math"/>
                <a:cs typeface="Cambria Math"/>
              </a:endParaRPr>
            </a:p>
          </p:txBody>
        </p:sp>
        <p:sp>
          <p:nvSpPr>
            <p:cNvPr id="14" name="object 6">
              <a:extLst>
                <a:ext uri="{FF2B5EF4-FFF2-40B4-BE49-F238E27FC236}">
                  <a16:creationId xmlns:a16="http://schemas.microsoft.com/office/drawing/2014/main" id="{25F25404-0367-429D-AB25-4EA737A409C1}"/>
                </a:ext>
              </a:extLst>
            </p:cNvPr>
            <p:cNvSpPr/>
            <p:nvPr/>
          </p:nvSpPr>
          <p:spPr>
            <a:xfrm>
              <a:off x="2951738" y="5422641"/>
              <a:ext cx="1698625" cy="330835"/>
            </a:xfrm>
            <a:custGeom>
              <a:avLst/>
              <a:gdLst/>
              <a:ahLst/>
              <a:cxnLst/>
              <a:rect l="l" t="t" r="r" b="b"/>
              <a:pathLst>
                <a:path w="1698625" h="330835">
                  <a:moveTo>
                    <a:pt x="1592464" y="0"/>
                  </a:moveTo>
                  <a:lnTo>
                    <a:pt x="1588014" y="0"/>
                  </a:lnTo>
                  <a:lnTo>
                    <a:pt x="1588014" y="13216"/>
                  </a:lnTo>
                  <a:lnTo>
                    <a:pt x="1601773" y="14014"/>
                  </a:lnTo>
                  <a:lnTo>
                    <a:pt x="1613250" y="17170"/>
                  </a:lnTo>
                  <a:lnTo>
                    <a:pt x="1640467" y="43834"/>
                  </a:lnTo>
                  <a:lnTo>
                    <a:pt x="1644008" y="74224"/>
                  </a:lnTo>
                  <a:lnTo>
                    <a:pt x="1642889" y="86138"/>
                  </a:lnTo>
                  <a:lnTo>
                    <a:pt x="1638084" y="115209"/>
                  </a:lnTo>
                  <a:lnTo>
                    <a:pt x="1637271" y="125380"/>
                  </a:lnTo>
                  <a:lnTo>
                    <a:pt x="1658605" y="160151"/>
                  </a:lnTo>
                  <a:lnTo>
                    <a:pt x="1666500" y="163067"/>
                  </a:lnTo>
                  <a:lnTo>
                    <a:pt x="1664784" y="166933"/>
                  </a:lnTo>
                  <a:lnTo>
                    <a:pt x="1654376" y="172816"/>
                  </a:lnTo>
                  <a:lnTo>
                    <a:pt x="1644221" y="182198"/>
                  </a:lnTo>
                  <a:lnTo>
                    <a:pt x="1639000" y="192688"/>
                  </a:lnTo>
                  <a:lnTo>
                    <a:pt x="1637361" y="207118"/>
                  </a:lnTo>
                  <a:lnTo>
                    <a:pt x="1638590" y="217557"/>
                  </a:lnTo>
                  <a:lnTo>
                    <a:pt x="1641523" y="234336"/>
                  </a:lnTo>
                  <a:lnTo>
                    <a:pt x="1642918" y="244781"/>
                  </a:lnTo>
                  <a:lnTo>
                    <a:pt x="1643567" y="257105"/>
                  </a:lnTo>
                  <a:lnTo>
                    <a:pt x="1643362" y="273297"/>
                  </a:lnTo>
                  <a:lnTo>
                    <a:pt x="1640517" y="286283"/>
                  </a:lnTo>
                  <a:lnTo>
                    <a:pt x="1604926" y="316218"/>
                  </a:lnTo>
                  <a:lnTo>
                    <a:pt x="1590543" y="317443"/>
                  </a:lnTo>
                  <a:lnTo>
                    <a:pt x="1588014" y="317443"/>
                  </a:lnTo>
                  <a:lnTo>
                    <a:pt x="1588014" y="330625"/>
                  </a:lnTo>
                  <a:lnTo>
                    <a:pt x="1634784" y="323120"/>
                  </a:lnTo>
                  <a:lnTo>
                    <a:pt x="1666720" y="293165"/>
                  </a:lnTo>
                  <a:lnTo>
                    <a:pt x="1673394" y="249904"/>
                  </a:lnTo>
                  <a:lnTo>
                    <a:pt x="1672098" y="237533"/>
                  </a:lnTo>
                  <a:lnTo>
                    <a:pt x="1669548" y="223991"/>
                  </a:lnTo>
                  <a:lnTo>
                    <a:pt x="1666865" y="211741"/>
                  </a:lnTo>
                  <a:lnTo>
                    <a:pt x="1665463" y="203536"/>
                  </a:lnTo>
                  <a:lnTo>
                    <a:pt x="1665463" y="191393"/>
                  </a:lnTo>
                  <a:lnTo>
                    <a:pt x="1668267" y="184891"/>
                  </a:lnTo>
                  <a:lnTo>
                    <a:pt x="1674215" y="179416"/>
                  </a:lnTo>
                  <a:lnTo>
                    <a:pt x="1684443" y="173956"/>
                  </a:lnTo>
                  <a:lnTo>
                    <a:pt x="1698625" y="171794"/>
                  </a:lnTo>
                  <a:lnTo>
                    <a:pt x="1697624" y="157574"/>
                  </a:lnTo>
                  <a:lnTo>
                    <a:pt x="1683694" y="155188"/>
                  </a:lnTo>
                  <a:lnTo>
                    <a:pt x="1673723" y="149483"/>
                  </a:lnTo>
                  <a:lnTo>
                    <a:pt x="1668267" y="144530"/>
                  </a:lnTo>
                  <a:lnTo>
                    <a:pt x="1665463" y="138053"/>
                  </a:lnTo>
                  <a:lnTo>
                    <a:pt x="1665501" y="128751"/>
                  </a:lnTo>
                  <a:lnTo>
                    <a:pt x="1666810" y="119048"/>
                  </a:lnTo>
                  <a:lnTo>
                    <a:pt x="1670201" y="102402"/>
                  </a:lnTo>
                  <a:lnTo>
                    <a:pt x="1672097" y="91204"/>
                  </a:lnTo>
                  <a:lnTo>
                    <a:pt x="1673136" y="78937"/>
                  </a:lnTo>
                  <a:lnTo>
                    <a:pt x="1673303" y="64133"/>
                  </a:lnTo>
                  <a:lnTo>
                    <a:pt x="1671245" y="50113"/>
                  </a:lnTo>
                  <a:lnTo>
                    <a:pt x="1644362" y="12039"/>
                  </a:lnTo>
                  <a:lnTo>
                    <a:pt x="1607880" y="923"/>
                  </a:lnTo>
                  <a:lnTo>
                    <a:pt x="1592464" y="0"/>
                  </a:lnTo>
                  <a:close/>
                </a:path>
                <a:path w="1698625" h="330835">
                  <a:moveTo>
                    <a:pt x="110618" y="0"/>
                  </a:moveTo>
                  <a:lnTo>
                    <a:pt x="106046" y="0"/>
                  </a:lnTo>
                  <a:lnTo>
                    <a:pt x="105271" y="12"/>
                  </a:lnTo>
                  <a:lnTo>
                    <a:pt x="64248" y="7137"/>
                  </a:lnTo>
                  <a:lnTo>
                    <a:pt x="32069" y="36530"/>
                  </a:lnTo>
                  <a:lnTo>
                    <a:pt x="25106" y="79275"/>
                  </a:lnTo>
                  <a:lnTo>
                    <a:pt x="26446" y="91652"/>
                  </a:lnTo>
                  <a:lnTo>
                    <a:pt x="28955" y="105155"/>
                  </a:lnTo>
                  <a:lnTo>
                    <a:pt x="31741" y="117479"/>
                  </a:lnTo>
                  <a:lnTo>
                    <a:pt x="33015" y="125729"/>
                  </a:lnTo>
                  <a:lnTo>
                    <a:pt x="33015" y="137803"/>
                  </a:lnTo>
                  <a:lnTo>
                    <a:pt x="30348" y="144280"/>
                  </a:lnTo>
                  <a:lnTo>
                    <a:pt x="24404" y="149777"/>
                  </a:lnTo>
                  <a:lnTo>
                    <a:pt x="14138" y="155276"/>
                  </a:lnTo>
                  <a:lnTo>
                    <a:pt x="0" y="157352"/>
                  </a:lnTo>
                  <a:lnTo>
                    <a:pt x="951" y="171665"/>
                  </a:lnTo>
                  <a:lnTo>
                    <a:pt x="14848" y="174018"/>
                  </a:lnTo>
                  <a:lnTo>
                    <a:pt x="24883" y="179688"/>
                  </a:lnTo>
                  <a:lnTo>
                    <a:pt x="30348" y="184714"/>
                  </a:lnTo>
                  <a:lnTo>
                    <a:pt x="33015" y="191213"/>
                  </a:lnTo>
                  <a:lnTo>
                    <a:pt x="32944" y="201098"/>
                  </a:lnTo>
                  <a:lnTo>
                    <a:pt x="31581" y="210961"/>
                  </a:lnTo>
                  <a:lnTo>
                    <a:pt x="28066" y="228109"/>
                  </a:lnTo>
                  <a:lnTo>
                    <a:pt x="26340" y="238994"/>
                  </a:lnTo>
                  <a:lnTo>
                    <a:pt x="25386" y="251363"/>
                  </a:lnTo>
                  <a:lnTo>
                    <a:pt x="25287" y="266770"/>
                  </a:lnTo>
                  <a:lnTo>
                    <a:pt x="27451" y="280775"/>
                  </a:lnTo>
                  <a:lnTo>
                    <a:pt x="54136" y="318559"/>
                  </a:lnTo>
                  <a:lnTo>
                    <a:pt x="90620" y="329658"/>
                  </a:lnTo>
                  <a:lnTo>
                    <a:pt x="106046" y="330625"/>
                  </a:lnTo>
                  <a:lnTo>
                    <a:pt x="110618" y="330625"/>
                  </a:lnTo>
                  <a:lnTo>
                    <a:pt x="110618" y="317443"/>
                  </a:lnTo>
                  <a:lnTo>
                    <a:pt x="103531" y="317338"/>
                  </a:lnTo>
                  <a:lnTo>
                    <a:pt x="89863" y="315407"/>
                  </a:lnTo>
                  <a:lnTo>
                    <a:pt x="57880" y="285810"/>
                  </a:lnTo>
                  <a:lnTo>
                    <a:pt x="54468" y="255064"/>
                  </a:lnTo>
                  <a:lnTo>
                    <a:pt x="55613" y="243165"/>
                  </a:lnTo>
                  <a:lnTo>
                    <a:pt x="58078" y="228836"/>
                  </a:lnTo>
                  <a:lnTo>
                    <a:pt x="60525" y="214057"/>
                  </a:lnTo>
                  <a:lnTo>
                    <a:pt x="46862" y="173735"/>
                  </a:lnTo>
                  <a:lnTo>
                    <a:pt x="32003" y="166079"/>
                  </a:lnTo>
                  <a:lnTo>
                    <a:pt x="33359" y="162413"/>
                  </a:lnTo>
                  <a:lnTo>
                    <a:pt x="43943" y="156574"/>
                  </a:lnTo>
                  <a:lnTo>
                    <a:pt x="54019" y="147435"/>
                  </a:lnTo>
                  <a:lnTo>
                    <a:pt x="59488" y="136935"/>
                  </a:lnTo>
                  <a:lnTo>
                    <a:pt x="61285" y="122758"/>
                  </a:lnTo>
                  <a:lnTo>
                    <a:pt x="60141" y="112425"/>
                  </a:lnTo>
                  <a:lnTo>
                    <a:pt x="57278" y="96075"/>
                  </a:lnTo>
                  <a:lnTo>
                    <a:pt x="55677" y="85399"/>
                  </a:lnTo>
                  <a:lnTo>
                    <a:pt x="54887" y="73235"/>
                  </a:lnTo>
                  <a:lnTo>
                    <a:pt x="54993" y="57581"/>
                  </a:lnTo>
                  <a:lnTo>
                    <a:pt x="57794" y="44557"/>
                  </a:lnTo>
                  <a:lnTo>
                    <a:pt x="93572" y="14432"/>
                  </a:lnTo>
                  <a:lnTo>
                    <a:pt x="107935" y="13216"/>
                  </a:lnTo>
                  <a:lnTo>
                    <a:pt x="110618" y="13216"/>
                  </a:lnTo>
                  <a:lnTo>
                    <a:pt x="1106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7">
              <a:extLst>
                <a:ext uri="{FF2B5EF4-FFF2-40B4-BE49-F238E27FC236}">
                  <a16:creationId xmlns:a16="http://schemas.microsoft.com/office/drawing/2014/main" id="{15836B14-81E6-4A71-80F9-AC2CB9733F2A}"/>
                </a:ext>
              </a:extLst>
            </p:cNvPr>
            <p:cNvSpPr txBox="1"/>
            <p:nvPr/>
          </p:nvSpPr>
          <p:spPr>
            <a:xfrm>
              <a:off x="3060321" y="5401326"/>
              <a:ext cx="1984375" cy="38100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1705610" algn="l"/>
                </a:tabLst>
              </a:pPr>
              <a:r>
                <a:rPr sz="2800" spc="70" dirty="0">
                  <a:latin typeface="Cambria Math"/>
                  <a:cs typeface="Cambria Math"/>
                </a:rPr>
                <a:t>𝑙</a:t>
              </a:r>
              <a:r>
                <a:rPr sz="2800" spc="-15" dirty="0">
                  <a:latin typeface="Cambria Math"/>
                  <a:cs typeface="Cambria Math"/>
                </a:rPr>
                <a:t>(</a:t>
              </a:r>
              <a:r>
                <a:rPr sz="2800" spc="5" dirty="0">
                  <a:latin typeface="Cambria Math"/>
                  <a:cs typeface="Cambria Math"/>
                </a:rPr>
                <a:t>𝑦</a:t>
              </a:r>
              <a:r>
                <a:rPr sz="2800" spc="-10" dirty="0">
                  <a:latin typeface="Cambria Math"/>
                  <a:cs typeface="Cambria Math"/>
                </a:rPr>
                <a:t>,</a:t>
              </a:r>
              <a:r>
                <a:rPr sz="2800" spc="-150" dirty="0">
                  <a:latin typeface="Cambria Math"/>
                  <a:cs typeface="Cambria Math"/>
                </a:rPr>
                <a:t> </a:t>
              </a:r>
              <a:r>
                <a:rPr sz="2800" spc="50" dirty="0">
                  <a:latin typeface="Cambria Math"/>
                  <a:cs typeface="Cambria Math"/>
                </a:rPr>
                <a:t>𝑓</a:t>
              </a:r>
              <a:r>
                <a:rPr sz="2800" spc="-15" dirty="0">
                  <a:latin typeface="Cambria Math"/>
                  <a:cs typeface="Cambria Math"/>
                </a:rPr>
                <a:t>(</a:t>
              </a:r>
              <a:r>
                <a:rPr sz="2800" spc="35" dirty="0">
                  <a:latin typeface="Cambria Math"/>
                  <a:cs typeface="Cambria Math"/>
                </a:rPr>
                <a:t>𝑥</a:t>
              </a:r>
              <a:r>
                <a:rPr sz="2800" spc="-15" dirty="0">
                  <a:latin typeface="Cambria Math"/>
                  <a:cs typeface="Cambria Math"/>
                </a:rPr>
                <a:t>))</a:t>
              </a:r>
              <a:r>
                <a:rPr sz="2800" dirty="0">
                  <a:latin typeface="Cambria Math"/>
                  <a:cs typeface="Cambria Math"/>
                </a:rPr>
                <a:t>	</a:t>
              </a:r>
              <a:r>
                <a:rPr sz="2800" spc="-25" dirty="0">
                  <a:latin typeface="Cambria Math"/>
                  <a:cs typeface="Cambria Math"/>
                </a:rPr>
                <a:t>=</a:t>
              </a:r>
              <a:endParaRPr sz="2800" dirty="0">
                <a:latin typeface="Cambria Math"/>
                <a:cs typeface="Cambria Math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544" y="1269491"/>
            <a:ext cx="8816400" cy="33542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2043" y="304800"/>
            <a:ext cx="8785798" cy="32735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78497" y="4477941"/>
            <a:ext cx="7027545" cy="1846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3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3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</a:t>
            </a:r>
            <a:r>
              <a:rPr sz="3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3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</a:t>
            </a:r>
            <a:r>
              <a:rPr sz="3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3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3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sz="3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3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3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3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</a:t>
            </a:r>
            <a:r>
              <a:rPr sz="3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sz="3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r>
              <a:rPr sz="3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</a:t>
            </a:r>
            <a:r>
              <a:rPr sz="3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3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3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lassif</a:t>
            </a:r>
            <a:r>
              <a:rPr sz="3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3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3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3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3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3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problem, how can we solve the </a:t>
            </a:r>
            <a:r>
              <a:rPr lang="el-GR" sz="3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l-GR" sz="3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3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</a:t>
            </a:r>
            <a:r>
              <a:rPr lang="en-US" sz="3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 binary classification problem?</a:t>
            </a:r>
            <a:endParaRPr sz="3000" baseline="1041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375D4CA-87CB-48B6-A481-5F8C7EC398CF}"/>
              </a:ext>
            </a:extLst>
          </p:cNvPr>
          <p:cNvGrpSpPr/>
          <p:nvPr/>
        </p:nvGrpSpPr>
        <p:grpSpPr>
          <a:xfrm>
            <a:off x="5562600" y="3200400"/>
            <a:ext cx="2743200" cy="1130687"/>
            <a:chOff x="7772400" y="3746113"/>
            <a:chExt cx="2743200" cy="1130687"/>
          </a:xfrm>
        </p:grpSpPr>
        <p:sp>
          <p:nvSpPr>
            <p:cNvPr id="4" name="object 4"/>
            <p:cNvSpPr/>
            <p:nvPr/>
          </p:nvSpPr>
          <p:spPr>
            <a:xfrm>
              <a:off x="7995920" y="3746113"/>
              <a:ext cx="2519680" cy="1130687"/>
            </a:xfrm>
            <a:custGeom>
              <a:avLst/>
              <a:gdLst/>
              <a:ahLst/>
              <a:cxnLst/>
              <a:rect l="l" t="t" r="r" b="b"/>
              <a:pathLst>
                <a:path w="2519679" h="2780665">
                  <a:moveTo>
                    <a:pt x="0" y="1399921"/>
                  </a:moveTo>
                  <a:lnTo>
                    <a:pt x="3612" y="1355129"/>
                  </a:lnTo>
                  <a:lnTo>
                    <a:pt x="14071" y="1312640"/>
                  </a:lnTo>
                  <a:lnTo>
                    <a:pt x="30808" y="1273024"/>
                  </a:lnTo>
                  <a:lnTo>
                    <a:pt x="53256" y="1236848"/>
                  </a:lnTo>
                  <a:lnTo>
                    <a:pt x="80848" y="1204680"/>
                  </a:lnTo>
                  <a:lnTo>
                    <a:pt x="113015" y="1177087"/>
                  </a:lnTo>
                  <a:lnTo>
                    <a:pt x="149190" y="1154638"/>
                  </a:lnTo>
                  <a:lnTo>
                    <a:pt x="188806" y="1137900"/>
                  </a:lnTo>
                  <a:lnTo>
                    <a:pt x="231294" y="1127440"/>
                  </a:lnTo>
                  <a:lnTo>
                    <a:pt x="276087" y="1123828"/>
                  </a:lnTo>
                  <a:lnTo>
                    <a:pt x="419861" y="1123828"/>
                  </a:lnTo>
                  <a:lnTo>
                    <a:pt x="781171" y="0"/>
                  </a:lnTo>
                  <a:lnTo>
                    <a:pt x="1049670" y="1123828"/>
                  </a:lnTo>
                  <a:lnTo>
                    <a:pt x="2243084" y="1123828"/>
                  </a:lnTo>
                  <a:lnTo>
                    <a:pt x="2265733" y="1124743"/>
                  </a:lnTo>
                  <a:lnTo>
                    <a:pt x="2309445" y="1131849"/>
                  </a:lnTo>
                  <a:lnTo>
                    <a:pt x="2350568" y="1145519"/>
                  </a:lnTo>
                  <a:lnTo>
                    <a:pt x="2388534" y="1165184"/>
                  </a:lnTo>
                  <a:lnTo>
                    <a:pt x="2422776" y="1190276"/>
                  </a:lnTo>
                  <a:lnTo>
                    <a:pt x="2452726" y="1220228"/>
                  </a:lnTo>
                  <a:lnTo>
                    <a:pt x="2477817" y="1254471"/>
                  </a:lnTo>
                  <a:lnTo>
                    <a:pt x="2497481" y="1292438"/>
                  </a:lnTo>
                  <a:lnTo>
                    <a:pt x="2511150" y="1333561"/>
                  </a:lnTo>
                  <a:lnTo>
                    <a:pt x="2518257" y="1377273"/>
                  </a:lnTo>
                  <a:lnTo>
                    <a:pt x="2519171" y="1399921"/>
                  </a:lnTo>
                  <a:lnTo>
                    <a:pt x="2519171" y="1814068"/>
                  </a:lnTo>
                  <a:lnTo>
                    <a:pt x="2519171" y="2504322"/>
                  </a:lnTo>
                  <a:lnTo>
                    <a:pt x="2518257" y="2526964"/>
                  </a:lnTo>
                  <a:lnTo>
                    <a:pt x="2511150" y="2570666"/>
                  </a:lnTo>
                  <a:lnTo>
                    <a:pt x="2497481" y="2611785"/>
                  </a:lnTo>
                  <a:lnTo>
                    <a:pt x="2477817" y="2649751"/>
                  </a:lnTo>
                  <a:lnTo>
                    <a:pt x="2452726" y="2683996"/>
                  </a:lnTo>
                  <a:lnTo>
                    <a:pt x="2422776" y="2713951"/>
                  </a:lnTo>
                  <a:lnTo>
                    <a:pt x="2388534" y="2739047"/>
                  </a:lnTo>
                  <a:lnTo>
                    <a:pt x="2350568" y="2758717"/>
                  </a:lnTo>
                  <a:lnTo>
                    <a:pt x="2309445" y="2772391"/>
                  </a:lnTo>
                  <a:lnTo>
                    <a:pt x="2265733" y="2779500"/>
                  </a:lnTo>
                  <a:lnTo>
                    <a:pt x="2243084" y="2780416"/>
                  </a:lnTo>
                  <a:lnTo>
                    <a:pt x="1049670" y="2780416"/>
                  </a:lnTo>
                  <a:lnTo>
                    <a:pt x="419861" y="2780416"/>
                  </a:lnTo>
                  <a:lnTo>
                    <a:pt x="276087" y="2780416"/>
                  </a:lnTo>
                  <a:lnTo>
                    <a:pt x="253438" y="2779500"/>
                  </a:lnTo>
                  <a:lnTo>
                    <a:pt x="209726" y="2772391"/>
                  </a:lnTo>
                  <a:lnTo>
                    <a:pt x="168603" y="2758717"/>
                  </a:lnTo>
                  <a:lnTo>
                    <a:pt x="130637" y="2739047"/>
                  </a:lnTo>
                  <a:lnTo>
                    <a:pt x="96395" y="2713951"/>
                  </a:lnTo>
                  <a:lnTo>
                    <a:pt x="66444" y="2683996"/>
                  </a:lnTo>
                  <a:lnTo>
                    <a:pt x="41354" y="2649751"/>
                  </a:lnTo>
                  <a:lnTo>
                    <a:pt x="21690" y="2611785"/>
                  </a:lnTo>
                  <a:lnTo>
                    <a:pt x="8021" y="2570666"/>
                  </a:lnTo>
                  <a:lnTo>
                    <a:pt x="914" y="2526964"/>
                  </a:lnTo>
                  <a:lnTo>
                    <a:pt x="0" y="2504322"/>
                  </a:lnTo>
                  <a:lnTo>
                    <a:pt x="0" y="1814068"/>
                  </a:lnTo>
                  <a:lnTo>
                    <a:pt x="0" y="1399921"/>
                  </a:lnTo>
                  <a:close/>
                </a:path>
              </a:pathLst>
            </a:custGeom>
            <a:ln w="25907">
              <a:solidFill>
                <a:srgbClr val="F07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7C07C9C-2564-4D52-9407-78CD8D267B83}"/>
                </a:ext>
              </a:extLst>
            </p:cNvPr>
            <p:cNvSpPr txBox="1"/>
            <p:nvPr/>
          </p:nvSpPr>
          <p:spPr>
            <a:xfrm>
              <a:off x="8001000" y="4191000"/>
              <a:ext cx="1948904" cy="363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141605" algn="r">
                <a:lnSpc>
                  <a:spcPts val="2225"/>
                </a:lnSpc>
              </a:pPr>
              <a:r>
                <a:rPr lang="es-ES" sz="1800" dirty="0">
                  <a:latin typeface="Calibri"/>
                  <a:cs typeface="Calibri"/>
                </a:rPr>
                <a:t>α</a:t>
              </a:r>
              <a:r>
                <a:rPr lang="es-ES" sz="1800" spc="-10" dirty="0">
                  <a:latin typeface="Calibri"/>
                  <a:cs typeface="Calibri"/>
                </a:rPr>
                <a:t> </a:t>
              </a:r>
              <a:r>
                <a:rPr lang="es-ES" sz="1800" dirty="0">
                  <a:latin typeface="Calibri"/>
                  <a:cs typeface="Calibri"/>
                </a:rPr>
                <a:t>&gt;</a:t>
              </a:r>
              <a:r>
                <a:rPr lang="es-ES" sz="1800" spc="-60" dirty="0">
                  <a:latin typeface="Times New Roman"/>
                  <a:cs typeface="Times New Roman"/>
                </a:rPr>
                <a:t> </a:t>
              </a:r>
              <a:r>
                <a:rPr lang="es-ES" sz="1800" spc="-15" dirty="0">
                  <a:latin typeface="Calibri"/>
                  <a:cs typeface="Calibri"/>
                </a:rPr>
                <a:t>1</a:t>
              </a:r>
              <a:r>
                <a:rPr lang="es-ES" sz="1800" spc="-60" dirty="0">
                  <a:latin typeface="Times New Roman"/>
                  <a:cs typeface="Times New Roman"/>
                </a:rPr>
                <a:t> </a:t>
              </a:r>
              <a:r>
                <a:rPr lang="es-ES" sz="1800" spc="-50" dirty="0" err="1">
                  <a:latin typeface="Calibri"/>
                  <a:cs typeface="Calibri"/>
                </a:rPr>
                <a:t>f</a:t>
              </a:r>
              <a:r>
                <a:rPr lang="es-ES" sz="1800" spc="-20" dirty="0" err="1">
                  <a:latin typeface="Calibri"/>
                  <a:cs typeface="Calibri"/>
                </a:rPr>
                <a:t>o</a:t>
              </a:r>
              <a:r>
                <a:rPr lang="es-ES" sz="1800" spc="-10" dirty="0" err="1">
                  <a:latin typeface="Calibri"/>
                  <a:cs typeface="Calibri"/>
                </a:rPr>
                <a:t>r</a:t>
              </a:r>
              <a:r>
                <a:rPr lang="es-ES" sz="1800" spc="-60" dirty="0">
                  <a:latin typeface="Times New Roman"/>
                  <a:cs typeface="Times New Roman"/>
                </a:rPr>
                <a:t> </a:t>
              </a:r>
              <a:r>
                <a:rPr lang="es-ES" sz="1800" spc="-15" dirty="0">
                  <a:latin typeface="Calibri"/>
                  <a:cs typeface="Calibri"/>
                </a:rPr>
                <a:t>y</a:t>
              </a:r>
              <a:r>
                <a:rPr lang="es-ES" sz="1800" spc="-75" dirty="0">
                  <a:latin typeface="Times New Roman"/>
                  <a:cs typeface="Times New Roman"/>
                </a:rPr>
                <a:t> </a:t>
              </a:r>
              <a:r>
                <a:rPr lang="es-ES" sz="1800" dirty="0">
                  <a:latin typeface="Calibri"/>
                  <a:cs typeface="Calibri"/>
                </a:rPr>
                <a:t>=</a:t>
              </a:r>
              <a:r>
                <a:rPr lang="es-ES" sz="1800" spc="-60" dirty="0">
                  <a:latin typeface="Times New Roman"/>
                  <a:cs typeface="Times New Roman"/>
                </a:rPr>
                <a:t> </a:t>
              </a:r>
              <a:r>
                <a:rPr lang="es-ES" sz="1800" dirty="0">
                  <a:latin typeface="Calibri"/>
                  <a:cs typeface="Calibri"/>
                </a:rPr>
                <a:t>+</a:t>
              </a:r>
              <a:r>
                <a:rPr lang="es-ES" sz="1800" spc="-15" dirty="0">
                  <a:latin typeface="Calibri"/>
                  <a:cs typeface="Calibri"/>
                </a:rPr>
                <a:t>1</a:t>
              </a:r>
              <a:endParaRPr lang="es-ES" sz="1800" dirty="0">
                <a:latin typeface="Calibri"/>
                <a:cs typeface="Calibri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4A27578-0B6D-4242-9093-280F56ADBE92}"/>
                </a:ext>
              </a:extLst>
            </p:cNvPr>
            <p:cNvSpPr txBox="1"/>
            <p:nvPr/>
          </p:nvSpPr>
          <p:spPr>
            <a:xfrm>
              <a:off x="7772400" y="4495800"/>
              <a:ext cx="1948904" cy="363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141605" algn="r">
                <a:lnSpc>
                  <a:spcPts val="2225"/>
                </a:lnSpc>
              </a:pPr>
              <a:r>
                <a:rPr lang="es-ES" sz="1800" spc="-15" dirty="0">
                  <a:latin typeface="Calibri"/>
                  <a:cs typeface="Calibri"/>
                </a:rPr>
                <a:t>1</a:t>
              </a:r>
              <a:r>
                <a:rPr lang="es-ES" sz="1800" spc="-60" dirty="0">
                  <a:latin typeface="Times New Roman"/>
                  <a:cs typeface="Times New Roman"/>
                </a:rPr>
                <a:t> </a:t>
              </a:r>
              <a:r>
                <a:rPr lang="es-ES" sz="1800" spc="-50" dirty="0" err="1">
                  <a:latin typeface="Calibri"/>
                  <a:cs typeface="Calibri"/>
                </a:rPr>
                <a:t>f</a:t>
              </a:r>
              <a:r>
                <a:rPr lang="es-ES" sz="1800" spc="-20" dirty="0" err="1">
                  <a:latin typeface="Calibri"/>
                  <a:cs typeface="Calibri"/>
                </a:rPr>
                <a:t>o</a:t>
              </a:r>
              <a:r>
                <a:rPr lang="es-ES" sz="1800" spc="-10" dirty="0" err="1">
                  <a:latin typeface="Calibri"/>
                  <a:cs typeface="Calibri"/>
                </a:rPr>
                <a:t>r</a:t>
              </a:r>
              <a:r>
                <a:rPr lang="es-ES" sz="1800" spc="-60" dirty="0">
                  <a:latin typeface="Times New Roman"/>
                  <a:cs typeface="Times New Roman"/>
                </a:rPr>
                <a:t> </a:t>
              </a:r>
              <a:r>
                <a:rPr lang="es-ES" sz="1800" spc="-15" dirty="0">
                  <a:latin typeface="Calibri"/>
                  <a:cs typeface="Calibri"/>
                </a:rPr>
                <a:t>y</a:t>
              </a:r>
              <a:r>
                <a:rPr lang="es-ES" sz="1800" spc="-75" dirty="0">
                  <a:latin typeface="Times New Roman"/>
                  <a:cs typeface="Times New Roman"/>
                </a:rPr>
                <a:t> </a:t>
              </a:r>
              <a:r>
                <a:rPr lang="es-ES" sz="1800" dirty="0">
                  <a:latin typeface="Calibri"/>
                  <a:cs typeface="Calibri"/>
                </a:rPr>
                <a:t>=</a:t>
              </a:r>
              <a:r>
                <a:rPr lang="es-ES" sz="1800" spc="-60" dirty="0">
                  <a:latin typeface="Times New Roman"/>
                  <a:cs typeface="Times New Roman"/>
                </a:rPr>
                <a:t> </a:t>
              </a:r>
              <a:r>
                <a:rPr lang="es-ES" spc="-60" dirty="0">
                  <a:latin typeface="Calibri"/>
                  <a:cs typeface="Calibri"/>
                </a:rPr>
                <a:t>-</a:t>
              </a:r>
              <a:r>
                <a:rPr lang="es-ES" sz="1800" spc="-15" dirty="0">
                  <a:latin typeface="Calibri"/>
                  <a:cs typeface="Calibri"/>
                </a:rPr>
                <a:t>1</a:t>
              </a:r>
              <a:endParaRPr lang="es-ES" sz="1800" dirty="0">
                <a:latin typeface="Calibri"/>
                <a:cs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6041" y="253487"/>
            <a:ext cx="7411720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3255" marR="5080" indent="-631190">
              <a:lnSpc>
                <a:spcPct val="100000"/>
              </a:lnSpc>
            </a:pPr>
            <a:r>
              <a:rPr sz="4000" b="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</a:t>
            </a:r>
            <a:r>
              <a:rPr sz="4000" b="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4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4000" b="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0" spc="-5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4000" b="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</a:t>
            </a:r>
            <a:r>
              <a:rPr sz="4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4000" b="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4000" b="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</a:t>
            </a:r>
            <a:r>
              <a:rPr sz="4000" b="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4000" b="0" spc="2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4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4000" b="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sz="4000" b="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4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fier </a:t>
            </a:r>
            <a:r>
              <a:rPr sz="4000" b="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4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4000" b="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4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4000" b="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induce</a:t>
            </a:r>
            <a:r>
              <a:rPr sz="4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4000" b="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1459" y="2493282"/>
            <a:ext cx="8892539" cy="30953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3000" y="483234"/>
            <a:ext cx="6858000" cy="1015663"/>
          </a:xfrm>
          <a:prstGeom prst="rect">
            <a:avLst/>
          </a:prstGeom>
        </p:spPr>
        <p:txBody>
          <a:bodyPr vert="horz" wrap="square" lIns="0" tIns="335280" rIns="0" bIns="0" rtlCol="0">
            <a:spAutoFit/>
          </a:bodyPr>
          <a:lstStyle/>
          <a:p>
            <a:pPr marL="912494">
              <a:lnSpc>
                <a:spcPct val="100000"/>
              </a:lnSpc>
            </a:pPr>
            <a:r>
              <a:rPr spc="-5" dirty="0"/>
              <a:t>Subsamplin</a:t>
            </a:r>
            <a:r>
              <a:rPr dirty="0"/>
              <a:t>g</a:t>
            </a:r>
            <a:r>
              <a:rPr spc="70" dirty="0">
                <a:latin typeface="Times New Roman"/>
                <a:cs typeface="Times New Roman"/>
              </a:rPr>
              <a:t> </a:t>
            </a:r>
            <a:r>
              <a:rPr spc="-5" dirty="0"/>
              <a:t>optimality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870396"/>
            <a:ext cx="8031480" cy="2490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b="1" dirty="0">
                <a:latin typeface="Segoe UI"/>
                <a:cs typeface="Segoe UI"/>
              </a:rPr>
              <a:t>Theo</a:t>
            </a:r>
            <a:r>
              <a:rPr sz="3200" b="1" spc="-15" dirty="0">
                <a:latin typeface="Segoe UI"/>
                <a:cs typeface="Segoe UI"/>
              </a:rPr>
              <a:t>r</a:t>
            </a:r>
            <a:r>
              <a:rPr sz="3200" b="1" dirty="0">
                <a:latin typeface="Segoe UI"/>
                <a:cs typeface="Segoe UI"/>
              </a:rPr>
              <a:t>em:</a:t>
            </a:r>
            <a:r>
              <a:rPr sz="3200" b="1" spc="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Segoe UI"/>
                <a:cs typeface="Segoe UI"/>
              </a:rPr>
              <a:t>I</a:t>
            </a:r>
            <a:r>
              <a:rPr sz="3200" dirty="0">
                <a:latin typeface="Segoe UI"/>
                <a:cs typeface="Segoe UI"/>
              </a:rPr>
              <a:t>f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Segoe UI"/>
                <a:cs typeface="Segoe UI"/>
              </a:rPr>
              <a:t>t</a:t>
            </a:r>
            <a:r>
              <a:rPr sz="3200" dirty="0">
                <a:latin typeface="Segoe UI"/>
                <a:cs typeface="Segoe UI"/>
              </a:rPr>
              <a:t>he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bina</a:t>
            </a:r>
            <a:r>
              <a:rPr sz="3200" spc="135" dirty="0">
                <a:latin typeface="Segoe UI"/>
                <a:cs typeface="Segoe UI"/>
              </a:rPr>
              <a:t>r</a:t>
            </a:r>
            <a:r>
              <a:rPr sz="3200" dirty="0">
                <a:latin typeface="Segoe UI"/>
                <a:cs typeface="Segoe UI"/>
              </a:rPr>
              <a:t>y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classifier</a:t>
            </a:r>
            <a:r>
              <a:rPr sz="3200" spc="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achie</a:t>
            </a:r>
            <a:r>
              <a:rPr sz="3200" spc="-25" dirty="0">
                <a:latin typeface="Segoe UI"/>
                <a:cs typeface="Segoe UI"/>
              </a:rPr>
              <a:t>v</a:t>
            </a:r>
            <a:r>
              <a:rPr sz="3200" dirty="0">
                <a:latin typeface="Segoe UI"/>
                <a:cs typeface="Segoe UI"/>
              </a:rPr>
              <a:t>es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a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bina</a:t>
            </a:r>
            <a:r>
              <a:rPr sz="3200" spc="135" dirty="0">
                <a:latin typeface="Segoe UI"/>
                <a:cs typeface="Segoe UI"/>
              </a:rPr>
              <a:t>r</a:t>
            </a:r>
            <a:r>
              <a:rPr sz="3200" dirty="0">
                <a:latin typeface="Segoe UI"/>
                <a:cs typeface="Segoe UI"/>
              </a:rPr>
              <a:t>y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er</a:t>
            </a:r>
            <a:r>
              <a:rPr sz="3200" spc="-25" dirty="0">
                <a:latin typeface="Segoe UI"/>
                <a:cs typeface="Segoe UI"/>
              </a:rPr>
              <a:t>r</a:t>
            </a:r>
            <a:r>
              <a:rPr sz="3200" dirty="0">
                <a:latin typeface="Segoe UI"/>
                <a:cs typeface="Segoe UI"/>
              </a:rPr>
              <a:t>or</a:t>
            </a:r>
            <a:r>
              <a:rPr sz="3200" spc="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ra</a:t>
            </a:r>
            <a:r>
              <a:rPr sz="3200" spc="-25" dirty="0">
                <a:latin typeface="Segoe UI"/>
                <a:cs typeface="Segoe UI"/>
              </a:rPr>
              <a:t>t</a:t>
            </a:r>
            <a:r>
              <a:rPr sz="3200" dirty="0">
                <a:latin typeface="Segoe UI"/>
                <a:cs typeface="Segoe UI"/>
              </a:rPr>
              <a:t>e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Segoe UI"/>
                <a:cs typeface="Segoe UI"/>
              </a:rPr>
              <a:t>o</a:t>
            </a:r>
            <a:r>
              <a:rPr sz="3200" dirty="0">
                <a:latin typeface="Segoe UI"/>
                <a:cs typeface="Segoe UI"/>
              </a:rPr>
              <a:t>f</a:t>
            </a:r>
            <a:r>
              <a:rPr sz="3200" spc="5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Segoe UI"/>
                <a:cs typeface="Segoe UI"/>
              </a:rPr>
              <a:t>ε</a:t>
            </a:r>
            <a:r>
              <a:rPr sz="3200" dirty="0">
                <a:latin typeface="Segoe UI"/>
                <a:cs typeface="Segoe UI"/>
              </a:rPr>
              <a:t>,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t</a:t>
            </a:r>
            <a:r>
              <a:rPr sz="3200" spc="-15" dirty="0">
                <a:latin typeface="Segoe UI"/>
                <a:cs typeface="Segoe UI"/>
              </a:rPr>
              <a:t>h</a:t>
            </a:r>
            <a:r>
              <a:rPr sz="3200" dirty="0">
                <a:latin typeface="Segoe UI"/>
                <a:cs typeface="Segoe UI"/>
              </a:rPr>
              <a:t>en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t</a:t>
            </a:r>
            <a:r>
              <a:rPr sz="3200" spc="-15" dirty="0">
                <a:latin typeface="Segoe UI"/>
                <a:cs typeface="Segoe UI"/>
              </a:rPr>
              <a:t>h</a:t>
            </a:r>
            <a:r>
              <a:rPr sz="3200" dirty="0">
                <a:latin typeface="Segoe UI"/>
                <a:cs typeface="Segoe UI"/>
              </a:rPr>
              <a:t>e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er</a:t>
            </a:r>
            <a:r>
              <a:rPr sz="3200" spc="-30" dirty="0">
                <a:latin typeface="Segoe UI"/>
                <a:cs typeface="Segoe UI"/>
              </a:rPr>
              <a:t>r</a:t>
            </a:r>
            <a:r>
              <a:rPr sz="3200" dirty="0">
                <a:latin typeface="Segoe UI"/>
                <a:cs typeface="Segoe UI"/>
              </a:rPr>
              <a:t>or</a:t>
            </a:r>
            <a:r>
              <a:rPr sz="3200" spc="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ra</a:t>
            </a:r>
            <a:r>
              <a:rPr sz="3200" spc="-35" dirty="0">
                <a:latin typeface="Segoe UI"/>
                <a:cs typeface="Segoe UI"/>
              </a:rPr>
              <a:t>t</a:t>
            </a:r>
            <a:r>
              <a:rPr sz="3200" dirty="0">
                <a:latin typeface="Segoe UI"/>
                <a:cs typeface="Segoe UI"/>
              </a:rPr>
              <a:t>e</a:t>
            </a:r>
            <a:r>
              <a:rPr sz="3200" spc="65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Segoe UI"/>
                <a:cs typeface="Segoe UI"/>
              </a:rPr>
              <a:t>o</a:t>
            </a:r>
            <a:r>
              <a:rPr sz="3200" dirty="0">
                <a:latin typeface="Segoe UI"/>
                <a:cs typeface="Segoe UI"/>
              </a:rPr>
              <a:t>f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the</a:t>
            </a:r>
            <a:r>
              <a:rPr sz="3200" spc="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α-</a:t>
            </a:r>
            <a:r>
              <a:rPr sz="3200" spc="-15" dirty="0">
                <a:latin typeface="Segoe UI"/>
                <a:cs typeface="Segoe UI"/>
              </a:rPr>
              <a:t>w</a:t>
            </a:r>
            <a:r>
              <a:rPr sz="3200" dirty="0">
                <a:latin typeface="Segoe UI"/>
                <a:cs typeface="Segoe UI"/>
              </a:rPr>
              <a:t>eigh</a:t>
            </a:r>
            <a:r>
              <a:rPr sz="3200" spc="-30" dirty="0">
                <a:latin typeface="Segoe UI"/>
                <a:cs typeface="Segoe UI"/>
              </a:rPr>
              <a:t>t</a:t>
            </a:r>
            <a:r>
              <a:rPr sz="3200" dirty="0">
                <a:latin typeface="Segoe UI"/>
                <a:cs typeface="Segoe UI"/>
              </a:rPr>
              <a:t>ed</a:t>
            </a:r>
            <a:r>
              <a:rPr sz="3200" spc="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classifier</a:t>
            </a:r>
            <a:r>
              <a:rPr sz="3200" spc="5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Segoe UI"/>
                <a:cs typeface="Segoe UI"/>
              </a:rPr>
              <a:t>i</a:t>
            </a:r>
            <a:r>
              <a:rPr sz="3200" dirty="0">
                <a:latin typeface="Segoe UI"/>
                <a:cs typeface="Segoe UI"/>
              </a:rPr>
              <a:t>s</a:t>
            </a:r>
            <a:r>
              <a:rPr sz="3200" spc="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α</a:t>
            </a:r>
            <a:r>
              <a:rPr sz="3200" spc="-15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ε</a:t>
            </a:r>
          </a:p>
          <a:p>
            <a:pPr marL="12700">
              <a:lnSpc>
                <a:spcPct val="100000"/>
              </a:lnSpc>
              <a:tabLst>
                <a:tab pos="355600" algn="l"/>
              </a:tabLst>
            </a:pPr>
            <a:endParaRPr sz="3200" dirty="0">
              <a:latin typeface="Segoe UI"/>
              <a:cs typeface="Segoe UI"/>
            </a:endParaRPr>
          </a:p>
          <a:p>
            <a:pPr marL="469900">
              <a:lnSpc>
                <a:spcPct val="100000"/>
              </a:lnSpc>
              <a:spcBef>
                <a:spcPts val="675"/>
              </a:spcBef>
            </a:pPr>
            <a:r>
              <a:rPr sz="2800" spc="-15" dirty="0">
                <a:latin typeface="Segoe UI"/>
                <a:cs typeface="Segoe UI"/>
              </a:rPr>
              <a:t>(see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Segoe UI"/>
                <a:cs typeface="Segoe UI"/>
              </a:rPr>
              <a:t>CIM</a:t>
            </a:r>
            <a:r>
              <a:rPr sz="2800" spc="-15" dirty="0">
                <a:latin typeface="Segoe UI"/>
                <a:cs typeface="Segoe UI"/>
              </a:rPr>
              <a:t>L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Segoe UI"/>
                <a:cs typeface="Segoe UI"/>
              </a:rPr>
              <a:t>6</a:t>
            </a:r>
            <a:r>
              <a:rPr sz="2800" spc="-5" dirty="0">
                <a:latin typeface="Segoe UI"/>
                <a:cs typeface="Segoe UI"/>
              </a:rPr>
              <a:t>.</a:t>
            </a:r>
            <a:r>
              <a:rPr sz="2800" spc="-20" dirty="0">
                <a:latin typeface="Segoe UI"/>
                <a:cs typeface="Segoe UI"/>
              </a:rPr>
              <a:t>1</a:t>
            </a:r>
            <a:r>
              <a:rPr lang="en-US" sz="2800" spc="-20" dirty="0">
                <a:latin typeface="Segoe UI"/>
                <a:cs typeface="Segoe UI"/>
              </a:rPr>
              <a:t> for proof</a:t>
            </a:r>
            <a:r>
              <a:rPr sz="2800" spc="-20" dirty="0">
                <a:latin typeface="Segoe UI"/>
                <a:cs typeface="Segoe UI"/>
              </a:rPr>
              <a:t>)</a:t>
            </a:r>
            <a:endParaRPr sz="280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483234"/>
            <a:ext cx="7772400" cy="1354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11300" marR="5080" indent="-1266825">
              <a:lnSpc>
                <a:spcPct val="100000"/>
              </a:lnSpc>
            </a:pPr>
            <a:r>
              <a:rPr spc="-5" dirty="0"/>
              <a:t>Strat</a:t>
            </a:r>
            <a:r>
              <a:rPr spc="-15" dirty="0"/>
              <a:t>e</a:t>
            </a:r>
            <a:r>
              <a:rPr spc="-5" dirty="0"/>
              <a:t>gie</a:t>
            </a:r>
            <a:r>
              <a:rPr dirty="0"/>
              <a:t>s</a:t>
            </a:r>
            <a:r>
              <a:rPr spc="105" dirty="0">
                <a:latin typeface="Times New Roman"/>
                <a:cs typeface="Times New Roman"/>
              </a:rPr>
              <a:t> </a:t>
            </a:r>
            <a:r>
              <a:rPr dirty="0"/>
              <a:t>for</a:t>
            </a:r>
            <a:r>
              <a:rPr spc="100" dirty="0">
                <a:latin typeface="Times New Roman"/>
                <a:cs typeface="Times New Roman"/>
              </a:rPr>
              <a:t> </a:t>
            </a:r>
            <a:r>
              <a:rPr spc="-15" dirty="0"/>
              <a:t>i</a:t>
            </a:r>
            <a:r>
              <a:rPr spc="-5" dirty="0"/>
              <a:t>nducin</a:t>
            </a:r>
            <a:r>
              <a:rPr dirty="0"/>
              <a:t>g</a:t>
            </a:r>
            <a:r>
              <a:rPr spc="65" dirty="0">
                <a:latin typeface="Times New Roman"/>
                <a:cs typeface="Times New Roman"/>
              </a:rPr>
              <a:t> </a:t>
            </a:r>
            <a:r>
              <a:rPr dirty="0"/>
              <a:t>a</a:t>
            </a:r>
            <a:r>
              <a:rPr spc="105" dirty="0">
                <a:latin typeface="Times New Roman"/>
                <a:cs typeface="Times New Roman"/>
              </a:rPr>
              <a:t> </a:t>
            </a:r>
            <a:r>
              <a:rPr spc="-5" dirty="0"/>
              <a:t>new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spc="-5" dirty="0"/>
              <a:t>bina</a:t>
            </a:r>
            <a:r>
              <a:rPr spc="254" dirty="0"/>
              <a:t>r</a:t>
            </a:r>
            <a:r>
              <a:rPr dirty="0"/>
              <a:t>y</a:t>
            </a:r>
            <a:r>
              <a:rPr spc="105" dirty="0">
                <a:latin typeface="Times New Roman"/>
                <a:cs typeface="Times New Roman"/>
              </a:rPr>
              <a:t> </a:t>
            </a:r>
            <a:r>
              <a:rPr spc="-5" dirty="0"/>
              <a:t>distr</a:t>
            </a:r>
            <a:r>
              <a:rPr spc="-15" dirty="0"/>
              <a:t>i</a:t>
            </a:r>
            <a:r>
              <a:rPr spc="-5" dirty="0"/>
              <a:t>bution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4" y="2870396"/>
            <a:ext cx="6039485" cy="433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Unde</a:t>
            </a:r>
            <a:r>
              <a:rPr sz="3200" spc="30" dirty="0">
                <a:latin typeface="Segoe UI"/>
                <a:cs typeface="Segoe UI"/>
              </a:rPr>
              <a:t>r</a:t>
            </a:r>
            <a:r>
              <a:rPr sz="3200" spc="-5" dirty="0">
                <a:latin typeface="Segoe UI"/>
                <a:cs typeface="Segoe UI"/>
              </a:rPr>
              <a:t>sam</a:t>
            </a:r>
            <a:r>
              <a:rPr sz="3200" spc="5" dirty="0">
                <a:latin typeface="Segoe UI"/>
                <a:cs typeface="Segoe UI"/>
              </a:rPr>
              <a:t>p</a:t>
            </a:r>
            <a:r>
              <a:rPr sz="3200" spc="-5" dirty="0">
                <a:latin typeface="Segoe UI"/>
                <a:cs typeface="Segoe UI"/>
              </a:rPr>
              <a:t>l</a:t>
            </a:r>
            <a:r>
              <a:rPr sz="3200" dirty="0">
                <a:latin typeface="Segoe UI"/>
                <a:cs typeface="Segoe UI"/>
              </a:rPr>
              <a:t>e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the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n</a:t>
            </a:r>
            <a:r>
              <a:rPr sz="3200" spc="5" dirty="0">
                <a:latin typeface="Segoe UI"/>
                <a:cs typeface="Segoe UI"/>
              </a:rPr>
              <a:t>e</a:t>
            </a:r>
            <a:r>
              <a:rPr sz="3200" dirty="0">
                <a:latin typeface="Segoe UI"/>
                <a:cs typeface="Segoe UI"/>
              </a:rPr>
              <a:t>gati</a:t>
            </a:r>
            <a:r>
              <a:rPr sz="3200" spc="-30" dirty="0">
                <a:latin typeface="Segoe UI"/>
                <a:cs typeface="Segoe UI"/>
              </a:rPr>
              <a:t>v</a:t>
            </a:r>
            <a:r>
              <a:rPr sz="3200" dirty="0">
                <a:latin typeface="Segoe UI"/>
                <a:cs typeface="Segoe UI"/>
              </a:rPr>
              <a:t>e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Segoe UI"/>
                <a:cs typeface="Segoe UI"/>
              </a:rPr>
              <a:t>c</a:t>
            </a:r>
            <a:r>
              <a:rPr sz="3200" spc="-5" dirty="0">
                <a:latin typeface="Segoe UI"/>
                <a:cs typeface="Segoe UI"/>
              </a:rPr>
              <a:t>lass</a:t>
            </a:r>
            <a:endParaRPr sz="32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4" y="4553160"/>
            <a:ext cx="5654040" cy="433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O</a:t>
            </a:r>
            <a:r>
              <a:rPr sz="3200" spc="-25" dirty="0">
                <a:latin typeface="Segoe UI"/>
                <a:cs typeface="Segoe UI"/>
              </a:rPr>
              <a:t>v</a:t>
            </a:r>
            <a:r>
              <a:rPr sz="3200" dirty="0">
                <a:latin typeface="Segoe UI"/>
                <a:cs typeface="Segoe UI"/>
              </a:rPr>
              <a:t>e</a:t>
            </a:r>
            <a:r>
              <a:rPr sz="3200" spc="30" dirty="0">
                <a:latin typeface="Segoe UI"/>
                <a:cs typeface="Segoe UI"/>
              </a:rPr>
              <a:t>r</a:t>
            </a:r>
            <a:r>
              <a:rPr sz="3200" spc="-5" dirty="0">
                <a:latin typeface="Segoe UI"/>
                <a:cs typeface="Segoe UI"/>
              </a:rPr>
              <a:t>sam</a:t>
            </a:r>
            <a:r>
              <a:rPr sz="3200" spc="5" dirty="0">
                <a:latin typeface="Segoe UI"/>
                <a:cs typeface="Segoe UI"/>
              </a:rPr>
              <a:t>p</a:t>
            </a:r>
            <a:r>
              <a:rPr sz="3200" spc="-5" dirty="0">
                <a:latin typeface="Segoe UI"/>
                <a:cs typeface="Segoe UI"/>
              </a:rPr>
              <a:t>l</a:t>
            </a:r>
            <a:r>
              <a:rPr sz="3200" dirty="0">
                <a:latin typeface="Segoe UI"/>
                <a:cs typeface="Segoe UI"/>
              </a:rPr>
              <a:t>e</a:t>
            </a:r>
            <a:r>
              <a:rPr sz="3200" spc="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the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positi</a:t>
            </a:r>
            <a:r>
              <a:rPr sz="3200" spc="-20" dirty="0">
                <a:latin typeface="Segoe UI"/>
                <a:cs typeface="Segoe UI"/>
              </a:rPr>
              <a:t>v</a:t>
            </a:r>
            <a:r>
              <a:rPr sz="3200" dirty="0">
                <a:latin typeface="Segoe UI"/>
                <a:cs typeface="Segoe UI"/>
              </a:rPr>
              <a:t>e</a:t>
            </a:r>
            <a:r>
              <a:rPr sz="3200" spc="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class</a:t>
            </a:r>
            <a:endParaRPr sz="3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483234"/>
            <a:ext cx="7391400" cy="1354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11300" marR="5080" indent="-1266825">
              <a:lnSpc>
                <a:spcPct val="100000"/>
              </a:lnSpc>
            </a:pPr>
            <a:r>
              <a:rPr spc="-5" dirty="0"/>
              <a:t>Strat</a:t>
            </a:r>
            <a:r>
              <a:rPr spc="-15" dirty="0"/>
              <a:t>e</a:t>
            </a:r>
            <a:r>
              <a:rPr spc="-5" dirty="0"/>
              <a:t>gie</a:t>
            </a:r>
            <a:r>
              <a:rPr dirty="0"/>
              <a:t>s</a:t>
            </a:r>
            <a:r>
              <a:rPr spc="105" dirty="0">
                <a:latin typeface="Times New Roman"/>
                <a:cs typeface="Times New Roman"/>
              </a:rPr>
              <a:t> </a:t>
            </a:r>
            <a:r>
              <a:rPr dirty="0"/>
              <a:t>for</a:t>
            </a:r>
            <a:r>
              <a:rPr spc="100" dirty="0">
                <a:latin typeface="Times New Roman"/>
                <a:cs typeface="Times New Roman"/>
              </a:rPr>
              <a:t> </a:t>
            </a:r>
            <a:r>
              <a:rPr spc="-15" dirty="0"/>
              <a:t>i</a:t>
            </a:r>
            <a:r>
              <a:rPr spc="-5" dirty="0"/>
              <a:t>nducin</a:t>
            </a:r>
            <a:r>
              <a:rPr dirty="0"/>
              <a:t>g</a:t>
            </a:r>
            <a:r>
              <a:rPr spc="65" dirty="0">
                <a:latin typeface="Times New Roman"/>
                <a:cs typeface="Times New Roman"/>
              </a:rPr>
              <a:t> </a:t>
            </a:r>
            <a:r>
              <a:rPr dirty="0"/>
              <a:t>a</a:t>
            </a:r>
            <a:r>
              <a:rPr spc="105" dirty="0">
                <a:latin typeface="Times New Roman"/>
                <a:cs typeface="Times New Roman"/>
              </a:rPr>
              <a:t> </a:t>
            </a:r>
            <a:r>
              <a:rPr spc="-5" dirty="0"/>
              <a:t>new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spc="-5" dirty="0"/>
              <a:t>bina</a:t>
            </a:r>
            <a:r>
              <a:rPr spc="254" dirty="0"/>
              <a:t>r</a:t>
            </a:r>
            <a:r>
              <a:rPr dirty="0"/>
              <a:t>y</a:t>
            </a:r>
            <a:r>
              <a:rPr spc="105" dirty="0">
                <a:latin typeface="Times New Roman"/>
                <a:cs typeface="Times New Roman"/>
              </a:rPr>
              <a:t> </a:t>
            </a:r>
            <a:r>
              <a:rPr spc="-5" dirty="0"/>
              <a:t>distr</a:t>
            </a:r>
            <a:r>
              <a:rPr spc="-15" dirty="0"/>
              <a:t>i</a:t>
            </a:r>
            <a:r>
              <a:rPr spc="-5" dirty="0"/>
              <a:t>bution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3" y="2285180"/>
            <a:ext cx="7804150" cy="3835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Unde</a:t>
            </a:r>
            <a:r>
              <a:rPr sz="3200" spc="30" dirty="0">
                <a:latin typeface="Segoe UI"/>
                <a:cs typeface="Segoe UI"/>
              </a:rPr>
              <a:t>r</a:t>
            </a:r>
            <a:r>
              <a:rPr sz="3200" spc="-5" dirty="0">
                <a:latin typeface="Segoe UI"/>
                <a:cs typeface="Segoe UI"/>
              </a:rPr>
              <a:t>sam</a:t>
            </a:r>
            <a:r>
              <a:rPr sz="3200" spc="5" dirty="0">
                <a:latin typeface="Segoe UI"/>
                <a:cs typeface="Segoe UI"/>
              </a:rPr>
              <a:t>p</a:t>
            </a:r>
            <a:r>
              <a:rPr sz="3200" spc="-5" dirty="0">
                <a:latin typeface="Segoe UI"/>
                <a:cs typeface="Segoe UI"/>
              </a:rPr>
              <a:t>l</a:t>
            </a:r>
            <a:r>
              <a:rPr sz="3200" dirty="0">
                <a:latin typeface="Segoe UI"/>
                <a:cs typeface="Segoe UI"/>
              </a:rPr>
              <a:t>e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the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n</a:t>
            </a:r>
            <a:r>
              <a:rPr sz="3200" spc="5" dirty="0">
                <a:latin typeface="Segoe UI"/>
                <a:cs typeface="Segoe UI"/>
              </a:rPr>
              <a:t>e</a:t>
            </a:r>
            <a:r>
              <a:rPr sz="3200" dirty="0">
                <a:latin typeface="Segoe UI"/>
                <a:cs typeface="Segoe UI"/>
              </a:rPr>
              <a:t>gati</a:t>
            </a:r>
            <a:r>
              <a:rPr sz="3200" spc="-30" dirty="0">
                <a:latin typeface="Segoe UI"/>
                <a:cs typeface="Segoe UI"/>
              </a:rPr>
              <a:t>v</a:t>
            </a:r>
            <a:r>
              <a:rPr sz="3200" dirty="0">
                <a:latin typeface="Segoe UI"/>
                <a:cs typeface="Segoe UI"/>
              </a:rPr>
              <a:t>e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Segoe UI"/>
                <a:cs typeface="Segoe UI"/>
              </a:rPr>
              <a:t>c</a:t>
            </a:r>
            <a:r>
              <a:rPr sz="3200" spc="-5" dirty="0">
                <a:latin typeface="Segoe UI"/>
                <a:cs typeface="Segoe UI"/>
              </a:rPr>
              <a:t>lass</a:t>
            </a:r>
            <a:endParaRPr sz="3200" dirty="0">
              <a:latin typeface="Segoe UI"/>
              <a:cs typeface="Segoe UI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25" dirty="0">
                <a:latin typeface="Segoe UI"/>
                <a:cs typeface="Segoe UI"/>
              </a:rPr>
              <a:t>Mo</a:t>
            </a:r>
            <a:r>
              <a:rPr sz="2800" spc="-45" dirty="0">
                <a:latin typeface="Segoe UI"/>
                <a:cs typeface="Segoe UI"/>
              </a:rPr>
              <a:t>r</a:t>
            </a:r>
            <a:r>
              <a:rPr sz="2800" spc="-15" dirty="0">
                <a:latin typeface="Segoe UI"/>
                <a:cs typeface="Segoe UI"/>
              </a:rPr>
              <a:t>e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co</a:t>
            </a:r>
            <a:r>
              <a:rPr sz="2800" spc="-25" dirty="0">
                <a:latin typeface="Segoe UI"/>
                <a:cs typeface="Segoe UI"/>
              </a:rPr>
              <a:t>mput</a:t>
            </a:r>
            <a:r>
              <a:rPr sz="2800" spc="-5" dirty="0">
                <a:latin typeface="Segoe UI"/>
                <a:cs typeface="Segoe UI"/>
              </a:rPr>
              <a:t>a</a:t>
            </a:r>
            <a:r>
              <a:rPr sz="2800" spc="-15" dirty="0">
                <a:latin typeface="Segoe UI"/>
                <a:cs typeface="Segoe UI"/>
              </a:rPr>
              <a:t>tionally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efficient</a:t>
            </a:r>
            <a:endParaRPr sz="2800" dirty="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O</a:t>
            </a:r>
            <a:r>
              <a:rPr sz="3200" spc="-30" dirty="0">
                <a:latin typeface="Segoe UI"/>
                <a:cs typeface="Segoe UI"/>
              </a:rPr>
              <a:t>v</a:t>
            </a:r>
            <a:r>
              <a:rPr sz="3200" dirty="0">
                <a:latin typeface="Segoe UI"/>
                <a:cs typeface="Segoe UI"/>
              </a:rPr>
              <a:t>e</a:t>
            </a:r>
            <a:r>
              <a:rPr sz="3200" spc="30" dirty="0">
                <a:latin typeface="Segoe UI"/>
                <a:cs typeface="Segoe UI"/>
              </a:rPr>
              <a:t>r</a:t>
            </a:r>
            <a:r>
              <a:rPr sz="3200" spc="-5" dirty="0">
                <a:latin typeface="Segoe UI"/>
                <a:cs typeface="Segoe UI"/>
              </a:rPr>
              <a:t>sampl</a:t>
            </a:r>
            <a:r>
              <a:rPr sz="3200" dirty="0">
                <a:latin typeface="Segoe UI"/>
                <a:cs typeface="Segoe UI"/>
              </a:rPr>
              <a:t>e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the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positi</a:t>
            </a:r>
            <a:r>
              <a:rPr sz="3200" spc="-30" dirty="0">
                <a:latin typeface="Segoe UI"/>
                <a:cs typeface="Segoe UI"/>
              </a:rPr>
              <a:t>v</a:t>
            </a:r>
            <a:r>
              <a:rPr sz="3200" dirty="0">
                <a:latin typeface="Segoe UI"/>
                <a:cs typeface="Segoe UI"/>
              </a:rPr>
              <a:t>e</a:t>
            </a:r>
            <a:r>
              <a:rPr sz="3200" spc="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class</a:t>
            </a:r>
          </a:p>
          <a:p>
            <a:pPr marL="756285" marR="480695" lvl="1" indent="-28638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25" dirty="0">
                <a:latin typeface="Segoe UI"/>
                <a:cs typeface="Segoe UI"/>
              </a:rPr>
              <a:t>B</a:t>
            </a:r>
            <a:r>
              <a:rPr sz="2800" spc="-10" dirty="0">
                <a:latin typeface="Segoe UI"/>
                <a:cs typeface="Segoe UI"/>
              </a:rPr>
              <a:t>a</a:t>
            </a:r>
            <a:r>
              <a:rPr sz="2800" spc="-20" dirty="0">
                <a:latin typeface="Segoe UI"/>
                <a:cs typeface="Segoe UI"/>
              </a:rPr>
              <a:t>s</a:t>
            </a:r>
            <a:r>
              <a:rPr sz="2800" spc="-15" dirty="0">
                <a:latin typeface="Segoe UI"/>
                <a:cs typeface="Segoe UI"/>
              </a:rPr>
              <a:t>e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bina</a:t>
            </a:r>
            <a:r>
              <a:rPr sz="2800" spc="95" dirty="0">
                <a:latin typeface="Segoe UI"/>
                <a:cs typeface="Segoe UI"/>
              </a:rPr>
              <a:t>r</a:t>
            </a:r>
            <a:r>
              <a:rPr sz="2800" spc="-15" dirty="0">
                <a:latin typeface="Segoe UI"/>
                <a:cs typeface="Segoe UI"/>
              </a:rPr>
              <a:t>y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classif</a:t>
            </a:r>
            <a:r>
              <a:rPr sz="2800" spc="-20" dirty="0">
                <a:latin typeface="Segoe UI"/>
                <a:cs typeface="Segoe UI"/>
              </a:rPr>
              <a:t>i</a:t>
            </a:r>
            <a:r>
              <a:rPr sz="2800" spc="-15" dirty="0">
                <a:latin typeface="Segoe UI"/>
                <a:cs typeface="Segoe UI"/>
              </a:rPr>
              <a:t>er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Segoe UI"/>
                <a:cs typeface="Segoe UI"/>
              </a:rPr>
              <a:t>migh</a:t>
            </a:r>
            <a:r>
              <a:rPr sz="2800" spc="-10" dirty="0">
                <a:latin typeface="Segoe UI"/>
                <a:cs typeface="Segoe UI"/>
              </a:rPr>
              <a:t>t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Segoe UI"/>
                <a:cs typeface="Segoe UI"/>
              </a:rPr>
              <a:t>do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bet</a:t>
            </a:r>
            <a:r>
              <a:rPr sz="2800" spc="-45" dirty="0">
                <a:latin typeface="Segoe UI"/>
                <a:cs typeface="Segoe UI"/>
              </a:rPr>
              <a:t>t</a:t>
            </a:r>
            <a:r>
              <a:rPr sz="2800" spc="-15" dirty="0">
                <a:latin typeface="Segoe UI"/>
                <a:cs typeface="Segoe UI"/>
              </a:rPr>
              <a:t>er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Segoe UI"/>
                <a:cs typeface="Segoe UI"/>
              </a:rPr>
              <a:t>wi</a:t>
            </a:r>
            <a:r>
              <a:rPr sz="2800" spc="-15" dirty="0">
                <a:latin typeface="Segoe UI"/>
                <a:cs typeface="Segoe UI"/>
              </a:rPr>
              <a:t>th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Segoe UI"/>
                <a:cs typeface="Segoe UI"/>
              </a:rPr>
              <a:t>m</a:t>
            </a:r>
            <a:r>
              <a:rPr sz="2800" spc="-15" dirty="0">
                <a:latin typeface="Segoe UI"/>
                <a:cs typeface="Segoe UI"/>
              </a:rPr>
              <a:t>o</a:t>
            </a:r>
            <a:r>
              <a:rPr sz="2800" spc="-50" dirty="0">
                <a:latin typeface="Segoe UI"/>
                <a:cs typeface="Segoe UI"/>
              </a:rPr>
              <a:t>r</a:t>
            </a:r>
            <a:r>
              <a:rPr sz="2800" spc="-15" dirty="0">
                <a:latin typeface="Segoe UI"/>
                <a:cs typeface="Segoe UI"/>
              </a:rPr>
              <a:t>e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training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exa</a:t>
            </a:r>
            <a:r>
              <a:rPr sz="2800" spc="-20" dirty="0">
                <a:latin typeface="Segoe UI"/>
                <a:cs typeface="Segoe UI"/>
              </a:rPr>
              <a:t>m</a:t>
            </a:r>
            <a:r>
              <a:rPr sz="2800" spc="-15" dirty="0">
                <a:latin typeface="Segoe UI"/>
                <a:cs typeface="Segoe UI"/>
              </a:rPr>
              <a:t>ples</a:t>
            </a:r>
            <a:endParaRPr sz="2800" dirty="0">
              <a:latin typeface="Segoe UI"/>
              <a:cs typeface="Segoe UI"/>
            </a:endParaRPr>
          </a:p>
          <a:p>
            <a:pPr marL="756285" marR="5080" lvl="1" indent="-286385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5" dirty="0">
                <a:latin typeface="Segoe UI"/>
                <a:cs typeface="Segoe UI"/>
              </a:rPr>
              <a:t>Efficient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Segoe UI"/>
                <a:cs typeface="Segoe UI"/>
              </a:rPr>
              <a:t>imp</a:t>
            </a:r>
            <a:r>
              <a:rPr sz="2800" spc="-20" dirty="0">
                <a:latin typeface="Segoe UI"/>
                <a:cs typeface="Segoe UI"/>
              </a:rPr>
              <a:t>l</a:t>
            </a:r>
            <a:r>
              <a:rPr sz="2800" spc="-15" dirty="0">
                <a:latin typeface="Segoe UI"/>
                <a:cs typeface="Segoe UI"/>
              </a:rPr>
              <a:t>ementations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Segoe UI"/>
                <a:cs typeface="Segoe UI"/>
              </a:rPr>
              <a:t>incorpora</a:t>
            </a:r>
            <a:r>
              <a:rPr sz="2800" spc="-25" dirty="0">
                <a:latin typeface="Segoe UI"/>
                <a:cs typeface="Segoe UI"/>
              </a:rPr>
              <a:t>t</a:t>
            </a:r>
            <a:r>
              <a:rPr sz="2800" spc="-15" dirty="0">
                <a:latin typeface="Segoe UI"/>
                <a:cs typeface="Segoe UI"/>
              </a:rPr>
              <a:t>e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spc="-45" dirty="0">
                <a:latin typeface="Segoe UI"/>
                <a:cs typeface="Segoe UI"/>
              </a:rPr>
              <a:t>w</a:t>
            </a:r>
            <a:r>
              <a:rPr sz="2800" spc="-15" dirty="0">
                <a:latin typeface="Segoe UI"/>
                <a:cs typeface="Segoe UI"/>
              </a:rPr>
              <a:t>ei</a:t>
            </a:r>
            <a:r>
              <a:rPr sz="2800" spc="-30" dirty="0">
                <a:latin typeface="Segoe UI"/>
                <a:cs typeface="Segoe UI"/>
              </a:rPr>
              <a:t>g</a:t>
            </a:r>
            <a:r>
              <a:rPr sz="2800" spc="-15" dirty="0">
                <a:latin typeface="Segoe UI"/>
                <a:cs typeface="Segoe UI"/>
              </a:rPr>
              <a:t>ht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i</a:t>
            </a:r>
            <a:r>
              <a:rPr sz="2800" spc="-20" dirty="0">
                <a:latin typeface="Segoe UI"/>
                <a:cs typeface="Segoe UI"/>
              </a:rPr>
              <a:t>n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algorithm,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Segoe UI"/>
                <a:cs typeface="Segoe UI"/>
              </a:rPr>
              <a:t>ins</a:t>
            </a:r>
            <a:r>
              <a:rPr sz="2800" spc="-35" dirty="0">
                <a:latin typeface="Segoe UI"/>
                <a:cs typeface="Segoe UI"/>
              </a:rPr>
              <a:t>t</a:t>
            </a:r>
            <a:r>
              <a:rPr sz="2800" spc="-20" dirty="0">
                <a:latin typeface="Segoe UI"/>
                <a:cs typeface="Segoe UI"/>
              </a:rPr>
              <a:t>ead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spc="-60" dirty="0">
                <a:latin typeface="Segoe UI"/>
                <a:cs typeface="Segoe UI"/>
              </a:rPr>
              <a:t>o</a:t>
            </a:r>
            <a:r>
              <a:rPr sz="2800" spc="-10" dirty="0">
                <a:latin typeface="Segoe UI"/>
                <a:cs typeface="Segoe UI"/>
              </a:rPr>
              <a:t>f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explicit</a:t>
            </a:r>
            <a:r>
              <a:rPr sz="2800" spc="-25" dirty="0">
                <a:latin typeface="Segoe UI"/>
                <a:cs typeface="Segoe UI"/>
              </a:rPr>
              <a:t>l</a:t>
            </a:r>
            <a:r>
              <a:rPr sz="2800" spc="-15" dirty="0">
                <a:latin typeface="Segoe UI"/>
                <a:cs typeface="Segoe UI"/>
              </a:rPr>
              <a:t>y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duplicating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data!</a:t>
            </a:r>
            <a:endParaRPr sz="280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483234"/>
            <a:ext cx="6101460" cy="1018227"/>
          </a:xfrm>
          <a:prstGeom prst="rect">
            <a:avLst/>
          </a:prstGeom>
        </p:spPr>
        <p:txBody>
          <a:bodyPr vert="horz" wrap="square" lIns="0" tIns="347980" rIns="0" bIns="0" rtlCol="0">
            <a:spAutoFit/>
          </a:bodyPr>
          <a:lstStyle/>
          <a:p>
            <a:pPr marL="2350135">
              <a:lnSpc>
                <a:spcPts val="5230"/>
              </a:lnSpc>
            </a:pPr>
            <a:r>
              <a:rPr spc="-5" dirty="0"/>
              <a:t>Reductions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712035"/>
            <a:ext cx="7001509" cy="3079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Ide</a:t>
            </a:r>
            <a:r>
              <a:rPr sz="3200" dirty="0">
                <a:latin typeface="Segoe UI"/>
                <a:cs typeface="Segoe UI"/>
              </a:rPr>
              <a:t>a</a:t>
            </a:r>
            <a:r>
              <a:rPr sz="3200" spc="7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Segoe UI"/>
                <a:cs typeface="Segoe UI"/>
              </a:rPr>
              <a:t>i</a:t>
            </a:r>
            <a:r>
              <a:rPr sz="3200" dirty="0">
                <a:latin typeface="Segoe UI"/>
                <a:cs typeface="Segoe UI"/>
              </a:rPr>
              <a:t>s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Segoe UI"/>
                <a:cs typeface="Segoe UI"/>
              </a:rPr>
              <a:t>t</a:t>
            </a:r>
            <a:r>
              <a:rPr sz="3200" dirty="0">
                <a:latin typeface="Segoe UI"/>
                <a:cs typeface="Segoe UI"/>
              </a:rPr>
              <a:t>o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Segoe UI"/>
                <a:cs typeface="Segoe UI"/>
              </a:rPr>
              <a:t>r</a:t>
            </a:r>
            <a:r>
              <a:rPr sz="3200" spc="-15" dirty="0">
                <a:latin typeface="Segoe UI"/>
                <a:cs typeface="Segoe UI"/>
              </a:rPr>
              <a:t>e</a:t>
            </a:r>
            <a:r>
              <a:rPr sz="3200" dirty="0">
                <a:latin typeface="Segoe UI"/>
                <a:cs typeface="Segoe UI"/>
              </a:rPr>
              <a:t>-use</a:t>
            </a:r>
            <a:r>
              <a:rPr sz="3200" spc="4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Segoe UI"/>
                <a:cs typeface="Segoe UI"/>
              </a:rPr>
              <a:t>simpl</a:t>
            </a:r>
            <a:r>
              <a:rPr sz="3200" dirty="0">
                <a:latin typeface="Segoe UI"/>
                <a:cs typeface="Segoe UI"/>
              </a:rPr>
              <a:t>e</a:t>
            </a:r>
            <a:r>
              <a:rPr sz="3200" spc="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and</a:t>
            </a:r>
            <a:r>
              <a:rPr sz="3200" spc="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ef</a:t>
            </a:r>
            <a:r>
              <a:rPr sz="3200" spc="5" dirty="0">
                <a:latin typeface="Segoe UI"/>
                <a:cs typeface="Segoe UI"/>
              </a:rPr>
              <a:t>f</a:t>
            </a:r>
            <a:r>
              <a:rPr sz="3200" spc="-5" dirty="0">
                <a:latin typeface="Segoe UI"/>
                <a:cs typeface="Segoe UI"/>
              </a:rPr>
              <a:t>icient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algor</a:t>
            </a:r>
            <a:r>
              <a:rPr sz="3200" spc="5" dirty="0">
                <a:latin typeface="Segoe UI"/>
                <a:cs typeface="Segoe UI"/>
              </a:rPr>
              <a:t>i</a:t>
            </a:r>
            <a:r>
              <a:rPr sz="3200" dirty="0">
                <a:latin typeface="Segoe UI"/>
                <a:cs typeface="Segoe UI"/>
              </a:rPr>
              <a:t>thms</a:t>
            </a:r>
            <a:r>
              <a:rPr sz="3200" spc="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for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bina</a:t>
            </a:r>
            <a:r>
              <a:rPr sz="3200" spc="135" dirty="0">
                <a:latin typeface="Segoe UI"/>
                <a:cs typeface="Segoe UI"/>
              </a:rPr>
              <a:t>r</a:t>
            </a:r>
            <a:r>
              <a:rPr sz="3200" dirty="0">
                <a:latin typeface="Segoe UI"/>
                <a:cs typeface="Segoe UI"/>
              </a:rPr>
              <a:t>y</a:t>
            </a:r>
            <a:r>
              <a:rPr sz="3200" spc="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classif</a:t>
            </a:r>
            <a:r>
              <a:rPr sz="3200" spc="5" dirty="0">
                <a:latin typeface="Segoe UI"/>
                <a:cs typeface="Segoe UI"/>
              </a:rPr>
              <a:t>i</a:t>
            </a:r>
            <a:r>
              <a:rPr sz="3200" dirty="0">
                <a:latin typeface="Segoe UI"/>
                <a:cs typeface="Segoe UI"/>
              </a:rPr>
              <a:t>cation</a:t>
            </a:r>
            <a:r>
              <a:rPr sz="3200" spc="50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Segoe UI"/>
                <a:cs typeface="Segoe UI"/>
              </a:rPr>
              <a:t>t</a:t>
            </a:r>
            <a:r>
              <a:rPr sz="3200" dirty="0">
                <a:latin typeface="Segoe UI"/>
                <a:cs typeface="Segoe UI"/>
              </a:rPr>
              <a:t>o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pe</a:t>
            </a:r>
            <a:r>
              <a:rPr sz="3200" spc="70" dirty="0">
                <a:latin typeface="Segoe UI"/>
                <a:cs typeface="Segoe UI"/>
              </a:rPr>
              <a:t>r</a:t>
            </a:r>
            <a:r>
              <a:rPr sz="3200" dirty="0">
                <a:latin typeface="Segoe UI"/>
                <a:cs typeface="Segoe UI"/>
              </a:rPr>
              <a:t>form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Segoe UI"/>
                <a:cs typeface="Segoe UI"/>
              </a:rPr>
              <a:t>mo</a:t>
            </a:r>
            <a:r>
              <a:rPr sz="3200" spc="-35" dirty="0">
                <a:latin typeface="Segoe UI"/>
                <a:cs typeface="Segoe UI"/>
              </a:rPr>
              <a:t>r</a:t>
            </a:r>
            <a:r>
              <a:rPr sz="3200" dirty="0">
                <a:latin typeface="Segoe UI"/>
                <a:cs typeface="Segoe UI"/>
              </a:rPr>
              <a:t>e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c</a:t>
            </a:r>
            <a:r>
              <a:rPr sz="3200" spc="-15" dirty="0">
                <a:latin typeface="Segoe UI"/>
                <a:cs typeface="Segoe UI"/>
              </a:rPr>
              <a:t>o</a:t>
            </a:r>
            <a:r>
              <a:rPr sz="3200" spc="-5" dirty="0">
                <a:latin typeface="Segoe UI"/>
                <a:cs typeface="Segoe UI"/>
              </a:rPr>
              <a:t>mp</a:t>
            </a:r>
            <a:r>
              <a:rPr sz="3200" spc="5" dirty="0">
                <a:latin typeface="Segoe UI"/>
                <a:cs typeface="Segoe UI"/>
              </a:rPr>
              <a:t>l</a:t>
            </a:r>
            <a:r>
              <a:rPr sz="3200" dirty="0">
                <a:latin typeface="Segoe UI"/>
                <a:cs typeface="Segoe UI"/>
              </a:rPr>
              <a:t>ex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tasks</a:t>
            </a:r>
          </a:p>
          <a:p>
            <a:pPr>
              <a:lnSpc>
                <a:spcPct val="100000"/>
              </a:lnSpc>
              <a:spcBef>
                <a:spcPts val="31"/>
              </a:spcBef>
              <a:buFont typeface="Arial"/>
              <a:buChar char="•"/>
            </a:pPr>
            <a:endParaRPr sz="465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-75" dirty="0">
                <a:latin typeface="Segoe UI"/>
                <a:cs typeface="Segoe UI"/>
              </a:rPr>
              <a:t>W</a:t>
            </a:r>
            <a:r>
              <a:rPr sz="3200" dirty="0">
                <a:latin typeface="Segoe UI"/>
                <a:cs typeface="Segoe UI"/>
              </a:rPr>
              <a:t>orks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g</a:t>
            </a:r>
            <a:r>
              <a:rPr sz="3200" spc="-45" dirty="0">
                <a:latin typeface="Segoe UI"/>
                <a:cs typeface="Segoe UI"/>
              </a:rPr>
              <a:t>r</a:t>
            </a:r>
            <a:r>
              <a:rPr sz="3200" dirty="0">
                <a:latin typeface="Segoe UI"/>
                <a:cs typeface="Segoe UI"/>
              </a:rPr>
              <a:t>e</a:t>
            </a:r>
            <a:r>
              <a:rPr sz="3200" spc="5" dirty="0">
                <a:latin typeface="Segoe UI"/>
                <a:cs typeface="Segoe UI"/>
              </a:rPr>
              <a:t>a</a:t>
            </a:r>
            <a:r>
              <a:rPr sz="3200" dirty="0">
                <a:latin typeface="Segoe UI"/>
                <a:cs typeface="Segoe UI"/>
              </a:rPr>
              <a:t>t</a:t>
            </a:r>
            <a:r>
              <a:rPr sz="3200" spc="5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Segoe UI"/>
                <a:cs typeface="Segoe UI"/>
              </a:rPr>
              <a:t>i</a:t>
            </a:r>
            <a:r>
              <a:rPr sz="3200" dirty="0">
                <a:latin typeface="Segoe UI"/>
                <a:cs typeface="Segoe UI"/>
              </a:rPr>
              <a:t>n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pr</a:t>
            </a:r>
            <a:r>
              <a:rPr sz="3200" spc="10" dirty="0">
                <a:latin typeface="Segoe UI"/>
                <a:cs typeface="Segoe UI"/>
              </a:rPr>
              <a:t>a</a:t>
            </a:r>
            <a:r>
              <a:rPr sz="3200" dirty="0">
                <a:latin typeface="Segoe UI"/>
                <a:cs typeface="Segoe UI"/>
              </a:rPr>
              <a:t>ctice:</a:t>
            </a:r>
          </a:p>
          <a:p>
            <a:pPr marL="469900">
              <a:lnSpc>
                <a:spcPct val="100000"/>
              </a:lnSpc>
              <a:spcBef>
                <a:spcPts val="675"/>
              </a:spcBef>
            </a:pPr>
            <a:r>
              <a:rPr sz="2800" spc="-20" dirty="0">
                <a:latin typeface="Arial"/>
                <a:cs typeface="Arial"/>
              </a:rPr>
              <a:t>–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5" dirty="0">
                <a:latin typeface="Segoe UI"/>
                <a:cs typeface="Segoe UI"/>
              </a:rPr>
              <a:t>E.g</a:t>
            </a:r>
            <a:r>
              <a:rPr sz="2800" spc="-5" dirty="0">
                <a:latin typeface="Segoe UI"/>
                <a:cs typeface="Segoe UI"/>
              </a:rPr>
              <a:t>.</a:t>
            </a:r>
            <a:r>
              <a:rPr sz="2800" spc="-10" dirty="0">
                <a:latin typeface="Segoe UI"/>
                <a:cs typeface="Segoe UI"/>
              </a:rPr>
              <a:t>,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u="heavy" spc="-200" dirty="0">
                <a:solidFill>
                  <a:srgbClr val="6B9E24"/>
                </a:solidFill>
                <a:latin typeface="Segoe UI"/>
                <a:cs typeface="Segoe UI"/>
              </a:rPr>
              <a:t>V</a:t>
            </a:r>
            <a:r>
              <a:rPr sz="2800" u="heavy" spc="-20" dirty="0">
                <a:solidFill>
                  <a:srgbClr val="6B9E24"/>
                </a:solidFill>
                <a:latin typeface="Segoe UI"/>
                <a:cs typeface="Segoe UI"/>
              </a:rPr>
              <a:t>ow</a:t>
            </a:r>
            <a:r>
              <a:rPr sz="2800" u="heavy" spc="-60" dirty="0">
                <a:solidFill>
                  <a:srgbClr val="6B9E24"/>
                </a:solidFill>
                <a:latin typeface="Segoe UI"/>
                <a:cs typeface="Segoe UI"/>
              </a:rPr>
              <a:t>p</a:t>
            </a:r>
            <a:r>
              <a:rPr sz="2800" u="heavy" spc="-15" dirty="0">
                <a:solidFill>
                  <a:srgbClr val="6B9E24"/>
                </a:solidFill>
                <a:latin typeface="Segoe UI"/>
                <a:cs typeface="Segoe UI"/>
              </a:rPr>
              <a:t>al</a:t>
            </a:r>
            <a:r>
              <a:rPr sz="2800" u="heavy" spc="-10" dirty="0">
                <a:solidFill>
                  <a:srgbClr val="6B9E24"/>
                </a:solidFill>
                <a:latin typeface="Segoe UI"/>
                <a:cs typeface="Segoe UI"/>
              </a:rPr>
              <a:t> </a:t>
            </a:r>
            <a:r>
              <a:rPr sz="2800" u="heavy" spc="-135" dirty="0">
                <a:solidFill>
                  <a:srgbClr val="6B9E24"/>
                </a:solidFill>
                <a:latin typeface="Segoe UI"/>
                <a:cs typeface="Segoe UI"/>
              </a:rPr>
              <a:t>W</a:t>
            </a:r>
            <a:r>
              <a:rPr sz="2800" u="heavy" spc="-15" dirty="0">
                <a:solidFill>
                  <a:srgbClr val="6B9E24"/>
                </a:solidFill>
                <a:latin typeface="Segoe UI"/>
                <a:cs typeface="Segoe UI"/>
              </a:rPr>
              <a:t>abbit</a:t>
            </a:r>
            <a:endParaRPr sz="280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483234"/>
            <a:ext cx="8001000" cy="1354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4030" marR="5080" indent="-481965">
              <a:lnSpc>
                <a:spcPct val="100000"/>
              </a:lnSpc>
            </a:pPr>
            <a:r>
              <a:rPr dirty="0"/>
              <a:t>Lea</a:t>
            </a:r>
            <a:r>
              <a:rPr spc="-25" dirty="0"/>
              <a:t>r</a:t>
            </a:r>
            <a:r>
              <a:rPr spc="-5" dirty="0"/>
              <a:t>nin</a:t>
            </a:r>
            <a:r>
              <a:rPr dirty="0"/>
              <a:t>g</a:t>
            </a:r>
            <a:r>
              <a:rPr spc="85" dirty="0">
                <a:latin typeface="Times New Roman"/>
                <a:cs typeface="Times New Roman"/>
              </a:rPr>
              <a:t> </a:t>
            </a:r>
            <a:r>
              <a:rPr dirty="0"/>
              <a:t>with</a:t>
            </a:r>
            <a:r>
              <a:rPr spc="80" dirty="0">
                <a:latin typeface="Times New Roman"/>
                <a:cs typeface="Times New Roman"/>
              </a:rPr>
              <a:t> </a:t>
            </a:r>
            <a:r>
              <a:rPr spc="-5" dirty="0"/>
              <a:t>Im</a:t>
            </a:r>
            <a:r>
              <a:rPr spc="5" dirty="0"/>
              <a:t>b</a:t>
            </a:r>
            <a:r>
              <a:rPr spc="-5" dirty="0"/>
              <a:t>ala</a:t>
            </a:r>
            <a:r>
              <a:rPr spc="-15" dirty="0"/>
              <a:t>n</a:t>
            </a:r>
            <a:r>
              <a:rPr dirty="0"/>
              <a:t>ced</a:t>
            </a:r>
            <a:r>
              <a:rPr spc="65" dirty="0">
                <a:latin typeface="Times New Roman"/>
                <a:cs typeface="Times New Roman"/>
              </a:rPr>
              <a:t> </a:t>
            </a:r>
            <a:r>
              <a:rPr dirty="0"/>
              <a:t>Data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spc="-5" dirty="0"/>
              <a:t>i</a:t>
            </a:r>
            <a:r>
              <a:rPr dirty="0"/>
              <a:t>s</a:t>
            </a:r>
            <a:r>
              <a:rPr spc="105" dirty="0">
                <a:latin typeface="Times New Roman"/>
                <a:cs typeface="Times New Roman"/>
              </a:rPr>
              <a:t> </a:t>
            </a:r>
            <a:r>
              <a:rPr spc="-5" dirty="0"/>
              <a:t>a</a:t>
            </a:r>
            <a:r>
              <a:rPr dirty="0"/>
              <a:t>n</a:t>
            </a:r>
            <a:r>
              <a:rPr spc="85" dirty="0">
                <a:latin typeface="Times New Roman"/>
                <a:cs typeface="Times New Roman"/>
              </a:rPr>
              <a:t> </a:t>
            </a:r>
            <a:r>
              <a:rPr dirty="0"/>
              <a:t>Example</a:t>
            </a:r>
            <a:r>
              <a:rPr spc="75" dirty="0">
                <a:latin typeface="Times New Roman"/>
                <a:cs typeface="Times New Roman"/>
              </a:rPr>
              <a:t> </a:t>
            </a:r>
            <a:r>
              <a:rPr spc="-114" dirty="0"/>
              <a:t>o</a:t>
            </a:r>
            <a:r>
              <a:rPr dirty="0"/>
              <a:t>f</a:t>
            </a:r>
            <a:r>
              <a:rPr spc="90" dirty="0">
                <a:latin typeface="Times New Roman"/>
                <a:cs typeface="Times New Roman"/>
              </a:rPr>
              <a:t> </a:t>
            </a:r>
            <a:r>
              <a:rPr spc="-5" dirty="0"/>
              <a:t>Reduction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1917201"/>
            <a:ext cx="7066726" cy="26318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0471" y="5132861"/>
            <a:ext cx="8008620" cy="1062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20" dirty="0">
                <a:latin typeface="Arial"/>
                <a:cs typeface="Arial"/>
              </a:rPr>
              <a:t>Su</a:t>
            </a:r>
            <a:r>
              <a:rPr sz="2400" b="1" spc="-25" dirty="0">
                <a:latin typeface="Arial"/>
                <a:cs typeface="Arial"/>
              </a:rPr>
              <a:t>b</a:t>
            </a:r>
            <a:r>
              <a:rPr sz="2400" b="1" spc="-20" dirty="0">
                <a:latin typeface="Arial"/>
                <a:cs typeface="Arial"/>
              </a:rPr>
              <a:t>samplin</a:t>
            </a:r>
            <a:r>
              <a:rPr sz="2400" b="1" spc="-15" dirty="0">
                <a:latin typeface="Arial"/>
                <a:cs typeface="Arial"/>
              </a:rPr>
              <a:t>g</a:t>
            </a:r>
            <a:r>
              <a:rPr sz="2400" b="1" spc="50" dirty="0">
                <a:latin typeface="Times New Roman"/>
                <a:cs typeface="Times New Roman"/>
              </a:rPr>
              <a:t> </a:t>
            </a:r>
            <a:r>
              <a:rPr sz="2400" b="1" spc="-15" dirty="0">
                <a:latin typeface="Arial"/>
                <a:cs typeface="Arial"/>
              </a:rPr>
              <a:t>Optima</a:t>
            </a:r>
            <a:r>
              <a:rPr sz="2400" b="1" spc="-5" dirty="0">
                <a:latin typeface="Arial"/>
                <a:cs typeface="Arial"/>
              </a:rPr>
              <a:t>l</a:t>
            </a:r>
            <a:r>
              <a:rPr sz="2400" b="1" spc="-10" dirty="0">
                <a:latin typeface="Arial"/>
                <a:cs typeface="Arial"/>
              </a:rPr>
              <a:t>i</a:t>
            </a:r>
            <a:r>
              <a:rPr sz="2400" b="1" spc="-5" dirty="0">
                <a:latin typeface="Arial"/>
                <a:cs typeface="Arial"/>
              </a:rPr>
              <a:t>t</a:t>
            </a:r>
            <a:r>
              <a:rPr sz="2400" b="1" dirty="0">
                <a:latin typeface="Arial"/>
                <a:cs typeface="Arial"/>
              </a:rPr>
              <a:t>y</a:t>
            </a:r>
            <a:r>
              <a:rPr sz="2400" b="1" spc="4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Arial"/>
                <a:cs typeface="Arial"/>
              </a:rPr>
              <a:t>T</a:t>
            </a:r>
            <a:r>
              <a:rPr sz="2400" b="1" spc="-15" dirty="0">
                <a:latin typeface="Arial"/>
                <a:cs typeface="Arial"/>
              </a:rPr>
              <a:t>he</a:t>
            </a:r>
            <a:r>
              <a:rPr sz="2400" b="1" spc="-25" dirty="0">
                <a:latin typeface="Arial"/>
                <a:cs typeface="Arial"/>
              </a:rPr>
              <a:t>o</a:t>
            </a:r>
            <a:r>
              <a:rPr sz="2400" b="1" spc="-5" dirty="0">
                <a:latin typeface="Arial"/>
                <a:cs typeface="Arial"/>
              </a:rPr>
              <a:t>re</a:t>
            </a:r>
            <a:r>
              <a:rPr sz="2400" b="1" spc="10" dirty="0">
                <a:latin typeface="Arial"/>
                <a:cs typeface="Arial"/>
              </a:rPr>
              <a:t>m</a:t>
            </a:r>
            <a:r>
              <a:rPr sz="2400" b="1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I</a:t>
            </a:r>
            <a:r>
              <a:rPr sz="2400" spc="-10" dirty="0">
                <a:latin typeface="Arial"/>
                <a:cs typeface="Arial"/>
              </a:rPr>
              <a:t>f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b</a:t>
            </a:r>
            <a:r>
              <a:rPr sz="2400" spc="-5" dirty="0">
                <a:latin typeface="Arial"/>
                <a:cs typeface="Arial"/>
              </a:rPr>
              <a:t>i</a:t>
            </a:r>
            <a:r>
              <a:rPr sz="2400" spc="-10" dirty="0">
                <a:latin typeface="Arial"/>
                <a:cs typeface="Arial"/>
              </a:rPr>
              <a:t>n</a:t>
            </a:r>
            <a:r>
              <a:rPr sz="2400" spc="-5" dirty="0">
                <a:latin typeface="Arial"/>
                <a:cs typeface="Arial"/>
              </a:rPr>
              <a:t>ar</a:t>
            </a:r>
            <a:r>
              <a:rPr sz="2400" dirty="0">
                <a:latin typeface="Arial"/>
                <a:cs typeface="Arial"/>
              </a:rPr>
              <a:t>y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cl</a:t>
            </a:r>
            <a:r>
              <a:rPr sz="2400" spc="-1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ssifier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"/>
                <a:cs typeface="Arial"/>
              </a:rPr>
              <a:t>ach</a:t>
            </a:r>
            <a:r>
              <a:rPr sz="2400" spc="-10" dirty="0">
                <a:latin typeface="Arial"/>
                <a:cs typeface="Arial"/>
              </a:rPr>
              <a:t>i</a:t>
            </a:r>
            <a:r>
              <a:rPr sz="2400" spc="-5" dirty="0">
                <a:latin typeface="Arial"/>
                <a:cs typeface="Arial"/>
              </a:rPr>
              <a:t>eve</a:t>
            </a:r>
            <a:r>
              <a:rPr sz="2400" dirty="0">
                <a:latin typeface="Arial"/>
                <a:cs typeface="Arial"/>
              </a:rPr>
              <a:t>s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"/>
                <a:cs typeface="Arial"/>
              </a:rPr>
              <a:t>bin</a:t>
            </a:r>
            <a:r>
              <a:rPr sz="2400" spc="-1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ry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"/>
                <a:cs typeface="Arial"/>
              </a:rPr>
              <a:t>er</a:t>
            </a:r>
            <a:r>
              <a:rPr sz="2400" spc="5" dirty="0">
                <a:latin typeface="Arial"/>
                <a:cs typeface="Arial"/>
              </a:rPr>
              <a:t>r</a:t>
            </a:r>
            <a:r>
              <a:rPr sz="2400" spc="-5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Arial"/>
                <a:cs typeface="Arial"/>
              </a:rPr>
              <a:t>o</a:t>
            </a:r>
            <a:r>
              <a:rPr sz="2400" spc="-10" dirty="0">
                <a:latin typeface="Arial"/>
                <a:cs typeface="Arial"/>
              </a:rPr>
              <a:t>f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"/>
                <a:cs typeface="Arial"/>
              </a:rPr>
              <a:t>ε</a:t>
            </a:r>
            <a:r>
              <a:rPr sz="2400" spc="-10" dirty="0">
                <a:latin typeface="Arial"/>
                <a:cs typeface="Arial"/>
              </a:rPr>
              <a:t>,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then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"/>
                <a:cs typeface="Arial"/>
              </a:rPr>
              <a:t>erro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f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α-</a:t>
            </a:r>
            <a:r>
              <a:rPr sz="2400" spc="-5" dirty="0">
                <a:latin typeface="Arial"/>
                <a:cs typeface="Arial"/>
              </a:rPr>
              <a:t>w</a:t>
            </a:r>
            <a:r>
              <a:rPr sz="2400" spc="-10" dirty="0">
                <a:latin typeface="Arial"/>
                <a:cs typeface="Arial"/>
              </a:rPr>
              <a:t>e</a:t>
            </a:r>
            <a:r>
              <a:rPr sz="2400" spc="-5" dirty="0">
                <a:latin typeface="Arial"/>
                <a:cs typeface="Arial"/>
              </a:rPr>
              <a:t>i</a:t>
            </a:r>
            <a:r>
              <a:rPr sz="2400" spc="-10" dirty="0">
                <a:latin typeface="Arial"/>
                <a:cs typeface="Arial"/>
              </a:rPr>
              <a:t>g</a:t>
            </a:r>
            <a:r>
              <a:rPr sz="2400" spc="-5" dirty="0">
                <a:latin typeface="Arial"/>
                <a:cs typeface="Arial"/>
              </a:rPr>
              <a:t>hte</a:t>
            </a:r>
            <a:r>
              <a:rPr sz="2400" dirty="0">
                <a:latin typeface="Arial"/>
                <a:cs typeface="Arial"/>
              </a:rPr>
              <a:t>d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cl</a:t>
            </a:r>
            <a:r>
              <a:rPr sz="2400" spc="-15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ss</a:t>
            </a:r>
            <a:r>
              <a:rPr sz="2400" spc="-10" dirty="0">
                <a:latin typeface="Arial"/>
                <a:cs typeface="Arial"/>
              </a:rPr>
              <a:t>i</a:t>
            </a:r>
            <a:r>
              <a:rPr sz="2400" dirty="0">
                <a:latin typeface="Arial"/>
                <a:cs typeface="Arial"/>
              </a:rPr>
              <a:t>fier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"/>
                <a:cs typeface="Arial"/>
              </a:rPr>
              <a:t>i</a:t>
            </a:r>
            <a:r>
              <a:rPr sz="2400" dirty="0">
                <a:latin typeface="Arial"/>
                <a:cs typeface="Arial"/>
              </a:rPr>
              <a:t>s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α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ε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1289" y="483234"/>
            <a:ext cx="52832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Multiclass</a:t>
            </a:r>
            <a:r>
              <a:rPr spc="-35" dirty="0"/>
              <a:t> </a:t>
            </a:r>
            <a:r>
              <a:rPr spc="-5" dirty="0"/>
              <a:t>classification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501"/>
            <a:ext cx="7630159" cy="41732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20" dirty="0">
                <a:latin typeface="Segoe UI"/>
                <a:cs typeface="Segoe UI"/>
              </a:rPr>
              <a:t>Real </a:t>
            </a:r>
            <a:r>
              <a:rPr sz="3200" dirty="0">
                <a:latin typeface="Segoe UI"/>
                <a:cs typeface="Segoe UI"/>
              </a:rPr>
              <a:t>world </a:t>
            </a:r>
            <a:r>
              <a:rPr sz="3200" spc="-5" dirty="0">
                <a:latin typeface="Segoe UI"/>
                <a:cs typeface="Segoe UI"/>
              </a:rPr>
              <a:t>problems often have multiple  </a:t>
            </a:r>
            <a:r>
              <a:rPr sz="3200" dirty="0">
                <a:latin typeface="Segoe UI"/>
                <a:cs typeface="Segoe UI"/>
              </a:rPr>
              <a:t>classes </a:t>
            </a:r>
            <a:r>
              <a:rPr sz="3200" spc="-5" dirty="0">
                <a:latin typeface="Segoe UI"/>
                <a:cs typeface="Segoe UI"/>
              </a:rPr>
              <a:t>(text, </a:t>
            </a:r>
            <a:r>
              <a:rPr sz="3200" dirty="0">
                <a:latin typeface="Segoe UI"/>
                <a:cs typeface="Segoe UI"/>
              </a:rPr>
              <a:t>speech, image, biological  sequences…)</a:t>
            </a:r>
            <a:endParaRPr sz="3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Arial"/>
              <a:buChar char="•"/>
            </a:pPr>
            <a:endParaRPr sz="4000">
              <a:latin typeface="Segoe UI"/>
              <a:cs typeface="Segoe UI"/>
            </a:endParaRPr>
          </a:p>
          <a:p>
            <a:pPr marL="355600" marR="16560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How can </a:t>
            </a:r>
            <a:r>
              <a:rPr sz="3200" spc="-5" dirty="0">
                <a:latin typeface="Segoe UI"/>
                <a:cs typeface="Segoe UI"/>
              </a:rPr>
              <a:t>we </a:t>
            </a:r>
            <a:r>
              <a:rPr sz="3200" spc="10" dirty="0">
                <a:latin typeface="Segoe UI"/>
                <a:cs typeface="Segoe UI"/>
              </a:rPr>
              <a:t>perform</a:t>
            </a:r>
            <a:r>
              <a:rPr sz="3200" spc="-9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multiclass  classification?</a:t>
            </a:r>
            <a:endParaRPr sz="32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Straightforward with decision </a:t>
            </a:r>
            <a:r>
              <a:rPr sz="2800" spc="-10" dirty="0">
                <a:latin typeface="Segoe UI"/>
                <a:cs typeface="Segoe UI"/>
              </a:rPr>
              <a:t>trees </a:t>
            </a:r>
            <a:r>
              <a:rPr sz="2800" spc="-5" dirty="0">
                <a:latin typeface="Segoe UI"/>
                <a:cs typeface="Segoe UI"/>
              </a:rPr>
              <a:t>or</a:t>
            </a:r>
            <a:r>
              <a:rPr sz="2800" spc="25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KNN</a:t>
            </a:r>
            <a:endParaRPr sz="28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Segoe UI"/>
                <a:cs typeface="Segoe UI"/>
              </a:rPr>
              <a:t>Can we </a:t>
            </a:r>
            <a:r>
              <a:rPr sz="2800" spc="-5" dirty="0">
                <a:latin typeface="Segoe UI"/>
                <a:cs typeface="Segoe UI"/>
              </a:rPr>
              <a:t>use the </a:t>
            </a:r>
            <a:r>
              <a:rPr sz="2800" spc="-10" dirty="0">
                <a:latin typeface="Segoe UI"/>
                <a:cs typeface="Segoe UI"/>
              </a:rPr>
              <a:t>perceptron</a:t>
            </a:r>
            <a:r>
              <a:rPr sz="2800" spc="1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algorithm?</a:t>
            </a:r>
            <a:endParaRPr sz="2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0610" y="147955"/>
            <a:ext cx="7403465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16150" marR="5080" indent="-2204085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Today: </a:t>
            </a:r>
            <a:r>
              <a:rPr spc="-5" dirty="0"/>
              <a:t>Reductions </a:t>
            </a:r>
            <a:r>
              <a:rPr dirty="0"/>
              <a:t>for </a:t>
            </a:r>
            <a:r>
              <a:rPr spc="-5" dirty="0"/>
              <a:t>Multiclass  Classification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912" y="2231060"/>
            <a:ext cx="8372731" cy="296729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567" y="1914279"/>
            <a:ext cx="8519174" cy="302474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8661" y="147955"/>
            <a:ext cx="618744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64565">
              <a:lnSpc>
                <a:spcPct val="100000"/>
              </a:lnSpc>
              <a:spcBef>
                <a:spcPts val="100"/>
              </a:spcBef>
            </a:pPr>
            <a:r>
              <a:rPr dirty="0"/>
              <a:t>How many </a:t>
            </a:r>
            <a:r>
              <a:rPr spc="-5" dirty="0"/>
              <a:t>classes  </a:t>
            </a:r>
            <a:r>
              <a:rPr dirty="0"/>
              <a:t>can we </a:t>
            </a:r>
            <a:r>
              <a:rPr spc="-5" dirty="0"/>
              <a:t>handle in</a:t>
            </a:r>
            <a:r>
              <a:rPr spc="-125" dirty="0"/>
              <a:t> </a:t>
            </a:r>
            <a:r>
              <a:rPr spc="-5" dirty="0"/>
              <a:t>practice?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208402"/>
            <a:ext cx="7783195" cy="359136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In most </a:t>
            </a:r>
            <a:r>
              <a:rPr sz="3200" dirty="0">
                <a:latin typeface="Segoe UI"/>
                <a:cs typeface="Segoe UI"/>
              </a:rPr>
              <a:t>tasks, number </a:t>
            </a:r>
            <a:r>
              <a:rPr sz="3200" spc="-35" dirty="0">
                <a:latin typeface="Segoe UI"/>
                <a:cs typeface="Segoe UI"/>
              </a:rPr>
              <a:t>of </a:t>
            </a:r>
            <a:r>
              <a:rPr sz="3200" spc="-5" dirty="0">
                <a:latin typeface="Segoe UI"/>
                <a:cs typeface="Segoe UI"/>
              </a:rPr>
              <a:t>classes </a:t>
            </a:r>
            <a:r>
              <a:rPr sz="3200" dirty="0">
                <a:latin typeface="Segoe UI"/>
                <a:cs typeface="Segoe UI"/>
              </a:rPr>
              <a:t>K &lt;</a:t>
            </a:r>
            <a:r>
              <a:rPr sz="3200" spc="60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100</a:t>
            </a:r>
            <a:endParaRPr lang="en-US" sz="3200" spc="-5" dirty="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3200" spc="-5" dirty="0">
                <a:latin typeface="Segoe UI"/>
                <a:cs typeface="Segoe UI"/>
              </a:rPr>
              <a:t>For </a:t>
            </a:r>
            <a:r>
              <a:rPr lang="en-US" sz="3200" dirty="0">
                <a:latin typeface="Segoe UI"/>
                <a:cs typeface="Segoe UI"/>
              </a:rPr>
              <a:t>much </a:t>
            </a:r>
            <a:r>
              <a:rPr lang="en-US" sz="3200" spc="-5" dirty="0">
                <a:latin typeface="Segoe UI"/>
                <a:cs typeface="Segoe UI"/>
              </a:rPr>
              <a:t>larger</a:t>
            </a:r>
            <a:r>
              <a:rPr lang="en-US" sz="3200" spc="-40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K</a:t>
            </a: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lang="en-US" sz="2800" spc="-15" dirty="0">
                <a:latin typeface="Segoe UI"/>
                <a:cs typeface="Segoe UI"/>
              </a:rPr>
              <a:t>we </a:t>
            </a:r>
            <a:r>
              <a:rPr lang="en-US" sz="2800" spc="-5" dirty="0">
                <a:latin typeface="Segoe UI"/>
                <a:cs typeface="Segoe UI"/>
              </a:rPr>
              <a:t>need </a:t>
            </a:r>
            <a:r>
              <a:rPr lang="en-US" sz="2800" spc="-15" dirty="0">
                <a:latin typeface="Segoe UI"/>
                <a:cs typeface="Segoe UI"/>
              </a:rPr>
              <a:t>to </a:t>
            </a:r>
            <a:r>
              <a:rPr lang="en-US" sz="2800" spc="-5" dirty="0">
                <a:latin typeface="Segoe UI"/>
                <a:cs typeface="Segoe UI"/>
              </a:rPr>
              <a:t>frame the </a:t>
            </a:r>
            <a:r>
              <a:rPr lang="en-US" sz="2800" spc="-10" dirty="0">
                <a:latin typeface="Segoe UI"/>
                <a:cs typeface="Segoe UI"/>
              </a:rPr>
              <a:t>problem</a:t>
            </a:r>
            <a:r>
              <a:rPr lang="en-US" sz="2800" spc="30" dirty="0">
                <a:latin typeface="Segoe UI"/>
                <a:cs typeface="Segoe UI"/>
              </a:rPr>
              <a:t> </a:t>
            </a:r>
            <a:r>
              <a:rPr lang="en-US" sz="2800" spc="-10" dirty="0">
                <a:latin typeface="Segoe UI"/>
                <a:cs typeface="Segoe UI"/>
              </a:rPr>
              <a:t>differently</a:t>
            </a:r>
            <a:endParaRPr lang="en-US" sz="2800" dirty="0">
              <a:latin typeface="Segoe UI"/>
              <a:cs typeface="Segoe UI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lang="en-US" sz="2800" spc="-5" dirty="0" err="1">
                <a:latin typeface="Segoe UI"/>
                <a:cs typeface="Segoe UI"/>
              </a:rPr>
              <a:t>e.g</a:t>
            </a:r>
            <a:r>
              <a:rPr lang="en-US" sz="2800" spc="-5" dirty="0">
                <a:latin typeface="Segoe UI"/>
                <a:cs typeface="Segoe UI"/>
              </a:rPr>
              <a:t>, machine translation </a:t>
            </a:r>
            <a:r>
              <a:rPr lang="en-US" sz="2800" dirty="0">
                <a:latin typeface="Segoe UI"/>
                <a:cs typeface="Segoe UI"/>
              </a:rPr>
              <a:t>or </a:t>
            </a:r>
            <a:r>
              <a:rPr lang="en-US" sz="2800" spc="-5" dirty="0">
                <a:latin typeface="Segoe UI"/>
                <a:cs typeface="Segoe UI"/>
              </a:rPr>
              <a:t>automatic </a:t>
            </a:r>
            <a:r>
              <a:rPr lang="en-US" sz="2800" spc="-10" dirty="0">
                <a:latin typeface="Segoe UI"/>
                <a:cs typeface="Segoe UI"/>
              </a:rPr>
              <a:t>speech  </a:t>
            </a:r>
            <a:r>
              <a:rPr lang="en-US" sz="2800" spc="-5" dirty="0">
                <a:latin typeface="Segoe UI"/>
                <a:cs typeface="Segoe UI"/>
              </a:rPr>
              <a:t>recognition</a:t>
            </a:r>
            <a:endParaRPr sz="32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r>
              <a:rPr lang="en-US" sz="4000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If K &gt; 10, Hierarchical (tree) classification may be necessary</a:t>
            </a:r>
            <a:endParaRPr sz="400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0889" y="483234"/>
            <a:ext cx="405955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Reduction 1:</a:t>
            </a:r>
            <a:r>
              <a:rPr spc="-120" dirty="0"/>
              <a:t> </a:t>
            </a:r>
            <a:r>
              <a:rPr spc="-130" dirty="0"/>
              <a:t>OVA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3214"/>
            <a:ext cx="7806690" cy="433578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8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“One versus all” (aka “one versus</a:t>
            </a:r>
            <a:r>
              <a:rPr sz="3200" spc="-50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rest”)</a:t>
            </a:r>
            <a:endParaRPr sz="32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8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5" dirty="0">
                <a:latin typeface="Segoe UI"/>
                <a:cs typeface="Segoe UI"/>
              </a:rPr>
              <a:t>Train </a:t>
            </a:r>
            <a:r>
              <a:rPr sz="2800" spc="-10" dirty="0">
                <a:latin typeface="Segoe UI"/>
                <a:cs typeface="Segoe UI"/>
              </a:rPr>
              <a:t>K-many </a:t>
            </a:r>
            <a:r>
              <a:rPr sz="2800" spc="15" dirty="0">
                <a:latin typeface="Segoe UI"/>
                <a:cs typeface="Segoe UI"/>
              </a:rPr>
              <a:t>binary</a:t>
            </a:r>
            <a:r>
              <a:rPr sz="2800" spc="5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classifiers</a:t>
            </a:r>
            <a:endParaRPr sz="2800">
              <a:latin typeface="Segoe UI"/>
              <a:cs typeface="Segoe UI"/>
            </a:endParaRPr>
          </a:p>
          <a:p>
            <a:pPr marL="756285" marR="836930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classifier k </a:t>
            </a:r>
            <a:r>
              <a:rPr sz="2800" spc="-10" dirty="0">
                <a:latin typeface="Segoe UI"/>
                <a:cs typeface="Segoe UI"/>
              </a:rPr>
              <a:t>predicts </a:t>
            </a:r>
            <a:r>
              <a:rPr sz="2800" spc="-5" dirty="0">
                <a:latin typeface="Segoe UI"/>
                <a:cs typeface="Segoe UI"/>
              </a:rPr>
              <a:t>whether an example  belong </a:t>
            </a:r>
            <a:r>
              <a:rPr sz="2800" spc="-15" dirty="0">
                <a:latin typeface="Segoe UI"/>
                <a:cs typeface="Segoe UI"/>
              </a:rPr>
              <a:t>to </a:t>
            </a:r>
            <a:r>
              <a:rPr sz="2800" spc="-5" dirty="0">
                <a:latin typeface="Segoe UI"/>
                <a:cs typeface="Segoe UI"/>
              </a:rPr>
              <a:t>class k or</a:t>
            </a:r>
            <a:r>
              <a:rPr sz="2800" spc="-2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not</a:t>
            </a:r>
            <a:endParaRPr sz="280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Arial"/>
              <a:buChar char="–"/>
            </a:pPr>
            <a:endParaRPr sz="35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25" dirty="0">
                <a:latin typeface="Segoe UI"/>
                <a:cs typeface="Segoe UI"/>
              </a:rPr>
              <a:t>At </a:t>
            </a:r>
            <a:r>
              <a:rPr sz="2800" spc="-10" dirty="0">
                <a:latin typeface="Segoe UI"/>
                <a:cs typeface="Segoe UI"/>
              </a:rPr>
              <a:t>test</a:t>
            </a:r>
            <a:r>
              <a:rPr sz="2800" spc="-60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time,</a:t>
            </a:r>
            <a:endParaRPr sz="2800">
              <a:latin typeface="Segoe UI"/>
              <a:cs typeface="Segoe UI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Segoe UI"/>
                <a:cs typeface="Segoe UI"/>
              </a:rPr>
              <a:t>If </a:t>
            </a:r>
            <a:r>
              <a:rPr sz="2400" dirty="0">
                <a:latin typeface="Segoe UI"/>
                <a:cs typeface="Segoe UI"/>
              </a:rPr>
              <a:t>only one </a:t>
            </a:r>
            <a:r>
              <a:rPr sz="2400" spc="-5" dirty="0">
                <a:latin typeface="Segoe UI"/>
                <a:cs typeface="Segoe UI"/>
              </a:rPr>
              <a:t>classifier </a:t>
            </a:r>
            <a:r>
              <a:rPr sz="2400" spc="-10" dirty="0">
                <a:latin typeface="Segoe UI"/>
                <a:cs typeface="Segoe UI"/>
              </a:rPr>
              <a:t>predicts </a:t>
            </a:r>
            <a:r>
              <a:rPr sz="2400" spc="-5" dirty="0">
                <a:latin typeface="Segoe UI"/>
                <a:cs typeface="Segoe UI"/>
              </a:rPr>
              <a:t>positive, </a:t>
            </a:r>
            <a:r>
              <a:rPr sz="2400" spc="-10" dirty="0">
                <a:latin typeface="Segoe UI"/>
                <a:cs typeface="Segoe UI"/>
              </a:rPr>
              <a:t>predict </a:t>
            </a:r>
            <a:r>
              <a:rPr sz="2400" dirty="0">
                <a:latin typeface="Segoe UI"/>
                <a:cs typeface="Segoe UI"/>
              </a:rPr>
              <a:t>that  </a:t>
            </a:r>
            <a:r>
              <a:rPr sz="2400" spc="-5" dirty="0">
                <a:latin typeface="Segoe UI"/>
                <a:cs typeface="Segoe UI"/>
              </a:rPr>
              <a:t>class</a:t>
            </a:r>
            <a:endParaRPr sz="2400">
              <a:latin typeface="Segoe UI"/>
              <a:cs typeface="Segoe UI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Segoe UI"/>
                <a:cs typeface="Segoe UI"/>
              </a:rPr>
              <a:t>Break </a:t>
            </a:r>
            <a:r>
              <a:rPr sz="2400" dirty="0">
                <a:latin typeface="Segoe UI"/>
                <a:cs typeface="Segoe UI"/>
              </a:rPr>
              <a:t>ties</a:t>
            </a:r>
            <a:r>
              <a:rPr sz="2400" spc="-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randomly</a:t>
            </a:r>
            <a:endParaRPr sz="2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2270" y="926624"/>
            <a:ext cx="8613443" cy="48887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Time</a:t>
            </a:r>
            <a:r>
              <a:rPr spc="-85" dirty="0"/>
              <a:t> </a:t>
            </a:r>
            <a:r>
              <a:rPr dirty="0"/>
              <a:t>complexity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501"/>
            <a:ext cx="8027034" cy="33680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Suppose you have </a:t>
            </a:r>
            <a:r>
              <a:rPr sz="3200" dirty="0">
                <a:latin typeface="Segoe UI"/>
                <a:cs typeface="Segoe UI"/>
              </a:rPr>
              <a:t>N training examples, </a:t>
            </a:r>
            <a:r>
              <a:rPr sz="3200" spc="-5" dirty="0">
                <a:latin typeface="Segoe UI"/>
                <a:cs typeface="Segoe UI"/>
              </a:rPr>
              <a:t>in  </a:t>
            </a:r>
            <a:r>
              <a:rPr sz="3200" dirty="0">
                <a:latin typeface="Segoe UI"/>
                <a:cs typeface="Segoe UI"/>
              </a:rPr>
              <a:t>K classes. How </a:t>
            </a:r>
            <a:r>
              <a:rPr sz="3200" spc="-5" dirty="0">
                <a:latin typeface="Segoe UI"/>
                <a:cs typeface="Segoe UI"/>
              </a:rPr>
              <a:t>long does it </a:t>
            </a:r>
            <a:r>
              <a:rPr sz="3200" spc="-15" dirty="0">
                <a:latin typeface="Segoe UI"/>
                <a:cs typeface="Segoe UI"/>
              </a:rPr>
              <a:t>take to </a:t>
            </a:r>
            <a:r>
              <a:rPr sz="3200" dirty="0">
                <a:latin typeface="Segoe UI"/>
                <a:cs typeface="Segoe UI"/>
              </a:rPr>
              <a:t>train an  </a:t>
            </a:r>
            <a:r>
              <a:rPr sz="3200" spc="-60" dirty="0">
                <a:latin typeface="Segoe UI"/>
                <a:cs typeface="Segoe UI"/>
              </a:rPr>
              <a:t>OVA</a:t>
            </a:r>
            <a:r>
              <a:rPr sz="3200" spc="-2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classifier</a:t>
            </a:r>
            <a:endParaRPr sz="3200">
              <a:latin typeface="Segoe UI"/>
              <a:cs typeface="Segoe UI"/>
            </a:endParaRPr>
          </a:p>
          <a:p>
            <a:pPr marL="756285" marR="168275" lvl="1" indent="-287020">
              <a:lnSpc>
                <a:spcPct val="100000"/>
              </a:lnSpc>
              <a:spcBef>
                <a:spcPts val="68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if the </a:t>
            </a:r>
            <a:r>
              <a:rPr sz="2800" spc="-15" dirty="0">
                <a:latin typeface="Segoe UI"/>
                <a:cs typeface="Segoe UI"/>
              </a:rPr>
              <a:t>base </a:t>
            </a:r>
            <a:r>
              <a:rPr sz="2800" spc="15" dirty="0">
                <a:latin typeface="Segoe UI"/>
                <a:cs typeface="Segoe UI"/>
              </a:rPr>
              <a:t>binary </a:t>
            </a:r>
            <a:r>
              <a:rPr sz="2800" spc="-5" dirty="0">
                <a:latin typeface="Segoe UI"/>
                <a:cs typeface="Segoe UI"/>
              </a:rPr>
              <a:t>classifier </a:t>
            </a:r>
            <a:r>
              <a:rPr sz="2800" spc="-15" dirty="0">
                <a:latin typeface="Segoe UI"/>
                <a:cs typeface="Segoe UI"/>
              </a:rPr>
              <a:t>takes </a:t>
            </a:r>
            <a:r>
              <a:rPr sz="2800" spc="-10" dirty="0">
                <a:latin typeface="Segoe UI"/>
                <a:cs typeface="Segoe UI"/>
              </a:rPr>
              <a:t>O(N) </a:t>
            </a:r>
            <a:r>
              <a:rPr sz="2800" spc="-5" dirty="0">
                <a:latin typeface="Segoe UI"/>
                <a:cs typeface="Segoe UI"/>
              </a:rPr>
              <a:t>time </a:t>
            </a:r>
            <a:r>
              <a:rPr sz="2800" spc="-15" dirty="0">
                <a:latin typeface="Segoe UI"/>
                <a:cs typeface="Segoe UI"/>
              </a:rPr>
              <a:t>to  </a:t>
            </a:r>
            <a:r>
              <a:rPr sz="2800" spc="-10" dirty="0">
                <a:latin typeface="Segoe UI"/>
                <a:cs typeface="Segoe UI"/>
              </a:rPr>
              <a:t>learn?</a:t>
            </a:r>
            <a:endParaRPr sz="2800">
              <a:latin typeface="Segoe UI"/>
              <a:cs typeface="Segoe UI"/>
            </a:endParaRPr>
          </a:p>
          <a:p>
            <a:pPr marL="756285" marR="15303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if the </a:t>
            </a:r>
            <a:r>
              <a:rPr sz="2800" spc="-15" dirty="0">
                <a:latin typeface="Segoe UI"/>
                <a:cs typeface="Segoe UI"/>
              </a:rPr>
              <a:t>base </a:t>
            </a:r>
            <a:r>
              <a:rPr sz="2800" spc="15" dirty="0">
                <a:latin typeface="Segoe UI"/>
                <a:cs typeface="Segoe UI"/>
              </a:rPr>
              <a:t>binary </a:t>
            </a:r>
            <a:r>
              <a:rPr sz="2800" spc="-5" dirty="0">
                <a:latin typeface="Segoe UI"/>
                <a:cs typeface="Segoe UI"/>
              </a:rPr>
              <a:t>classifier </a:t>
            </a:r>
            <a:r>
              <a:rPr sz="2800" spc="-15" dirty="0">
                <a:latin typeface="Segoe UI"/>
                <a:cs typeface="Segoe UI"/>
              </a:rPr>
              <a:t>takes </a:t>
            </a:r>
            <a:r>
              <a:rPr sz="2800" spc="-5" dirty="0">
                <a:latin typeface="Segoe UI"/>
                <a:cs typeface="Segoe UI"/>
              </a:rPr>
              <a:t>O(N^2) time  </a:t>
            </a:r>
            <a:r>
              <a:rPr sz="2800" spc="-15" dirty="0">
                <a:latin typeface="Segoe UI"/>
                <a:cs typeface="Segoe UI"/>
              </a:rPr>
              <a:t>to</a:t>
            </a:r>
            <a:r>
              <a:rPr sz="2800" spc="-1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learn?</a:t>
            </a:r>
            <a:endParaRPr sz="2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6298" y="483234"/>
            <a:ext cx="28511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Error</a:t>
            </a:r>
            <a:r>
              <a:rPr spc="-90" dirty="0"/>
              <a:t> </a:t>
            </a:r>
            <a:r>
              <a:rPr spc="-5" dirty="0"/>
              <a:t>bound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501"/>
            <a:ext cx="7989570" cy="46120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b="1" spc="-5" dirty="0">
                <a:latin typeface="Segoe UI"/>
                <a:cs typeface="Segoe UI"/>
              </a:rPr>
              <a:t>Theorem: </a:t>
            </a:r>
            <a:r>
              <a:rPr sz="3200" spc="-5" dirty="0">
                <a:latin typeface="Segoe UI"/>
                <a:cs typeface="Segoe UI"/>
              </a:rPr>
              <a:t>Suppose </a:t>
            </a:r>
            <a:r>
              <a:rPr sz="3200" dirty="0">
                <a:latin typeface="Segoe UI"/>
                <a:cs typeface="Segoe UI"/>
              </a:rPr>
              <a:t>that the </a:t>
            </a:r>
            <a:r>
              <a:rPr sz="3200" spc="-5" dirty="0">
                <a:latin typeface="Segoe UI"/>
                <a:cs typeface="Segoe UI"/>
              </a:rPr>
              <a:t>average error  </a:t>
            </a:r>
            <a:r>
              <a:rPr sz="3200" spc="-35" dirty="0">
                <a:latin typeface="Segoe UI"/>
                <a:cs typeface="Segoe UI"/>
              </a:rPr>
              <a:t>of </a:t>
            </a:r>
            <a:r>
              <a:rPr sz="3200" dirty="0">
                <a:latin typeface="Segoe UI"/>
                <a:cs typeface="Segoe UI"/>
              </a:rPr>
              <a:t>the K </a:t>
            </a:r>
            <a:r>
              <a:rPr sz="3200" spc="20" dirty="0">
                <a:latin typeface="Segoe UI"/>
                <a:cs typeface="Segoe UI"/>
              </a:rPr>
              <a:t>binary </a:t>
            </a:r>
            <a:r>
              <a:rPr sz="3200" dirty="0">
                <a:latin typeface="Segoe UI"/>
                <a:cs typeface="Segoe UI"/>
              </a:rPr>
              <a:t>classifiers </a:t>
            </a:r>
            <a:r>
              <a:rPr sz="3200" spc="-5" dirty="0">
                <a:latin typeface="Segoe UI"/>
                <a:cs typeface="Segoe UI"/>
              </a:rPr>
              <a:t>is </a:t>
            </a:r>
            <a:r>
              <a:rPr sz="3200" dirty="0">
                <a:latin typeface="Segoe UI"/>
                <a:cs typeface="Segoe UI"/>
              </a:rPr>
              <a:t>ε, then </a:t>
            </a:r>
            <a:r>
              <a:rPr sz="3200" spc="-5" dirty="0">
                <a:latin typeface="Segoe UI"/>
                <a:cs typeface="Segoe UI"/>
              </a:rPr>
              <a:t>the  error rate </a:t>
            </a:r>
            <a:r>
              <a:rPr sz="3200" spc="-30" dirty="0">
                <a:latin typeface="Segoe UI"/>
                <a:cs typeface="Segoe UI"/>
              </a:rPr>
              <a:t>of </a:t>
            </a:r>
            <a:r>
              <a:rPr sz="3200" spc="-5" dirty="0">
                <a:latin typeface="Segoe UI"/>
                <a:cs typeface="Segoe UI"/>
              </a:rPr>
              <a:t>the </a:t>
            </a:r>
            <a:r>
              <a:rPr sz="3200" spc="-60" dirty="0">
                <a:latin typeface="Segoe UI"/>
                <a:cs typeface="Segoe UI"/>
              </a:rPr>
              <a:t>OVA </a:t>
            </a:r>
            <a:r>
              <a:rPr sz="3200" spc="-5" dirty="0">
                <a:latin typeface="Segoe UI"/>
                <a:cs typeface="Segoe UI"/>
              </a:rPr>
              <a:t>multiclass </a:t>
            </a:r>
            <a:r>
              <a:rPr sz="3200" dirty="0">
                <a:latin typeface="Segoe UI"/>
                <a:cs typeface="Segoe UI"/>
              </a:rPr>
              <a:t>classifier </a:t>
            </a:r>
            <a:r>
              <a:rPr sz="3200" spc="-5" dirty="0">
                <a:latin typeface="Segoe UI"/>
                <a:cs typeface="Segoe UI"/>
              </a:rPr>
              <a:t>is  </a:t>
            </a:r>
            <a:r>
              <a:rPr sz="3200" dirty="0">
                <a:latin typeface="Segoe UI"/>
                <a:cs typeface="Segoe UI"/>
              </a:rPr>
              <a:t>at </a:t>
            </a:r>
            <a:r>
              <a:rPr sz="3200" spc="-5" dirty="0">
                <a:latin typeface="Segoe UI"/>
                <a:cs typeface="Segoe UI"/>
              </a:rPr>
              <a:t>most </a:t>
            </a:r>
            <a:r>
              <a:rPr sz="3200" dirty="0">
                <a:latin typeface="Segoe UI"/>
                <a:cs typeface="Segoe UI"/>
              </a:rPr>
              <a:t>(K-1)</a:t>
            </a:r>
            <a:r>
              <a:rPr sz="3200" spc="-35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ε</a:t>
            </a:r>
            <a:endParaRPr sz="3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Arial"/>
              <a:buChar char="•"/>
            </a:pPr>
            <a:endParaRPr sz="4000">
              <a:latin typeface="Segoe UI"/>
              <a:cs typeface="Segoe UI"/>
            </a:endParaRPr>
          </a:p>
          <a:p>
            <a:pPr marL="355600" marR="850265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65" dirty="0">
                <a:latin typeface="Segoe UI"/>
                <a:cs typeface="Segoe UI"/>
              </a:rPr>
              <a:t>To </a:t>
            </a:r>
            <a:r>
              <a:rPr sz="3200" spc="-10" dirty="0">
                <a:latin typeface="Segoe UI"/>
                <a:cs typeface="Segoe UI"/>
              </a:rPr>
              <a:t>prove </a:t>
            </a:r>
            <a:r>
              <a:rPr sz="3200" dirty="0">
                <a:latin typeface="Segoe UI"/>
                <a:cs typeface="Segoe UI"/>
              </a:rPr>
              <a:t>this: how do </a:t>
            </a:r>
            <a:r>
              <a:rPr sz="3200" spc="-5" dirty="0">
                <a:latin typeface="Segoe UI"/>
                <a:cs typeface="Segoe UI"/>
              </a:rPr>
              <a:t>different errors  </a:t>
            </a:r>
            <a:r>
              <a:rPr sz="3200" dirty="0">
                <a:latin typeface="Segoe UI"/>
                <a:cs typeface="Segoe UI"/>
              </a:rPr>
              <a:t>affect the maximum ratio </a:t>
            </a:r>
            <a:r>
              <a:rPr sz="3200" spc="-30" dirty="0">
                <a:latin typeface="Segoe UI"/>
                <a:cs typeface="Segoe UI"/>
              </a:rPr>
              <a:t>of </a:t>
            </a:r>
            <a:r>
              <a:rPr sz="3200" dirty="0">
                <a:latin typeface="Segoe UI"/>
                <a:cs typeface="Segoe UI"/>
              </a:rPr>
              <a:t>the  </a:t>
            </a:r>
            <a:r>
              <a:rPr sz="3200" spc="-10" dirty="0">
                <a:latin typeface="Segoe UI"/>
                <a:cs typeface="Segoe UI"/>
              </a:rPr>
              <a:t>probability </a:t>
            </a:r>
            <a:r>
              <a:rPr sz="3200" spc="-40" dirty="0">
                <a:latin typeface="Segoe UI"/>
                <a:cs typeface="Segoe UI"/>
              </a:rPr>
              <a:t>of </a:t>
            </a:r>
            <a:r>
              <a:rPr sz="3200" dirty="0">
                <a:latin typeface="Segoe UI"/>
                <a:cs typeface="Segoe UI"/>
              </a:rPr>
              <a:t>a </a:t>
            </a:r>
            <a:r>
              <a:rPr sz="3200" spc="-5" dirty="0">
                <a:latin typeface="Segoe UI"/>
                <a:cs typeface="Segoe UI"/>
              </a:rPr>
              <a:t>multiclass error </a:t>
            </a:r>
            <a:r>
              <a:rPr sz="3200" spc="-15" dirty="0">
                <a:latin typeface="Segoe UI"/>
                <a:cs typeface="Segoe UI"/>
              </a:rPr>
              <a:t>to </a:t>
            </a:r>
            <a:r>
              <a:rPr sz="3200" dirty="0">
                <a:latin typeface="Segoe UI"/>
                <a:cs typeface="Segoe UI"/>
              </a:rPr>
              <a:t>the  number </a:t>
            </a:r>
            <a:r>
              <a:rPr sz="3200" spc="-35" dirty="0">
                <a:latin typeface="Segoe UI"/>
                <a:cs typeface="Segoe UI"/>
              </a:rPr>
              <a:t>of </a:t>
            </a:r>
            <a:r>
              <a:rPr sz="3200" spc="20" dirty="0">
                <a:latin typeface="Segoe UI"/>
                <a:cs typeface="Segoe UI"/>
              </a:rPr>
              <a:t>binary </a:t>
            </a:r>
            <a:r>
              <a:rPr sz="3200" dirty="0">
                <a:latin typeface="Segoe UI"/>
                <a:cs typeface="Segoe UI"/>
              </a:rPr>
              <a:t>errors</a:t>
            </a:r>
            <a:r>
              <a:rPr sz="3200" spc="-65" dirty="0">
                <a:latin typeface="Segoe UI"/>
                <a:cs typeface="Segoe UI"/>
              </a:rPr>
              <a:t> </a:t>
            </a:r>
            <a:r>
              <a:rPr sz="3200" spc="-15" dirty="0">
                <a:latin typeface="Segoe UI"/>
                <a:cs typeface="Segoe UI"/>
              </a:rPr>
              <a:t>(“efficiency”)?</a:t>
            </a:r>
            <a:endParaRPr sz="3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4876" y="483234"/>
            <a:ext cx="42532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Error </a:t>
            </a:r>
            <a:r>
              <a:rPr spc="-5" dirty="0"/>
              <a:t>bound</a:t>
            </a:r>
            <a:r>
              <a:rPr spc="-85" dirty="0"/>
              <a:t> </a:t>
            </a:r>
            <a:r>
              <a:rPr spc="-45" dirty="0"/>
              <a:t>proof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501"/>
            <a:ext cx="7790815" cy="4904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If we have </a:t>
            </a:r>
            <a:r>
              <a:rPr sz="3200" dirty="0">
                <a:latin typeface="Segoe UI"/>
                <a:cs typeface="Segoe UI"/>
              </a:rPr>
              <a:t>a </a:t>
            </a:r>
            <a:r>
              <a:rPr sz="3200" b="1" spc="-5" dirty="0">
                <a:latin typeface="Segoe UI"/>
                <a:cs typeface="Segoe UI"/>
              </a:rPr>
              <a:t>false negative </a:t>
            </a:r>
            <a:r>
              <a:rPr sz="3200" dirty="0">
                <a:latin typeface="Segoe UI"/>
                <a:cs typeface="Segoe UI"/>
              </a:rPr>
              <a:t>on </a:t>
            </a:r>
            <a:r>
              <a:rPr sz="3200" spc="-5" dirty="0">
                <a:latin typeface="Segoe UI"/>
                <a:cs typeface="Segoe UI"/>
              </a:rPr>
              <a:t>one </a:t>
            </a:r>
            <a:r>
              <a:rPr sz="3200" spc="-35" dirty="0">
                <a:latin typeface="Segoe UI"/>
                <a:cs typeface="Segoe UI"/>
              </a:rPr>
              <a:t>of </a:t>
            </a:r>
            <a:r>
              <a:rPr sz="3200" dirty="0">
                <a:latin typeface="Segoe UI"/>
                <a:cs typeface="Segoe UI"/>
              </a:rPr>
              <a:t>the  </a:t>
            </a:r>
            <a:r>
              <a:rPr sz="3200" spc="25" dirty="0">
                <a:latin typeface="Segoe UI"/>
                <a:cs typeface="Segoe UI"/>
              </a:rPr>
              <a:t>binary </a:t>
            </a:r>
            <a:r>
              <a:rPr sz="3200" spc="5" dirty="0">
                <a:latin typeface="Segoe UI"/>
                <a:cs typeface="Segoe UI"/>
              </a:rPr>
              <a:t>classifiers </a:t>
            </a:r>
            <a:r>
              <a:rPr sz="3200" dirty="0">
                <a:latin typeface="Segoe UI"/>
                <a:cs typeface="Segoe UI"/>
              </a:rPr>
              <a:t>(assuming all other  </a:t>
            </a:r>
            <a:r>
              <a:rPr sz="3200" spc="5" dirty="0">
                <a:latin typeface="Segoe UI"/>
                <a:cs typeface="Segoe UI"/>
              </a:rPr>
              <a:t>classifiers </a:t>
            </a:r>
            <a:r>
              <a:rPr sz="3200" spc="-5" dirty="0">
                <a:latin typeface="Segoe UI"/>
                <a:cs typeface="Segoe UI"/>
              </a:rPr>
              <a:t>correctly output</a:t>
            </a:r>
            <a:r>
              <a:rPr sz="3200" spc="-3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negative)</a:t>
            </a:r>
            <a:endParaRPr sz="3200">
              <a:latin typeface="Segoe UI"/>
              <a:cs typeface="Segoe UI"/>
            </a:endParaRPr>
          </a:p>
          <a:p>
            <a:pPr marL="355600" marR="137795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What </a:t>
            </a:r>
            <a:r>
              <a:rPr sz="3200" spc="-5" dirty="0">
                <a:latin typeface="Segoe UI"/>
                <a:cs typeface="Segoe UI"/>
              </a:rPr>
              <a:t>is the probability </a:t>
            </a:r>
            <a:r>
              <a:rPr sz="3200" dirty="0">
                <a:latin typeface="Segoe UI"/>
                <a:cs typeface="Segoe UI"/>
              </a:rPr>
              <a:t>that we will </a:t>
            </a:r>
            <a:r>
              <a:rPr sz="3200" spc="-15" dirty="0">
                <a:latin typeface="Segoe UI"/>
                <a:cs typeface="Segoe UI"/>
              </a:rPr>
              <a:t>make  </a:t>
            </a:r>
            <a:r>
              <a:rPr sz="3200" dirty="0">
                <a:latin typeface="Segoe UI"/>
                <a:cs typeface="Segoe UI"/>
              </a:rPr>
              <a:t>an </a:t>
            </a:r>
            <a:r>
              <a:rPr sz="3200" spc="-10" dirty="0">
                <a:latin typeface="Segoe UI"/>
                <a:cs typeface="Segoe UI"/>
              </a:rPr>
              <a:t>incorrect </a:t>
            </a:r>
            <a:r>
              <a:rPr sz="3200" dirty="0">
                <a:latin typeface="Segoe UI"/>
                <a:cs typeface="Segoe UI"/>
              </a:rPr>
              <a:t>multiclass</a:t>
            </a:r>
            <a:r>
              <a:rPr sz="3200" spc="-10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prediction?</a:t>
            </a:r>
            <a:endParaRPr sz="3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4000">
              <a:latin typeface="Segoe UI"/>
              <a:cs typeface="Segoe UI"/>
            </a:endParaRPr>
          </a:p>
          <a:p>
            <a:pPr marR="304165" algn="ctr">
              <a:lnSpc>
                <a:spcPct val="100000"/>
              </a:lnSpc>
            </a:pPr>
            <a:r>
              <a:rPr sz="3200" dirty="0">
                <a:latin typeface="Segoe UI"/>
                <a:cs typeface="Segoe UI"/>
              </a:rPr>
              <a:t>(K – 1) /</a:t>
            </a:r>
            <a:r>
              <a:rPr sz="3200" spc="-4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K</a:t>
            </a:r>
            <a:endParaRPr sz="3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4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latin typeface="Segoe UI"/>
                <a:cs typeface="Segoe UI"/>
              </a:rPr>
              <a:t>Efficiency: ( K – </a:t>
            </a:r>
            <a:r>
              <a:rPr sz="3200" spc="-5" dirty="0">
                <a:latin typeface="Segoe UI"/>
                <a:cs typeface="Segoe UI"/>
              </a:rPr>
              <a:t>1) </a:t>
            </a:r>
            <a:r>
              <a:rPr sz="3200" dirty="0">
                <a:latin typeface="Segoe UI"/>
                <a:cs typeface="Segoe UI"/>
              </a:rPr>
              <a:t>/ K / 1 = (K – 1 ) /</a:t>
            </a:r>
            <a:r>
              <a:rPr sz="3200" spc="-11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K</a:t>
            </a:r>
            <a:endParaRPr sz="3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4876" y="483234"/>
            <a:ext cx="42532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Error </a:t>
            </a:r>
            <a:r>
              <a:rPr spc="-5" dirty="0"/>
              <a:t>bound</a:t>
            </a:r>
            <a:r>
              <a:rPr spc="-85" dirty="0"/>
              <a:t> </a:t>
            </a:r>
            <a:r>
              <a:rPr spc="-45" dirty="0"/>
              <a:t>proof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501"/>
            <a:ext cx="7655559" cy="39801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768985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If we have </a:t>
            </a:r>
            <a:r>
              <a:rPr sz="3200" dirty="0">
                <a:latin typeface="Segoe UI"/>
                <a:cs typeface="Segoe UI"/>
              </a:rPr>
              <a:t>p </a:t>
            </a:r>
            <a:r>
              <a:rPr sz="3200" b="1" spc="-5" dirty="0">
                <a:latin typeface="Segoe UI"/>
                <a:cs typeface="Segoe UI"/>
              </a:rPr>
              <a:t>false </a:t>
            </a:r>
            <a:r>
              <a:rPr sz="3200" b="1" spc="-10" dirty="0">
                <a:latin typeface="Segoe UI"/>
                <a:cs typeface="Segoe UI"/>
              </a:rPr>
              <a:t>positives </a:t>
            </a:r>
            <a:r>
              <a:rPr sz="3200" dirty="0">
                <a:latin typeface="Segoe UI"/>
                <a:cs typeface="Segoe UI"/>
              </a:rPr>
              <a:t>with </a:t>
            </a:r>
            <a:r>
              <a:rPr sz="3200" spc="-5" dirty="0">
                <a:latin typeface="Segoe UI"/>
                <a:cs typeface="Segoe UI"/>
              </a:rPr>
              <a:t>the  </a:t>
            </a:r>
            <a:r>
              <a:rPr sz="3200" spc="25" dirty="0">
                <a:latin typeface="Segoe UI"/>
                <a:cs typeface="Segoe UI"/>
              </a:rPr>
              <a:t>binary</a:t>
            </a:r>
            <a:r>
              <a:rPr sz="3200" spc="-20" dirty="0">
                <a:latin typeface="Segoe UI"/>
                <a:cs typeface="Segoe UI"/>
              </a:rPr>
              <a:t> </a:t>
            </a:r>
            <a:r>
              <a:rPr sz="3200" spc="5" dirty="0">
                <a:latin typeface="Segoe UI"/>
                <a:cs typeface="Segoe UI"/>
              </a:rPr>
              <a:t>classifiers</a:t>
            </a:r>
            <a:endParaRPr sz="3200">
              <a:latin typeface="Segoe UI"/>
              <a:cs typeface="Segoe UI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What is </a:t>
            </a:r>
            <a:r>
              <a:rPr sz="3200" dirty="0">
                <a:latin typeface="Segoe UI"/>
                <a:cs typeface="Segoe UI"/>
              </a:rPr>
              <a:t>the </a:t>
            </a:r>
            <a:r>
              <a:rPr sz="3200" spc="-10" dirty="0">
                <a:latin typeface="Segoe UI"/>
                <a:cs typeface="Segoe UI"/>
              </a:rPr>
              <a:t>probability </a:t>
            </a:r>
            <a:r>
              <a:rPr sz="3200" spc="-5" dirty="0">
                <a:latin typeface="Segoe UI"/>
                <a:cs typeface="Segoe UI"/>
              </a:rPr>
              <a:t>that we </a:t>
            </a:r>
            <a:r>
              <a:rPr sz="3200" dirty="0">
                <a:latin typeface="Segoe UI"/>
                <a:cs typeface="Segoe UI"/>
              </a:rPr>
              <a:t>will </a:t>
            </a:r>
            <a:r>
              <a:rPr sz="3200" spc="-20" dirty="0">
                <a:latin typeface="Segoe UI"/>
                <a:cs typeface="Segoe UI"/>
              </a:rPr>
              <a:t>make  </a:t>
            </a:r>
            <a:r>
              <a:rPr sz="3200" dirty="0">
                <a:latin typeface="Segoe UI"/>
                <a:cs typeface="Segoe UI"/>
              </a:rPr>
              <a:t>an </a:t>
            </a:r>
            <a:r>
              <a:rPr sz="3200" spc="-5" dirty="0">
                <a:latin typeface="Segoe UI"/>
                <a:cs typeface="Segoe UI"/>
              </a:rPr>
              <a:t>incorrect multiclass</a:t>
            </a:r>
            <a:r>
              <a:rPr sz="3200" spc="-4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prediction?</a:t>
            </a:r>
            <a:endParaRPr sz="32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8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If </a:t>
            </a:r>
            <a:r>
              <a:rPr sz="2800" spc="-10" dirty="0">
                <a:latin typeface="Segoe UI"/>
                <a:cs typeface="Segoe UI"/>
              </a:rPr>
              <a:t>there </a:t>
            </a:r>
            <a:r>
              <a:rPr sz="2800" spc="-5" dirty="0">
                <a:latin typeface="Segoe UI"/>
                <a:cs typeface="Segoe UI"/>
              </a:rPr>
              <a:t>is also a false negative:</a:t>
            </a:r>
            <a:r>
              <a:rPr sz="2800" spc="-1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1</a:t>
            </a:r>
            <a:endParaRPr sz="2800">
              <a:latin typeface="Segoe UI"/>
              <a:cs typeface="Segoe UI"/>
            </a:endParaRPr>
          </a:p>
          <a:p>
            <a:pPr marL="1155700" lvl="2" indent="-229235">
              <a:lnSpc>
                <a:spcPct val="100000"/>
              </a:lnSpc>
              <a:spcBef>
                <a:spcPts val="5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Segoe UI"/>
                <a:cs typeface="Segoe UI"/>
              </a:rPr>
              <a:t>Efficiency =1 </a:t>
            </a:r>
            <a:r>
              <a:rPr sz="2400" dirty="0">
                <a:latin typeface="Segoe UI"/>
                <a:cs typeface="Segoe UI"/>
              </a:rPr>
              <a:t>/ ( p + 1</a:t>
            </a:r>
            <a:r>
              <a:rPr sz="2400" spc="4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)</a:t>
            </a:r>
            <a:endParaRPr sz="24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5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If </a:t>
            </a:r>
            <a:r>
              <a:rPr sz="2800" spc="-10" dirty="0">
                <a:latin typeface="Segoe UI"/>
                <a:cs typeface="Segoe UI"/>
              </a:rPr>
              <a:t>there </a:t>
            </a:r>
            <a:r>
              <a:rPr sz="2800" spc="-5" dirty="0">
                <a:latin typeface="Segoe UI"/>
                <a:cs typeface="Segoe UI"/>
              </a:rPr>
              <a:t>is no false negative: p / ( p +</a:t>
            </a:r>
            <a:r>
              <a:rPr sz="2800" spc="-10" dirty="0">
                <a:latin typeface="Segoe UI"/>
                <a:cs typeface="Segoe UI"/>
              </a:rPr>
              <a:t> 1)</a:t>
            </a:r>
            <a:endParaRPr sz="2800">
              <a:latin typeface="Segoe UI"/>
              <a:cs typeface="Segoe UI"/>
            </a:endParaRPr>
          </a:p>
          <a:p>
            <a:pPr marL="1155700" lvl="2" indent="-229235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Segoe UI"/>
                <a:cs typeface="Segoe UI"/>
              </a:rPr>
              <a:t>Efficiency </a:t>
            </a:r>
            <a:r>
              <a:rPr sz="2400" dirty="0">
                <a:latin typeface="Segoe UI"/>
                <a:cs typeface="Segoe UI"/>
              </a:rPr>
              <a:t>= p / (p + 1) / p = 1 / ( p +</a:t>
            </a:r>
            <a:r>
              <a:rPr sz="2400" spc="-2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1)</a:t>
            </a:r>
            <a:endParaRPr sz="2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4876" y="483234"/>
            <a:ext cx="42532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Error </a:t>
            </a:r>
            <a:r>
              <a:rPr spc="-5" dirty="0"/>
              <a:t>bound</a:t>
            </a:r>
            <a:r>
              <a:rPr spc="-85" dirty="0"/>
              <a:t> </a:t>
            </a:r>
            <a:r>
              <a:rPr spc="-45" dirty="0"/>
              <a:t>proof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501"/>
            <a:ext cx="7600950" cy="34290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What </a:t>
            </a:r>
            <a:r>
              <a:rPr sz="3200" spc="-5" dirty="0">
                <a:latin typeface="Segoe UI"/>
                <a:cs typeface="Segoe UI"/>
              </a:rPr>
              <a:t>is the </a:t>
            </a:r>
            <a:r>
              <a:rPr sz="3200" dirty="0">
                <a:latin typeface="Segoe UI"/>
                <a:cs typeface="Segoe UI"/>
              </a:rPr>
              <a:t>worst case</a:t>
            </a:r>
            <a:r>
              <a:rPr sz="3200" spc="5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scenario?</a:t>
            </a:r>
            <a:endParaRPr sz="3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395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25" dirty="0">
                <a:latin typeface="Segoe UI"/>
                <a:cs typeface="Segoe UI"/>
              </a:rPr>
              <a:t>False </a:t>
            </a:r>
            <a:r>
              <a:rPr sz="2800" spc="-5" dirty="0">
                <a:latin typeface="Segoe UI"/>
                <a:cs typeface="Segoe UI"/>
              </a:rPr>
              <a:t>negative case: efficiency is</a:t>
            </a:r>
            <a:r>
              <a:rPr sz="2800" spc="-10" dirty="0">
                <a:latin typeface="Segoe UI"/>
                <a:cs typeface="Segoe UI"/>
              </a:rPr>
              <a:t> (K-1)/K</a:t>
            </a:r>
            <a:endParaRPr sz="2800">
              <a:latin typeface="Segoe UI"/>
              <a:cs typeface="Segoe UI"/>
            </a:endParaRPr>
          </a:p>
          <a:p>
            <a:pPr marL="1155700" lvl="2" indent="-229235">
              <a:lnSpc>
                <a:spcPct val="100000"/>
              </a:lnSpc>
              <a:spcBef>
                <a:spcPts val="5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Segoe UI"/>
                <a:cs typeface="Segoe UI"/>
              </a:rPr>
              <a:t>Larger </a:t>
            </a:r>
            <a:r>
              <a:rPr sz="2400" dirty="0">
                <a:latin typeface="Segoe UI"/>
                <a:cs typeface="Segoe UI"/>
              </a:rPr>
              <a:t>than false </a:t>
            </a:r>
            <a:r>
              <a:rPr sz="2400" spc="-5" dirty="0">
                <a:latin typeface="Segoe UI"/>
                <a:cs typeface="Segoe UI"/>
              </a:rPr>
              <a:t>positive</a:t>
            </a:r>
            <a:r>
              <a:rPr sz="2400" spc="10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efficiencies</a:t>
            </a:r>
            <a:endParaRPr sz="2400">
              <a:latin typeface="Segoe UI"/>
              <a:cs typeface="Segoe UI"/>
            </a:endParaRPr>
          </a:p>
          <a:p>
            <a:pPr lvl="2">
              <a:lnSpc>
                <a:spcPct val="100000"/>
              </a:lnSpc>
              <a:spcBef>
                <a:spcPts val="55"/>
              </a:spcBef>
              <a:buFont typeface="Arial"/>
              <a:buChar char="•"/>
            </a:pPr>
            <a:endParaRPr sz="3050">
              <a:latin typeface="Segoe UI"/>
              <a:cs typeface="Segoe UI"/>
            </a:endParaRPr>
          </a:p>
          <a:p>
            <a:pPr marL="756285" marR="5080" lvl="1" indent="-287020">
              <a:lnSpc>
                <a:spcPct val="100000"/>
              </a:lnSpc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Segoe UI"/>
                <a:cs typeface="Segoe UI"/>
              </a:rPr>
              <a:t>There </a:t>
            </a:r>
            <a:r>
              <a:rPr sz="2800" spc="-15" dirty="0">
                <a:latin typeface="Segoe UI"/>
                <a:cs typeface="Segoe UI"/>
              </a:rPr>
              <a:t>are </a:t>
            </a:r>
            <a:r>
              <a:rPr sz="2800" spc="-5" dirty="0">
                <a:latin typeface="Segoe UI"/>
                <a:cs typeface="Segoe UI"/>
              </a:rPr>
              <a:t>K-many </a:t>
            </a:r>
            <a:r>
              <a:rPr sz="2800" spc="5" dirty="0">
                <a:latin typeface="Segoe UI"/>
                <a:cs typeface="Segoe UI"/>
              </a:rPr>
              <a:t>opportunities </a:t>
            </a:r>
            <a:r>
              <a:rPr sz="2800" spc="-15" dirty="0">
                <a:latin typeface="Segoe UI"/>
                <a:cs typeface="Segoe UI"/>
              </a:rPr>
              <a:t>to </a:t>
            </a:r>
            <a:r>
              <a:rPr sz="2800" spc="-5" dirty="0">
                <a:latin typeface="Segoe UI"/>
                <a:cs typeface="Segoe UI"/>
              </a:rPr>
              <a:t>get false  negative, </a:t>
            </a:r>
            <a:r>
              <a:rPr sz="2800" b="1" spc="-15" dirty="0">
                <a:latin typeface="Segoe UI"/>
                <a:cs typeface="Segoe UI"/>
              </a:rPr>
              <a:t>overall </a:t>
            </a:r>
            <a:r>
              <a:rPr sz="2800" b="1" spc="-5" dirty="0">
                <a:latin typeface="Segoe UI"/>
                <a:cs typeface="Segoe UI"/>
              </a:rPr>
              <a:t>error </a:t>
            </a:r>
            <a:r>
              <a:rPr sz="2800" b="1" spc="-10" dirty="0">
                <a:latin typeface="Segoe UI"/>
                <a:cs typeface="Segoe UI"/>
              </a:rPr>
              <a:t>bound </a:t>
            </a:r>
            <a:r>
              <a:rPr sz="2800" b="1" spc="-5" dirty="0">
                <a:latin typeface="Segoe UI"/>
                <a:cs typeface="Segoe UI"/>
              </a:rPr>
              <a:t>is (K-1)</a:t>
            </a:r>
            <a:r>
              <a:rPr sz="2800" b="1" spc="130" dirty="0">
                <a:latin typeface="Segoe UI"/>
                <a:cs typeface="Segoe UI"/>
              </a:rPr>
              <a:t> </a:t>
            </a:r>
            <a:r>
              <a:rPr sz="2800" b="1" spc="-5" dirty="0">
                <a:latin typeface="Segoe UI"/>
                <a:cs typeface="Segoe UI"/>
              </a:rPr>
              <a:t>ε</a:t>
            </a:r>
            <a:endParaRPr sz="2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9929" y="483234"/>
            <a:ext cx="41808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221990" algn="l"/>
              </a:tabLst>
            </a:pPr>
            <a:r>
              <a:rPr spc="-5" dirty="0"/>
              <a:t>Reductio</a:t>
            </a:r>
            <a:r>
              <a:rPr dirty="0"/>
              <a:t>n</a:t>
            </a:r>
            <a:r>
              <a:rPr spc="-40" dirty="0"/>
              <a:t> </a:t>
            </a:r>
            <a:r>
              <a:rPr spc="-5" dirty="0"/>
              <a:t>2</a:t>
            </a:r>
            <a:r>
              <a:rPr dirty="0"/>
              <a:t>:	</a:t>
            </a:r>
            <a:r>
              <a:rPr spc="-380" dirty="0"/>
              <a:t>AV</a:t>
            </a:r>
            <a:r>
              <a:rPr dirty="0"/>
              <a:t>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501"/>
            <a:ext cx="50355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All </a:t>
            </a:r>
            <a:r>
              <a:rPr sz="3200" dirty="0">
                <a:latin typeface="Segoe UI"/>
                <a:cs typeface="Segoe UI"/>
              </a:rPr>
              <a:t>versus </a:t>
            </a:r>
            <a:r>
              <a:rPr sz="3200" spc="5" dirty="0">
                <a:latin typeface="Segoe UI"/>
                <a:cs typeface="Segoe UI"/>
              </a:rPr>
              <a:t>all </a:t>
            </a:r>
            <a:r>
              <a:rPr sz="3200" dirty="0">
                <a:latin typeface="Segoe UI"/>
                <a:cs typeface="Segoe UI"/>
              </a:rPr>
              <a:t>(aka all</a:t>
            </a:r>
            <a:r>
              <a:rPr sz="3200" spc="-105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pairs)</a:t>
            </a:r>
            <a:endParaRPr sz="32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378530"/>
            <a:ext cx="7058659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How many </a:t>
            </a:r>
            <a:r>
              <a:rPr sz="3200" spc="25" dirty="0">
                <a:latin typeface="Segoe UI"/>
                <a:cs typeface="Segoe UI"/>
              </a:rPr>
              <a:t>binary </a:t>
            </a:r>
            <a:r>
              <a:rPr sz="3200" dirty="0">
                <a:latin typeface="Segoe UI"/>
                <a:cs typeface="Segoe UI"/>
              </a:rPr>
              <a:t>classifiers does</a:t>
            </a:r>
            <a:r>
              <a:rPr sz="3200" spc="-10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this  </a:t>
            </a:r>
            <a:r>
              <a:rPr sz="3200" spc="-10" dirty="0">
                <a:latin typeface="Segoe UI"/>
                <a:cs typeface="Segoe UI"/>
              </a:rPr>
              <a:t>require?</a:t>
            </a:r>
            <a:endParaRPr sz="3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432" y="95937"/>
            <a:ext cx="7289734" cy="66816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Time</a:t>
            </a:r>
            <a:r>
              <a:rPr spc="-85" dirty="0"/>
              <a:t> </a:t>
            </a:r>
            <a:r>
              <a:rPr dirty="0"/>
              <a:t>complexity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501"/>
            <a:ext cx="8027034" cy="33680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Suppose you have </a:t>
            </a:r>
            <a:r>
              <a:rPr sz="3200" dirty="0">
                <a:latin typeface="Segoe UI"/>
                <a:cs typeface="Segoe UI"/>
              </a:rPr>
              <a:t>N training examples, </a:t>
            </a:r>
            <a:r>
              <a:rPr sz="3200" spc="-5" dirty="0">
                <a:latin typeface="Segoe UI"/>
                <a:cs typeface="Segoe UI"/>
              </a:rPr>
              <a:t>in  </a:t>
            </a:r>
            <a:r>
              <a:rPr sz="3200" dirty="0">
                <a:latin typeface="Segoe UI"/>
                <a:cs typeface="Segoe UI"/>
              </a:rPr>
              <a:t>K classes. How </a:t>
            </a:r>
            <a:r>
              <a:rPr sz="3200" spc="-5" dirty="0">
                <a:latin typeface="Segoe UI"/>
                <a:cs typeface="Segoe UI"/>
              </a:rPr>
              <a:t>long does it </a:t>
            </a:r>
            <a:r>
              <a:rPr sz="3200" spc="-15" dirty="0">
                <a:latin typeface="Segoe UI"/>
                <a:cs typeface="Segoe UI"/>
              </a:rPr>
              <a:t>take to </a:t>
            </a:r>
            <a:r>
              <a:rPr sz="3200" dirty="0">
                <a:latin typeface="Segoe UI"/>
                <a:cs typeface="Segoe UI"/>
              </a:rPr>
              <a:t>train an  </a:t>
            </a:r>
            <a:r>
              <a:rPr sz="3200" spc="-120" dirty="0">
                <a:latin typeface="Segoe UI"/>
                <a:cs typeface="Segoe UI"/>
              </a:rPr>
              <a:t>AVA</a:t>
            </a:r>
            <a:r>
              <a:rPr sz="3200" spc="-2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classifier</a:t>
            </a:r>
            <a:endParaRPr sz="3200">
              <a:latin typeface="Segoe UI"/>
              <a:cs typeface="Segoe UI"/>
            </a:endParaRPr>
          </a:p>
          <a:p>
            <a:pPr marL="756285" marR="168275" lvl="1" indent="-287020">
              <a:lnSpc>
                <a:spcPct val="100000"/>
              </a:lnSpc>
              <a:spcBef>
                <a:spcPts val="68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if the </a:t>
            </a:r>
            <a:r>
              <a:rPr sz="2800" spc="-15" dirty="0">
                <a:latin typeface="Segoe UI"/>
                <a:cs typeface="Segoe UI"/>
              </a:rPr>
              <a:t>base </a:t>
            </a:r>
            <a:r>
              <a:rPr sz="2800" spc="15" dirty="0">
                <a:latin typeface="Segoe UI"/>
                <a:cs typeface="Segoe UI"/>
              </a:rPr>
              <a:t>binary </a:t>
            </a:r>
            <a:r>
              <a:rPr sz="2800" spc="-5" dirty="0">
                <a:latin typeface="Segoe UI"/>
                <a:cs typeface="Segoe UI"/>
              </a:rPr>
              <a:t>classifier </a:t>
            </a:r>
            <a:r>
              <a:rPr sz="2800" spc="-15" dirty="0">
                <a:latin typeface="Segoe UI"/>
                <a:cs typeface="Segoe UI"/>
              </a:rPr>
              <a:t>takes </a:t>
            </a:r>
            <a:r>
              <a:rPr sz="2800" spc="-10" dirty="0">
                <a:latin typeface="Segoe UI"/>
                <a:cs typeface="Segoe UI"/>
              </a:rPr>
              <a:t>O(N) </a:t>
            </a:r>
            <a:r>
              <a:rPr sz="2800" spc="-5" dirty="0">
                <a:latin typeface="Segoe UI"/>
                <a:cs typeface="Segoe UI"/>
              </a:rPr>
              <a:t>time </a:t>
            </a:r>
            <a:r>
              <a:rPr sz="2800" spc="-15" dirty="0">
                <a:latin typeface="Segoe UI"/>
                <a:cs typeface="Segoe UI"/>
              </a:rPr>
              <a:t>to  </a:t>
            </a:r>
            <a:r>
              <a:rPr sz="2800" spc="-10" dirty="0">
                <a:latin typeface="Segoe UI"/>
                <a:cs typeface="Segoe UI"/>
              </a:rPr>
              <a:t>learn?</a:t>
            </a:r>
            <a:endParaRPr sz="2800">
              <a:latin typeface="Segoe UI"/>
              <a:cs typeface="Segoe UI"/>
            </a:endParaRPr>
          </a:p>
          <a:p>
            <a:pPr marL="756285" marR="15303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if the </a:t>
            </a:r>
            <a:r>
              <a:rPr sz="2800" spc="-15" dirty="0">
                <a:latin typeface="Segoe UI"/>
                <a:cs typeface="Segoe UI"/>
              </a:rPr>
              <a:t>base </a:t>
            </a:r>
            <a:r>
              <a:rPr sz="2800" spc="15" dirty="0">
                <a:latin typeface="Segoe UI"/>
                <a:cs typeface="Segoe UI"/>
              </a:rPr>
              <a:t>binary </a:t>
            </a:r>
            <a:r>
              <a:rPr sz="2800" spc="-5" dirty="0">
                <a:latin typeface="Segoe UI"/>
                <a:cs typeface="Segoe UI"/>
              </a:rPr>
              <a:t>classifier </a:t>
            </a:r>
            <a:r>
              <a:rPr sz="2800" spc="-15" dirty="0">
                <a:latin typeface="Segoe UI"/>
                <a:cs typeface="Segoe UI"/>
              </a:rPr>
              <a:t>takes </a:t>
            </a:r>
            <a:r>
              <a:rPr sz="2800" spc="-5" dirty="0">
                <a:latin typeface="Segoe UI"/>
                <a:cs typeface="Segoe UI"/>
              </a:rPr>
              <a:t>O(N^2) time  </a:t>
            </a:r>
            <a:r>
              <a:rPr sz="2800" spc="-15" dirty="0">
                <a:latin typeface="Segoe UI"/>
                <a:cs typeface="Segoe UI"/>
              </a:rPr>
              <a:t>to</a:t>
            </a:r>
            <a:r>
              <a:rPr sz="2800" spc="-1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learn?</a:t>
            </a:r>
            <a:endParaRPr sz="2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6298" y="483234"/>
            <a:ext cx="28511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Error</a:t>
            </a:r>
            <a:r>
              <a:rPr spc="-90" dirty="0"/>
              <a:t> </a:t>
            </a:r>
            <a:r>
              <a:rPr spc="-5" dirty="0"/>
              <a:t>bound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501"/>
            <a:ext cx="7922259" cy="3636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b="1" spc="-5" dirty="0">
                <a:latin typeface="Segoe UI"/>
                <a:cs typeface="Segoe UI"/>
              </a:rPr>
              <a:t>Theorem: </a:t>
            </a:r>
            <a:r>
              <a:rPr sz="3200" spc="-5" dirty="0">
                <a:latin typeface="Segoe UI"/>
                <a:cs typeface="Segoe UI"/>
              </a:rPr>
              <a:t>Suppose </a:t>
            </a:r>
            <a:r>
              <a:rPr sz="3200" dirty="0">
                <a:latin typeface="Segoe UI"/>
                <a:cs typeface="Segoe UI"/>
              </a:rPr>
              <a:t>that the </a:t>
            </a:r>
            <a:r>
              <a:rPr sz="3200" spc="-5" dirty="0">
                <a:latin typeface="Segoe UI"/>
                <a:cs typeface="Segoe UI"/>
              </a:rPr>
              <a:t>average error  </a:t>
            </a:r>
            <a:r>
              <a:rPr sz="3200" spc="-35" dirty="0">
                <a:latin typeface="Segoe UI"/>
                <a:cs typeface="Segoe UI"/>
              </a:rPr>
              <a:t>of </a:t>
            </a:r>
            <a:r>
              <a:rPr sz="3200" dirty="0">
                <a:latin typeface="Segoe UI"/>
                <a:cs typeface="Segoe UI"/>
              </a:rPr>
              <a:t>the K </a:t>
            </a:r>
            <a:r>
              <a:rPr sz="3200" spc="20" dirty="0">
                <a:latin typeface="Segoe UI"/>
                <a:cs typeface="Segoe UI"/>
              </a:rPr>
              <a:t>binary </a:t>
            </a:r>
            <a:r>
              <a:rPr sz="3200" dirty="0">
                <a:latin typeface="Segoe UI"/>
                <a:cs typeface="Segoe UI"/>
              </a:rPr>
              <a:t>classifiers </a:t>
            </a:r>
            <a:r>
              <a:rPr sz="3200" spc="-5" dirty="0">
                <a:latin typeface="Segoe UI"/>
                <a:cs typeface="Segoe UI"/>
              </a:rPr>
              <a:t>is </a:t>
            </a:r>
            <a:r>
              <a:rPr sz="3200" dirty="0">
                <a:latin typeface="Segoe UI"/>
                <a:cs typeface="Segoe UI"/>
              </a:rPr>
              <a:t>ε, then </a:t>
            </a:r>
            <a:r>
              <a:rPr sz="3200" spc="-5" dirty="0">
                <a:latin typeface="Segoe UI"/>
                <a:cs typeface="Segoe UI"/>
              </a:rPr>
              <a:t>the  error rate </a:t>
            </a:r>
            <a:r>
              <a:rPr sz="3200" spc="-30" dirty="0">
                <a:latin typeface="Segoe UI"/>
                <a:cs typeface="Segoe UI"/>
              </a:rPr>
              <a:t>of </a:t>
            </a:r>
            <a:r>
              <a:rPr sz="3200" spc="-5" dirty="0">
                <a:latin typeface="Segoe UI"/>
                <a:cs typeface="Segoe UI"/>
              </a:rPr>
              <a:t>the </a:t>
            </a:r>
            <a:r>
              <a:rPr sz="3200" spc="-120" dirty="0">
                <a:latin typeface="Segoe UI"/>
                <a:cs typeface="Segoe UI"/>
              </a:rPr>
              <a:t>AVA </a:t>
            </a:r>
            <a:r>
              <a:rPr sz="3200" spc="-5" dirty="0">
                <a:latin typeface="Segoe UI"/>
                <a:cs typeface="Segoe UI"/>
              </a:rPr>
              <a:t>multiclass </a:t>
            </a:r>
            <a:r>
              <a:rPr sz="3200" dirty="0">
                <a:latin typeface="Segoe UI"/>
                <a:cs typeface="Segoe UI"/>
              </a:rPr>
              <a:t>classifier </a:t>
            </a:r>
            <a:r>
              <a:rPr sz="3200" spc="-5" dirty="0">
                <a:latin typeface="Segoe UI"/>
                <a:cs typeface="Segoe UI"/>
              </a:rPr>
              <a:t>is  </a:t>
            </a:r>
            <a:r>
              <a:rPr sz="3200" dirty="0">
                <a:latin typeface="Segoe UI"/>
                <a:cs typeface="Segoe UI"/>
              </a:rPr>
              <a:t>at </a:t>
            </a:r>
            <a:r>
              <a:rPr sz="3200" spc="-5" dirty="0">
                <a:latin typeface="Segoe UI"/>
                <a:cs typeface="Segoe UI"/>
              </a:rPr>
              <a:t>most </a:t>
            </a:r>
            <a:r>
              <a:rPr sz="3200" dirty="0">
                <a:latin typeface="Segoe UI"/>
                <a:cs typeface="Segoe UI"/>
              </a:rPr>
              <a:t>2(K-1)</a:t>
            </a:r>
            <a:r>
              <a:rPr sz="3200" spc="-4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ε</a:t>
            </a:r>
            <a:endParaRPr sz="3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har char="•"/>
            </a:pPr>
            <a:endParaRPr sz="4000">
              <a:latin typeface="Segoe UI"/>
              <a:cs typeface="Segoe UI"/>
            </a:endParaRPr>
          </a:p>
          <a:p>
            <a:pPr marL="355600" marR="90551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solidFill>
                  <a:srgbClr val="FF0000"/>
                </a:solidFill>
                <a:latin typeface="Segoe UI"/>
                <a:cs typeface="Segoe UI"/>
              </a:rPr>
              <a:t>Question: </a:t>
            </a:r>
            <a:r>
              <a:rPr sz="3200" spc="-5" dirty="0">
                <a:solidFill>
                  <a:srgbClr val="FF0000"/>
                </a:solidFill>
                <a:latin typeface="Segoe UI"/>
                <a:cs typeface="Segoe UI"/>
              </a:rPr>
              <a:t>Does </a:t>
            </a:r>
            <a:r>
              <a:rPr sz="3200" dirty="0">
                <a:solidFill>
                  <a:srgbClr val="FF0000"/>
                </a:solidFill>
                <a:latin typeface="Segoe UI"/>
                <a:cs typeface="Segoe UI"/>
              </a:rPr>
              <a:t>this mean that </a:t>
            </a:r>
            <a:r>
              <a:rPr sz="3200" spc="-120" dirty="0">
                <a:solidFill>
                  <a:srgbClr val="FF0000"/>
                </a:solidFill>
                <a:latin typeface="Segoe UI"/>
                <a:cs typeface="Segoe UI"/>
              </a:rPr>
              <a:t>AVA </a:t>
            </a:r>
            <a:r>
              <a:rPr sz="3200" spc="-5" dirty="0">
                <a:solidFill>
                  <a:srgbClr val="FF0000"/>
                </a:solidFill>
                <a:latin typeface="Segoe UI"/>
                <a:cs typeface="Segoe UI"/>
              </a:rPr>
              <a:t>is  </a:t>
            </a:r>
            <a:r>
              <a:rPr sz="3200" dirty="0">
                <a:solidFill>
                  <a:srgbClr val="FF0000"/>
                </a:solidFill>
                <a:latin typeface="Segoe UI"/>
                <a:cs typeface="Segoe UI"/>
              </a:rPr>
              <a:t>always worse than</a:t>
            </a:r>
            <a:r>
              <a:rPr sz="3200" spc="-1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3200" spc="-45" dirty="0">
                <a:solidFill>
                  <a:srgbClr val="FF0000"/>
                </a:solidFill>
                <a:latin typeface="Segoe UI"/>
                <a:cs typeface="Segoe UI"/>
              </a:rPr>
              <a:t>OVA?</a:t>
            </a:r>
            <a:endParaRPr sz="3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48990" y="483234"/>
            <a:ext cx="244856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Extensions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109557"/>
            <a:ext cx="7496809" cy="419858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Divide and</a:t>
            </a:r>
            <a:r>
              <a:rPr sz="3200" spc="-1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conquer</a:t>
            </a:r>
            <a:r>
              <a:rPr lang="en-US" sz="3200" dirty="0">
                <a:latin typeface="Segoe UI"/>
                <a:cs typeface="Segoe UI"/>
              </a:rPr>
              <a:t> (Hierarchical classification)</a:t>
            </a:r>
            <a:endParaRPr sz="320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Segoe UI"/>
                <a:cs typeface="Segoe UI"/>
              </a:rPr>
              <a:t>Organize </a:t>
            </a:r>
            <a:r>
              <a:rPr sz="2800" spc="-5" dirty="0">
                <a:latin typeface="Segoe UI"/>
                <a:cs typeface="Segoe UI"/>
              </a:rPr>
              <a:t>classes </a:t>
            </a:r>
            <a:r>
              <a:rPr sz="2800" spc="-15" dirty="0">
                <a:latin typeface="Segoe UI"/>
                <a:cs typeface="Segoe UI"/>
              </a:rPr>
              <a:t>into </a:t>
            </a:r>
            <a:r>
              <a:rPr sz="2800" spc="15" dirty="0">
                <a:latin typeface="Segoe UI"/>
                <a:cs typeface="Segoe UI"/>
              </a:rPr>
              <a:t>binary </a:t>
            </a:r>
            <a:r>
              <a:rPr sz="2800" spc="-15" dirty="0">
                <a:latin typeface="Segoe UI"/>
                <a:cs typeface="Segoe UI"/>
              </a:rPr>
              <a:t>tree</a:t>
            </a:r>
            <a:r>
              <a:rPr sz="2800" spc="-5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structures</a:t>
            </a:r>
            <a:endParaRPr lang="en-US" sz="2800" spc="-1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lang="en-US" sz="2800" spc="-10" dirty="0">
                <a:latin typeface="Segoe UI"/>
                <a:cs typeface="Segoe UI"/>
              </a:rPr>
              <a:t>Problem: errors will cascade</a:t>
            </a:r>
            <a:endParaRPr sz="28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Font typeface="Arial"/>
              <a:buChar char="–"/>
            </a:pPr>
            <a:endParaRPr sz="3600" dirty="0">
              <a:latin typeface="Segoe UI"/>
              <a:cs typeface="Segoe UI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Use </a:t>
            </a:r>
            <a:r>
              <a:rPr sz="3200" dirty="0">
                <a:latin typeface="Segoe UI"/>
                <a:cs typeface="Segoe UI"/>
              </a:rPr>
              <a:t>confidence </a:t>
            </a:r>
            <a:r>
              <a:rPr sz="3200" spc="-20" dirty="0">
                <a:latin typeface="Segoe UI"/>
                <a:cs typeface="Segoe UI"/>
              </a:rPr>
              <a:t>to </a:t>
            </a:r>
            <a:r>
              <a:rPr sz="3200" dirty="0">
                <a:latin typeface="Segoe UI"/>
                <a:cs typeface="Segoe UI"/>
              </a:rPr>
              <a:t>weigh </a:t>
            </a:r>
            <a:r>
              <a:rPr sz="3200" spc="-5" dirty="0">
                <a:latin typeface="Segoe UI"/>
                <a:cs typeface="Segoe UI"/>
              </a:rPr>
              <a:t>predictions </a:t>
            </a:r>
            <a:r>
              <a:rPr sz="3200" spc="-35" dirty="0">
                <a:latin typeface="Segoe UI"/>
                <a:cs typeface="Segoe UI"/>
              </a:rPr>
              <a:t>of  </a:t>
            </a:r>
            <a:r>
              <a:rPr sz="3200" spc="25" dirty="0">
                <a:latin typeface="Segoe UI"/>
                <a:cs typeface="Segoe UI"/>
              </a:rPr>
              <a:t>binary</a:t>
            </a:r>
            <a:r>
              <a:rPr sz="3200" spc="-20" dirty="0">
                <a:latin typeface="Segoe UI"/>
                <a:cs typeface="Segoe UI"/>
              </a:rPr>
              <a:t> </a:t>
            </a:r>
            <a:r>
              <a:rPr sz="3200" spc="5" dirty="0">
                <a:latin typeface="Segoe UI"/>
                <a:cs typeface="Segoe UI"/>
              </a:rPr>
              <a:t>classifiers</a:t>
            </a:r>
            <a:endParaRPr sz="320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8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Segoe UI"/>
                <a:cs typeface="Segoe UI"/>
              </a:rPr>
              <a:t>Instead </a:t>
            </a:r>
            <a:r>
              <a:rPr sz="2800" spc="-25" dirty="0">
                <a:latin typeface="Segoe UI"/>
                <a:cs typeface="Segoe UI"/>
              </a:rPr>
              <a:t>of </a:t>
            </a:r>
            <a:r>
              <a:rPr sz="2800" spc="-5" dirty="0">
                <a:latin typeface="Segoe UI"/>
                <a:cs typeface="Segoe UI"/>
              </a:rPr>
              <a:t>using majority</a:t>
            </a:r>
            <a:r>
              <a:rPr sz="2800" spc="15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vote</a:t>
            </a:r>
            <a:endParaRPr sz="280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29405" y="483234"/>
            <a:ext cx="18865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Ranking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501"/>
            <a:ext cx="7793355" cy="32461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Canonical </a:t>
            </a:r>
            <a:r>
              <a:rPr sz="3200" spc="5" dirty="0">
                <a:latin typeface="Segoe UI"/>
                <a:cs typeface="Segoe UI"/>
              </a:rPr>
              <a:t>example: </a:t>
            </a:r>
            <a:r>
              <a:rPr sz="3200" spc="-5" dirty="0">
                <a:latin typeface="Segoe UI"/>
                <a:cs typeface="Segoe UI"/>
              </a:rPr>
              <a:t>web</a:t>
            </a:r>
            <a:r>
              <a:rPr sz="3200" spc="-30" dirty="0">
                <a:latin typeface="Segoe UI"/>
                <a:cs typeface="Segoe UI"/>
              </a:rPr>
              <a:t> </a:t>
            </a:r>
            <a:r>
              <a:rPr sz="3200" spc="-10" dirty="0">
                <a:latin typeface="Segoe UI"/>
                <a:cs typeface="Segoe UI"/>
              </a:rPr>
              <a:t>search</a:t>
            </a:r>
            <a:endParaRPr sz="3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Arial"/>
              <a:buChar char="•"/>
            </a:pPr>
            <a:endParaRPr sz="40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Given </a:t>
            </a:r>
            <a:r>
              <a:rPr sz="3200" dirty="0">
                <a:latin typeface="Segoe UI"/>
                <a:cs typeface="Segoe UI"/>
              </a:rPr>
              <a:t>all </a:t>
            </a:r>
            <a:r>
              <a:rPr sz="3200" spc="-5" dirty="0">
                <a:latin typeface="Segoe UI"/>
                <a:cs typeface="Segoe UI"/>
              </a:rPr>
              <a:t>the </a:t>
            </a:r>
            <a:r>
              <a:rPr sz="3200" dirty="0">
                <a:latin typeface="Segoe UI"/>
                <a:cs typeface="Segoe UI"/>
              </a:rPr>
              <a:t>documents on the</a:t>
            </a:r>
            <a:r>
              <a:rPr sz="3200" spc="-5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web</a:t>
            </a:r>
            <a:endParaRPr sz="3200">
              <a:latin typeface="Segoe UI"/>
              <a:cs typeface="Segoe UI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For </a:t>
            </a:r>
            <a:r>
              <a:rPr sz="3200" dirty="0">
                <a:latin typeface="Segoe UI"/>
                <a:cs typeface="Segoe UI"/>
              </a:rPr>
              <a:t>a user </a:t>
            </a:r>
            <a:r>
              <a:rPr sz="3200" spc="-5" dirty="0">
                <a:latin typeface="Segoe UI"/>
                <a:cs typeface="Segoe UI"/>
              </a:rPr>
              <a:t>query, retrieve </a:t>
            </a:r>
            <a:r>
              <a:rPr sz="3200" spc="-10" dirty="0">
                <a:latin typeface="Segoe UI"/>
                <a:cs typeface="Segoe UI"/>
              </a:rPr>
              <a:t>relevant  </a:t>
            </a:r>
            <a:r>
              <a:rPr sz="3200" dirty="0">
                <a:latin typeface="Segoe UI"/>
                <a:cs typeface="Segoe UI"/>
              </a:rPr>
              <a:t>documents, </a:t>
            </a:r>
            <a:r>
              <a:rPr sz="3200" spc="-10" dirty="0">
                <a:latin typeface="Segoe UI"/>
                <a:cs typeface="Segoe UI"/>
              </a:rPr>
              <a:t>ranked from </a:t>
            </a:r>
            <a:r>
              <a:rPr sz="3200" spc="-5" dirty="0">
                <a:latin typeface="Segoe UI"/>
                <a:cs typeface="Segoe UI"/>
              </a:rPr>
              <a:t>most </a:t>
            </a:r>
            <a:r>
              <a:rPr sz="3200" spc="-10" dirty="0">
                <a:latin typeface="Segoe UI"/>
                <a:cs typeface="Segoe UI"/>
              </a:rPr>
              <a:t>relevant </a:t>
            </a:r>
            <a:r>
              <a:rPr sz="3200" spc="-15" dirty="0">
                <a:latin typeface="Segoe UI"/>
                <a:cs typeface="Segoe UI"/>
              </a:rPr>
              <a:t>to  </a:t>
            </a:r>
            <a:r>
              <a:rPr sz="3200" dirty="0">
                <a:latin typeface="Segoe UI"/>
                <a:cs typeface="Segoe UI"/>
              </a:rPr>
              <a:t>least</a:t>
            </a:r>
            <a:r>
              <a:rPr sz="3200" spc="-5" dirty="0">
                <a:latin typeface="Segoe UI"/>
                <a:cs typeface="Segoe UI"/>
              </a:rPr>
              <a:t> </a:t>
            </a:r>
            <a:r>
              <a:rPr sz="3200" spc="-10" dirty="0">
                <a:latin typeface="Segoe UI"/>
                <a:cs typeface="Segoe UI"/>
              </a:rPr>
              <a:t>relevant</a:t>
            </a:r>
            <a:endParaRPr sz="3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793619"/>
            <a:ext cx="671322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latin typeface="Segoe UI"/>
                <a:cs typeface="Segoe UI"/>
              </a:rPr>
              <a:t>How can </a:t>
            </a:r>
            <a:r>
              <a:rPr sz="3200" b="0" spc="-10" dirty="0">
                <a:latin typeface="Segoe UI"/>
                <a:cs typeface="Segoe UI"/>
              </a:rPr>
              <a:t>we reduce </a:t>
            </a:r>
            <a:r>
              <a:rPr sz="3200" b="0" dirty="0">
                <a:latin typeface="Segoe UI"/>
                <a:cs typeface="Segoe UI"/>
              </a:rPr>
              <a:t>ranking </a:t>
            </a:r>
            <a:r>
              <a:rPr sz="3200" b="0" spc="-20" dirty="0">
                <a:latin typeface="Segoe UI"/>
                <a:cs typeface="Segoe UI"/>
              </a:rPr>
              <a:t>to </a:t>
            </a:r>
            <a:r>
              <a:rPr sz="3200" b="0" spc="20" dirty="0">
                <a:latin typeface="Segoe UI"/>
                <a:cs typeface="Segoe UI"/>
              </a:rPr>
              <a:t>binary  </a:t>
            </a:r>
            <a:r>
              <a:rPr sz="3200" b="0" dirty="0">
                <a:latin typeface="Segoe UI"/>
                <a:cs typeface="Segoe UI"/>
              </a:rPr>
              <a:t>classification?</a:t>
            </a:r>
            <a:endParaRPr sz="3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7048" y="483234"/>
            <a:ext cx="45523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Preference</a:t>
            </a:r>
            <a:r>
              <a:rPr spc="-65" dirty="0"/>
              <a:t> </a:t>
            </a:r>
            <a:r>
              <a:rPr spc="-5" dirty="0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208402"/>
            <a:ext cx="7872095" cy="31235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Given </a:t>
            </a:r>
            <a:r>
              <a:rPr sz="3200" dirty="0">
                <a:latin typeface="Segoe UI"/>
                <a:cs typeface="Segoe UI"/>
              </a:rPr>
              <a:t>a </a:t>
            </a:r>
            <a:r>
              <a:rPr sz="3200" spc="25" dirty="0">
                <a:latin typeface="Segoe UI"/>
                <a:cs typeface="Segoe UI"/>
              </a:rPr>
              <a:t>query </a:t>
            </a:r>
            <a:r>
              <a:rPr sz="3200" dirty="0">
                <a:latin typeface="Segoe UI"/>
                <a:cs typeface="Segoe UI"/>
              </a:rPr>
              <a:t>q and documents di and</a:t>
            </a:r>
            <a:r>
              <a:rPr sz="3200" spc="-105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dj,  </a:t>
            </a:r>
            <a:r>
              <a:rPr sz="3200" dirty="0">
                <a:latin typeface="Segoe UI"/>
                <a:cs typeface="Segoe UI"/>
              </a:rPr>
              <a:t>the </a:t>
            </a:r>
            <a:r>
              <a:rPr sz="3200" spc="-5" dirty="0">
                <a:latin typeface="Segoe UI"/>
                <a:cs typeface="Segoe UI"/>
              </a:rPr>
              <a:t>preference </a:t>
            </a:r>
            <a:r>
              <a:rPr sz="3200" dirty="0">
                <a:latin typeface="Segoe UI"/>
                <a:cs typeface="Segoe UI"/>
              </a:rPr>
              <a:t>function outputs</a:t>
            </a:r>
            <a:r>
              <a:rPr sz="3200" spc="-35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whether</a:t>
            </a:r>
            <a:endParaRPr sz="32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di should be </a:t>
            </a:r>
            <a:r>
              <a:rPr sz="2800" spc="-10" dirty="0">
                <a:latin typeface="Segoe UI"/>
                <a:cs typeface="Segoe UI"/>
              </a:rPr>
              <a:t>preferred </a:t>
            </a:r>
            <a:r>
              <a:rPr sz="2800" spc="-20" dirty="0">
                <a:latin typeface="Segoe UI"/>
                <a:cs typeface="Segoe UI"/>
              </a:rPr>
              <a:t>to</a:t>
            </a:r>
            <a:r>
              <a:rPr sz="2800" spc="25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dj</a:t>
            </a:r>
            <a:endParaRPr sz="28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Or dj should be </a:t>
            </a:r>
            <a:r>
              <a:rPr sz="2800" spc="-15" dirty="0">
                <a:latin typeface="Segoe UI"/>
                <a:cs typeface="Segoe UI"/>
              </a:rPr>
              <a:t>preferred to</a:t>
            </a:r>
            <a:r>
              <a:rPr sz="2800" spc="1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di</a:t>
            </a:r>
            <a:endParaRPr sz="280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Arial"/>
              <a:buChar char="–"/>
            </a:pPr>
            <a:endParaRPr sz="36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30" dirty="0">
                <a:latin typeface="Segoe UI"/>
                <a:cs typeface="Segoe UI"/>
              </a:rPr>
              <a:t>That’s </a:t>
            </a:r>
            <a:r>
              <a:rPr sz="3200" dirty="0">
                <a:latin typeface="Segoe UI"/>
                <a:cs typeface="Segoe UI"/>
              </a:rPr>
              <a:t>a </a:t>
            </a:r>
            <a:r>
              <a:rPr sz="3200" spc="25" dirty="0">
                <a:latin typeface="Segoe UI"/>
                <a:cs typeface="Segoe UI"/>
              </a:rPr>
              <a:t>binary </a:t>
            </a:r>
            <a:r>
              <a:rPr sz="3200" dirty="0">
                <a:latin typeface="Segoe UI"/>
                <a:cs typeface="Segoe UI"/>
              </a:rPr>
              <a:t>classification</a:t>
            </a:r>
            <a:r>
              <a:rPr sz="3200" spc="-60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problem!</a:t>
            </a:r>
            <a:endParaRPr sz="3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1966" y="147955"/>
            <a:ext cx="7039609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89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Specifiying </a:t>
            </a:r>
            <a:r>
              <a:rPr dirty="0"/>
              <a:t>the </a:t>
            </a:r>
            <a:r>
              <a:rPr spc="-10" dirty="0"/>
              <a:t>reduction </a:t>
            </a:r>
            <a:r>
              <a:rPr spc="-25" dirty="0"/>
              <a:t>from  </a:t>
            </a:r>
            <a:r>
              <a:rPr spc="-5" dirty="0"/>
              <a:t>ranking </a:t>
            </a:r>
            <a:r>
              <a:rPr dirty="0"/>
              <a:t>to </a:t>
            </a:r>
            <a:r>
              <a:rPr spc="35" dirty="0"/>
              <a:t>binary</a:t>
            </a:r>
            <a:r>
              <a:rPr spc="-90" dirty="0"/>
              <a:t> </a:t>
            </a:r>
            <a:r>
              <a:rPr spc="-5" dirty="0"/>
              <a:t>classification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208402"/>
            <a:ext cx="8039734" cy="26600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45161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How </a:t>
            </a:r>
            <a:r>
              <a:rPr sz="3200" spc="-20" dirty="0">
                <a:latin typeface="Segoe UI"/>
                <a:cs typeface="Segoe UI"/>
              </a:rPr>
              <a:t>to </a:t>
            </a:r>
            <a:r>
              <a:rPr sz="3200" dirty="0">
                <a:latin typeface="Segoe UI"/>
                <a:cs typeface="Segoe UI"/>
              </a:rPr>
              <a:t>train </a:t>
            </a:r>
            <a:r>
              <a:rPr sz="3200" spc="-5" dirty="0">
                <a:latin typeface="Segoe UI"/>
                <a:cs typeface="Segoe UI"/>
              </a:rPr>
              <a:t>classifier </a:t>
            </a:r>
            <a:r>
              <a:rPr sz="3200" dirty="0">
                <a:latin typeface="Segoe UI"/>
                <a:cs typeface="Segoe UI"/>
              </a:rPr>
              <a:t>that </a:t>
            </a:r>
            <a:r>
              <a:rPr sz="3200" spc="-5" dirty="0">
                <a:latin typeface="Segoe UI"/>
                <a:cs typeface="Segoe UI"/>
              </a:rPr>
              <a:t>predicts  preferences?</a:t>
            </a:r>
            <a:endParaRPr sz="3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"/>
              <a:buChar char="•"/>
            </a:pPr>
            <a:endParaRPr sz="4000">
              <a:latin typeface="Segoe UI"/>
              <a:cs typeface="Segoe UI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How </a:t>
            </a:r>
            <a:r>
              <a:rPr sz="3200" spc="-20" dirty="0">
                <a:latin typeface="Segoe UI"/>
                <a:cs typeface="Segoe UI"/>
              </a:rPr>
              <a:t>to </a:t>
            </a:r>
            <a:r>
              <a:rPr sz="3200" dirty="0">
                <a:latin typeface="Segoe UI"/>
                <a:cs typeface="Segoe UI"/>
              </a:rPr>
              <a:t>turn the </a:t>
            </a:r>
            <a:r>
              <a:rPr sz="3200" spc="-5" dirty="0">
                <a:latin typeface="Segoe UI"/>
                <a:cs typeface="Segoe UI"/>
              </a:rPr>
              <a:t>predicted preferences </a:t>
            </a:r>
            <a:r>
              <a:rPr sz="3200" spc="-10" dirty="0">
                <a:latin typeface="Segoe UI"/>
                <a:cs typeface="Segoe UI"/>
              </a:rPr>
              <a:t>into  </a:t>
            </a:r>
            <a:r>
              <a:rPr sz="3200" dirty="0">
                <a:latin typeface="Segoe UI"/>
                <a:cs typeface="Segoe UI"/>
              </a:rPr>
              <a:t>a</a:t>
            </a:r>
            <a:r>
              <a:rPr sz="3200" spc="-15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ranking?</a:t>
            </a:r>
            <a:endParaRPr sz="3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21220" y="96076"/>
            <a:ext cx="8179434" cy="6707505"/>
            <a:chOff x="521220" y="96076"/>
            <a:chExt cx="8179434" cy="67075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1220" y="96076"/>
              <a:ext cx="7837887" cy="670702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619499" y="621030"/>
              <a:ext cx="5068570" cy="1297305"/>
            </a:xfrm>
            <a:custGeom>
              <a:avLst/>
              <a:gdLst/>
              <a:ahLst/>
              <a:cxnLst/>
              <a:rect l="l" t="t" r="r" b="b"/>
              <a:pathLst>
                <a:path w="5068570" h="1297305">
                  <a:moveTo>
                    <a:pt x="5068061" y="0"/>
                  </a:moveTo>
                  <a:lnTo>
                    <a:pt x="3041142" y="0"/>
                  </a:lnTo>
                  <a:lnTo>
                    <a:pt x="3041142" y="756539"/>
                  </a:lnTo>
                  <a:lnTo>
                    <a:pt x="0" y="1165987"/>
                  </a:lnTo>
                  <a:lnTo>
                    <a:pt x="3041142" y="1080770"/>
                  </a:lnTo>
                  <a:lnTo>
                    <a:pt x="3041142" y="1296924"/>
                  </a:lnTo>
                  <a:lnTo>
                    <a:pt x="5068061" y="1296924"/>
                  </a:lnTo>
                  <a:lnTo>
                    <a:pt x="50680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19499" y="621030"/>
              <a:ext cx="5068570" cy="1297305"/>
            </a:xfrm>
            <a:custGeom>
              <a:avLst/>
              <a:gdLst/>
              <a:ahLst/>
              <a:cxnLst/>
              <a:rect l="l" t="t" r="r" b="b"/>
              <a:pathLst>
                <a:path w="5068570" h="1297305">
                  <a:moveTo>
                    <a:pt x="3041142" y="0"/>
                  </a:moveTo>
                  <a:lnTo>
                    <a:pt x="3378961" y="0"/>
                  </a:lnTo>
                  <a:lnTo>
                    <a:pt x="3885692" y="0"/>
                  </a:lnTo>
                  <a:lnTo>
                    <a:pt x="5068061" y="0"/>
                  </a:lnTo>
                  <a:lnTo>
                    <a:pt x="5068061" y="756539"/>
                  </a:lnTo>
                  <a:lnTo>
                    <a:pt x="5068061" y="1080770"/>
                  </a:lnTo>
                  <a:lnTo>
                    <a:pt x="5068061" y="1296924"/>
                  </a:lnTo>
                  <a:lnTo>
                    <a:pt x="3885692" y="1296924"/>
                  </a:lnTo>
                  <a:lnTo>
                    <a:pt x="3378961" y="1296924"/>
                  </a:lnTo>
                  <a:lnTo>
                    <a:pt x="3041142" y="1296924"/>
                  </a:lnTo>
                  <a:lnTo>
                    <a:pt x="3041142" y="1080770"/>
                  </a:lnTo>
                  <a:lnTo>
                    <a:pt x="0" y="1165987"/>
                  </a:lnTo>
                  <a:lnTo>
                    <a:pt x="3041142" y="756539"/>
                  </a:lnTo>
                  <a:lnTo>
                    <a:pt x="3041142" y="0"/>
                  </a:lnTo>
                  <a:close/>
                </a:path>
              </a:pathLst>
            </a:custGeom>
            <a:ln w="25908">
              <a:solidFill>
                <a:srgbClr val="4E85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747764" y="555116"/>
            <a:ext cx="1850389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Features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associated  </a:t>
            </a:r>
            <a:r>
              <a:rPr sz="1800" spc="-5" dirty="0">
                <a:latin typeface="Calibri"/>
                <a:cs typeface="Calibri"/>
              </a:rPr>
              <a:t>with </a:t>
            </a:r>
            <a:r>
              <a:rPr sz="1800" spc="-10" dirty="0">
                <a:latin typeface="Calibri"/>
                <a:cs typeface="Calibri"/>
              </a:rPr>
              <a:t>comparing  </a:t>
            </a:r>
            <a:r>
              <a:rPr sz="1800" spc="-5" dirty="0">
                <a:latin typeface="Calibri"/>
                <a:cs typeface="Calibri"/>
              </a:rPr>
              <a:t>document </a:t>
            </a:r>
            <a:r>
              <a:rPr lang="en-US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 and  </a:t>
            </a:r>
            <a:r>
              <a:rPr sz="1800" spc="-5" dirty="0">
                <a:latin typeface="Calibri"/>
                <a:cs typeface="Calibri"/>
              </a:rPr>
              <a:t>document </a:t>
            </a:r>
            <a:r>
              <a:rPr sz="1800" dirty="0">
                <a:latin typeface="Calibri"/>
                <a:cs typeface="Calibri"/>
              </a:rPr>
              <a:t>j </a:t>
            </a:r>
            <a:r>
              <a:rPr sz="1800" spc="-15" dirty="0">
                <a:latin typeface="Calibri"/>
                <a:cs typeface="Calibri"/>
              </a:rPr>
              <a:t>for  </a:t>
            </a:r>
            <a:r>
              <a:rPr sz="1800" dirty="0">
                <a:latin typeface="Calibri"/>
                <a:cs typeface="Calibri"/>
              </a:rPr>
              <a:t>query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3482" y="483234"/>
            <a:ext cx="371665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Naïve</a:t>
            </a:r>
            <a:r>
              <a:rPr spc="-70" dirty="0"/>
              <a:t> </a:t>
            </a:r>
            <a:r>
              <a:rPr spc="-15" dirty="0"/>
              <a:t>approach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3214"/>
            <a:ext cx="7961630" cy="416242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8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Segoe UI"/>
                <a:cs typeface="Segoe UI"/>
              </a:rPr>
              <a:t>Works </a:t>
            </a:r>
            <a:r>
              <a:rPr sz="3200" spc="-5" dirty="0">
                <a:latin typeface="Segoe UI"/>
                <a:cs typeface="Segoe UI"/>
              </a:rPr>
              <a:t>well </a:t>
            </a:r>
            <a:r>
              <a:rPr sz="3200" dirty="0">
                <a:latin typeface="Segoe UI"/>
                <a:cs typeface="Segoe UI"/>
              </a:rPr>
              <a:t>for </a:t>
            </a:r>
            <a:r>
              <a:rPr sz="3200" spc="5" dirty="0">
                <a:latin typeface="Segoe UI"/>
                <a:cs typeface="Segoe UI"/>
              </a:rPr>
              <a:t>bipartite</a:t>
            </a:r>
            <a:r>
              <a:rPr sz="3200" spc="-40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problems</a:t>
            </a:r>
            <a:endParaRPr sz="32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8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“is this document </a:t>
            </a:r>
            <a:r>
              <a:rPr sz="2800" spc="-15" dirty="0">
                <a:latin typeface="Segoe UI"/>
                <a:cs typeface="Segoe UI"/>
              </a:rPr>
              <a:t>relevant </a:t>
            </a:r>
            <a:r>
              <a:rPr sz="2800" spc="-5" dirty="0">
                <a:latin typeface="Segoe UI"/>
                <a:cs typeface="Segoe UI"/>
              </a:rPr>
              <a:t>or</a:t>
            </a:r>
            <a:r>
              <a:rPr sz="2800" dirty="0">
                <a:latin typeface="Segoe UI"/>
                <a:cs typeface="Segoe UI"/>
              </a:rPr>
              <a:t> </a:t>
            </a:r>
            <a:r>
              <a:rPr sz="2800" spc="-20" dirty="0">
                <a:latin typeface="Segoe UI"/>
                <a:cs typeface="Segoe UI"/>
              </a:rPr>
              <a:t>not?”</a:t>
            </a:r>
            <a:endParaRPr sz="280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Arial"/>
              <a:buChar char="–"/>
            </a:pPr>
            <a:endParaRPr sz="3600">
              <a:latin typeface="Segoe UI"/>
              <a:cs typeface="Segoe UI"/>
            </a:endParaRPr>
          </a:p>
          <a:p>
            <a:pPr marL="355600" marR="1315085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Not ideal for full ranking</a:t>
            </a:r>
            <a:r>
              <a:rPr sz="3200" spc="-75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problems,  </a:t>
            </a:r>
            <a:r>
              <a:rPr sz="3200" dirty="0">
                <a:latin typeface="Segoe UI"/>
                <a:cs typeface="Segoe UI"/>
              </a:rPr>
              <a:t>because</a:t>
            </a:r>
            <a:endParaRPr sz="3200">
              <a:latin typeface="Segoe UI"/>
              <a:cs typeface="Segoe UI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10" dirty="0">
                <a:latin typeface="Segoe UI"/>
                <a:cs typeface="Segoe UI"/>
              </a:rPr>
              <a:t>Binary </a:t>
            </a:r>
            <a:r>
              <a:rPr sz="2800" spc="-10" dirty="0">
                <a:latin typeface="Segoe UI"/>
                <a:cs typeface="Segoe UI"/>
              </a:rPr>
              <a:t>preference problems </a:t>
            </a:r>
            <a:r>
              <a:rPr sz="2800" spc="-15" dirty="0">
                <a:latin typeface="Segoe UI"/>
                <a:cs typeface="Segoe UI"/>
              </a:rPr>
              <a:t>are </a:t>
            </a:r>
            <a:r>
              <a:rPr sz="2800" spc="-5" dirty="0">
                <a:latin typeface="Segoe UI"/>
                <a:cs typeface="Segoe UI"/>
              </a:rPr>
              <a:t>not all equally  </a:t>
            </a:r>
            <a:r>
              <a:rPr sz="2800" spc="5" dirty="0">
                <a:latin typeface="Segoe UI"/>
                <a:cs typeface="Segoe UI"/>
              </a:rPr>
              <a:t>important</a:t>
            </a:r>
            <a:endParaRPr sz="28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Segoe UI"/>
                <a:cs typeface="Segoe UI"/>
              </a:rPr>
              <a:t>Separates preference </a:t>
            </a:r>
            <a:r>
              <a:rPr sz="2800" spc="-5" dirty="0">
                <a:latin typeface="Segoe UI"/>
                <a:cs typeface="Segoe UI"/>
              </a:rPr>
              <a:t>function and </a:t>
            </a:r>
            <a:r>
              <a:rPr sz="2800" spc="5" dirty="0">
                <a:latin typeface="Segoe UI"/>
                <a:cs typeface="Segoe UI"/>
              </a:rPr>
              <a:t>sorting</a:t>
            </a:r>
            <a:endParaRPr sz="2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3594" y="483234"/>
            <a:ext cx="7258406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Improving </a:t>
            </a:r>
            <a:r>
              <a:rPr spc="-5" dirty="0"/>
              <a:t>on naïve</a:t>
            </a:r>
            <a:r>
              <a:rPr spc="-85" dirty="0"/>
              <a:t> </a:t>
            </a:r>
            <a:r>
              <a:rPr spc="-15" dirty="0"/>
              <a:t>approach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0693" y="1600200"/>
            <a:ext cx="7381936" cy="435692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97533" y="483234"/>
            <a:ext cx="59505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Example </a:t>
            </a:r>
            <a:r>
              <a:rPr spc="-60" dirty="0"/>
              <a:t>of </a:t>
            </a:r>
            <a:r>
              <a:rPr dirty="0"/>
              <a:t>cost</a:t>
            </a:r>
            <a:r>
              <a:rPr spc="-30" dirty="0"/>
              <a:t> </a:t>
            </a:r>
            <a:r>
              <a:rPr spc="-5" dirty="0"/>
              <a:t>functions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3225" y="2958908"/>
            <a:ext cx="6352499" cy="103082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4074" y="483234"/>
            <a:ext cx="68370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280285" algn="l"/>
              </a:tabLst>
            </a:pPr>
            <a:r>
              <a:rPr spc="-5" dirty="0"/>
              <a:t>Resulting	Ranking</a:t>
            </a:r>
            <a:r>
              <a:rPr spc="-105" dirty="0"/>
              <a:t> </a:t>
            </a:r>
            <a:r>
              <a:rPr dirty="0"/>
              <a:t>Algorithms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495" y="2243564"/>
            <a:ext cx="7822672" cy="3244241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2743" y="498468"/>
            <a:ext cx="8686800" cy="6217920"/>
            <a:chOff x="362743" y="498468"/>
            <a:chExt cx="8686800" cy="62179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2743" y="498468"/>
              <a:ext cx="8359066" cy="62176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75538" y="1917954"/>
              <a:ext cx="8161020" cy="4535805"/>
            </a:xfrm>
            <a:custGeom>
              <a:avLst/>
              <a:gdLst/>
              <a:ahLst/>
              <a:cxnLst/>
              <a:rect l="l" t="t" r="r" b="b"/>
              <a:pathLst>
                <a:path w="8161020" h="4535805">
                  <a:moveTo>
                    <a:pt x="0" y="288036"/>
                  </a:moveTo>
                  <a:lnTo>
                    <a:pt x="8089392" y="288036"/>
                  </a:lnTo>
                  <a:lnTo>
                    <a:pt x="8089392" y="0"/>
                  </a:lnTo>
                  <a:lnTo>
                    <a:pt x="0" y="0"/>
                  </a:lnTo>
                  <a:lnTo>
                    <a:pt x="0" y="288036"/>
                  </a:lnTo>
                  <a:close/>
                </a:path>
                <a:path w="8161020" h="4535805">
                  <a:moveTo>
                    <a:pt x="24384" y="3528060"/>
                  </a:moveTo>
                  <a:lnTo>
                    <a:pt x="8161019" y="3528060"/>
                  </a:lnTo>
                  <a:lnTo>
                    <a:pt x="8161019" y="288036"/>
                  </a:lnTo>
                  <a:lnTo>
                    <a:pt x="24384" y="288036"/>
                  </a:lnTo>
                  <a:lnTo>
                    <a:pt x="24384" y="3528060"/>
                  </a:lnTo>
                  <a:close/>
                </a:path>
                <a:path w="8161020" h="4535805">
                  <a:moveTo>
                    <a:pt x="24384" y="4104132"/>
                  </a:moveTo>
                  <a:lnTo>
                    <a:pt x="8161019" y="4104132"/>
                  </a:lnTo>
                  <a:lnTo>
                    <a:pt x="8161019" y="3528060"/>
                  </a:lnTo>
                  <a:lnTo>
                    <a:pt x="24384" y="3528060"/>
                  </a:lnTo>
                  <a:lnTo>
                    <a:pt x="24384" y="4104132"/>
                  </a:lnTo>
                  <a:close/>
                </a:path>
                <a:path w="8161020" h="4535805">
                  <a:moveTo>
                    <a:pt x="24384" y="4535424"/>
                  </a:moveTo>
                  <a:lnTo>
                    <a:pt x="8161019" y="4535424"/>
                  </a:lnTo>
                  <a:lnTo>
                    <a:pt x="8161019" y="4104132"/>
                  </a:lnTo>
                  <a:lnTo>
                    <a:pt x="24384" y="4104132"/>
                  </a:lnTo>
                  <a:lnTo>
                    <a:pt x="24384" y="4535424"/>
                  </a:lnTo>
                  <a:close/>
                </a:path>
              </a:pathLst>
            </a:custGeom>
            <a:ln w="25908">
              <a:solidFill>
                <a:srgbClr val="4E85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622501"/>
            <a:ext cx="7042784" cy="4455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40" dirty="0">
                <a:latin typeface="Segoe UI"/>
                <a:cs typeface="Segoe UI"/>
              </a:rPr>
              <a:t>RankTest</a:t>
            </a:r>
            <a:endParaRPr sz="32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"/>
              <a:buChar char="•"/>
            </a:pPr>
            <a:endParaRPr sz="3500" dirty="0">
              <a:latin typeface="Segoe UI"/>
              <a:cs typeface="Segoe UI"/>
            </a:endParaRPr>
          </a:p>
          <a:p>
            <a:pPr marL="756285" marR="260350" lvl="1" indent="-287020">
              <a:lnSpc>
                <a:spcPct val="100000"/>
              </a:lnSpc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A </a:t>
            </a:r>
            <a:r>
              <a:rPr sz="2800" spc="-10" dirty="0">
                <a:latin typeface="Segoe UI"/>
                <a:cs typeface="Segoe UI"/>
              </a:rPr>
              <a:t>probabilistic </a:t>
            </a:r>
            <a:r>
              <a:rPr sz="2800" spc="-5" dirty="0">
                <a:latin typeface="Segoe UI"/>
                <a:cs typeface="Segoe UI"/>
              </a:rPr>
              <a:t>version </a:t>
            </a:r>
            <a:r>
              <a:rPr sz="2800" spc="-30" dirty="0">
                <a:latin typeface="Segoe UI"/>
                <a:cs typeface="Segoe UI"/>
              </a:rPr>
              <a:t>of </a:t>
            </a:r>
            <a:r>
              <a:rPr sz="2800" spc="-5" dirty="0">
                <a:latin typeface="Segoe UI"/>
                <a:cs typeface="Segoe UI"/>
              </a:rPr>
              <a:t>the </a:t>
            </a:r>
            <a:r>
              <a:rPr sz="2800" spc="5" dirty="0">
                <a:latin typeface="Segoe UI"/>
                <a:cs typeface="Segoe UI"/>
              </a:rPr>
              <a:t>quicksort  </a:t>
            </a:r>
            <a:r>
              <a:rPr sz="2800" spc="-5" dirty="0">
                <a:latin typeface="Segoe UI"/>
                <a:cs typeface="Segoe UI"/>
              </a:rPr>
              <a:t>algorithm</a:t>
            </a:r>
            <a:endParaRPr sz="28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Arial"/>
              <a:buChar char="–"/>
            </a:pPr>
            <a:endParaRPr sz="350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Only O(Mlog</a:t>
            </a:r>
            <a:r>
              <a:rPr sz="1800" spc="-5" dirty="0">
                <a:latin typeface="Segoe UI"/>
                <a:cs typeface="Segoe UI"/>
              </a:rPr>
              <a:t>2</a:t>
            </a:r>
            <a:r>
              <a:rPr sz="2800" spc="-5" dirty="0">
                <a:latin typeface="Segoe UI"/>
                <a:cs typeface="Segoe UI"/>
              </a:rPr>
              <a:t>M) calls </a:t>
            </a:r>
            <a:r>
              <a:rPr sz="2800" spc="-20" dirty="0">
                <a:latin typeface="Segoe UI"/>
                <a:cs typeface="Segoe UI"/>
              </a:rPr>
              <a:t>to </a:t>
            </a:r>
            <a:r>
              <a:rPr sz="2800" spc="-5" dirty="0">
                <a:latin typeface="Segoe UI"/>
                <a:cs typeface="Segoe UI"/>
              </a:rPr>
              <a:t>f in</a:t>
            </a:r>
            <a:r>
              <a:rPr sz="2800" spc="1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expectation</a:t>
            </a:r>
            <a:endParaRPr sz="28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Arial"/>
              <a:buChar char="–"/>
            </a:pPr>
            <a:endParaRPr sz="350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Segoe UI"/>
                <a:cs typeface="Segoe UI"/>
              </a:rPr>
              <a:t>Better error </a:t>
            </a:r>
            <a:r>
              <a:rPr sz="2800" spc="-5" dirty="0">
                <a:latin typeface="Segoe UI"/>
                <a:cs typeface="Segoe UI"/>
              </a:rPr>
              <a:t>bound than naïve</a:t>
            </a:r>
            <a:r>
              <a:rPr sz="2800" spc="-1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algorithm</a:t>
            </a:r>
            <a:endParaRPr sz="2800" dirty="0">
              <a:latin typeface="Segoe UI"/>
              <a:cs typeface="Segoe UI"/>
            </a:endParaRPr>
          </a:p>
          <a:p>
            <a:pPr marL="927100">
              <a:lnSpc>
                <a:spcPct val="100000"/>
              </a:lnSpc>
              <a:spcBef>
                <a:spcPts val="590"/>
              </a:spcBef>
            </a:pPr>
            <a:r>
              <a:rPr sz="2400" dirty="0">
                <a:latin typeface="Segoe UI"/>
                <a:cs typeface="Segoe UI"/>
              </a:rPr>
              <a:t>(see </a:t>
            </a:r>
            <a:r>
              <a:rPr sz="2400" spc="-5" dirty="0">
                <a:latin typeface="Segoe UI"/>
                <a:cs typeface="Segoe UI"/>
              </a:rPr>
              <a:t>CIML </a:t>
            </a:r>
            <a:r>
              <a:rPr sz="2400" dirty="0">
                <a:latin typeface="Segoe UI"/>
                <a:cs typeface="Segoe UI"/>
              </a:rPr>
              <a:t>for</a:t>
            </a:r>
            <a:r>
              <a:rPr sz="2400" spc="-30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theorem)</a:t>
            </a:r>
            <a:endParaRPr sz="240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0997" y="483234"/>
            <a:ext cx="53828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What you should</a:t>
            </a:r>
            <a:r>
              <a:rPr spc="-70" dirty="0"/>
              <a:t> </a:t>
            </a:r>
            <a:r>
              <a:rPr spc="-10" dirty="0"/>
              <a:t>know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4329"/>
            <a:ext cx="7777480" cy="452367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Segoe UI"/>
                <a:cs typeface="Segoe UI"/>
              </a:rPr>
              <a:t>What </a:t>
            </a:r>
            <a:r>
              <a:rPr sz="2800" spc="-15" dirty="0">
                <a:latin typeface="Segoe UI"/>
                <a:cs typeface="Segoe UI"/>
              </a:rPr>
              <a:t>are </a:t>
            </a:r>
            <a:r>
              <a:rPr sz="2800" spc="-5" dirty="0">
                <a:latin typeface="Segoe UI"/>
                <a:cs typeface="Segoe UI"/>
              </a:rPr>
              <a:t>reductions and why they </a:t>
            </a:r>
            <a:r>
              <a:rPr sz="2800" spc="-15" dirty="0">
                <a:latin typeface="Segoe UI"/>
                <a:cs typeface="Segoe UI"/>
              </a:rPr>
              <a:t>are</a:t>
            </a:r>
            <a:r>
              <a:rPr sz="2800" spc="2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useful</a:t>
            </a:r>
            <a:endParaRPr sz="28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3500" dirty="0">
              <a:latin typeface="Segoe UI"/>
              <a:cs typeface="Segoe UI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800" spc="-5">
                <a:latin typeface="Segoe UI"/>
                <a:cs typeface="Segoe UI"/>
              </a:rPr>
              <a:t>Understand</a:t>
            </a:r>
            <a:r>
              <a:rPr sz="2800" spc="-5">
                <a:latin typeface="Segoe UI"/>
                <a:cs typeface="Segoe UI"/>
              </a:rPr>
              <a:t>, </a:t>
            </a:r>
            <a:r>
              <a:rPr sz="2800" spc="-5" dirty="0">
                <a:latin typeface="Segoe UI"/>
                <a:cs typeface="Segoe UI"/>
              </a:rPr>
              <a:t>analyze</a:t>
            </a:r>
            <a:r>
              <a:rPr sz="2800" spc="-10" dirty="0">
                <a:latin typeface="Segoe UI"/>
                <a:cs typeface="Segoe UI"/>
              </a:rPr>
              <a:t> error </a:t>
            </a:r>
            <a:r>
              <a:rPr sz="2800" spc="-5" dirty="0">
                <a:latin typeface="Segoe UI"/>
                <a:cs typeface="Segoe UI"/>
              </a:rPr>
              <a:t>bounds </a:t>
            </a:r>
            <a:r>
              <a:rPr sz="2800" spc="-25" dirty="0">
                <a:latin typeface="Segoe UI"/>
                <a:cs typeface="Segoe UI"/>
              </a:rPr>
              <a:t>of  </a:t>
            </a:r>
            <a:r>
              <a:rPr sz="2800" spc="-5" dirty="0">
                <a:latin typeface="Segoe UI"/>
                <a:cs typeface="Segoe UI"/>
              </a:rPr>
              <a:t>algorithms</a:t>
            </a:r>
            <a:r>
              <a:rPr sz="2800" dirty="0">
                <a:latin typeface="Segoe UI"/>
                <a:cs typeface="Segoe UI"/>
              </a:rPr>
              <a:t> for</a:t>
            </a:r>
          </a:p>
          <a:p>
            <a:pPr marL="756285" lvl="1" indent="-287020">
              <a:lnSpc>
                <a:spcPct val="100000"/>
              </a:lnSpc>
              <a:spcBef>
                <a:spcPts val="59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Segoe UI"/>
                <a:cs typeface="Segoe UI"/>
              </a:rPr>
              <a:t>Weighted </a:t>
            </a:r>
            <a:r>
              <a:rPr sz="2400" spc="15" dirty="0">
                <a:latin typeface="Segoe UI"/>
                <a:cs typeface="Segoe UI"/>
              </a:rPr>
              <a:t>binary</a:t>
            </a:r>
            <a:r>
              <a:rPr sz="2400" spc="20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classification</a:t>
            </a:r>
            <a:endParaRPr sz="240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Segoe UI"/>
                <a:cs typeface="Segoe UI"/>
              </a:rPr>
              <a:t>Multiclass classification </a:t>
            </a:r>
            <a:r>
              <a:rPr sz="2400" spc="-15" dirty="0">
                <a:latin typeface="Segoe UI"/>
                <a:cs typeface="Segoe UI"/>
              </a:rPr>
              <a:t>(OVA,</a:t>
            </a:r>
            <a:r>
              <a:rPr sz="2400" spc="90" dirty="0">
                <a:latin typeface="Segoe UI"/>
                <a:cs typeface="Segoe UI"/>
              </a:rPr>
              <a:t> </a:t>
            </a:r>
            <a:r>
              <a:rPr sz="2400" spc="-70" dirty="0">
                <a:latin typeface="Segoe UI"/>
                <a:cs typeface="Segoe UI"/>
              </a:rPr>
              <a:t>AVA)</a:t>
            </a:r>
            <a:endParaRPr sz="24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Font typeface="Arial"/>
              <a:buChar char="–"/>
            </a:pPr>
            <a:endParaRPr sz="2400" dirty="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Segoe UI"/>
                <a:cs typeface="Segoe UI"/>
              </a:rPr>
              <a:t>Understand </a:t>
            </a:r>
            <a:r>
              <a:rPr sz="2800" spc="-5" dirty="0">
                <a:latin typeface="Segoe UI"/>
                <a:cs typeface="Segoe UI"/>
              </a:rPr>
              <a:t>algorithms</a:t>
            </a:r>
            <a:r>
              <a:rPr sz="2800" spc="2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for</a:t>
            </a:r>
            <a:endParaRPr sz="280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59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mbria Math"/>
                <a:cs typeface="Cambria Math"/>
              </a:rPr>
              <a:t>𝜔</a:t>
            </a:r>
            <a:r>
              <a:rPr sz="2400" spc="4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−</a:t>
            </a:r>
            <a:r>
              <a:rPr sz="2400" spc="-5" dirty="0">
                <a:latin typeface="Segoe UI"/>
                <a:cs typeface="Segoe UI"/>
              </a:rPr>
              <a:t>ranking</a:t>
            </a:r>
            <a:endParaRPr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35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</TotalTime>
  <Words>1286</Words>
  <Application>Microsoft Office PowerPoint</Application>
  <PresentationFormat>On-screen Show (4:3)</PresentationFormat>
  <Paragraphs>186</Paragraphs>
  <Slides>41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Segoe UI Light</vt:lpstr>
      <vt:lpstr>Calibri Light</vt:lpstr>
      <vt:lpstr>Arial</vt:lpstr>
      <vt:lpstr>Cambria Math</vt:lpstr>
      <vt:lpstr>Calibri</vt:lpstr>
      <vt:lpstr>Times New Roman</vt:lpstr>
      <vt:lpstr>Segoe UI</vt:lpstr>
      <vt:lpstr>Office Theme</vt:lpstr>
      <vt:lpstr>CSCI/ARTI 8950 Machine Learning</vt:lpstr>
      <vt:lpstr>Topics</vt:lpstr>
      <vt:lpstr>Imbalanced data distributions</vt:lpstr>
      <vt:lpstr>PowerPoint Presentation</vt:lpstr>
      <vt:lpstr>Recall: Expected loss</vt:lpstr>
      <vt:lpstr>PowerPoint Presentation</vt:lpstr>
      <vt:lpstr>PowerPoint Presentation</vt:lpstr>
      <vt:lpstr>PowerPoint Presentation</vt:lpstr>
      <vt:lpstr>Subsampling optimality</vt:lpstr>
      <vt:lpstr>Strategies for inducing a new binary distribution</vt:lpstr>
      <vt:lpstr>Strategies for inducing a new binary distribution</vt:lpstr>
      <vt:lpstr>Reductions</vt:lpstr>
      <vt:lpstr>Learning with Imbalanced Data is an Example of Reduction</vt:lpstr>
      <vt:lpstr>Multiclass classification</vt:lpstr>
      <vt:lpstr>Today: Reductions for Multiclass  Classification</vt:lpstr>
      <vt:lpstr>PowerPoint Presentation</vt:lpstr>
      <vt:lpstr>How many classes  can we handle in practice?</vt:lpstr>
      <vt:lpstr>Reduction 1: OVA</vt:lpstr>
      <vt:lpstr>PowerPoint Presentation</vt:lpstr>
      <vt:lpstr>Time complexity</vt:lpstr>
      <vt:lpstr>Error bound</vt:lpstr>
      <vt:lpstr>Error bound proof</vt:lpstr>
      <vt:lpstr>Error bound proof</vt:lpstr>
      <vt:lpstr>Error bound proof</vt:lpstr>
      <vt:lpstr>Reduction 2: AVA</vt:lpstr>
      <vt:lpstr>PowerPoint Presentation</vt:lpstr>
      <vt:lpstr>Time complexity</vt:lpstr>
      <vt:lpstr>Error bound</vt:lpstr>
      <vt:lpstr>Extensions</vt:lpstr>
      <vt:lpstr>Ranking</vt:lpstr>
      <vt:lpstr>How can we reduce ranking to binary  classification?</vt:lpstr>
      <vt:lpstr>Preference function</vt:lpstr>
      <vt:lpstr>Specifiying the reduction from  ranking to binary classification</vt:lpstr>
      <vt:lpstr>PowerPoint Presentation</vt:lpstr>
      <vt:lpstr>Naïve approach</vt:lpstr>
      <vt:lpstr>Improving on naïve approach</vt:lpstr>
      <vt:lpstr>Example of cost functions</vt:lpstr>
      <vt:lpstr>Resulting Ranking Algorithms</vt:lpstr>
      <vt:lpstr>PowerPoint Presentation</vt:lpstr>
      <vt:lpstr>PowerPoint Presentation</vt:lpstr>
      <vt:lpstr>What you should know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CSCI_8950_Lec8_Multiclass_Classification</dc:title>
  <cp:lastModifiedBy>Khaled M Rasheed</cp:lastModifiedBy>
  <cp:revision>16</cp:revision>
  <cp:lastPrinted>2021-02-10T17:53:43Z</cp:lastPrinted>
  <dcterms:created xsi:type="dcterms:W3CDTF">2020-09-26T21:44:52Z</dcterms:created>
  <dcterms:modified xsi:type="dcterms:W3CDTF">2026-09-14T15:55:42Z</dcterms:modified>
</cp:coreProperties>
</file>