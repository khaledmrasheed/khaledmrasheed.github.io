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0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1" r:id="rId16"/>
    <p:sldId id="302" r:id="rId17"/>
    <p:sldId id="303" r:id="rId18"/>
    <p:sldId id="272" r:id="rId19"/>
    <p:sldId id="273" r:id="rId20"/>
    <p:sldId id="274" r:id="rId21"/>
    <p:sldId id="277" r:id="rId22"/>
    <p:sldId id="278" r:id="rId23"/>
    <p:sldId id="304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300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9144000" cy="6858000"/>
  <p:embeddedFontLst>
    <p:embeddedFont>
      <p:font typeface="Cambria Math" panose="02040503050406030204" pitchFamily="18" charset="0"/>
      <p:regular r:id="rId46"/>
    </p:embeddedFont>
    <p:embeddedFont>
      <p:font typeface="Segoe UI" panose="020B0502040204020203" pitchFamily="34" charset="0"/>
      <p:regular r:id="rId47"/>
      <p:bold r:id="rId48"/>
      <p:italic r:id="rId49"/>
      <p:boldItalic r:id="rId50"/>
    </p:embeddedFont>
    <p:embeddedFont>
      <p:font typeface="Segoe UI Light" panose="020B0502040204020203" pitchFamily="34" charset="0"/>
      <p:regular r:id="rId51"/>
      <p: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59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3423" y="147955"/>
            <a:ext cx="6677152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1980" y="2477516"/>
            <a:ext cx="6248400" cy="151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tin.com/data-science/gradient-descent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tin.com/data-science/gradient-descent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builtin.com/data-science/gradient-descent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1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95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  <a:latin typeface="Calibri Light"/>
                <a:cs typeface="Calibri Light"/>
              </a:rPr>
              <a:t>CSCI/ARTI </a:t>
            </a:r>
            <a:r>
              <a:rPr sz="3900" spc="45" dirty="0">
                <a:solidFill>
                  <a:srgbClr val="0070C0"/>
                </a:solidFill>
                <a:latin typeface="Calibri Light"/>
                <a:cs typeface="Calibri Light"/>
              </a:rPr>
              <a:t>8950 Machine</a:t>
            </a:r>
            <a:r>
              <a:rPr sz="3900" spc="-35" dirty="0">
                <a:solidFill>
                  <a:srgbClr val="0070C0"/>
                </a:solidFill>
                <a:latin typeface="Calibri Light"/>
                <a:cs typeface="Calibri Light"/>
              </a:rPr>
              <a:t> </a:t>
            </a:r>
            <a:r>
              <a:rPr sz="3900" spc="40" dirty="0">
                <a:solidFill>
                  <a:srgbClr val="0070C0"/>
                </a:solidFill>
                <a:latin typeface="Calibri Light"/>
                <a:cs typeface="Calibri Light"/>
              </a:rPr>
              <a:t>Learning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6415" y="2382012"/>
            <a:ext cx="477139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Lecture</a:t>
            </a:r>
            <a:r>
              <a:rPr lang="en-US" sz="2800" b="1" spc="-5" dirty="0">
                <a:latin typeface="Calibri"/>
                <a:cs typeface="Calibri"/>
              </a:rPr>
              <a:t> Note</a:t>
            </a:r>
            <a:r>
              <a:rPr sz="2800" b="1" spc="-5" dirty="0">
                <a:latin typeface="Calibri"/>
                <a:cs typeface="Calibri"/>
              </a:rPr>
              <a:t>s </a:t>
            </a:r>
            <a:r>
              <a:rPr lang="en-US" sz="2800" b="1" spc="-5" dirty="0">
                <a:latin typeface="Calibri"/>
                <a:cs typeface="Calibri"/>
              </a:rPr>
              <a:t>9</a:t>
            </a:r>
            <a:r>
              <a:rPr sz="2800" b="1" dirty="0">
                <a:latin typeface="Calibri"/>
                <a:cs typeface="Calibri"/>
              </a:rPr>
              <a:t>: </a:t>
            </a:r>
            <a:r>
              <a:rPr sz="3200" b="1" spc="-5" dirty="0">
                <a:latin typeface="Calibri"/>
                <a:cs typeface="Calibri"/>
              </a:rPr>
              <a:t>Linear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Models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0756" y="6524243"/>
            <a:ext cx="6093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Credit: some </a:t>
            </a:r>
            <a:r>
              <a:rPr sz="1400" spc="-10" dirty="0">
                <a:latin typeface="Calibri"/>
                <a:cs typeface="Calibri"/>
              </a:rPr>
              <a:t>examples </a:t>
            </a:r>
            <a:r>
              <a:rPr sz="1400" dirty="0">
                <a:latin typeface="Calibri"/>
                <a:cs typeface="Calibri"/>
              </a:rPr>
              <a:t>&amp; </a:t>
            </a:r>
            <a:r>
              <a:rPr sz="1400" spc="-5" dirty="0">
                <a:latin typeface="Calibri"/>
                <a:cs typeface="Calibri"/>
              </a:rPr>
              <a:t>figures by Marine Carpuat, </a:t>
            </a:r>
            <a:r>
              <a:rPr sz="1400" spc="-45" dirty="0">
                <a:latin typeface="Calibri"/>
                <a:cs typeface="Calibri"/>
              </a:rPr>
              <a:t>Tom </a:t>
            </a:r>
            <a:r>
              <a:rPr sz="1400" spc="-5" dirty="0">
                <a:latin typeface="Calibri"/>
                <a:cs typeface="Calibri"/>
              </a:rPr>
              <a:t>Mitchell </a:t>
            </a:r>
            <a:r>
              <a:rPr sz="1400" dirty="0">
                <a:latin typeface="Calibri"/>
                <a:cs typeface="Calibri"/>
              </a:rPr>
              <a:t>and Hal </a:t>
            </a:r>
            <a:r>
              <a:rPr sz="1400" spc="-5" dirty="0">
                <a:latin typeface="Calibri"/>
                <a:cs typeface="Calibri"/>
              </a:rPr>
              <a:t>Daumé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III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C7F1C32-192A-45D3-8A87-FA78DED6ECEC}"/>
              </a:ext>
            </a:extLst>
          </p:cNvPr>
          <p:cNvSpPr txBox="1">
            <a:spLocks/>
          </p:cNvSpPr>
          <p:nvPr/>
        </p:nvSpPr>
        <p:spPr>
          <a:xfrm>
            <a:off x="1143000" y="3662998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200" b="0" i="0">
                <a:solidFill>
                  <a:schemeClr val="tx1"/>
                </a:solidFill>
                <a:latin typeface="Segoe UI Emoji"/>
                <a:ea typeface="+mn-ea"/>
                <a:cs typeface="Segoe UI Emoj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sz="240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5336" y="147955"/>
            <a:ext cx="451421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marR="5080" indent="-428625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Binary</a:t>
            </a:r>
            <a:r>
              <a:rPr spc="-80" dirty="0"/>
              <a:t> </a:t>
            </a:r>
            <a:r>
              <a:rPr spc="-5" dirty="0"/>
              <a:t>classification  via</a:t>
            </a:r>
            <a:r>
              <a:rPr spc="-20" dirty="0"/>
              <a:t> </a:t>
            </a:r>
            <a:r>
              <a:rPr spc="-5" dirty="0"/>
              <a:t>hyperplanes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08348" y="2151405"/>
            <a:ext cx="5397500" cy="40271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Segoe UI"/>
                <a:cs typeface="Segoe UI"/>
              </a:rPr>
              <a:t>A classifier is a hyperplane </a:t>
            </a:r>
            <a:r>
              <a:rPr sz="2800" spc="-30" dirty="0">
                <a:latin typeface="Segoe UI"/>
                <a:cs typeface="Segoe UI"/>
              </a:rPr>
              <a:t>(w,b)</a:t>
            </a:r>
            <a:endParaRPr sz="2800">
              <a:latin typeface="Segoe UI"/>
              <a:cs typeface="Segoe UI"/>
            </a:endParaRPr>
          </a:p>
          <a:p>
            <a:pPr marL="406400" marR="206375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800" spc="-25" dirty="0">
                <a:latin typeface="Segoe UI"/>
                <a:cs typeface="Segoe UI"/>
              </a:rPr>
              <a:t>At </a:t>
            </a:r>
            <a:r>
              <a:rPr sz="2800" spc="-10" dirty="0">
                <a:latin typeface="Segoe UI"/>
                <a:cs typeface="Segoe UI"/>
              </a:rPr>
              <a:t>test time, </a:t>
            </a:r>
            <a:r>
              <a:rPr sz="2800" spc="-15" dirty="0">
                <a:latin typeface="Segoe UI"/>
                <a:cs typeface="Segoe UI"/>
              </a:rPr>
              <a:t>we </a:t>
            </a:r>
            <a:r>
              <a:rPr sz="2800" spc="-5" dirty="0">
                <a:latin typeface="Segoe UI"/>
                <a:cs typeface="Segoe UI"/>
              </a:rPr>
              <a:t>check on what  side </a:t>
            </a:r>
            <a:r>
              <a:rPr sz="2800" spc="-30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the hyperplane  examples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fall</a:t>
            </a:r>
            <a:endParaRPr sz="2800">
              <a:latin typeface="Segoe UI"/>
              <a:cs typeface="Segoe UI"/>
            </a:endParaRPr>
          </a:p>
          <a:p>
            <a:pPr marL="1247775">
              <a:lnSpc>
                <a:spcPct val="100000"/>
              </a:lnSpc>
              <a:spcBef>
                <a:spcPts val="15"/>
              </a:spcBef>
            </a:pPr>
            <a:r>
              <a:rPr sz="2400" spc="-1019" dirty="0">
                <a:latin typeface="Cambria Math"/>
                <a:cs typeface="Cambria Math"/>
              </a:rPr>
              <a:t>𝑦</a:t>
            </a:r>
            <a:r>
              <a:rPr sz="2400" spc="11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 </a:t>
            </a:r>
            <a:r>
              <a:rPr sz="2400" spc="45" dirty="0">
                <a:latin typeface="Cambria Math"/>
                <a:cs typeface="Cambria Math"/>
              </a:rPr>
              <a:t>𝑠𝑖𝑔𝑛(𝑤</a:t>
            </a:r>
            <a:r>
              <a:rPr sz="2625" spc="67" baseline="28571" dirty="0">
                <a:latin typeface="Cambria Math"/>
                <a:cs typeface="Cambria Math"/>
              </a:rPr>
              <a:t>𝑇</a:t>
            </a:r>
            <a:r>
              <a:rPr sz="2400" spc="45" dirty="0">
                <a:latin typeface="Cambria Math"/>
                <a:cs typeface="Cambria Math"/>
              </a:rPr>
              <a:t>𝑥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𝑏)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Cambria Math"/>
              <a:cs typeface="Cambria Math"/>
            </a:endParaRPr>
          </a:p>
          <a:p>
            <a:pPr marL="4064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Segoe UI"/>
                <a:cs typeface="Segoe UI"/>
              </a:rPr>
              <a:t>This is a </a:t>
            </a:r>
            <a:r>
              <a:rPr sz="2800" b="1" spc="-10" dirty="0">
                <a:latin typeface="Segoe UI"/>
                <a:cs typeface="Segoe UI"/>
              </a:rPr>
              <a:t>linear</a:t>
            </a:r>
            <a:r>
              <a:rPr sz="2800" b="1" spc="20" dirty="0">
                <a:latin typeface="Segoe UI"/>
                <a:cs typeface="Segoe UI"/>
              </a:rPr>
              <a:t> </a:t>
            </a:r>
            <a:r>
              <a:rPr sz="2800" b="1" spc="-5" dirty="0">
                <a:latin typeface="Segoe UI"/>
                <a:cs typeface="Segoe UI"/>
              </a:rPr>
              <a:t>classifier</a:t>
            </a:r>
            <a:endParaRPr sz="2800">
              <a:latin typeface="Segoe UI"/>
              <a:cs typeface="Segoe UI"/>
            </a:endParaRPr>
          </a:p>
          <a:p>
            <a:pPr marL="807085" marR="172720" indent="-28702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dirty="0">
                <a:latin typeface="Segoe UI"/>
                <a:cs typeface="Segoe UI"/>
              </a:rPr>
              <a:t>Because the </a:t>
            </a:r>
            <a:r>
              <a:rPr sz="2400" spc="-5" dirty="0">
                <a:latin typeface="Segoe UI"/>
                <a:cs typeface="Segoe UI"/>
              </a:rPr>
              <a:t>prediction is </a:t>
            </a:r>
            <a:r>
              <a:rPr sz="2400" dirty="0">
                <a:latin typeface="Segoe UI"/>
                <a:cs typeface="Segoe UI"/>
              </a:rPr>
              <a:t>a </a:t>
            </a:r>
            <a:r>
              <a:rPr sz="2400" spc="-5" dirty="0">
                <a:latin typeface="Segoe UI"/>
                <a:cs typeface="Segoe UI"/>
              </a:rPr>
              <a:t>linear  combination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feature </a:t>
            </a:r>
            <a:r>
              <a:rPr sz="2400" spc="-10" dirty="0">
                <a:latin typeface="Segoe UI"/>
                <a:cs typeface="Segoe UI"/>
              </a:rPr>
              <a:t>values</a:t>
            </a:r>
            <a:r>
              <a:rPr sz="2400" spc="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x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048" y="2414574"/>
            <a:ext cx="2862702" cy="2887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311" y="1411359"/>
            <a:ext cx="8519174" cy="30247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850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Learning </a:t>
            </a:r>
            <a:r>
              <a:rPr dirty="0"/>
              <a:t>a </a:t>
            </a:r>
            <a:r>
              <a:rPr spc="-5" dirty="0"/>
              <a:t>Linear Classifier  as an Optimization</a:t>
            </a:r>
            <a:r>
              <a:rPr spc="-100" dirty="0"/>
              <a:t> </a:t>
            </a:r>
            <a:r>
              <a:rPr spc="-1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3294" y="4516774"/>
            <a:ext cx="6837045" cy="8445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914400">
              <a:lnSpc>
                <a:spcPct val="100000"/>
              </a:lnSpc>
              <a:spcBef>
                <a:spcPts val="190"/>
              </a:spcBef>
            </a:pPr>
            <a:r>
              <a:rPr sz="2400" spc="-10" dirty="0">
                <a:latin typeface="Segoe UI"/>
                <a:cs typeface="Segoe UI"/>
              </a:rPr>
              <a:t>Indicator </a:t>
            </a:r>
            <a:r>
              <a:rPr sz="2400" spc="-5" dirty="0">
                <a:latin typeface="Segoe UI"/>
                <a:cs typeface="Segoe UI"/>
              </a:rPr>
              <a:t>function: </a:t>
            </a:r>
            <a:r>
              <a:rPr sz="2400" dirty="0">
                <a:latin typeface="Segoe UI"/>
                <a:cs typeface="Segoe UI"/>
              </a:rPr>
              <a:t>1 </a:t>
            </a:r>
            <a:r>
              <a:rPr sz="2400" spc="-5" dirty="0">
                <a:latin typeface="Segoe UI"/>
                <a:cs typeface="Segoe UI"/>
              </a:rPr>
              <a:t>if </a:t>
            </a:r>
            <a:r>
              <a:rPr sz="2400" dirty="0">
                <a:latin typeface="Segoe UI"/>
                <a:cs typeface="Segoe UI"/>
              </a:rPr>
              <a:t>(.) </a:t>
            </a:r>
            <a:r>
              <a:rPr sz="2400" spc="-5" dirty="0">
                <a:latin typeface="Segoe UI"/>
                <a:cs typeface="Segoe UI"/>
              </a:rPr>
              <a:t>is </a:t>
            </a:r>
            <a:r>
              <a:rPr sz="2400" dirty="0">
                <a:latin typeface="Segoe UI"/>
                <a:cs typeface="Segoe UI"/>
              </a:rPr>
              <a:t>true, 0</a:t>
            </a:r>
            <a:r>
              <a:rPr sz="2400" spc="140" dirty="0">
                <a:latin typeface="Segoe UI"/>
                <a:cs typeface="Segoe UI"/>
              </a:rPr>
              <a:t> </a:t>
            </a:r>
            <a:r>
              <a:rPr sz="2400" spc="10" dirty="0">
                <a:latin typeface="Segoe UI"/>
                <a:cs typeface="Segoe UI"/>
              </a:rPr>
              <a:t>otherwise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5" dirty="0">
                <a:latin typeface="Segoe UI"/>
                <a:cs typeface="Segoe UI"/>
              </a:rPr>
              <a:t>loss function above is called </a:t>
            </a:r>
            <a:r>
              <a:rPr sz="2400" dirty="0">
                <a:latin typeface="Segoe UI"/>
                <a:cs typeface="Segoe UI"/>
              </a:rPr>
              <a:t>the 0-1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loss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5062" y="1638236"/>
            <a:ext cx="7571105" cy="3272790"/>
            <a:chOff x="635062" y="1638236"/>
            <a:chExt cx="7571105" cy="32727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062" y="3326983"/>
              <a:ext cx="7570619" cy="9484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44545" y="1651253"/>
              <a:ext cx="2726690" cy="1687195"/>
            </a:xfrm>
            <a:custGeom>
              <a:avLst/>
              <a:gdLst/>
              <a:ahLst/>
              <a:cxnLst/>
              <a:rect l="l" t="t" r="r" b="b"/>
              <a:pathLst>
                <a:path w="2726690" h="1687195">
                  <a:moveTo>
                    <a:pt x="2272030" y="1327404"/>
                  </a:moveTo>
                  <a:lnTo>
                    <a:pt x="1590420" y="1327404"/>
                  </a:lnTo>
                  <a:lnTo>
                    <a:pt x="1938401" y="1687068"/>
                  </a:lnTo>
                  <a:lnTo>
                    <a:pt x="2272030" y="1327404"/>
                  </a:lnTo>
                  <a:close/>
                </a:path>
                <a:path w="2726690" h="1687195">
                  <a:moveTo>
                    <a:pt x="2505202" y="0"/>
                  </a:moveTo>
                  <a:lnTo>
                    <a:pt x="221234" y="0"/>
                  </a:lnTo>
                  <a:lnTo>
                    <a:pt x="176650" y="4495"/>
                  </a:lnTo>
                  <a:lnTo>
                    <a:pt x="135124" y="17387"/>
                  </a:lnTo>
                  <a:lnTo>
                    <a:pt x="97544" y="37785"/>
                  </a:lnTo>
                  <a:lnTo>
                    <a:pt x="64801" y="64801"/>
                  </a:lnTo>
                  <a:lnTo>
                    <a:pt x="37785" y="97544"/>
                  </a:lnTo>
                  <a:lnTo>
                    <a:pt x="17387" y="135124"/>
                  </a:lnTo>
                  <a:lnTo>
                    <a:pt x="4495" y="176650"/>
                  </a:lnTo>
                  <a:lnTo>
                    <a:pt x="0" y="221234"/>
                  </a:lnTo>
                  <a:lnTo>
                    <a:pt x="0" y="1106170"/>
                  </a:lnTo>
                  <a:lnTo>
                    <a:pt x="4495" y="1150753"/>
                  </a:lnTo>
                  <a:lnTo>
                    <a:pt x="17387" y="1192279"/>
                  </a:lnTo>
                  <a:lnTo>
                    <a:pt x="37785" y="1229859"/>
                  </a:lnTo>
                  <a:lnTo>
                    <a:pt x="64801" y="1262602"/>
                  </a:lnTo>
                  <a:lnTo>
                    <a:pt x="97544" y="1289618"/>
                  </a:lnTo>
                  <a:lnTo>
                    <a:pt x="135124" y="1310016"/>
                  </a:lnTo>
                  <a:lnTo>
                    <a:pt x="176650" y="1322908"/>
                  </a:lnTo>
                  <a:lnTo>
                    <a:pt x="221234" y="1327404"/>
                  </a:lnTo>
                  <a:lnTo>
                    <a:pt x="2505202" y="1327404"/>
                  </a:lnTo>
                  <a:lnTo>
                    <a:pt x="2549785" y="1322908"/>
                  </a:lnTo>
                  <a:lnTo>
                    <a:pt x="2591311" y="1310016"/>
                  </a:lnTo>
                  <a:lnTo>
                    <a:pt x="2628891" y="1289618"/>
                  </a:lnTo>
                  <a:lnTo>
                    <a:pt x="2661634" y="1262602"/>
                  </a:lnTo>
                  <a:lnTo>
                    <a:pt x="2688650" y="1229859"/>
                  </a:lnTo>
                  <a:lnTo>
                    <a:pt x="2709048" y="1192279"/>
                  </a:lnTo>
                  <a:lnTo>
                    <a:pt x="2721940" y="1150753"/>
                  </a:lnTo>
                  <a:lnTo>
                    <a:pt x="2726436" y="1106170"/>
                  </a:lnTo>
                  <a:lnTo>
                    <a:pt x="2726436" y="221234"/>
                  </a:lnTo>
                  <a:lnTo>
                    <a:pt x="2721940" y="176650"/>
                  </a:lnTo>
                  <a:lnTo>
                    <a:pt x="2709048" y="135124"/>
                  </a:lnTo>
                  <a:lnTo>
                    <a:pt x="2688650" y="97544"/>
                  </a:lnTo>
                  <a:lnTo>
                    <a:pt x="2661634" y="64801"/>
                  </a:lnTo>
                  <a:lnTo>
                    <a:pt x="2628891" y="37785"/>
                  </a:lnTo>
                  <a:lnTo>
                    <a:pt x="2591311" y="17387"/>
                  </a:lnTo>
                  <a:lnTo>
                    <a:pt x="2549785" y="4495"/>
                  </a:lnTo>
                  <a:lnTo>
                    <a:pt x="2505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4545" y="1651253"/>
              <a:ext cx="2726690" cy="1687195"/>
            </a:xfrm>
            <a:custGeom>
              <a:avLst/>
              <a:gdLst/>
              <a:ahLst/>
              <a:cxnLst/>
              <a:rect l="l" t="t" r="r" b="b"/>
              <a:pathLst>
                <a:path w="2726690" h="1687195">
                  <a:moveTo>
                    <a:pt x="0" y="221234"/>
                  </a:moveTo>
                  <a:lnTo>
                    <a:pt x="4495" y="176650"/>
                  </a:lnTo>
                  <a:lnTo>
                    <a:pt x="17387" y="135124"/>
                  </a:lnTo>
                  <a:lnTo>
                    <a:pt x="37785" y="97544"/>
                  </a:lnTo>
                  <a:lnTo>
                    <a:pt x="64801" y="64801"/>
                  </a:lnTo>
                  <a:lnTo>
                    <a:pt x="97544" y="37785"/>
                  </a:lnTo>
                  <a:lnTo>
                    <a:pt x="135124" y="17387"/>
                  </a:lnTo>
                  <a:lnTo>
                    <a:pt x="176650" y="4495"/>
                  </a:lnTo>
                  <a:lnTo>
                    <a:pt x="221234" y="0"/>
                  </a:lnTo>
                  <a:lnTo>
                    <a:pt x="1590420" y="0"/>
                  </a:lnTo>
                  <a:lnTo>
                    <a:pt x="2272030" y="0"/>
                  </a:lnTo>
                  <a:lnTo>
                    <a:pt x="2505202" y="0"/>
                  </a:lnTo>
                  <a:lnTo>
                    <a:pt x="2549785" y="4495"/>
                  </a:lnTo>
                  <a:lnTo>
                    <a:pt x="2591311" y="17387"/>
                  </a:lnTo>
                  <a:lnTo>
                    <a:pt x="2628891" y="37785"/>
                  </a:lnTo>
                  <a:lnTo>
                    <a:pt x="2661634" y="64801"/>
                  </a:lnTo>
                  <a:lnTo>
                    <a:pt x="2688650" y="97544"/>
                  </a:lnTo>
                  <a:lnTo>
                    <a:pt x="2709048" y="135124"/>
                  </a:lnTo>
                  <a:lnTo>
                    <a:pt x="2721940" y="176650"/>
                  </a:lnTo>
                  <a:lnTo>
                    <a:pt x="2726436" y="221234"/>
                  </a:lnTo>
                  <a:lnTo>
                    <a:pt x="2726436" y="774319"/>
                  </a:lnTo>
                  <a:lnTo>
                    <a:pt x="2726436" y="1106170"/>
                  </a:lnTo>
                  <a:lnTo>
                    <a:pt x="2721940" y="1150753"/>
                  </a:lnTo>
                  <a:lnTo>
                    <a:pt x="2709048" y="1192279"/>
                  </a:lnTo>
                  <a:lnTo>
                    <a:pt x="2688650" y="1229859"/>
                  </a:lnTo>
                  <a:lnTo>
                    <a:pt x="2661634" y="1262602"/>
                  </a:lnTo>
                  <a:lnTo>
                    <a:pt x="2628891" y="1289618"/>
                  </a:lnTo>
                  <a:lnTo>
                    <a:pt x="2591311" y="1310016"/>
                  </a:lnTo>
                  <a:lnTo>
                    <a:pt x="2549785" y="1322908"/>
                  </a:lnTo>
                  <a:lnTo>
                    <a:pt x="2505202" y="1327404"/>
                  </a:lnTo>
                  <a:lnTo>
                    <a:pt x="2272030" y="1327404"/>
                  </a:lnTo>
                  <a:lnTo>
                    <a:pt x="1938401" y="1687068"/>
                  </a:lnTo>
                  <a:lnTo>
                    <a:pt x="1590420" y="1327404"/>
                  </a:lnTo>
                  <a:lnTo>
                    <a:pt x="221234" y="1327404"/>
                  </a:lnTo>
                  <a:lnTo>
                    <a:pt x="176650" y="1322908"/>
                  </a:lnTo>
                  <a:lnTo>
                    <a:pt x="135124" y="1310016"/>
                  </a:lnTo>
                  <a:lnTo>
                    <a:pt x="97544" y="1289618"/>
                  </a:lnTo>
                  <a:lnTo>
                    <a:pt x="64801" y="1262602"/>
                  </a:lnTo>
                  <a:lnTo>
                    <a:pt x="37785" y="1229859"/>
                  </a:lnTo>
                  <a:lnTo>
                    <a:pt x="17387" y="1192279"/>
                  </a:lnTo>
                  <a:lnTo>
                    <a:pt x="4495" y="1150753"/>
                  </a:lnTo>
                  <a:lnTo>
                    <a:pt x="0" y="1106170"/>
                  </a:lnTo>
                  <a:lnTo>
                    <a:pt x="0" y="774319"/>
                  </a:lnTo>
                  <a:lnTo>
                    <a:pt x="0" y="221234"/>
                  </a:lnTo>
                  <a:close/>
                </a:path>
              </a:pathLst>
            </a:custGeom>
            <a:ln w="25908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8960" y="4522184"/>
              <a:ext cx="525456" cy="38826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049016" y="1685289"/>
            <a:ext cx="231521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Loss function  </a:t>
            </a:r>
            <a:r>
              <a:rPr sz="2000" spc="-5" dirty="0">
                <a:latin typeface="Segoe UI"/>
                <a:cs typeface="Segoe UI"/>
              </a:rPr>
              <a:t>measures </a:t>
            </a:r>
            <a:r>
              <a:rPr sz="2000" dirty="0">
                <a:latin typeface="Segoe UI"/>
                <a:cs typeface="Segoe UI"/>
              </a:rPr>
              <a:t>how </a:t>
            </a:r>
            <a:r>
              <a:rPr sz="2000" spc="-5" dirty="0">
                <a:latin typeface="Segoe UI"/>
                <a:cs typeface="Segoe UI"/>
              </a:rPr>
              <a:t>well  classifier fits </a:t>
            </a:r>
            <a:r>
              <a:rPr sz="2000" dirty="0">
                <a:latin typeface="Segoe UI"/>
                <a:cs typeface="Segoe UI"/>
              </a:rPr>
              <a:t>training  data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16332" y="1606232"/>
            <a:ext cx="2330450" cy="1771650"/>
            <a:chOff x="6216332" y="1606232"/>
            <a:chExt cx="2330450" cy="1771650"/>
          </a:xfrm>
        </p:grpSpPr>
        <p:sp>
          <p:nvSpPr>
            <p:cNvPr id="11" name="object 11"/>
            <p:cNvSpPr/>
            <p:nvPr/>
          </p:nvSpPr>
          <p:spPr>
            <a:xfrm>
              <a:off x="6229350" y="1619249"/>
              <a:ext cx="2304415" cy="1745614"/>
            </a:xfrm>
            <a:custGeom>
              <a:avLst/>
              <a:gdLst/>
              <a:ahLst/>
              <a:cxnLst/>
              <a:rect l="l" t="t" r="r" b="b"/>
              <a:pathLst>
                <a:path w="2304415" h="1745614">
                  <a:moveTo>
                    <a:pt x="1920240" y="1479803"/>
                  </a:moveTo>
                  <a:lnTo>
                    <a:pt x="1344168" y="1479803"/>
                  </a:lnTo>
                  <a:lnTo>
                    <a:pt x="1507744" y="1745361"/>
                  </a:lnTo>
                  <a:lnTo>
                    <a:pt x="1920240" y="1479803"/>
                  </a:lnTo>
                  <a:close/>
                </a:path>
                <a:path w="2304415" h="1745614">
                  <a:moveTo>
                    <a:pt x="2057653" y="0"/>
                  </a:moveTo>
                  <a:lnTo>
                    <a:pt x="246634" y="0"/>
                  </a:lnTo>
                  <a:lnTo>
                    <a:pt x="196911" y="5008"/>
                  </a:lnTo>
                  <a:lnTo>
                    <a:pt x="150608" y="19373"/>
                  </a:lnTo>
                  <a:lnTo>
                    <a:pt x="108712" y="42105"/>
                  </a:lnTo>
                  <a:lnTo>
                    <a:pt x="72215" y="72215"/>
                  </a:lnTo>
                  <a:lnTo>
                    <a:pt x="42105" y="108712"/>
                  </a:lnTo>
                  <a:lnTo>
                    <a:pt x="19373" y="150608"/>
                  </a:lnTo>
                  <a:lnTo>
                    <a:pt x="5008" y="196911"/>
                  </a:lnTo>
                  <a:lnTo>
                    <a:pt x="0" y="246634"/>
                  </a:lnTo>
                  <a:lnTo>
                    <a:pt x="0" y="1233170"/>
                  </a:lnTo>
                  <a:lnTo>
                    <a:pt x="5008" y="1282892"/>
                  </a:lnTo>
                  <a:lnTo>
                    <a:pt x="19373" y="1329195"/>
                  </a:lnTo>
                  <a:lnTo>
                    <a:pt x="42105" y="1371091"/>
                  </a:lnTo>
                  <a:lnTo>
                    <a:pt x="72215" y="1407588"/>
                  </a:lnTo>
                  <a:lnTo>
                    <a:pt x="108712" y="1437698"/>
                  </a:lnTo>
                  <a:lnTo>
                    <a:pt x="150608" y="1460430"/>
                  </a:lnTo>
                  <a:lnTo>
                    <a:pt x="196911" y="1474795"/>
                  </a:lnTo>
                  <a:lnTo>
                    <a:pt x="246634" y="1479803"/>
                  </a:lnTo>
                  <a:lnTo>
                    <a:pt x="2057653" y="1479803"/>
                  </a:lnTo>
                  <a:lnTo>
                    <a:pt x="2107376" y="1474795"/>
                  </a:lnTo>
                  <a:lnTo>
                    <a:pt x="2153679" y="1460430"/>
                  </a:lnTo>
                  <a:lnTo>
                    <a:pt x="2195575" y="1437698"/>
                  </a:lnTo>
                  <a:lnTo>
                    <a:pt x="2232072" y="1407588"/>
                  </a:lnTo>
                  <a:lnTo>
                    <a:pt x="2262182" y="1371091"/>
                  </a:lnTo>
                  <a:lnTo>
                    <a:pt x="2284914" y="1329195"/>
                  </a:lnTo>
                  <a:lnTo>
                    <a:pt x="2299279" y="1282892"/>
                  </a:lnTo>
                  <a:lnTo>
                    <a:pt x="2304288" y="1233170"/>
                  </a:lnTo>
                  <a:lnTo>
                    <a:pt x="2304288" y="246634"/>
                  </a:lnTo>
                  <a:lnTo>
                    <a:pt x="2299279" y="196911"/>
                  </a:lnTo>
                  <a:lnTo>
                    <a:pt x="2284914" y="150608"/>
                  </a:lnTo>
                  <a:lnTo>
                    <a:pt x="2262182" y="108712"/>
                  </a:lnTo>
                  <a:lnTo>
                    <a:pt x="2232072" y="72215"/>
                  </a:lnTo>
                  <a:lnTo>
                    <a:pt x="2195575" y="42105"/>
                  </a:lnTo>
                  <a:lnTo>
                    <a:pt x="2153679" y="19373"/>
                  </a:lnTo>
                  <a:lnTo>
                    <a:pt x="2107376" y="5008"/>
                  </a:lnTo>
                  <a:lnTo>
                    <a:pt x="20576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29350" y="1619249"/>
              <a:ext cx="2304415" cy="1745614"/>
            </a:xfrm>
            <a:custGeom>
              <a:avLst/>
              <a:gdLst/>
              <a:ahLst/>
              <a:cxnLst/>
              <a:rect l="l" t="t" r="r" b="b"/>
              <a:pathLst>
                <a:path w="2304415" h="1745614">
                  <a:moveTo>
                    <a:pt x="0" y="246634"/>
                  </a:moveTo>
                  <a:lnTo>
                    <a:pt x="5008" y="196911"/>
                  </a:lnTo>
                  <a:lnTo>
                    <a:pt x="19373" y="150608"/>
                  </a:lnTo>
                  <a:lnTo>
                    <a:pt x="42105" y="108712"/>
                  </a:lnTo>
                  <a:lnTo>
                    <a:pt x="72215" y="72215"/>
                  </a:lnTo>
                  <a:lnTo>
                    <a:pt x="108712" y="42105"/>
                  </a:lnTo>
                  <a:lnTo>
                    <a:pt x="150608" y="19373"/>
                  </a:lnTo>
                  <a:lnTo>
                    <a:pt x="196911" y="5008"/>
                  </a:lnTo>
                  <a:lnTo>
                    <a:pt x="246634" y="0"/>
                  </a:lnTo>
                  <a:lnTo>
                    <a:pt x="1344168" y="0"/>
                  </a:lnTo>
                  <a:lnTo>
                    <a:pt x="1920240" y="0"/>
                  </a:lnTo>
                  <a:lnTo>
                    <a:pt x="2057653" y="0"/>
                  </a:lnTo>
                  <a:lnTo>
                    <a:pt x="2107376" y="5008"/>
                  </a:lnTo>
                  <a:lnTo>
                    <a:pt x="2153679" y="19373"/>
                  </a:lnTo>
                  <a:lnTo>
                    <a:pt x="2195575" y="42105"/>
                  </a:lnTo>
                  <a:lnTo>
                    <a:pt x="2232072" y="72215"/>
                  </a:lnTo>
                  <a:lnTo>
                    <a:pt x="2262182" y="108712"/>
                  </a:lnTo>
                  <a:lnTo>
                    <a:pt x="2284914" y="150608"/>
                  </a:lnTo>
                  <a:lnTo>
                    <a:pt x="2299279" y="196911"/>
                  </a:lnTo>
                  <a:lnTo>
                    <a:pt x="2304288" y="246634"/>
                  </a:lnTo>
                  <a:lnTo>
                    <a:pt x="2304288" y="863219"/>
                  </a:lnTo>
                  <a:lnTo>
                    <a:pt x="2304288" y="1233170"/>
                  </a:lnTo>
                  <a:lnTo>
                    <a:pt x="2299279" y="1282892"/>
                  </a:lnTo>
                  <a:lnTo>
                    <a:pt x="2284914" y="1329195"/>
                  </a:lnTo>
                  <a:lnTo>
                    <a:pt x="2262182" y="1371091"/>
                  </a:lnTo>
                  <a:lnTo>
                    <a:pt x="2232072" y="1407588"/>
                  </a:lnTo>
                  <a:lnTo>
                    <a:pt x="2195575" y="1437698"/>
                  </a:lnTo>
                  <a:lnTo>
                    <a:pt x="2153679" y="1460430"/>
                  </a:lnTo>
                  <a:lnTo>
                    <a:pt x="2107376" y="1474795"/>
                  </a:lnTo>
                  <a:lnTo>
                    <a:pt x="2057653" y="1479803"/>
                  </a:lnTo>
                  <a:lnTo>
                    <a:pt x="1920240" y="1479803"/>
                  </a:lnTo>
                  <a:lnTo>
                    <a:pt x="1507744" y="1745361"/>
                  </a:lnTo>
                  <a:lnTo>
                    <a:pt x="1344168" y="1479803"/>
                  </a:lnTo>
                  <a:lnTo>
                    <a:pt x="246634" y="1479803"/>
                  </a:lnTo>
                  <a:lnTo>
                    <a:pt x="196911" y="1474795"/>
                  </a:lnTo>
                  <a:lnTo>
                    <a:pt x="150608" y="1460430"/>
                  </a:lnTo>
                  <a:lnTo>
                    <a:pt x="108712" y="1437698"/>
                  </a:lnTo>
                  <a:lnTo>
                    <a:pt x="72215" y="1407588"/>
                  </a:lnTo>
                  <a:lnTo>
                    <a:pt x="42105" y="1371091"/>
                  </a:lnTo>
                  <a:lnTo>
                    <a:pt x="19373" y="1329195"/>
                  </a:lnTo>
                  <a:lnTo>
                    <a:pt x="5008" y="1282892"/>
                  </a:lnTo>
                  <a:lnTo>
                    <a:pt x="0" y="1233170"/>
                  </a:lnTo>
                  <a:lnTo>
                    <a:pt x="0" y="863219"/>
                  </a:lnTo>
                  <a:lnTo>
                    <a:pt x="0" y="246634"/>
                  </a:lnTo>
                  <a:close/>
                </a:path>
              </a:pathLst>
            </a:custGeom>
            <a:ln w="25907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36867" y="1728977"/>
            <a:ext cx="18859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3175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Regularizer  </a:t>
            </a:r>
            <a:r>
              <a:rPr sz="2000" spc="-5" dirty="0">
                <a:latin typeface="Segoe UI"/>
                <a:cs typeface="Segoe UI"/>
              </a:rPr>
              <a:t>prefers solutions  </a:t>
            </a:r>
            <a:r>
              <a:rPr sz="2000" dirty="0">
                <a:latin typeface="Segoe UI"/>
                <a:cs typeface="Segoe UI"/>
              </a:rPr>
              <a:t>that </a:t>
            </a:r>
            <a:r>
              <a:rPr sz="2000" spc="-5" dirty="0">
                <a:latin typeface="Segoe UI"/>
                <a:cs typeface="Segoe UI"/>
              </a:rPr>
              <a:t>generalize  well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4944" y="1732724"/>
            <a:ext cx="1898014" cy="1713864"/>
            <a:chOff x="444944" y="1732724"/>
            <a:chExt cx="1898014" cy="1713864"/>
          </a:xfrm>
        </p:grpSpPr>
        <p:sp>
          <p:nvSpPr>
            <p:cNvPr id="15" name="object 15"/>
            <p:cNvSpPr/>
            <p:nvPr/>
          </p:nvSpPr>
          <p:spPr>
            <a:xfrm>
              <a:off x="457961" y="1745741"/>
              <a:ext cx="1871980" cy="1687830"/>
            </a:xfrm>
            <a:custGeom>
              <a:avLst/>
              <a:gdLst/>
              <a:ahLst/>
              <a:cxnLst/>
              <a:rect l="l" t="t" r="r" b="b"/>
              <a:pathLst>
                <a:path w="1871980" h="1687829">
                  <a:moveTo>
                    <a:pt x="1559560" y="1283208"/>
                  </a:moveTo>
                  <a:lnTo>
                    <a:pt x="1091692" y="1283208"/>
                  </a:lnTo>
                  <a:lnTo>
                    <a:pt x="1090168" y="1687322"/>
                  </a:lnTo>
                  <a:lnTo>
                    <a:pt x="1559560" y="1283208"/>
                  </a:lnTo>
                  <a:close/>
                </a:path>
                <a:path w="1871980" h="1687829">
                  <a:moveTo>
                    <a:pt x="1657604" y="0"/>
                  </a:moveTo>
                  <a:lnTo>
                    <a:pt x="213867" y="0"/>
                  </a:lnTo>
                  <a:lnTo>
                    <a:pt x="164831" y="5648"/>
                  </a:lnTo>
                  <a:lnTo>
                    <a:pt x="119816" y="21738"/>
                  </a:lnTo>
                  <a:lnTo>
                    <a:pt x="80107" y="46986"/>
                  </a:lnTo>
                  <a:lnTo>
                    <a:pt x="46986" y="80107"/>
                  </a:lnTo>
                  <a:lnTo>
                    <a:pt x="21738" y="119816"/>
                  </a:lnTo>
                  <a:lnTo>
                    <a:pt x="5648" y="164831"/>
                  </a:lnTo>
                  <a:lnTo>
                    <a:pt x="0" y="213868"/>
                  </a:lnTo>
                  <a:lnTo>
                    <a:pt x="0" y="1069340"/>
                  </a:lnTo>
                  <a:lnTo>
                    <a:pt x="5648" y="1118376"/>
                  </a:lnTo>
                  <a:lnTo>
                    <a:pt x="21738" y="1163391"/>
                  </a:lnTo>
                  <a:lnTo>
                    <a:pt x="46986" y="1203100"/>
                  </a:lnTo>
                  <a:lnTo>
                    <a:pt x="80107" y="1236221"/>
                  </a:lnTo>
                  <a:lnTo>
                    <a:pt x="119816" y="1261469"/>
                  </a:lnTo>
                  <a:lnTo>
                    <a:pt x="164831" y="1277559"/>
                  </a:lnTo>
                  <a:lnTo>
                    <a:pt x="213867" y="1283208"/>
                  </a:lnTo>
                  <a:lnTo>
                    <a:pt x="1657604" y="1283208"/>
                  </a:lnTo>
                  <a:lnTo>
                    <a:pt x="1706640" y="1277559"/>
                  </a:lnTo>
                  <a:lnTo>
                    <a:pt x="1751655" y="1261469"/>
                  </a:lnTo>
                  <a:lnTo>
                    <a:pt x="1791364" y="1236221"/>
                  </a:lnTo>
                  <a:lnTo>
                    <a:pt x="1824485" y="1203100"/>
                  </a:lnTo>
                  <a:lnTo>
                    <a:pt x="1849733" y="1163391"/>
                  </a:lnTo>
                  <a:lnTo>
                    <a:pt x="1865823" y="1118376"/>
                  </a:lnTo>
                  <a:lnTo>
                    <a:pt x="1871471" y="1069340"/>
                  </a:lnTo>
                  <a:lnTo>
                    <a:pt x="1871471" y="213868"/>
                  </a:lnTo>
                  <a:lnTo>
                    <a:pt x="1865823" y="164831"/>
                  </a:lnTo>
                  <a:lnTo>
                    <a:pt x="1849733" y="119816"/>
                  </a:lnTo>
                  <a:lnTo>
                    <a:pt x="1824485" y="80107"/>
                  </a:lnTo>
                  <a:lnTo>
                    <a:pt x="1791364" y="46986"/>
                  </a:lnTo>
                  <a:lnTo>
                    <a:pt x="1751655" y="21738"/>
                  </a:lnTo>
                  <a:lnTo>
                    <a:pt x="1706640" y="5648"/>
                  </a:lnTo>
                  <a:lnTo>
                    <a:pt x="1657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961" y="1745741"/>
              <a:ext cx="1871980" cy="1687830"/>
            </a:xfrm>
            <a:custGeom>
              <a:avLst/>
              <a:gdLst/>
              <a:ahLst/>
              <a:cxnLst/>
              <a:rect l="l" t="t" r="r" b="b"/>
              <a:pathLst>
                <a:path w="1871980" h="1687829">
                  <a:moveTo>
                    <a:pt x="0" y="213868"/>
                  </a:moveTo>
                  <a:lnTo>
                    <a:pt x="5648" y="164831"/>
                  </a:lnTo>
                  <a:lnTo>
                    <a:pt x="21738" y="119816"/>
                  </a:lnTo>
                  <a:lnTo>
                    <a:pt x="46986" y="80107"/>
                  </a:lnTo>
                  <a:lnTo>
                    <a:pt x="80107" y="46986"/>
                  </a:lnTo>
                  <a:lnTo>
                    <a:pt x="119816" y="21738"/>
                  </a:lnTo>
                  <a:lnTo>
                    <a:pt x="164831" y="5648"/>
                  </a:lnTo>
                  <a:lnTo>
                    <a:pt x="213867" y="0"/>
                  </a:lnTo>
                  <a:lnTo>
                    <a:pt x="1091692" y="0"/>
                  </a:lnTo>
                  <a:lnTo>
                    <a:pt x="1559560" y="0"/>
                  </a:lnTo>
                  <a:lnTo>
                    <a:pt x="1657604" y="0"/>
                  </a:lnTo>
                  <a:lnTo>
                    <a:pt x="1706640" y="5648"/>
                  </a:lnTo>
                  <a:lnTo>
                    <a:pt x="1751655" y="21738"/>
                  </a:lnTo>
                  <a:lnTo>
                    <a:pt x="1791364" y="46986"/>
                  </a:lnTo>
                  <a:lnTo>
                    <a:pt x="1824485" y="80107"/>
                  </a:lnTo>
                  <a:lnTo>
                    <a:pt x="1849733" y="119816"/>
                  </a:lnTo>
                  <a:lnTo>
                    <a:pt x="1865823" y="164831"/>
                  </a:lnTo>
                  <a:lnTo>
                    <a:pt x="1871471" y="213868"/>
                  </a:lnTo>
                  <a:lnTo>
                    <a:pt x="1871471" y="748538"/>
                  </a:lnTo>
                  <a:lnTo>
                    <a:pt x="1871471" y="1069340"/>
                  </a:lnTo>
                  <a:lnTo>
                    <a:pt x="1865823" y="1118376"/>
                  </a:lnTo>
                  <a:lnTo>
                    <a:pt x="1849733" y="1163391"/>
                  </a:lnTo>
                  <a:lnTo>
                    <a:pt x="1824485" y="1203100"/>
                  </a:lnTo>
                  <a:lnTo>
                    <a:pt x="1791364" y="1236221"/>
                  </a:lnTo>
                  <a:lnTo>
                    <a:pt x="1751655" y="1261469"/>
                  </a:lnTo>
                  <a:lnTo>
                    <a:pt x="1706640" y="1277559"/>
                  </a:lnTo>
                  <a:lnTo>
                    <a:pt x="1657604" y="1283208"/>
                  </a:lnTo>
                  <a:lnTo>
                    <a:pt x="1559560" y="1283208"/>
                  </a:lnTo>
                  <a:lnTo>
                    <a:pt x="1090168" y="1687322"/>
                  </a:lnTo>
                  <a:lnTo>
                    <a:pt x="1091692" y="1283208"/>
                  </a:lnTo>
                  <a:lnTo>
                    <a:pt x="213867" y="1283208"/>
                  </a:lnTo>
                  <a:lnTo>
                    <a:pt x="164831" y="1277559"/>
                  </a:lnTo>
                  <a:lnTo>
                    <a:pt x="119816" y="1261469"/>
                  </a:lnTo>
                  <a:lnTo>
                    <a:pt x="80107" y="1236221"/>
                  </a:lnTo>
                  <a:lnTo>
                    <a:pt x="46986" y="1203100"/>
                  </a:lnTo>
                  <a:lnTo>
                    <a:pt x="21738" y="1163391"/>
                  </a:lnTo>
                  <a:lnTo>
                    <a:pt x="5648" y="1118376"/>
                  </a:lnTo>
                  <a:lnTo>
                    <a:pt x="0" y="1069340"/>
                  </a:lnTo>
                  <a:lnTo>
                    <a:pt x="0" y="748538"/>
                  </a:lnTo>
                  <a:lnTo>
                    <a:pt x="0" y="21386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6965" y="2062099"/>
            <a:ext cx="11518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O</a:t>
            </a:r>
            <a:r>
              <a:rPr sz="2000" b="1" spc="5" dirty="0">
                <a:latin typeface="Segoe UI"/>
                <a:cs typeface="Segoe UI"/>
              </a:rPr>
              <a:t>b</a:t>
            </a:r>
            <a:r>
              <a:rPr sz="2000" b="1" spc="-5" dirty="0">
                <a:latin typeface="Segoe UI"/>
                <a:cs typeface="Segoe UI"/>
              </a:rPr>
              <a:t>j</a:t>
            </a:r>
            <a:r>
              <a:rPr sz="2000" b="1" spc="-15" dirty="0">
                <a:latin typeface="Segoe UI"/>
                <a:cs typeface="Segoe UI"/>
              </a:rPr>
              <a:t>e</a:t>
            </a:r>
            <a:r>
              <a:rPr sz="2000" b="1" dirty="0">
                <a:latin typeface="Segoe UI"/>
                <a:cs typeface="Segoe UI"/>
              </a:rPr>
              <a:t>ct</a:t>
            </a:r>
            <a:r>
              <a:rPr sz="2000" b="1" spc="-10" dirty="0">
                <a:latin typeface="Segoe UI"/>
                <a:cs typeface="Segoe UI"/>
              </a:rPr>
              <a:t>i</a:t>
            </a:r>
            <a:r>
              <a:rPr sz="2000" b="1" spc="-20" dirty="0">
                <a:latin typeface="Segoe UI"/>
                <a:cs typeface="Segoe UI"/>
              </a:rPr>
              <a:t>v</a:t>
            </a:r>
            <a:r>
              <a:rPr sz="2000" b="1" dirty="0">
                <a:latin typeface="Segoe UI"/>
                <a:cs typeface="Segoe UI"/>
              </a:rPr>
              <a:t>e  </a:t>
            </a:r>
            <a:r>
              <a:rPr sz="2000" b="1" spc="-5" dirty="0">
                <a:latin typeface="Segoe UI"/>
                <a:cs typeface="Segoe UI"/>
              </a:rPr>
              <a:t>function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6851" y="3243071"/>
            <a:ext cx="8220709" cy="2994660"/>
          </a:xfrm>
          <a:custGeom>
            <a:avLst/>
            <a:gdLst/>
            <a:ahLst/>
            <a:cxnLst/>
            <a:rect l="l" t="t" r="r" b="b"/>
            <a:pathLst>
              <a:path w="8220709" h="2994660">
                <a:moveTo>
                  <a:pt x="8220456" y="1197864"/>
                </a:moveTo>
                <a:lnTo>
                  <a:pt x="8218945" y="1197864"/>
                </a:lnTo>
                <a:lnTo>
                  <a:pt x="8218945" y="0"/>
                </a:lnTo>
                <a:lnTo>
                  <a:pt x="1437144" y="0"/>
                </a:lnTo>
                <a:lnTo>
                  <a:pt x="1437144" y="1197864"/>
                </a:lnTo>
                <a:lnTo>
                  <a:pt x="0" y="1197864"/>
                </a:lnTo>
                <a:lnTo>
                  <a:pt x="0" y="2994660"/>
                </a:lnTo>
                <a:lnTo>
                  <a:pt x="8220456" y="2994660"/>
                </a:lnTo>
                <a:lnTo>
                  <a:pt x="8220456" y="11978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3238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Casting Linear Classification  as an Optimization</a:t>
            </a:r>
            <a:r>
              <a:rPr spc="-100" dirty="0"/>
              <a:t> </a:t>
            </a:r>
            <a:r>
              <a:rPr spc="-1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4455410"/>
            <a:ext cx="686244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14400">
              <a:lnSpc>
                <a:spcPct val="120000"/>
              </a:lnSpc>
              <a:spcBef>
                <a:spcPts val="95"/>
              </a:spcBef>
            </a:pPr>
            <a:r>
              <a:rPr sz="2400" spc="-10" dirty="0">
                <a:latin typeface="Segoe UI"/>
                <a:cs typeface="Segoe UI"/>
              </a:rPr>
              <a:t>Indicator </a:t>
            </a:r>
            <a:r>
              <a:rPr sz="2400" spc="-5" dirty="0">
                <a:latin typeface="Segoe UI"/>
                <a:cs typeface="Segoe UI"/>
              </a:rPr>
              <a:t>function: </a:t>
            </a:r>
            <a:r>
              <a:rPr sz="2400" dirty="0">
                <a:latin typeface="Segoe UI"/>
                <a:cs typeface="Segoe UI"/>
              </a:rPr>
              <a:t>1 </a:t>
            </a:r>
            <a:r>
              <a:rPr sz="2400" spc="-5" dirty="0">
                <a:latin typeface="Segoe UI"/>
                <a:cs typeface="Segoe UI"/>
              </a:rPr>
              <a:t>if </a:t>
            </a:r>
            <a:r>
              <a:rPr sz="2400" dirty="0">
                <a:latin typeface="Segoe UI"/>
                <a:cs typeface="Segoe UI"/>
              </a:rPr>
              <a:t>(.) </a:t>
            </a:r>
            <a:r>
              <a:rPr sz="2400" spc="-5" dirty="0">
                <a:latin typeface="Segoe UI"/>
                <a:cs typeface="Segoe UI"/>
              </a:rPr>
              <a:t>is </a:t>
            </a:r>
            <a:r>
              <a:rPr sz="2400" dirty="0">
                <a:latin typeface="Segoe UI"/>
                <a:cs typeface="Segoe UI"/>
              </a:rPr>
              <a:t>true, 0 </a:t>
            </a:r>
            <a:r>
              <a:rPr sz="2400" spc="10" dirty="0">
                <a:latin typeface="Segoe UI"/>
                <a:cs typeface="Segoe UI"/>
              </a:rPr>
              <a:t>otherwise  </a:t>
            </a: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5" dirty="0">
                <a:latin typeface="Segoe UI"/>
                <a:cs typeface="Segoe UI"/>
              </a:rPr>
              <a:t>loss function above is called </a:t>
            </a:r>
            <a:r>
              <a:rPr sz="2400" dirty="0">
                <a:latin typeface="Segoe UI"/>
                <a:cs typeface="Segoe UI"/>
              </a:rPr>
              <a:t>the 0-1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loss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5062" y="1638236"/>
            <a:ext cx="7571105" cy="2637155"/>
            <a:chOff x="635062" y="1638236"/>
            <a:chExt cx="7571105" cy="26371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062" y="3326983"/>
              <a:ext cx="7570619" cy="9484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44545" y="1651253"/>
              <a:ext cx="2726690" cy="1687195"/>
            </a:xfrm>
            <a:custGeom>
              <a:avLst/>
              <a:gdLst/>
              <a:ahLst/>
              <a:cxnLst/>
              <a:rect l="l" t="t" r="r" b="b"/>
              <a:pathLst>
                <a:path w="2726690" h="1687195">
                  <a:moveTo>
                    <a:pt x="2272030" y="1327404"/>
                  </a:moveTo>
                  <a:lnTo>
                    <a:pt x="1590420" y="1327404"/>
                  </a:lnTo>
                  <a:lnTo>
                    <a:pt x="1938401" y="1687068"/>
                  </a:lnTo>
                  <a:lnTo>
                    <a:pt x="2272030" y="1327404"/>
                  </a:lnTo>
                  <a:close/>
                </a:path>
                <a:path w="2726690" h="1687195">
                  <a:moveTo>
                    <a:pt x="2505202" y="0"/>
                  </a:moveTo>
                  <a:lnTo>
                    <a:pt x="221234" y="0"/>
                  </a:lnTo>
                  <a:lnTo>
                    <a:pt x="176650" y="4495"/>
                  </a:lnTo>
                  <a:lnTo>
                    <a:pt x="135124" y="17387"/>
                  </a:lnTo>
                  <a:lnTo>
                    <a:pt x="97544" y="37785"/>
                  </a:lnTo>
                  <a:lnTo>
                    <a:pt x="64801" y="64801"/>
                  </a:lnTo>
                  <a:lnTo>
                    <a:pt x="37785" y="97544"/>
                  </a:lnTo>
                  <a:lnTo>
                    <a:pt x="17387" y="135124"/>
                  </a:lnTo>
                  <a:lnTo>
                    <a:pt x="4495" y="176650"/>
                  </a:lnTo>
                  <a:lnTo>
                    <a:pt x="0" y="221234"/>
                  </a:lnTo>
                  <a:lnTo>
                    <a:pt x="0" y="1106170"/>
                  </a:lnTo>
                  <a:lnTo>
                    <a:pt x="4495" y="1150753"/>
                  </a:lnTo>
                  <a:lnTo>
                    <a:pt x="17387" y="1192279"/>
                  </a:lnTo>
                  <a:lnTo>
                    <a:pt x="37785" y="1229859"/>
                  </a:lnTo>
                  <a:lnTo>
                    <a:pt x="64801" y="1262602"/>
                  </a:lnTo>
                  <a:lnTo>
                    <a:pt x="97544" y="1289618"/>
                  </a:lnTo>
                  <a:lnTo>
                    <a:pt x="135124" y="1310016"/>
                  </a:lnTo>
                  <a:lnTo>
                    <a:pt x="176650" y="1322908"/>
                  </a:lnTo>
                  <a:lnTo>
                    <a:pt x="221234" y="1327404"/>
                  </a:lnTo>
                  <a:lnTo>
                    <a:pt x="2505202" y="1327404"/>
                  </a:lnTo>
                  <a:lnTo>
                    <a:pt x="2549785" y="1322908"/>
                  </a:lnTo>
                  <a:lnTo>
                    <a:pt x="2591311" y="1310016"/>
                  </a:lnTo>
                  <a:lnTo>
                    <a:pt x="2628891" y="1289618"/>
                  </a:lnTo>
                  <a:lnTo>
                    <a:pt x="2661634" y="1262602"/>
                  </a:lnTo>
                  <a:lnTo>
                    <a:pt x="2688650" y="1229859"/>
                  </a:lnTo>
                  <a:lnTo>
                    <a:pt x="2709048" y="1192279"/>
                  </a:lnTo>
                  <a:lnTo>
                    <a:pt x="2721940" y="1150753"/>
                  </a:lnTo>
                  <a:lnTo>
                    <a:pt x="2726436" y="1106170"/>
                  </a:lnTo>
                  <a:lnTo>
                    <a:pt x="2726436" y="221234"/>
                  </a:lnTo>
                  <a:lnTo>
                    <a:pt x="2721940" y="176650"/>
                  </a:lnTo>
                  <a:lnTo>
                    <a:pt x="2709048" y="135124"/>
                  </a:lnTo>
                  <a:lnTo>
                    <a:pt x="2688650" y="97544"/>
                  </a:lnTo>
                  <a:lnTo>
                    <a:pt x="2661634" y="64801"/>
                  </a:lnTo>
                  <a:lnTo>
                    <a:pt x="2628891" y="37785"/>
                  </a:lnTo>
                  <a:lnTo>
                    <a:pt x="2591311" y="17387"/>
                  </a:lnTo>
                  <a:lnTo>
                    <a:pt x="2549785" y="4495"/>
                  </a:lnTo>
                  <a:lnTo>
                    <a:pt x="2505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4545" y="1651253"/>
              <a:ext cx="2726690" cy="1687195"/>
            </a:xfrm>
            <a:custGeom>
              <a:avLst/>
              <a:gdLst/>
              <a:ahLst/>
              <a:cxnLst/>
              <a:rect l="l" t="t" r="r" b="b"/>
              <a:pathLst>
                <a:path w="2726690" h="1687195">
                  <a:moveTo>
                    <a:pt x="0" y="221234"/>
                  </a:moveTo>
                  <a:lnTo>
                    <a:pt x="4495" y="176650"/>
                  </a:lnTo>
                  <a:lnTo>
                    <a:pt x="17387" y="135124"/>
                  </a:lnTo>
                  <a:lnTo>
                    <a:pt x="37785" y="97544"/>
                  </a:lnTo>
                  <a:lnTo>
                    <a:pt x="64801" y="64801"/>
                  </a:lnTo>
                  <a:lnTo>
                    <a:pt x="97544" y="37785"/>
                  </a:lnTo>
                  <a:lnTo>
                    <a:pt x="135124" y="17387"/>
                  </a:lnTo>
                  <a:lnTo>
                    <a:pt x="176650" y="4495"/>
                  </a:lnTo>
                  <a:lnTo>
                    <a:pt x="221234" y="0"/>
                  </a:lnTo>
                  <a:lnTo>
                    <a:pt x="1590420" y="0"/>
                  </a:lnTo>
                  <a:lnTo>
                    <a:pt x="2272030" y="0"/>
                  </a:lnTo>
                  <a:lnTo>
                    <a:pt x="2505202" y="0"/>
                  </a:lnTo>
                  <a:lnTo>
                    <a:pt x="2549785" y="4495"/>
                  </a:lnTo>
                  <a:lnTo>
                    <a:pt x="2591311" y="17387"/>
                  </a:lnTo>
                  <a:lnTo>
                    <a:pt x="2628891" y="37785"/>
                  </a:lnTo>
                  <a:lnTo>
                    <a:pt x="2661634" y="64801"/>
                  </a:lnTo>
                  <a:lnTo>
                    <a:pt x="2688650" y="97544"/>
                  </a:lnTo>
                  <a:lnTo>
                    <a:pt x="2709048" y="135124"/>
                  </a:lnTo>
                  <a:lnTo>
                    <a:pt x="2721940" y="176650"/>
                  </a:lnTo>
                  <a:lnTo>
                    <a:pt x="2726436" y="221234"/>
                  </a:lnTo>
                  <a:lnTo>
                    <a:pt x="2726436" y="774319"/>
                  </a:lnTo>
                  <a:lnTo>
                    <a:pt x="2726436" y="1106170"/>
                  </a:lnTo>
                  <a:lnTo>
                    <a:pt x="2721940" y="1150753"/>
                  </a:lnTo>
                  <a:lnTo>
                    <a:pt x="2709048" y="1192279"/>
                  </a:lnTo>
                  <a:lnTo>
                    <a:pt x="2688650" y="1229859"/>
                  </a:lnTo>
                  <a:lnTo>
                    <a:pt x="2661634" y="1262602"/>
                  </a:lnTo>
                  <a:lnTo>
                    <a:pt x="2628891" y="1289618"/>
                  </a:lnTo>
                  <a:lnTo>
                    <a:pt x="2591311" y="1310016"/>
                  </a:lnTo>
                  <a:lnTo>
                    <a:pt x="2549785" y="1322908"/>
                  </a:lnTo>
                  <a:lnTo>
                    <a:pt x="2505202" y="1327404"/>
                  </a:lnTo>
                  <a:lnTo>
                    <a:pt x="2272030" y="1327404"/>
                  </a:lnTo>
                  <a:lnTo>
                    <a:pt x="1938401" y="1687068"/>
                  </a:lnTo>
                  <a:lnTo>
                    <a:pt x="1590420" y="1327404"/>
                  </a:lnTo>
                  <a:lnTo>
                    <a:pt x="221234" y="1327404"/>
                  </a:lnTo>
                  <a:lnTo>
                    <a:pt x="176650" y="1322908"/>
                  </a:lnTo>
                  <a:lnTo>
                    <a:pt x="135124" y="1310016"/>
                  </a:lnTo>
                  <a:lnTo>
                    <a:pt x="97544" y="1289618"/>
                  </a:lnTo>
                  <a:lnTo>
                    <a:pt x="64801" y="1262602"/>
                  </a:lnTo>
                  <a:lnTo>
                    <a:pt x="37785" y="1229859"/>
                  </a:lnTo>
                  <a:lnTo>
                    <a:pt x="17387" y="1192279"/>
                  </a:lnTo>
                  <a:lnTo>
                    <a:pt x="4495" y="1150753"/>
                  </a:lnTo>
                  <a:lnTo>
                    <a:pt x="0" y="1106170"/>
                  </a:lnTo>
                  <a:lnTo>
                    <a:pt x="0" y="774319"/>
                  </a:lnTo>
                  <a:lnTo>
                    <a:pt x="0" y="221234"/>
                  </a:lnTo>
                  <a:close/>
                </a:path>
              </a:pathLst>
            </a:custGeom>
            <a:ln w="25908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960" y="4522184"/>
            <a:ext cx="525456" cy="38826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049016" y="1685289"/>
            <a:ext cx="231521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Loss function  </a:t>
            </a:r>
            <a:r>
              <a:rPr sz="2000" spc="-5" dirty="0">
                <a:latin typeface="Segoe UI"/>
                <a:cs typeface="Segoe UI"/>
              </a:rPr>
              <a:t>measures </a:t>
            </a:r>
            <a:r>
              <a:rPr sz="2000" dirty="0">
                <a:latin typeface="Segoe UI"/>
                <a:cs typeface="Segoe UI"/>
              </a:rPr>
              <a:t>how </a:t>
            </a:r>
            <a:r>
              <a:rPr sz="2000" spc="-5" dirty="0">
                <a:latin typeface="Segoe UI"/>
                <a:cs typeface="Segoe UI"/>
              </a:rPr>
              <a:t>well  classifier fits </a:t>
            </a:r>
            <a:r>
              <a:rPr sz="2000" dirty="0">
                <a:latin typeface="Segoe UI"/>
                <a:cs typeface="Segoe UI"/>
              </a:rPr>
              <a:t>training  data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16332" y="1606232"/>
            <a:ext cx="2330450" cy="1771650"/>
            <a:chOff x="6216332" y="1606232"/>
            <a:chExt cx="2330450" cy="1771650"/>
          </a:xfrm>
        </p:grpSpPr>
        <p:sp>
          <p:nvSpPr>
            <p:cNvPr id="11" name="object 11"/>
            <p:cNvSpPr/>
            <p:nvPr/>
          </p:nvSpPr>
          <p:spPr>
            <a:xfrm>
              <a:off x="6229350" y="1619249"/>
              <a:ext cx="2304415" cy="1745614"/>
            </a:xfrm>
            <a:custGeom>
              <a:avLst/>
              <a:gdLst/>
              <a:ahLst/>
              <a:cxnLst/>
              <a:rect l="l" t="t" r="r" b="b"/>
              <a:pathLst>
                <a:path w="2304415" h="1745614">
                  <a:moveTo>
                    <a:pt x="1920240" y="1479803"/>
                  </a:moveTo>
                  <a:lnTo>
                    <a:pt x="1344168" y="1479803"/>
                  </a:lnTo>
                  <a:lnTo>
                    <a:pt x="1507744" y="1745361"/>
                  </a:lnTo>
                  <a:lnTo>
                    <a:pt x="1920240" y="1479803"/>
                  </a:lnTo>
                  <a:close/>
                </a:path>
                <a:path w="2304415" h="1745614">
                  <a:moveTo>
                    <a:pt x="2057653" y="0"/>
                  </a:moveTo>
                  <a:lnTo>
                    <a:pt x="246634" y="0"/>
                  </a:lnTo>
                  <a:lnTo>
                    <a:pt x="196911" y="5008"/>
                  </a:lnTo>
                  <a:lnTo>
                    <a:pt x="150608" y="19373"/>
                  </a:lnTo>
                  <a:lnTo>
                    <a:pt x="108712" y="42105"/>
                  </a:lnTo>
                  <a:lnTo>
                    <a:pt x="72215" y="72215"/>
                  </a:lnTo>
                  <a:lnTo>
                    <a:pt x="42105" y="108712"/>
                  </a:lnTo>
                  <a:lnTo>
                    <a:pt x="19373" y="150608"/>
                  </a:lnTo>
                  <a:lnTo>
                    <a:pt x="5008" y="196911"/>
                  </a:lnTo>
                  <a:lnTo>
                    <a:pt x="0" y="246634"/>
                  </a:lnTo>
                  <a:lnTo>
                    <a:pt x="0" y="1233170"/>
                  </a:lnTo>
                  <a:lnTo>
                    <a:pt x="5008" y="1282892"/>
                  </a:lnTo>
                  <a:lnTo>
                    <a:pt x="19373" y="1329195"/>
                  </a:lnTo>
                  <a:lnTo>
                    <a:pt x="42105" y="1371091"/>
                  </a:lnTo>
                  <a:lnTo>
                    <a:pt x="72215" y="1407588"/>
                  </a:lnTo>
                  <a:lnTo>
                    <a:pt x="108712" y="1437698"/>
                  </a:lnTo>
                  <a:lnTo>
                    <a:pt x="150608" y="1460430"/>
                  </a:lnTo>
                  <a:lnTo>
                    <a:pt x="196911" y="1474795"/>
                  </a:lnTo>
                  <a:lnTo>
                    <a:pt x="246634" y="1479803"/>
                  </a:lnTo>
                  <a:lnTo>
                    <a:pt x="2057653" y="1479803"/>
                  </a:lnTo>
                  <a:lnTo>
                    <a:pt x="2107376" y="1474795"/>
                  </a:lnTo>
                  <a:lnTo>
                    <a:pt x="2153679" y="1460430"/>
                  </a:lnTo>
                  <a:lnTo>
                    <a:pt x="2195575" y="1437698"/>
                  </a:lnTo>
                  <a:lnTo>
                    <a:pt x="2232072" y="1407588"/>
                  </a:lnTo>
                  <a:lnTo>
                    <a:pt x="2262182" y="1371091"/>
                  </a:lnTo>
                  <a:lnTo>
                    <a:pt x="2284914" y="1329195"/>
                  </a:lnTo>
                  <a:lnTo>
                    <a:pt x="2299279" y="1282892"/>
                  </a:lnTo>
                  <a:lnTo>
                    <a:pt x="2304288" y="1233170"/>
                  </a:lnTo>
                  <a:lnTo>
                    <a:pt x="2304288" y="246634"/>
                  </a:lnTo>
                  <a:lnTo>
                    <a:pt x="2299279" y="196911"/>
                  </a:lnTo>
                  <a:lnTo>
                    <a:pt x="2284914" y="150608"/>
                  </a:lnTo>
                  <a:lnTo>
                    <a:pt x="2262182" y="108712"/>
                  </a:lnTo>
                  <a:lnTo>
                    <a:pt x="2232072" y="72215"/>
                  </a:lnTo>
                  <a:lnTo>
                    <a:pt x="2195575" y="42105"/>
                  </a:lnTo>
                  <a:lnTo>
                    <a:pt x="2153679" y="19373"/>
                  </a:lnTo>
                  <a:lnTo>
                    <a:pt x="2107376" y="5008"/>
                  </a:lnTo>
                  <a:lnTo>
                    <a:pt x="20576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29350" y="1619249"/>
              <a:ext cx="2304415" cy="1745614"/>
            </a:xfrm>
            <a:custGeom>
              <a:avLst/>
              <a:gdLst/>
              <a:ahLst/>
              <a:cxnLst/>
              <a:rect l="l" t="t" r="r" b="b"/>
              <a:pathLst>
                <a:path w="2304415" h="1745614">
                  <a:moveTo>
                    <a:pt x="0" y="246634"/>
                  </a:moveTo>
                  <a:lnTo>
                    <a:pt x="5008" y="196911"/>
                  </a:lnTo>
                  <a:lnTo>
                    <a:pt x="19373" y="150608"/>
                  </a:lnTo>
                  <a:lnTo>
                    <a:pt x="42105" y="108712"/>
                  </a:lnTo>
                  <a:lnTo>
                    <a:pt x="72215" y="72215"/>
                  </a:lnTo>
                  <a:lnTo>
                    <a:pt x="108712" y="42105"/>
                  </a:lnTo>
                  <a:lnTo>
                    <a:pt x="150608" y="19373"/>
                  </a:lnTo>
                  <a:lnTo>
                    <a:pt x="196911" y="5008"/>
                  </a:lnTo>
                  <a:lnTo>
                    <a:pt x="246634" y="0"/>
                  </a:lnTo>
                  <a:lnTo>
                    <a:pt x="1344168" y="0"/>
                  </a:lnTo>
                  <a:lnTo>
                    <a:pt x="1920240" y="0"/>
                  </a:lnTo>
                  <a:lnTo>
                    <a:pt x="2057653" y="0"/>
                  </a:lnTo>
                  <a:lnTo>
                    <a:pt x="2107376" y="5008"/>
                  </a:lnTo>
                  <a:lnTo>
                    <a:pt x="2153679" y="19373"/>
                  </a:lnTo>
                  <a:lnTo>
                    <a:pt x="2195575" y="42105"/>
                  </a:lnTo>
                  <a:lnTo>
                    <a:pt x="2232072" y="72215"/>
                  </a:lnTo>
                  <a:lnTo>
                    <a:pt x="2262182" y="108712"/>
                  </a:lnTo>
                  <a:lnTo>
                    <a:pt x="2284914" y="150608"/>
                  </a:lnTo>
                  <a:lnTo>
                    <a:pt x="2299279" y="196911"/>
                  </a:lnTo>
                  <a:lnTo>
                    <a:pt x="2304288" y="246634"/>
                  </a:lnTo>
                  <a:lnTo>
                    <a:pt x="2304288" y="863219"/>
                  </a:lnTo>
                  <a:lnTo>
                    <a:pt x="2304288" y="1233170"/>
                  </a:lnTo>
                  <a:lnTo>
                    <a:pt x="2299279" y="1282892"/>
                  </a:lnTo>
                  <a:lnTo>
                    <a:pt x="2284914" y="1329195"/>
                  </a:lnTo>
                  <a:lnTo>
                    <a:pt x="2262182" y="1371091"/>
                  </a:lnTo>
                  <a:lnTo>
                    <a:pt x="2232072" y="1407588"/>
                  </a:lnTo>
                  <a:lnTo>
                    <a:pt x="2195575" y="1437698"/>
                  </a:lnTo>
                  <a:lnTo>
                    <a:pt x="2153679" y="1460430"/>
                  </a:lnTo>
                  <a:lnTo>
                    <a:pt x="2107376" y="1474795"/>
                  </a:lnTo>
                  <a:lnTo>
                    <a:pt x="2057653" y="1479803"/>
                  </a:lnTo>
                  <a:lnTo>
                    <a:pt x="1920240" y="1479803"/>
                  </a:lnTo>
                  <a:lnTo>
                    <a:pt x="1507744" y="1745361"/>
                  </a:lnTo>
                  <a:lnTo>
                    <a:pt x="1344168" y="1479803"/>
                  </a:lnTo>
                  <a:lnTo>
                    <a:pt x="246634" y="1479803"/>
                  </a:lnTo>
                  <a:lnTo>
                    <a:pt x="196911" y="1474795"/>
                  </a:lnTo>
                  <a:lnTo>
                    <a:pt x="150608" y="1460430"/>
                  </a:lnTo>
                  <a:lnTo>
                    <a:pt x="108712" y="1437698"/>
                  </a:lnTo>
                  <a:lnTo>
                    <a:pt x="72215" y="1407588"/>
                  </a:lnTo>
                  <a:lnTo>
                    <a:pt x="42105" y="1371091"/>
                  </a:lnTo>
                  <a:lnTo>
                    <a:pt x="19373" y="1329195"/>
                  </a:lnTo>
                  <a:lnTo>
                    <a:pt x="5008" y="1282892"/>
                  </a:lnTo>
                  <a:lnTo>
                    <a:pt x="0" y="1233170"/>
                  </a:lnTo>
                  <a:lnTo>
                    <a:pt x="0" y="863219"/>
                  </a:lnTo>
                  <a:lnTo>
                    <a:pt x="0" y="246634"/>
                  </a:lnTo>
                  <a:close/>
                </a:path>
              </a:pathLst>
            </a:custGeom>
            <a:ln w="25907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36867" y="1728977"/>
            <a:ext cx="18859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3175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Regularizer  </a:t>
            </a:r>
            <a:r>
              <a:rPr sz="2000" spc="-5" dirty="0">
                <a:latin typeface="Segoe UI"/>
                <a:cs typeface="Segoe UI"/>
              </a:rPr>
              <a:t>prefers solutions  </a:t>
            </a:r>
            <a:r>
              <a:rPr sz="2000" dirty="0">
                <a:latin typeface="Segoe UI"/>
                <a:cs typeface="Segoe UI"/>
              </a:rPr>
              <a:t>that </a:t>
            </a:r>
            <a:r>
              <a:rPr sz="2000" spc="-5" dirty="0">
                <a:latin typeface="Segoe UI"/>
                <a:cs typeface="Segoe UI"/>
              </a:rPr>
              <a:t>generalize  well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5008" y="1732788"/>
            <a:ext cx="1897380" cy="1713230"/>
            <a:chOff x="445008" y="1732788"/>
            <a:chExt cx="1897380" cy="1713230"/>
          </a:xfrm>
        </p:grpSpPr>
        <p:sp>
          <p:nvSpPr>
            <p:cNvPr id="15" name="object 15"/>
            <p:cNvSpPr/>
            <p:nvPr/>
          </p:nvSpPr>
          <p:spPr>
            <a:xfrm>
              <a:off x="457962" y="1745742"/>
              <a:ext cx="1871980" cy="1687830"/>
            </a:xfrm>
            <a:custGeom>
              <a:avLst/>
              <a:gdLst/>
              <a:ahLst/>
              <a:cxnLst/>
              <a:rect l="l" t="t" r="r" b="b"/>
              <a:pathLst>
                <a:path w="1871980" h="1687829">
                  <a:moveTo>
                    <a:pt x="1559560" y="1283208"/>
                  </a:moveTo>
                  <a:lnTo>
                    <a:pt x="1091692" y="1283208"/>
                  </a:lnTo>
                  <a:lnTo>
                    <a:pt x="1090168" y="1687322"/>
                  </a:lnTo>
                  <a:lnTo>
                    <a:pt x="1559560" y="1283208"/>
                  </a:lnTo>
                  <a:close/>
                </a:path>
                <a:path w="1871980" h="1687829">
                  <a:moveTo>
                    <a:pt x="1657604" y="0"/>
                  </a:moveTo>
                  <a:lnTo>
                    <a:pt x="213867" y="0"/>
                  </a:lnTo>
                  <a:lnTo>
                    <a:pt x="164831" y="5648"/>
                  </a:lnTo>
                  <a:lnTo>
                    <a:pt x="119816" y="21738"/>
                  </a:lnTo>
                  <a:lnTo>
                    <a:pt x="80107" y="46986"/>
                  </a:lnTo>
                  <a:lnTo>
                    <a:pt x="46986" y="80107"/>
                  </a:lnTo>
                  <a:lnTo>
                    <a:pt x="21738" y="119816"/>
                  </a:lnTo>
                  <a:lnTo>
                    <a:pt x="5648" y="164831"/>
                  </a:lnTo>
                  <a:lnTo>
                    <a:pt x="0" y="213868"/>
                  </a:lnTo>
                  <a:lnTo>
                    <a:pt x="0" y="1069340"/>
                  </a:lnTo>
                  <a:lnTo>
                    <a:pt x="5648" y="1118376"/>
                  </a:lnTo>
                  <a:lnTo>
                    <a:pt x="21738" y="1163391"/>
                  </a:lnTo>
                  <a:lnTo>
                    <a:pt x="46986" y="1203100"/>
                  </a:lnTo>
                  <a:lnTo>
                    <a:pt x="80107" y="1236221"/>
                  </a:lnTo>
                  <a:lnTo>
                    <a:pt x="119816" y="1261469"/>
                  </a:lnTo>
                  <a:lnTo>
                    <a:pt x="164831" y="1277559"/>
                  </a:lnTo>
                  <a:lnTo>
                    <a:pt x="213867" y="1283208"/>
                  </a:lnTo>
                  <a:lnTo>
                    <a:pt x="1657604" y="1283208"/>
                  </a:lnTo>
                  <a:lnTo>
                    <a:pt x="1706640" y="1277559"/>
                  </a:lnTo>
                  <a:lnTo>
                    <a:pt x="1751655" y="1261469"/>
                  </a:lnTo>
                  <a:lnTo>
                    <a:pt x="1791364" y="1236221"/>
                  </a:lnTo>
                  <a:lnTo>
                    <a:pt x="1824485" y="1203100"/>
                  </a:lnTo>
                  <a:lnTo>
                    <a:pt x="1849733" y="1163391"/>
                  </a:lnTo>
                  <a:lnTo>
                    <a:pt x="1865823" y="1118376"/>
                  </a:lnTo>
                  <a:lnTo>
                    <a:pt x="1871471" y="1069340"/>
                  </a:lnTo>
                  <a:lnTo>
                    <a:pt x="1871471" y="213868"/>
                  </a:lnTo>
                  <a:lnTo>
                    <a:pt x="1865823" y="164831"/>
                  </a:lnTo>
                  <a:lnTo>
                    <a:pt x="1849733" y="119816"/>
                  </a:lnTo>
                  <a:lnTo>
                    <a:pt x="1824485" y="80107"/>
                  </a:lnTo>
                  <a:lnTo>
                    <a:pt x="1791364" y="46986"/>
                  </a:lnTo>
                  <a:lnTo>
                    <a:pt x="1751655" y="21738"/>
                  </a:lnTo>
                  <a:lnTo>
                    <a:pt x="1706640" y="5648"/>
                  </a:lnTo>
                  <a:lnTo>
                    <a:pt x="1657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962" y="1745742"/>
              <a:ext cx="1871980" cy="1687830"/>
            </a:xfrm>
            <a:custGeom>
              <a:avLst/>
              <a:gdLst/>
              <a:ahLst/>
              <a:cxnLst/>
              <a:rect l="l" t="t" r="r" b="b"/>
              <a:pathLst>
                <a:path w="1871980" h="1687829">
                  <a:moveTo>
                    <a:pt x="0" y="213868"/>
                  </a:moveTo>
                  <a:lnTo>
                    <a:pt x="5648" y="164831"/>
                  </a:lnTo>
                  <a:lnTo>
                    <a:pt x="21738" y="119816"/>
                  </a:lnTo>
                  <a:lnTo>
                    <a:pt x="46986" y="80107"/>
                  </a:lnTo>
                  <a:lnTo>
                    <a:pt x="80107" y="46986"/>
                  </a:lnTo>
                  <a:lnTo>
                    <a:pt x="119816" y="21738"/>
                  </a:lnTo>
                  <a:lnTo>
                    <a:pt x="164831" y="5648"/>
                  </a:lnTo>
                  <a:lnTo>
                    <a:pt x="213867" y="0"/>
                  </a:lnTo>
                  <a:lnTo>
                    <a:pt x="1091692" y="0"/>
                  </a:lnTo>
                  <a:lnTo>
                    <a:pt x="1559560" y="0"/>
                  </a:lnTo>
                  <a:lnTo>
                    <a:pt x="1657604" y="0"/>
                  </a:lnTo>
                  <a:lnTo>
                    <a:pt x="1706640" y="5648"/>
                  </a:lnTo>
                  <a:lnTo>
                    <a:pt x="1751655" y="21738"/>
                  </a:lnTo>
                  <a:lnTo>
                    <a:pt x="1791364" y="46986"/>
                  </a:lnTo>
                  <a:lnTo>
                    <a:pt x="1824485" y="80107"/>
                  </a:lnTo>
                  <a:lnTo>
                    <a:pt x="1849733" y="119816"/>
                  </a:lnTo>
                  <a:lnTo>
                    <a:pt x="1865823" y="164831"/>
                  </a:lnTo>
                  <a:lnTo>
                    <a:pt x="1871471" y="213868"/>
                  </a:lnTo>
                  <a:lnTo>
                    <a:pt x="1871471" y="748538"/>
                  </a:lnTo>
                  <a:lnTo>
                    <a:pt x="1871471" y="1069340"/>
                  </a:lnTo>
                  <a:lnTo>
                    <a:pt x="1865823" y="1118376"/>
                  </a:lnTo>
                  <a:lnTo>
                    <a:pt x="1849733" y="1163391"/>
                  </a:lnTo>
                  <a:lnTo>
                    <a:pt x="1824485" y="1203100"/>
                  </a:lnTo>
                  <a:lnTo>
                    <a:pt x="1791364" y="1236221"/>
                  </a:lnTo>
                  <a:lnTo>
                    <a:pt x="1751655" y="1261469"/>
                  </a:lnTo>
                  <a:lnTo>
                    <a:pt x="1706640" y="1277559"/>
                  </a:lnTo>
                  <a:lnTo>
                    <a:pt x="1657604" y="1283208"/>
                  </a:lnTo>
                  <a:lnTo>
                    <a:pt x="1559560" y="1283208"/>
                  </a:lnTo>
                  <a:lnTo>
                    <a:pt x="1090168" y="1687322"/>
                  </a:lnTo>
                  <a:lnTo>
                    <a:pt x="1091692" y="1283208"/>
                  </a:lnTo>
                  <a:lnTo>
                    <a:pt x="213867" y="1283208"/>
                  </a:lnTo>
                  <a:lnTo>
                    <a:pt x="164831" y="1277559"/>
                  </a:lnTo>
                  <a:lnTo>
                    <a:pt x="119816" y="1261469"/>
                  </a:lnTo>
                  <a:lnTo>
                    <a:pt x="80107" y="1236221"/>
                  </a:lnTo>
                  <a:lnTo>
                    <a:pt x="46986" y="1203100"/>
                  </a:lnTo>
                  <a:lnTo>
                    <a:pt x="21738" y="1163391"/>
                  </a:lnTo>
                  <a:lnTo>
                    <a:pt x="5648" y="1118376"/>
                  </a:lnTo>
                  <a:lnTo>
                    <a:pt x="0" y="1069340"/>
                  </a:lnTo>
                  <a:lnTo>
                    <a:pt x="0" y="748538"/>
                  </a:lnTo>
                  <a:lnTo>
                    <a:pt x="0" y="21386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6965" y="2062099"/>
            <a:ext cx="11518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O</a:t>
            </a:r>
            <a:r>
              <a:rPr sz="2000" b="1" spc="5" dirty="0">
                <a:latin typeface="Segoe UI"/>
                <a:cs typeface="Segoe UI"/>
              </a:rPr>
              <a:t>b</a:t>
            </a:r>
            <a:r>
              <a:rPr sz="2000" b="1" spc="-5" dirty="0">
                <a:latin typeface="Segoe UI"/>
                <a:cs typeface="Segoe UI"/>
              </a:rPr>
              <a:t>j</a:t>
            </a:r>
            <a:r>
              <a:rPr sz="2000" b="1" spc="-15" dirty="0">
                <a:latin typeface="Segoe UI"/>
                <a:cs typeface="Segoe UI"/>
              </a:rPr>
              <a:t>e</a:t>
            </a:r>
            <a:r>
              <a:rPr sz="2000" b="1" dirty="0">
                <a:latin typeface="Segoe UI"/>
                <a:cs typeface="Segoe UI"/>
              </a:rPr>
              <a:t>ct</a:t>
            </a:r>
            <a:r>
              <a:rPr sz="2000" b="1" spc="-10" dirty="0">
                <a:latin typeface="Segoe UI"/>
                <a:cs typeface="Segoe UI"/>
              </a:rPr>
              <a:t>i</a:t>
            </a:r>
            <a:r>
              <a:rPr sz="2000" b="1" spc="-20" dirty="0">
                <a:latin typeface="Segoe UI"/>
                <a:cs typeface="Segoe UI"/>
              </a:rPr>
              <a:t>v</a:t>
            </a:r>
            <a:r>
              <a:rPr sz="2000" b="1" dirty="0">
                <a:latin typeface="Segoe UI"/>
                <a:cs typeface="Segoe UI"/>
              </a:rPr>
              <a:t>e  </a:t>
            </a:r>
            <a:r>
              <a:rPr sz="2000" b="1" spc="-5" dirty="0">
                <a:latin typeface="Segoe UI"/>
                <a:cs typeface="Segoe UI"/>
              </a:rPr>
              <a:t>function</a:t>
            </a:r>
            <a:endParaRPr sz="20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5863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850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Learning </a:t>
            </a:r>
            <a:r>
              <a:rPr dirty="0"/>
              <a:t>a </a:t>
            </a:r>
            <a:r>
              <a:rPr spc="-5" dirty="0"/>
              <a:t>Linear Classifier  as an Optimization</a:t>
            </a:r>
            <a:r>
              <a:rPr spc="-100" dirty="0"/>
              <a:t> </a:t>
            </a:r>
            <a:r>
              <a:rPr spc="-15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518" y="2020916"/>
            <a:ext cx="7570619" cy="94980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30530" y="3460241"/>
            <a:ext cx="8106409" cy="2849880"/>
          </a:xfrm>
          <a:custGeom>
            <a:avLst/>
            <a:gdLst/>
            <a:ahLst/>
            <a:cxnLst/>
            <a:rect l="l" t="t" r="r" b="b"/>
            <a:pathLst>
              <a:path w="8106409" h="2849879">
                <a:moveTo>
                  <a:pt x="0" y="474980"/>
                </a:moveTo>
                <a:lnTo>
                  <a:pt x="2452" y="426406"/>
                </a:lnTo>
                <a:lnTo>
                  <a:pt x="9650" y="379238"/>
                </a:lnTo>
                <a:lnTo>
                  <a:pt x="21354" y="333714"/>
                </a:lnTo>
                <a:lnTo>
                  <a:pt x="37327" y="290071"/>
                </a:lnTo>
                <a:lnTo>
                  <a:pt x="57329" y="248550"/>
                </a:lnTo>
                <a:lnTo>
                  <a:pt x="81121" y="209388"/>
                </a:lnTo>
                <a:lnTo>
                  <a:pt x="108465" y="172824"/>
                </a:lnTo>
                <a:lnTo>
                  <a:pt x="139122" y="139096"/>
                </a:lnTo>
                <a:lnTo>
                  <a:pt x="172853" y="108443"/>
                </a:lnTo>
                <a:lnTo>
                  <a:pt x="209419" y="81103"/>
                </a:lnTo>
                <a:lnTo>
                  <a:pt x="248582" y="57315"/>
                </a:lnTo>
                <a:lnTo>
                  <a:pt x="290104" y="37318"/>
                </a:lnTo>
                <a:lnTo>
                  <a:pt x="333744" y="21349"/>
                </a:lnTo>
                <a:lnTo>
                  <a:pt x="379265" y="9647"/>
                </a:lnTo>
                <a:lnTo>
                  <a:pt x="426427" y="2451"/>
                </a:lnTo>
                <a:lnTo>
                  <a:pt x="474992" y="0"/>
                </a:lnTo>
                <a:lnTo>
                  <a:pt x="7631176" y="0"/>
                </a:lnTo>
                <a:lnTo>
                  <a:pt x="7679749" y="2451"/>
                </a:lnTo>
                <a:lnTo>
                  <a:pt x="7726917" y="9647"/>
                </a:lnTo>
                <a:lnTo>
                  <a:pt x="7772441" y="21349"/>
                </a:lnTo>
                <a:lnTo>
                  <a:pt x="7816084" y="37318"/>
                </a:lnTo>
                <a:lnTo>
                  <a:pt x="7857605" y="57315"/>
                </a:lnTo>
                <a:lnTo>
                  <a:pt x="7896767" y="81103"/>
                </a:lnTo>
                <a:lnTo>
                  <a:pt x="7933331" y="108443"/>
                </a:lnTo>
                <a:lnTo>
                  <a:pt x="7967059" y="139096"/>
                </a:lnTo>
                <a:lnTo>
                  <a:pt x="7997712" y="172824"/>
                </a:lnTo>
                <a:lnTo>
                  <a:pt x="8025052" y="209388"/>
                </a:lnTo>
                <a:lnTo>
                  <a:pt x="8048840" y="248550"/>
                </a:lnTo>
                <a:lnTo>
                  <a:pt x="8068837" y="290071"/>
                </a:lnTo>
                <a:lnTo>
                  <a:pt x="8084806" y="333714"/>
                </a:lnTo>
                <a:lnTo>
                  <a:pt x="8096508" y="379238"/>
                </a:lnTo>
                <a:lnTo>
                  <a:pt x="8103704" y="426406"/>
                </a:lnTo>
                <a:lnTo>
                  <a:pt x="8106156" y="474980"/>
                </a:lnTo>
                <a:lnTo>
                  <a:pt x="8106156" y="2374887"/>
                </a:lnTo>
                <a:lnTo>
                  <a:pt x="8103704" y="2423452"/>
                </a:lnTo>
                <a:lnTo>
                  <a:pt x="8096508" y="2470614"/>
                </a:lnTo>
                <a:lnTo>
                  <a:pt x="8084806" y="2516135"/>
                </a:lnTo>
                <a:lnTo>
                  <a:pt x="8068837" y="2559775"/>
                </a:lnTo>
                <a:lnTo>
                  <a:pt x="8048840" y="2601297"/>
                </a:lnTo>
                <a:lnTo>
                  <a:pt x="8025052" y="2640460"/>
                </a:lnTo>
                <a:lnTo>
                  <a:pt x="7997712" y="2677026"/>
                </a:lnTo>
                <a:lnTo>
                  <a:pt x="7967059" y="2710757"/>
                </a:lnTo>
                <a:lnTo>
                  <a:pt x="7933331" y="2741414"/>
                </a:lnTo>
                <a:lnTo>
                  <a:pt x="7896767" y="2768758"/>
                </a:lnTo>
                <a:lnTo>
                  <a:pt x="7857605" y="2792550"/>
                </a:lnTo>
                <a:lnTo>
                  <a:pt x="7816084" y="2812552"/>
                </a:lnTo>
                <a:lnTo>
                  <a:pt x="7772441" y="2828525"/>
                </a:lnTo>
                <a:lnTo>
                  <a:pt x="7726917" y="2840229"/>
                </a:lnTo>
                <a:lnTo>
                  <a:pt x="7679749" y="2847427"/>
                </a:lnTo>
                <a:lnTo>
                  <a:pt x="7631176" y="2849880"/>
                </a:lnTo>
                <a:lnTo>
                  <a:pt x="474992" y="2849880"/>
                </a:lnTo>
                <a:lnTo>
                  <a:pt x="426427" y="2847427"/>
                </a:lnTo>
                <a:lnTo>
                  <a:pt x="379265" y="2840229"/>
                </a:lnTo>
                <a:lnTo>
                  <a:pt x="333744" y="2828525"/>
                </a:lnTo>
                <a:lnTo>
                  <a:pt x="290104" y="2812552"/>
                </a:lnTo>
                <a:lnTo>
                  <a:pt x="248582" y="2792550"/>
                </a:lnTo>
                <a:lnTo>
                  <a:pt x="209419" y="2768758"/>
                </a:lnTo>
                <a:lnTo>
                  <a:pt x="172853" y="2741414"/>
                </a:lnTo>
                <a:lnTo>
                  <a:pt x="139122" y="2710757"/>
                </a:lnTo>
                <a:lnTo>
                  <a:pt x="108465" y="2677026"/>
                </a:lnTo>
                <a:lnTo>
                  <a:pt x="81121" y="2640460"/>
                </a:lnTo>
                <a:lnTo>
                  <a:pt x="57329" y="2601297"/>
                </a:lnTo>
                <a:lnTo>
                  <a:pt x="37327" y="2559775"/>
                </a:lnTo>
                <a:lnTo>
                  <a:pt x="21354" y="2516135"/>
                </a:lnTo>
                <a:lnTo>
                  <a:pt x="9650" y="2470614"/>
                </a:lnTo>
                <a:lnTo>
                  <a:pt x="2452" y="2423452"/>
                </a:lnTo>
                <a:lnTo>
                  <a:pt x="0" y="2374887"/>
                </a:lnTo>
                <a:lnTo>
                  <a:pt x="0" y="474980"/>
                </a:lnTo>
                <a:close/>
              </a:path>
            </a:pathLst>
          </a:custGeom>
          <a:ln w="25908">
            <a:solidFill>
              <a:srgbClr val="9F29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7496" y="3583889"/>
            <a:ext cx="740918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b="1" spc="-5" dirty="0">
                <a:latin typeface="Segoe UI"/>
                <a:cs typeface="Segoe UI"/>
              </a:rPr>
              <a:t>Problem: </a:t>
            </a:r>
            <a:r>
              <a:rPr sz="2400" dirty="0">
                <a:latin typeface="Segoe UI"/>
                <a:cs typeface="Segoe UI"/>
              </a:rPr>
              <a:t>The 0-1 </a:t>
            </a:r>
            <a:r>
              <a:rPr sz="2400" spc="-10" dirty="0">
                <a:latin typeface="Segoe UI"/>
                <a:cs typeface="Segoe UI"/>
              </a:rPr>
              <a:t>loss </a:t>
            </a:r>
            <a:r>
              <a:rPr sz="2400" spc="-5" dirty="0">
                <a:latin typeface="Segoe UI"/>
                <a:cs typeface="Segoe UI"/>
              </a:rPr>
              <a:t>above is </a:t>
            </a:r>
            <a:r>
              <a:rPr sz="2400" spc="-10" dirty="0">
                <a:latin typeface="Segoe UI"/>
                <a:cs typeface="Segoe UI"/>
              </a:rPr>
              <a:t>NP-hard </a:t>
            </a:r>
            <a:r>
              <a:rPr sz="2400" spc="-15" dirty="0">
                <a:latin typeface="Segoe UI"/>
                <a:cs typeface="Segoe UI"/>
              </a:rPr>
              <a:t>to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optimize</a:t>
            </a:r>
            <a:endParaRPr sz="2400">
              <a:latin typeface="Segoe UI"/>
              <a:cs typeface="Segoe U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Segoe UI"/>
                <a:cs typeface="Segoe UI"/>
              </a:rPr>
              <a:t>exactly/approximately in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general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Segoe UI"/>
              <a:cs typeface="Segoe UI"/>
            </a:endParaRPr>
          </a:p>
          <a:p>
            <a:pPr marL="299085" marR="508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b="1" dirty="0">
                <a:latin typeface="Segoe UI"/>
                <a:cs typeface="Segoe UI"/>
              </a:rPr>
              <a:t>Solution: </a:t>
            </a:r>
            <a:r>
              <a:rPr sz="2400" spc="-10" dirty="0">
                <a:latin typeface="Segoe UI"/>
                <a:cs typeface="Segoe UI"/>
              </a:rPr>
              <a:t>Different </a:t>
            </a:r>
            <a:r>
              <a:rPr sz="2400" spc="-5" dirty="0">
                <a:latin typeface="Segoe UI"/>
                <a:cs typeface="Segoe UI"/>
              </a:rPr>
              <a:t>loss function approximations </a:t>
            </a:r>
            <a:r>
              <a:rPr sz="2400" dirty="0">
                <a:latin typeface="Segoe UI"/>
                <a:cs typeface="Segoe UI"/>
              </a:rPr>
              <a:t>and  </a:t>
            </a:r>
            <a:r>
              <a:rPr sz="2400" spc="-5" dirty="0">
                <a:latin typeface="Segoe UI"/>
                <a:cs typeface="Segoe UI"/>
              </a:rPr>
              <a:t>regularizers lead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spc="-5" dirty="0">
                <a:latin typeface="Segoe UI"/>
                <a:cs typeface="Segoe UI"/>
              </a:rPr>
              <a:t>specific</a:t>
            </a:r>
            <a:r>
              <a:rPr sz="2400" spc="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algorithms</a:t>
            </a:r>
            <a:endParaRPr sz="2400">
              <a:latin typeface="Segoe UI"/>
              <a:cs typeface="Segoe UI"/>
            </a:endParaRPr>
          </a:p>
          <a:p>
            <a:pPr marL="927100" marR="745490">
              <a:lnSpc>
                <a:spcPct val="100000"/>
              </a:lnSpc>
            </a:pPr>
            <a:r>
              <a:rPr sz="2400" dirty="0">
                <a:latin typeface="Segoe UI"/>
                <a:cs typeface="Segoe UI"/>
              </a:rPr>
              <a:t>(e.g., </a:t>
            </a:r>
            <a:r>
              <a:rPr sz="2400" spc="-10" dirty="0">
                <a:latin typeface="Segoe UI"/>
                <a:cs typeface="Segoe UI"/>
              </a:rPr>
              <a:t>perceptron, </a:t>
            </a:r>
            <a:r>
              <a:rPr sz="2400" spc="5" dirty="0">
                <a:latin typeface="Segoe UI"/>
                <a:cs typeface="Segoe UI"/>
              </a:rPr>
              <a:t>support </a:t>
            </a:r>
            <a:r>
              <a:rPr sz="2400" spc="-5" dirty="0">
                <a:latin typeface="Segoe UI"/>
                <a:cs typeface="Segoe UI"/>
              </a:rPr>
              <a:t>vector machines,  logistic </a:t>
            </a:r>
            <a:r>
              <a:rPr sz="2400" spc="-10" dirty="0">
                <a:latin typeface="Segoe UI"/>
                <a:cs typeface="Segoe UI"/>
              </a:rPr>
              <a:t>regression,</a:t>
            </a:r>
            <a:r>
              <a:rPr sz="2400" spc="3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etc.)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8866" y="483234"/>
            <a:ext cx="29089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0-1</a:t>
            </a:r>
            <a:r>
              <a:rPr spc="-105" dirty="0"/>
              <a:t> </a:t>
            </a:r>
            <a:r>
              <a:rPr dirty="0"/>
              <a:t>Loss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549521"/>
            <a:ext cx="6860540" cy="158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Small </a:t>
            </a:r>
            <a:r>
              <a:rPr sz="3200" dirty="0">
                <a:latin typeface="Segoe UI"/>
                <a:cs typeface="Segoe UI"/>
              </a:rPr>
              <a:t>changes in </a:t>
            </a:r>
            <a:r>
              <a:rPr sz="3200" spc="-50" dirty="0">
                <a:latin typeface="Segoe UI"/>
                <a:cs typeface="Segoe UI"/>
              </a:rPr>
              <a:t>w,b </a:t>
            </a:r>
            <a:r>
              <a:rPr sz="3200" dirty="0">
                <a:latin typeface="Segoe UI"/>
                <a:cs typeface="Segoe UI"/>
              </a:rPr>
              <a:t>can </a:t>
            </a:r>
            <a:r>
              <a:rPr sz="3200" spc="-5" dirty="0">
                <a:latin typeface="Segoe UI"/>
                <a:cs typeface="Segoe UI"/>
              </a:rPr>
              <a:t>lead </a:t>
            </a:r>
            <a:r>
              <a:rPr sz="3200" spc="-15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big  changes in the </a:t>
            </a:r>
            <a:r>
              <a:rPr sz="3200" spc="-5" dirty="0">
                <a:latin typeface="Segoe UI"/>
                <a:cs typeface="Segoe UI"/>
              </a:rPr>
              <a:t>loss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spc="-15" dirty="0">
                <a:latin typeface="Segoe UI"/>
                <a:cs typeface="Segoe UI"/>
              </a:rPr>
              <a:t>value</a:t>
            </a:r>
            <a:endParaRPr sz="32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0-1 </a:t>
            </a:r>
            <a:r>
              <a:rPr sz="3200" spc="-5" dirty="0">
                <a:latin typeface="Segoe UI"/>
                <a:cs typeface="Segoe UI"/>
              </a:rPr>
              <a:t>loss is non-smooth,</a:t>
            </a:r>
            <a:r>
              <a:rPr sz="3200" spc="-1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non-convex</a:t>
            </a:r>
            <a:endParaRPr sz="32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655" y="1427979"/>
            <a:ext cx="7020266" cy="3151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614" y="147955"/>
            <a:ext cx="733933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8844" marR="5080" indent="-90678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Approximating </a:t>
            </a:r>
            <a:r>
              <a:rPr dirty="0"/>
              <a:t>the </a:t>
            </a:r>
            <a:r>
              <a:rPr spc="-5" dirty="0"/>
              <a:t>0-1 loss</a:t>
            </a:r>
            <a:r>
              <a:rPr spc="-100" dirty="0"/>
              <a:t> </a:t>
            </a:r>
            <a:r>
              <a:rPr spc="-5" dirty="0"/>
              <a:t>with  </a:t>
            </a:r>
            <a:r>
              <a:rPr spc="-15" dirty="0"/>
              <a:t>surrogate </a:t>
            </a:r>
            <a:r>
              <a:rPr spc="-5" dirty="0"/>
              <a:t>loss</a:t>
            </a:r>
            <a:r>
              <a:rPr spc="-25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11223"/>
            <a:ext cx="3745865" cy="387921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Examples (with b =</a:t>
            </a:r>
            <a:r>
              <a:rPr sz="2800" spc="-40" dirty="0">
                <a:latin typeface="Segoe UI"/>
                <a:cs typeface="Segoe UI"/>
              </a:rPr>
              <a:t> </a:t>
            </a:r>
            <a:r>
              <a:rPr sz="2800" dirty="0">
                <a:latin typeface="Segoe UI"/>
                <a:cs typeface="Segoe UI"/>
              </a:rPr>
              <a:t>0)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Hinge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loss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Log</a:t>
            </a:r>
            <a:r>
              <a:rPr sz="2800" spc="-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loss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Exponential</a:t>
            </a:r>
            <a:r>
              <a:rPr sz="2800" spc="-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loss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–"/>
            </a:pPr>
            <a:endParaRPr sz="3100">
              <a:latin typeface="Segoe UI"/>
              <a:cs typeface="Segoe UI"/>
            </a:endParaRPr>
          </a:p>
          <a:p>
            <a:pPr marL="355600" marR="45085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All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convex</a:t>
            </a:r>
            <a:r>
              <a:rPr sz="2800" spc="-8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upper-  bounds on the </a:t>
            </a:r>
            <a:r>
              <a:rPr sz="2800" spc="-10" dirty="0">
                <a:latin typeface="Segoe UI"/>
                <a:cs typeface="Segoe UI"/>
              </a:rPr>
              <a:t>0-1  loss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4024" y="2282959"/>
            <a:ext cx="5445088" cy="44931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203448" y="2810255"/>
            <a:ext cx="5650230" cy="3957954"/>
            <a:chOff x="3203448" y="2810255"/>
            <a:chExt cx="5650230" cy="395795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5065" y="3970369"/>
              <a:ext cx="3528378" cy="27974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3448" y="2810255"/>
              <a:ext cx="3672837" cy="5715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8264" y="3313184"/>
              <a:ext cx="2330024" cy="6202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614" y="147955"/>
            <a:ext cx="733933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8844" marR="5080" indent="-90678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Approximating </a:t>
            </a:r>
            <a:r>
              <a:rPr dirty="0"/>
              <a:t>the </a:t>
            </a:r>
            <a:r>
              <a:rPr spc="-5" dirty="0"/>
              <a:t>0-1 loss</a:t>
            </a:r>
            <a:r>
              <a:rPr spc="-100" dirty="0"/>
              <a:t> </a:t>
            </a:r>
            <a:r>
              <a:rPr spc="-5" dirty="0"/>
              <a:t>with  </a:t>
            </a:r>
            <a:r>
              <a:rPr spc="-15" dirty="0"/>
              <a:t>surrogate </a:t>
            </a:r>
            <a:r>
              <a:rPr spc="-5" dirty="0"/>
              <a:t>loss</a:t>
            </a:r>
            <a:r>
              <a:rPr spc="-25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11223"/>
            <a:ext cx="3745865" cy="20745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Examples (with b =</a:t>
            </a:r>
            <a:r>
              <a:rPr sz="2800" spc="-40" dirty="0">
                <a:latin typeface="Segoe UI"/>
                <a:cs typeface="Segoe UI"/>
              </a:rPr>
              <a:t> </a:t>
            </a:r>
            <a:r>
              <a:rPr sz="2800" dirty="0">
                <a:latin typeface="Segoe UI"/>
                <a:cs typeface="Segoe UI"/>
              </a:rPr>
              <a:t>0)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Hinge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loss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Log</a:t>
            </a:r>
            <a:r>
              <a:rPr sz="2800" spc="-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loss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Exponential</a:t>
            </a:r>
            <a:r>
              <a:rPr sz="2800" spc="-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loss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870196"/>
            <a:ext cx="369570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Segoe UI"/>
                <a:cs typeface="Segoe UI"/>
              </a:rPr>
              <a:t>Q: Which </a:t>
            </a:r>
            <a:r>
              <a:rPr sz="2800" b="1" spc="-30" dirty="0">
                <a:latin typeface="Segoe UI"/>
                <a:cs typeface="Segoe UI"/>
              </a:rPr>
              <a:t>of </a:t>
            </a:r>
            <a:r>
              <a:rPr sz="2800" b="1" spc="-5" dirty="0">
                <a:latin typeface="Segoe UI"/>
                <a:cs typeface="Segoe UI"/>
              </a:rPr>
              <a:t>these  </a:t>
            </a:r>
            <a:r>
              <a:rPr sz="2800" b="1" spc="-10" dirty="0">
                <a:latin typeface="Segoe UI"/>
                <a:cs typeface="Segoe UI"/>
              </a:rPr>
              <a:t>loss functions </a:t>
            </a:r>
            <a:r>
              <a:rPr sz="2800" b="1" spc="-5" dirty="0">
                <a:latin typeface="Segoe UI"/>
                <a:cs typeface="Segoe UI"/>
              </a:rPr>
              <a:t>is not  smooth?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5065" y="4014565"/>
            <a:ext cx="3528378" cy="27974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4024" y="2282959"/>
            <a:ext cx="5445088" cy="44931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203448" y="2810255"/>
            <a:ext cx="3672840" cy="1123315"/>
            <a:chOff x="3203448" y="2810255"/>
            <a:chExt cx="3672840" cy="112331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3448" y="2810255"/>
              <a:ext cx="3672837" cy="571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8264" y="3313184"/>
              <a:ext cx="2330024" cy="6202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614" y="147955"/>
            <a:ext cx="733933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8844" marR="5080" indent="-90678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Approximating </a:t>
            </a:r>
            <a:r>
              <a:rPr dirty="0"/>
              <a:t>the </a:t>
            </a:r>
            <a:r>
              <a:rPr spc="-5" dirty="0"/>
              <a:t>0-1 loss</a:t>
            </a:r>
            <a:r>
              <a:rPr spc="-100" dirty="0"/>
              <a:t> </a:t>
            </a:r>
            <a:r>
              <a:rPr spc="-5" dirty="0"/>
              <a:t>with  </a:t>
            </a:r>
            <a:r>
              <a:rPr spc="-15" dirty="0"/>
              <a:t>surrogate </a:t>
            </a:r>
            <a:r>
              <a:rPr spc="-5" dirty="0"/>
              <a:t>loss</a:t>
            </a:r>
            <a:r>
              <a:rPr spc="-25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11223"/>
            <a:ext cx="3745865" cy="43789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Examples (with b =</a:t>
            </a:r>
            <a:r>
              <a:rPr sz="2800" spc="-40" dirty="0">
                <a:latin typeface="Segoe UI"/>
                <a:cs typeface="Segoe UI"/>
              </a:rPr>
              <a:t> </a:t>
            </a:r>
            <a:r>
              <a:rPr sz="2800" dirty="0">
                <a:latin typeface="Segoe UI"/>
                <a:cs typeface="Segoe UI"/>
              </a:rPr>
              <a:t>0)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Hinge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loss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Log</a:t>
            </a:r>
            <a:r>
              <a:rPr sz="2800" spc="-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loss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Exponential</a:t>
            </a:r>
            <a:r>
              <a:rPr sz="2800" spc="-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loss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–"/>
            </a:pPr>
            <a:endParaRPr sz="3500">
              <a:latin typeface="Segoe UI"/>
              <a:cs typeface="Segoe UI"/>
            </a:endParaRPr>
          </a:p>
          <a:p>
            <a:pPr marL="355600" marR="417195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Segoe UI"/>
                <a:cs typeface="Segoe UI"/>
              </a:rPr>
              <a:t>Q: Which </a:t>
            </a:r>
            <a:r>
              <a:rPr sz="2800" b="1" spc="-30" dirty="0">
                <a:latin typeface="Segoe UI"/>
                <a:cs typeface="Segoe UI"/>
              </a:rPr>
              <a:t>of </a:t>
            </a:r>
            <a:r>
              <a:rPr sz="2800" b="1" spc="-5" dirty="0">
                <a:latin typeface="Segoe UI"/>
                <a:cs typeface="Segoe UI"/>
              </a:rPr>
              <a:t>these  </a:t>
            </a:r>
            <a:r>
              <a:rPr sz="2800" b="1" spc="-10" dirty="0">
                <a:latin typeface="Segoe UI"/>
                <a:cs typeface="Segoe UI"/>
              </a:rPr>
              <a:t>loss functions is  </a:t>
            </a:r>
            <a:r>
              <a:rPr sz="2800" b="1" spc="-5" dirty="0">
                <a:latin typeface="Segoe UI"/>
                <a:cs typeface="Segoe UI"/>
              </a:rPr>
              <a:t>most </a:t>
            </a:r>
            <a:r>
              <a:rPr sz="2800" b="1" spc="-10" dirty="0">
                <a:latin typeface="Segoe UI"/>
                <a:cs typeface="Segoe UI"/>
              </a:rPr>
              <a:t>sensitive to  </a:t>
            </a:r>
            <a:r>
              <a:rPr sz="2800" b="1" spc="-5" dirty="0">
                <a:latin typeface="Segoe UI"/>
                <a:cs typeface="Segoe UI"/>
              </a:rPr>
              <a:t>outliers?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5065" y="4014565"/>
            <a:ext cx="3528378" cy="27974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4024" y="2282959"/>
            <a:ext cx="5445088" cy="44931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203448" y="2810255"/>
            <a:ext cx="3672840" cy="1123315"/>
            <a:chOff x="3203448" y="2810255"/>
            <a:chExt cx="3672840" cy="112331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3448" y="2810255"/>
              <a:ext cx="3672837" cy="5715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8264" y="3313184"/>
              <a:ext cx="2330024" cy="6202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3238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Casting Linear Classification  as an Optimization</a:t>
            </a:r>
            <a:r>
              <a:rPr spc="-100" dirty="0"/>
              <a:t> </a:t>
            </a:r>
            <a:r>
              <a:rPr spc="-1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4455410"/>
            <a:ext cx="686244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14400">
              <a:lnSpc>
                <a:spcPct val="120000"/>
              </a:lnSpc>
              <a:spcBef>
                <a:spcPts val="95"/>
              </a:spcBef>
            </a:pPr>
            <a:r>
              <a:rPr sz="2400" spc="-10" dirty="0">
                <a:latin typeface="Segoe UI"/>
                <a:cs typeface="Segoe UI"/>
              </a:rPr>
              <a:t>Indicator </a:t>
            </a:r>
            <a:r>
              <a:rPr sz="2400" spc="-5" dirty="0">
                <a:latin typeface="Segoe UI"/>
                <a:cs typeface="Segoe UI"/>
              </a:rPr>
              <a:t>function: </a:t>
            </a:r>
            <a:r>
              <a:rPr sz="2400" dirty="0">
                <a:latin typeface="Segoe UI"/>
                <a:cs typeface="Segoe UI"/>
              </a:rPr>
              <a:t>1 </a:t>
            </a:r>
            <a:r>
              <a:rPr sz="2400" spc="-5" dirty="0">
                <a:latin typeface="Segoe UI"/>
                <a:cs typeface="Segoe UI"/>
              </a:rPr>
              <a:t>if </a:t>
            </a:r>
            <a:r>
              <a:rPr sz="2400" dirty="0">
                <a:latin typeface="Segoe UI"/>
                <a:cs typeface="Segoe UI"/>
              </a:rPr>
              <a:t>(.) </a:t>
            </a:r>
            <a:r>
              <a:rPr sz="2400" spc="-5" dirty="0">
                <a:latin typeface="Segoe UI"/>
                <a:cs typeface="Segoe UI"/>
              </a:rPr>
              <a:t>is </a:t>
            </a:r>
            <a:r>
              <a:rPr sz="2400" dirty="0">
                <a:latin typeface="Segoe UI"/>
                <a:cs typeface="Segoe UI"/>
              </a:rPr>
              <a:t>true, 0 </a:t>
            </a:r>
            <a:r>
              <a:rPr sz="2400" spc="10" dirty="0">
                <a:latin typeface="Segoe UI"/>
                <a:cs typeface="Segoe UI"/>
              </a:rPr>
              <a:t>otherwise  </a:t>
            </a: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5" dirty="0">
                <a:latin typeface="Segoe UI"/>
                <a:cs typeface="Segoe UI"/>
              </a:rPr>
              <a:t>loss function above is called </a:t>
            </a:r>
            <a:r>
              <a:rPr sz="2400" dirty="0">
                <a:latin typeface="Segoe UI"/>
                <a:cs typeface="Segoe UI"/>
              </a:rPr>
              <a:t>the 0-1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loss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5062" y="1638236"/>
            <a:ext cx="7571105" cy="2637155"/>
            <a:chOff x="635062" y="1638236"/>
            <a:chExt cx="7571105" cy="26371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062" y="3326983"/>
              <a:ext cx="7570619" cy="9484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44545" y="1651253"/>
              <a:ext cx="2726690" cy="1687195"/>
            </a:xfrm>
            <a:custGeom>
              <a:avLst/>
              <a:gdLst/>
              <a:ahLst/>
              <a:cxnLst/>
              <a:rect l="l" t="t" r="r" b="b"/>
              <a:pathLst>
                <a:path w="2726690" h="1687195">
                  <a:moveTo>
                    <a:pt x="2272030" y="1327404"/>
                  </a:moveTo>
                  <a:lnTo>
                    <a:pt x="1590420" y="1327404"/>
                  </a:lnTo>
                  <a:lnTo>
                    <a:pt x="1938401" y="1687068"/>
                  </a:lnTo>
                  <a:lnTo>
                    <a:pt x="2272030" y="1327404"/>
                  </a:lnTo>
                  <a:close/>
                </a:path>
                <a:path w="2726690" h="1687195">
                  <a:moveTo>
                    <a:pt x="2505202" y="0"/>
                  </a:moveTo>
                  <a:lnTo>
                    <a:pt x="221234" y="0"/>
                  </a:lnTo>
                  <a:lnTo>
                    <a:pt x="176650" y="4495"/>
                  </a:lnTo>
                  <a:lnTo>
                    <a:pt x="135124" y="17387"/>
                  </a:lnTo>
                  <a:lnTo>
                    <a:pt x="97544" y="37785"/>
                  </a:lnTo>
                  <a:lnTo>
                    <a:pt x="64801" y="64801"/>
                  </a:lnTo>
                  <a:lnTo>
                    <a:pt x="37785" y="97544"/>
                  </a:lnTo>
                  <a:lnTo>
                    <a:pt x="17387" y="135124"/>
                  </a:lnTo>
                  <a:lnTo>
                    <a:pt x="4495" y="176650"/>
                  </a:lnTo>
                  <a:lnTo>
                    <a:pt x="0" y="221234"/>
                  </a:lnTo>
                  <a:lnTo>
                    <a:pt x="0" y="1106170"/>
                  </a:lnTo>
                  <a:lnTo>
                    <a:pt x="4495" y="1150753"/>
                  </a:lnTo>
                  <a:lnTo>
                    <a:pt x="17387" y="1192279"/>
                  </a:lnTo>
                  <a:lnTo>
                    <a:pt x="37785" y="1229859"/>
                  </a:lnTo>
                  <a:lnTo>
                    <a:pt x="64801" y="1262602"/>
                  </a:lnTo>
                  <a:lnTo>
                    <a:pt x="97544" y="1289618"/>
                  </a:lnTo>
                  <a:lnTo>
                    <a:pt x="135124" y="1310016"/>
                  </a:lnTo>
                  <a:lnTo>
                    <a:pt x="176650" y="1322908"/>
                  </a:lnTo>
                  <a:lnTo>
                    <a:pt x="221234" y="1327404"/>
                  </a:lnTo>
                  <a:lnTo>
                    <a:pt x="2505202" y="1327404"/>
                  </a:lnTo>
                  <a:lnTo>
                    <a:pt x="2549785" y="1322908"/>
                  </a:lnTo>
                  <a:lnTo>
                    <a:pt x="2591311" y="1310016"/>
                  </a:lnTo>
                  <a:lnTo>
                    <a:pt x="2628891" y="1289618"/>
                  </a:lnTo>
                  <a:lnTo>
                    <a:pt x="2661634" y="1262602"/>
                  </a:lnTo>
                  <a:lnTo>
                    <a:pt x="2688650" y="1229859"/>
                  </a:lnTo>
                  <a:lnTo>
                    <a:pt x="2709048" y="1192279"/>
                  </a:lnTo>
                  <a:lnTo>
                    <a:pt x="2721940" y="1150753"/>
                  </a:lnTo>
                  <a:lnTo>
                    <a:pt x="2726436" y="1106170"/>
                  </a:lnTo>
                  <a:lnTo>
                    <a:pt x="2726436" y="221234"/>
                  </a:lnTo>
                  <a:lnTo>
                    <a:pt x="2721940" y="176650"/>
                  </a:lnTo>
                  <a:lnTo>
                    <a:pt x="2709048" y="135124"/>
                  </a:lnTo>
                  <a:lnTo>
                    <a:pt x="2688650" y="97544"/>
                  </a:lnTo>
                  <a:lnTo>
                    <a:pt x="2661634" y="64801"/>
                  </a:lnTo>
                  <a:lnTo>
                    <a:pt x="2628891" y="37785"/>
                  </a:lnTo>
                  <a:lnTo>
                    <a:pt x="2591311" y="17387"/>
                  </a:lnTo>
                  <a:lnTo>
                    <a:pt x="2549785" y="4495"/>
                  </a:lnTo>
                  <a:lnTo>
                    <a:pt x="2505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4545" y="1651253"/>
              <a:ext cx="2726690" cy="1687195"/>
            </a:xfrm>
            <a:custGeom>
              <a:avLst/>
              <a:gdLst/>
              <a:ahLst/>
              <a:cxnLst/>
              <a:rect l="l" t="t" r="r" b="b"/>
              <a:pathLst>
                <a:path w="2726690" h="1687195">
                  <a:moveTo>
                    <a:pt x="0" y="221234"/>
                  </a:moveTo>
                  <a:lnTo>
                    <a:pt x="4495" y="176650"/>
                  </a:lnTo>
                  <a:lnTo>
                    <a:pt x="17387" y="135124"/>
                  </a:lnTo>
                  <a:lnTo>
                    <a:pt x="37785" y="97544"/>
                  </a:lnTo>
                  <a:lnTo>
                    <a:pt x="64801" y="64801"/>
                  </a:lnTo>
                  <a:lnTo>
                    <a:pt x="97544" y="37785"/>
                  </a:lnTo>
                  <a:lnTo>
                    <a:pt x="135124" y="17387"/>
                  </a:lnTo>
                  <a:lnTo>
                    <a:pt x="176650" y="4495"/>
                  </a:lnTo>
                  <a:lnTo>
                    <a:pt x="221234" y="0"/>
                  </a:lnTo>
                  <a:lnTo>
                    <a:pt x="1590420" y="0"/>
                  </a:lnTo>
                  <a:lnTo>
                    <a:pt x="2272030" y="0"/>
                  </a:lnTo>
                  <a:lnTo>
                    <a:pt x="2505202" y="0"/>
                  </a:lnTo>
                  <a:lnTo>
                    <a:pt x="2549785" y="4495"/>
                  </a:lnTo>
                  <a:lnTo>
                    <a:pt x="2591311" y="17387"/>
                  </a:lnTo>
                  <a:lnTo>
                    <a:pt x="2628891" y="37785"/>
                  </a:lnTo>
                  <a:lnTo>
                    <a:pt x="2661634" y="64801"/>
                  </a:lnTo>
                  <a:lnTo>
                    <a:pt x="2688650" y="97544"/>
                  </a:lnTo>
                  <a:lnTo>
                    <a:pt x="2709048" y="135124"/>
                  </a:lnTo>
                  <a:lnTo>
                    <a:pt x="2721940" y="176650"/>
                  </a:lnTo>
                  <a:lnTo>
                    <a:pt x="2726436" y="221234"/>
                  </a:lnTo>
                  <a:lnTo>
                    <a:pt x="2726436" y="774319"/>
                  </a:lnTo>
                  <a:lnTo>
                    <a:pt x="2726436" y="1106170"/>
                  </a:lnTo>
                  <a:lnTo>
                    <a:pt x="2721940" y="1150753"/>
                  </a:lnTo>
                  <a:lnTo>
                    <a:pt x="2709048" y="1192279"/>
                  </a:lnTo>
                  <a:lnTo>
                    <a:pt x="2688650" y="1229859"/>
                  </a:lnTo>
                  <a:lnTo>
                    <a:pt x="2661634" y="1262602"/>
                  </a:lnTo>
                  <a:lnTo>
                    <a:pt x="2628891" y="1289618"/>
                  </a:lnTo>
                  <a:lnTo>
                    <a:pt x="2591311" y="1310016"/>
                  </a:lnTo>
                  <a:lnTo>
                    <a:pt x="2549785" y="1322908"/>
                  </a:lnTo>
                  <a:lnTo>
                    <a:pt x="2505202" y="1327404"/>
                  </a:lnTo>
                  <a:lnTo>
                    <a:pt x="2272030" y="1327404"/>
                  </a:lnTo>
                  <a:lnTo>
                    <a:pt x="1938401" y="1687068"/>
                  </a:lnTo>
                  <a:lnTo>
                    <a:pt x="1590420" y="1327404"/>
                  </a:lnTo>
                  <a:lnTo>
                    <a:pt x="221234" y="1327404"/>
                  </a:lnTo>
                  <a:lnTo>
                    <a:pt x="176650" y="1322908"/>
                  </a:lnTo>
                  <a:lnTo>
                    <a:pt x="135124" y="1310016"/>
                  </a:lnTo>
                  <a:lnTo>
                    <a:pt x="97544" y="1289618"/>
                  </a:lnTo>
                  <a:lnTo>
                    <a:pt x="64801" y="1262602"/>
                  </a:lnTo>
                  <a:lnTo>
                    <a:pt x="37785" y="1229859"/>
                  </a:lnTo>
                  <a:lnTo>
                    <a:pt x="17387" y="1192279"/>
                  </a:lnTo>
                  <a:lnTo>
                    <a:pt x="4495" y="1150753"/>
                  </a:lnTo>
                  <a:lnTo>
                    <a:pt x="0" y="1106170"/>
                  </a:lnTo>
                  <a:lnTo>
                    <a:pt x="0" y="774319"/>
                  </a:lnTo>
                  <a:lnTo>
                    <a:pt x="0" y="221234"/>
                  </a:lnTo>
                  <a:close/>
                </a:path>
              </a:pathLst>
            </a:custGeom>
            <a:ln w="25908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960" y="4522184"/>
            <a:ext cx="525456" cy="38826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049016" y="1685289"/>
            <a:ext cx="231521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Loss function  </a:t>
            </a:r>
            <a:r>
              <a:rPr sz="2000" spc="-5" dirty="0">
                <a:latin typeface="Segoe UI"/>
                <a:cs typeface="Segoe UI"/>
              </a:rPr>
              <a:t>measures </a:t>
            </a:r>
            <a:r>
              <a:rPr sz="2000" dirty="0">
                <a:latin typeface="Segoe UI"/>
                <a:cs typeface="Segoe UI"/>
              </a:rPr>
              <a:t>how </a:t>
            </a:r>
            <a:r>
              <a:rPr sz="2000" spc="-5" dirty="0">
                <a:latin typeface="Segoe UI"/>
                <a:cs typeface="Segoe UI"/>
              </a:rPr>
              <a:t>well  classifier fits </a:t>
            </a:r>
            <a:r>
              <a:rPr sz="2000" dirty="0">
                <a:latin typeface="Segoe UI"/>
                <a:cs typeface="Segoe UI"/>
              </a:rPr>
              <a:t>training  data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16332" y="1606232"/>
            <a:ext cx="2330450" cy="1771650"/>
            <a:chOff x="6216332" y="1606232"/>
            <a:chExt cx="2330450" cy="1771650"/>
          </a:xfrm>
        </p:grpSpPr>
        <p:sp>
          <p:nvSpPr>
            <p:cNvPr id="11" name="object 11"/>
            <p:cNvSpPr/>
            <p:nvPr/>
          </p:nvSpPr>
          <p:spPr>
            <a:xfrm>
              <a:off x="6229350" y="1619249"/>
              <a:ext cx="2304415" cy="1745614"/>
            </a:xfrm>
            <a:custGeom>
              <a:avLst/>
              <a:gdLst/>
              <a:ahLst/>
              <a:cxnLst/>
              <a:rect l="l" t="t" r="r" b="b"/>
              <a:pathLst>
                <a:path w="2304415" h="1745614">
                  <a:moveTo>
                    <a:pt x="1920240" y="1479803"/>
                  </a:moveTo>
                  <a:lnTo>
                    <a:pt x="1344168" y="1479803"/>
                  </a:lnTo>
                  <a:lnTo>
                    <a:pt x="1507744" y="1745361"/>
                  </a:lnTo>
                  <a:lnTo>
                    <a:pt x="1920240" y="1479803"/>
                  </a:lnTo>
                  <a:close/>
                </a:path>
                <a:path w="2304415" h="1745614">
                  <a:moveTo>
                    <a:pt x="2057653" y="0"/>
                  </a:moveTo>
                  <a:lnTo>
                    <a:pt x="246634" y="0"/>
                  </a:lnTo>
                  <a:lnTo>
                    <a:pt x="196911" y="5008"/>
                  </a:lnTo>
                  <a:lnTo>
                    <a:pt x="150608" y="19373"/>
                  </a:lnTo>
                  <a:lnTo>
                    <a:pt x="108712" y="42105"/>
                  </a:lnTo>
                  <a:lnTo>
                    <a:pt x="72215" y="72215"/>
                  </a:lnTo>
                  <a:lnTo>
                    <a:pt x="42105" y="108712"/>
                  </a:lnTo>
                  <a:lnTo>
                    <a:pt x="19373" y="150608"/>
                  </a:lnTo>
                  <a:lnTo>
                    <a:pt x="5008" y="196911"/>
                  </a:lnTo>
                  <a:lnTo>
                    <a:pt x="0" y="246634"/>
                  </a:lnTo>
                  <a:lnTo>
                    <a:pt x="0" y="1233170"/>
                  </a:lnTo>
                  <a:lnTo>
                    <a:pt x="5008" y="1282892"/>
                  </a:lnTo>
                  <a:lnTo>
                    <a:pt x="19373" y="1329195"/>
                  </a:lnTo>
                  <a:lnTo>
                    <a:pt x="42105" y="1371091"/>
                  </a:lnTo>
                  <a:lnTo>
                    <a:pt x="72215" y="1407588"/>
                  </a:lnTo>
                  <a:lnTo>
                    <a:pt x="108712" y="1437698"/>
                  </a:lnTo>
                  <a:lnTo>
                    <a:pt x="150608" y="1460430"/>
                  </a:lnTo>
                  <a:lnTo>
                    <a:pt x="196911" y="1474795"/>
                  </a:lnTo>
                  <a:lnTo>
                    <a:pt x="246634" y="1479803"/>
                  </a:lnTo>
                  <a:lnTo>
                    <a:pt x="2057653" y="1479803"/>
                  </a:lnTo>
                  <a:lnTo>
                    <a:pt x="2107376" y="1474795"/>
                  </a:lnTo>
                  <a:lnTo>
                    <a:pt x="2153679" y="1460430"/>
                  </a:lnTo>
                  <a:lnTo>
                    <a:pt x="2195575" y="1437698"/>
                  </a:lnTo>
                  <a:lnTo>
                    <a:pt x="2232072" y="1407588"/>
                  </a:lnTo>
                  <a:lnTo>
                    <a:pt x="2262182" y="1371091"/>
                  </a:lnTo>
                  <a:lnTo>
                    <a:pt x="2284914" y="1329195"/>
                  </a:lnTo>
                  <a:lnTo>
                    <a:pt x="2299279" y="1282892"/>
                  </a:lnTo>
                  <a:lnTo>
                    <a:pt x="2304288" y="1233170"/>
                  </a:lnTo>
                  <a:lnTo>
                    <a:pt x="2304288" y="246634"/>
                  </a:lnTo>
                  <a:lnTo>
                    <a:pt x="2299279" y="196911"/>
                  </a:lnTo>
                  <a:lnTo>
                    <a:pt x="2284914" y="150608"/>
                  </a:lnTo>
                  <a:lnTo>
                    <a:pt x="2262182" y="108712"/>
                  </a:lnTo>
                  <a:lnTo>
                    <a:pt x="2232072" y="72215"/>
                  </a:lnTo>
                  <a:lnTo>
                    <a:pt x="2195575" y="42105"/>
                  </a:lnTo>
                  <a:lnTo>
                    <a:pt x="2153679" y="19373"/>
                  </a:lnTo>
                  <a:lnTo>
                    <a:pt x="2107376" y="5008"/>
                  </a:lnTo>
                  <a:lnTo>
                    <a:pt x="20576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29350" y="1619249"/>
              <a:ext cx="2304415" cy="1745614"/>
            </a:xfrm>
            <a:custGeom>
              <a:avLst/>
              <a:gdLst/>
              <a:ahLst/>
              <a:cxnLst/>
              <a:rect l="l" t="t" r="r" b="b"/>
              <a:pathLst>
                <a:path w="2304415" h="1745614">
                  <a:moveTo>
                    <a:pt x="0" y="246634"/>
                  </a:moveTo>
                  <a:lnTo>
                    <a:pt x="5008" y="196911"/>
                  </a:lnTo>
                  <a:lnTo>
                    <a:pt x="19373" y="150608"/>
                  </a:lnTo>
                  <a:lnTo>
                    <a:pt x="42105" y="108712"/>
                  </a:lnTo>
                  <a:lnTo>
                    <a:pt x="72215" y="72215"/>
                  </a:lnTo>
                  <a:lnTo>
                    <a:pt x="108712" y="42105"/>
                  </a:lnTo>
                  <a:lnTo>
                    <a:pt x="150608" y="19373"/>
                  </a:lnTo>
                  <a:lnTo>
                    <a:pt x="196911" y="5008"/>
                  </a:lnTo>
                  <a:lnTo>
                    <a:pt x="246634" y="0"/>
                  </a:lnTo>
                  <a:lnTo>
                    <a:pt x="1344168" y="0"/>
                  </a:lnTo>
                  <a:lnTo>
                    <a:pt x="1920240" y="0"/>
                  </a:lnTo>
                  <a:lnTo>
                    <a:pt x="2057653" y="0"/>
                  </a:lnTo>
                  <a:lnTo>
                    <a:pt x="2107376" y="5008"/>
                  </a:lnTo>
                  <a:lnTo>
                    <a:pt x="2153679" y="19373"/>
                  </a:lnTo>
                  <a:lnTo>
                    <a:pt x="2195575" y="42105"/>
                  </a:lnTo>
                  <a:lnTo>
                    <a:pt x="2232072" y="72215"/>
                  </a:lnTo>
                  <a:lnTo>
                    <a:pt x="2262182" y="108712"/>
                  </a:lnTo>
                  <a:lnTo>
                    <a:pt x="2284914" y="150608"/>
                  </a:lnTo>
                  <a:lnTo>
                    <a:pt x="2299279" y="196911"/>
                  </a:lnTo>
                  <a:lnTo>
                    <a:pt x="2304288" y="246634"/>
                  </a:lnTo>
                  <a:lnTo>
                    <a:pt x="2304288" y="863219"/>
                  </a:lnTo>
                  <a:lnTo>
                    <a:pt x="2304288" y="1233170"/>
                  </a:lnTo>
                  <a:lnTo>
                    <a:pt x="2299279" y="1282892"/>
                  </a:lnTo>
                  <a:lnTo>
                    <a:pt x="2284914" y="1329195"/>
                  </a:lnTo>
                  <a:lnTo>
                    <a:pt x="2262182" y="1371091"/>
                  </a:lnTo>
                  <a:lnTo>
                    <a:pt x="2232072" y="1407588"/>
                  </a:lnTo>
                  <a:lnTo>
                    <a:pt x="2195575" y="1437698"/>
                  </a:lnTo>
                  <a:lnTo>
                    <a:pt x="2153679" y="1460430"/>
                  </a:lnTo>
                  <a:lnTo>
                    <a:pt x="2107376" y="1474795"/>
                  </a:lnTo>
                  <a:lnTo>
                    <a:pt x="2057653" y="1479803"/>
                  </a:lnTo>
                  <a:lnTo>
                    <a:pt x="1920240" y="1479803"/>
                  </a:lnTo>
                  <a:lnTo>
                    <a:pt x="1507744" y="1745361"/>
                  </a:lnTo>
                  <a:lnTo>
                    <a:pt x="1344168" y="1479803"/>
                  </a:lnTo>
                  <a:lnTo>
                    <a:pt x="246634" y="1479803"/>
                  </a:lnTo>
                  <a:lnTo>
                    <a:pt x="196911" y="1474795"/>
                  </a:lnTo>
                  <a:lnTo>
                    <a:pt x="150608" y="1460430"/>
                  </a:lnTo>
                  <a:lnTo>
                    <a:pt x="108712" y="1437698"/>
                  </a:lnTo>
                  <a:lnTo>
                    <a:pt x="72215" y="1407588"/>
                  </a:lnTo>
                  <a:lnTo>
                    <a:pt x="42105" y="1371091"/>
                  </a:lnTo>
                  <a:lnTo>
                    <a:pt x="19373" y="1329195"/>
                  </a:lnTo>
                  <a:lnTo>
                    <a:pt x="5008" y="1282892"/>
                  </a:lnTo>
                  <a:lnTo>
                    <a:pt x="0" y="1233170"/>
                  </a:lnTo>
                  <a:lnTo>
                    <a:pt x="0" y="863219"/>
                  </a:lnTo>
                  <a:lnTo>
                    <a:pt x="0" y="246634"/>
                  </a:lnTo>
                  <a:close/>
                </a:path>
              </a:pathLst>
            </a:custGeom>
            <a:ln w="25907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36867" y="1728977"/>
            <a:ext cx="18859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3175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Regularizer  </a:t>
            </a:r>
            <a:r>
              <a:rPr sz="2000" spc="-5" dirty="0">
                <a:latin typeface="Segoe UI"/>
                <a:cs typeface="Segoe UI"/>
              </a:rPr>
              <a:t>prefers solutions  </a:t>
            </a:r>
            <a:r>
              <a:rPr sz="2000" dirty="0">
                <a:latin typeface="Segoe UI"/>
                <a:cs typeface="Segoe UI"/>
              </a:rPr>
              <a:t>that </a:t>
            </a:r>
            <a:r>
              <a:rPr sz="2000" spc="-5" dirty="0">
                <a:latin typeface="Segoe UI"/>
                <a:cs typeface="Segoe UI"/>
              </a:rPr>
              <a:t>generalize  well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5008" y="1732788"/>
            <a:ext cx="1897380" cy="1713230"/>
            <a:chOff x="445008" y="1732788"/>
            <a:chExt cx="1897380" cy="1713230"/>
          </a:xfrm>
        </p:grpSpPr>
        <p:sp>
          <p:nvSpPr>
            <p:cNvPr id="15" name="object 15"/>
            <p:cNvSpPr/>
            <p:nvPr/>
          </p:nvSpPr>
          <p:spPr>
            <a:xfrm>
              <a:off x="457962" y="1745742"/>
              <a:ext cx="1871980" cy="1687830"/>
            </a:xfrm>
            <a:custGeom>
              <a:avLst/>
              <a:gdLst/>
              <a:ahLst/>
              <a:cxnLst/>
              <a:rect l="l" t="t" r="r" b="b"/>
              <a:pathLst>
                <a:path w="1871980" h="1687829">
                  <a:moveTo>
                    <a:pt x="1559560" y="1283208"/>
                  </a:moveTo>
                  <a:lnTo>
                    <a:pt x="1091692" y="1283208"/>
                  </a:lnTo>
                  <a:lnTo>
                    <a:pt x="1090168" y="1687322"/>
                  </a:lnTo>
                  <a:lnTo>
                    <a:pt x="1559560" y="1283208"/>
                  </a:lnTo>
                  <a:close/>
                </a:path>
                <a:path w="1871980" h="1687829">
                  <a:moveTo>
                    <a:pt x="1657604" y="0"/>
                  </a:moveTo>
                  <a:lnTo>
                    <a:pt x="213867" y="0"/>
                  </a:lnTo>
                  <a:lnTo>
                    <a:pt x="164831" y="5648"/>
                  </a:lnTo>
                  <a:lnTo>
                    <a:pt x="119816" y="21738"/>
                  </a:lnTo>
                  <a:lnTo>
                    <a:pt x="80107" y="46986"/>
                  </a:lnTo>
                  <a:lnTo>
                    <a:pt x="46986" y="80107"/>
                  </a:lnTo>
                  <a:lnTo>
                    <a:pt x="21738" y="119816"/>
                  </a:lnTo>
                  <a:lnTo>
                    <a:pt x="5648" y="164831"/>
                  </a:lnTo>
                  <a:lnTo>
                    <a:pt x="0" y="213868"/>
                  </a:lnTo>
                  <a:lnTo>
                    <a:pt x="0" y="1069340"/>
                  </a:lnTo>
                  <a:lnTo>
                    <a:pt x="5648" y="1118376"/>
                  </a:lnTo>
                  <a:lnTo>
                    <a:pt x="21738" y="1163391"/>
                  </a:lnTo>
                  <a:lnTo>
                    <a:pt x="46986" y="1203100"/>
                  </a:lnTo>
                  <a:lnTo>
                    <a:pt x="80107" y="1236221"/>
                  </a:lnTo>
                  <a:lnTo>
                    <a:pt x="119816" y="1261469"/>
                  </a:lnTo>
                  <a:lnTo>
                    <a:pt x="164831" y="1277559"/>
                  </a:lnTo>
                  <a:lnTo>
                    <a:pt x="213867" y="1283208"/>
                  </a:lnTo>
                  <a:lnTo>
                    <a:pt x="1657604" y="1283208"/>
                  </a:lnTo>
                  <a:lnTo>
                    <a:pt x="1706640" y="1277559"/>
                  </a:lnTo>
                  <a:lnTo>
                    <a:pt x="1751655" y="1261469"/>
                  </a:lnTo>
                  <a:lnTo>
                    <a:pt x="1791364" y="1236221"/>
                  </a:lnTo>
                  <a:lnTo>
                    <a:pt x="1824485" y="1203100"/>
                  </a:lnTo>
                  <a:lnTo>
                    <a:pt x="1849733" y="1163391"/>
                  </a:lnTo>
                  <a:lnTo>
                    <a:pt x="1865823" y="1118376"/>
                  </a:lnTo>
                  <a:lnTo>
                    <a:pt x="1871471" y="1069340"/>
                  </a:lnTo>
                  <a:lnTo>
                    <a:pt x="1871471" y="213868"/>
                  </a:lnTo>
                  <a:lnTo>
                    <a:pt x="1865823" y="164831"/>
                  </a:lnTo>
                  <a:lnTo>
                    <a:pt x="1849733" y="119816"/>
                  </a:lnTo>
                  <a:lnTo>
                    <a:pt x="1824485" y="80107"/>
                  </a:lnTo>
                  <a:lnTo>
                    <a:pt x="1791364" y="46986"/>
                  </a:lnTo>
                  <a:lnTo>
                    <a:pt x="1751655" y="21738"/>
                  </a:lnTo>
                  <a:lnTo>
                    <a:pt x="1706640" y="5648"/>
                  </a:lnTo>
                  <a:lnTo>
                    <a:pt x="1657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962" y="1745742"/>
              <a:ext cx="1871980" cy="1687830"/>
            </a:xfrm>
            <a:custGeom>
              <a:avLst/>
              <a:gdLst/>
              <a:ahLst/>
              <a:cxnLst/>
              <a:rect l="l" t="t" r="r" b="b"/>
              <a:pathLst>
                <a:path w="1871980" h="1687829">
                  <a:moveTo>
                    <a:pt x="0" y="213868"/>
                  </a:moveTo>
                  <a:lnTo>
                    <a:pt x="5648" y="164831"/>
                  </a:lnTo>
                  <a:lnTo>
                    <a:pt x="21738" y="119816"/>
                  </a:lnTo>
                  <a:lnTo>
                    <a:pt x="46986" y="80107"/>
                  </a:lnTo>
                  <a:lnTo>
                    <a:pt x="80107" y="46986"/>
                  </a:lnTo>
                  <a:lnTo>
                    <a:pt x="119816" y="21738"/>
                  </a:lnTo>
                  <a:lnTo>
                    <a:pt x="164831" y="5648"/>
                  </a:lnTo>
                  <a:lnTo>
                    <a:pt x="213867" y="0"/>
                  </a:lnTo>
                  <a:lnTo>
                    <a:pt x="1091692" y="0"/>
                  </a:lnTo>
                  <a:lnTo>
                    <a:pt x="1559560" y="0"/>
                  </a:lnTo>
                  <a:lnTo>
                    <a:pt x="1657604" y="0"/>
                  </a:lnTo>
                  <a:lnTo>
                    <a:pt x="1706640" y="5648"/>
                  </a:lnTo>
                  <a:lnTo>
                    <a:pt x="1751655" y="21738"/>
                  </a:lnTo>
                  <a:lnTo>
                    <a:pt x="1791364" y="46986"/>
                  </a:lnTo>
                  <a:lnTo>
                    <a:pt x="1824485" y="80107"/>
                  </a:lnTo>
                  <a:lnTo>
                    <a:pt x="1849733" y="119816"/>
                  </a:lnTo>
                  <a:lnTo>
                    <a:pt x="1865823" y="164831"/>
                  </a:lnTo>
                  <a:lnTo>
                    <a:pt x="1871471" y="213868"/>
                  </a:lnTo>
                  <a:lnTo>
                    <a:pt x="1871471" y="748538"/>
                  </a:lnTo>
                  <a:lnTo>
                    <a:pt x="1871471" y="1069340"/>
                  </a:lnTo>
                  <a:lnTo>
                    <a:pt x="1865823" y="1118376"/>
                  </a:lnTo>
                  <a:lnTo>
                    <a:pt x="1849733" y="1163391"/>
                  </a:lnTo>
                  <a:lnTo>
                    <a:pt x="1824485" y="1203100"/>
                  </a:lnTo>
                  <a:lnTo>
                    <a:pt x="1791364" y="1236221"/>
                  </a:lnTo>
                  <a:lnTo>
                    <a:pt x="1751655" y="1261469"/>
                  </a:lnTo>
                  <a:lnTo>
                    <a:pt x="1706640" y="1277559"/>
                  </a:lnTo>
                  <a:lnTo>
                    <a:pt x="1657604" y="1283208"/>
                  </a:lnTo>
                  <a:lnTo>
                    <a:pt x="1559560" y="1283208"/>
                  </a:lnTo>
                  <a:lnTo>
                    <a:pt x="1090168" y="1687322"/>
                  </a:lnTo>
                  <a:lnTo>
                    <a:pt x="1091692" y="1283208"/>
                  </a:lnTo>
                  <a:lnTo>
                    <a:pt x="213867" y="1283208"/>
                  </a:lnTo>
                  <a:lnTo>
                    <a:pt x="164831" y="1277559"/>
                  </a:lnTo>
                  <a:lnTo>
                    <a:pt x="119816" y="1261469"/>
                  </a:lnTo>
                  <a:lnTo>
                    <a:pt x="80107" y="1236221"/>
                  </a:lnTo>
                  <a:lnTo>
                    <a:pt x="46986" y="1203100"/>
                  </a:lnTo>
                  <a:lnTo>
                    <a:pt x="21738" y="1163391"/>
                  </a:lnTo>
                  <a:lnTo>
                    <a:pt x="5648" y="1118376"/>
                  </a:lnTo>
                  <a:lnTo>
                    <a:pt x="0" y="1069340"/>
                  </a:lnTo>
                  <a:lnTo>
                    <a:pt x="0" y="748538"/>
                  </a:lnTo>
                  <a:lnTo>
                    <a:pt x="0" y="21386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6965" y="2062099"/>
            <a:ext cx="11518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O</a:t>
            </a:r>
            <a:r>
              <a:rPr sz="2000" b="1" spc="5" dirty="0">
                <a:latin typeface="Segoe UI"/>
                <a:cs typeface="Segoe UI"/>
              </a:rPr>
              <a:t>b</a:t>
            </a:r>
            <a:r>
              <a:rPr sz="2000" b="1" spc="-5" dirty="0">
                <a:latin typeface="Segoe UI"/>
                <a:cs typeface="Segoe UI"/>
              </a:rPr>
              <a:t>j</a:t>
            </a:r>
            <a:r>
              <a:rPr sz="2000" b="1" spc="-15" dirty="0">
                <a:latin typeface="Segoe UI"/>
                <a:cs typeface="Segoe UI"/>
              </a:rPr>
              <a:t>e</a:t>
            </a:r>
            <a:r>
              <a:rPr sz="2000" b="1" dirty="0">
                <a:latin typeface="Segoe UI"/>
                <a:cs typeface="Segoe UI"/>
              </a:rPr>
              <a:t>ct</a:t>
            </a:r>
            <a:r>
              <a:rPr sz="2000" b="1" spc="-10" dirty="0">
                <a:latin typeface="Segoe UI"/>
                <a:cs typeface="Segoe UI"/>
              </a:rPr>
              <a:t>i</a:t>
            </a:r>
            <a:r>
              <a:rPr sz="2000" b="1" spc="-20" dirty="0">
                <a:latin typeface="Segoe UI"/>
                <a:cs typeface="Segoe UI"/>
              </a:rPr>
              <a:t>v</a:t>
            </a:r>
            <a:r>
              <a:rPr sz="2000" b="1" dirty="0">
                <a:latin typeface="Segoe UI"/>
                <a:cs typeface="Segoe UI"/>
              </a:rPr>
              <a:t>e  </a:t>
            </a:r>
            <a:r>
              <a:rPr sz="2000" b="1" spc="-5" dirty="0">
                <a:latin typeface="Segoe UI"/>
                <a:cs typeface="Segoe UI"/>
              </a:rPr>
              <a:t>function</a:t>
            </a:r>
            <a:endParaRPr sz="2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7320" y="483234"/>
            <a:ext cx="47701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10" dirty="0"/>
              <a:t>regularizer</a:t>
            </a:r>
            <a:r>
              <a:rPr spc="-90" dirty="0"/>
              <a:t> </a:t>
            </a:r>
            <a:r>
              <a:rPr spc="-5" dirty="0"/>
              <a:t>term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8253095" cy="264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  <a:tab pos="4679315" algn="l"/>
              </a:tabLst>
            </a:pPr>
            <a:r>
              <a:rPr sz="2800" spc="-10" dirty="0">
                <a:latin typeface="Segoe UI"/>
                <a:cs typeface="Segoe UI"/>
              </a:rPr>
              <a:t>Goal: </a:t>
            </a:r>
            <a:r>
              <a:rPr sz="2800" spc="-5" dirty="0">
                <a:latin typeface="Segoe UI"/>
                <a:cs typeface="Segoe UI"/>
              </a:rPr>
              <a:t>find</a:t>
            </a:r>
            <a:r>
              <a:rPr sz="2800" spc="3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simple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solutions	</a:t>
            </a:r>
            <a:r>
              <a:rPr sz="2800" spc="-10" dirty="0">
                <a:latin typeface="Segoe UI"/>
                <a:cs typeface="Segoe UI"/>
              </a:rPr>
              <a:t>(inductive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bias)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•"/>
            </a:pPr>
            <a:endParaRPr sz="345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latin typeface="Segoe UI"/>
                <a:cs typeface="Segoe UI"/>
              </a:rPr>
              <a:t>Ideally, </a:t>
            </a:r>
            <a:r>
              <a:rPr sz="2400" dirty="0">
                <a:latin typeface="Segoe UI"/>
                <a:cs typeface="Segoe UI"/>
              </a:rPr>
              <a:t>we want </a:t>
            </a:r>
            <a:r>
              <a:rPr sz="2400" spc="-5" dirty="0">
                <a:latin typeface="Segoe UI"/>
                <a:cs typeface="Segoe UI"/>
              </a:rPr>
              <a:t>most </a:t>
            </a:r>
            <a:r>
              <a:rPr sz="2400" dirty="0">
                <a:latin typeface="Segoe UI"/>
                <a:cs typeface="Segoe UI"/>
              </a:rPr>
              <a:t>entries </a:t>
            </a:r>
            <a:r>
              <a:rPr sz="2400" spc="-25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w </a:t>
            </a:r>
            <a:r>
              <a:rPr sz="2400" spc="-10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be </a:t>
            </a:r>
            <a:r>
              <a:rPr sz="2400" spc="-10" dirty="0">
                <a:latin typeface="Segoe UI"/>
                <a:cs typeface="Segoe UI"/>
              </a:rPr>
              <a:t>zero, </a:t>
            </a:r>
            <a:r>
              <a:rPr sz="2400" spc="-5" dirty="0">
                <a:latin typeface="Segoe UI"/>
                <a:cs typeface="Segoe UI"/>
              </a:rPr>
              <a:t>so prediction  </a:t>
            </a:r>
            <a:r>
              <a:rPr sz="2400" dirty="0">
                <a:latin typeface="Segoe UI"/>
                <a:cs typeface="Segoe UI"/>
              </a:rPr>
              <a:t>depends only on a </a:t>
            </a:r>
            <a:r>
              <a:rPr sz="2400" spc="-5" dirty="0">
                <a:latin typeface="Segoe UI"/>
                <a:cs typeface="Segoe UI"/>
              </a:rPr>
              <a:t>small </a:t>
            </a:r>
            <a:r>
              <a:rPr sz="2400" dirty="0">
                <a:latin typeface="Segoe UI"/>
                <a:cs typeface="Segoe UI"/>
              </a:rPr>
              <a:t>number </a:t>
            </a:r>
            <a:r>
              <a:rPr sz="2400" spc="-25" dirty="0">
                <a:latin typeface="Segoe UI"/>
                <a:cs typeface="Segoe UI"/>
              </a:rPr>
              <a:t>of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features.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•"/>
            </a:pPr>
            <a:endParaRPr sz="3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Segoe UI"/>
                <a:cs typeface="Segoe UI"/>
              </a:rPr>
              <a:t>Formally, </a:t>
            </a:r>
            <a:r>
              <a:rPr sz="2400" dirty="0">
                <a:latin typeface="Segoe UI"/>
                <a:cs typeface="Segoe UI"/>
              </a:rPr>
              <a:t>we want </a:t>
            </a:r>
            <a:r>
              <a:rPr sz="2400" spc="-10" dirty="0">
                <a:latin typeface="Segoe UI"/>
                <a:cs typeface="Segoe UI"/>
              </a:rPr>
              <a:t>to</a:t>
            </a:r>
            <a:r>
              <a:rPr sz="2400" spc="4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minimize: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540" y="5564981"/>
            <a:ext cx="7162800" cy="8305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400" spc="-25" dirty="0">
                <a:latin typeface="Segoe UI"/>
                <a:cs typeface="Segoe UI"/>
              </a:rPr>
              <a:t>That’s </a:t>
            </a:r>
            <a:r>
              <a:rPr sz="2400" spc="-5" dirty="0">
                <a:latin typeface="Segoe UI"/>
                <a:cs typeface="Segoe UI"/>
              </a:rPr>
              <a:t>NP-hard, so </a:t>
            </a:r>
            <a:r>
              <a:rPr sz="2400" dirty="0">
                <a:latin typeface="Segoe UI"/>
                <a:cs typeface="Segoe UI"/>
              </a:rPr>
              <a:t>we use </a:t>
            </a:r>
            <a:r>
              <a:rPr sz="2400" spc="-5" dirty="0">
                <a:latin typeface="Segoe UI"/>
                <a:cs typeface="Segoe UI"/>
              </a:rPr>
              <a:t>approximations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instead.</a:t>
            </a:r>
            <a:endParaRPr sz="2400">
              <a:latin typeface="Segoe UI"/>
              <a:cs typeface="Segoe UI"/>
            </a:endParaRPr>
          </a:p>
          <a:p>
            <a:pPr marL="495300">
              <a:lnSpc>
                <a:spcPct val="100000"/>
              </a:lnSpc>
              <a:spcBef>
                <a:spcPts val="480"/>
              </a:spcBef>
              <a:tabLst>
                <a:tab pos="781685" algn="l"/>
              </a:tabLst>
            </a:pPr>
            <a:r>
              <a:rPr sz="2000" dirty="0">
                <a:latin typeface="Arial"/>
                <a:cs typeface="Arial"/>
              </a:rPr>
              <a:t>–	</a:t>
            </a:r>
            <a:r>
              <a:rPr sz="2000" spc="-5" dirty="0">
                <a:latin typeface="Segoe UI"/>
                <a:cs typeface="Segoe UI"/>
              </a:rPr>
              <a:t>E.g., we </a:t>
            </a:r>
            <a:r>
              <a:rPr sz="2000" dirty="0">
                <a:latin typeface="Segoe UI"/>
                <a:cs typeface="Segoe UI"/>
              </a:rPr>
              <a:t>encourage </a:t>
            </a:r>
            <a:r>
              <a:rPr sz="2000" spc="-30" dirty="0">
                <a:latin typeface="Segoe UI"/>
                <a:cs typeface="Segoe UI"/>
              </a:rPr>
              <a:t>w</a:t>
            </a:r>
            <a:r>
              <a:rPr sz="1950" spc="-44" baseline="-21367" dirty="0">
                <a:latin typeface="Segoe UI"/>
                <a:cs typeface="Segoe UI"/>
              </a:rPr>
              <a:t>d</a:t>
            </a:r>
            <a:r>
              <a:rPr sz="2000" spc="-30" dirty="0">
                <a:latin typeface="Segoe UI"/>
                <a:cs typeface="Segoe UI"/>
              </a:rPr>
              <a:t>’s </a:t>
            </a:r>
            <a:r>
              <a:rPr sz="2000" spc="-5" dirty="0">
                <a:latin typeface="Segoe UI"/>
                <a:cs typeface="Segoe UI"/>
              </a:rPr>
              <a:t>to </a:t>
            </a:r>
            <a:r>
              <a:rPr sz="2000" dirty="0">
                <a:latin typeface="Segoe UI"/>
                <a:cs typeface="Segoe UI"/>
              </a:rPr>
              <a:t>be</a:t>
            </a:r>
            <a:r>
              <a:rPr sz="2000" spc="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small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9787" y="4415057"/>
            <a:ext cx="3251971" cy="8471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672" y="483234"/>
            <a:ext cx="59950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Norm-based</a:t>
            </a:r>
            <a:r>
              <a:rPr spc="-40" dirty="0"/>
              <a:t> </a:t>
            </a:r>
            <a:r>
              <a:rPr spc="-5" dirty="0"/>
              <a:t>Regularizers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614881"/>
            <a:ext cx="69240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67665" algn="l"/>
                <a:tab pos="368300" algn="l"/>
                <a:tab pos="815975" algn="l"/>
              </a:tabLst>
            </a:pPr>
            <a:r>
              <a:rPr sz="3200" spc="80" dirty="0">
                <a:latin typeface="Cambria Math"/>
                <a:cs typeface="Cambria Math"/>
              </a:rPr>
              <a:t>𝑙</a:t>
            </a:r>
            <a:r>
              <a:rPr sz="3525" spc="120" baseline="-15366" dirty="0">
                <a:latin typeface="Cambria Math"/>
                <a:cs typeface="Cambria Math"/>
              </a:rPr>
              <a:t>𝑝	</a:t>
            </a:r>
            <a:r>
              <a:rPr sz="3200" spc="-5" dirty="0">
                <a:latin typeface="Segoe UI"/>
                <a:cs typeface="Segoe UI"/>
              </a:rPr>
              <a:t>norms </a:t>
            </a:r>
            <a:r>
              <a:rPr sz="3200" dirty="0">
                <a:latin typeface="Segoe UI"/>
                <a:cs typeface="Segoe UI"/>
              </a:rPr>
              <a:t>can be used as</a:t>
            </a:r>
            <a:r>
              <a:rPr sz="3200" spc="-6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regularizers</a:t>
            </a:r>
            <a:endParaRPr sz="32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12492" y="2133612"/>
            <a:ext cx="3844290" cy="1614170"/>
            <a:chOff x="2412492" y="2133612"/>
            <a:chExt cx="3844290" cy="16141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4157" y="2716914"/>
              <a:ext cx="3752098" cy="10305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2492" y="2133612"/>
              <a:ext cx="3159750" cy="54557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3358" y="4171207"/>
            <a:ext cx="6709728" cy="19796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0588" y="5854395"/>
            <a:ext cx="11557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Segoe UI"/>
                <a:cs typeface="Segoe UI"/>
              </a:rPr>
              <a:t>Contour  </a:t>
            </a:r>
            <a:r>
              <a:rPr sz="2400" spc="-5" dirty="0">
                <a:latin typeface="Segoe UI"/>
                <a:cs typeface="Segoe UI"/>
              </a:rPr>
              <a:t>plots</a:t>
            </a:r>
            <a:r>
              <a:rPr sz="2400" spc="-7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for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9719" y="6219850"/>
            <a:ext cx="7461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UI"/>
                <a:cs typeface="Segoe UI"/>
              </a:rPr>
              <a:t>p =</a:t>
            </a:r>
            <a:r>
              <a:rPr sz="2400" spc="-8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2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3216" y="6219850"/>
            <a:ext cx="7461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UI"/>
                <a:cs typeface="Segoe UI"/>
              </a:rPr>
              <a:t>p =</a:t>
            </a:r>
            <a:r>
              <a:rPr sz="2400" spc="-8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42354" y="6219850"/>
            <a:ext cx="7461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UI"/>
                <a:cs typeface="Segoe UI"/>
              </a:rPr>
              <a:t>p &lt;</a:t>
            </a:r>
            <a:r>
              <a:rPr sz="2400" spc="-8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672" y="483234"/>
            <a:ext cx="59950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Norm-based</a:t>
            </a:r>
            <a:r>
              <a:rPr spc="-40" dirty="0"/>
              <a:t> </a:t>
            </a:r>
            <a:r>
              <a:rPr spc="-5" dirty="0"/>
              <a:t>Regularizers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40" y="1492275"/>
            <a:ext cx="7950834" cy="43980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108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800" spc="70" dirty="0">
                <a:latin typeface="Cambria Math"/>
                <a:cs typeface="Cambria Math"/>
              </a:rPr>
              <a:t>𝑙</a:t>
            </a:r>
            <a:r>
              <a:rPr sz="3075" spc="104" baseline="-16260" dirty="0">
                <a:latin typeface="Cambria Math"/>
                <a:cs typeface="Cambria Math"/>
              </a:rPr>
              <a:t>𝑝 </a:t>
            </a:r>
            <a:r>
              <a:rPr sz="2800" spc="-5" dirty="0">
                <a:latin typeface="Segoe UI"/>
                <a:cs typeface="Segoe UI"/>
              </a:rPr>
              <a:t>norms can be used as</a:t>
            </a:r>
            <a:r>
              <a:rPr sz="2800" spc="-14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regularizers</a:t>
            </a:r>
            <a:endParaRPr sz="2800">
              <a:latin typeface="Segoe UI"/>
              <a:cs typeface="Segoe UI"/>
            </a:endParaRPr>
          </a:p>
          <a:p>
            <a:pPr marL="406400" indent="-342900">
              <a:lnSpc>
                <a:spcPct val="100000"/>
              </a:lnSpc>
              <a:spcBef>
                <a:spcPts val="990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Segoe UI"/>
                <a:cs typeface="Segoe UI"/>
              </a:rPr>
              <a:t>Smaller p </a:t>
            </a:r>
            <a:r>
              <a:rPr sz="2800" dirty="0">
                <a:latin typeface="Segoe UI"/>
                <a:cs typeface="Segoe UI"/>
              </a:rPr>
              <a:t>favors </a:t>
            </a:r>
            <a:r>
              <a:rPr sz="2800" spc="-10" dirty="0">
                <a:latin typeface="Segoe UI"/>
                <a:cs typeface="Segoe UI"/>
              </a:rPr>
              <a:t>sparse </a:t>
            </a:r>
            <a:r>
              <a:rPr sz="2800" spc="-5" dirty="0">
                <a:latin typeface="Segoe UI"/>
                <a:cs typeface="Segoe UI"/>
              </a:rPr>
              <a:t>vectors</a:t>
            </a:r>
            <a:r>
              <a:rPr sz="2800" spc="-6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w</a:t>
            </a:r>
            <a:endParaRPr sz="2800">
              <a:latin typeface="Segoe UI"/>
              <a:cs typeface="Segoe UI"/>
            </a:endParaRPr>
          </a:p>
          <a:p>
            <a:pPr marL="520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Segoe UI"/>
                <a:cs typeface="Segoe UI"/>
              </a:rPr>
              <a:t>i.e. most entries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w </a:t>
            </a:r>
            <a:r>
              <a:rPr sz="2400" spc="-10" dirty="0">
                <a:latin typeface="Segoe UI"/>
                <a:cs typeface="Segoe UI"/>
              </a:rPr>
              <a:t>are </a:t>
            </a:r>
            <a:r>
              <a:rPr sz="2400" dirty="0">
                <a:latin typeface="Segoe UI"/>
                <a:cs typeface="Segoe UI"/>
              </a:rPr>
              <a:t>close or equal </a:t>
            </a:r>
            <a:r>
              <a:rPr sz="2400" spc="-15" dirty="0">
                <a:latin typeface="Segoe UI"/>
                <a:cs typeface="Segoe UI"/>
              </a:rPr>
              <a:t>to</a:t>
            </a:r>
            <a:r>
              <a:rPr sz="2400" spc="-3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0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50">
              <a:latin typeface="Segoe UI"/>
              <a:cs typeface="Segoe UI"/>
            </a:endParaRPr>
          </a:p>
          <a:p>
            <a:pPr marL="406400" indent="-342900">
              <a:lnSpc>
                <a:spcPct val="100000"/>
              </a:lnSpc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800" spc="20" dirty="0">
                <a:latin typeface="Cambria Math"/>
                <a:cs typeface="Cambria Math"/>
              </a:rPr>
              <a:t>𝑙</a:t>
            </a:r>
            <a:r>
              <a:rPr sz="3075" spc="30" baseline="-16260" dirty="0">
                <a:latin typeface="Cambria Math"/>
                <a:cs typeface="Cambria Math"/>
              </a:rPr>
              <a:t>2 </a:t>
            </a:r>
            <a:r>
              <a:rPr sz="2800" spc="-5" dirty="0">
                <a:latin typeface="Segoe UI"/>
                <a:cs typeface="Segoe UI"/>
              </a:rPr>
              <a:t>norm: convex, smooth, easy to</a:t>
            </a:r>
            <a:r>
              <a:rPr sz="2800" spc="-17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optimize</a:t>
            </a:r>
            <a:endParaRPr sz="2800">
              <a:latin typeface="Segoe UI"/>
              <a:cs typeface="Segoe UI"/>
            </a:endParaRPr>
          </a:p>
          <a:p>
            <a:pPr marL="406400" marR="216535" indent="-3429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405765" algn="l"/>
                <a:tab pos="406400" algn="l"/>
                <a:tab pos="1884680" algn="l"/>
              </a:tabLst>
            </a:pPr>
            <a:r>
              <a:rPr sz="2800" spc="-10" dirty="0">
                <a:latin typeface="Cambria Math"/>
                <a:cs typeface="Cambria Math"/>
              </a:rPr>
              <a:t>𝑙</a:t>
            </a:r>
            <a:r>
              <a:rPr sz="3075" spc="-15" baseline="-16260" dirty="0">
                <a:latin typeface="Cambria Math"/>
                <a:cs typeface="Cambria Math"/>
              </a:rPr>
              <a:t>1 </a:t>
            </a:r>
            <a:r>
              <a:rPr sz="3075" baseline="-1626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Segoe UI"/>
                <a:cs typeface="Segoe UI"/>
              </a:rPr>
              <a:t>norm:	encourages </a:t>
            </a:r>
            <a:r>
              <a:rPr sz="2800" spc="-10" dirty="0">
                <a:latin typeface="Segoe UI"/>
                <a:cs typeface="Segoe UI"/>
              </a:rPr>
              <a:t>sparse </a:t>
            </a:r>
            <a:r>
              <a:rPr sz="2800" spc="-65" dirty="0">
                <a:latin typeface="Segoe UI"/>
                <a:cs typeface="Segoe UI"/>
              </a:rPr>
              <a:t>w, </a:t>
            </a:r>
            <a:r>
              <a:rPr sz="2800" spc="-5" dirty="0">
                <a:latin typeface="Segoe UI"/>
                <a:cs typeface="Segoe UI"/>
              </a:rPr>
              <a:t>convex, but not  smooth at axis</a:t>
            </a:r>
            <a:r>
              <a:rPr sz="2800" spc="-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points</a:t>
            </a:r>
            <a:endParaRPr sz="2800">
              <a:latin typeface="Segoe UI"/>
              <a:cs typeface="Segoe UI"/>
            </a:endParaRPr>
          </a:p>
          <a:p>
            <a:pPr marL="406400" marR="6858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05765" algn="l"/>
                <a:tab pos="406400" algn="l"/>
                <a:tab pos="1523365" algn="l"/>
              </a:tabLst>
            </a:pPr>
            <a:r>
              <a:rPr sz="2800" spc="-5" dirty="0">
                <a:latin typeface="Cambria Math"/>
                <a:cs typeface="Cambria Math"/>
              </a:rPr>
              <a:t>𝑝</a:t>
            </a:r>
            <a:r>
              <a:rPr sz="2800" spc="20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&lt;</a:t>
            </a:r>
            <a:r>
              <a:rPr sz="2800" spc="17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1	: </a:t>
            </a:r>
            <a:r>
              <a:rPr sz="2800" spc="-5" dirty="0">
                <a:latin typeface="Segoe UI"/>
                <a:cs typeface="Segoe UI"/>
              </a:rPr>
              <a:t>norm becomes non </a:t>
            </a:r>
            <a:r>
              <a:rPr sz="2800" dirty="0">
                <a:latin typeface="Segoe UI"/>
                <a:cs typeface="Segoe UI"/>
              </a:rPr>
              <a:t>convex </a:t>
            </a:r>
            <a:r>
              <a:rPr sz="2800" spc="-5" dirty="0">
                <a:latin typeface="Segoe UI"/>
                <a:cs typeface="Segoe UI"/>
              </a:rPr>
              <a:t>and </a:t>
            </a:r>
            <a:r>
              <a:rPr sz="2800" spc="-10" dirty="0">
                <a:latin typeface="Segoe UI"/>
                <a:cs typeface="Segoe UI"/>
              </a:rPr>
              <a:t>hard </a:t>
            </a:r>
            <a:r>
              <a:rPr sz="2800" spc="-20" dirty="0">
                <a:latin typeface="Segoe UI"/>
                <a:cs typeface="Segoe UI"/>
              </a:rPr>
              <a:t>to  </a:t>
            </a:r>
            <a:r>
              <a:rPr sz="2800" spc="-5" dirty="0">
                <a:latin typeface="Segoe UI"/>
                <a:cs typeface="Segoe UI"/>
              </a:rPr>
              <a:t>optimize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990" y="358216"/>
            <a:ext cx="8227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is the </a:t>
            </a:r>
            <a:r>
              <a:rPr spc="-20" dirty="0"/>
              <a:t>perceptron</a:t>
            </a:r>
            <a:r>
              <a:rPr spc="-65" dirty="0"/>
              <a:t> </a:t>
            </a:r>
            <a:r>
              <a:rPr spc="-5" dirty="0"/>
              <a:t>optimizing?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5721807"/>
            <a:ext cx="68916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Loss function is a </a:t>
            </a:r>
            <a:r>
              <a:rPr sz="2800" spc="-10" dirty="0">
                <a:latin typeface="Segoe UI"/>
                <a:cs typeface="Segoe UI"/>
              </a:rPr>
              <a:t>variant </a:t>
            </a:r>
            <a:r>
              <a:rPr sz="2800" spc="-30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the hinge</a:t>
            </a:r>
            <a:r>
              <a:rPr sz="2800" spc="4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loss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4300" y="6292198"/>
            <a:ext cx="3443376" cy="3707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654" y="1423453"/>
            <a:ext cx="7347314" cy="37962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3238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Casting Linear Classification  as an Optimization</a:t>
            </a:r>
            <a:r>
              <a:rPr spc="-100" dirty="0"/>
              <a:t> </a:t>
            </a:r>
            <a:r>
              <a:rPr spc="-1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4455410"/>
            <a:ext cx="686244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14400">
              <a:lnSpc>
                <a:spcPct val="120000"/>
              </a:lnSpc>
              <a:spcBef>
                <a:spcPts val="95"/>
              </a:spcBef>
            </a:pPr>
            <a:r>
              <a:rPr sz="2400" spc="-10" dirty="0">
                <a:latin typeface="Segoe UI"/>
                <a:cs typeface="Segoe UI"/>
              </a:rPr>
              <a:t>Indicator </a:t>
            </a:r>
            <a:r>
              <a:rPr sz="2400" spc="-5" dirty="0">
                <a:latin typeface="Segoe UI"/>
                <a:cs typeface="Segoe UI"/>
              </a:rPr>
              <a:t>function: </a:t>
            </a:r>
            <a:r>
              <a:rPr sz="2400" dirty="0">
                <a:latin typeface="Segoe UI"/>
                <a:cs typeface="Segoe UI"/>
              </a:rPr>
              <a:t>1 </a:t>
            </a:r>
            <a:r>
              <a:rPr sz="2400" spc="-5" dirty="0">
                <a:latin typeface="Segoe UI"/>
                <a:cs typeface="Segoe UI"/>
              </a:rPr>
              <a:t>if </a:t>
            </a:r>
            <a:r>
              <a:rPr sz="2400" dirty="0">
                <a:latin typeface="Segoe UI"/>
                <a:cs typeface="Segoe UI"/>
              </a:rPr>
              <a:t>(.) </a:t>
            </a:r>
            <a:r>
              <a:rPr sz="2400" spc="-5" dirty="0">
                <a:latin typeface="Segoe UI"/>
                <a:cs typeface="Segoe UI"/>
              </a:rPr>
              <a:t>is </a:t>
            </a:r>
            <a:r>
              <a:rPr sz="2400" dirty="0">
                <a:latin typeface="Segoe UI"/>
                <a:cs typeface="Segoe UI"/>
              </a:rPr>
              <a:t>true, 0 </a:t>
            </a:r>
            <a:r>
              <a:rPr sz="2400" spc="10" dirty="0">
                <a:latin typeface="Segoe UI"/>
                <a:cs typeface="Segoe UI"/>
              </a:rPr>
              <a:t>otherwise  </a:t>
            </a: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5" dirty="0">
                <a:latin typeface="Segoe UI"/>
                <a:cs typeface="Segoe UI"/>
              </a:rPr>
              <a:t>loss function above is called </a:t>
            </a:r>
            <a:r>
              <a:rPr sz="2400" dirty="0">
                <a:latin typeface="Segoe UI"/>
                <a:cs typeface="Segoe UI"/>
              </a:rPr>
              <a:t>the 0-1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loss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5062" y="1638236"/>
            <a:ext cx="7571105" cy="2637155"/>
            <a:chOff x="635062" y="1638236"/>
            <a:chExt cx="7571105" cy="26371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062" y="3326983"/>
              <a:ext cx="7570619" cy="9484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44545" y="1651253"/>
              <a:ext cx="2726690" cy="1687195"/>
            </a:xfrm>
            <a:custGeom>
              <a:avLst/>
              <a:gdLst/>
              <a:ahLst/>
              <a:cxnLst/>
              <a:rect l="l" t="t" r="r" b="b"/>
              <a:pathLst>
                <a:path w="2726690" h="1687195">
                  <a:moveTo>
                    <a:pt x="2272030" y="1327404"/>
                  </a:moveTo>
                  <a:lnTo>
                    <a:pt x="1590420" y="1327404"/>
                  </a:lnTo>
                  <a:lnTo>
                    <a:pt x="1938401" y="1687068"/>
                  </a:lnTo>
                  <a:lnTo>
                    <a:pt x="2272030" y="1327404"/>
                  </a:lnTo>
                  <a:close/>
                </a:path>
                <a:path w="2726690" h="1687195">
                  <a:moveTo>
                    <a:pt x="2505202" y="0"/>
                  </a:moveTo>
                  <a:lnTo>
                    <a:pt x="221234" y="0"/>
                  </a:lnTo>
                  <a:lnTo>
                    <a:pt x="176650" y="4495"/>
                  </a:lnTo>
                  <a:lnTo>
                    <a:pt x="135124" y="17387"/>
                  </a:lnTo>
                  <a:lnTo>
                    <a:pt x="97544" y="37785"/>
                  </a:lnTo>
                  <a:lnTo>
                    <a:pt x="64801" y="64801"/>
                  </a:lnTo>
                  <a:lnTo>
                    <a:pt x="37785" y="97544"/>
                  </a:lnTo>
                  <a:lnTo>
                    <a:pt x="17387" y="135124"/>
                  </a:lnTo>
                  <a:lnTo>
                    <a:pt x="4495" y="176650"/>
                  </a:lnTo>
                  <a:lnTo>
                    <a:pt x="0" y="221234"/>
                  </a:lnTo>
                  <a:lnTo>
                    <a:pt x="0" y="1106170"/>
                  </a:lnTo>
                  <a:lnTo>
                    <a:pt x="4495" y="1150753"/>
                  </a:lnTo>
                  <a:lnTo>
                    <a:pt x="17387" y="1192279"/>
                  </a:lnTo>
                  <a:lnTo>
                    <a:pt x="37785" y="1229859"/>
                  </a:lnTo>
                  <a:lnTo>
                    <a:pt x="64801" y="1262602"/>
                  </a:lnTo>
                  <a:lnTo>
                    <a:pt x="97544" y="1289618"/>
                  </a:lnTo>
                  <a:lnTo>
                    <a:pt x="135124" y="1310016"/>
                  </a:lnTo>
                  <a:lnTo>
                    <a:pt x="176650" y="1322908"/>
                  </a:lnTo>
                  <a:lnTo>
                    <a:pt x="221234" y="1327404"/>
                  </a:lnTo>
                  <a:lnTo>
                    <a:pt x="2505202" y="1327404"/>
                  </a:lnTo>
                  <a:lnTo>
                    <a:pt x="2549785" y="1322908"/>
                  </a:lnTo>
                  <a:lnTo>
                    <a:pt x="2591311" y="1310016"/>
                  </a:lnTo>
                  <a:lnTo>
                    <a:pt x="2628891" y="1289618"/>
                  </a:lnTo>
                  <a:lnTo>
                    <a:pt x="2661634" y="1262602"/>
                  </a:lnTo>
                  <a:lnTo>
                    <a:pt x="2688650" y="1229859"/>
                  </a:lnTo>
                  <a:lnTo>
                    <a:pt x="2709048" y="1192279"/>
                  </a:lnTo>
                  <a:lnTo>
                    <a:pt x="2721940" y="1150753"/>
                  </a:lnTo>
                  <a:lnTo>
                    <a:pt x="2726436" y="1106170"/>
                  </a:lnTo>
                  <a:lnTo>
                    <a:pt x="2726436" y="221234"/>
                  </a:lnTo>
                  <a:lnTo>
                    <a:pt x="2721940" y="176650"/>
                  </a:lnTo>
                  <a:lnTo>
                    <a:pt x="2709048" y="135124"/>
                  </a:lnTo>
                  <a:lnTo>
                    <a:pt x="2688650" y="97544"/>
                  </a:lnTo>
                  <a:lnTo>
                    <a:pt x="2661634" y="64801"/>
                  </a:lnTo>
                  <a:lnTo>
                    <a:pt x="2628891" y="37785"/>
                  </a:lnTo>
                  <a:lnTo>
                    <a:pt x="2591311" y="17387"/>
                  </a:lnTo>
                  <a:lnTo>
                    <a:pt x="2549785" y="4495"/>
                  </a:lnTo>
                  <a:lnTo>
                    <a:pt x="2505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4545" y="1651253"/>
              <a:ext cx="2726690" cy="1687195"/>
            </a:xfrm>
            <a:custGeom>
              <a:avLst/>
              <a:gdLst/>
              <a:ahLst/>
              <a:cxnLst/>
              <a:rect l="l" t="t" r="r" b="b"/>
              <a:pathLst>
                <a:path w="2726690" h="1687195">
                  <a:moveTo>
                    <a:pt x="0" y="221234"/>
                  </a:moveTo>
                  <a:lnTo>
                    <a:pt x="4495" y="176650"/>
                  </a:lnTo>
                  <a:lnTo>
                    <a:pt x="17387" y="135124"/>
                  </a:lnTo>
                  <a:lnTo>
                    <a:pt x="37785" y="97544"/>
                  </a:lnTo>
                  <a:lnTo>
                    <a:pt x="64801" y="64801"/>
                  </a:lnTo>
                  <a:lnTo>
                    <a:pt x="97544" y="37785"/>
                  </a:lnTo>
                  <a:lnTo>
                    <a:pt x="135124" y="17387"/>
                  </a:lnTo>
                  <a:lnTo>
                    <a:pt x="176650" y="4495"/>
                  </a:lnTo>
                  <a:lnTo>
                    <a:pt x="221234" y="0"/>
                  </a:lnTo>
                  <a:lnTo>
                    <a:pt x="1590420" y="0"/>
                  </a:lnTo>
                  <a:lnTo>
                    <a:pt x="2272030" y="0"/>
                  </a:lnTo>
                  <a:lnTo>
                    <a:pt x="2505202" y="0"/>
                  </a:lnTo>
                  <a:lnTo>
                    <a:pt x="2549785" y="4495"/>
                  </a:lnTo>
                  <a:lnTo>
                    <a:pt x="2591311" y="17387"/>
                  </a:lnTo>
                  <a:lnTo>
                    <a:pt x="2628891" y="37785"/>
                  </a:lnTo>
                  <a:lnTo>
                    <a:pt x="2661634" y="64801"/>
                  </a:lnTo>
                  <a:lnTo>
                    <a:pt x="2688650" y="97544"/>
                  </a:lnTo>
                  <a:lnTo>
                    <a:pt x="2709048" y="135124"/>
                  </a:lnTo>
                  <a:lnTo>
                    <a:pt x="2721940" y="176650"/>
                  </a:lnTo>
                  <a:lnTo>
                    <a:pt x="2726436" y="221234"/>
                  </a:lnTo>
                  <a:lnTo>
                    <a:pt x="2726436" y="774319"/>
                  </a:lnTo>
                  <a:lnTo>
                    <a:pt x="2726436" y="1106170"/>
                  </a:lnTo>
                  <a:lnTo>
                    <a:pt x="2721940" y="1150753"/>
                  </a:lnTo>
                  <a:lnTo>
                    <a:pt x="2709048" y="1192279"/>
                  </a:lnTo>
                  <a:lnTo>
                    <a:pt x="2688650" y="1229859"/>
                  </a:lnTo>
                  <a:lnTo>
                    <a:pt x="2661634" y="1262602"/>
                  </a:lnTo>
                  <a:lnTo>
                    <a:pt x="2628891" y="1289618"/>
                  </a:lnTo>
                  <a:lnTo>
                    <a:pt x="2591311" y="1310016"/>
                  </a:lnTo>
                  <a:lnTo>
                    <a:pt x="2549785" y="1322908"/>
                  </a:lnTo>
                  <a:lnTo>
                    <a:pt x="2505202" y="1327404"/>
                  </a:lnTo>
                  <a:lnTo>
                    <a:pt x="2272030" y="1327404"/>
                  </a:lnTo>
                  <a:lnTo>
                    <a:pt x="1938401" y="1687068"/>
                  </a:lnTo>
                  <a:lnTo>
                    <a:pt x="1590420" y="1327404"/>
                  </a:lnTo>
                  <a:lnTo>
                    <a:pt x="221234" y="1327404"/>
                  </a:lnTo>
                  <a:lnTo>
                    <a:pt x="176650" y="1322908"/>
                  </a:lnTo>
                  <a:lnTo>
                    <a:pt x="135124" y="1310016"/>
                  </a:lnTo>
                  <a:lnTo>
                    <a:pt x="97544" y="1289618"/>
                  </a:lnTo>
                  <a:lnTo>
                    <a:pt x="64801" y="1262602"/>
                  </a:lnTo>
                  <a:lnTo>
                    <a:pt x="37785" y="1229859"/>
                  </a:lnTo>
                  <a:lnTo>
                    <a:pt x="17387" y="1192279"/>
                  </a:lnTo>
                  <a:lnTo>
                    <a:pt x="4495" y="1150753"/>
                  </a:lnTo>
                  <a:lnTo>
                    <a:pt x="0" y="1106170"/>
                  </a:lnTo>
                  <a:lnTo>
                    <a:pt x="0" y="774319"/>
                  </a:lnTo>
                  <a:lnTo>
                    <a:pt x="0" y="221234"/>
                  </a:lnTo>
                  <a:close/>
                </a:path>
              </a:pathLst>
            </a:custGeom>
            <a:ln w="25908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960" y="4522184"/>
            <a:ext cx="525456" cy="38826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049016" y="1685289"/>
            <a:ext cx="231521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Loss function  </a:t>
            </a:r>
            <a:r>
              <a:rPr sz="2000" spc="-5" dirty="0">
                <a:latin typeface="Segoe UI"/>
                <a:cs typeface="Segoe UI"/>
              </a:rPr>
              <a:t>measures </a:t>
            </a:r>
            <a:r>
              <a:rPr sz="2000" dirty="0">
                <a:latin typeface="Segoe UI"/>
                <a:cs typeface="Segoe UI"/>
              </a:rPr>
              <a:t>how </a:t>
            </a:r>
            <a:r>
              <a:rPr sz="2000" spc="-5" dirty="0">
                <a:latin typeface="Segoe UI"/>
                <a:cs typeface="Segoe UI"/>
              </a:rPr>
              <a:t>well  classifier fits </a:t>
            </a:r>
            <a:r>
              <a:rPr sz="2000" dirty="0">
                <a:latin typeface="Segoe UI"/>
                <a:cs typeface="Segoe UI"/>
              </a:rPr>
              <a:t>training  data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16332" y="1606232"/>
            <a:ext cx="2330450" cy="1771650"/>
            <a:chOff x="6216332" y="1606232"/>
            <a:chExt cx="2330450" cy="1771650"/>
          </a:xfrm>
        </p:grpSpPr>
        <p:sp>
          <p:nvSpPr>
            <p:cNvPr id="11" name="object 11"/>
            <p:cNvSpPr/>
            <p:nvPr/>
          </p:nvSpPr>
          <p:spPr>
            <a:xfrm>
              <a:off x="6229350" y="1619249"/>
              <a:ext cx="2304415" cy="1745614"/>
            </a:xfrm>
            <a:custGeom>
              <a:avLst/>
              <a:gdLst/>
              <a:ahLst/>
              <a:cxnLst/>
              <a:rect l="l" t="t" r="r" b="b"/>
              <a:pathLst>
                <a:path w="2304415" h="1745614">
                  <a:moveTo>
                    <a:pt x="1920240" y="1479803"/>
                  </a:moveTo>
                  <a:lnTo>
                    <a:pt x="1344168" y="1479803"/>
                  </a:lnTo>
                  <a:lnTo>
                    <a:pt x="1507744" y="1745361"/>
                  </a:lnTo>
                  <a:lnTo>
                    <a:pt x="1920240" y="1479803"/>
                  </a:lnTo>
                  <a:close/>
                </a:path>
                <a:path w="2304415" h="1745614">
                  <a:moveTo>
                    <a:pt x="2057653" y="0"/>
                  </a:moveTo>
                  <a:lnTo>
                    <a:pt x="246634" y="0"/>
                  </a:lnTo>
                  <a:lnTo>
                    <a:pt x="196911" y="5008"/>
                  </a:lnTo>
                  <a:lnTo>
                    <a:pt x="150608" y="19373"/>
                  </a:lnTo>
                  <a:lnTo>
                    <a:pt x="108712" y="42105"/>
                  </a:lnTo>
                  <a:lnTo>
                    <a:pt x="72215" y="72215"/>
                  </a:lnTo>
                  <a:lnTo>
                    <a:pt x="42105" y="108712"/>
                  </a:lnTo>
                  <a:lnTo>
                    <a:pt x="19373" y="150608"/>
                  </a:lnTo>
                  <a:lnTo>
                    <a:pt x="5008" y="196911"/>
                  </a:lnTo>
                  <a:lnTo>
                    <a:pt x="0" y="246634"/>
                  </a:lnTo>
                  <a:lnTo>
                    <a:pt x="0" y="1233170"/>
                  </a:lnTo>
                  <a:lnTo>
                    <a:pt x="5008" y="1282892"/>
                  </a:lnTo>
                  <a:lnTo>
                    <a:pt x="19373" y="1329195"/>
                  </a:lnTo>
                  <a:lnTo>
                    <a:pt x="42105" y="1371091"/>
                  </a:lnTo>
                  <a:lnTo>
                    <a:pt x="72215" y="1407588"/>
                  </a:lnTo>
                  <a:lnTo>
                    <a:pt x="108712" y="1437698"/>
                  </a:lnTo>
                  <a:lnTo>
                    <a:pt x="150608" y="1460430"/>
                  </a:lnTo>
                  <a:lnTo>
                    <a:pt x="196911" y="1474795"/>
                  </a:lnTo>
                  <a:lnTo>
                    <a:pt x="246634" y="1479803"/>
                  </a:lnTo>
                  <a:lnTo>
                    <a:pt x="2057653" y="1479803"/>
                  </a:lnTo>
                  <a:lnTo>
                    <a:pt x="2107376" y="1474795"/>
                  </a:lnTo>
                  <a:lnTo>
                    <a:pt x="2153679" y="1460430"/>
                  </a:lnTo>
                  <a:lnTo>
                    <a:pt x="2195575" y="1437698"/>
                  </a:lnTo>
                  <a:lnTo>
                    <a:pt x="2232072" y="1407588"/>
                  </a:lnTo>
                  <a:lnTo>
                    <a:pt x="2262182" y="1371091"/>
                  </a:lnTo>
                  <a:lnTo>
                    <a:pt x="2284914" y="1329195"/>
                  </a:lnTo>
                  <a:lnTo>
                    <a:pt x="2299279" y="1282892"/>
                  </a:lnTo>
                  <a:lnTo>
                    <a:pt x="2304288" y="1233170"/>
                  </a:lnTo>
                  <a:lnTo>
                    <a:pt x="2304288" y="246634"/>
                  </a:lnTo>
                  <a:lnTo>
                    <a:pt x="2299279" y="196911"/>
                  </a:lnTo>
                  <a:lnTo>
                    <a:pt x="2284914" y="150608"/>
                  </a:lnTo>
                  <a:lnTo>
                    <a:pt x="2262182" y="108712"/>
                  </a:lnTo>
                  <a:lnTo>
                    <a:pt x="2232072" y="72215"/>
                  </a:lnTo>
                  <a:lnTo>
                    <a:pt x="2195575" y="42105"/>
                  </a:lnTo>
                  <a:lnTo>
                    <a:pt x="2153679" y="19373"/>
                  </a:lnTo>
                  <a:lnTo>
                    <a:pt x="2107376" y="5008"/>
                  </a:lnTo>
                  <a:lnTo>
                    <a:pt x="20576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29350" y="1619249"/>
              <a:ext cx="2304415" cy="1745614"/>
            </a:xfrm>
            <a:custGeom>
              <a:avLst/>
              <a:gdLst/>
              <a:ahLst/>
              <a:cxnLst/>
              <a:rect l="l" t="t" r="r" b="b"/>
              <a:pathLst>
                <a:path w="2304415" h="1745614">
                  <a:moveTo>
                    <a:pt x="0" y="246634"/>
                  </a:moveTo>
                  <a:lnTo>
                    <a:pt x="5008" y="196911"/>
                  </a:lnTo>
                  <a:lnTo>
                    <a:pt x="19373" y="150608"/>
                  </a:lnTo>
                  <a:lnTo>
                    <a:pt x="42105" y="108712"/>
                  </a:lnTo>
                  <a:lnTo>
                    <a:pt x="72215" y="72215"/>
                  </a:lnTo>
                  <a:lnTo>
                    <a:pt x="108712" y="42105"/>
                  </a:lnTo>
                  <a:lnTo>
                    <a:pt x="150608" y="19373"/>
                  </a:lnTo>
                  <a:lnTo>
                    <a:pt x="196911" y="5008"/>
                  </a:lnTo>
                  <a:lnTo>
                    <a:pt x="246634" y="0"/>
                  </a:lnTo>
                  <a:lnTo>
                    <a:pt x="1344168" y="0"/>
                  </a:lnTo>
                  <a:lnTo>
                    <a:pt x="1920240" y="0"/>
                  </a:lnTo>
                  <a:lnTo>
                    <a:pt x="2057653" y="0"/>
                  </a:lnTo>
                  <a:lnTo>
                    <a:pt x="2107376" y="5008"/>
                  </a:lnTo>
                  <a:lnTo>
                    <a:pt x="2153679" y="19373"/>
                  </a:lnTo>
                  <a:lnTo>
                    <a:pt x="2195575" y="42105"/>
                  </a:lnTo>
                  <a:lnTo>
                    <a:pt x="2232072" y="72215"/>
                  </a:lnTo>
                  <a:lnTo>
                    <a:pt x="2262182" y="108712"/>
                  </a:lnTo>
                  <a:lnTo>
                    <a:pt x="2284914" y="150608"/>
                  </a:lnTo>
                  <a:lnTo>
                    <a:pt x="2299279" y="196911"/>
                  </a:lnTo>
                  <a:lnTo>
                    <a:pt x="2304288" y="246634"/>
                  </a:lnTo>
                  <a:lnTo>
                    <a:pt x="2304288" y="863219"/>
                  </a:lnTo>
                  <a:lnTo>
                    <a:pt x="2304288" y="1233170"/>
                  </a:lnTo>
                  <a:lnTo>
                    <a:pt x="2299279" y="1282892"/>
                  </a:lnTo>
                  <a:lnTo>
                    <a:pt x="2284914" y="1329195"/>
                  </a:lnTo>
                  <a:lnTo>
                    <a:pt x="2262182" y="1371091"/>
                  </a:lnTo>
                  <a:lnTo>
                    <a:pt x="2232072" y="1407588"/>
                  </a:lnTo>
                  <a:lnTo>
                    <a:pt x="2195575" y="1437698"/>
                  </a:lnTo>
                  <a:lnTo>
                    <a:pt x="2153679" y="1460430"/>
                  </a:lnTo>
                  <a:lnTo>
                    <a:pt x="2107376" y="1474795"/>
                  </a:lnTo>
                  <a:lnTo>
                    <a:pt x="2057653" y="1479803"/>
                  </a:lnTo>
                  <a:lnTo>
                    <a:pt x="1920240" y="1479803"/>
                  </a:lnTo>
                  <a:lnTo>
                    <a:pt x="1507744" y="1745361"/>
                  </a:lnTo>
                  <a:lnTo>
                    <a:pt x="1344168" y="1479803"/>
                  </a:lnTo>
                  <a:lnTo>
                    <a:pt x="246634" y="1479803"/>
                  </a:lnTo>
                  <a:lnTo>
                    <a:pt x="196911" y="1474795"/>
                  </a:lnTo>
                  <a:lnTo>
                    <a:pt x="150608" y="1460430"/>
                  </a:lnTo>
                  <a:lnTo>
                    <a:pt x="108712" y="1437698"/>
                  </a:lnTo>
                  <a:lnTo>
                    <a:pt x="72215" y="1407588"/>
                  </a:lnTo>
                  <a:lnTo>
                    <a:pt x="42105" y="1371091"/>
                  </a:lnTo>
                  <a:lnTo>
                    <a:pt x="19373" y="1329195"/>
                  </a:lnTo>
                  <a:lnTo>
                    <a:pt x="5008" y="1282892"/>
                  </a:lnTo>
                  <a:lnTo>
                    <a:pt x="0" y="1233170"/>
                  </a:lnTo>
                  <a:lnTo>
                    <a:pt x="0" y="863219"/>
                  </a:lnTo>
                  <a:lnTo>
                    <a:pt x="0" y="246634"/>
                  </a:lnTo>
                  <a:close/>
                </a:path>
              </a:pathLst>
            </a:custGeom>
            <a:ln w="25907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36867" y="1728977"/>
            <a:ext cx="18859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3175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Regularizer  </a:t>
            </a:r>
            <a:r>
              <a:rPr sz="2000" spc="-5" dirty="0">
                <a:latin typeface="Segoe UI"/>
                <a:cs typeface="Segoe UI"/>
              </a:rPr>
              <a:t>prefers solutions  </a:t>
            </a:r>
            <a:r>
              <a:rPr sz="2000" dirty="0">
                <a:latin typeface="Segoe UI"/>
                <a:cs typeface="Segoe UI"/>
              </a:rPr>
              <a:t>that </a:t>
            </a:r>
            <a:r>
              <a:rPr sz="2000" spc="-5" dirty="0">
                <a:latin typeface="Segoe UI"/>
                <a:cs typeface="Segoe UI"/>
              </a:rPr>
              <a:t>generalize  well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5008" y="1732788"/>
            <a:ext cx="1897380" cy="1713230"/>
            <a:chOff x="445008" y="1732788"/>
            <a:chExt cx="1897380" cy="1713230"/>
          </a:xfrm>
        </p:grpSpPr>
        <p:sp>
          <p:nvSpPr>
            <p:cNvPr id="15" name="object 15"/>
            <p:cNvSpPr/>
            <p:nvPr/>
          </p:nvSpPr>
          <p:spPr>
            <a:xfrm>
              <a:off x="457962" y="1745742"/>
              <a:ext cx="1871980" cy="1687830"/>
            </a:xfrm>
            <a:custGeom>
              <a:avLst/>
              <a:gdLst/>
              <a:ahLst/>
              <a:cxnLst/>
              <a:rect l="l" t="t" r="r" b="b"/>
              <a:pathLst>
                <a:path w="1871980" h="1687829">
                  <a:moveTo>
                    <a:pt x="1559560" y="1283208"/>
                  </a:moveTo>
                  <a:lnTo>
                    <a:pt x="1091692" y="1283208"/>
                  </a:lnTo>
                  <a:lnTo>
                    <a:pt x="1090168" y="1687322"/>
                  </a:lnTo>
                  <a:lnTo>
                    <a:pt x="1559560" y="1283208"/>
                  </a:lnTo>
                  <a:close/>
                </a:path>
                <a:path w="1871980" h="1687829">
                  <a:moveTo>
                    <a:pt x="1657604" y="0"/>
                  </a:moveTo>
                  <a:lnTo>
                    <a:pt x="213867" y="0"/>
                  </a:lnTo>
                  <a:lnTo>
                    <a:pt x="164831" y="5648"/>
                  </a:lnTo>
                  <a:lnTo>
                    <a:pt x="119816" y="21738"/>
                  </a:lnTo>
                  <a:lnTo>
                    <a:pt x="80107" y="46986"/>
                  </a:lnTo>
                  <a:lnTo>
                    <a:pt x="46986" y="80107"/>
                  </a:lnTo>
                  <a:lnTo>
                    <a:pt x="21738" y="119816"/>
                  </a:lnTo>
                  <a:lnTo>
                    <a:pt x="5648" y="164831"/>
                  </a:lnTo>
                  <a:lnTo>
                    <a:pt x="0" y="213868"/>
                  </a:lnTo>
                  <a:lnTo>
                    <a:pt x="0" y="1069340"/>
                  </a:lnTo>
                  <a:lnTo>
                    <a:pt x="5648" y="1118376"/>
                  </a:lnTo>
                  <a:lnTo>
                    <a:pt x="21738" y="1163391"/>
                  </a:lnTo>
                  <a:lnTo>
                    <a:pt x="46986" y="1203100"/>
                  </a:lnTo>
                  <a:lnTo>
                    <a:pt x="80107" y="1236221"/>
                  </a:lnTo>
                  <a:lnTo>
                    <a:pt x="119816" y="1261469"/>
                  </a:lnTo>
                  <a:lnTo>
                    <a:pt x="164831" y="1277559"/>
                  </a:lnTo>
                  <a:lnTo>
                    <a:pt x="213867" y="1283208"/>
                  </a:lnTo>
                  <a:lnTo>
                    <a:pt x="1657604" y="1283208"/>
                  </a:lnTo>
                  <a:lnTo>
                    <a:pt x="1706640" y="1277559"/>
                  </a:lnTo>
                  <a:lnTo>
                    <a:pt x="1751655" y="1261469"/>
                  </a:lnTo>
                  <a:lnTo>
                    <a:pt x="1791364" y="1236221"/>
                  </a:lnTo>
                  <a:lnTo>
                    <a:pt x="1824485" y="1203100"/>
                  </a:lnTo>
                  <a:lnTo>
                    <a:pt x="1849733" y="1163391"/>
                  </a:lnTo>
                  <a:lnTo>
                    <a:pt x="1865823" y="1118376"/>
                  </a:lnTo>
                  <a:lnTo>
                    <a:pt x="1871471" y="1069340"/>
                  </a:lnTo>
                  <a:lnTo>
                    <a:pt x="1871471" y="213868"/>
                  </a:lnTo>
                  <a:lnTo>
                    <a:pt x="1865823" y="164831"/>
                  </a:lnTo>
                  <a:lnTo>
                    <a:pt x="1849733" y="119816"/>
                  </a:lnTo>
                  <a:lnTo>
                    <a:pt x="1824485" y="80107"/>
                  </a:lnTo>
                  <a:lnTo>
                    <a:pt x="1791364" y="46986"/>
                  </a:lnTo>
                  <a:lnTo>
                    <a:pt x="1751655" y="21738"/>
                  </a:lnTo>
                  <a:lnTo>
                    <a:pt x="1706640" y="5648"/>
                  </a:lnTo>
                  <a:lnTo>
                    <a:pt x="1657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962" y="1745742"/>
              <a:ext cx="1871980" cy="1687830"/>
            </a:xfrm>
            <a:custGeom>
              <a:avLst/>
              <a:gdLst/>
              <a:ahLst/>
              <a:cxnLst/>
              <a:rect l="l" t="t" r="r" b="b"/>
              <a:pathLst>
                <a:path w="1871980" h="1687829">
                  <a:moveTo>
                    <a:pt x="0" y="213868"/>
                  </a:moveTo>
                  <a:lnTo>
                    <a:pt x="5648" y="164831"/>
                  </a:lnTo>
                  <a:lnTo>
                    <a:pt x="21738" y="119816"/>
                  </a:lnTo>
                  <a:lnTo>
                    <a:pt x="46986" y="80107"/>
                  </a:lnTo>
                  <a:lnTo>
                    <a:pt x="80107" y="46986"/>
                  </a:lnTo>
                  <a:lnTo>
                    <a:pt x="119816" y="21738"/>
                  </a:lnTo>
                  <a:lnTo>
                    <a:pt x="164831" y="5648"/>
                  </a:lnTo>
                  <a:lnTo>
                    <a:pt x="213867" y="0"/>
                  </a:lnTo>
                  <a:lnTo>
                    <a:pt x="1091692" y="0"/>
                  </a:lnTo>
                  <a:lnTo>
                    <a:pt x="1559560" y="0"/>
                  </a:lnTo>
                  <a:lnTo>
                    <a:pt x="1657604" y="0"/>
                  </a:lnTo>
                  <a:lnTo>
                    <a:pt x="1706640" y="5648"/>
                  </a:lnTo>
                  <a:lnTo>
                    <a:pt x="1751655" y="21738"/>
                  </a:lnTo>
                  <a:lnTo>
                    <a:pt x="1791364" y="46986"/>
                  </a:lnTo>
                  <a:lnTo>
                    <a:pt x="1824485" y="80107"/>
                  </a:lnTo>
                  <a:lnTo>
                    <a:pt x="1849733" y="119816"/>
                  </a:lnTo>
                  <a:lnTo>
                    <a:pt x="1865823" y="164831"/>
                  </a:lnTo>
                  <a:lnTo>
                    <a:pt x="1871471" y="213868"/>
                  </a:lnTo>
                  <a:lnTo>
                    <a:pt x="1871471" y="748538"/>
                  </a:lnTo>
                  <a:lnTo>
                    <a:pt x="1871471" y="1069340"/>
                  </a:lnTo>
                  <a:lnTo>
                    <a:pt x="1865823" y="1118376"/>
                  </a:lnTo>
                  <a:lnTo>
                    <a:pt x="1849733" y="1163391"/>
                  </a:lnTo>
                  <a:lnTo>
                    <a:pt x="1824485" y="1203100"/>
                  </a:lnTo>
                  <a:lnTo>
                    <a:pt x="1791364" y="1236221"/>
                  </a:lnTo>
                  <a:lnTo>
                    <a:pt x="1751655" y="1261469"/>
                  </a:lnTo>
                  <a:lnTo>
                    <a:pt x="1706640" y="1277559"/>
                  </a:lnTo>
                  <a:lnTo>
                    <a:pt x="1657604" y="1283208"/>
                  </a:lnTo>
                  <a:lnTo>
                    <a:pt x="1559560" y="1283208"/>
                  </a:lnTo>
                  <a:lnTo>
                    <a:pt x="1090168" y="1687322"/>
                  </a:lnTo>
                  <a:lnTo>
                    <a:pt x="1091692" y="1283208"/>
                  </a:lnTo>
                  <a:lnTo>
                    <a:pt x="213867" y="1283208"/>
                  </a:lnTo>
                  <a:lnTo>
                    <a:pt x="164831" y="1277559"/>
                  </a:lnTo>
                  <a:lnTo>
                    <a:pt x="119816" y="1261469"/>
                  </a:lnTo>
                  <a:lnTo>
                    <a:pt x="80107" y="1236221"/>
                  </a:lnTo>
                  <a:lnTo>
                    <a:pt x="46986" y="1203100"/>
                  </a:lnTo>
                  <a:lnTo>
                    <a:pt x="21738" y="1163391"/>
                  </a:lnTo>
                  <a:lnTo>
                    <a:pt x="5648" y="1118376"/>
                  </a:lnTo>
                  <a:lnTo>
                    <a:pt x="0" y="1069340"/>
                  </a:lnTo>
                  <a:lnTo>
                    <a:pt x="0" y="748538"/>
                  </a:lnTo>
                  <a:lnTo>
                    <a:pt x="0" y="21386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6965" y="2062099"/>
            <a:ext cx="11518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Segoe UI"/>
                <a:cs typeface="Segoe UI"/>
              </a:rPr>
              <a:t>O</a:t>
            </a:r>
            <a:r>
              <a:rPr sz="2000" b="1" spc="5" dirty="0">
                <a:latin typeface="Segoe UI"/>
                <a:cs typeface="Segoe UI"/>
              </a:rPr>
              <a:t>b</a:t>
            </a:r>
            <a:r>
              <a:rPr sz="2000" b="1" spc="-5" dirty="0">
                <a:latin typeface="Segoe UI"/>
                <a:cs typeface="Segoe UI"/>
              </a:rPr>
              <a:t>j</a:t>
            </a:r>
            <a:r>
              <a:rPr sz="2000" b="1" spc="-15" dirty="0">
                <a:latin typeface="Segoe UI"/>
                <a:cs typeface="Segoe UI"/>
              </a:rPr>
              <a:t>e</a:t>
            </a:r>
            <a:r>
              <a:rPr sz="2000" b="1" dirty="0">
                <a:latin typeface="Segoe UI"/>
                <a:cs typeface="Segoe UI"/>
              </a:rPr>
              <a:t>ct</a:t>
            </a:r>
            <a:r>
              <a:rPr sz="2000" b="1" spc="-10" dirty="0">
                <a:latin typeface="Segoe UI"/>
                <a:cs typeface="Segoe UI"/>
              </a:rPr>
              <a:t>i</a:t>
            </a:r>
            <a:r>
              <a:rPr sz="2000" b="1" spc="-20" dirty="0">
                <a:latin typeface="Segoe UI"/>
                <a:cs typeface="Segoe UI"/>
              </a:rPr>
              <a:t>v</a:t>
            </a:r>
            <a:r>
              <a:rPr sz="2000" b="1" dirty="0">
                <a:latin typeface="Segoe UI"/>
                <a:cs typeface="Segoe UI"/>
              </a:rPr>
              <a:t>e  </a:t>
            </a:r>
            <a:r>
              <a:rPr sz="2000" b="1" spc="-5" dirty="0">
                <a:latin typeface="Segoe UI"/>
                <a:cs typeface="Segoe UI"/>
              </a:rPr>
              <a:t>function</a:t>
            </a:r>
            <a:endParaRPr sz="20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67853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1497" y="483234"/>
            <a:ext cx="50018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Recap: Linear</a:t>
            </a:r>
            <a:r>
              <a:rPr spc="-70" dirty="0"/>
              <a:t> </a:t>
            </a:r>
            <a:r>
              <a:rPr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5182"/>
            <a:ext cx="8013065" cy="489204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General framework for </a:t>
            </a:r>
            <a:r>
              <a:rPr sz="3200" spc="25" dirty="0">
                <a:latin typeface="Segoe UI"/>
                <a:cs typeface="Segoe UI"/>
              </a:rPr>
              <a:t>binary</a:t>
            </a:r>
            <a:r>
              <a:rPr sz="3200" spc="-114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classification</a:t>
            </a:r>
            <a:endParaRPr sz="32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Cast </a:t>
            </a:r>
            <a:r>
              <a:rPr sz="3200" dirty="0">
                <a:latin typeface="Segoe UI"/>
                <a:cs typeface="Segoe UI"/>
              </a:rPr>
              <a:t>learning as optimization</a:t>
            </a:r>
            <a:r>
              <a:rPr sz="3200" spc="-1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problem</a:t>
            </a:r>
            <a:endParaRPr sz="32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Optimization objective combines 2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terms</a:t>
            </a:r>
            <a:endParaRPr sz="3200">
              <a:latin typeface="Segoe UI"/>
              <a:cs typeface="Segoe UI"/>
            </a:endParaRPr>
          </a:p>
          <a:p>
            <a:pPr marL="756285" marR="14732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loss function: measures how </a:t>
            </a:r>
            <a:r>
              <a:rPr sz="2800" spc="-10" dirty="0">
                <a:latin typeface="Segoe UI"/>
                <a:cs typeface="Segoe UI"/>
              </a:rPr>
              <a:t>well </a:t>
            </a:r>
            <a:r>
              <a:rPr sz="2800" spc="-5" dirty="0">
                <a:latin typeface="Segoe UI"/>
                <a:cs typeface="Segoe UI"/>
              </a:rPr>
              <a:t>classifier fits  training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data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Regularizer: </a:t>
            </a:r>
            <a:r>
              <a:rPr sz="2800" spc="-10" dirty="0">
                <a:latin typeface="Segoe UI"/>
                <a:cs typeface="Segoe UI"/>
              </a:rPr>
              <a:t>measures </a:t>
            </a:r>
            <a:r>
              <a:rPr sz="2800" spc="-5" dirty="0">
                <a:latin typeface="Segoe UI"/>
                <a:cs typeface="Segoe UI"/>
              </a:rPr>
              <a:t>how </a:t>
            </a:r>
            <a:r>
              <a:rPr sz="2800" spc="-10" dirty="0">
                <a:latin typeface="Segoe UI"/>
                <a:cs typeface="Segoe UI"/>
              </a:rPr>
              <a:t>simple </a:t>
            </a:r>
            <a:r>
              <a:rPr sz="2800" spc="-5" dirty="0">
                <a:latin typeface="Segoe UI"/>
                <a:cs typeface="Segoe UI"/>
              </a:rPr>
              <a:t>classifier</a:t>
            </a:r>
            <a:r>
              <a:rPr sz="2800" spc="85" dirty="0">
                <a:latin typeface="Segoe UI"/>
                <a:cs typeface="Segoe UI"/>
              </a:rPr>
              <a:t> </a:t>
            </a:r>
            <a:r>
              <a:rPr sz="2800" spc="-15" dirty="0">
                <a:latin typeface="Segoe UI"/>
                <a:cs typeface="Segoe UI"/>
              </a:rPr>
              <a:t>is</a:t>
            </a:r>
            <a:endParaRPr sz="28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Does </a:t>
            </a:r>
            <a:r>
              <a:rPr sz="3200" dirty="0">
                <a:latin typeface="Segoe UI"/>
                <a:cs typeface="Segoe UI"/>
              </a:rPr>
              <a:t>not assume data </a:t>
            </a:r>
            <a:r>
              <a:rPr sz="3200" spc="-5" dirty="0">
                <a:latin typeface="Segoe UI"/>
                <a:cs typeface="Segoe UI"/>
              </a:rPr>
              <a:t>is </a:t>
            </a:r>
            <a:r>
              <a:rPr sz="3200" dirty="0">
                <a:latin typeface="Segoe UI"/>
                <a:cs typeface="Segoe UI"/>
              </a:rPr>
              <a:t>linearly</a:t>
            </a:r>
            <a:r>
              <a:rPr sz="3200" spc="-6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separable</a:t>
            </a:r>
            <a:endParaRPr sz="3200">
              <a:latin typeface="Segoe UI"/>
              <a:cs typeface="Segoe UI"/>
            </a:endParaRPr>
          </a:p>
          <a:p>
            <a:pPr marL="355600" marR="70929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Lets us </a:t>
            </a:r>
            <a:r>
              <a:rPr sz="3200" spc="-10" dirty="0">
                <a:latin typeface="Segoe UI"/>
                <a:cs typeface="Segoe UI"/>
              </a:rPr>
              <a:t>separate </a:t>
            </a:r>
            <a:r>
              <a:rPr sz="3200" spc="-5" dirty="0">
                <a:latin typeface="Segoe UI"/>
                <a:cs typeface="Segoe UI"/>
              </a:rPr>
              <a:t>model </a:t>
            </a:r>
            <a:r>
              <a:rPr sz="3200" dirty="0">
                <a:latin typeface="Segoe UI"/>
                <a:cs typeface="Segoe UI"/>
              </a:rPr>
              <a:t>definition </a:t>
            </a:r>
            <a:r>
              <a:rPr sz="3200" spc="-10" dirty="0">
                <a:latin typeface="Segoe UI"/>
                <a:cs typeface="Segoe UI"/>
              </a:rPr>
              <a:t>from  </a:t>
            </a:r>
            <a:r>
              <a:rPr sz="3200" dirty="0">
                <a:latin typeface="Segoe UI"/>
                <a:cs typeface="Segoe UI"/>
              </a:rPr>
              <a:t>training algorithm </a:t>
            </a:r>
            <a:r>
              <a:rPr sz="3200" b="1" spc="-5" dirty="0">
                <a:latin typeface="Segoe UI"/>
                <a:cs typeface="Segoe UI"/>
              </a:rPr>
              <a:t>(Gradient</a:t>
            </a:r>
            <a:r>
              <a:rPr sz="3200" b="1" spc="-55" dirty="0">
                <a:latin typeface="Segoe UI"/>
                <a:cs typeface="Segoe UI"/>
              </a:rPr>
              <a:t> </a:t>
            </a:r>
            <a:r>
              <a:rPr sz="3200" b="1" spc="-5" dirty="0">
                <a:latin typeface="Segoe UI"/>
                <a:cs typeface="Segoe UI"/>
              </a:rPr>
              <a:t>Descent)</a:t>
            </a:r>
            <a:endParaRPr sz="32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68265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4417" y="483234"/>
            <a:ext cx="399605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</a:t>
            </a:r>
            <a:r>
              <a:rPr spc="-85" dirty="0"/>
              <a:t> </a:t>
            </a:r>
            <a:r>
              <a:rPr spc="-5" dirty="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88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A general solution </a:t>
            </a:r>
            <a:r>
              <a:rPr sz="2800" dirty="0">
                <a:latin typeface="Segoe UI"/>
                <a:cs typeface="Segoe UI"/>
              </a:rPr>
              <a:t>for </a:t>
            </a:r>
            <a:r>
              <a:rPr sz="2800" spc="-5" dirty="0">
                <a:latin typeface="Segoe UI"/>
                <a:cs typeface="Segoe UI"/>
              </a:rPr>
              <a:t>our optimization</a:t>
            </a:r>
            <a:r>
              <a:rPr sz="2800" spc="-2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problem</a:t>
            </a:r>
            <a:endParaRPr sz="2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247769"/>
            <a:ext cx="83597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Segoe UI"/>
                <a:cs typeface="Segoe UI"/>
              </a:rPr>
              <a:t>Idea: </a:t>
            </a:r>
            <a:r>
              <a:rPr sz="2400" spc="-15" dirty="0">
                <a:latin typeface="Segoe UI"/>
                <a:cs typeface="Segoe UI"/>
              </a:rPr>
              <a:t>take </a:t>
            </a:r>
            <a:r>
              <a:rPr sz="2400" spc="-5" dirty="0">
                <a:latin typeface="Segoe UI"/>
                <a:cs typeface="Segoe UI"/>
              </a:rPr>
              <a:t>iterative steps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spc="-5" dirty="0">
                <a:latin typeface="Segoe UI"/>
                <a:cs typeface="Segoe UI"/>
              </a:rPr>
              <a:t>update parameters in </a:t>
            </a: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5" dirty="0">
                <a:latin typeface="Segoe UI"/>
                <a:cs typeface="Segoe UI"/>
              </a:rPr>
              <a:t>direction 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the</a:t>
            </a:r>
            <a:r>
              <a:rPr sz="2400" spc="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gradient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372" y="2155027"/>
            <a:ext cx="7569109" cy="9484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8077" y="483234"/>
            <a:ext cx="63881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 </a:t>
            </a:r>
            <a:r>
              <a:rPr spc="-5" dirty="0"/>
              <a:t>descent</a:t>
            </a:r>
            <a:r>
              <a:rPr spc="-90" dirty="0"/>
              <a:t> </a:t>
            </a:r>
            <a:r>
              <a:rPr spc="-5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3511" y="1616900"/>
            <a:ext cx="7832725" cy="3366770"/>
            <a:chOff x="603511" y="1616900"/>
            <a:chExt cx="7832725" cy="33667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511" y="2738874"/>
              <a:ext cx="7832239" cy="22443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73074" y="1629918"/>
              <a:ext cx="3612515" cy="1102995"/>
            </a:xfrm>
            <a:custGeom>
              <a:avLst/>
              <a:gdLst/>
              <a:ahLst/>
              <a:cxnLst/>
              <a:rect l="l" t="t" r="r" b="b"/>
              <a:pathLst>
                <a:path w="3612515" h="1102995">
                  <a:moveTo>
                    <a:pt x="1979930" y="693420"/>
                  </a:moveTo>
                  <a:lnTo>
                    <a:pt x="1385951" y="693420"/>
                  </a:lnTo>
                  <a:lnTo>
                    <a:pt x="3612134" y="1102741"/>
                  </a:lnTo>
                  <a:lnTo>
                    <a:pt x="1979930" y="693420"/>
                  </a:lnTo>
                  <a:close/>
                </a:path>
                <a:path w="3612515" h="1102995">
                  <a:moveTo>
                    <a:pt x="2260346" y="0"/>
                  </a:moveTo>
                  <a:lnTo>
                    <a:pt x="115569" y="0"/>
                  </a:lnTo>
                  <a:lnTo>
                    <a:pt x="70583" y="9074"/>
                  </a:lnTo>
                  <a:lnTo>
                    <a:pt x="33848" y="33829"/>
                  </a:lnTo>
                  <a:lnTo>
                    <a:pt x="9081" y="70562"/>
                  </a:lnTo>
                  <a:lnTo>
                    <a:pt x="0" y="115570"/>
                  </a:lnTo>
                  <a:lnTo>
                    <a:pt x="0" y="577850"/>
                  </a:lnTo>
                  <a:lnTo>
                    <a:pt x="9081" y="622857"/>
                  </a:lnTo>
                  <a:lnTo>
                    <a:pt x="33848" y="659590"/>
                  </a:lnTo>
                  <a:lnTo>
                    <a:pt x="70583" y="684345"/>
                  </a:lnTo>
                  <a:lnTo>
                    <a:pt x="115569" y="693420"/>
                  </a:lnTo>
                  <a:lnTo>
                    <a:pt x="2260346" y="693420"/>
                  </a:lnTo>
                  <a:lnTo>
                    <a:pt x="2305353" y="684345"/>
                  </a:lnTo>
                  <a:lnTo>
                    <a:pt x="2342086" y="659590"/>
                  </a:lnTo>
                  <a:lnTo>
                    <a:pt x="2366841" y="622857"/>
                  </a:lnTo>
                  <a:lnTo>
                    <a:pt x="2375916" y="577850"/>
                  </a:lnTo>
                  <a:lnTo>
                    <a:pt x="2375916" y="115570"/>
                  </a:lnTo>
                  <a:lnTo>
                    <a:pt x="2366841" y="70562"/>
                  </a:lnTo>
                  <a:lnTo>
                    <a:pt x="2342086" y="33829"/>
                  </a:lnTo>
                  <a:lnTo>
                    <a:pt x="2305353" y="9074"/>
                  </a:lnTo>
                  <a:lnTo>
                    <a:pt x="22603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3074" y="1629918"/>
              <a:ext cx="3612515" cy="1102995"/>
            </a:xfrm>
            <a:custGeom>
              <a:avLst/>
              <a:gdLst/>
              <a:ahLst/>
              <a:cxnLst/>
              <a:rect l="l" t="t" r="r" b="b"/>
              <a:pathLst>
                <a:path w="3612515" h="1102995">
                  <a:moveTo>
                    <a:pt x="0" y="115570"/>
                  </a:moveTo>
                  <a:lnTo>
                    <a:pt x="9081" y="70562"/>
                  </a:lnTo>
                  <a:lnTo>
                    <a:pt x="33848" y="33829"/>
                  </a:lnTo>
                  <a:lnTo>
                    <a:pt x="70583" y="9074"/>
                  </a:lnTo>
                  <a:lnTo>
                    <a:pt x="115569" y="0"/>
                  </a:lnTo>
                  <a:lnTo>
                    <a:pt x="1385951" y="0"/>
                  </a:lnTo>
                  <a:lnTo>
                    <a:pt x="1979930" y="0"/>
                  </a:lnTo>
                  <a:lnTo>
                    <a:pt x="2260346" y="0"/>
                  </a:lnTo>
                  <a:lnTo>
                    <a:pt x="2305353" y="9074"/>
                  </a:lnTo>
                  <a:lnTo>
                    <a:pt x="2342086" y="33829"/>
                  </a:lnTo>
                  <a:lnTo>
                    <a:pt x="2366841" y="70562"/>
                  </a:lnTo>
                  <a:lnTo>
                    <a:pt x="2375916" y="115570"/>
                  </a:lnTo>
                  <a:lnTo>
                    <a:pt x="2375916" y="404495"/>
                  </a:lnTo>
                  <a:lnTo>
                    <a:pt x="2375916" y="577850"/>
                  </a:lnTo>
                  <a:lnTo>
                    <a:pt x="2366841" y="622857"/>
                  </a:lnTo>
                  <a:lnTo>
                    <a:pt x="2342086" y="659590"/>
                  </a:lnTo>
                  <a:lnTo>
                    <a:pt x="2305353" y="684345"/>
                  </a:lnTo>
                  <a:lnTo>
                    <a:pt x="2260346" y="693420"/>
                  </a:lnTo>
                  <a:lnTo>
                    <a:pt x="1979930" y="693420"/>
                  </a:lnTo>
                  <a:lnTo>
                    <a:pt x="3612134" y="1102741"/>
                  </a:lnTo>
                  <a:lnTo>
                    <a:pt x="1385951" y="693420"/>
                  </a:lnTo>
                  <a:lnTo>
                    <a:pt x="115569" y="693420"/>
                  </a:lnTo>
                  <a:lnTo>
                    <a:pt x="70583" y="684345"/>
                  </a:lnTo>
                  <a:lnTo>
                    <a:pt x="33848" y="659590"/>
                  </a:lnTo>
                  <a:lnTo>
                    <a:pt x="9081" y="622857"/>
                  </a:lnTo>
                  <a:lnTo>
                    <a:pt x="0" y="577850"/>
                  </a:lnTo>
                  <a:lnTo>
                    <a:pt x="0" y="404495"/>
                  </a:lnTo>
                  <a:lnTo>
                    <a:pt x="0" y="115570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93367" y="1673478"/>
            <a:ext cx="17329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marR="5080" indent="-3098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Objective </a:t>
            </a:r>
            <a:r>
              <a:rPr sz="1800" spc="-5" dirty="0">
                <a:latin typeface="Calibri"/>
                <a:cs typeface="Calibri"/>
              </a:rPr>
              <a:t>function 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minimize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71708" y="1715960"/>
            <a:ext cx="1898014" cy="1074420"/>
            <a:chOff x="4271708" y="1715960"/>
            <a:chExt cx="1898014" cy="1074420"/>
          </a:xfrm>
        </p:grpSpPr>
        <p:sp>
          <p:nvSpPr>
            <p:cNvPr id="9" name="object 9"/>
            <p:cNvSpPr/>
            <p:nvPr/>
          </p:nvSpPr>
          <p:spPr>
            <a:xfrm>
              <a:off x="4284726" y="1728978"/>
              <a:ext cx="1871980" cy="1048385"/>
            </a:xfrm>
            <a:custGeom>
              <a:avLst/>
              <a:gdLst/>
              <a:ahLst/>
              <a:cxnLst/>
              <a:rect l="l" t="t" r="r" b="b"/>
              <a:pathLst>
                <a:path w="1871979" h="1048385">
                  <a:moveTo>
                    <a:pt x="779779" y="464820"/>
                  </a:moveTo>
                  <a:lnTo>
                    <a:pt x="311912" y="464820"/>
                  </a:lnTo>
                  <a:lnTo>
                    <a:pt x="607822" y="1048385"/>
                  </a:lnTo>
                  <a:lnTo>
                    <a:pt x="779779" y="464820"/>
                  </a:lnTo>
                  <a:close/>
                </a:path>
                <a:path w="1871979" h="1048385">
                  <a:moveTo>
                    <a:pt x="1794002" y="0"/>
                  </a:moveTo>
                  <a:lnTo>
                    <a:pt x="77470" y="0"/>
                  </a:lnTo>
                  <a:lnTo>
                    <a:pt x="47309" y="6086"/>
                  </a:lnTo>
                  <a:lnTo>
                    <a:pt x="22685" y="22685"/>
                  </a:lnTo>
                  <a:lnTo>
                    <a:pt x="6086" y="47309"/>
                  </a:lnTo>
                  <a:lnTo>
                    <a:pt x="0" y="77470"/>
                  </a:lnTo>
                  <a:lnTo>
                    <a:pt x="0" y="387350"/>
                  </a:lnTo>
                  <a:lnTo>
                    <a:pt x="6086" y="417510"/>
                  </a:lnTo>
                  <a:lnTo>
                    <a:pt x="22685" y="442134"/>
                  </a:lnTo>
                  <a:lnTo>
                    <a:pt x="47309" y="458733"/>
                  </a:lnTo>
                  <a:lnTo>
                    <a:pt x="77470" y="464820"/>
                  </a:lnTo>
                  <a:lnTo>
                    <a:pt x="1794002" y="464820"/>
                  </a:lnTo>
                  <a:lnTo>
                    <a:pt x="1824162" y="458733"/>
                  </a:lnTo>
                  <a:lnTo>
                    <a:pt x="1848786" y="442134"/>
                  </a:lnTo>
                  <a:lnTo>
                    <a:pt x="1865385" y="417510"/>
                  </a:lnTo>
                  <a:lnTo>
                    <a:pt x="1871472" y="387350"/>
                  </a:lnTo>
                  <a:lnTo>
                    <a:pt x="1871472" y="77470"/>
                  </a:lnTo>
                  <a:lnTo>
                    <a:pt x="1865385" y="47309"/>
                  </a:lnTo>
                  <a:lnTo>
                    <a:pt x="1848786" y="22685"/>
                  </a:lnTo>
                  <a:lnTo>
                    <a:pt x="1824162" y="6086"/>
                  </a:lnTo>
                  <a:lnTo>
                    <a:pt x="1794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84726" y="1728978"/>
              <a:ext cx="1871980" cy="1048385"/>
            </a:xfrm>
            <a:custGeom>
              <a:avLst/>
              <a:gdLst/>
              <a:ahLst/>
              <a:cxnLst/>
              <a:rect l="l" t="t" r="r" b="b"/>
              <a:pathLst>
                <a:path w="1871979" h="1048385">
                  <a:moveTo>
                    <a:pt x="0" y="77470"/>
                  </a:moveTo>
                  <a:lnTo>
                    <a:pt x="6086" y="47309"/>
                  </a:lnTo>
                  <a:lnTo>
                    <a:pt x="22685" y="22685"/>
                  </a:lnTo>
                  <a:lnTo>
                    <a:pt x="47309" y="6086"/>
                  </a:lnTo>
                  <a:lnTo>
                    <a:pt x="77470" y="0"/>
                  </a:lnTo>
                  <a:lnTo>
                    <a:pt x="311912" y="0"/>
                  </a:lnTo>
                  <a:lnTo>
                    <a:pt x="779779" y="0"/>
                  </a:lnTo>
                  <a:lnTo>
                    <a:pt x="1794002" y="0"/>
                  </a:lnTo>
                  <a:lnTo>
                    <a:pt x="1824162" y="6086"/>
                  </a:lnTo>
                  <a:lnTo>
                    <a:pt x="1848786" y="22685"/>
                  </a:lnTo>
                  <a:lnTo>
                    <a:pt x="1865385" y="47309"/>
                  </a:lnTo>
                  <a:lnTo>
                    <a:pt x="1871472" y="77470"/>
                  </a:lnTo>
                  <a:lnTo>
                    <a:pt x="1871472" y="271145"/>
                  </a:lnTo>
                  <a:lnTo>
                    <a:pt x="1871472" y="387350"/>
                  </a:lnTo>
                  <a:lnTo>
                    <a:pt x="1865385" y="417510"/>
                  </a:lnTo>
                  <a:lnTo>
                    <a:pt x="1848786" y="442134"/>
                  </a:lnTo>
                  <a:lnTo>
                    <a:pt x="1824162" y="458733"/>
                  </a:lnTo>
                  <a:lnTo>
                    <a:pt x="1794002" y="464820"/>
                  </a:lnTo>
                  <a:lnTo>
                    <a:pt x="779779" y="464820"/>
                  </a:lnTo>
                  <a:lnTo>
                    <a:pt x="607822" y="1048385"/>
                  </a:lnTo>
                  <a:lnTo>
                    <a:pt x="311912" y="464820"/>
                  </a:lnTo>
                  <a:lnTo>
                    <a:pt x="77470" y="464820"/>
                  </a:lnTo>
                  <a:lnTo>
                    <a:pt x="47309" y="458733"/>
                  </a:lnTo>
                  <a:lnTo>
                    <a:pt x="22685" y="442134"/>
                  </a:lnTo>
                  <a:lnTo>
                    <a:pt x="6086" y="417510"/>
                  </a:lnTo>
                  <a:lnTo>
                    <a:pt x="0" y="387350"/>
                  </a:lnTo>
                  <a:lnTo>
                    <a:pt x="0" y="271145"/>
                  </a:lnTo>
                  <a:lnTo>
                    <a:pt x="0" y="77470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35221" y="1796288"/>
            <a:ext cx="1568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Number 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steps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53050" y="1694688"/>
            <a:ext cx="2980690" cy="1047750"/>
            <a:chOff x="5353050" y="1694688"/>
            <a:chExt cx="2980690" cy="1047750"/>
          </a:xfrm>
        </p:grpSpPr>
        <p:sp>
          <p:nvSpPr>
            <p:cNvPr id="13" name="object 13"/>
            <p:cNvSpPr/>
            <p:nvPr/>
          </p:nvSpPr>
          <p:spPr>
            <a:xfrm>
              <a:off x="5366003" y="1707642"/>
              <a:ext cx="2954655" cy="1022350"/>
            </a:xfrm>
            <a:custGeom>
              <a:avLst/>
              <a:gdLst/>
              <a:ahLst/>
              <a:cxnLst/>
              <a:rect l="l" t="t" r="r" b="b"/>
              <a:pathLst>
                <a:path w="2954654" h="1022350">
                  <a:moveTo>
                    <a:pt x="1776349" y="650748"/>
                  </a:moveTo>
                  <a:lnTo>
                    <a:pt x="1271524" y="650748"/>
                  </a:lnTo>
                  <a:lnTo>
                    <a:pt x="0" y="1021842"/>
                  </a:lnTo>
                  <a:lnTo>
                    <a:pt x="1776349" y="650748"/>
                  </a:lnTo>
                  <a:close/>
                </a:path>
                <a:path w="2954654" h="1022350">
                  <a:moveTo>
                    <a:pt x="2845816" y="0"/>
                  </a:moveTo>
                  <a:lnTo>
                    <a:pt x="1043432" y="0"/>
                  </a:lnTo>
                  <a:lnTo>
                    <a:pt x="1001196" y="8516"/>
                  </a:lnTo>
                  <a:lnTo>
                    <a:pt x="966724" y="31750"/>
                  </a:lnTo>
                  <a:lnTo>
                    <a:pt x="943490" y="66222"/>
                  </a:lnTo>
                  <a:lnTo>
                    <a:pt x="934974" y="108458"/>
                  </a:lnTo>
                  <a:lnTo>
                    <a:pt x="934974" y="542290"/>
                  </a:lnTo>
                  <a:lnTo>
                    <a:pt x="943490" y="584525"/>
                  </a:lnTo>
                  <a:lnTo>
                    <a:pt x="966724" y="618998"/>
                  </a:lnTo>
                  <a:lnTo>
                    <a:pt x="1001196" y="642231"/>
                  </a:lnTo>
                  <a:lnTo>
                    <a:pt x="1043432" y="650748"/>
                  </a:lnTo>
                  <a:lnTo>
                    <a:pt x="2845816" y="650748"/>
                  </a:lnTo>
                  <a:lnTo>
                    <a:pt x="2888051" y="642231"/>
                  </a:lnTo>
                  <a:lnTo>
                    <a:pt x="2922523" y="618998"/>
                  </a:lnTo>
                  <a:lnTo>
                    <a:pt x="2945757" y="584525"/>
                  </a:lnTo>
                  <a:lnTo>
                    <a:pt x="2954274" y="542290"/>
                  </a:lnTo>
                  <a:lnTo>
                    <a:pt x="2954274" y="108458"/>
                  </a:lnTo>
                  <a:lnTo>
                    <a:pt x="2945757" y="66222"/>
                  </a:lnTo>
                  <a:lnTo>
                    <a:pt x="2922524" y="31750"/>
                  </a:lnTo>
                  <a:lnTo>
                    <a:pt x="2888051" y="8516"/>
                  </a:lnTo>
                  <a:lnTo>
                    <a:pt x="2845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66003" y="1707642"/>
              <a:ext cx="2954655" cy="1022350"/>
            </a:xfrm>
            <a:custGeom>
              <a:avLst/>
              <a:gdLst/>
              <a:ahLst/>
              <a:cxnLst/>
              <a:rect l="l" t="t" r="r" b="b"/>
              <a:pathLst>
                <a:path w="2954654" h="1022350">
                  <a:moveTo>
                    <a:pt x="934974" y="108458"/>
                  </a:moveTo>
                  <a:lnTo>
                    <a:pt x="943490" y="66222"/>
                  </a:lnTo>
                  <a:lnTo>
                    <a:pt x="966724" y="31750"/>
                  </a:lnTo>
                  <a:lnTo>
                    <a:pt x="1001196" y="8516"/>
                  </a:lnTo>
                  <a:lnTo>
                    <a:pt x="1043432" y="0"/>
                  </a:lnTo>
                  <a:lnTo>
                    <a:pt x="1271524" y="0"/>
                  </a:lnTo>
                  <a:lnTo>
                    <a:pt x="1776349" y="0"/>
                  </a:lnTo>
                  <a:lnTo>
                    <a:pt x="2845816" y="0"/>
                  </a:lnTo>
                  <a:lnTo>
                    <a:pt x="2888051" y="8516"/>
                  </a:lnTo>
                  <a:lnTo>
                    <a:pt x="2922524" y="31750"/>
                  </a:lnTo>
                  <a:lnTo>
                    <a:pt x="2945757" y="66222"/>
                  </a:lnTo>
                  <a:lnTo>
                    <a:pt x="2954274" y="108458"/>
                  </a:lnTo>
                  <a:lnTo>
                    <a:pt x="2954274" y="379603"/>
                  </a:lnTo>
                  <a:lnTo>
                    <a:pt x="2954274" y="542290"/>
                  </a:lnTo>
                  <a:lnTo>
                    <a:pt x="2945757" y="584525"/>
                  </a:lnTo>
                  <a:lnTo>
                    <a:pt x="2922524" y="618998"/>
                  </a:lnTo>
                  <a:lnTo>
                    <a:pt x="2888051" y="642231"/>
                  </a:lnTo>
                  <a:lnTo>
                    <a:pt x="2845816" y="650748"/>
                  </a:lnTo>
                  <a:lnTo>
                    <a:pt x="1776349" y="650748"/>
                  </a:lnTo>
                  <a:lnTo>
                    <a:pt x="0" y="1021842"/>
                  </a:lnTo>
                  <a:lnTo>
                    <a:pt x="1271524" y="650748"/>
                  </a:lnTo>
                  <a:lnTo>
                    <a:pt x="1043432" y="650748"/>
                  </a:lnTo>
                  <a:lnTo>
                    <a:pt x="1001196" y="642231"/>
                  </a:lnTo>
                  <a:lnTo>
                    <a:pt x="966724" y="618998"/>
                  </a:lnTo>
                  <a:lnTo>
                    <a:pt x="943490" y="584525"/>
                  </a:lnTo>
                  <a:lnTo>
                    <a:pt x="934974" y="542290"/>
                  </a:lnTo>
                  <a:lnTo>
                    <a:pt x="934974" y="379603"/>
                  </a:lnTo>
                  <a:lnTo>
                    <a:pt x="934974" y="108458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894956" y="1867915"/>
            <a:ext cx="832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Step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size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4085" marR="5080" indent="-8216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Illustrating gradient descent  in 1-dimensional</a:t>
            </a:r>
            <a:r>
              <a:rPr spc="-75" dirty="0"/>
              <a:t> </a:t>
            </a:r>
            <a:r>
              <a:rPr dirty="0"/>
              <a:t>case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138" y="1934293"/>
            <a:ext cx="6068418" cy="40548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8365" marR="5080" indent="-77597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Illustrating gradient descent  in 2-dimensional</a:t>
            </a:r>
            <a:r>
              <a:rPr spc="-65" dirty="0"/>
              <a:t> </a:t>
            </a:r>
            <a:r>
              <a:rPr dirty="0"/>
              <a:t>case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231" y="1773454"/>
            <a:ext cx="5939130" cy="38116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19471" y="1976627"/>
            <a:ext cx="1682750" cy="10350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7907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410"/>
              </a:spcBef>
            </a:pPr>
            <a:r>
              <a:rPr sz="4000" spc="-65" dirty="0">
                <a:latin typeface="Calibri"/>
                <a:cs typeface="Calibri"/>
              </a:rPr>
              <a:t>F(w,b)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482597" y="6193637"/>
            <a:ext cx="56959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Image source: </a:t>
            </a:r>
            <a:r>
              <a:rPr lang="en-US" u="heavy" spc="-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"/>
                <a:cs typeface="Arial"/>
                <a:hlinkClick r:id="rId3"/>
              </a:rPr>
              <a:t>https://builtin.com/data-science/gradient-descent</a:t>
            </a:r>
            <a:r>
              <a:rPr lang="en-US" u="heavy" spc="-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8365" marR="5080" indent="-77597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Illustrating gradient descent  in 2-dimensional</a:t>
            </a:r>
            <a:r>
              <a:rPr spc="-65" dirty="0"/>
              <a:t> </a:t>
            </a:r>
            <a:r>
              <a:rPr dirty="0"/>
              <a:t>case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4142" y="1660094"/>
            <a:ext cx="3969937" cy="4372266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1482597" y="6193637"/>
            <a:ext cx="56959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Image source: </a:t>
            </a:r>
            <a:r>
              <a:rPr lang="en-US" u="heavy" spc="-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"/>
                <a:cs typeface="Arial"/>
                <a:hlinkClick r:id="rId3"/>
              </a:rPr>
              <a:t>https://builtin.com/data-science/gradient-descent</a:t>
            </a:r>
            <a:r>
              <a:rPr lang="en-US" u="heavy" spc="-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423" y="147955"/>
            <a:ext cx="667715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8365" marR="5080" indent="-77597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</a:t>
            </a:r>
            <a:r>
              <a:rPr lang="en-US" spc="-5" dirty="0"/>
              <a:t>mpact of the step size</a:t>
            </a:r>
            <a:endParaRPr dirty="0"/>
          </a:p>
        </p:txBody>
      </p:sp>
      <p:sp>
        <p:nvSpPr>
          <p:cNvPr id="5" name="object 4"/>
          <p:cNvSpPr txBox="1"/>
          <p:nvPr/>
        </p:nvSpPr>
        <p:spPr>
          <a:xfrm>
            <a:off x="1482597" y="6193637"/>
            <a:ext cx="56959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Image source: </a:t>
            </a:r>
            <a:r>
              <a:rPr lang="en-US" u="heavy" spc="-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"/>
                <a:cs typeface="Arial"/>
                <a:hlinkClick r:id="rId2"/>
              </a:rPr>
              <a:t>https://builtin.com/data-science/gradient-descent</a:t>
            </a:r>
            <a:r>
              <a:rPr lang="en-US" u="heavy" spc="-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026" name="Picture 2" descr="gradient descent learning ra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028824"/>
            <a:ext cx="7715250" cy="36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00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8077" y="483234"/>
            <a:ext cx="63881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 </a:t>
            </a:r>
            <a:r>
              <a:rPr spc="-5" dirty="0"/>
              <a:t>descent</a:t>
            </a:r>
            <a:r>
              <a:rPr spc="-90" dirty="0"/>
              <a:t> </a:t>
            </a:r>
            <a:r>
              <a:rPr spc="-5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3511" y="1616900"/>
            <a:ext cx="7832725" cy="3366770"/>
            <a:chOff x="603511" y="1616900"/>
            <a:chExt cx="7832725" cy="33667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511" y="2738874"/>
              <a:ext cx="7832239" cy="22443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73074" y="1629918"/>
              <a:ext cx="3612515" cy="1102995"/>
            </a:xfrm>
            <a:custGeom>
              <a:avLst/>
              <a:gdLst/>
              <a:ahLst/>
              <a:cxnLst/>
              <a:rect l="l" t="t" r="r" b="b"/>
              <a:pathLst>
                <a:path w="3612515" h="1102995">
                  <a:moveTo>
                    <a:pt x="1979930" y="693420"/>
                  </a:moveTo>
                  <a:lnTo>
                    <a:pt x="1385951" y="693420"/>
                  </a:lnTo>
                  <a:lnTo>
                    <a:pt x="3612134" y="1102741"/>
                  </a:lnTo>
                  <a:lnTo>
                    <a:pt x="1979930" y="693420"/>
                  </a:lnTo>
                  <a:close/>
                </a:path>
                <a:path w="3612515" h="1102995">
                  <a:moveTo>
                    <a:pt x="2260346" y="0"/>
                  </a:moveTo>
                  <a:lnTo>
                    <a:pt x="115569" y="0"/>
                  </a:lnTo>
                  <a:lnTo>
                    <a:pt x="70583" y="9074"/>
                  </a:lnTo>
                  <a:lnTo>
                    <a:pt x="33848" y="33829"/>
                  </a:lnTo>
                  <a:lnTo>
                    <a:pt x="9081" y="70562"/>
                  </a:lnTo>
                  <a:lnTo>
                    <a:pt x="0" y="115570"/>
                  </a:lnTo>
                  <a:lnTo>
                    <a:pt x="0" y="577850"/>
                  </a:lnTo>
                  <a:lnTo>
                    <a:pt x="9081" y="622857"/>
                  </a:lnTo>
                  <a:lnTo>
                    <a:pt x="33848" y="659590"/>
                  </a:lnTo>
                  <a:lnTo>
                    <a:pt x="70583" y="684345"/>
                  </a:lnTo>
                  <a:lnTo>
                    <a:pt x="115569" y="693420"/>
                  </a:lnTo>
                  <a:lnTo>
                    <a:pt x="2260346" y="693420"/>
                  </a:lnTo>
                  <a:lnTo>
                    <a:pt x="2305353" y="684345"/>
                  </a:lnTo>
                  <a:lnTo>
                    <a:pt x="2342086" y="659590"/>
                  </a:lnTo>
                  <a:lnTo>
                    <a:pt x="2366841" y="622857"/>
                  </a:lnTo>
                  <a:lnTo>
                    <a:pt x="2375916" y="577850"/>
                  </a:lnTo>
                  <a:lnTo>
                    <a:pt x="2375916" y="115570"/>
                  </a:lnTo>
                  <a:lnTo>
                    <a:pt x="2366841" y="70562"/>
                  </a:lnTo>
                  <a:lnTo>
                    <a:pt x="2342086" y="33829"/>
                  </a:lnTo>
                  <a:lnTo>
                    <a:pt x="2305353" y="9074"/>
                  </a:lnTo>
                  <a:lnTo>
                    <a:pt x="22603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3074" y="1629918"/>
              <a:ext cx="3612515" cy="1102995"/>
            </a:xfrm>
            <a:custGeom>
              <a:avLst/>
              <a:gdLst/>
              <a:ahLst/>
              <a:cxnLst/>
              <a:rect l="l" t="t" r="r" b="b"/>
              <a:pathLst>
                <a:path w="3612515" h="1102995">
                  <a:moveTo>
                    <a:pt x="0" y="115570"/>
                  </a:moveTo>
                  <a:lnTo>
                    <a:pt x="9081" y="70562"/>
                  </a:lnTo>
                  <a:lnTo>
                    <a:pt x="33848" y="33829"/>
                  </a:lnTo>
                  <a:lnTo>
                    <a:pt x="70583" y="9074"/>
                  </a:lnTo>
                  <a:lnTo>
                    <a:pt x="115569" y="0"/>
                  </a:lnTo>
                  <a:lnTo>
                    <a:pt x="1385951" y="0"/>
                  </a:lnTo>
                  <a:lnTo>
                    <a:pt x="1979930" y="0"/>
                  </a:lnTo>
                  <a:lnTo>
                    <a:pt x="2260346" y="0"/>
                  </a:lnTo>
                  <a:lnTo>
                    <a:pt x="2305353" y="9074"/>
                  </a:lnTo>
                  <a:lnTo>
                    <a:pt x="2342086" y="33829"/>
                  </a:lnTo>
                  <a:lnTo>
                    <a:pt x="2366841" y="70562"/>
                  </a:lnTo>
                  <a:lnTo>
                    <a:pt x="2375916" y="115570"/>
                  </a:lnTo>
                  <a:lnTo>
                    <a:pt x="2375916" y="404495"/>
                  </a:lnTo>
                  <a:lnTo>
                    <a:pt x="2375916" y="577850"/>
                  </a:lnTo>
                  <a:lnTo>
                    <a:pt x="2366841" y="622857"/>
                  </a:lnTo>
                  <a:lnTo>
                    <a:pt x="2342086" y="659590"/>
                  </a:lnTo>
                  <a:lnTo>
                    <a:pt x="2305353" y="684345"/>
                  </a:lnTo>
                  <a:lnTo>
                    <a:pt x="2260346" y="693420"/>
                  </a:lnTo>
                  <a:lnTo>
                    <a:pt x="1979930" y="693420"/>
                  </a:lnTo>
                  <a:lnTo>
                    <a:pt x="3612134" y="1102741"/>
                  </a:lnTo>
                  <a:lnTo>
                    <a:pt x="1385951" y="693420"/>
                  </a:lnTo>
                  <a:lnTo>
                    <a:pt x="115569" y="693420"/>
                  </a:lnTo>
                  <a:lnTo>
                    <a:pt x="70583" y="684345"/>
                  </a:lnTo>
                  <a:lnTo>
                    <a:pt x="33848" y="659590"/>
                  </a:lnTo>
                  <a:lnTo>
                    <a:pt x="9081" y="622857"/>
                  </a:lnTo>
                  <a:lnTo>
                    <a:pt x="0" y="577850"/>
                  </a:lnTo>
                  <a:lnTo>
                    <a:pt x="0" y="404495"/>
                  </a:lnTo>
                  <a:lnTo>
                    <a:pt x="0" y="115570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93367" y="1673478"/>
            <a:ext cx="17329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marR="5080" indent="-3098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Objective </a:t>
            </a:r>
            <a:r>
              <a:rPr sz="1800" spc="-5" dirty="0">
                <a:latin typeface="Calibri"/>
                <a:cs typeface="Calibri"/>
              </a:rPr>
              <a:t>function 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minimize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71708" y="1715960"/>
            <a:ext cx="1898014" cy="1074420"/>
            <a:chOff x="4271708" y="1715960"/>
            <a:chExt cx="1898014" cy="1074420"/>
          </a:xfrm>
        </p:grpSpPr>
        <p:sp>
          <p:nvSpPr>
            <p:cNvPr id="9" name="object 9"/>
            <p:cNvSpPr/>
            <p:nvPr/>
          </p:nvSpPr>
          <p:spPr>
            <a:xfrm>
              <a:off x="4284726" y="1728978"/>
              <a:ext cx="1871980" cy="1048385"/>
            </a:xfrm>
            <a:custGeom>
              <a:avLst/>
              <a:gdLst/>
              <a:ahLst/>
              <a:cxnLst/>
              <a:rect l="l" t="t" r="r" b="b"/>
              <a:pathLst>
                <a:path w="1871979" h="1048385">
                  <a:moveTo>
                    <a:pt x="779779" y="464820"/>
                  </a:moveTo>
                  <a:lnTo>
                    <a:pt x="311912" y="464820"/>
                  </a:lnTo>
                  <a:lnTo>
                    <a:pt x="607822" y="1048385"/>
                  </a:lnTo>
                  <a:lnTo>
                    <a:pt x="779779" y="464820"/>
                  </a:lnTo>
                  <a:close/>
                </a:path>
                <a:path w="1871979" h="1048385">
                  <a:moveTo>
                    <a:pt x="1794002" y="0"/>
                  </a:moveTo>
                  <a:lnTo>
                    <a:pt x="77470" y="0"/>
                  </a:lnTo>
                  <a:lnTo>
                    <a:pt x="47309" y="6086"/>
                  </a:lnTo>
                  <a:lnTo>
                    <a:pt x="22685" y="22685"/>
                  </a:lnTo>
                  <a:lnTo>
                    <a:pt x="6086" y="47309"/>
                  </a:lnTo>
                  <a:lnTo>
                    <a:pt x="0" y="77470"/>
                  </a:lnTo>
                  <a:lnTo>
                    <a:pt x="0" y="387350"/>
                  </a:lnTo>
                  <a:lnTo>
                    <a:pt x="6086" y="417510"/>
                  </a:lnTo>
                  <a:lnTo>
                    <a:pt x="22685" y="442134"/>
                  </a:lnTo>
                  <a:lnTo>
                    <a:pt x="47309" y="458733"/>
                  </a:lnTo>
                  <a:lnTo>
                    <a:pt x="77470" y="464820"/>
                  </a:lnTo>
                  <a:lnTo>
                    <a:pt x="1794002" y="464820"/>
                  </a:lnTo>
                  <a:lnTo>
                    <a:pt x="1824162" y="458733"/>
                  </a:lnTo>
                  <a:lnTo>
                    <a:pt x="1848786" y="442134"/>
                  </a:lnTo>
                  <a:lnTo>
                    <a:pt x="1865385" y="417510"/>
                  </a:lnTo>
                  <a:lnTo>
                    <a:pt x="1871472" y="387350"/>
                  </a:lnTo>
                  <a:lnTo>
                    <a:pt x="1871472" y="77470"/>
                  </a:lnTo>
                  <a:lnTo>
                    <a:pt x="1865385" y="47309"/>
                  </a:lnTo>
                  <a:lnTo>
                    <a:pt x="1848786" y="22685"/>
                  </a:lnTo>
                  <a:lnTo>
                    <a:pt x="1824162" y="6086"/>
                  </a:lnTo>
                  <a:lnTo>
                    <a:pt x="1794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84726" y="1728978"/>
              <a:ext cx="1871980" cy="1048385"/>
            </a:xfrm>
            <a:custGeom>
              <a:avLst/>
              <a:gdLst/>
              <a:ahLst/>
              <a:cxnLst/>
              <a:rect l="l" t="t" r="r" b="b"/>
              <a:pathLst>
                <a:path w="1871979" h="1048385">
                  <a:moveTo>
                    <a:pt x="0" y="77470"/>
                  </a:moveTo>
                  <a:lnTo>
                    <a:pt x="6086" y="47309"/>
                  </a:lnTo>
                  <a:lnTo>
                    <a:pt x="22685" y="22685"/>
                  </a:lnTo>
                  <a:lnTo>
                    <a:pt x="47309" y="6086"/>
                  </a:lnTo>
                  <a:lnTo>
                    <a:pt x="77470" y="0"/>
                  </a:lnTo>
                  <a:lnTo>
                    <a:pt x="311912" y="0"/>
                  </a:lnTo>
                  <a:lnTo>
                    <a:pt x="779779" y="0"/>
                  </a:lnTo>
                  <a:lnTo>
                    <a:pt x="1794002" y="0"/>
                  </a:lnTo>
                  <a:lnTo>
                    <a:pt x="1824162" y="6086"/>
                  </a:lnTo>
                  <a:lnTo>
                    <a:pt x="1848786" y="22685"/>
                  </a:lnTo>
                  <a:lnTo>
                    <a:pt x="1865385" y="47309"/>
                  </a:lnTo>
                  <a:lnTo>
                    <a:pt x="1871472" y="77470"/>
                  </a:lnTo>
                  <a:lnTo>
                    <a:pt x="1871472" y="271145"/>
                  </a:lnTo>
                  <a:lnTo>
                    <a:pt x="1871472" y="387350"/>
                  </a:lnTo>
                  <a:lnTo>
                    <a:pt x="1865385" y="417510"/>
                  </a:lnTo>
                  <a:lnTo>
                    <a:pt x="1848786" y="442134"/>
                  </a:lnTo>
                  <a:lnTo>
                    <a:pt x="1824162" y="458733"/>
                  </a:lnTo>
                  <a:lnTo>
                    <a:pt x="1794002" y="464820"/>
                  </a:lnTo>
                  <a:lnTo>
                    <a:pt x="779779" y="464820"/>
                  </a:lnTo>
                  <a:lnTo>
                    <a:pt x="607822" y="1048385"/>
                  </a:lnTo>
                  <a:lnTo>
                    <a:pt x="311912" y="464820"/>
                  </a:lnTo>
                  <a:lnTo>
                    <a:pt x="77470" y="464820"/>
                  </a:lnTo>
                  <a:lnTo>
                    <a:pt x="47309" y="458733"/>
                  </a:lnTo>
                  <a:lnTo>
                    <a:pt x="22685" y="442134"/>
                  </a:lnTo>
                  <a:lnTo>
                    <a:pt x="6086" y="417510"/>
                  </a:lnTo>
                  <a:lnTo>
                    <a:pt x="0" y="387350"/>
                  </a:lnTo>
                  <a:lnTo>
                    <a:pt x="0" y="271145"/>
                  </a:lnTo>
                  <a:lnTo>
                    <a:pt x="0" y="77470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35221" y="1796288"/>
            <a:ext cx="1568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Number 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steps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53050" y="1694688"/>
            <a:ext cx="2980690" cy="1047750"/>
            <a:chOff x="5353050" y="1694688"/>
            <a:chExt cx="2980690" cy="1047750"/>
          </a:xfrm>
        </p:grpSpPr>
        <p:sp>
          <p:nvSpPr>
            <p:cNvPr id="13" name="object 13"/>
            <p:cNvSpPr/>
            <p:nvPr/>
          </p:nvSpPr>
          <p:spPr>
            <a:xfrm>
              <a:off x="5366003" y="1707642"/>
              <a:ext cx="2954655" cy="1022350"/>
            </a:xfrm>
            <a:custGeom>
              <a:avLst/>
              <a:gdLst/>
              <a:ahLst/>
              <a:cxnLst/>
              <a:rect l="l" t="t" r="r" b="b"/>
              <a:pathLst>
                <a:path w="2954654" h="1022350">
                  <a:moveTo>
                    <a:pt x="1776349" y="650748"/>
                  </a:moveTo>
                  <a:lnTo>
                    <a:pt x="1271524" y="650748"/>
                  </a:lnTo>
                  <a:lnTo>
                    <a:pt x="0" y="1021842"/>
                  </a:lnTo>
                  <a:lnTo>
                    <a:pt x="1776349" y="650748"/>
                  </a:lnTo>
                  <a:close/>
                </a:path>
                <a:path w="2954654" h="1022350">
                  <a:moveTo>
                    <a:pt x="2845816" y="0"/>
                  </a:moveTo>
                  <a:lnTo>
                    <a:pt x="1043432" y="0"/>
                  </a:lnTo>
                  <a:lnTo>
                    <a:pt x="1001196" y="8516"/>
                  </a:lnTo>
                  <a:lnTo>
                    <a:pt x="966724" y="31750"/>
                  </a:lnTo>
                  <a:lnTo>
                    <a:pt x="943490" y="66222"/>
                  </a:lnTo>
                  <a:lnTo>
                    <a:pt x="934974" y="108458"/>
                  </a:lnTo>
                  <a:lnTo>
                    <a:pt x="934974" y="542290"/>
                  </a:lnTo>
                  <a:lnTo>
                    <a:pt x="943490" y="584525"/>
                  </a:lnTo>
                  <a:lnTo>
                    <a:pt x="966724" y="618998"/>
                  </a:lnTo>
                  <a:lnTo>
                    <a:pt x="1001196" y="642231"/>
                  </a:lnTo>
                  <a:lnTo>
                    <a:pt x="1043432" y="650748"/>
                  </a:lnTo>
                  <a:lnTo>
                    <a:pt x="2845816" y="650748"/>
                  </a:lnTo>
                  <a:lnTo>
                    <a:pt x="2888051" y="642231"/>
                  </a:lnTo>
                  <a:lnTo>
                    <a:pt x="2922523" y="618998"/>
                  </a:lnTo>
                  <a:lnTo>
                    <a:pt x="2945757" y="584525"/>
                  </a:lnTo>
                  <a:lnTo>
                    <a:pt x="2954274" y="542290"/>
                  </a:lnTo>
                  <a:lnTo>
                    <a:pt x="2954274" y="108458"/>
                  </a:lnTo>
                  <a:lnTo>
                    <a:pt x="2945757" y="66222"/>
                  </a:lnTo>
                  <a:lnTo>
                    <a:pt x="2922524" y="31750"/>
                  </a:lnTo>
                  <a:lnTo>
                    <a:pt x="2888051" y="8516"/>
                  </a:lnTo>
                  <a:lnTo>
                    <a:pt x="2845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66003" y="1707642"/>
              <a:ext cx="2954655" cy="1022350"/>
            </a:xfrm>
            <a:custGeom>
              <a:avLst/>
              <a:gdLst/>
              <a:ahLst/>
              <a:cxnLst/>
              <a:rect l="l" t="t" r="r" b="b"/>
              <a:pathLst>
                <a:path w="2954654" h="1022350">
                  <a:moveTo>
                    <a:pt x="934974" y="108458"/>
                  </a:moveTo>
                  <a:lnTo>
                    <a:pt x="943490" y="66222"/>
                  </a:lnTo>
                  <a:lnTo>
                    <a:pt x="966724" y="31750"/>
                  </a:lnTo>
                  <a:lnTo>
                    <a:pt x="1001196" y="8516"/>
                  </a:lnTo>
                  <a:lnTo>
                    <a:pt x="1043432" y="0"/>
                  </a:lnTo>
                  <a:lnTo>
                    <a:pt x="1271524" y="0"/>
                  </a:lnTo>
                  <a:lnTo>
                    <a:pt x="1776349" y="0"/>
                  </a:lnTo>
                  <a:lnTo>
                    <a:pt x="2845816" y="0"/>
                  </a:lnTo>
                  <a:lnTo>
                    <a:pt x="2888051" y="8516"/>
                  </a:lnTo>
                  <a:lnTo>
                    <a:pt x="2922524" y="31750"/>
                  </a:lnTo>
                  <a:lnTo>
                    <a:pt x="2945757" y="66222"/>
                  </a:lnTo>
                  <a:lnTo>
                    <a:pt x="2954274" y="108458"/>
                  </a:lnTo>
                  <a:lnTo>
                    <a:pt x="2954274" y="379603"/>
                  </a:lnTo>
                  <a:lnTo>
                    <a:pt x="2954274" y="542290"/>
                  </a:lnTo>
                  <a:lnTo>
                    <a:pt x="2945757" y="584525"/>
                  </a:lnTo>
                  <a:lnTo>
                    <a:pt x="2922524" y="618998"/>
                  </a:lnTo>
                  <a:lnTo>
                    <a:pt x="2888051" y="642231"/>
                  </a:lnTo>
                  <a:lnTo>
                    <a:pt x="2845816" y="650748"/>
                  </a:lnTo>
                  <a:lnTo>
                    <a:pt x="1776349" y="650748"/>
                  </a:lnTo>
                  <a:lnTo>
                    <a:pt x="0" y="1021842"/>
                  </a:lnTo>
                  <a:lnTo>
                    <a:pt x="1271524" y="650748"/>
                  </a:lnTo>
                  <a:lnTo>
                    <a:pt x="1043432" y="650748"/>
                  </a:lnTo>
                  <a:lnTo>
                    <a:pt x="1001196" y="642231"/>
                  </a:lnTo>
                  <a:lnTo>
                    <a:pt x="966724" y="618998"/>
                  </a:lnTo>
                  <a:lnTo>
                    <a:pt x="943490" y="584525"/>
                  </a:lnTo>
                  <a:lnTo>
                    <a:pt x="934974" y="542290"/>
                  </a:lnTo>
                  <a:lnTo>
                    <a:pt x="934974" y="379603"/>
                  </a:lnTo>
                  <a:lnTo>
                    <a:pt x="934974" y="108458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894956" y="1867915"/>
            <a:ext cx="832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Step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size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3936" y="483234"/>
            <a:ext cx="40576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</a:t>
            </a:r>
            <a:r>
              <a:rPr spc="-85" dirty="0"/>
              <a:t> </a:t>
            </a:r>
            <a:r>
              <a:rPr spc="-5" dirty="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699375" cy="4247958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2</a:t>
            </a:r>
            <a:r>
              <a:rPr sz="3200" spc="-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questions</a:t>
            </a: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When </a:t>
            </a:r>
            <a:r>
              <a:rPr sz="2800" spc="-15" dirty="0">
                <a:latin typeface="Segoe UI"/>
                <a:cs typeface="Segoe UI"/>
              </a:rPr>
              <a:t>to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stop?</a:t>
            </a:r>
            <a:endParaRPr sz="2800" dirty="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When </a:t>
            </a:r>
            <a:r>
              <a:rPr sz="2400" dirty="0">
                <a:latin typeface="Segoe UI"/>
                <a:cs typeface="Segoe UI"/>
              </a:rPr>
              <a:t>the gradient gets </a:t>
            </a:r>
            <a:r>
              <a:rPr sz="2400" spc="-10" dirty="0">
                <a:latin typeface="Segoe UI"/>
                <a:cs typeface="Segoe UI"/>
              </a:rPr>
              <a:t>close </a:t>
            </a:r>
            <a:r>
              <a:rPr sz="2400" spc="-15" dirty="0">
                <a:latin typeface="Segoe UI"/>
                <a:cs typeface="Segoe UI"/>
              </a:rPr>
              <a:t>to</a:t>
            </a:r>
            <a:r>
              <a:rPr sz="2400" spc="25" dirty="0">
                <a:latin typeface="Segoe UI"/>
                <a:cs typeface="Segoe UI"/>
              </a:rPr>
              <a:t> </a:t>
            </a:r>
            <a:r>
              <a:rPr sz="2400" spc="-15" dirty="0">
                <a:latin typeface="Segoe UI"/>
                <a:cs typeface="Segoe UI"/>
              </a:rPr>
              <a:t>zero</a:t>
            </a:r>
            <a:endParaRPr sz="2400" dirty="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When </a:t>
            </a: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5" dirty="0">
                <a:latin typeface="Segoe UI"/>
                <a:cs typeface="Segoe UI"/>
              </a:rPr>
              <a:t>objective stops changing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much</a:t>
            </a:r>
            <a:endParaRPr sz="2400" dirty="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When </a:t>
            </a:r>
            <a:r>
              <a:rPr sz="2400" dirty="0">
                <a:latin typeface="Segoe UI"/>
                <a:cs typeface="Segoe UI"/>
              </a:rPr>
              <a:t>the </a:t>
            </a:r>
            <a:r>
              <a:rPr sz="2400" spc="-5" dirty="0">
                <a:latin typeface="Segoe UI"/>
                <a:cs typeface="Segoe UI"/>
              </a:rPr>
              <a:t>parameters </a:t>
            </a:r>
            <a:r>
              <a:rPr sz="2400" spc="-10" dirty="0">
                <a:latin typeface="Segoe UI"/>
                <a:cs typeface="Segoe UI"/>
              </a:rPr>
              <a:t>stop </a:t>
            </a:r>
            <a:r>
              <a:rPr sz="2400" spc="-5" dirty="0">
                <a:latin typeface="Segoe UI"/>
                <a:cs typeface="Segoe UI"/>
              </a:rPr>
              <a:t>changing</a:t>
            </a:r>
            <a:r>
              <a:rPr sz="2400" spc="1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much</a:t>
            </a:r>
            <a:endParaRPr sz="2400" dirty="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Segoe UI"/>
                <a:cs typeface="Segoe UI"/>
              </a:rPr>
              <a:t>Early</a:t>
            </a:r>
            <a:r>
              <a:rPr lang="en-US" sz="2400" dirty="0">
                <a:latin typeface="Segoe UI"/>
                <a:cs typeface="Segoe UI"/>
              </a:rPr>
              <a:t>: </a:t>
            </a:r>
            <a:r>
              <a:rPr sz="2400" spc="-5" dirty="0">
                <a:latin typeface="Segoe UI"/>
                <a:cs typeface="Segoe UI"/>
              </a:rPr>
              <a:t>When </a:t>
            </a:r>
            <a:r>
              <a:rPr sz="2400" dirty="0">
                <a:latin typeface="Segoe UI"/>
                <a:cs typeface="Segoe UI"/>
              </a:rPr>
              <a:t>performance </a:t>
            </a:r>
            <a:r>
              <a:rPr sz="2400" spc="-5" dirty="0">
                <a:latin typeface="Segoe UI"/>
                <a:cs typeface="Segoe UI"/>
              </a:rPr>
              <a:t>on </a:t>
            </a:r>
            <a:r>
              <a:rPr sz="2400" dirty="0">
                <a:latin typeface="Segoe UI"/>
                <a:cs typeface="Segoe UI"/>
              </a:rPr>
              <a:t>held-out dev </a:t>
            </a:r>
            <a:r>
              <a:rPr sz="2400" spc="-5" dirty="0">
                <a:latin typeface="Segoe UI"/>
                <a:cs typeface="Segoe UI"/>
              </a:rPr>
              <a:t>set</a:t>
            </a:r>
            <a:r>
              <a:rPr sz="240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plateaus</a:t>
            </a:r>
            <a:endParaRPr sz="24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5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How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dirty="0">
                <a:latin typeface="Segoe UI"/>
                <a:cs typeface="Segoe UI"/>
              </a:rPr>
              <a:t>choose </a:t>
            </a:r>
            <a:r>
              <a:rPr sz="2800" spc="-5" dirty="0">
                <a:latin typeface="Segoe UI"/>
                <a:cs typeface="Segoe UI"/>
              </a:rPr>
              <a:t>the </a:t>
            </a:r>
            <a:r>
              <a:rPr sz="2800" spc="-10" dirty="0">
                <a:latin typeface="Segoe UI"/>
                <a:cs typeface="Segoe UI"/>
              </a:rPr>
              <a:t>step</a:t>
            </a:r>
            <a:r>
              <a:rPr sz="2800" spc="-3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size?</a:t>
            </a:r>
            <a:endParaRPr sz="2800" dirty="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Segoe UI"/>
                <a:cs typeface="Segoe UI"/>
              </a:rPr>
              <a:t>Start with </a:t>
            </a:r>
            <a:r>
              <a:rPr sz="2400" spc="-10" dirty="0">
                <a:latin typeface="Segoe UI"/>
                <a:cs typeface="Segoe UI"/>
              </a:rPr>
              <a:t>large </a:t>
            </a:r>
            <a:r>
              <a:rPr sz="2400" spc="-5" dirty="0">
                <a:latin typeface="Segoe UI"/>
                <a:cs typeface="Segoe UI"/>
              </a:rPr>
              <a:t>steps, </a:t>
            </a:r>
            <a:r>
              <a:rPr sz="2400" dirty="0">
                <a:latin typeface="Segoe UI"/>
                <a:cs typeface="Segoe UI"/>
              </a:rPr>
              <a:t>then </a:t>
            </a:r>
            <a:r>
              <a:rPr sz="2400" spc="-15" dirty="0">
                <a:latin typeface="Segoe UI"/>
                <a:cs typeface="Segoe UI"/>
              </a:rPr>
              <a:t>take </a:t>
            </a:r>
            <a:r>
              <a:rPr sz="2400" spc="-5" dirty="0">
                <a:latin typeface="Segoe UI"/>
                <a:cs typeface="Segoe UI"/>
              </a:rPr>
              <a:t>smaller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steps</a:t>
            </a:r>
            <a:endParaRPr sz="24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4514" y="147955"/>
            <a:ext cx="741680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4585" marR="5080" indent="-1112520">
              <a:lnSpc>
                <a:spcPct val="100000"/>
              </a:lnSpc>
              <a:spcBef>
                <a:spcPts val="100"/>
              </a:spcBef>
            </a:pPr>
            <a:r>
              <a:rPr dirty="0"/>
              <a:t>Now </a:t>
            </a:r>
            <a:r>
              <a:rPr spc="-85" dirty="0"/>
              <a:t>let’s </a:t>
            </a:r>
            <a:r>
              <a:rPr spc="-5" dirty="0"/>
              <a:t>calculate gradients </a:t>
            </a:r>
            <a:r>
              <a:rPr spc="-10" dirty="0"/>
              <a:t>for  </a:t>
            </a:r>
            <a:r>
              <a:rPr spc="-5" dirty="0"/>
              <a:t>multivariate 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7235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Consider </a:t>
            </a:r>
            <a:r>
              <a:rPr sz="3200" dirty="0">
                <a:latin typeface="Segoe UI"/>
                <a:cs typeface="Segoe UI"/>
              </a:rPr>
              <a:t>the following learning</a:t>
            </a:r>
            <a:r>
              <a:rPr sz="3200" spc="-2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objective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549521"/>
            <a:ext cx="742886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What </a:t>
            </a:r>
            <a:r>
              <a:rPr sz="3200" dirty="0">
                <a:latin typeface="Segoe UI"/>
                <a:cs typeface="Segoe UI"/>
              </a:rPr>
              <a:t>do </a:t>
            </a:r>
            <a:r>
              <a:rPr sz="3200" spc="-10" dirty="0">
                <a:latin typeface="Segoe UI"/>
                <a:cs typeface="Segoe UI"/>
              </a:rPr>
              <a:t>we </a:t>
            </a:r>
            <a:r>
              <a:rPr sz="3200" dirty="0">
                <a:latin typeface="Segoe UI"/>
                <a:cs typeface="Segoe UI"/>
              </a:rPr>
              <a:t>need </a:t>
            </a:r>
            <a:r>
              <a:rPr sz="3200" spc="-15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do </a:t>
            </a:r>
            <a:r>
              <a:rPr sz="3200" spc="-15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run gradient  </a:t>
            </a:r>
            <a:r>
              <a:rPr sz="3200" spc="-10" dirty="0">
                <a:latin typeface="Segoe UI"/>
                <a:cs typeface="Segoe UI"/>
              </a:rPr>
              <a:t>descent?</a:t>
            </a:r>
            <a:endParaRPr sz="32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863" y="3070971"/>
            <a:ext cx="7286330" cy="8333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966" y="483234"/>
            <a:ext cx="70396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(1) Derivative </a:t>
            </a:r>
            <a:r>
              <a:rPr dirty="0"/>
              <a:t>with </a:t>
            </a:r>
            <a:r>
              <a:rPr spc="-15" dirty="0"/>
              <a:t>respect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560" y="2060510"/>
            <a:ext cx="7933790" cy="311185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5118" y="483234"/>
            <a:ext cx="68973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(2) </a:t>
            </a:r>
            <a:r>
              <a:rPr dirty="0"/>
              <a:t>Gradient with </a:t>
            </a:r>
            <a:r>
              <a:rPr spc="-15" dirty="0"/>
              <a:t>respect </a:t>
            </a:r>
            <a:r>
              <a:rPr dirty="0"/>
              <a:t>to</a:t>
            </a:r>
            <a:r>
              <a:rPr spc="-100" dirty="0"/>
              <a:t> </a:t>
            </a:r>
            <a:r>
              <a:rPr dirty="0"/>
              <a:t>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581" y="2725110"/>
            <a:ext cx="7509943" cy="22169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1998" y="483234"/>
            <a:ext cx="30829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Subgradients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931150" cy="4063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Problem: </a:t>
            </a:r>
            <a:r>
              <a:rPr sz="3200" dirty="0">
                <a:latin typeface="Segoe UI"/>
                <a:cs typeface="Segoe UI"/>
              </a:rPr>
              <a:t>some objective functions </a:t>
            </a:r>
            <a:r>
              <a:rPr sz="3200" spc="-10" dirty="0">
                <a:latin typeface="Segoe UI"/>
                <a:cs typeface="Segoe UI"/>
              </a:rPr>
              <a:t>are</a:t>
            </a:r>
            <a:r>
              <a:rPr sz="3200" spc="-6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not  differentiable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spc="10" dirty="0">
                <a:latin typeface="Segoe UI"/>
                <a:cs typeface="Segoe UI"/>
              </a:rPr>
              <a:t>everywhere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Hinge loss, </a:t>
            </a:r>
            <a:r>
              <a:rPr sz="2800" spc="-5" dirty="0">
                <a:latin typeface="Segoe UI"/>
                <a:cs typeface="Segoe UI"/>
              </a:rPr>
              <a:t>l1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norm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"/>
              <a:buChar char="–"/>
            </a:pPr>
            <a:endParaRPr sz="36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Solution: subgradient</a:t>
            </a:r>
            <a:r>
              <a:rPr sz="3200" spc="2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optimization</a:t>
            </a:r>
            <a:endParaRPr sz="3200">
              <a:latin typeface="Segoe UI"/>
              <a:cs typeface="Segoe UI"/>
            </a:endParaRPr>
          </a:p>
          <a:p>
            <a:pPr marL="756285" marR="2540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35" dirty="0">
                <a:latin typeface="Segoe UI"/>
                <a:cs typeface="Segoe UI"/>
              </a:rPr>
              <a:t>Let’s </a:t>
            </a:r>
            <a:r>
              <a:rPr sz="2800" spc="-15" dirty="0">
                <a:latin typeface="Segoe UI"/>
                <a:cs typeface="Segoe UI"/>
              </a:rPr>
              <a:t>ignore </a:t>
            </a:r>
            <a:r>
              <a:rPr sz="2800" spc="-5" dirty="0">
                <a:latin typeface="Segoe UI"/>
                <a:cs typeface="Segoe UI"/>
              </a:rPr>
              <a:t>the </a:t>
            </a:r>
            <a:r>
              <a:rPr sz="2800" spc="-10" dirty="0">
                <a:latin typeface="Segoe UI"/>
                <a:cs typeface="Segoe UI"/>
              </a:rPr>
              <a:t>problem, </a:t>
            </a:r>
            <a:r>
              <a:rPr sz="2800" spc="-5" dirty="0">
                <a:latin typeface="Segoe UI"/>
                <a:cs typeface="Segoe UI"/>
              </a:rPr>
              <a:t>and </a:t>
            </a:r>
            <a:r>
              <a:rPr sz="2800" spc="-10" dirty="0">
                <a:latin typeface="Segoe UI"/>
                <a:cs typeface="Segoe UI"/>
              </a:rPr>
              <a:t>just </a:t>
            </a:r>
            <a:r>
              <a:rPr sz="2800" spc="30" dirty="0">
                <a:latin typeface="Segoe UI"/>
                <a:cs typeface="Segoe UI"/>
              </a:rPr>
              <a:t>try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apply  gradient descent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anyway!!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Segoe UI"/>
                <a:cs typeface="Segoe UI"/>
              </a:rPr>
              <a:t>we </a:t>
            </a:r>
            <a:r>
              <a:rPr sz="2800" spc="-10" dirty="0">
                <a:latin typeface="Segoe UI"/>
                <a:cs typeface="Segoe UI"/>
              </a:rPr>
              <a:t>will just differentiate </a:t>
            </a:r>
            <a:r>
              <a:rPr sz="2800" spc="-5" dirty="0">
                <a:latin typeface="Segoe UI"/>
                <a:cs typeface="Segoe UI"/>
              </a:rPr>
              <a:t>by</a:t>
            </a:r>
            <a:r>
              <a:rPr sz="2800" spc="40" dirty="0">
                <a:latin typeface="Segoe UI"/>
                <a:cs typeface="Segoe UI"/>
              </a:rPr>
              <a:t> </a:t>
            </a:r>
            <a:r>
              <a:rPr sz="2800" spc="5" dirty="0">
                <a:latin typeface="Segoe UI"/>
                <a:cs typeface="Segoe UI"/>
              </a:rPr>
              <a:t>parts…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932" y="94614"/>
            <a:ext cx="5631815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 </a:t>
            </a:r>
            <a:r>
              <a:rPr spc="-5" dirty="0"/>
              <a:t>subgradient</a:t>
            </a:r>
            <a:r>
              <a:rPr spc="-100" dirty="0"/>
              <a:t> </a:t>
            </a:r>
            <a:r>
              <a:rPr spc="-120" dirty="0"/>
              <a:t>of</a:t>
            </a:r>
          </a:p>
          <a:p>
            <a:pPr marL="165100" algn="ctr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hinge</a:t>
            </a:r>
            <a:r>
              <a:rPr spc="-35" dirty="0"/>
              <a:t> </a:t>
            </a:r>
            <a:r>
              <a:rPr spc="-5" dirty="0"/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409" y="1872234"/>
            <a:ext cx="2286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a given example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27304" y="3704844"/>
            <a:ext cx="8091170" cy="890269"/>
            <a:chOff x="527304" y="3704844"/>
            <a:chExt cx="8091170" cy="890269"/>
          </a:xfrm>
        </p:grpSpPr>
        <p:sp>
          <p:nvSpPr>
            <p:cNvPr id="7" name="object 7"/>
            <p:cNvSpPr/>
            <p:nvPr/>
          </p:nvSpPr>
          <p:spPr>
            <a:xfrm>
              <a:off x="540258" y="3717798"/>
              <a:ext cx="8065134" cy="864235"/>
            </a:xfrm>
            <a:custGeom>
              <a:avLst/>
              <a:gdLst/>
              <a:ahLst/>
              <a:cxnLst/>
              <a:rect l="l" t="t" r="r" b="b"/>
              <a:pathLst>
                <a:path w="8065134" h="864235">
                  <a:moveTo>
                    <a:pt x="8065008" y="0"/>
                  </a:moveTo>
                  <a:lnTo>
                    <a:pt x="0" y="0"/>
                  </a:lnTo>
                  <a:lnTo>
                    <a:pt x="0" y="864107"/>
                  </a:lnTo>
                  <a:lnTo>
                    <a:pt x="8065008" y="864107"/>
                  </a:lnTo>
                  <a:lnTo>
                    <a:pt x="80650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0258" y="3717798"/>
              <a:ext cx="8065134" cy="864235"/>
            </a:xfrm>
            <a:custGeom>
              <a:avLst/>
              <a:gdLst/>
              <a:ahLst/>
              <a:cxnLst/>
              <a:rect l="l" t="t" r="r" b="b"/>
              <a:pathLst>
                <a:path w="8065134" h="864235">
                  <a:moveTo>
                    <a:pt x="0" y="864107"/>
                  </a:moveTo>
                  <a:lnTo>
                    <a:pt x="8065008" y="864107"/>
                  </a:lnTo>
                  <a:lnTo>
                    <a:pt x="8065008" y="0"/>
                  </a:lnTo>
                  <a:lnTo>
                    <a:pt x="0" y="0"/>
                  </a:lnTo>
                  <a:lnTo>
                    <a:pt x="0" y="864107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511287"/>
            <a:ext cx="6559826" cy="327991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9408" y="147955"/>
            <a:ext cx="488505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0255" marR="5080" indent="-7581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Subgradient</a:t>
            </a:r>
            <a:r>
              <a:rPr spc="-90" dirty="0"/>
              <a:t> </a:t>
            </a:r>
            <a:r>
              <a:rPr spc="-5" dirty="0"/>
              <a:t>Descent  </a:t>
            </a:r>
            <a:r>
              <a:rPr dirty="0"/>
              <a:t>for Hinge</a:t>
            </a:r>
            <a:r>
              <a:rPr spc="-75" dirty="0"/>
              <a:t> </a:t>
            </a:r>
            <a:r>
              <a:rPr dirty="0"/>
              <a:t>Loss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01167"/>
            <a:ext cx="7164348" cy="425011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3791" y="682930"/>
            <a:ext cx="537718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40" dirty="0">
                <a:latin typeface="Calibri Light"/>
                <a:cs typeface="Calibri Light"/>
              </a:rPr>
              <a:t>Linear </a:t>
            </a:r>
            <a:r>
              <a:rPr sz="3500" spc="25" dirty="0">
                <a:latin typeface="Calibri Light"/>
                <a:cs typeface="Calibri Light"/>
              </a:rPr>
              <a:t>Regression</a:t>
            </a:r>
            <a:r>
              <a:rPr sz="3500" spc="-25" dirty="0">
                <a:latin typeface="Calibri Light"/>
                <a:cs typeface="Calibri Light"/>
              </a:rPr>
              <a:t> </a:t>
            </a:r>
            <a:r>
              <a:rPr sz="3500" spc="30" dirty="0">
                <a:latin typeface="Calibri Light"/>
                <a:cs typeface="Calibri Light"/>
              </a:rPr>
              <a:t>(1)</a:t>
            </a:r>
            <a:endParaRPr sz="3500" dirty="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9288" y="1447800"/>
            <a:ext cx="8122284" cy="4201791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79400" algn="l"/>
                <a:tab pos="3963035" algn="l"/>
                <a:tab pos="4202430" algn="l"/>
                <a:tab pos="5060950" algn="l"/>
                <a:tab pos="5723890" algn="l"/>
                <a:tab pos="6771005" algn="l"/>
              </a:tabLst>
            </a:pPr>
            <a:r>
              <a:rPr sz="2400" spc="-5" dirty="0">
                <a:latin typeface="Calibri"/>
                <a:cs typeface="Calibri"/>
              </a:rPr>
              <a:t>Given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dataset </a:t>
            </a:r>
            <a:endParaRPr lang="en-US" sz="2400" spc="-1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625"/>
              </a:spcBef>
              <a:tabLst>
                <a:tab pos="279400" algn="l"/>
                <a:tab pos="3963035" algn="l"/>
                <a:tab pos="4202430" algn="l"/>
                <a:tab pos="5060950" algn="l"/>
                <a:tab pos="5723890" algn="l"/>
                <a:tab pos="6771005" algn="l"/>
              </a:tabLst>
            </a:pPr>
            <a:r>
              <a:rPr lang="en-US" sz="2400" spc="-5" dirty="0">
                <a:latin typeface="Calibri"/>
                <a:cs typeface="Calibri"/>
              </a:rPr>
              <a:t>    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where </a:t>
            </a:r>
            <a:endParaRPr sz="2400" dirty="0">
              <a:latin typeface="Cambria Math"/>
              <a:cs typeface="Cambria Math"/>
            </a:endParaRPr>
          </a:p>
          <a:p>
            <a:pPr marL="279400" indent="-2667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In the simple </a:t>
            </a:r>
            <a:r>
              <a:rPr sz="2400" spc="-10" dirty="0">
                <a:latin typeface="Calibri"/>
                <a:cs typeface="Calibri"/>
              </a:rPr>
              <a:t>case that </a:t>
            </a:r>
            <a:r>
              <a:rPr sz="2400" dirty="0">
                <a:latin typeface="Calibri"/>
                <a:cs typeface="Calibri"/>
              </a:rPr>
              <a:t>each </a:t>
            </a:r>
            <a:r>
              <a:rPr sz="2400" spc="-5" dirty="0">
                <a:latin typeface="Calibri"/>
                <a:cs typeface="Calibri"/>
              </a:rPr>
              <a:t>sample </a:t>
            </a:r>
            <a:r>
              <a:rPr sz="2400" dirty="0">
                <a:latin typeface="Calibri"/>
                <a:cs typeface="Calibri"/>
              </a:rPr>
              <a:t>has </a:t>
            </a:r>
            <a:r>
              <a:rPr sz="2400" spc="-5" dirty="0">
                <a:latin typeface="Calibri"/>
                <a:cs typeface="Calibri"/>
              </a:rPr>
              <a:t>only one </a:t>
            </a:r>
            <a:r>
              <a:rPr sz="2400" spc="-15" dirty="0">
                <a:latin typeface="Calibri"/>
                <a:cs typeface="Calibri"/>
              </a:rPr>
              <a:t>attribute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(i.e.,</a:t>
            </a:r>
            <a:endParaRPr sz="2400" dirty="0">
              <a:latin typeface="Calibri"/>
              <a:cs typeface="Calibri"/>
            </a:endParaRPr>
          </a:p>
          <a:p>
            <a:pPr marL="27940" algn="ctr">
              <a:lnSpc>
                <a:spcPct val="100000"/>
              </a:lnSpc>
              <a:spcBef>
                <a:spcPts val="620"/>
              </a:spcBef>
            </a:pPr>
            <a:r>
              <a:rPr lang="en-US" sz="2400" i="1" spc="60" dirty="0">
                <a:latin typeface="Cambria Math"/>
                <a:cs typeface="Cambria Math"/>
              </a:rPr>
              <a:t>d</a:t>
            </a:r>
            <a:r>
              <a:rPr sz="2400" i="1" spc="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 </a:t>
            </a:r>
            <a:r>
              <a:rPr sz="2400" spc="-5" dirty="0">
                <a:latin typeface="Cambria Math"/>
                <a:cs typeface="Cambria Math"/>
              </a:rPr>
              <a:t>1</a:t>
            </a:r>
            <a:r>
              <a:rPr sz="2400" spc="-5" dirty="0">
                <a:latin typeface="Calibri"/>
                <a:cs typeface="Calibri"/>
              </a:rPr>
              <a:t>), linear </a:t>
            </a:r>
            <a:r>
              <a:rPr sz="2400" spc="-10" dirty="0">
                <a:latin typeface="Calibri"/>
                <a:cs typeface="Calibri"/>
              </a:rPr>
              <a:t>regression </a:t>
            </a:r>
            <a:r>
              <a:rPr sz="2400" spc="-5" dirty="0">
                <a:latin typeface="Calibri"/>
                <a:cs typeface="Calibri"/>
              </a:rPr>
              <a:t>aims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learn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function:</a:t>
            </a:r>
            <a:endParaRPr sz="2400" dirty="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605"/>
              </a:spcBef>
              <a:tabLst>
                <a:tab pos="3475990" algn="l"/>
                <a:tab pos="3780154" algn="l"/>
                <a:tab pos="4248150" algn="l"/>
              </a:tabLst>
            </a:pPr>
            <a:endParaRPr lang="en-US" sz="2400" spc="-5" dirty="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605"/>
              </a:spcBef>
              <a:tabLst>
                <a:tab pos="3475990" algn="l"/>
                <a:tab pos="3780154" algn="l"/>
                <a:tab pos="4248150" algn="l"/>
              </a:tabLst>
            </a:pPr>
            <a:r>
              <a:rPr sz="2400" spc="-5" dirty="0">
                <a:latin typeface="Calibri"/>
                <a:cs typeface="Calibri"/>
              </a:rPr>
              <a:t>such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lang="en-US" sz="2400" spc="-10" dirty="0">
                <a:latin typeface="Calibri"/>
                <a:cs typeface="Calibri"/>
              </a:rPr>
              <a:t>                           </a:t>
            </a:r>
            <a:endParaRPr sz="2700" baseline="-15432" dirty="0">
              <a:latin typeface="Cambria Math"/>
              <a:cs typeface="Cambria Math"/>
            </a:endParaRPr>
          </a:p>
          <a:p>
            <a:pPr marL="279400" indent="-228600">
              <a:lnSpc>
                <a:spcPct val="100000"/>
              </a:lnSpc>
              <a:spcBef>
                <a:spcPts val="1515"/>
              </a:spcBef>
              <a:buFont typeface="Arial"/>
              <a:buChar char="•"/>
              <a:tabLst>
                <a:tab pos="279400" algn="l"/>
              </a:tabLst>
            </a:pPr>
            <a:r>
              <a:rPr sz="2400" i="1" spc="-5" dirty="0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sz="2400" i="1" spc="-20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2400" i="1" spc="-5" dirty="0">
                <a:solidFill>
                  <a:srgbClr val="C00000"/>
                </a:solidFill>
                <a:latin typeface="Calibri"/>
                <a:cs typeface="Calibri"/>
              </a:rPr>
              <a:t>determine the parameters </a:t>
            </a:r>
            <a:r>
              <a:rPr lang="en-US" sz="2400" i="1" spc="440" dirty="0">
                <a:solidFill>
                  <a:srgbClr val="C00000"/>
                </a:solidFill>
                <a:latin typeface="Cambria Math"/>
                <a:cs typeface="Calibri"/>
              </a:rPr>
              <a:t>w</a:t>
            </a:r>
            <a:r>
              <a:rPr sz="2400" spc="44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i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400" i="1" spc="-3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US" sz="2400" i="1" spc="350" dirty="0">
                <a:solidFill>
                  <a:srgbClr val="C00000"/>
                </a:solidFill>
                <a:latin typeface="Cambria Math"/>
                <a:cs typeface="Calibri"/>
              </a:rPr>
              <a:t> b ?</a:t>
            </a:r>
            <a:endParaRPr sz="2400" dirty="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1630"/>
              </a:spcBef>
              <a:buFont typeface="Arial"/>
              <a:buChar char="•"/>
              <a:tabLst>
                <a:tab pos="279400" algn="l"/>
              </a:tabLst>
            </a:pPr>
            <a:r>
              <a:rPr sz="2400" spc="-45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will use the </a:t>
            </a:r>
            <a:r>
              <a:rPr sz="2400" spc="-10" dirty="0">
                <a:latin typeface="Calibri"/>
                <a:cs typeface="Calibri"/>
              </a:rPr>
              <a:t>square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loss!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F0EB1A-A8B4-4020-9053-760E0D66A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487" y="1524000"/>
            <a:ext cx="3737113" cy="3677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5AD64B-F34A-4695-88FE-D896501F9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944757"/>
            <a:ext cx="3220278" cy="4174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6EE604-2F65-4E8C-A57E-5854330E1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88635"/>
            <a:ext cx="1828800" cy="3975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12F3E7-3664-47AE-88E1-AD76427283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2400" y="3995530"/>
            <a:ext cx="1152939" cy="34787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3791" y="682930"/>
            <a:ext cx="537718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40" dirty="0">
                <a:latin typeface="Calibri Light"/>
                <a:cs typeface="Calibri Light"/>
              </a:rPr>
              <a:t>Linear </a:t>
            </a:r>
            <a:r>
              <a:rPr sz="3500" spc="25" dirty="0">
                <a:latin typeface="Calibri Light"/>
                <a:cs typeface="Calibri Light"/>
              </a:rPr>
              <a:t>Regression</a:t>
            </a:r>
            <a:r>
              <a:rPr sz="3500" spc="-25" dirty="0">
                <a:latin typeface="Calibri Light"/>
                <a:cs typeface="Calibri Light"/>
              </a:rPr>
              <a:t> </a:t>
            </a:r>
            <a:r>
              <a:rPr sz="3500" spc="30" dirty="0">
                <a:latin typeface="Calibri Light"/>
                <a:cs typeface="Calibri Light"/>
              </a:rPr>
              <a:t>(2)</a:t>
            </a:r>
            <a:endParaRPr sz="35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688" y="1564028"/>
            <a:ext cx="7778115" cy="19411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marR="17780" indent="-228600">
              <a:lnSpc>
                <a:spcPct val="118300"/>
              </a:lnSpc>
              <a:spcBef>
                <a:spcPts val="100"/>
              </a:spcBef>
              <a:buFont typeface="Arial"/>
              <a:buChar char="•"/>
              <a:tabLst>
                <a:tab pos="254000" algn="l"/>
              </a:tabLst>
            </a:pPr>
            <a:r>
              <a:rPr sz="2400" spc="-5" dirty="0">
                <a:latin typeface="Calibri"/>
                <a:cs typeface="Calibri"/>
              </a:rPr>
              <a:t>In the simple </a:t>
            </a:r>
            <a:r>
              <a:rPr sz="2400" spc="-10" dirty="0">
                <a:latin typeface="Calibri"/>
                <a:cs typeface="Calibri"/>
              </a:rPr>
              <a:t>case </a:t>
            </a:r>
            <a:r>
              <a:rPr sz="2400" spc="-5" dirty="0">
                <a:latin typeface="Calibri"/>
                <a:cs typeface="Calibri"/>
              </a:rPr>
              <a:t>with only one </a:t>
            </a:r>
            <a:r>
              <a:rPr sz="2400" spc="-15" dirty="0">
                <a:latin typeface="Calibri"/>
                <a:cs typeface="Calibri"/>
              </a:rPr>
              <a:t>attribute </a:t>
            </a:r>
            <a:r>
              <a:rPr sz="2400" spc="-5" dirty="0">
                <a:latin typeface="Calibri"/>
                <a:cs typeface="Calibri"/>
              </a:rPr>
              <a:t>(i.e., </a:t>
            </a:r>
            <a:r>
              <a:rPr lang="en-US" sz="2400" i="1" spc="705" dirty="0">
                <a:latin typeface="Cambria Math"/>
                <a:cs typeface="Calibri"/>
              </a:rPr>
              <a:t>d</a:t>
            </a:r>
            <a:r>
              <a:rPr sz="2400" dirty="0">
                <a:latin typeface="Cambria Math"/>
                <a:cs typeface="Cambria Math"/>
              </a:rPr>
              <a:t>= </a:t>
            </a:r>
            <a:r>
              <a:rPr sz="2400" spc="-5" dirty="0">
                <a:latin typeface="Cambria Math"/>
                <a:cs typeface="Cambria Math"/>
              </a:rPr>
              <a:t>1</a:t>
            </a:r>
            <a:r>
              <a:rPr sz="2400" spc="-5" dirty="0">
                <a:latin typeface="Calibri"/>
                <a:cs typeface="Calibri"/>
              </a:rPr>
              <a:t>),</a:t>
            </a:r>
            <a:r>
              <a:rPr sz="2400" spc="-3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linear  </a:t>
            </a:r>
            <a:r>
              <a:rPr sz="2400" spc="-10" dirty="0">
                <a:latin typeface="Calibri"/>
                <a:cs typeface="Calibri"/>
              </a:rPr>
              <a:t>regression </a:t>
            </a:r>
            <a:r>
              <a:rPr sz="2400" spc="-5" dirty="0">
                <a:latin typeface="Calibri"/>
                <a:cs typeface="Calibri"/>
              </a:rPr>
              <a:t>aims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learn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function:</a:t>
            </a:r>
            <a:endParaRPr sz="2400" dirty="0">
              <a:latin typeface="Calibri"/>
              <a:cs typeface="Calibri"/>
            </a:endParaRPr>
          </a:p>
          <a:p>
            <a:pPr marL="939165">
              <a:lnSpc>
                <a:spcPct val="100000"/>
              </a:lnSpc>
              <a:spcBef>
                <a:spcPts val="1605"/>
              </a:spcBef>
              <a:tabLst>
                <a:tab pos="1243330" algn="l"/>
                <a:tab pos="1711325" algn="l"/>
                <a:tab pos="4596765" algn="l"/>
                <a:tab pos="4900930" algn="l"/>
                <a:tab pos="5368925" algn="l"/>
              </a:tabLst>
            </a:pPr>
            <a:endParaRPr sz="2700" baseline="-15432" dirty="0">
              <a:latin typeface="Cambria Math"/>
              <a:cs typeface="Cambria Math"/>
            </a:endParaRPr>
          </a:p>
          <a:p>
            <a:pPr marL="254000" indent="-228600">
              <a:lnSpc>
                <a:spcPct val="100000"/>
              </a:lnSpc>
              <a:spcBef>
                <a:spcPts val="1635"/>
              </a:spcBef>
              <a:buFont typeface="Arial"/>
              <a:buChar char="•"/>
              <a:tabLst>
                <a:tab pos="254000" algn="l"/>
              </a:tabLst>
            </a:pPr>
            <a:r>
              <a:rPr sz="2400" spc="-45" dirty="0">
                <a:latin typeface="Calibri"/>
                <a:cs typeface="Calibri"/>
              </a:rPr>
              <a:t>We </a:t>
            </a:r>
            <a:r>
              <a:rPr sz="2400" spc="-10" dirty="0">
                <a:latin typeface="Calibri"/>
                <a:cs typeface="Calibri"/>
              </a:rPr>
              <a:t>can minimize </a:t>
            </a:r>
            <a:r>
              <a:rPr sz="2400" spc="-5" dirty="0">
                <a:latin typeface="Calibri"/>
                <a:cs typeface="Calibri"/>
              </a:rPr>
              <a:t>the loss function using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squared</a:t>
            </a:r>
            <a:r>
              <a:rPr sz="24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loss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9288" y="4953000"/>
            <a:ext cx="7944484" cy="51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28600">
              <a:lnSpc>
                <a:spcPts val="2340"/>
              </a:lnSpc>
              <a:spcBef>
                <a:spcPts val="100"/>
              </a:spcBef>
              <a:buFont typeface="Arial"/>
              <a:buChar char="•"/>
              <a:tabLst>
                <a:tab pos="279400" algn="l"/>
              </a:tabLst>
            </a:pPr>
            <a:r>
              <a:rPr sz="2400" spc="-10" dirty="0">
                <a:latin typeface="Calibri"/>
                <a:cs typeface="Calibri"/>
              </a:rPr>
              <a:t>Calculate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derivative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700" spc="179" baseline="43209" dirty="0">
                <a:latin typeface="Cambria Math"/>
                <a:cs typeface="Cambria Math"/>
              </a:rPr>
              <a:t> </a:t>
            </a:r>
            <a:r>
              <a:rPr lang="en-US" sz="2700" spc="179" baseline="43209" dirty="0">
                <a:latin typeface="Cambria Math"/>
                <a:cs typeface="Cambria Math"/>
              </a:rPr>
              <a:t>    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lang="en-US" sz="2400" dirty="0">
                <a:latin typeface="Calibri"/>
                <a:cs typeface="Calibri"/>
              </a:rPr>
              <a:t>     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let </a:t>
            </a:r>
            <a:r>
              <a:rPr sz="2400" dirty="0">
                <a:latin typeface="Calibri"/>
                <a:cs typeface="Calibri"/>
              </a:rPr>
              <a:t>them equal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0.</a:t>
            </a:r>
            <a:endParaRPr sz="2400" dirty="0">
              <a:latin typeface="Calibri"/>
              <a:cs typeface="Calibri"/>
            </a:endParaRPr>
          </a:p>
          <a:p>
            <a:pPr marL="412115" algn="ctr">
              <a:lnSpc>
                <a:spcPts val="1620"/>
              </a:lnSpc>
              <a:tabLst>
                <a:tab pos="1341755" algn="l"/>
              </a:tabLst>
            </a:pPr>
            <a:r>
              <a:rPr sz="1800" spc="540" dirty="0">
                <a:latin typeface="Cambria Math"/>
                <a:cs typeface="Cambria Math"/>
              </a:rPr>
              <a:t>	</a:t>
            </a:r>
            <a:endParaRPr sz="1800" dirty="0">
              <a:latin typeface="Cambria Math"/>
              <a:cs typeface="Cambria Math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C757AF-A906-4174-83E8-B8FB60AED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514600"/>
            <a:ext cx="1828800" cy="3975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2F939E-FE8E-4B6C-AD2A-3B3B37992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861" y="2547730"/>
            <a:ext cx="1152939" cy="3478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2373C2-0CDD-4D06-A896-1ED16BFF1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4417" y="3756991"/>
            <a:ext cx="4055165" cy="8150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AB195A3-C0CB-4B73-955B-020A792129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4191" y="4896678"/>
            <a:ext cx="357809" cy="43732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F2849C1-1361-46EB-BB89-D159AC434C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8348" y="4866861"/>
            <a:ext cx="318052" cy="46713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3791" y="682930"/>
            <a:ext cx="537718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40" dirty="0">
                <a:latin typeface="Calibri Light"/>
                <a:cs typeface="Calibri Light"/>
              </a:rPr>
              <a:t>Linear </a:t>
            </a:r>
            <a:r>
              <a:rPr sz="3500" spc="25" dirty="0">
                <a:latin typeface="Calibri Light"/>
                <a:cs typeface="Calibri Light"/>
              </a:rPr>
              <a:t>Regression</a:t>
            </a:r>
            <a:r>
              <a:rPr sz="3500" spc="-25" dirty="0">
                <a:latin typeface="Calibri Light"/>
                <a:cs typeface="Calibri Light"/>
              </a:rPr>
              <a:t> </a:t>
            </a:r>
            <a:r>
              <a:rPr sz="3500" spc="30" dirty="0">
                <a:latin typeface="Calibri Light"/>
                <a:cs typeface="Calibri Light"/>
              </a:rPr>
              <a:t>(3)</a:t>
            </a:r>
            <a:endParaRPr sz="35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688" y="1536621"/>
            <a:ext cx="8023225" cy="2297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marR="198120" indent="-228600">
              <a:lnSpc>
                <a:spcPct val="107500"/>
              </a:lnSpc>
              <a:spcBef>
                <a:spcPts val="100"/>
              </a:spcBef>
              <a:buFont typeface="Arial"/>
              <a:buChar char="•"/>
              <a:tabLst>
                <a:tab pos="254000" algn="l"/>
              </a:tabLst>
            </a:pPr>
            <a:r>
              <a:rPr sz="2400" spc="-5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general case </a:t>
            </a:r>
            <a:r>
              <a:rPr sz="2400" spc="-5" dirty="0">
                <a:latin typeface="Calibri"/>
                <a:cs typeface="Calibri"/>
              </a:rPr>
              <a:t>with multiple </a:t>
            </a:r>
            <a:r>
              <a:rPr sz="2400" spc="-15" dirty="0">
                <a:latin typeface="Calibri"/>
                <a:cs typeface="Calibri"/>
              </a:rPr>
              <a:t>attribute </a:t>
            </a:r>
            <a:r>
              <a:rPr sz="2400" spc="-5" dirty="0">
                <a:latin typeface="Calibri"/>
                <a:cs typeface="Calibri"/>
              </a:rPr>
              <a:t>(i.e., </a:t>
            </a:r>
            <a:r>
              <a:rPr lang="en-US" sz="2400" i="1" spc="705" dirty="0">
                <a:latin typeface="Cambria Math"/>
                <a:cs typeface="Calibri"/>
              </a:rPr>
              <a:t>d&gt;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1</a:t>
            </a:r>
            <a:r>
              <a:rPr sz="2400" spc="-5" dirty="0">
                <a:latin typeface="Calibri"/>
                <a:cs typeface="Calibri"/>
              </a:rPr>
              <a:t>),</a:t>
            </a:r>
            <a:r>
              <a:rPr sz="2400" spc="-3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linear  </a:t>
            </a:r>
            <a:r>
              <a:rPr sz="2400" spc="-10" dirty="0">
                <a:latin typeface="Calibri"/>
                <a:cs typeface="Calibri"/>
              </a:rPr>
              <a:t>regression </a:t>
            </a:r>
            <a:r>
              <a:rPr sz="2400" spc="-5" dirty="0">
                <a:latin typeface="Calibri"/>
                <a:cs typeface="Calibri"/>
              </a:rPr>
              <a:t>aims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learn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function:</a:t>
            </a:r>
            <a:endParaRPr sz="2400" dirty="0">
              <a:latin typeface="Calibri"/>
              <a:cs typeface="Calibri"/>
            </a:endParaRPr>
          </a:p>
          <a:p>
            <a:pPr marL="254000" marR="17780" indent="-228600">
              <a:lnSpc>
                <a:spcPct val="110800"/>
              </a:lnSpc>
              <a:spcBef>
                <a:spcPts val="1005"/>
              </a:spcBef>
              <a:buFont typeface="Arial"/>
              <a:buChar char="•"/>
              <a:tabLst>
                <a:tab pos="254000" algn="l"/>
              </a:tabLst>
            </a:pPr>
            <a:endParaRPr lang="en-US" sz="2400" spc="-15" dirty="0">
              <a:latin typeface="Calibri"/>
              <a:cs typeface="Calibri"/>
            </a:endParaRPr>
          </a:p>
          <a:p>
            <a:pPr marL="254000" marR="17780" indent="-228600">
              <a:lnSpc>
                <a:spcPct val="110800"/>
              </a:lnSpc>
              <a:spcBef>
                <a:spcPts val="1005"/>
              </a:spcBef>
              <a:buFont typeface="Arial"/>
              <a:buChar char="•"/>
              <a:tabLst>
                <a:tab pos="254000" algn="l"/>
              </a:tabLst>
            </a:pP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20" dirty="0">
                <a:latin typeface="Calibri"/>
                <a:cs typeface="Calibri"/>
              </a:rPr>
              <a:t>simplicity,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define 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lang="en-US" sz="2400" spc="125" dirty="0">
                <a:latin typeface="Cambria Math"/>
                <a:cs typeface="Cambria Math"/>
              </a:rPr>
              <a:t>  </a:t>
            </a:r>
            <a:r>
              <a:rPr sz="2400" dirty="0">
                <a:latin typeface="Cambria Math"/>
                <a:cs typeface="Cambria Math"/>
              </a:rPr>
              <a:t>= </a:t>
            </a:r>
            <a:r>
              <a:rPr sz="2400" spc="434" dirty="0">
                <a:latin typeface="Cambria Math"/>
                <a:cs typeface="Cambria Math"/>
              </a:rPr>
              <a:t>[</a:t>
            </a:r>
            <a:r>
              <a:rPr lang="en-US" sz="2400" b="1" i="1" spc="434" dirty="0" err="1">
                <a:latin typeface="Cambria Math"/>
                <a:cs typeface="Cambria Math"/>
              </a:rPr>
              <a:t>w</a:t>
            </a:r>
            <a:r>
              <a:rPr sz="2400" spc="434" dirty="0" err="1">
                <a:latin typeface="Cambria Math"/>
                <a:cs typeface="Cambria Math"/>
              </a:rPr>
              <a:t>,</a:t>
            </a:r>
            <a:r>
              <a:rPr lang="en-US" sz="2400" i="1" spc="120" dirty="0" err="1">
                <a:latin typeface="Cambria Math"/>
                <a:cs typeface="Cambria Math"/>
              </a:rPr>
              <a:t>b</a:t>
            </a:r>
            <a:r>
              <a:rPr sz="2400" spc="120" dirty="0">
                <a:latin typeface="Cambria Math"/>
                <a:cs typeface="Cambria Math"/>
              </a:rPr>
              <a:t>]</a:t>
            </a:r>
            <a:r>
              <a:rPr lang="en-US" sz="2700" spc="179" baseline="27777" dirty="0">
                <a:latin typeface="Cambria Math"/>
                <a:cs typeface="Cambria Math"/>
              </a:rPr>
              <a:t>T</a:t>
            </a:r>
            <a:r>
              <a:rPr sz="2400" spc="120" dirty="0">
                <a:latin typeface="Calibri"/>
                <a:cs typeface="Calibri"/>
              </a:rPr>
              <a:t>, </a:t>
            </a:r>
            <a:r>
              <a:rPr sz="2400" spc="-10">
                <a:latin typeface="Calibri"/>
                <a:cs typeface="Calibri"/>
              </a:rPr>
              <a:t>represent dataset</a:t>
            </a:r>
            <a:r>
              <a:rPr sz="2400" spc="-215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as a  </a:t>
            </a:r>
            <a:r>
              <a:rPr sz="2400" spc="-10" dirty="0">
                <a:latin typeface="Calibri"/>
                <a:cs typeface="Calibri"/>
              </a:rPr>
              <a:t>matrix </a:t>
            </a:r>
            <a:r>
              <a:rPr lang="en-US" sz="2400" b="1" i="1" spc="330" dirty="0">
                <a:latin typeface="Cambria Math"/>
                <a:cs typeface="Calibri"/>
              </a:rPr>
              <a:t>X</a:t>
            </a:r>
            <a:r>
              <a:rPr sz="2400" spc="33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size </a:t>
            </a:r>
            <a:r>
              <a:rPr lang="en-US" sz="2400" spc="355" dirty="0">
                <a:latin typeface="Cambria Math"/>
                <a:cs typeface="Calibri"/>
              </a:rPr>
              <a:t>m</a:t>
            </a:r>
            <a:r>
              <a:rPr sz="2400" spc="355" dirty="0">
                <a:latin typeface="Cambria Math"/>
                <a:cs typeface="Cambria Math"/>
              </a:rPr>
              <a:t>×(</a:t>
            </a:r>
            <a:r>
              <a:rPr lang="en-US" sz="2400" i="1" spc="355" dirty="0">
                <a:latin typeface="Cambria Math"/>
                <a:cs typeface="Cambria Math"/>
              </a:rPr>
              <a:t>d</a:t>
            </a:r>
            <a:r>
              <a:rPr sz="2400" spc="-2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 </a:t>
            </a:r>
            <a:r>
              <a:rPr sz="2400" spc="-5" dirty="0">
                <a:latin typeface="Cambria Math"/>
                <a:cs typeface="Cambria Math"/>
              </a:rPr>
              <a:t>1)</a:t>
            </a:r>
            <a:r>
              <a:rPr sz="2400" spc="-5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5038" y="5815076"/>
            <a:ext cx="6704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represent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700" spc="412" baseline="-15432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vector</a:t>
            </a:r>
            <a:r>
              <a:rPr sz="2400" spc="-15" dirty="0">
                <a:latin typeface="Calibri"/>
                <a:cs typeface="Calibri"/>
              </a:rPr>
              <a:t> form:</a:t>
            </a:r>
            <a:endParaRPr sz="2700" baseline="27777" dirty="0">
              <a:latin typeface="Cambria Math"/>
              <a:cs typeface="Cambria Math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FAB3E59-0353-4E6A-A008-C7B1E8F33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514600"/>
            <a:ext cx="1828800" cy="3975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18B6FB6-985C-4263-8D33-240F4ADFA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861" y="2547730"/>
            <a:ext cx="1152939" cy="3478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F147ACB-7237-411E-B740-BC7B04140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6608" y="4038600"/>
            <a:ext cx="4770783" cy="13716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CF46549-97B2-40AB-A0B8-D6788D55C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5824330"/>
            <a:ext cx="2226365" cy="3478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146EF70-B6BC-4EA8-BB3C-3284F9A659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3130" y="3015818"/>
            <a:ext cx="340270" cy="41318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3791" y="682930"/>
            <a:ext cx="537718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40" dirty="0">
                <a:latin typeface="Calibri Light"/>
                <a:cs typeface="Calibri Light"/>
              </a:rPr>
              <a:t>Linear </a:t>
            </a:r>
            <a:r>
              <a:rPr sz="3500" spc="25" dirty="0">
                <a:latin typeface="Calibri Light"/>
                <a:cs typeface="Calibri Light"/>
              </a:rPr>
              <a:t>Regression</a:t>
            </a:r>
            <a:r>
              <a:rPr sz="3500" spc="-25" dirty="0">
                <a:latin typeface="Calibri Light"/>
                <a:cs typeface="Calibri Light"/>
              </a:rPr>
              <a:t> </a:t>
            </a:r>
            <a:r>
              <a:rPr sz="3500" spc="30" dirty="0">
                <a:latin typeface="Calibri Light"/>
                <a:cs typeface="Calibri Light"/>
              </a:rPr>
              <a:t>(4)</a:t>
            </a:r>
            <a:endParaRPr sz="3500" dirty="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9288" y="1886998"/>
            <a:ext cx="8022590" cy="2001638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42900" marR="636905" indent="-342900">
              <a:lnSpc>
                <a:spcPct val="100000"/>
              </a:lnSpc>
              <a:spcBef>
                <a:spcPts val="1320"/>
              </a:spcBef>
              <a:buFont typeface="Arial" panose="020B0604020202020204" pitchFamily="34" charset="0"/>
              <a:buChar char="•"/>
              <a:tabLst>
                <a:tab pos="303530" algn="l"/>
                <a:tab pos="771525" algn="l"/>
                <a:tab pos="3206115" algn="l"/>
                <a:tab pos="3510279" algn="l"/>
                <a:tab pos="3995420" algn="l"/>
              </a:tabLst>
            </a:pPr>
            <a:r>
              <a:rPr sz="2400" spc="-45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now </a:t>
            </a:r>
            <a:r>
              <a:rPr sz="2400" spc="-15" dirty="0">
                <a:latin typeface="Calibri"/>
                <a:cs typeface="Calibri"/>
              </a:rPr>
              <a:t>optimize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problem:</a:t>
            </a:r>
            <a:endParaRPr lang="en-US" sz="2400" spc="-10" dirty="0">
              <a:latin typeface="Calibri"/>
              <a:cs typeface="Calibri"/>
            </a:endParaRPr>
          </a:p>
          <a:p>
            <a:pPr marR="636905">
              <a:lnSpc>
                <a:spcPct val="100000"/>
              </a:lnSpc>
              <a:spcBef>
                <a:spcPts val="1320"/>
              </a:spcBef>
              <a:tabLst>
                <a:tab pos="303530" algn="l"/>
                <a:tab pos="771525" algn="l"/>
                <a:tab pos="3206115" algn="l"/>
                <a:tab pos="3510279" algn="l"/>
                <a:tab pos="3995420" algn="l"/>
              </a:tabLst>
            </a:pPr>
            <a:endParaRPr sz="2400" dirty="0">
              <a:latin typeface="Calibri"/>
              <a:cs typeface="Calibri"/>
            </a:endParaRPr>
          </a:p>
          <a:p>
            <a:pPr marL="279400" marR="43180" indent="-228600">
              <a:lnSpc>
                <a:spcPct val="110800"/>
              </a:lnSpc>
              <a:spcBef>
                <a:spcPts val="1010"/>
              </a:spcBef>
              <a:buFont typeface="Arial"/>
              <a:buChar char="•"/>
              <a:tabLst>
                <a:tab pos="279400" algn="l"/>
                <a:tab pos="3541395" algn="l"/>
                <a:tab pos="4664075" algn="l"/>
                <a:tab pos="4947920" algn="l"/>
                <a:tab pos="6069965" algn="l"/>
              </a:tabLst>
            </a:pPr>
            <a:r>
              <a:rPr sz="2400" spc="-5" dirty="0">
                <a:latin typeface="Calibri"/>
                <a:cs typeface="Calibri"/>
              </a:rPr>
              <a:t>Let the loss function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en-US" sz="2400" spc="-55" dirty="0">
                <a:latin typeface="Cambria Math"/>
                <a:cs typeface="Calibri"/>
              </a:rPr>
              <a:t>                                                      </a:t>
            </a:r>
            <a:r>
              <a:rPr lang="en-US" sz="2400" spc="-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We </a:t>
            </a:r>
            <a:r>
              <a:rPr sz="2400" spc="-10" dirty="0">
                <a:latin typeface="Calibri"/>
                <a:cs typeface="Calibri"/>
              </a:rPr>
              <a:t>obtain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 </a:t>
            </a:r>
            <a:r>
              <a:rPr sz="2400" spc="-10" dirty="0">
                <a:latin typeface="Calibri"/>
                <a:cs typeface="Calibri"/>
              </a:rPr>
              <a:t>derivative </a:t>
            </a:r>
            <a:r>
              <a:rPr sz="2400" spc="-85" dirty="0" err="1">
                <a:latin typeface="Calibri"/>
                <a:cs typeface="Calibri"/>
              </a:rPr>
              <a:t>w.r.t.</a:t>
            </a:r>
            <a:r>
              <a:rPr lang="en-US" sz="2400" spc="-85" dirty="0">
                <a:latin typeface="Calibri"/>
                <a:cs typeface="Calibri"/>
              </a:rPr>
              <a:t>         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lang="en-US" sz="2400" spc="-1155" dirty="0">
                <a:latin typeface="Cambria Math"/>
                <a:cs typeface="Calibri"/>
              </a:rPr>
              <a:t>      </a:t>
            </a:r>
            <a:r>
              <a:rPr sz="2400" spc="-5" dirty="0">
                <a:latin typeface="Calibri"/>
                <a:cs typeface="Calibri"/>
              </a:rPr>
              <a:t>as: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988" y="4937251"/>
            <a:ext cx="7606665" cy="811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30480" indent="-228600">
              <a:lnSpc>
                <a:spcPct val="110800"/>
              </a:lnSpc>
              <a:spcBef>
                <a:spcPts val="100"/>
              </a:spcBef>
              <a:buFont typeface="Arial"/>
              <a:buChar char="•"/>
              <a:tabLst>
                <a:tab pos="266700" algn="l"/>
              </a:tabLst>
            </a:pPr>
            <a:r>
              <a:rPr sz="2400" spc="-5">
                <a:latin typeface="Calibri"/>
                <a:cs typeface="Calibri"/>
              </a:rPr>
              <a:t>If  </a:t>
            </a:r>
            <a:r>
              <a:rPr lang="en-US" sz="2400" spc="300">
                <a:latin typeface="Cambria Math"/>
                <a:cs typeface="Calibri"/>
              </a:rPr>
              <a:t>  </a:t>
            </a:r>
            <a:r>
              <a:rPr sz="2400" spc="300">
                <a:latin typeface="Cambria Math"/>
                <a:cs typeface="Cambria Math"/>
              </a:rPr>
              <a:t> </a:t>
            </a:r>
            <a:r>
              <a:rPr lang="en-US" sz="2400" spc="300">
                <a:latin typeface="Cambria Math"/>
                <a:cs typeface="Cambria Math"/>
              </a:rPr>
              <a:t>   </a:t>
            </a:r>
            <a:r>
              <a:rPr sz="2400" spc="-5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a full </a:t>
            </a:r>
            <a:r>
              <a:rPr sz="2400" spc="-15" dirty="0">
                <a:latin typeface="Calibri"/>
                <a:cs typeface="Calibri"/>
              </a:rPr>
              <a:t>rank </a:t>
            </a:r>
            <a:r>
              <a:rPr sz="2400" spc="-10" dirty="0">
                <a:latin typeface="Calibri"/>
                <a:cs typeface="Calibri"/>
              </a:rPr>
              <a:t>matrix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positive definite matrix,</a:t>
            </a:r>
            <a:r>
              <a:rPr sz="2400" spc="-2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 solution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above problem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is: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0A55DE-B2F0-4E7E-840B-1A49C17C1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513" y="2438400"/>
            <a:ext cx="4412974" cy="5665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27F85F-DA45-40C2-AA20-DBBAEA190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3077817"/>
            <a:ext cx="3260035" cy="4273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4A93470-2D66-45AD-A077-DC4DD39A3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0643" y="4075043"/>
            <a:ext cx="2822713" cy="7255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D4A507-65A7-48AA-BCC0-636D710AFF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600" y="3505200"/>
            <a:ext cx="318052" cy="3975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C6AED4D-37B1-4BA5-B3BB-AFD5940B37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9913" y="5837583"/>
            <a:ext cx="2584174" cy="48701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4698A5F-CDDE-4EC5-BD81-6B53E099AB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2696" y="4926496"/>
            <a:ext cx="636104" cy="40750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3368" y="682930"/>
            <a:ext cx="6040755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30" dirty="0">
                <a:latin typeface="Calibri Light"/>
                <a:cs typeface="Calibri Light"/>
              </a:rPr>
              <a:t>Logistic Regression: General</a:t>
            </a:r>
            <a:r>
              <a:rPr sz="3500" spc="10" dirty="0">
                <a:latin typeface="Calibri Light"/>
                <a:cs typeface="Calibri Light"/>
              </a:rPr>
              <a:t> </a:t>
            </a:r>
            <a:r>
              <a:rPr sz="3500" spc="40" dirty="0">
                <a:latin typeface="Calibri Light"/>
                <a:cs typeface="Calibri Light"/>
              </a:rPr>
              <a:t>Idea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90" y="1429004"/>
            <a:ext cx="6516370" cy="139268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Idea</a:t>
            </a:r>
            <a:r>
              <a:rPr sz="2400" spc="-5" dirty="0">
                <a:latin typeface="Calibri"/>
                <a:cs typeface="Calibri"/>
              </a:rPr>
              <a:t>: </a:t>
            </a:r>
            <a:r>
              <a:rPr sz="2400" spc="-30" dirty="0">
                <a:latin typeface="Calibri"/>
                <a:cs typeface="Calibri"/>
              </a:rPr>
              <a:t>Turns </a:t>
            </a:r>
            <a:r>
              <a:rPr sz="2400" spc="-5" dirty="0">
                <a:latin typeface="Calibri"/>
                <a:cs typeface="Calibri"/>
              </a:rPr>
              <a:t>linear predictions </a:t>
            </a:r>
            <a:r>
              <a:rPr sz="2400" spc="-15" dirty="0">
                <a:latin typeface="Calibri"/>
                <a:cs typeface="Calibri"/>
              </a:rPr>
              <a:t>into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probabilities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Sigmoid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function:</a:t>
            </a:r>
            <a:endParaRPr lang="en-US" sz="2400" spc="-5" dirty="0">
              <a:latin typeface="Calibri"/>
              <a:cs typeface="Calibri"/>
            </a:endParaRPr>
          </a:p>
          <a:p>
            <a:pPr marL="698500" lvl="1" indent="-228600"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77967" y="3187758"/>
            <a:ext cx="4066540" cy="3503929"/>
            <a:chOff x="5077967" y="3187758"/>
            <a:chExt cx="4066540" cy="3503929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7967" y="3675887"/>
              <a:ext cx="4066032" cy="27066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65352" y="3187758"/>
              <a:ext cx="3705860" cy="3503929"/>
            </a:xfrm>
            <a:custGeom>
              <a:avLst/>
              <a:gdLst/>
              <a:ahLst/>
              <a:cxnLst/>
              <a:rect l="l" t="t" r="r" b="b"/>
              <a:pathLst>
                <a:path w="3705859" h="3503929">
                  <a:moveTo>
                    <a:pt x="29192" y="3423780"/>
                  </a:moveTo>
                  <a:lnTo>
                    <a:pt x="0" y="3503816"/>
                  </a:lnTo>
                  <a:lnTo>
                    <a:pt x="81545" y="3479148"/>
                  </a:lnTo>
                  <a:lnTo>
                    <a:pt x="72327" y="3469399"/>
                  </a:lnTo>
                  <a:lnTo>
                    <a:pt x="54884" y="3469399"/>
                  </a:lnTo>
                  <a:lnTo>
                    <a:pt x="37433" y="3450944"/>
                  </a:lnTo>
                  <a:lnTo>
                    <a:pt x="46643" y="3442236"/>
                  </a:lnTo>
                  <a:lnTo>
                    <a:pt x="29192" y="3423780"/>
                  </a:lnTo>
                  <a:close/>
                </a:path>
                <a:path w="3705859" h="3503929">
                  <a:moveTo>
                    <a:pt x="46643" y="3442236"/>
                  </a:moveTo>
                  <a:lnTo>
                    <a:pt x="37433" y="3450944"/>
                  </a:lnTo>
                  <a:lnTo>
                    <a:pt x="54884" y="3469399"/>
                  </a:lnTo>
                  <a:lnTo>
                    <a:pt x="64093" y="3460691"/>
                  </a:lnTo>
                  <a:lnTo>
                    <a:pt x="46643" y="3442236"/>
                  </a:lnTo>
                  <a:close/>
                </a:path>
                <a:path w="3705859" h="3503929">
                  <a:moveTo>
                    <a:pt x="64093" y="3460691"/>
                  </a:moveTo>
                  <a:lnTo>
                    <a:pt x="54884" y="3469399"/>
                  </a:lnTo>
                  <a:lnTo>
                    <a:pt x="72327" y="3469399"/>
                  </a:lnTo>
                  <a:lnTo>
                    <a:pt x="64093" y="3460691"/>
                  </a:lnTo>
                  <a:close/>
                </a:path>
                <a:path w="3705859" h="3503929">
                  <a:moveTo>
                    <a:pt x="3641558" y="43124"/>
                  </a:moveTo>
                  <a:lnTo>
                    <a:pt x="46643" y="3442236"/>
                  </a:lnTo>
                  <a:lnTo>
                    <a:pt x="64093" y="3460691"/>
                  </a:lnTo>
                  <a:lnTo>
                    <a:pt x="3659009" y="61580"/>
                  </a:lnTo>
                  <a:lnTo>
                    <a:pt x="3641558" y="43124"/>
                  </a:lnTo>
                  <a:close/>
                </a:path>
                <a:path w="3705859" h="3503929">
                  <a:moveTo>
                    <a:pt x="3693101" y="34409"/>
                  </a:moveTo>
                  <a:lnTo>
                    <a:pt x="3650776" y="34409"/>
                  </a:lnTo>
                  <a:lnTo>
                    <a:pt x="3668227" y="52865"/>
                  </a:lnTo>
                  <a:lnTo>
                    <a:pt x="3659009" y="61580"/>
                  </a:lnTo>
                  <a:lnTo>
                    <a:pt x="3676460" y="80036"/>
                  </a:lnTo>
                  <a:lnTo>
                    <a:pt x="3693101" y="34409"/>
                  </a:lnTo>
                  <a:close/>
                </a:path>
                <a:path w="3705859" h="3503929">
                  <a:moveTo>
                    <a:pt x="3650776" y="34409"/>
                  </a:moveTo>
                  <a:lnTo>
                    <a:pt x="3641558" y="43124"/>
                  </a:lnTo>
                  <a:lnTo>
                    <a:pt x="3659009" y="61580"/>
                  </a:lnTo>
                  <a:lnTo>
                    <a:pt x="3668227" y="52865"/>
                  </a:lnTo>
                  <a:lnTo>
                    <a:pt x="3650776" y="34409"/>
                  </a:lnTo>
                  <a:close/>
                </a:path>
                <a:path w="3705859" h="3503929">
                  <a:moveTo>
                    <a:pt x="3705651" y="0"/>
                  </a:moveTo>
                  <a:lnTo>
                    <a:pt x="3624107" y="24668"/>
                  </a:lnTo>
                  <a:lnTo>
                    <a:pt x="3641558" y="43124"/>
                  </a:lnTo>
                  <a:lnTo>
                    <a:pt x="3650776" y="34409"/>
                  </a:lnTo>
                  <a:lnTo>
                    <a:pt x="3693101" y="34409"/>
                  </a:lnTo>
                  <a:lnTo>
                    <a:pt x="370565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63107" y="6204203"/>
            <a:ext cx="18351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Linear</a:t>
            </a:r>
            <a:r>
              <a:rPr sz="20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Probability  Model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7390" y="2837180"/>
            <a:ext cx="6278245" cy="196596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Projects </a:t>
            </a:r>
            <a:r>
              <a:rPr sz="2400" spc="-5" dirty="0">
                <a:latin typeface="Cambria Math"/>
                <a:cs typeface="Cambria Math"/>
              </a:rPr>
              <a:t>(−∞, +∞)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mbria Math"/>
                <a:cs typeface="Cambria Math"/>
              </a:rPr>
              <a:t>[0,</a:t>
            </a:r>
            <a:r>
              <a:rPr sz="2400" spc="-25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1]</a:t>
            </a:r>
            <a:endParaRPr sz="2400" dirty="0">
              <a:latin typeface="Cambria Math"/>
              <a:cs typeface="Cambria Math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Compare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linear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model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More</a:t>
            </a:r>
            <a:r>
              <a:rPr sz="2400" spc="-5" dirty="0">
                <a:latin typeface="Calibri"/>
                <a:cs typeface="Calibri"/>
              </a:rPr>
              <a:t> smooth</a:t>
            </a:r>
            <a:endParaRPr sz="2400" dirty="0">
              <a:latin typeface="Calibri"/>
              <a:cs typeface="Calibri"/>
            </a:endParaRPr>
          </a:p>
          <a:p>
            <a:pPr marL="4323080" marR="5080">
              <a:lnSpc>
                <a:spcPct val="100000"/>
              </a:lnSpc>
              <a:spcBef>
                <a:spcPts val="185"/>
              </a:spcBef>
            </a:pPr>
            <a:r>
              <a:rPr sz="2000" spc="-5" dirty="0">
                <a:solidFill>
                  <a:srgbClr val="0070C0"/>
                </a:solidFill>
                <a:latin typeface="Calibri"/>
                <a:cs typeface="Calibri"/>
              </a:rPr>
              <a:t>Logistic</a:t>
            </a:r>
            <a:r>
              <a:rPr sz="2000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70C0"/>
                </a:solidFill>
                <a:latin typeface="Calibri"/>
                <a:cs typeface="Calibri"/>
              </a:rPr>
              <a:t>Regression  </a:t>
            </a:r>
            <a:r>
              <a:rPr sz="2000" spc="-5" dirty="0">
                <a:solidFill>
                  <a:srgbClr val="0070C0"/>
                </a:solidFill>
                <a:latin typeface="Calibri"/>
                <a:cs typeface="Calibri"/>
              </a:rPr>
              <a:t>Model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0DCD8C-E7CE-4A35-9774-D80FCF4EB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319130"/>
            <a:ext cx="2822713" cy="57647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2800" y="682930"/>
            <a:ext cx="7522845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30" dirty="0">
                <a:latin typeface="Calibri Light"/>
                <a:cs typeface="Calibri Light"/>
              </a:rPr>
              <a:t>Logistic Regression: </a:t>
            </a:r>
            <a:r>
              <a:rPr sz="3500" spc="55" dirty="0">
                <a:latin typeface="Calibri Light"/>
                <a:cs typeface="Calibri Light"/>
              </a:rPr>
              <a:t>Maximum</a:t>
            </a:r>
            <a:r>
              <a:rPr sz="3500" spc="10" dirty="0">
                <a:latin typeface="Calibri Light"/>
                <a:cs typeface="Calibri Light"/>
              </a:rPr>
              <a:t> </a:t>
            </a:r>
            <a:r>
              <a:rPr sz="3500" spc="25" dirty="0">
                <a:latin typeface="Calibri Light"/>
                <a:cs typeface="Calibri Light"/>
              </a:rPr>
              <a:t>Likelihood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680" y="1770379"/>
            <a:ext cx="4184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prediction </a:t>
            </a:r>
            <a:r>
              <a:rPr sz="2400" spc="-5" dirty="0">
                <a:latin typeface="Calibri"/>
                <a:cs typeface="Calibri"/>
              </a:rPr>
              <a:t>function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531980" y="3175258"/>
            <a:ext cx="6248400" cy="10567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54000" algn="l"/>
              </a:tabLst>
            </a:pPr>
            <a:r>
              <a:rPr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Maximum</a:t>
            </a:r>
            <a:r>
              <a:rPr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Likelihood</a:t>
            </a:r>
          </a:p>
          <a:p>
            <a:pPr marL="7112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711200" algn="l"/>
              </a:tabLst>
            </a:pPr>
            <a:r>
              <a:rPr sz="2400" spc="-5" dirty="0">
                <a:latin typeface="Calibri"/>
                <a:cs typeface="Calibri"/>
              </a:rPr>
              <a:t>Log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likelihood:</a:t>
            </a:r>
            <a:endParaRPr sz="2400" dirty="0">
              <a:latin typeface="Calibri"/>
              <a:cs typeface="Calibri"/>
            </a:endParaRPr>
          </a:p>
          <a:p>
            <a:pPr marL="1346835">
              <a:lnSpc>
                <a:spcPct val="100000"/>
              </a:lnSpc>
              <a:spcBef>
                <a:spcPts val="45"/>
              </a:spcBef>
            </a:pPr>
            <a:endParaRPr sz="1300" dirty="0"/>
          </a:p>
        </p:txBody>
      </p:sp>
      <p:sp>
        <p:nvSpPr>
          <p:cNvPr id="15" name="object 15"/>
          <p:cNvSpPr txBox="1"/>
          <p:nvPr/>
        </p:nvSpPr>
        <p:spPr>
          <a:xfrm>
            <a:off x="531980" y="4343400"/>
            <a:ext cx="7800975" cy="1728037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54000" algn="l"/>
              </a:tabLst>
            </a:pPr>
            <a:endParaRPr lang="en-US" sz="2400" spc="-10" dirty="0">
              <a:latin typeface="Calibri"/>
              <a:cs typeface="Calibri"/>
            </a:endParaRPr>
          </a:p>
          <a:p>
            <a:pPr marL="254000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54000" algn="l"/>
              </a:tabLst>
            </a:pPr>
            <a:r>
              <a:rPr sz="2400" spc="-10" dirty="0">
                <a:latin typeface="Calibri"/>
                <a:cs typeface="Calibri"/>
              </a:rPr>
              <a:t>Optimization: Gradient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Descent</a:t>
            </a:r>
            <a:endParaRPr lang="en-US" sz="2400" spc="-5" dirty="0">
              <a:latin typeface="Calibri"/>
              <a:cs typeface="Calibri"/>
            </a:endParaRPr>
          </a:p>
          <a:p>
            <a:pPr marL="254000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54000" algn="l"/>
              </a:tabLst>
            </a:pPr>
            <a:r>
              <a:rPr lang="en-US" sz="2400" spc="-5" dirty="0">
                <a:latin typeface="Calibri"/>
                <a:cs typeface="Calibri"/>
              </a:rPr>
              <a:t>Note that Logistic Regression is actually a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classification</a:t>
            </a:r>
            <a:r>
              <a:rPr lang="en-US" sz="2400" spc="-5" dirty="0">
                <a:latin typeface="Calibri"/>
                <a:cs typeface="Calibri"/>
              </a:rPr>
              <a:t> method (not really regression)!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D3027A-5DF4-439D-9EDC-540031BB7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209800"/>
            <a:ext cx="5923722" cy="7951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FCD11D0-6CF1-4AE5-ABFE-316308D06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08" y="4041913"/>
            <a:ext cx="7513983" cy="83488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21279" y="682930"/>
            <a:ext cx="390017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50" dirty="0">
                <a:latin typeface="Calibri Light"/>
                <a:cs typeface="Calibri Light"/>
              </a:rPr>
              <a:t>Which </a:t>
            </a:r>
            <a:r>
              <a:rPr sz="3500" spc="40" dirty="0">
                <a:latin typeface="Calibri Light"/>
                <a:cs typeface="Calibri Light"/>
              </a:rPr>
              <a:t>Line </a:t>
            </a:r>
            <a:r>
              <a:rPr sz="3500" spc="30" dirty="0">
                <a:latin typeface="Calibri Light"/>
                <a:cs typeface="Calibri Light"/>
              </a:rPr>
              <a:t>is</a:t>
            </a:r>
            <a:r>
              <a:rPr sz="3500" spc="-75" dirty="0">
                <a:latin typeface="Calibri Light"/>
                <a:cs typeface="Calibri Light"/>
              </a:rPr>
              <a:t> </a:t>
            </a:r>
            <a:r>
              <a:rPr sz="3500" spc="20" dirty="0">
                <a:latin typeface="Calibri Light"/>
                <a:cs typeface="Calibri Light"/>
              </a:rPr>
              <a:t>Better?</a:t>
            </a:r>
            <a:endParaRPr sz="35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8272" y="3736847"/>
            <a:ext cx="3267455" cy="31211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6772" y="1773427"/>
            <a:ext cx="7785734" cy="19824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There </a:t>
            </a:r>
            <a:r>
              <a:rPr sz="2400" spc="-10" dirty="0">
                <a:latin typeface="Calibri"/>
                <a:cs typeface="Calibri"/>
              </a:rPr>
              <a:t>might </a:t>
            </a:r>
            <a:r>
              <a:rPr sz="2400" dirty="0">
                <a:latin typeface="Calibri"/>
                <a:cs typeface="Calibri"/>
              </a:rPr>
              <a:t>be </a:t>
            </a:r>
            <a:r>
              <a:rPr sz="2400" spc="-15" dirty="0">
                <a:latin typeface="Calibri"/>
                <a:cs typeface="Calibri"/>
              </a:rPr>
              <a:t>many </a:t>
            </a:r>
            <a:r>
              <a:rPr sz="2400" spc="-10" dirty="0">
                <a:latin typeface="Calibri"/>
                <a:cs typeface="Calibri"/>
              </a:rPr>
              <a:t>feasible </a:t>
            </a:r>
            <a:r>
              <a:rPr sz="2400" spc="-5" dirty="0">
                <a:latin typeface="Calibri"/>
                <a:cs typeface="Calibri"/>
              </a:rPr>
              <a:t>linear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functions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Both </a:t>
            </a:r>
            <a:r>
              <a:rPr sz="2400" dirty="0">
                <a:latin typeface="Calibri"/>
                <a:cs typeface="Calibri"/>
              </a:rPr>
              <a:t>H1 and H2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Which one 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better?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62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H2 </a:t>
            </a:r>
            <a:r>
              <a:rPr sz="2400" spc="-10" dirty="0">
                <a:latin typeface="Calibri"/>
                <a:cs typeface="Calibri"/>
              </a:rPr>
              <a:t>looks </a:t>
            </a:r>
            <a:r>
              <a:rPr sz="2400" dirty="0">
                <a:latin typeface="Calibri"/>
                <a:cs typeface="Calibri"/>
              </a:rPr>
              <a:t>“better” </a:t>
            </a:r>
            <a:r>
              <a:rPr sz="2400" spc="-5" dirty="0">
                <a:latin typeface="Calibri"/>
                <a:cs typeface="Calibri"/>
              </a:rPr>
              <a:t>in the sense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5" dirty="0">
                <a:latin typeface="Calibri"/>
                <a:cs typeface="Calibri"/>
              </a:rPr>
              <a:t>it is also furthest </a:t>
            </a:r>
            <a:r>
              <a:rPr sz="2400" spc="-10" dirty="0">
                <a:latin typeface="Calibri"/>
                <a:cs typeface="Calibri"/>
              </a:rPr>
              <a:t>from  </a:t>
            </a:r>
            <a:r>
              <a:rPr sz="2400" spc="-5" dirty="0">
                <a:latin typeface="Calibri"/>
                <a:cs typeface="Calibri"/>
              </a:rPr>
              <a:t>both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groups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65845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6772" y="1800859"/>
            <a:ext cx="3931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Which hyperplane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choose?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772" y="5446267"/>
            <a:ext cx="778764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SVM </a:t>
            </a:r>
            <a:r>
              <a:rPr sz="2400" dirty="0">
                <a:latin typeface="Calibri"/>
                <a:cs typeface="Calibri"/>
              </a:rPr>
              <a:t>finds </a:t>
            </a:r>
            <a:r>
              <a:rPr sz="2400" spc="-5" dirty="0">
                <a:latin typeface="Calibri"/>
                <a:cs typeface="Calibri"/>
              </a:rPr>
              <a:t>this hyperplane using </a:t>
            </a:r>
            <a:r>
              <a:rPr sz="2400" b="1" spc="-5" dirty="0">
                <a:latin typeface="Calibri"/>
                <a:cs typeface="Calibri"/>
              </a:rPr>
              <a:t>support </a:t>
            </a:r>
            <a:r>
              <a:rPr sz="2400" b="1" spc="-15" dirty="0">
                <a:latin typeface="Calibri"/>
                <a:cs typeface="Calibri"/>
              </a:rPr>
              <a:t>vectors </a:t>
            </a:r>
            <a:r>
              <a:rPr sz="2400" spc="-15" dirty="0">
                <a:latin typeface="Calibri"/>
                <a:cs typeface="Calibri"/>
              </a:rPr>
              <a:t>(“essential”  </a:t>
            </a:r>
            <a:r>
              <a:rPr sz="2400" spc="-10" dirty="0">
                <a:latin typeface="Calibri"/>
                <a:cs typeface="Calibri"/>
              </a:rPr>
              <a:t>training </a:t>
            </a:r>
            <a:r>
              <a:rPr sz="2400" spc="-5" dirty="0">
                <a:latin typeface="Calibri"/>
                <a:cs typeface="Calibri"/>
              </a:rPr>
              <a:t>tuples)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b="1" spc="-10" dirty="0">
                <a:latin typeface="Calibri"/>
                <a:cs typeface="Calibri"/>
              </a:rPr>
              <a:t>margins </a:t>
            </a:r>
            <a:r>
              <a:rPr sz="2400" spc="-5" dirty="0">
                <a:latin typeface="Calibri"/>
                <a:cs typeface="Calibri"/>
              </a:rPr>
              <a:t>(defined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spc="-5" dirty="0">
                <a:latin typeface="Calibri"/>
                <a:cs typeface="Calibri"/>
              </a:rPr>
              <a:t>the support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vectors)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7427" y="707314"/>
            <a:ext cx="8128634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45" dirty="0">
                <a:latin typeface="Calibri Light"/>
                <a:cs typeface="Calibri Light"/>
              </a:rPr>
              <a:t>Support </a:t>
            </a:r>
            <a:r>
              <a:rPr sz="3500" spc="5" dirty="0">
                <a:latin typeface="Calibri Light"/>
                <a:cs typeface="Calibri Light"/>
              </a:rPr>
              <a:t>Vector </a:t>
            </a:r>
            <a:r>
              <a:rPr sz="3500" spc="45" dirty="0">
                <a:latin typeface="Calibri Light"/>
                <a:cs typeface="Calibri Light"/>
              </a:rPr>
              <a:t>Machines </a:t>
            </a:r>
            <a:r>
              <a:rPr sz="3500" spc="40" dirty="0">
                <a:latin typeface="Calibri Light"/>
                <a:cs typeface="Calibri Light"/>
              </a:rPr>
              <a:t>(SVM):</a:t>
            </a:r>
            <a:r>
              <a:rPr sz="3500" spc="5" dirty="0">
                <a:latin typeface="Calibri Light"/>
                <a:cs typeface="Calibri Light"/>
              </a:rPr>
              <a:t> </a:t>
            </a:r>
            <a:r>
              <a:rPr sz="3500" spc="30" dirty="0">
                <a:latin typeface="Calibri Light"/>
                <a:cs typeface="Calibri Light"/>
              </a:rPr>
              <a:t>Motivation</a:t>
            </a:r>
            <a:endParaRPr sz="3500">
              <a:latin typeface="Calibri Light"/>
              <a:cs typeface="Calibri 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0295" y="2490216"/>
            <a:ext cx="2883408" cy="274929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6738" y="682930"/>
            <a:ext cx="3430904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50" dirty="0">
                <a:latin typeface="Calibri Light"/>
                <a:cs typeface="Calibri Light"/>
              </a:rPr>
              <a:t>SVM: </a:t>
            </a:r>
            <a:r>
              <a:rPr sz="3500" spc="30" dirty="0">
                <a:latin typeface="Calibri Light"/>
                <a:cs typeface="Calibri Light"/>
              </a:rPr>
              <a:t>General</a:t>
            </a:r>
            <a:r>
              <a:rPr sz="3500" spc="-55" dirty="0">
                <a:latin typeface="Calibri Light"/>
                <a:cs typeface="Calibri Light"/>
              </a:rPr>
              <a:t> </a:t>
            </a:r>
            <a:r>
              <a:rPr sz="3500" spc="40" dirty="0">
                <a:latin typeface="Calibri Light"/>
                <a:cs typeface="Calibri Light"/>
              </a:rPr>
              <a:t>Idea</a:t>
            </a:r>
            <a:endParaRPr sz="35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055" y="1783079"/>
            <a:ext cx="8247888" cy="41300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7944" y="682930"/>
            <a:ext cx="444881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50" dirty="0">
                <a:latin typeface="Calibri Light"/>
                <a:cs typeface="Calibri Light"/>
              </a:rPr>
              <a:t>SVM: </a:t>
            </a:r>
            <a:r>
              <a:rPr sz="3500" spc="35" dirty="0">
                <a:latin typeface="Calibri Light"/>
                <a:cs typeface="Calibri Light"/>
              </a:rPr>
              <a:t>Linearly</a:t>
            </a:r>
            <a:r>
              <a:rPr sz="3500" spc="-40" dirty="0">
                <a:latin typeface="Calibri Light"/>
                <a:cs typeface="Calibri Light"/>
              </a:rPr>
              <a:t> </a:t>
            </a:r>
            <a:r>
              <a:rPr sz="3500" spc="35" dirty="0">
                <a:latin typeface="Calibri Light"/>
                <a:cs typeface="Calibri Light"/>
              </a:rPr>
              <a:t>Separable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6739" y="1515363"/>
            <a:ext cx="7195820" cy="469836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292100" indent="-228600">
              <a:lnSpc>
                <a:spcPct val="100000"/>
              </a:lnSpc>
              <a:spcBef>
                <a:spcPts val="1345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2200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separating </a:t>
            </a:r>
            <a:r>
              <a:rPr sz="2200" spc="-10" dirty="0">
                <a:latin typeface="Calibri"/>
                <a:cs typeface="Calibri"/>
              </a:rPr>
              <a:t>hyperplane can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written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</a:t>
            </a:r>
            <a:endParaRPr sz="2200">
              <a:latin typeface="Calibri"/>
              <a:cs typeface="Calibri"/>
            </a:endParaRPr>
          </a:p>
          <a:p>
            <a:pPr marL="2806065">
              <a:lnSpc>
                <a:spcPct val="100000"/>
              </a:lnSpc>
              <a:spcBef>
                <a:spcPts val="1250"/>
              </a:spcBef>
            </a:pPr>
            <a:r>
              <a:rPr sz="2200" b="1" dirty="0">
                <a:latin typeface="Calibri"/>
                <a:cs typeface="Calibri"/>
              </a:rPr>
              <a:t>W </a:t>
            </a:r>
            <a:r>
              <a:rPr sz="2200" dirty="0">
                <a:latin typeface="Calibri"/>
                <a:cs typeface="Calibri"/>
              </a:rPr>
              <a:t>● </a:t>
            </a:r>
            <a:r>
              <a:rPr sz="2200" b="1" dirty="0">
                <a:latin typeface="Calibri"/>
                <a:cs typeface="Calibri"/>
              </a:rPr>
              <a:t>X </a:t>
            </a:r>
            <a:r>
              <a:rPr sz="2200" dirty="0">
                <a:latin typeface="Calibri"/>
                <a:cs typeface="Calibri"/>
              </a:rPr>
              <a:t>+ b 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endParaRPr sz="22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1255"/>
              </a:spcBef>
            </a:pPr>
            <a:r>
              <a:rPr sz="2000" spc="-10" dirty="0">
                <a:latin typeface="Calibri"/>
                <a:cs typeface="Calibri"/>
              </a:rPr>
              <a:t>where </a:t>
            </a:r>
            <a:r>
              <a:rPr sz="2000" b="1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={w</a:t>
            </a:r>
            <a:r>
              <a:rPr sz="1950" baseline="-17094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, w</a:t>
            </a:r>
            <a:r>
              <a:rPr sz="1950" baseline="-17094" dirty="0"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, </a:t>
            </a:r>
            <a:r>
              <a:rPr sz="2000" spc="-5" dirty="0">
                <a:latin typeface="Calibri"/>
                <a:cs typeface="Calibri"/>
              </a:rPr>
              <a:t>…, </a:t>
            </a:r>
            <a:r>
              <a:rPr sz="2000" dirty="0">
                <a:latin typeface="Calibri"/>
                <a:cs typeface="Calibri"/>
              </a:rPr>
              <a:t>w</a:t>
            </a:r>
            <a:r>
              <a:rPr sz="1950" baseline="-17094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} is a </a:t>
            </a:r>
            <a:r>
              <a:rPr sz="2000" spc="-10" dirty="0">
                <a:latin typeface="Calibri"/>
                <a:cs typeface="Calibri"/>
              </a:rPr>
              <a:t>weight vector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b a </a:t>
            </a:r>
            <a:r>
              <a:rPr sz="2000" spc="-5" dirty="0">
                <a:latin typeface="Calibri"/>
                <a:cs typeface="Calibri"/>
              </a:rPr>
              <a:t>scalar</a:t>
            </a:r>
            <a:r>
              <a:rPr sz="2000" dirty="0">
                <a:latin typeface="Calibri"/>
                <a:cs typeface="Calibri"/>
              </a:rPr>
              <a:t> (bias)</a:t>
            </a:r>
            <a:endParaRPr sz="200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1215"/>
              </a:spcBef>
              <a:buFont typeface="Arial"/>
              <a:buChar char="•"/>
              <a:tabLst>
                <a:tab pos="291465" algn="l"/>
                <a:tab pos="292100" algn="l"/>
                <a:tab pos="3674745" algn="l"/>
              </a:tabLst>
            </a:pPr>
            <a:r>
              <a:rPr sz="2200" spc="-10" dirty="0">
                <a:latin typeface="Calibri"/>
                <a:cs typeface="Calibri"/>
              </a:rPr>
              <a:t>For </a:t>
            </a:r>
            <a:r>
              <a:rPr sz="2200" spc="-20" dirty="0">
                <a:latin typeface="Calibri"/>
                <a:cs typeface="Calibri"/>
              </a:rPr>
              <a:t>2-D, </a:t>
            </a: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0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written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as:	</a:t>
            </a:r>
            <a:r>
              <a:rPr sz="2200" dirty="0">
                <a:latin typeface="Calibri"/>
                <a:cs typeface="Calibri"/>
              </a:rPr>
              <a:t>w</a:t>
            </a:r>
            <a:r>
              <a:rPr sz="2250" baseline="-18518" dirty="0">
                <a:latin typeface="Calibri"/>
                <a:cs typeface="Calibri"/>
              </a:rPr>
              <a:t>0 </a:t>
            </a:r>
            <a:r>
              <a:rPr sz="2200" dirty="0">
                <a:latin typeface="Calibri"/>
                <a:cs typeface="Calibri"/>
              </a:rPr>
              <a:t>+ w</a:t>
            </a:r>
            <a:r>
              <a:rPr sz="2250" baseline="-18518" dirty="0">
                <a:latin typeface="Calibri"/>
                <a:cs typeface="Calibri"/>
              </a:rPr>
              <a:t>1 </a:t>
            </a:r>
            <a:r>
              <a:rPr sz="2200" spc="-5" dirty="0">
                <a:latin typeface="Calibri"/>
                <a:cs typeface="Calibri"/>
              </a:rPr>
              <a:t>x</a:t>
            </a:r>
            <a:r>
              <a:rPr sz="2250" spc="-7" baseline="-18518" dirty="0">
                <a:latin typeface="Calibri"/>
                <a:cs typeface="Calibri"/>
              </a:rPr>
              <a:t>1 </a:t>
            </a:r>
            <a:r>
              <a:rPr sz="2200" dirty="0">
                <a:latin typeface="Calibri"/>
                <a:cs typeface="Calibri"/>
              </a:rPr>
              <a:t>+ w</a:t>
            </a:r>
            <a:r>
              <a:rPr sz="2250" baseline="-18518" dirty="0">
                <a:latin typeface="Calibri"/>
                <a:cs typeface="Calibri"/>
              </a:rPr>
              <a:t>2 </a:t>
            </a:r>
            <a:r>
              <a:rPr sz="2200" spc="-5" dirty="0">
                <a:latin typeface="Calibri"/>
                <a:cs typeface="Calibri"/>
              </a:rPr>
              <a:t>x</a:t>
            </a:r>
            <a:r>
              <a:rPr sz="2250" spc="-7" baseline="-18518" dirty="0">
                <a:latin typeface="Calibri"/>
                <a:cs typeface="Calibri"/>
              </a:rPr>
              <a:t>2 </a:t>
            </a:r>
            <a:r>
              <a:rPr sz="2200" dirty="0">
                <a:latin typeface="Calibri"/>
                <a:cs typeface="Calibri"/>
              </a:rPr>
              <a:t>= 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endParaRPr sz="220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1250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hyperplane defining </a:t>
            </a:r>
            <a:r>
              <a:rPr sz="2200" spc="-5" dirty="0">
                <a:latin typeface="Calibri"/>
                <a:cs typeface="Calibri"/>
              </a:rPr>
              <a:t>the sides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margin:</a:t>
            </a:r>
            <a:endParaRPr sz="2200">
              <a:latin typeface="Calibri"/>
              <a:cs typeface="Calibri"/>
            </a:endParaRPr>
          </a:p>
          <a:p>
            <a:pPr marL="1891664" marR="612140">
              <a:lnSpc>
                <a:spcPct val="129099"/>
              </a:lnSpc>
              <a:tabLst>
                <a:tab pos="4930140" algn="l"/>
              </a:tabLst>
            </a:pPr>
            <a:r>
              <a:rPr sz="2200" spc="-10" dirty="0">
                <a:latin typeface="Calibri"/>
                <a:cs typeface="Calibri"/>
              </a:rPr>
              <a:t>H</a:t>
            </a:r>
            <a:r>
              <a:rPr sz="2250" spc="-15" baseline="-18518" dirty="0">
                <a:latin typeface="Calibri"/>
                <a:cs typeface="Calibri"/>
              </a:rPr>
              <a:t>1</a:t>
            </a:r>
            <a:r>
              <a:rPr sz="2200" spc="-10" dirty="0">
                <a:latin typeface="Calibri"/>
                <a:cs typeface="Calibri"/>
              </a:rPr>
              <a:t>: </a:t>
            </a:r>
            <a:r>
              <a:rPr sz="2200" dirty="0">
                <a:latin typeface="Calibri"/>
                <a:cs typeface="Calibri"/>
              </a:rPr>
              <a:t>w</a:t>
            </a:r>
            <a:r>
              <a:rPr sz="2250" baseline="-18518" dirty="0">
                <a:latin typeface="Calibri"/>
                <a:cs typeface="Calibri"/>
              </a:rPr>
              <a:t>0 </a:t>
            </a:r>
            <a:r>
              <a:rPr sz="2200" dirty="0">
                <a:latin typeface="Calibri"/>
                <a:cs typeface="Calibri"/>
              </a:rPr>
              <a:t>+ w</a:t>
            </a:r>
            <a:r>
              <a:rPr sz="2250" baseline="-18518" dirty="0">
                <a:latin typeface="Calibri"/>
                <a:cs typeface="Calibri"/>
              </a:rPr>
              <a:t>1 </a:t>
            </a:r>
            <a:r>
              <a:rPr sz="2200" spc="-5" dirty="0">
                <a:latin typeface="Calibri"/>
                <a:cs typeface="Calibri"/>
              </a:rPr>
              <a:t>x</a:t>
            </a:r>
            <a:r>
              <a:rPr sz="2250" spc="-7" baseline="-18518" dirty="0">
                <a:latin typeface="Calibri"/>
                <a:cs typeface="Calibri"/>
              </a:rPr>
              <a:t>1  </a:t>
            </a:r>
            <a:r>
              <a:rPr sz="2200" dirty="0">
                <a:latin typeface="Calibri"/>
                <a:cs typeface="Calibri"/>
              </a:rPr>
              <a:t>+ w</a:t>
            </a:r>
            <a:r>
              <a:rPr sz="2250" baseline="-18518" dirty="0">
                <a:latin typeface="Calibri"/>
                <a:cs typeface="Calibri"/>
              </a:rPr>
              <a:t>2 </a:t>
            </a:r>
            <a:r>
              <a:rPr sz="2200" spc="-5" dirty="0">
                <a:latin typeface="Calibri"/>
                <a:cs typeface="Calibri"/>
              </a:rPr>
              <a:t>x</a:t>
            </a:r>
            <a:r>
              <a:rPr sz="2250" spc="-7" baseline="-18518" dirty="0">
                <a:latin typeface="Calibri"/>
                <a:cs typeface="Calibri"/>
              </a:rPr>
              <a:t>2 </a:t>
            </a:r>
            <a:r>
              <a:rPr sz="2250" spc="60" baseline="-185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≥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	</a:t>
            </a:r>
            <a:r>
              <a:rPr sz="2200" spc="-15" dirty="0">
                <a:latin typeface="Calibri"/>
                <a:cs typeface="Calibri"/>
              </a:rPr>
              <a:t>for </a:t>
            </a:r>
            <a:r>
              <a:rPr sz="2200" dirty="0">
                <a:latin typeface="Calibri"/>
                <a:cs typeface="Calibri"/>
              </a:rPr>
              <a:t>y</a:t>
            </a:r>
            <a:r>
              <a:rPr sz="2250" baseline="-18518" dirty="0">
                <a:latin typeface="Calibri"/>
                <a:cs typeface="Calibri"/>
              </a:rPr>
              <a:t>i </a:t>
            </a:r>
            <a:r>
              <a:rPr sz="2200" dirty="0">
                <a:latin typeface="Calibri"/>
                <a:cs typeface="Calibri"/>
              </a:rPr>
              <a:t>= </a:t>
            </a:r>
            <a:r>
              <a:rPr sz="2200" spc="-5" dirty="0">
                <a:latin typeface="Calibri"/>
                <a:cs typeface="Calibri"/>
              </a:rPr>
              <a:t>+1,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 </a:t>
            </a:r>
            <a:r>
              <a:rPr sz="2200" spc="-10" dirty="0">
                <a:latin typeface="Calibri"/>
                <a:cs typeface="Calibri"/>
              </a:rPr>
              <a:t>H</a:t>
            </a:r>
            <a:r>
              <a:rPr sz="2250" spc="-15" baseline="-18518" dirty="0">
                <a:latin typeface="Calibri"/>
                <a:cs typeface="Calibri"/>
              </a:rPr>
              <a:t>2</a:t>
            </a:r>
            <a:r>
              <a:rPr sz="2200" spc="-10" dirty="0">
                <a:latin typeface="Calibri"/>
                <a:cs typeface="Calibri"/>
              </a:rPr>
              <a:t>: </a:t>
            </a:r>
            <a:r>
              <a:rPr sz="2200" dirty="0">
                <a:latin typeface="Calibri"/>
                <a:cs typeface="Calibri"/>
              </a:rPr>
              <a:t>w</a:t>
            </a:r>
            <a:r>
              <a:rPr sz="2250" baseline="-18518" dirty="0">
                <a:latin typeface="Calibri"/>
                <a:cs typeface="Calibri"/>
              </a:rPr>
              <a:t>0 </a:t>
            </a:r>
            <a:r>
              <a:rPr sz="2200" dirty="0">
                <a:latin typeface="Calibri"/>
                <a:cs typeface="Calibri"/>
              </a:rPr>
              <a:t>+ w</a:t>
            </a:r>
            <a:r>
              <a:rPr sz="2250" baseline="-18518" dirty="0">
                <a:latin typeface="Calibri"/>
                <a:cs typeface="Calibri"/>
              </a:rPr>
              <a:t>1 </a:t>
            </a:r>
            <a:r>
              <a:rPr sz="2200" spc="-5" dirty="0">
                <a:latin typeface="Calibri"/>
                <a:cs typeface="Calibri"/>
              </a:rPr>
              <a:t>x</a:t>
            </a:r>
            <a:r>
              <a:rPr sz="2250" spc="-7" baseline="-18518" dirty="0">
                <a:latin typeface="Calibri"/>
                <a:cs typeface="Calibri"/>
              </a:rPr>
              <a:t>1 </a:t>
            </a:r>
            <a:r>
              <a:rPr sz="2200" dirty="0">
                <a:latin typeface="Calibri"/>
                <a:cs typeface="Calibri"/>
              </a:rPr>
              <a:t>+ w</a:t>
            </a:r>
            <a:r>
              <a:rPr sz="2250" baseline="-18518" dirty="0">
                <a:latin typeface="Calibri"/>
                <a:cs typeface="Calibri"/>
              </a:rPr>
              <a:t>2 </a:t>
            </a:r>
            <a:r>
              <a:rPr sz="2200" spc="-5" dirty="0">
                <a:latin typeface="Calibri"/>
                <a:cs typeface="Calibri"/>
              </a:rPr>
              <a:t>x</a:t>
            </a:r>
            <a:r>
              <a:rPr sz="2250" spc="-7" baseline="-18518" dirty="0">
                <a:latin typeface="Calibri"/>
                <a:cs typeface="Calibri"/>
              </a:rPr>
              <a:t>2 </a:t>
            </a:r>
            <a:r>
              <a:rPr sz="2200" dirty="0">
                <a:latin typeface="Calibri"/>
                <a:cs typeface="Calibri"/>
              </a:rPr>
              <a:t>≤ – 1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for </a:t>
            </a:r>
            <a:r>
              <a:rPr sz="2200" dirty="0">
                <a:latin typeface="Calibri"/>
                <a:cs typeface="Calibri"/>
              </a:rPr>
              <a:t>y</a:t>
            </a:r>
            <a:r>
              <a:rPr sz="2250" baseline="-18518" dirty="0">
                <a:latin typeface="Calibri"/>
                <a:cs typeface="Calibri"/>
              </a:rPr>
              <a:t>i </a:t>
            </a:r>
            <a:r>
              <a:rPr sz="2200" dirty="0">
                <a:latin typeface="Calibri"/>
                <a:cs typeface="Calibri"/>
              </a:rPr>
              <a:t>= –1</a:t>
            </a:r>
            <a:endParaRPr sz="2200">
              <a:latin typeface="Calibri"/>
              <a:cs typeface="Calibri"/>
            </a:endParaRPr>
          </a:p>
          <a:p>
            <a:pPr marL="292100" marR="55880" indent="-228600">
              <a:lnSpc>
                <a:spcPct val="110000"/>
              </a:lnSpc>
              <a:spcBef>
                <a:spcPts val="985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2200" spc="-15" dirty="0">
                <a:latin typeface="Calibri"/>
                <a:cs typeface="Calibri"/>
              </a:rPr>
              <a:t>Any training </a:t>
            </a:r>
            <a:r>
              <a:rPr sz="2200" spc="-5" dirty="0">
                <a:latin typeface="Calibri"/>
                <a:cs typeface="Calibri"/>
              </a:rPr>
              <a:t>tuples </a:t>
            </a:r>
            <a:r>
              <a:rPr sz="2200" spc="-10" dirty="0">
                <a:latin typeface="Calibri"/>
                <a:cs typeface="Calibri"/>
              </a:rPr>
              <a:t>that </a:t>
            </a:r>
            <a:r>
              <a:rPr sz="2200" spc="-15" dirty="0">
                <a:latin typeface="Calibri"/>
                <a:cs typeface="Calibri"/>
              </a:rPr>
              <a:t>fall </a:t>
            </a:r>
            <a:r>
              <a:rPr sz="2200" dirty="0">
                <a:latin typeface="Calibri"/>
                <a:cs typeface="Calibri"/>
              </a:rPr>
              <a:t>on </a:t>
            </a:r>
            <a:r>
              <a:rPr sz="2200" spc="-10" dirty="0">
                <a:latin typeface="Calibri"/>
                <a:cs typeface="Calibri"/>
              </a:rPr>
              <a:t>hyperplanes H</a:t>
            </a:r>
            <a:r>
              <a:rPr sz="2250" spc="-15" baseline="-18518" dirty="0">
                <a:latin typeface="Calibri"/>
                <a:cs typeface="Calibri"/>
              </a:rPr>
              <a:t>1 </a:t>
            </a:r>
            <a:r>
              <a:rPr sz="2200" dirty="0">
                <a:latin typeface="Calibri"/>
                <a:cs typeface="Calibri"/>
              </a:rPr>
              <a:t>or H</a:t>
            </a:r>
            <a:r>
              <a:rPr sz="2250" baseline="-18518" dirty="0">
                <a:latin typeface="Calibri"/>
                <a:cs typeface="Calibri"/>
              </a:rPr>
              <a:t>2 </a:t>
            </a:r>
            <a:r>
              <a:rPr sz="2200" spc="-5" dirty="0">
                <a:latin typeface="Calibri"/>
                <a:cs typeface="Calibri"/>
              </a:rPr>
              <a:t>(i.e., the  sides </a:t>
            </a:r>
            <a:r>
              <a:rPr sz="2200" spc="-10" dirty="0">
                <a:latin typeface="Calibri"/>
                <a:cs typeface="Calibri"/>
              </a:rPr>
              <a:t>defining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margin) </a:t>
            </a:r>
            <a:r>
              <a:rPr sz="2200" spc="-15" dirty="0">
                <a:latin typeface="Calibri"/>
                <a:cs typeface="Calibri"/>
              </a:rPr>
              <a:t>are </a:t>
            </a:r>
            <a:r>
              <a:rPr sz="2200" b="1" spc="-5" dirty="0">
                <a:latin typeface="Calibri"/>
                <a:cs typeface="Calibri"/>
              </a:rPr>
              <a:t>support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vectors</a:t>
            </a:r>
            <a:endParaRPr sz="2200">
              <a:latin typeface="Calibri"/>
              <a:cs typeface="Calibri"/>
            </a:endParaRPr>
          </a:p>
          <a:p>
            <a:pPr marL="292100" indent="-228600">
              <a:lnSpc>
                <a:spcPct val="100000"/>
              </a:lnSpc>
              <a:spcBef>
                <a:spcPts val="1365"/>
              </a:spcBef>
              <a:buFont typeface="Arial"/>
              <a:buChar char="•"/>
              <a:tabLst>
                <a:tab pos="291465" algn="l"/>
                <a:tab pos="292100" algn="l"/>
              </a:tabLst>
            </a:pPr>
            <a:r>
              <a:rPr sz="2200" spc="-10" dirty="0">
                <a:latin typeface="Calibri"/>
                <a:cs typeface="Calibri"/>
              </a:rPr>
              <a:t>Constrained </a:t>
            </a:r>
            <a:r>
              <a:rPr sz="2200" spc="-20" dirty="0">
                <a:latin typeface="Calibri"/>
                <a:cs typeface="Calibri"/>
              </a:rPr>
              <a:t>(convex) </a:t>
            </a:r>
            <a:r>
              <a:rPr sz="2200" spc="-15" dirty="0">
                <a:latin typeface="Calibri"/>
                <a:cs typeface="Calibri"/>
              </a:rPr>
              <a:t>quadratic </a:t>
            </a:r>
            <a:r>
              <a:rPr sz="2200" spc="-10" dirty="0">
                <a:latin typeface="Calibri"/>
                <a:cs typeface="Calibri"/>
              </a:rPr>
              <a:t>optimization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problem.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7687" y="682930"/>
            <a:ext cx="5509895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30" dirty="0">
                <a:latin typeface="Calibri Light"/>
                <a:cs typeface="Calibri Light"/>
              </a:rPr>
              <a:t>Classification </a:t>
            </a:r>
            <a:r>
              <a:rPr sz="3500" spc="40" dirty="0">
                <a:latin typeface="Calibri Light"/>
                <a:cs typeface="Calibri Light"/>
              </a:rPr>
              <a:t>with Linear</a:t>
            </a:r>
            <a:r>
              <a:rPr sz="3500" spc="-15" dirty="0">
                <a:latin typeface="Calibri Light"/>
                <a:cs typeface="Calibri Light"/>
              </a:rPr>
              <a:t> </a:t>
            </a:r>
            <a:r>
              <a:rPr sz="3500" spc="55" dirty="0">
                <a:latin typeface="Calibri Light"/>
                <a:cs typeface="Calibri Light"/>
              </a:rPr>
              <a:t>SVM</a:t>
            </a:r>
            <a:endParaRPr sz="35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103" y="1627632"/>
            <a:ext cx="7260335" cy="48646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3273" y="682930"/>
            <a:ext cx="5018405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40" dirty="0">
                <a:latin typeface="Calibri Light"/>
                <a:cs typeface="Calibri Light"/>
              </a:rPr>
              <a:t>Nonlinear </a:t>
            </a:r>
            <a:r>
              <a:rPr sz="3500" spc="50" dirty="0">
                <a:latin typeface="Calibri Light"/>
                <a:cs typeface="Calibri Light"/>
              </a:rPr>
              <a:t>SVM:</a:t>
            </a:r>
            <a:r>
              <a:rPr sz="3500" spc="-70" dirty="0">
                <a:latin typeface="Calibri Light"/>
                <a:cs typeface="Calibri Light"/>
              </a:rPr>
              <a:t> </a:t>
            </a:r>
            <a:r>
              <a:rPr sz="3500" spc="35" dirty="0">
                <a:latin typeface="Calibri Light"/>
                <a:cs typeface="Calibri Light"/>
              </a:rPr>
              <a:t>Motivation</a:t>
            </a:r>
            <a:endParaRPr sz="35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616" y="1703832"/>
            <a:ext cx="7537704" cy="488899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7382" y="483234"/>
            <a:ext cx="22688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Summa</a:t>
            </a:r>
            <a:r>
              <a:rPr spc="254" dirty="0"/>
              <a:t>r</a:t>
            </a:r>
            <a:r>
              <a:rPr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0296"/>
            <a:ext cx="7409180" cy="453009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62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algorithm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sz="24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108585" lvl="1" indent="-287020">
              <a:lnSpc>
                <a:spcPts val="2730"/>
              </a:lnSpc>
              <a:spcBef>
                <a:spcPts val="7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behaved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(ie  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convex)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lnSpc>
                <a:spcPts val="2805"/>
              </a:lnSpc>
              <a:spcBef>
                <a:spcPts val="509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Subgradient 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descent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points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>
              <a:lnSpc>
                <a:spcPts val="2805"/>
              </a:lnSpc>
            </a:pP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derivative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 of 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800" spc="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en-US"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Words>1502</Words>
  <Application>Microsoft Office PowerPoint</Application>
  <PresentationFormat>On-screen Show (4:3)</PresentationFormat>
  <Paragraphs>212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Cambria Math</vt:lpstr>
      <vt:lpstr>Arial</vt:lpstr>
      <vt:lpstr>Segoe UI Light</vt:lpstr>
      <vt:lpstr>Calibri</vt:lpstr>
      <vt:lpstr>Calibri Light</vt:lpstr>
      <vt:lpstr>Segoe UI</vt:lpstr>
      <vt:lpstr>Times New Roman</vt:lpstr>
      <vt:lpstr>Office Theme</vt:lpstr>
      <vt:lpstr>CSCI/ARTI 8950 Machine Learning</vt:lpstr>
      <vt:lpstr>Binary classification  via hyperplanes</vt:lpstr>
      <vt:lpstr>PowerPoint Presentation</vt:lpstr>
      <vt:lpstr>Learning a Linear Classifier  as an Optimization Problem</vt:lpstr>
      <vt:lpstr>Casting Linear Classification  as an Optimization Problem</vt:lpstr>
      <vt:lpstr>Learning a Linear Classifier  as an Optimization Problem</vt:lpstr>
      <vt:lpstr>The 0-1 Loss</vt:lpstr>
      <vt:lpstr>Approximating the 0-1 loss with  surrogate loss functions</vt:lpstr>
      <vt:lpstr>Approximating the 0-1 loss with  surrogate loss functions</vt:lpstr>
      <vt:lpstr>Approximating the 0-1 loss with  surrogate loss functions</vt:lpstr>
      <vt:lpstr>Casting Linear Classification  as an Optimization Problem</vt:lpstr>
      <vt:lpstr>The regularizer term</vt:lpstr>
      <vt:lpstr>Norm-based Regularizers</vt:lpstr>
      <vt:lpstr>Norm-based Regularizers</vt:lpstr>
      <vt:lpstr>What is the perceptron optimizing?</vt:lpstr>
      <vt:lpstr>Casting Linear Classification  as an Optimization Problem</vt:lpstr>
      <vt:lpstr>Recap: Linear Models</vt:lpstr>
      <vt:lpstr>Gradient descent</vt:lpstr>
      <vt:lpstr>Gradient descent algorithm</vt:lpstr>
      <vt:lpstr>Illustrating gradient descent  in 1-dimensional case</vt:lpstr>
      <vt:lpstr>Illustrating gradient descent  in 2-dimensional case</vt:lpstr>
      <vt:lpstr>Illustrating gradient descent  in 2-dimensional case</vt:lpstr>
      <vt:lpstr>Impact of the step size</vt:lpstr>
      <vt:lpstr>Gradient descent algorithm</vt:lpstr>
      <vt:lpstr>Gradient Descent</vt:lpstr>
      <vt:lpstr>Now let’s calculate gradients for  multivariate objectives</vt:lpstr>
      <vt:lpstr>(1) Derivative with respect to b</vt:lpstr>
      <vt:lpstr>(2) Gradient with respect to w</vt:lpstr>
      <vt:lpstr>Subgradients</vt:lpstr>
      <vt:lpstr>Example: subgradient of hinge loss</vt:lpstr>
      <vt:lpstr>Subgradient Descent  for Hinge Loss</vt:lpstr>
      <vt:lpstr>Linear Regression (1)</vt:lpstr>
      <vt:lpstr>Linear Regression (2)</vt:lpstr>
      <vt:lpstr>Linear Regression (3)</vt:lpstr>
      <vt:lpstr>Linear Regression (4)</vt:lpstr>
      <vt:lpstr>Logistic Regression: General Idea</vt:lpstr>
      <vt:lpstr>Logistic Regression: Maximum Likelihood</vt:lpstr>
      <vt:lpstr>Which Line is Better?</vt:lpstr>
      <vt:lpstr>Support Vector Machines (SVM): Motivation</vt:lpstr>
      <vt:lpstr>SVM: General Idea</vt:lpstr>
      <vt:lpstr>SVM: Linearly Separable</vt:lpstr>
      <vt:lpstr>Classification with Linear SVM</vt:lpstr>
      <vt:lpstr>Nonlinear SVM: Motivation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CSCI_8950_Lec10-11_Linear_Models</dc:title>
  <cp:lastModifiedBy>Khaled M Rasheed</cp:lastModifiedBy>
  <cp:revision>27</cp:revision>
  <dcterms:created xsi:type="dcterms:W3CDTF">2020-10-06T18:54:18Z</dcterms:created>
  <dcterms:modified xsi:type="dcterms:W3CDTF">2026-09-23T19:47:22Z</dcterms:modified>
</cp:coreProperties>
</file>