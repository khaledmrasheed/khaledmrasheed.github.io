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301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1" r:id="rId16"/>
    <p:sldId id="302" r:id="rId17"/>
    <p:sldId id="303" r:id="rId18"/>
    <p:sldId id="272" r:id="rId19"/>
    <p:sldId id="273" r:id="rId20"/>
    <p:sldId id="274" r:id="rId21"/>
    <p:sldId id="277" r:id="rId22"/>
    <p:sldId id="278" r:id="rId23"/>
    <p:sldId id="304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8" r:id="rId33"/>
    <p:sldId id="289" r:id="rId34"/>
    <p:sldId id="290" r:id="rId35"/>
    <p:sldId id="291" r:id="rId36"/>
    <p:sldId id="292" r:id="rId37"/>
    <p:sldId id="293" r:id="rId38"/>
    <p:sldId id="300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6858000" type="screen4x3"/>
  <p:notesSz cx="9144000" cy="6858000"/>
  <p:embeddedFontLst>
    <p:embeddedFont>
      <p:font typeface="Cambria Math" panose="02040503050406030204" pitchFamily="18" charset="0"/>
      <p:regular r:id="rId46"/>
    </p:embeddedFont>
    <p:embeddedFont>
      <p:font typeface="Segoe UI" panose="020B0502040204020203" pitchFamily="34" charset="0"/>
      <p:regular r:id="rId47"/>
      <p:bold r:id="rId48"/>
      <p:italic r:id="rId49"/>
      <p:boldItalic r:id="rId50"/>
    </p:embeddedFont>
    <p:embeddedFont>
      <p:font typeface="Segoe UI Light" panose="020B0502040204020203" pitchFamily="34" charset="0"/>
      <p:regular r:id="rId51"/>
      <p:italic r:id="rId5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1314" y="11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3.fntdata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Segoe UI Light"/>
                <a:cs typeface="Segoe U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Cambria Math"/>
                <a:cs typeface="Cambria Math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Segoe UI Light"/>
                <a:cs typeface="Segoe U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Segoe UI Light"/>
                <a:cs typeface="Segoe U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33423" y="147955"/>
            <a:ext cx="6677152" cy="13671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Segoe UI Light"/>
                <a:cs typeface="Segoe U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1980" y="2477516"/>
            <a:ext cx="6248400" cy="15125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Cambria Math"/>
                <a:cs typeface="Cambria Math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builtin.com/data-science/gradient-descent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builtin.com/data-science/gradient-descent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builtin.com/data-science/gradient-descent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emf"/><Relationship Id="rId5" Type="http://schemas.openxmlformats.org/officeDocument/2006/relationships/image" Target="../media/image30.emf"/><Relationship Id="rId4" Type="http://schemas.openxmlformats.org/officeDocument/2006/relationships/image" Target="../media/image29.e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7" Type="http://schemas.openxmlformats.org/officeDocument/2006/relationships/image" Target="../media/image34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emf"/><Relationship Id="rId5" Type="http://schemas.openxmlformats.org/officeDocument/2006/relationships/image" Target="../media/image32.emf"/><Relationship Id="rId4" Type="http://schemas.openxmlformats.org/officeDocument/2006/relationships/image" Target="../media/image31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7" Type="http://schemas.openxmlformats.org/officeDocument/2006/relationships/image" Target="../media/image3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emf"/><Relationship Id="rId5" Type="http://schemas.openxmlformats.org/officeDocument/2006/relationships/image" Target="../media/image35.emf"/><Relationship Id="rId4" Type="http://schemas.openxmlformats.org/officeDocument/2006/relationships/image" Target="../media/image31.emf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emf"/><Relationship Id="rId3" Type="http://schemas.openxmlformats.org/officeDocument/2006/relationships/image" Target="../media/image38.emf"/><Relationship Id="rId7" Type="http://schemas.openxmlformats.org/officeDocument/2006/relationships/image" Target="../media/image4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emf"/><Relationship Id="rId5" Type="http://schemas.openxmlformats.org/officeDocument/2006/relationships/image" Target="../media/image40.emf"/><Relationship Id="rId4" Type="http://schemas.openxmlformats.org/officeDocument/2006/relationships/image" Target="../media/image39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495" y="149352"/>
            <a:ext cx="6355080" cy="72847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112419" y="1635421"/>
            <a:ext cx="6919595" cy="62357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3900" spc="20" dirty="0">
                <a:solidFill>
                  <a:srgbClr val="0070C0"/>
                </a:solidFill>
                <a:latin typeface="Calibri Light"/>
                <a:cs typeface="Calibri Light"/>
              </a:rPr>
              <a:t>CSCI/ARTI </a:t>
            </a:r>
            <a:r>
              <a:rPr sz="3900" spc="45" dirty="0">
                <a:solidFill>
                  <a:srgbClr val="0070C0"/>
                </a:solidFill>
                <a:latin typeface="Calibri Light"/>
                <a:cs typeface="Calibri Light"/>
              </a:rPr>
              <a:t>8950 Machine</a:t>
            </a:r>
            <a:r>
              <a:rPr sz="3900" spc="-35" dirty="0">
                <a:solidFill>
                  <a:srgbClr val="0070C0"/>
                </a:solidFill>
                <a:latin typeface="Calibri Light"/>
                <a:cs typeface="Calibri Light"/>
              </a:rPr>
              <a:t> </a:t>
            </a:r>
            <a:r>
              <a:rPr sz="3900" spc="40" dirty="0">
                <a:solidFill>
                  <a:srgbClr val="0070C0"/>
                </a:solidFill>
                <a:latin typeface="Calibri Light"/>
                <a:cs typeface="Calibri Light"/>
              </a:rPr>
              <a:t>Learning</a:t>
            </a:r>
            <a:endParaRPr sz="3900">
              <a:latin typeface="Calibri Light"/>
              <a:cs typeface="Calibri Ligh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186415" y="2382012"/>
            <a:ext cx="4771390" cy="9977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800" b="1" spc="-5" dirty="0">
                <a:latin typeface="Calibri"/>
                <a:cs typeface="Calibri"/>
              </a:rPr>
              <a:t>Lecture</a:t>
            </a:r>
            <a:r>
              <a:rPr lang="en-US" sz="2800" b="1" spc="-5" dirty="0">
                <a:latin typeface="Calibri"/>
                <a:cs typeface="Calibri"/>
              </a:rPr>
              <a:t> Note</a:t>
            </a:r>
            <a:r>
              <a:rPr sz="2800" b="1" spc="-5" dirty="0">
                <a:latin typeface="Calibri"/>
                <a:cs typeface="Calibri"/>
              </a:rPr>
              <a:t>s </a:t>
            </a:r>
            <a:r>
              <a:rPr lang="en-US" sz="2800" b="1" dirty="0">
                <a:latin typeface="Calibri"/>
                <a:cs typeface="Calibri"/>
              </a:rPr>
              <a:t>8</a:t>
            </a:r>
            <a:r>
              <a:rPr sz="2800" b="1" dirty="0">
                <a:latin typeface="Calibri"/>
                <a:cs typeface="Calibri"/>
              </a:rPr>
              <a:t>: </a:t>
            </a:r>
            <a:r>
              <a:rPr sz="3200" b="1" spc="-5" dirty="0">
                <a:latin typeface="Calibri"/>
                <a:cs typeface="Calibri"/>
              </a:rPr>
              <a:t>Linear</a:t>
            </a:r>
            <a:r>
              <a:rPr sz="3200" b="1" spc="-35" dirty="0">
                <a:latin typeface="Calibri"/>
                <a:cs typeface="Calibri"/>
              </a:rPr>
              <a:t> </a:t>
            </a:r>
            <a:r>
              <a:rPr sz="3200" b="1" spc="-5" dirty="0">
                <a:latin typeface="Calibri"/>
                <a:cs typeface="Calibri"/>
              </a:rPr>
              <a:t>Models</a:t>
            </a:r>
            <a:endParaRPr sz="32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10756" y="6524243"/>
            <a:ext cx="609346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Credit: some </a:t>
            </a:r>
            <a:r>
              <a:rPr sz="1400" spc="-10" dirty="0">
                <a:latin typeface="Calibri"/>
                <a:cs typeface="Calibri"/>
              </a:rPr>
              <a:t>examples </a:t>
            </a:r>
            <a:r>
              <a:rPr sz="1400" dirty="0">
                <a:latin typeface="Calibri"/>
                <a:cs typeface="Calibri"/>
              </a:rPr>
              <a:t>&amp; </a:t>
            </a:r>
            <a:r>
              <a:rPr sz="1400" spc="-5" dirty="0">
                <a:latin typeface="Calibri"/>
                <a:cs typeface="Calibri"/>
              </a:rPr>
              <a:t>figures by Marine Carpuat, </a:t>
            </a:r>
            <a:r>
              <a:rPr sz="1400" spc="-45" dirty="0">
                <a:latin typeface="Calibri"/>
                <a:cs typeface="Calibri"/>
              </a:rPr>
              <a:t>Tom </a:t>
            </a:r>
            <a:r>
              <a:rPr sz="1400" spc="-5" dirty="0">
                <a:latin typeface="Calibri"/>
                <a:cs typeface="Calibri"/>
              </a:rPr>
              <a:t>Mitchell </a:t>
            </a:r>
            <a:r>
              <a:rPr sz="1400" dirty="0">
                <a:latin typeface="Calibri"/>
                <a:cs typeface="Calibri"/>
              </a:rPr>
              <a:t>and Hal </a:t>
            </a:r>
            <a:r>
              <a:rPr sz="1400" spc="-5" dirty="0">
                <a:latin typeface="Calibri"/>
                <a:cs typeface="Calibri"/>
              </a:rPr>
              <a:t>Daumé</a:t>
            </a:r>
            <a:r>
              <a:rPr sz="1400" spc="10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III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C7F1C32-192A-45D3-8A87-FA78DED6ECEC}"/>
              </a:ext>
            </a:extLst>
          </p:cNvPr>
          <p:cNvSpPr txBox="1">
            <a:spLocks/>
          </p:cNvSpPr>
          <p:nvPr/>
        </p:nvSpPr>
        <p:spPr>
          <a:xfrm>
            <a:off x="1143000" y="3662998"/>
            <a:ext cx="6858000" cy="2661602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>
            <a:lvl1pPr marL="0">
              <a:defRPr sz="2200" b="0" i="0">
                <a:solidFill>
                  <a:schemeClr val="tx1"/>
                </a:solidFill>
                <a:latin typeface="Segoe UI Emoji"/>
                <a:ea typeface="+mn-ea"/>
                <a:cs typeface="Segoe UI Emoj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Khaled Rasheed</a:t>
            </a:r>
          </a:p>
          <a:p>
            <a:pPr algn="ctr"/>
            <a:r>
              <a:rPr lang="en-US" sz="24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Professor</a:t>
            </a:r>
          </a:p>
          <a:p>
            <a:pPr algn="ctr"/>
            <a:r>
              <a:rPr lang="en-US" sz="24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School of Computing</a:t>
            </a:r>
          </a:p>
          <a:p>
            <a:pPr algn="ctr"/>
            <a:r>
              <a:rPr lang="en-US" sz="24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Member</a:t>
            </a:r>
          </a:p>
          <a:p>
            <a:pPr algn="ctr"/>
            <a:r>
              <a:rPr lang="en-US" sz="24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Institute for Artificial Intelligence</a:t>
            </a:r>
          </a:p>
          <a:p>
            <a:pPr algn="ctr"/>
            <a:r>
              <a:rPr lang="en-US" sz="2400" kern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Georgia</a:t>
            </a:r>
            <a:endParaRPr lang="en-US" sz="2400" kern="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315336" y="147955"/>
            <a:ext cx="451421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41325" marR="5080" indent="-428625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Binary</a:t>
            </a:r>
            <a:r>
              <a:rPr spc="-80" dirty="0"/>
              <a:t> </a:t>
            </a:r>
            <a:r>
              <a:rPr spc="-5" dirty="0"/>
              <a:t>classification  via</a:t>
            </a:r>
            <a:r>
              <a:rPr spc="-20" dirty="0"/>
              <a:t> </a:t>
            </a:r>
            <a:r>
              <a:rPr spc="-5" dirty="0"/>
              <a:t>hyperplanes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808348" y="2151405"/>
            <a:ext cx="5397500" cy="4027170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406400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Segoe UI"/>
                <a:cs typeface="Segoe UI"/>
              </a:rPr>
              <a:t>A classifier is a hyperplane </a:t>
            </a:r>
            <a:r>
              <a:rPr sz="2800" spc="-30" dirty="0">
                <a:latin typeface="Segoe UI"/>
                <a:cs typeface="Segoe UI"/>
              </a:rPr>
              <a:t>(w,b)</a:t>
            </a:r>
            <a:endParaRPr sz="2800">
              <a:latin typeface="Segoe UI"/>
              <a:cs typeface="Segoe UI"/>
            </a:endParaRPr>
          </a:p>
          <a:p>
            <a:pPr marL="406400" marR="206375" indent="-342900">
              <a:lnSpc>
                <a:spcPct val="100000"/>
              </a:lnSpc>
              <a:spcBef>
                <a:spcPts val="675"/>
              </a:spcBef>
              <a:buFont typeface="Arial"/>
              <a:buChar char="•"/>
              <a:tabLst>
                <a:tab pos="405765" algn="l"/>
                <a:tab pos="406400" algn="l"/>
              </a:tabLst>
            </a:pPr>
            <a:r>
              <a:rPr sz="2800" spc="-25" dirty="0">
                <a:latin typeface="Segoe UI"/>
                <a:cs typeface="Segoe UI"/>
              </a:rPr>
              <a:t>At </a:t>
            </a:r>
            <a:r>
              <a:rPr sz="2800" spc="-10" dirty="0">
                <a:latin typeface="Segoe UI"/>
                <a:cs typeface="Segoe UI"/>
              </a:rPr>
              <a:t>test time, </a:t>
            </a:r>
            <a:r>
              <a:rPr sz="2800" spc="-15" dirty="0">
                <a:latin typeface="Segoe UI"/>
                <a:cs typeface="Segoe UI"/>
              </a:rPr>
              <a:t>we </a:t>
            </a:r>
            <a:r>
              <a:rPr sz="2800" spc="-5" dirty="0">
                <a:latin typeface="Segoe UI"/>
                <a:cs typeface="Segoe UI"/>
              </a:rPr>
              <a:t>check on what  side </a:t>
            </a:r>
            <a:r>
              <a:rPr sz="2800" spc="-30" dirty="0">
                <a:latin typeface="Segoe UI"/>
                <a:cs typeface="Segoe UI"/>
              </a:rPr>
              <a:t>of </a:t>
            </a:r>
            <a:r>
              <a:rPr sz="2800" spc="-5" dirty="0">
                <a:latin typeface="Segoe UI"/>
                <a:cs typeface="Segoe UI"/>
              </a:rPr>
              <a:t>the hyperplane  examples</a:t>
            </a:r>
            <a:r>
              <a:rPr sz="2800" spc="-10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fall</a:t>
            </a:r>
            <a:endParaRPr sz="2800">
              <a:latin typeface="Segoe UI"/>
              <a:cs typeface="Segoe UI"/>
            </a:endParaRPr>
          </a:p>
          <a:p>
            <a:pPr marL="1247775">
              <a:lnSpc>
                <a:spcPct val="100000"/>
              </a:lnSpc>
              <a:spcBef>
                <a:spcPts val="15"/>
              </a:spcBef>
            </a:pPr>
            <a:r>
              <a:rPr sz="2400" spc="-1019" dirty="0">
                <a:latin typeface="Cambria Math"/>
                <a:cs typeface="Cambria Math"/>
              </a:rPr>
              <a:t>𝑦</a:t>
            </a:r>
            <a:r>
              <a:rPr sz="2400" spc="118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 </a:t>
            </a:r>
            <a:r>
              <a:rPr sz="2400" spc="45" dirty="0">
                <a:latin typeface="Cambria Math"/>
                <a:cs typeface="Cambria Math"/>
              </a:rPr>
              <a:t>𝑠𝑖𝑔𝑛(𝑤</a:t>
            </a:r>
            <a:r>
              <a:rPr sz="2625" spc="67" baseline="28571" dirty="0">
                <a:latin typeface="Cambria Math"/>
                <a:cs typeface="Cambria Math"/>
              </a:rPr>
              <a:t>𝑇</a:t>
            </a:r>
            <a:r>
              <a:rPr sz="2400" spc="45" dirty="0">
                <a:latin typeface="Cambria Math"/>
                <a:cs typeface="Cambria Math"/>
              </a:rPr>
              <a:t>𝑥 </a:t>
            </a:r>
            <a:r>
              <a:rPr sz="2400" dirty="0">
                <a:latin typeface="Cambria Math"/>
                <a:cs typeface="Cambria Math"/>
              </a:rPr>
              <a:t>+</a:t>
            </a:r>
            <a:r>
              <a:rPr sz="2400" spc="135" dirty="0">
                <a:latin typeface="Cambria Math"/>
                <a:cs typeface="Cambria Math"/>
              </a:rPr>
              <a:t> </a:t>
            </a:r>
            <a:r>
              <a:rPr sz="2400" spc="30" dirty="0">
                <a:latin typeface="Cambria Math"/>
                <a:cs typeface="Cambria Math"/>
              </a:rPr>
              <a:t>𝑏)</a:t>
            </a:r>
            <a:endParaRPr sz="240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3500">
              <a:latin typeface="Cambria Math"/>
              <a:cs typeface="Cambria Math"/>
            </a:endParaRPr>
          </a:p>
          <a:p>
            <a:pPr marL="406400" indent="-342900">
              <a:lnSpc>
                <a:spcPct val="100000"/>
              </a:lnSpc>
              <a:spcBef>
                <a:spcPts val="5"/>
              </a:spcBef>
              <a:buFont typeface="Arial"/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Segoe UI"/>
                <a:cs typeface="Segoe UI"/>
              </a:rPr>
              <a:t>This is a </a:t>
            </a:r>
            <a:r>
              <a:rPr sz="2800" b="1" spc="-10" dirty="0">
                <a:latin typeface="Segoe UI"/>
                <a:cs typeface="Segoe UI"/>
              </a:rPr>
              <a:t>linear</a:t>
            </a:r>
            <a:r>
              <a:rPr sz="2800" b="1" spc="20" dirty="0">
                <a:latin typeface="Segoe UI"/>
                <a:cs typeface="Segoe UI"/>
              </a:rPr>
              <a:t> </a:t>
            </a:r>
            <a:r>
              <a:rPr sz="2800" b="1" spc="-5" dirty="0">
                <a:latin typeface="Segoe UI"/>
                <a:cs typeface="Segoe UI"/>
              </a:rPr>
              <a:t>classifier</a:t>
            </a:r>
            <a:endParaRPr sz="2800">
              <a:latin typeface="Segoe UI"/>
              <a:cs typeface="Segoe UI"/>
            </a:endParaRPr>
          </a:p>
          <a:p>
            <a:pPr marL="807085" marR="172720" indent="-287020">
              <a:lnSpc>
                <a:spcPct val="100000"/>
              </a:lnSpc>
              <a:spcBef>
                <a:spcPts val="590"/>
              </a:spcBef>
            </a:pPr>
            <a:r>
              <a:rPr sz="2400" dirty="0">
                <a:latin typeface="Arial"/>
                <a:cs typeface="Arial"/>
              </a:rPr>
              <a:t>– </a:t>
            </a:r>
            <a:r>
              <a:rPr sz="2400" dirty="0">
                <a:latin typeface="Segoe UI"/>
                <a:cs typeface="Segoe UI"/>
              </a:rPr>
              <a:t>Because the </a:t>
            </a:r>
            <a:r>
              <a:rPr sz="2400" spc="-5" dirty="0">
                <a:latin typeface="Segoe UI"/>
                <a:cs typeface="Segoe UI"/>
              </a:rPr>
              <a:t>prediction is </a:t>
            </a:r>
            <a:r>
              <a:rPr sz="2400" dirty="0">
                <a:latin typeface="Segoe UI"/>
                <a:cs typeface="Segoe UI"/>
              </a:rPr>
              <a:t>a </a:t>
            </a:r>
            <a:r>
              <a:rPr sz="2400" spc="-5" dirty="0">
                <a:latin typeface="Segoe UI"/>
                <a:cs typeface="Segoe UI"/>
              </a:rPr>
              <a:t>linear  combination </a:t>
            </a:r>
            <a:r>
              <a:rPr sz="2400" spc="-30" dirty="0">
                <a:latin typeface="Segoe UI"/>
                <a:cs typeface="Segoe UI"/>
              </a:rPr>
              <a:t>of </a:t>
            </a:r>
            <a:r>
              <a:rPr sz="2400" spc="-5" dirty="0">
                <a:latin typeface="Segoe UI"/>
                <a:cs typeface="Segoe UI"/>
              </a:rPr>
              <a:t>feature </a:t>
            </a:r>
            <a:r>
              <a:rPr sz="2400" spc="-10" dirty="0">
                <a:latin typeface="Segoe UI"/>
                <a:cs typeface="Segoe UI"/>
              </a:rPr>
              <a:t>values</a:t>
            </a:r>
            <a:r>
              <a:rPr sz="2400" spc="55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x</a:t>
            </a:r>
            <a:endParaRPr sz="2400">
              <a:latin typeface="Segoe UI"/>
              <a:cs typeface="Segoe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9048" y="2414574"/>
            <a:ext cx="2862702" cy="288744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5311" y="1411359"/>
            <a:ext cx="8519174" cy="30247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5080" indent="8509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Learning </a:t>
            </a:r>
            <a:r>
              <a:rPr dirty="0"/>
              <a:t>a </a:t>
            </a:r>
            <a:r>
              <a:rPr spc="-5" dirty="0"/>
              <a:t>Linear Classifier  as an Optimization</a:t>
            </a:r>
            <a:r>
              <a:rPr spc="-100" dirty="0"/>
              <a:t> </a:t>
            </a:r>
            <a:r>
              <a:rPr spc="-15" dirty="0"/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463294" y="4516774"/>
            <a:ext cx="6837045" cy="84455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914400">
              <a:lnSpc>
                <a:spcPct val="100000"/>
              </a:lnSpc>
              <a:spcBef>
                <a:spcPts val="190"/>
              </a:spcBef>
            </a:pPr>
            <a:r>
              <a:rPr sz="2400" spc="-10" dirty="0">
                <a:latin typeface="Segoe UI"/>
                <a:cs typeface="Segoe UI"/>
              </a:rPr>
              <a:t>Indicator </a:t>
            </a:r>
            <a:r>
              <a:rPr sz="2400" spc="-5" dirty="0">
                <a:latin typeface="Segoe UI"/>
                <a:cs typeface="Segoe UI"/>
              </a:rPr>
              <a:t>function: </a:t>
            </a:r>
            <a:r>
              <a:rPr sz="2400" dirty="0">
                <a:latin typeface="Segoe UI"/>
                <a:cs typeface="Segoe UI"/>
              </a:rPr>
              <a:t>1 </a:t>
            </a:r>
            <a:r>
              <a:rPr sz="2400" spc="-5" dirty="0">
                <a:latin typeface="Segoe UI"/>
                <a:cs typeface="Segoe UI"/>
              </a:rPr>
              <a:t>if </a:t>
            </a:r>
            <a:r>
              <a:rPr sz="2400" dirty="0">
                <a:latin typeface="Segoe UI"/>
                <a:cs typeface="Segoe UI"/>
              </a:rPr>
              <a:t>(.) </a:t>
            </a:r>
            <a:r>
              <a:rPr sz="2400" spc="-5" dirty="0">
                <a:latin typeface="Segoe UI"/>
                <a:cs typeface="Segoe UI"/>
              </a:rPr>
              <a:t>is </a:t>
            </a:r>
            <a:r>
              <a:rPr sz="2400" dirty="0">
                <a:latin typeface="Segoe UI"/>
                <a:cs typeface="Segoe UI"/>
              </a:rPr>
              <a:t>true, 0</a:t>
            </a:r>
            <a:r>
              <a:rPr sz="2400" spc="140" dirty="0">
                <a:latin typeface="Segoe UI"/>
                <a:cs typeface="Segoe UI"/>
              </a:rPr>
              <a:t> </a:t>
            </a:r>
            <a:r>
              <a:rPr sz="2400" spc="10" dirty="0">
                <a:latin typeface="Segoe UI"/>
                <a:cs typeface="Segoe UI"/>
              </a:rPr>
              <a:t>otherwise</a:t>
            </a:r>
            <a:endParaRPr sz="240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575"/>
              </a:spcBef>
            </a:pPr>
            <a:r>
              <a:rPr sz="2400" dirty="0">
                <a:latin typeface="Segoe UI"/>
                <a:cs typeface="Segoe UI"/>
              </a:rPr>
              <a:t>The </a:t>
            </a:r>
            <a:r>
              <a:rPr sz="2400" spc="-5" dirty="0">
                <a:latin typeface="Segoe UI"/>
                <a:cs typeface="Segoe UI"/>
              </a:rPr>
              <a:t>loss function above is called </a:t>
            </a:r>
            <a:r>
              <a:rPr sz="2400" dirty="0">
                <a:latin typeface="Segoe UI"/>
                <a:cs typeface="Segoe UI"/>
              </a:rPr>
              <a:t>the 0-1</a:t>
            </a:r>
            <a:r>
              <a:rPr sz="2400" spc="100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loss</a:t>
            </a:r>
            <a:endParaRPr sz="24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5062" y="1638236"/>
            <a:ext cx="7571105" cy="3272790"/>
            <a:chOff x="635062" y="1638236"/>
            <a:chExt cx="7571105" cy="327279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35062" y="3326983"/>
              <a:ext cx="7570619" cy="94841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2272030" y="1327404"/>
                  </a:moveTo>
                  <a:lnTo>
                    <a:pt x="1590420" y="1327404"/>
                  </a:lnTo>
                  <a:lnTo>
                    <a:pt x="1938401" y="1687068"/>
                  </a:lnTo>
                  <a:lnTo>
                    <a:pt x="2272030" y="1327404"/>
                  </a:lnTo>
                  <a:close/>
                </a:path>
                <a:path w="2726690" h="1687195">
                  <a:moveTo>
                    <a:pt x="2505202" y="0"/>
                  </a:moveTo>
                  <a:lnTo>
                    <a:pt x="221234" y="0"/>
                  </a:lnTo>
                  <a:lnTo>
                    <a:pt x="176650" y="4495"/>
                  </a:lnTo>
                  <a:lnTo>
                    <a:pt x="135124" y="17387"/>
                  </a:lnTo>
                  <a:lnTo>
                    <a:pt x="97544" y="37785"/>
                  </a:lnTo>
                  <a:lnTo>
                    <a:pt x="64801" y="64801"/>
                  </a:lnTo>
                  <a:lnTo>
                    <a:pt x="37785" y="97544"/>
                  </a:lnTo>
                  <a:lnTo>
                    <a:pt x="17387" y="135124"/>
                  </a:lnTo>
                  <a:lnTo>
                    <a:pt x="4495" y="176650"/>
                  </a:lnTo>
                  <a:lnTo>
                    <a:pt x="0" y="221234"/>
                  </a:lnTo>
                  <a:lnTo>
                    <a:pt x="0" y="1106170"/>
                  </a:lnTo>
                  <a:lnTo>
                    <a:pt x="4495" y="1150753"/>
                  </a:lnTo>
                  <a:lnTo>
                    <a:pt x="17387" y="1192279"/>
                  </a:lnTo>
                  <a:lnTo>
                    <a:pt x="37785" y="1229859"/>
                  </a:lnTo>
                  <a:lnTo>
                    <a:pt x="64801" y="1262602"/>
                  </a:lnTo>
                  <a:lnTo>
                    <a:pt x="97544" y="1289618"/>
                  </a:lnTo>
                  <a:lnTo>
                    <a:pt x="135124" y="1310016"/>
                  </a:lnTo>
                  <a:lnTo>
                    <a:pt x="176650" y="1322908"/>
                  </a:lnTo>
                  <a:lnTo>
                    <a:pt x="221234" y="1327404"/>
                  </a:lnTo>
                  <a:lnTo>
                    <a:pt x="2505202" y="1327404"/>
                  </a:lnTo>
                  <a:lnTo>
                    <a:pt x="2549785" y="1322908"/>
                  </a:lnTo>
                  <a:lnTo>
                    <a:pt x="2591311" y="1310016"/>
                  </a:lnTo>
                  <a:lnTo>
                    <a:pt x="2628891" y="1289618"/>
                  </a:lnTo>
                  <a:lnTo>
                    <a:pt x="2661634" y="1262602"/>
                  </a:lnTo>
                  <a:lnTo>
                    <a:pt x="2688650" y="1229859"/>
                  </a:lnTo>
                  <a:lnTo>
                    <a:pt x="2709048" y="1192279"/>
                  </a:lnTo>
                  <a:lnTo>
                    <a:pt x="2721940" y="1150753"/>
                  </a:lnTo>
                  <a:lnTo>
                    <a:pt x="2726436" y="1106170"/>
                  </a:lnTo>
                  <a:lnTo>
                    <a:pt x="2726436" y="221234"/>
                  </a:lnTo>
                  <a:lnTo>
                    <a:pt x="2721940" y="176650"/>
                  </a:lnTo>
                  <a:lnTo>
                    <a:pt x="2709048" y="135124"/>
                  </a:lnTo>
                  <a:lnTo>
                    <a:pt x="2688650" y="97544"/>
                  </a:lnTo>
                  <a:lnTo>
                    <a:pt x="2661634" y="64801"/>
                  </a:lnTo>
                  <a:lnTo>
                    <a:pt x="2628891" y="37785"/>
                  </a:lnTo>
                  <a:lnTo>
                    <a:pt x="2591311" y="17387"/>
                  </a:lnTo>
                  <a:lnTo>
                    <a:pt x="2549785" y="4495"/>
                  </a:lnTo>
                  <a:lnTo>
                    <a:pt x="25052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0" y="221234"/>
                  </a:moveTo>
                  <a:lnTo>
                    <a:pt x="4495" y="176650"/>
                  </a:lnTo>
                  <a:lnTo>
                    <a:pt x="17387" y="135124"/>
                  </a:lnTo>
                  <a:lnTo>
                    <a:pt x="37785" y="97544"/>
                  </a:lnTo>
                  <a:lnTo>
                    <a:pt x="64801" y="64801"/>
                  </a:lnTo>
                  <a:lnTo>
                    <a:pt x="97544" y="37785"/>
                  </a:lnTo>
                  <a:lnTo>
                    <a:pt x="135124" y="17387"/>
                  </a:lnTo>
                  <a:lnTo>
                    <a:pt x="176650" y="4495"/>
                  </a:lnTo>
                  <a:lnTo>
                    <a:pt x="221234" y="0"/>
                  </a:lnTo>
                  <a:lnTo>
                    <a:pt x="1590420" y="0"/>
                  </a:lnTo>
                  <a:lnTo>
                    <a:pt x="2272030" y="0"/>
                  </a:lnTo>
                  <a:lnTo>
                    <a:pt x="2505202" y="0"/>
                  </a:lnTo>
                  <a:lnTo>
                    <a:pt x="2549785" y="4495"/>
                  </a:lnTo>
                  <a:lnTo>
                    <a:pt x="2591311" y="17387"/>
                  </a:lnTo>
                  <a:lnTo>
                    <a:pt x="2628891" y="37785"/>
                  </a:lnTo>
                  <a:lnTo>
                    <a:pt x="2661634" y="64801"/>
                  </a:lnTo>
                  <a:lnTo>
                    <a:pt x="2688650" y="97544"/>
                  </a:lnTo>
                  <a:lnTo>
                    <a:pt x="2709048" y="135124"/>
                  </a:lnTo>
                  <a:lnTo>
                    <a:pt x="2721940" y="176650"/>
                  </a:lnTo>
                  <a:lnTo>
                    <a:pt x="2726436" y="221234"/>
                  </a:lnTo>
                  <a:lnTo>
                    <a:pt x="2726436" y="774319"/>
                  </a:lnTo>
                  <a:lnTo>
                    <a:pt x="2726436" y="1106170"/>
                  </a:lnTo>
                  <a:lnTo>
                    <a:pt x="2721940" y="1150753"/>
                  </a:lnTo>
                  <a:lnTo>
                    <a:pt x="2709048" y="1192279"/>
                  </a:lnTo>
                  <a:lnTo>
                    <a:pt x="2688650" y="1229859"/>
                  </a:lnTo>
                  <a:lnTo>
                    <a:pt x="2661634" y="1262602"/>
                  </a:lnTo>
                  <a:lnTo>
                    <a:pt x="2628891" y="1289618"/>
                  </a:lnTo>
                  <a:lnTo>
                    <a:pt x="2591311" y="1310016"/>
                  </a:lnTo>
                  <a:lnTo>
                    <a:pt x="2549785" y="1322908"/>
                  </a:lnTo>
                  <a:lnTo>
                    <a:pt x="2505202" y="1327404"/>
                  </a:lnTo>
                  <a:lnTo>
                    <a:pt x="2272030" y="1327404"/>
                  </a:lnTo>
                  <a:lnTo>
                    <a:pt x="1938401" y="1687068"/>
                  </a:lnTo>
                  <a:lnTo>
                    <a:pt x="1590420" y="1327404"/>
                  </a:lnTo>
                  <a:lnTo>
                    <a:pt x="221234" y="1327404"/>
                  </a:lnTo>
                  <a:lnTo>
                    <a:pt x="176650" y="1322908"/>
                  </a:lnTo>
                  <a:lnTo>
                    <a:pt x="135124" y="1310016"/>
                  </a:lnTo>
                  <a:lnTo>
                    <a:pt x="97544" y="1289618"/>
                  </a:lnTo>
                  <a:lnTo>
                    <a:pt x="64801" y="1262602"/>
                  </a:lnTo>
                  <a:lnTo>
                    <a:pt x="37785" y="1229859"/>
                  </a:lnTo>
                  <a:lnTo>
                    <a:pt x="17387" y="1192279"/>
                  </a:lnTo>
                  <a:lnTo>
                    <a:pt x="4495" y="1150753"/>
                  </a:lnTo>
                  <a:lnTo>
                    <a:pt x="0" y="1106170"/>
                  </a:lnTo>
                  <a:lnTo>
                    <a:pt x="0" y="774319"/>
                  </a:lnTo>
                  <a:lnTo>
                    <a:pt x="0" y="221234"/>
                  </a:lnTo>
                  <a:close/>
                </a:path>
              </a:pathLst>
            </a:custGeom>
            <a:ln w="25908">
              <a:solidFill>
                <a:srgbClr val="1B57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28960" y="4522184"/>
              <a:ext cx="525456" cy="388261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3049016" y="1685289"/>
            <a:ext cx="231521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-1270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Loss function  </a:t>
            </a:r>
            <a:r>
              <a:rPr sz="2000" spc="-5" dirty="0">
                <a:latin typeface="Segoe UI"/>
                <a:cs typeface="Segoe UI"/>
              </a:rPr>
              <a:t>measures </a:t>
            </a:r>
            <a:r>
              <a:rPr sz="2000" dirty="0">
                <a:latin typeface="Segoe UI"/>
                <a:cs typeface="Segoe UI"/>
              </a:rPr>
              <a:t>how </a:t>
            </a:r>
            <a:r>
              <a:rPr sz="2000" spc="-5" dirty="0">
                <a:latin typeface="Segoe UI"/>
                <a:cs typeface="Segoe UI"/>
              </a:rPr>
              <a:t>well  classifier fits </a:t>
            </a:r>
            <a:r>
              <a:rPr sz="2000" dirty="0">
                <a:latin typeface="Segoe UI"/>
                <a:cs typeface="Segoe UI"/>
              </a:rPr>
              <a:t>training  data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6216332" y="1606232"/>
            <a:ext cx="2330450" cy="1771650"/>
            <a:chOff x="6216332" y="1606232"/>
            <a:chExt cx="2330450" cy="1771650"/>
          </a:xfrm>
        </p:grpSpPr>
        <p:sp>
          <p:nvSpPr>
            <p:cNvPr id="11" name="object 11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1920240" y="1479803"/>
                  </a:moveTo>
                  <a:lnTo>
                    <a:pt x="1344168" y="1479803"/>
                  </a:lnTo>
                  <a:lnTo>
                    <a:pt x="1507744" y="1745361"/>
                  </a:lnTo>
                  <a:lnTo>
                    <a:pt x="1920240" y="1479803"/>
                  </a:lnTo>
                  <a:close/>
                </a:path>
                <a:path w="2304415" h="1745614">
                  <a:moveTo>
                    <a:pt x="2057653" y="0"/>
                  </a:moveTo>
                  <a:lnTo>
                    <a:pt x="246634" y="0"/>
                  </a:lnTo>
                  <a:lnTo>
                    <a:pt x="196911" y="5008"/>
                  </a:lnTo>
                  <a:lnTo>
                    <a:pt x="150608" y="19373"/>
                  </a:lnTo>
                  <a:lnTo>
                    <a:pt x="108712" y="42105"/>
                  </a:lnTo>
                  <a:lnTo>
                    <a:pt x="72215" y="72215"/>
                  </a:lnTo>
                  <a:lnTo>
                    <a:pt x="42105" y="108712"/>
                  </a:lnTo>
                  <a:lnTo>
                    <a:pt x="19373" y="150608"/>
                  </a:lnTo>
                  <a:lnTo>
                    <a:pt x="5008" y="196911"/>
                  </a:lnTo>
                  <a:lnTo>
                    <a:pt x="0" y="246634"/>
                  </a:lnTo>
                  <a:lnTo>
                    <a:pt x="0" y="1233170"/>
                  </a:lnTo>
                  <a:lnTo>
                    <a:pt x="5008" y="1282892"/>
                  </a:lnTo>
                  <a:lnTo>
                    <a:pt x="19373" y="1329195"/>
                  </a:lnTo>
                  <a:lnTo>
                    <a:pt x="42105" y="1371091"/>
                  </a:lnTo>
                  <a:lnTo>
                    <a:pt x="72215" y="1407588"/>
                  </a:lnTo>
                  <a:lnTo>
                    <a:pt x="108712" y="1437698"/>
                  </a:lnTo>
                  <a:lnTo>
                    <a:pt x="150608" y="1460430"/>
                  </a:lnTo>
                  <a:lnTo>
                    <a:pt x="196911" y="1474795"/>
                  </a:lnTo>
                  <a:lnTo>
                    <a:pt x="246634" y="1479803"/>
                  </a:lnTo>
                  <a:lnTo>
                    <a:pt x="2057653" y="1479803"/>
                  </a:lnTo>
                  <a:lnTo>
                    <a:pt x="2107376" y="1474795"/>
                  </a:lnTo>
                  <a:lnTo>
                    <a:pt x="2153679" y="1460430"/>
                  </a:lnTo>
                  <a:lnTo>
                    <a:pt x="2195575" y="1437698"/>
                  </a:lnTo>
                  <a:lnTo>
                    <a:pt x="2232072" y="1407588"/>
                  </a:lnTo>
                  <a:lnTo>
                    <a:pt x="2262182" y="1371091"/>
                  </a:lnTo>
                  <a:lnTo>
                    <a:pt x="2284914" y="1329195"/>
                  </a:lnTo>
                  <a:lnTo>
                    <a:pt x="2299279" y="1282892"/>
                  </a:lnTo>
                  <a:lnTo>
                    <a:pt x="2304288" y="1233170"/>
                  </a:lnTo>
                  <a:lnTo>
                    <a:pt x="2304288" y="246634"/>
                  </a:lnTo>
                  <a:lnTo>
                    <a:pt x="2299279" y="196911"/>
                  </a:lnTo>
                  <a:lnTo>
                    <a:pt x="2284914" y="150608"/>
                  </a:lnTo>
                  <a:lnTo>
                    <a:pt x="2262182" y="108712"/>
                  </a:lnTo>
                  <a:lnTo>
                    <a:pt x="2232072" y="72215"/>
                  </a:lnTo>
                  <a:lnTo>
                    <a:pt x="2195575" y="42105"/>
                  </a:lnTo>
                  <a:lnTo>
                    <a:pt x="2153679" y="19373"/>
                  </a:lnTo>
                  <a:lnTo>
                    <a:pt x="2107376" y="5008"/>
                  </a:lnTo>
                  <a:lnTo>
                    <a:pt x="205765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0" y="246634"/>
                  </a:moveTo>
                  <a:lnTo>
                    <a:pt x="5008" y="196911"/>
                  </a:lnTo>
                  <a:lnTo>
                    <a:pt x="19373" y="150608"/>
                  </a:lnTo>
                  <a:lnTo>
                    <a:pt x="42105" y="108712"/>
                  </a:lnTo>
                  <a:lnTo>
                    <a:pt x="72215" y="72215"/>
                  </a:lnTo>
                  <a:lnTo>
                    <a:pt x="108712" y="42105"/>
                  </a:lnTo>
                  <a:lnTo>
                    <a:pt x="150608" y="19373"/>
                  </a:lnTo>
                  <a:lnTo>
                    <a:pt x="196911" y="5008"/>
                  </a:lnTo>
                  <a:lnTo>
                    <a:pt x="246634" y="0"/>
                  </a:lnTo>
                  <a:lnTo>
                    <a:pt x="1344168" y="0"/>
                  </a:lnTo>
                  <a:lnTo>
                    <a:pt x="1920240" y="0"/>
                  </a:lnTo>
                  <a:lnTo>
                    <a:pt x="2057653" y="0"/>
                  </a:lnTo>
                  <a:lnTo>
                    <a:pt x="2107376" y="5008"/>
                  </a:lnTo>
                  <a:lnTo>
                    <a:pt x="2153679" y="19373"/>
                  </a:lnTo>
                  <a:lnTo>
                    <a:pt x="2195575" y="42105"/>
                  </a:lnTo>
                  <a:lnTo>
                    <a:pt x="2232072" y="72215"/>
                  </a:lnTo>
                  <a:lnTo>
                    <a:pt x="2262182" y="108712"/>
                  </a:lnTo>
                  <a:lnTo>
                    <a:pt x="2284914" y="150608"/>
                  </a:lnTo>
                  <a:lnTo>
                    <a:pt x="2299279" y="196911"/>
                  </a:lnTo>
                  <a:lnTo>
                    <a:pt x="2304288" y="246634"/>
                  </a:lnTo>
                  <a:lnTo>
                    <a:pt x="2304288" y="863219"/>
                  </a:lnTo>
                  <a:lnTo>
                    <a:pt x="2304288" y="1233170"/>
                  </a:lnTo>
                  <a:lnTo>
                    <a:pt x="2299279" y="1282892"/>
                  </a:lnTo>
                  <a:lnTo>
                    <a:pt x="2284914" y="1329195"/>
                  </a:lnTo>
                  <a:lnTo>
                    <a:pt x="2262182" y="1371091"/>
                  </a:lnTo>
                  <a:lnTo>
                    <a:pt x="2232072" y="1407588"/>
                  </a:lnTo>
                  <a:lnTo>
                    <a:pt x="2195575" y="1437698"/>
                  </a:lnTo>
                  <a:lnTo>
                    <a:pt x="2153679" y="1460430"/>
                  </a:lnTo>
                  <a:lnTo>
                    <a:pt x="2107376" y="1474795"/>
                  </a:lnTo>
                  <a:lnTo>
                    <a:pt x="2057653" y="1479803"/>
                  </a:lnTo>
                  <a:lnTo>
                    <a:pt x="1920240" y="1479803"/>
                  </a:lnTo>
                  <a:lnTo>
                    <a:pt x="1507744" y="1745361"/>
                  </a:lnTo>
                  <a:lnTo>
                    <a:pt x="1344168" y="1479803"/>
                  </a:lnTo>
                  <a:lnTo>
                    <a:pt x="246634" y="1479803"/>
                  </a:lnTo>
                  <a:lnTo>
                    <a:pt x="196911" y="1474795"/>
                  </a:lnTo>
                  <a:lnTo>
                    <a:pt x="150608" y="1460430"/>
                  </a:lnTo>
                  <a:lnTo>
                    <a:pt x="108712" y="1437698"/>
                  </a:lnTo>
                  <a:lnTo>
                    <a:pt x="72215" y="1407588"/>
                  </a:lnTo>
                  <a:lnTo>
                    <a:pt x="42105" y="1371091"/>
                  </a:lnTo>
                  <a:lnTo>
                    <a:pt x="19373" y="1329195"/>
                  </a:lnTo>
                  <a:lnTo>
                    <a:pt x="5008" y="1282892"/>
                  </a:lnTo>
                  <a:lnTo>
                    <a:pt x="0" y="1233170"/>
                  </a:lnTo>
                  <a:lnTo>
                    <a:pt x="0" y="863219"/>
                  </a:lnTo>
                  <a:lnTo>
                    <a:pt x="0" y="246634"/>
                  </a:lnTo>
                  <a:close/>
                </a:path>
              </a:pathLst>
            </a:custGeom>
            <a:ln w="25907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436867" y="1728977"/>
            <a:ext cx="188595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indent="3175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Regularizer  </a:t>
            </a:r>
            <a:r>
              <a:rPr sz="2000" spc="-5" dirty="0">
                <a:latin typeface="Segoe UI"/>
                <a:cs typeface="Segoe UI"/>
              </a:rPr>
              <a:t>prefers solutions  </a:t>
            </a:r>
            <a:r>
              <a:rPr sz="2000" dirty="0">
                <a:latin typeface="Segoe UI"/>
                <a:cs typeface="Segoe UI"/>
              </a:rPr>
              <a:t>that </a:t>
            </a:r>
            <a:r>
              <a:rPr sz="2000" spc="-5" dirty="0">
                <a:latin typeface="Segoe UI"/>
                <a:cs typeface="Segoe UI"/>
              </a:rPr>
              <a:t>generalize  well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44944" y="1732724"/>
            <a:ext cx="1898014" cy="1713864"/>
            <a:chOff x="444944" y="1732724"/>
            <a:chExt cx="1898014" cy="1713864"/>
          </a:xfrm>
        </p:grpSpPr>
        <p:sp>
          <p:nvSpPr>
            <p:cNvPr id="15" name="object 15"/>
            <p:cNvSpPr/>
            <p:nvPr/>
          </p:nvSpPr>
          <p:spPr>
            <a:xfrm>
              <a:off x="457961" y="1745741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1559560" y="1283208"/>
                  </a:moveTo>
                  <a:lnTo>
                    <a:pt x="1091692" y="1283208"/>
                  </a:lnTo>
                  <a:lnTo>
                    <a:pt x="1090168" y="1687322"/>
                  </a:lnTo>
                  <a:lnTo>
                    <a:pt x="1559560" y="1283208"/>
                  </a:lnTo>
                  <a:close/>
                </a:path>
                <a:path w="1871980" h="1687829">
                  <a:moveTo>
                    <a:pt x="1657604" y="0"/>
                  </a:moveTo>
                  <a:lnTo>
                    <a:pt x="213867" y="0"/>
                  </a:lnTo>
                  <a:lnTo>
                    <a:pt x="164831" y="5648"/>
                  </a:lnTo>
                  <a:lnTo>
                    <a:pt x="119816" y="21738"/>
                  </a:lnTo>
                  <a:lnTo>
                    <a:pt x="80107" y="46986"/>
                  </a:lnTo>
                  <a:lnTo>
                    <a:pt x="46986" y="80107"/>
                  </a:lnTo>
                  <a:lnTo>
                    <a:pt x="21738" y="119816"/>
                  </a:lnTo>
                  <a:lnTo>
                    <a:pt x="5648" y="164831"/>
                  </a:lnTo>
                  <a:lnTo>
                    <a:pt x="0" y="213868"/>
                  </a:lnTo>
                  <a:lnTo>
                    <a:pt x="0" y="1069340"/>
                  </a:lnTo>
                  <a:lnTo>
                    <a:pt x="5648" y="1118376"/>
                  </a:lnTo>
                  <a:lnTo>
                    <a:pt x="21738" y="1163391"/>
                  </a:lnTo>
                  <a:lnTo>
                    <a:pt x="46986" y="1203100"/>
                  </a:lnTo>
                  <a:lnTo>
                    <a:pt x="80107" y="1236221"/>
                  </a:lnTo>
                  <a:lnTo>
                    <a:pt x="119816" y="1261469"/>
                  </a:lnTo>
                  <a:lnTo>
                    <a:pt x="164831" y="1277559"/>
                  </a:lnTo>
                  <a:lnTo>
                    <a:pt x="213867" y="1283208"/>
                  </a:lnTo>
                  <a:lnTo>
                    <a:pt x="1657604" y="1283208"/>
                  </a:lnTo>
                  <a:lnTo>
                    <a:pt x="1706640" y="1277559"/>
                  </a:lnTo>
                  <a:lnTo>
                    <a:pt x="1751655" y="1261469"/>
                  </a:lnTo>
                  <a:lnTo>
                    <a:pt x="1791364" y="1236221"/>
                  </a:lnTo>
                  <a:lnTo>
                    <a:pt x="1824485" y="1203100"/>
                  </a:lnTo>
                  <a:lnTo>
                    <a:pt x="1849733" y="1163391"/>
                  </a:lnTo>
                  <a:lnTo>
                    <a:pt x="1865823" y="1118376"/>
                  </a:lnTo>
                  <a:lnTo>
                    <a:pt x="1871471" y="1069340"/>
                  </a:lnTo>
                  <a:lnTo>
                    <a:pt x="1871471" y="213868"/>
                  </a:lnTo>
                  <a:lnTo>
                    <a:pt x="1865823" y="164831"/>
                  </a:lnTo>
                  <a:lnTo>
                    <a:pt x="1849733" y="119816"/>
                  </a:lnTo>
                  <a:lnTo>
                    <a:pt x="1824485" y="80107"/>
                  </a:lnTo>
                  <a:lnTo>
                    <a:pt x="1791364" y="46986"/>
                  </a:lnTo>
                  <a:lnTo>
                    <a:pt x="1751655" y="21738"/>
                  </a:lnTo>
                  <a:lnTo>
                    <a:pt x="1706640" y="5648"/>
                  </a:lnTo>
                  <a:lnTo>
                    <a:pt x="1657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57961" y="1745741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0" y="213868"/>
                  </a:moveTo>
                  <a:lnTo>
                    <a:pt x="5648" y="164831"/>
                  </a:lnTo>
                  <a:lnTo>
                    <a:pt x="21738" y="119816"/>
                  </a:lnTo>
                  <a:lnTo>
                    <a:pt x="46986" y="80107"/>
                  </a:lnTo>
                  <a:lnTo>
                    <a:pt x="80107" y="46986"/>
                  </a:lnTo>
                  <a:lnTo>
                    <a:pt x="119816" y="21738"/>
                  </a:lnTo>
                  <a:lnTo>
                    <a:pt x="164831" y="5648"/>
                  </a:lnTo>
                  <a:lnTo>
                    <a:pt x="213867" y="0"/>
                  </a:lnTo>
                  <a:lnTo>
                    <a:pt x="1091692" y="0"/>
                  </a:lnTo>
                  <a:lnTo>
                    <a:pt x="1559560" y="0"/>
                  </a:lnTo>
                  <a:lnTo>
                    <a:pt x="1657604" y="0"/>
                  </a:lnTo>
                  <a:lnTo>
                    <a:pt x="1706640" y="5648"/>
                  </a:lnTo>
                  <a:lnTo>
                    <a:pt x="1751655" y="21738"/>
                  </a:lnTo>
                  <a:lnTo>
                    <a:pt x="1791364" y="46986"/>
                  </a:lnTo>
                  <a:lnTo>
                    <a:pt x="1824485" y="80107"/>
                  </a:lnTo>
                  <a:lnTo>
                    <a:pt x="1849733" y="119816"/>
                  </a:lnTo>
                  <a:lnTo>
                    <a:pt x="1865823" y="164831"/>
                  </a:lnTo>
                  <a:lnTo>
                    <a:pt x="1871471" y="213868"/>
                  </a:lnTo>
                  <a:lnTo>
                    <a:pt x="1871471" y="748538"/>
                  </a:lnTo>
                  <a:lnTo>
                    <a:pt x="1871471" y="1069340"/>
                  </a:lnTo>
                  <a:lnTo>
                    <a:pt x="1865823" y="1118376"/>
                  </a:lnTo>
                  <a:lnTo>
                    <a:pt x="1849733" y="1163391"/>
                  </a:lnTo>
                  <a:lnTo>
                    <a:pt x="1824485" y="1203100"/>
                  </a:lnTo>
                  <a:lnTo>
                    <a:pt x="1791364" y="1236221"/>
                  </a:lnTo>
                  <a:lnTo>
                    <a:pt x="1751655" y="1261469"/>
                  </a:lnTo>
                  <a:lnTo>
                    <a:pt x="1706640" y="1277559"/>
                  </a:lnTo>
                  <a:lnTo>
                    <a:pt x="1657604" y="1283208"/>
                  </a:lnTo>
                  <a:lnTo>
                    <a:pt x="1559560" y="1283208"/>
                  </a:lnTo>
                  <a:lnTo>
                    <a:pt x="1090168" y="1687322"/>
                  </a:lnTo>
                  <a:lnTo>
                    <a:pt x="1091692" y="1283208"/>
                  </a:lnTo>
                  <a:lnTo>
                    <a:pt x="213867" y="1283208"/>
                  </a:lnTo>
                  <a:lnTo>
                    <a:pt x="164831" y="1277559"/>
                  </a:lnTo>
                  <a:lnTo>
                    <a:pt x="119816" y="1261469"/>
                  </a:lnTo>
                  <a:lnTo>
                    <a:pt x="80107" y="1236221"/>
                  </a:lnTo>
                  <a:lnTo>
                    <a:pt x="46986" y="1203100"/>
                  </a:lnTo>
                  <a:lnTo>
                    <a:pt x="21738" y="1163391"/>
                  </a:lnTo>
                  <a:lnTo>
                    <a:pt x="5648" y="1118376"/>
                  </a:lnTo>
                  <a:lnTo>
                    <a:pt x="0" y="1069340"/>
                  </a:lnTo>
                  <a:lnTo>
                    <a:pt x="0" y="748538"/>
                  </a:lnTo>
                  <a:lnTo>
                    <a:pt x="0" y="213868"/>
                  </a:lnTo>
                  <a:close/>
                </a:path>
              </a:pathLst>
            </a:custGeom>
            <a:ln w="2590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816965" y="2062099"/>
            <a:ext cx="1151890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1755" marR="5080" indent="-59690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O</a:t>
            </a:r>
            <a:r>
              <a:rPr sz="2000" b="1" spc="5" dirty="0">
                <a:latin typeface="Segoe UI"/>
                <a:cs typeface="Segoe UI"/>
              </a:rPr>
              <a:t>b</a:t>
            </a:r>
            <a:r>
              <a:rPr sz="2000" b="1" spc="-5" dirty="0">
                <a:latin typeface="Segoe UI"/>
                <a:cs typeface="Segoe UI"/>
              </a:rPr>
              <a:t>j</a:t>
            </a:r>
            <a:r>
              <a:rPr sz="2000" b="1" spc="-15" dirty="0">
                <a:latin typeface="Segoe UI"/>
                <a:cs typeface="Segoe UI"/>
              </a:rPr>
              <a:t>e</a:t>
            </a:r>
            <a:r>
              <a:rPr sz="2000" b="1" dirty="0">
                <a:latin typeface="Segoe UI"/>
                <a:cs typeface="Segoe UI"/>
              </a:rPr>
              <a:t>ct</a:t>
            </a:r>
            <a:r>
              <a:rPr sz="2000" b="1" spc="-10" dirty="0">
                <a:latin typeface="Segoe UI"/>
                <a:cs typeface="Segoe UI"/>
              </a:rPr>
              <a:t>i</a:t>
            </a:r>
            <a:r>
              <a:rPr sz="2000" b="1" spc="-20" dirty="0">
                <a:latin typeface="Segoe UI"/>
                <a:cs typeface="Segoe UI"/>
              </a:rPr>
              <a:t>v</a:t>
            </a:r>
            <a:r>
              <a:rPr sz="2000" b="1" dirty="0">
                <a:latin typeface="Segoe UI"/>
                <a:cs typeface="Segoe UI"/>
              </a:rPr>
              <a:t>e  </a:t>
            </a:r>
            <a:r>
              <a:rPr sz="2000" b="1" spc="-5" dirty="0">
                <a:latin typeface="Segoe UI"/>
                <a:cs typeface="Segoe UI"/>
              </a:rPr>
              <a:t>function</a:t>
            </a:r>
            <a:endParaRPr sz="2000">
              <a:latin typeface="Segoe UI"/>
              <a:cs typeface="Segoe UI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816851" y="3243071"/>
            <a:ext cx="8220709" cy="2994660"/>
          </a:xfrm>
          <a:custGeom>
            <a:avLst/>
            <a:gdLst/>
            <a:ahLst/>
            <a:cxnLst/>
            <a:rect l="l" t="t" r="r" b="b"/>
            <a:pathLst>
              <a:path w="8220709" h="2994660">
                <a:moveTo>
                  <a:pt x="8220456" y="1197864"/>
                </a:moveTo>
                <a:lnTo>
                  <a:pt x="8218945" y="1197864"/>
                </a:lnTo>
                <a:lnTo>
                  <a:pt x="8218945" y="0"/>
                </a:lnTo>
                <a:lnTo>
                  <a:pt x="1437144" y="0"/>
                </a:lnTo>
                <a:lnTo>
                  <a:pt x="1437144" y="1197864"/>
                </a:lnTo>
                <a:lnTo>
                  <a:pt x="0" y="1197864"/>
                </a:lnTo>
                <a:lnTo>
                  <a:pt x="0" y="2994660"/>
                </a:lnTo>
                <a:lnTo>
                  <a:pt x="8220456" y="2994660"/>
                </a:lnTo>
                <a:lnTo>
                  <a:pt x="8220456" y="1197864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5080" indent="-32384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Casting Linear Classification  as an Optimization</a:t>
            </a:r>
            <a:r>
              <a:rPr spc="-100" dirty="0"/>
              <a:t> </a:t>
            </a:r>
            <a:r>
              <a:rPr spc="-15" dirty="0"/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450594" y="4455410"/>
            <a:ext cx="6862445" cy="90296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914400">
              <a:lnSpc>
                <a:spcPct val="120000"/>
              </a:lnSpc>
              <a:spcBef>
                <a:spcPts val="95"/>
              </a:spcBef>
            </a:pPr>
            <a:r>
              <a:rPr sz="2400" spc="-10" dirty="0">
                <a:latin typeface="Segoe UI"/>
                <a:cs typeface="Segoe UI"/>
              </a:rPr>
              <a:t>Indicator </a:t>
            </a:r>
            <a:r>
              <a:rPr sz="2400" spc="-5" dirty="0">
                <a:latin typeface="Segoe UI"/>
                <a:cs typeface="Segoe UI"/>
              </a:rPr>
              <a:t>function: </a:t>
            </a:r>
            <a:r>
              <a:rPr sz="2400" dirty="0">
                <a:latin typeface="Segoe UI"/>
                <a:cs typeface="Segoe UI"/>
              </a:rPr>
              <a:t>1 </a:t>
            </a:r>
            <a:r>
              <a:rPr sz="2400" spc="-5" dirty="0">
                <a:latin typeface="Segoe UI"/>
                <a:cs typeface="Segoe UI"/>
              </a:rPr>
              <a:t>if </a:t>
            </a:r>
            <a:r>
              <a:rPr sz="2400" dirty="0">
                <a:latin typeface="Segoe UI"/>
                <a:cs typeface="Segoe UI"/>
              </a:rPr>
              <a:t>(.) </a:t>
            </a:r>
            <a:r>
              <a:rPr sz="2400" spc="-5" dirty="0">
                <a:latin typeface="Segoe UI"/>
                <a:cs typeface="Segoe UI"/>
              </a:rPr>
              <a:t>is </a:t>
            </a:r>
            <a:r>
              <a:rPr sz="2400" dirty="0">
                <a:latin typeface="Segoe UI"/>
                <a:cs typeface="Segoe UI"/>
              </a:rPr>
              <a:t>true, 0 </a:t>
            </a:r>
            <a:r>
              <a:rPr sz="2400" spc="10" dirty="0">
                <a:latin typeface="Segoe UI"/>
                <a:cs typeface="Segoe UI"/>
              </a:rPr>
              <a:t>otherwise  </a:t>
            </a:r>
            <a:r>
              <a:rPr sz="2400" dirty="0">
                <a:latin typeface="Segoe UI"/>
                <a:cs typeface="Segoe UI"/>
              </a:rPr>
              <a:t>The </a:t>
            </a:r>
            <a:r>
              <a:rPr sz="2400" spc="-5" dirty="0">
                <a:latin typeface="Segoe UI"/>
                <a:cs typeface="Segoe UI"/>
              </a:rPr>
              <a:t>loss function above is called </a:t>
            </a:r>
            <a:r>
              <a:rPr sz="2400" dirty="0">
                <a:latin typeface="Segoe UI"/>
                <a:cs typeface="Segoe UI"/>
              </a:rPr>
              <a:t>the 0-1</a:t>
            </a:r>
            <a:r>
              <a:rPr sz="2400" spc="100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loss</a:t>
            </a:r>
            <a:endParaRPr sz="24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5062" y="1638236"/>
            <a:ext cx="7571105" cy="2637155"/>
            <a:chOff x="635062" y="1638236"/>
            <a:chExt cx="7571105" cy="263715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35062" y="3326983"/>
              <a:ext cx="7570619" cy="94841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2272030" y="1327404"/>
                  </a:moveTo>
                  <a:lnTo>
                    <a:pt x="1590420" y="1327404"/>
                  </a:lnTo>
                  <a:lnTo>
                    <a:pt x="1938401" y="1687068"/>
                  </a:lnTo>
                  <a:lnTo>
                    <a:pt x="2272030" y="1327404"/>
                  </a:lnTo>
                  <a:close/>
                </a:path>
                <a:path w="2726690" h="1687195">
                  <a:moveTo>
                    <a:pt x="2505202" y="0"/>
                  </a:moveTo>
                  <a:lnTo>
                    <a:pt x="221234" y="0"/>
                  </a:lnTo>
                  <a:lnTo>
                    <a:pt x="176650" y="4495"/>
                  </a:lnTo>
                  <a:lnTo>
                    <a:pt x="135124" y="17387"/>
                  </a:lnTo>
                  <a:lnTo>
                    <a:pt x="97544" y="37785"/>
                  </a:lnTo>
                  <a:lnTo>
                    <a:pt x="64801" y="64801"/>
                  </a:lnTo>
                  <a:lnTo>
                    <a:pt x="37785" y="97544"/>
                  </a:lnTo>
                  <a:lnTo>
                    <a:pt x="17387" y="135124"/>
                  </a:lnTo>
                  <a:lnTo>
                    <a:pt x="4495" y="176650"/>
                  </a:lnTo>
                  <a:lnTo>
                    <a:pt x="0" y="221234"/>
                  </a:lnTo>
                  <a:lnTo>
                    <a:pt x="0" y="1106170"/>
                  </a:lnTo>
                  <a:lnTo>
                    <a:pt x="4495" y="1150753"/>
                  </a:lnTo>
                  <a:lnTo>
                    <a:pt x="17387" y="1192279"/>
                  </a:lnTo>
                  <a:lnTo>
                    <a:pt x="37785" y="1229859"/>
                  </a:lnTo>
                  <a:lnTo>
                    <a:pt x="64801" y="1262602"/>
                  </a:lnTo>
                  <a:lnTo>
                    <a:pt x="97544" y="1289618"/>
                  </a:lnTo>
                  <a:lnTo>
                    <a:pt x="135124" y="1310016"/>
                  </a:lnTo>
                  <a:lnTo>
                    <a:pt x="176650" y="1322908"/>
                  </a:lnTo>
                  <a:lnTo>
                    <a:pt x="221234" y="1327404"/>
                  </a:lnTo>
                  <a:lnTo>
                    <a:pt x="2505202" y="1327404"/>
                  </a:lnTo>
                  <a:lnTo>
                    <a:pt x="2549785" y="1322908"/>
                  </a:lnTo>
                  <a:lnTo>
                    <a:pt x="2591311" y="1310016"/>
                  </a:lnTo>
                  <a:lnTo>
                    <a:pt x="2628891" y="1289618"/>
                  </a:lnTo>
                  <a:lnTo>
                    <a:pt x="2661634" y="1262602"/>
                  </a:lnTo>
                  <a:lnTo>
                    <a:pt x="2688650" y="1229859"/>
                  </a:lnTo>
                  <a:lnTo>
                    <a:pt x="2709048" y="1192279"/>
                  </a:lnTo>
                  <a:lnTo>
                    <a:pt x="2721940" y="1150753"/>
                  </a:lnTo>
                  <a:lnTo>
                    <a:pt x="2726436" y="1106170"/>
                  </a:lnTo>
                  <a:lnTo>
                    <a:pt x="2726436" y="221234"/>
                  </a:lnTo>
                  <a:lnTo>
                    <a:pt x="2721940" y="176650"/>
                  </a:lnTo>
                  <a:lnTo>
                    <a:pt x="2709048" y="135124"/>
                  </a:lnTo>
                  <a:lnTo>
                    <a:pt x="2688650" y="97544"/>
                  </a:lnTo>
                  <a:lnTo>
                    <a:pt x="2661634" y="64801"/>
                  </a:lnTo>
                  <a:lnTo>
                    <a:pt x="2628891" y="37785"/>
                  </a:lnTo>
                  <a:lnTo>
                    <a:pt x="2591311" y="17387"/>
                  </a:lnTo>
                  <a:lnTo>
                    <a:pt x="2549785" y="4495"/>
                  </a:lnTo>
                  <a:lnTo>
                    <a:pt x="25052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0" y="221234"/>
                  </a:moveTo>
                  <a:lnTo>
                    <a:pt x="4495" y="176650"/>
                  </a:lnTo>
                  <a:lnTo>
                    <a:pt x="17387" y="135124"/>
                  </a:lnTo>
                  <a:lnTo>
                    <a:pt x="37785" y="97544"/>
                  </a:lnTo>
                  <a:lnTo>
                    <a:pt x="64801" y="64801"/>
                  </a:lnTo>
                  <a:lnTo>
                    <a:pt x="97544" y="37785"/>
                  </a:lnTo>
                  <a:lnTo>
                    <a:pt x="135124" y="17387"/>
                  </a:lnTo>
                  <a:lnTo>
                    <a:pt x="176650" y="4495"/>
                  </a:lnTo>
                  <a:lnTo>
                    <a:pt x="221234" y="0"/>
                  </a:lnTo>
                  <a:lnTo>
                    <a:pt x="1590420" y="0"/>
                  </a:lnTo>
                  <a:lnTo>
                    <a:pt x="2272030" y="0"/>
                  </a:lnTo>
                  <a:lnTo>
                    <a:pt x="2505202" y="0"/>
                  </a:lnTo>
                  <a:lnTo>
                    <a:pt x="2549785" y="4495"/>
                  </a:lnTo>
                  <a:lnTo>
                    <a:pt x="2591311" y="17387"/>
                  </a:lnTo>
                  <a:lnTo>
                    <a:pt x="2628891" y="37785"/>
                  </a:lnTo>
                  <a:lnTo>
                    <a:pt x="2661634" y="64801"/>
                  </a:lnTo>
                  <a:lnTo>
                    <a:pt x="2688650" y="97544"/>
                  </a:lnTo>
                  <a:lnTo>
                    <a:pt x="2709048" y="135124"/>
                  </a:lnTo>
                  <a:lnTo>
                    <a:pt x="2721940" y="176650"/>
                  </a:lnTo>
                  <a:lnTo>
                    <a:pt x="2726436" y="221234"/>
                  </a:lnTo>
                  <a:lnTo>
                    <a:pt x="2726436" y="774319"/>
                  </a:lnTo>
                  <a:lnTo>
                    <a:pt x="2726436" y="1106170"/>
                  </a:lnTo>
                  <a:lnTo>
                    <a:pt x="2721940" y="1150753"/>
                  </a:lnTo>
                  <a:lnTo>
                    <a:pt x="2709048" y="1192279"/>
                  </a:lnTo>
                  <a:lnTo>
                    <a:pt x="2688650" y="1229859"/>
                  </a:lnTo>
                  <a:lnTo>
                    <a:pt x="2661634" y="1262602"/>
                  </a:lnTo>
                  <a:lnTo>
                    <a:pt x="2628891" y="1289618"/>
                  </a:lnTo>
                  <a:lnTo>
                    <a:pt x="2591311" y="1310016"/>
                  </a:lnTo>
                  <a:lnTo>
                    <a:pt x="2549785" y="1322908"/>
                  </a:lnTo>
                  <a:lnTo>
                    <a:pt x="2505202" y="1327404"/>
                  </a:lnTo>
                  <a:lnTo>
                    <a:pt x="2272030" y="1327404"/>
                  </a:lnTo>
                  <a:lnTo>
                    <a:pt x="1938401" y="1687068"/>
                  </a:lnTo>
                  <a:lnTo>
                    <a:pt x="1590420" y="1327404"/>
                  </a:lnTo>
                  <a:lnTo>
                    <a:pt x="221234" y="1327404"/>
                  </a:lnTo>
                  <a:lnTo>
                    <a:pt x="176650" y="1322908"/>
                  </a:lnTo>
                  <a:lnTo>
                    <a:pt x="135124" y="1310016"/>
                  </a:lnTo>
                  <a:lnTo>
                    <a:pt x="97544" y="1289618"/>
                  </a:lnTo>
                  <a:lnTo>
                    <a:pt x="64801" y="1262602"/>
                  </a:lnTo>
                  <a:lnTo>
                    <a:pt x="37785" y="1229859"/>
                  </a:lnTo>
                  <a:lnTo>
                    <a:pt x="17387" y="1192279"/>
                  </a:lnTo>
                  <a:lnTo>
                    <a:pt x="4495" y="1150753"/>
                  </a:lnTo>
                  <a:lnTo>
                    <a:pt x="0" y="1106170"/>
                  </a:lnTo>
                  <a:lnTo>
                    <a:pt x="0" y="774319"/>
                  </a:lnTo>
                  <a:lnTo>
                    <a:pt x="0" y="221234"/>
                  </a:lnTo>
                  <a:close/>
                </a:path>
              </a:pathLst>
            </a:custGeom>
            <a:ln w="25908">
              <a:solidFill>
                <a:srgbClr val="1B57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28960" y="4522184"/>
            <a:ext cx="525456" cy="388261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3049016" y="1685289"/>
            <a:ext cx="231521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-1270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Loss function  </a:t>
            </a:r>
            <a:r>
              <a:rPr sz="2000" spc="-5" dirty="0">
                <a:latin typeface="Segoe UI"/>
                <a:cs typeface="Segoe UI"/>
              </a:rPr>
              <a:t>measures </a:t>
            </a:r>
            <a:r>
              <a:rPr sz="2000" dirty="0">
                <a:latin typeface="Segoe UI"/>
                <a:cs typeface="Segoe UI"/>
              </a:rPr>
              <a:t>how </a:t>
            </a:r>
            <a:r>
              <a:rPr sz="2000" spc="-5" dirty="0">
                <a:latin typeface="Segoe UI"/>
                <a:cs typeface="Segoe UI"/>
              </a:rPr>
              <a:t>well  classifier fits </a:t>
            </a:r>
            <a:r>
              <a:rPr sz="2000" dirty="0">
                <a:latin typeface="Segoe UI"/>
                <a:cs typeface="Segoe UI"/>
              </a:rPr>
              <a:t>training  data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6216332" y="1606232"/>
            <a:ext cx="2330450" cy="1771650"/>
            <a:chOff x="6216332" y="1606232"/>
            <a:chExt cx="2330450" cy="1771650"/>
          </a:xfrm>
        </p:grpSpPr>
        <p:sp>
          <p:nvSpPr>
            <p:cNvPr id="11" name="object 11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1920240" y="1479803"/>
                  </a:moveTo>
                  <a:lnTo>
                    <a:pt x="1344168" y="1479803"/>
                  </a:lnTo>
                  <a:lnTo>
                    <a:pt x="1507744" y="1745361"/>
                  </a:lnTo>
                  <a:lnTo>
                    <a:pt x="1920240" y="1479803"/>
                  </a:lnTo>
                  <a:close/>
                </a:path>
                <a:path w="2304415" h="1745614">
                  <a:moveTo>
                    <a:pt x="2057653" y="0"/>
                  </a:moveTo>
                  <a:lnTo>
                    <a:pt x="246634" y="0"/>
                  </a:lnTo>
                  <a:lnTo>
                    <a:pt x="196911" y="5008"/>
                  </a:lnTo>
                  <a:lnTo>
                    <a:pt x="150608" y="19373"/>
                  </a:lnTo>
                  <a:lnTo>
                    <a:pt x="108712" y="42105"/>
                  </a:lnTo>
                  <a:lnTo>
                    <a:pt x="72215" y="72215"/>
                  </a:lnTo>
                  <a:lnTo>
                    <a:pt x="42105" y="108712"/>
                  </a:lnTo>
                  <a:lnTo>
                    <a:pt x="19373" y="150608"/>
                  </a:lnTo>
                  <a:lnTo>
                    <a:pt x="5008" y="196911"/>
                  </a:lnTo>
                  <a:lnTo>
                    <a:pt x="0" y="246634"/>
                  </a:lnTo>
                  <a:lnTo>
                    <a:pt x="0" y="1233170"/>
                  </a:lnTo>
                  <a:lnTo>
                    <a:pt x="5008" y="1282892"/>
                  </a:lnTo>
                  <a:lnTo>
                    <a:pt x="19373" y="1329195"/>
                  </a:lnTo>
                  <a:lnTo>
                    <a:pt x="42105" y="1371091"/>
                  </a:lnTo>
                  <a:lnTo>
                    <a:pt x="72215" y="1407588"/>
                  </a:lnTo>
                  <a:lnTo>
                    <a:pt x="108712" y="1437698"/>
                  </a:lnTo>
                  <a:lnTo>
                    <a:pt x="150608" y="1460430"/>
                  </a:lnTo>
                  <a:lnTo>
                    <a:pt x="196911" y="1474795"/>
                  </a:lnTo>
                  <a:lnTo>
                    <a:pt x="246634" y="1479803"/>
                  </a:lnTo>
                  <a:lnTo>
                    <a:pt x="2057653" y="1479803"/>
                  </a:lnTo>
                  <a:lnTo>
                    <a:pt x="2107376" y="1474795"/>
                  </a:lnTo>
                  <a:lnTo>
                    <a:pt x="2153679" y="1460430"/>
                  </a:lnTo>
                  <a:lnTo>
                    <a:pt x="2195575" y="1437698"/>
                  </a:lnTo>
                  <a:lnTo>
                    <a:pt x="2232072" y="1407588"/>
                  </a:lnTo>
                  <a:lnTo>
                    <a:pt x="2262182" y="1371091"/>
                  </a:lnTo>
                  <a:lnTo>
                    <a:pt x="2284914" y="1329195"/>
                  </a:lnTo>
                  <a:lnTo>
                    <a:pt x="2299279" y="1282892"/>
                  </a:lnTo>
                  <a:lnTo>
                    <a:pt x="2304288" y="1233170"/>
                  </a:lnTo>
                  <a:lnTo>
                    <a:pt x="2304288" y="246634"/>
                  </a:lnTo>
                  <a:lnTo>
                    <a:pt x="2299279" y="196911"/>
                  </a:lnTo>
                  <a:lnTo>
                    <a:pt x="2284914" y="150608"/>
                  </a:lnTo>
                  <a:lnTo>
                    <a:pt x="2262182" y="108712"/>
                  </a:lnTo>
                  <a:lnTo>
                    <a:pt x="2232072" y="72215"/>
                  </a:lnTo>
                  <a:lnTo>
                    <a:pt x="2195575" y="42105"/>
                  </a:lnTo>
                  <a:lnTo>
                    <a:pt x="2153679" y="19373"/>
                  </a:lnTo>
                  <a:lnTo>
                    <a:pt x="2107376" y="5008"/>
                  </a:lnTo>
                  <a:lnTo>
                    <a:pt x="205765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0" y="246634"/>
                  </a:moveTo>
                  <a:lnTo>
                    <a:pt x="5008" y="196911"/>
                  </a:lnTo>
                  <a:lnTo>
                    <a:pt x="19373" y="150608"/>
                  </a:lnTo>
                  <a:lnTo>
                    <a:pt x="42105" y="108712"/>
                  </a:lnTo>
                  <a:lnTo>
                    <a:pt x="72215" y="72215"/>
                  </a:lnTo>
                  <a:lnTo>
                    <a:pt x="108712" y="42105"/>
                  </a:lnTo>
                  <a:lnTo>
                    <a:pt x="150608" y="19373"/>
                  </a:lnTo>
                  <a:lnTo>
                    <a:pt x="196911" y="5008"/>
                  </a:lnTo>
                  <a:lnTo>
                    <a:pt x="246634" y="0"/>
                  </a:lnTo>
                  <a:lnTo>
                    <a:pt x="1344168" y="0"/>
                  </a:lnTo>
                  <a:lnTo>
                    <a:pt x="1920240" y="0"/>
                  </a:lnTo>
                  <a:lnTo>
                    <a:pt x="2057653" y="0"/>
                  </a:lnTo>
                  <a:lnTo>
                    <a:pt x="2107376" y="5008"/>
                  </a:lnTo>
                  <a:lnTo>
                    <a:pt x="2153679" y="19373"/>
                  </a:lnTo>
                  <a:lnTo>
                    <a:pt x="2195575" y="42105"/>
                  </a:lnTo>
                  <a:lnTo>
                    <a:pt x="2232072" y="72215"/>
                  </a:lnTo>
                  <a:lnTo>
                    <a:pt x="2262182" y="108712"/>
                  </a:lnTo>
                  <a:lnTo>
                    <a:pt x="2284914" y="150608"/>
                  </a:lnTo>
                  <a:lnTo>
                    <a:pt x="2299279" y="196911"/>
                  </a:lnTo>
                  <a:lnTo>
                    <a:pt x="2304288" y="246634"/>
                  </a:lnTo>
                  <a:lnTo>
                    <a:pt x="2304288" y="863219"/>
                  </a:lnTo>
                  <a:lnTo>
                    <a:pt x="2304288" y="1233170"/>
                  </a:lnTo>
                  <a:lnTo>
                    <a:pt x="2299279" y="1282892"/>
                  </a:lnTo>
                  <a:lnTo>
                    <a:pt x="2284914" y="1329195"/>
                  </a:lnTo>
                  <a:lnTo>
                    <a:pt x="2262182" y="1371091"/>
                  </a:lnTo>
                  <a:lnTo>
                    <a:pt x="2232072" y="1407588"/>
                  </a:lnTo>
                  <a:lnTo>
                    <a:pt x="2195575" y="1437698"/>
                  </a:lnTo>
                  <a:lnTo>
                    <a:pt x="2153679" y="1460430"/>
                  </a:lnTo>
                  <a:lnTo>
                    <a:pt x="2107376" y="1474795"/>
                  </a:lnTo>
                  <a:lnTo>
                    <a:pt x="2057653" y="1479803"/>
                  </a:lnTo>
                  <a:lnTo>
                    <a:pt x="1920240" y="1479803"/>
                  </a:lnTo>
                  <a:lnTo>
                    <a:pt x="1507744" y="1745361"/>
                  </a:lnTo>
                  <a:lnTo>
                    <a:pt x="1344168" y="1479803"/>
                  </a:lnTo>
                  <a:lnTo>
                    <a:pt x="246634" y="1479803"/>
                  </a:lnTo>
                  <a:lnTo>
                    <a:pt x="196911" y="1474795"/>
                  </a:lnTo>
                  <a:lnTo>
                    <a:pt x="150608" y="1460430"/>
                  </a:lnTo>
                  <a:lnTo>
                    <a:pt x="108712" y="1437698"/>
                  </a:lnTo>
                  <a:lnTo>
                    <a:pt x="72215" y="1407588"/>
                  </a:lnTo>
                  <a:lnTo>
                    <a:pt x="42105" y="1371091"/>
                  </a:lnTo>
                  <a:lnTo>
                    <a:pt x="19373" y="1329195"/>
                  </a:lnTo>
                  <a:lnTo>
                    <a:pt x="5008" y="1282892"/>
                  </a:lnTo>
                  <a:lnTo>
                    <a:pt x="0" y="1233170"/>
                  </a:lnTo>
                  <a:lnTo>
                    <a:pt x="0" y="863219"/>
                  </a:lnTo>
                  <a:lnTo>
                    <a:pt x="0" y="246634"/>
                  </a:lnTo>
                  <a:close/>
                </a:path>
              </a:pathLst>
            </a:custGeom>
            <a:ln w="25907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436867" y="1728977"/>
            <a:ext cx="188595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indent="3175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Regularizer  </a:t>
            </a:r>
            <a:r>
              <a:rPr sz="2000" spc="-5" dirty="0">
                <a:latin typeface="Segoe UI"/>
                <a:cs typeface="Segoe UI"/>
              </a:rPr>
              <a:t>prefers solutions  </a:t>
            </a:r>
            <a:r>
              <a:rPr sz="2000" dirty="0">
                <a:latin typeface="Segoe UI"/>
                <a:cs typeface="Segoe UI"/>
              </a:rPr>
              <a:t>that </a:t>
            </a:r>
            <a:r>
              <a:rPr sz="2000" spc="-5" dirty="0">
                <a:latin typeface="Segoe UI"/>
                <a:cs typeface="Segoe UI"/>
              </a:rPr>
              <a:t>generalize  well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45008" y="1732788"/>
            <a:ext cx="1897380" cy="1713230"/>
            <a:chOff x="445008" y="1732788"/>
            <a:chExt cx="1897380" cy="1713230"/>
          </a:xfrm>
        </p:grpSpPr>
        <p:sp>
          <p:nvSpPr>
            <p:cNvPr id="15" name="object 15"/>
            <p:cNvSpPr/>
            <p:nvPr/>
          </p:nvSpPr>
          <p:spPr>
            <a:xfrm>
              <a:off x="457962" y="1745742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1559560" y="1283208"/>
                  </a:moveTo>
                  <a:lnTo>
                    <a:pt x="1091692" y="1283208"/>
                  </a:lnTo>
                  <a:lnTo>
                    <a:pt x="1090168" y="1687322"/>
                  </a:lnTo>
                  <a:lnTo>
                    <a:pt x="1559560" y="1283208"/>
                  </a:lnTo>
                  <a:close/>
                </a:path>
                <a:path w="1871980" h="1687829">
                  <a:moveTo>
                    <a:pt x="1657604" y="0"/>
                  </a:moveTo>
                  <a:lnTo>
                    <a:pt x="213867" y="0"/>
                  </a:lnTo>
                  <a:lnTo>
                    <a:pt x="164831" y="5648"/>
                  </a:lnTo>
                  <a:lnTo>
                    <a:pt x="119816" y="21738"/>
                  </a:lnTo>
                  <a:lnTo>
                    <a:pt x="80107" y="46986"/>
                  </a:lnTo>
                  <a:lnTo>
                    <a:pt x="46986" y="80107"/>
                  </a:lnTo>
                  <a:lnTo>
                    <a:pt x="21738" y="119816"/>
                  </a:lnTo>
                  <a:lnTo>
                    <a:pt x="5648" y="164831"/>
                  </a:lnTo>
                  <a:lnTo>
                    <a:pt x="0" y="213868"/>
                  </a:lnTo>
                  <a:lnTo>
                    <a:pt x="0" y="1069340"/>
                  </a:lnTo>
                  <a:lnTo>
                    <a:pt x="5648" y="1118376"/>
                  </a:lnTo>
                  <a:lnTo>
                    <a:pt x="21738" y="1163391"/>
                  </a:lnTo>
                  <a:lnTo>
                    <a:pt x="46986" y="1203100"/>
                  </a:lnTo>
                  <a:lnTo>
                    <a:pt x="80107" y="1236221"/>
                  </a:lnTo>
                  <a:lnTo>
                    <a:pt x="119816" y="1261469"/>
                  </a:lnTo>
                  <a:lnTo>
                    <a:pt x="164831" y="1277559"/>
                  </a:lnTo>
                  <a:lnTo>
                    <a:pt x="213867" y="1283208"/>
                  </a:lnTo>
                  <a:lnTo>
                    <a:pt x="1657604" y="1283208"/>
                  </a:lnTo>
                  <a:lnTo>
                    <a:pt x="1706640" y="1277559"/>
                  </a:lnTo>
                  <a:lnTo>
                    <a:pt x="1751655" y="1261469"/>
                  </a:lnTo>
                  <a:lnTo>
                    <a:pt x="1791364" y="1236221"/>
                  </a:lnTo>
                  <a:lnTo>
                    <a:pt x="1824485" y="1203100"/>
                  </a:lnTo>
                  <a:lnTo>
                    <a:pt x="1849733" y="1163391"/>
                  </a:lnTo>
                  <a:lnTo>
                    <a:pt x="1865823" y="1118376"/>
                  </a:lnTo>
                  <a:lnTo>
                    <a:pt x="1871471" y="1069340"/>
                  </a:lnTo>
                  <a:lnTo>
                    <a:pt x="1871471" y="213868"/>
                  </a:lnTo>
                  <a:lnTo>
                    <a:pt x="1865823" y="164831"/>
                  </a:lnTo>
                  <a:lnTo>
                    <a:pt x="1849733" y="119816"/>
                  </a:lnTo>
                  <a:lnTo>
                    <a:pt x="1824485" y="80107"/>
                  </a:lnTo>
                  <a:lnTo>
                    <a:pt x="1791364" y="46986"/>
                  </a:lnTo>
                  <a:lnTo>
                    <a:pt x="1751655" y="21738"/>
                  </a:lnTo>
                  <a:lnTo>
                    <a:pt x="1706640" y="5648"/>
                  </a:lnTo>
                  <a:lnTo>
                    <a:pt x="1657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57962" y="1745742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0" y="213868"/>
                  </a:moveTo>
                  <a:lnTo>
                    <a:pt x="5648" y="164831"/>
                  </a:lnTo>
                  <a:lnTo>
                    <a:pt x="21738" y="119816"/>
                  </a:lnTo>
                  <a:lnTo>
                    <a:pt x="46986" y="80107"/>
                  </a:lnTo>
                  <a:lnTo>
                    <a:pt x="80107" y="46986"/>
                  </a:lnTo>
                  <a:lnTo>
                    <a:pt x="119816" y="21738"/>
                  </a:lnTo>
                  <a:lnTo>
                    <a:pt x="164831" y="5648"/>
                  </a:lnTo>
                  <a:lnTo>
                    <a:pt x="213867" y="0"/>
                  </a:lnTo>
                  <a:lnTo>
                    <a:pt x="1091692" y="0"/>
                  </a:lnTo>
                  <a:lnTo>
                    <a:pt x="1559560" y="0"/>
                  </a:lnTo>
                  <a:lnTo>
                    <a:pt x="1657604" y="0"/>
                  </a:lnTo>
                  <a:lnTo>
                    <a:pt x="1706640" y="5648"/>
                  </a:lnTo>
                  <a:lnTo>
                    <a:pt x="1751655" y="21738"/>
                  </a:lnTo>
                  <a:lnTo>
                    <a:pt x="1791364" y="46986"/>
                  </a:lnTo>
                  <a:lnTo>
                    <a:pt x="1824485" y="80107"/>
                  </a:lnTo>
                  <a:lnTo>
                    <a:pt x="1849733" y="119816"/>
                  </a:lnTo>
                  <a:lnTo>
                    <a:pt x="1865823" y="164831"/>
                  </a:lnTo>
                  <a:lnTo>
                    <a:pt x="1871471" y="213868"/>
                  </a:lnTo>
                  <a:lnTo>
                    <a:pt x="1871471" y="748538"/>
                  </a:lnTo>
                  <a:lnTo>
                    <a:pt x="1871471" y="1069340"/>
                  </a:lnTo>
                  <a:lnTo>
                    <a:pt x="1865823" y="1118376"/>
                  </a:lnTo>
                  <a:lnTo>
                    <a:pt x="1849733" y="1163391"/>
                  </a:lnTo>
                  <a:lnTo>
                    <a:pt x="1824485" y="1203100"/>
                  </a:lnTo>
                  <a:lnTo>
                    <a:pt x="1791364" y="1236221"/>
                  </a:lnTo>
                  <a:lnTo>
                    <a:pt x="1751655" y="1261469"/>
                  </a:lnTo>
                  <a:lnTo>
                    <a:pt x="1706640" y="1277559"/>
                  </a:lnTo>
                  <a:lnTo>
                    <a:pt x="1657604" y="1283208"/>
                  </a:lnTo>
                  <a:lnTo>
                    <a:pt x="1559560" y="1283208"/>
                  </a:lnTo>
                  <a:lnTo>
                    <a:pt x="1090168" y="1687322"/>
                  </a:lnTo>
                  <a:lnTo>
                    <a:pt x="1091692" y="1283208"/>
                  </a:lnTo>
                  <a:lnTo>
                    <a:pt x="213867" y="1283208"/>
                  </a:lnTo>
                  <a:lnTo>
                    <a:pt x="164831" y="1277559"/>
                  </a:lnTo>
                  <a:lnTo>
                    <a:pt x="119816" y="1261469"/>
                  </a:lnTo>
                  <a:lnTo>
                    <a:pt x="80107" y="1236221"/>
                  </a:lnTo>
                  <a:lnTo>
                    <a:pt x="46986" y="1203100"/>
                  </a:lnTo>
                  <a:lnTo>
                    <a:pt x="21738" y="1163391"/>
                  </a:lnTo>
                  <a:lnTo>
                    <a:pt x="5648" y="1118376"/>
                  </a:lnTo>
                  <a:lnTo>
                    <a:pt x="0" y="1069340"/>
                  </a:lnTo>
                  <a:lnTo>
                    <a:pt x="0" y="748538"/>
                  </a:lnTo>
                  <a:lnTo>
                    <a:pt x="0" y="213868"/>
                  </a:lnTo>
                  <a:close/>
                </a:path>
              </a:pathLst>
            </a:custGeom>
            <a:ln w="2590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816965" y="2062099"/>
            <a:ext cx="1151890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1755" marR="5080" indent="-59690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O</a:t>
            </a:r>
            <a:r>
              <a:rPr sz="2000" b="1" spc="5" dirty="0">
                <a:latin typeface="Segoe UI"/>
                <a:cs typeface="Segoe UI"/>
              </a:rPr>
              <a:t>b</a:t>
            </a:r>
            <a:r>
              <a:rPr sz="2000" b="1" spc="-5" dirty="0">
                <a:latin typeface="Segoe UI"/>
                <a:cs typeface="Segoe UI"/>
              </a:rPr>
              <a:t>j</a:t>
            </a:r>
            <a:r>
              <a:rPr sz="2000" b="1" spc="-15" dirty="0">
                <a:latin typeface="Segoe UI"/>
                <a:cs typeface="Segoe UI"/>
              </a:rPr>
              <a:t>e</a:t>
            </a:r>
            <a:r>
              <a:rPr sz="2000" b="1" dirty="0">
                <a:latin typeface="Segoe UI"/>
                <a:cs typeface="Segoe UI"/>
              </a:rPr>
              <a:t>ct</a:t>
            </a:r>
            <a:r>
              <a:rPr sz="2000" b="1" spc="-10" dirty="0">
                <a:latin typeface="Segoe UI"/>
                <a:cs typeface="Segoe UI"/>
              </a:rPr>
              <a:t>i</a:t>
            </a:r>
            <a:r>
              <a:rPr sz="2000" b="1" spc="-20" dirty="0">
                <a:latin typeface="Segoe UI"/>
                <a:cs typeface="Segoe UI"/>
              </a:rPr>
              <a:t>v</a:t>
            </a:r>
            <a:r>
              <a:rPr sz="2000" b="1" dirty="0">
                <a:latin typeface="Segoe UI"/>
                <a:cs typeface="Segoe UI"/>
              </a:rPr>
              <a:t>e  </a:t>
            </a:r>
            <a:r>
              <a:rPr sz="2000" b="1" spc="-5" dirty="0">
                <a:latin typeface="Segoe UI"/>
                <a:cs typeface="Segoe UI"/>
              </a:rPr>
              <a:t>function</a:t>
            </a:r>
            <a:endParaRPr sz="2000"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358632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5080" indent="8509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Learning </a:t>
            </a:r>
            <a:r>
              <a:rPr dirty="0"/>
              <a:t>a </a:t>
            </a:r>
            <a:r>
              <a:rPr spc="-5" dirty="0"/>
              <a:t>Linear Classifier  as an Optimization</a:t>
            </a:r>
            <a:r>
              <a:rPr spc="-100" dirty="0"/>
              <a:t> </a:t>
            </a:r>
            <a:r>
              <a:rPr spc="-15" dirty="0"/>
              <a:t>Problem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4518" y="2020916"/>
            <a:ext cx="7570619" cy="949803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430530" y="3460241"/>
            <a:ext cx="8106409" cy="2849880"/>
          </a:xfrm>
          <a:custGeom>
            <a:avLst/>
            <a:gdLst/>
            <a:ahLst/>
            <a:cxnLst/>
            <a:rect l="l" t="t" r="r" b="b"/>
            <a:pathLst>
              <a:path w="8106409" h="2849879">
                <a:moveTo>
                  <a:pt x="0" y="474980"/>
                </a:moveTo>
                <a:lnTo>
                  <a:pt x="2452" y="426406"/>
                </a:lnTo>
                <a:lnTo>
                  <a:pt x="9650" y="379238"/>
                </a:lnTo>
                <a:lnTo>
                  <a:pt x="21354" y="333714"/>
                </a:lnTo>
                <a:lnTo>
                  <a:pt x="37327" y="290071"/>
                </a:lnTo>
                <a:lnTo>
                  <a:pt x="57329" y="248550"/>
                </a:lnTo>
                <a:lnTo>
                  <a:pt x="81121" y="209388"/>
                </a:lnTo>
                <a:lnTo>
                  <a:pt x="108465" y="172824"/>
                </a:lnTo>
                <a:lnTo>
                  <a:pt x="139122" y="139096"/>
                </a:lnTo>
                <a:lnTo>
                  <a:pt x="172853" y="108443"/>
                </a:lnTo>
                <a:lnTo>
                  <a:pt x="209419" y="81103"/>
                </a:lnTo>
                <a:lnTo>
                  <a:pt x="248582" y="57315"/>
                </a:lnTo>
                <a:lnTo>
                  <a:pt x="290104" y="37318"/>
                </a:lnTo>
                <a:lnTo>
                  <a:pt x="333744" y="21349"/>
                </a:lnTo>
                <a:lnTo>
                  <a:pt x="379265" y="9647"/>
                </a:lnTo>
                <a:lnTo>
                  <a:pt x="426427" y="2451"/>
                </a:lnTo>
                <a:lnTo>
                  <a:pt x="474992" y="0"/>
                </a:lnTo>
                <a:lnTo>
                  <a:pt x="7631176" y="0"/>
                </a:lnTo>
                <a:lnTo>
                  <a:pt x="7679749" y="2451"/>
                </a:lnTo>
                <a:lnTo>
                  <a:pt x="7726917" y="9647"/>
                </a:lnTo>
                <a:lnTo>
                  <a:pt x="7772441" y="21349"/>
                </a:lnTo>
                <a:lnTo>
                  <a:pt x="7816084" y="37318"/>
                </a:lnTo>
                <a:lnTo>
                  <a:pt x="7857605" y="57315"/>
                </a:lnTo>
                <a:lnTo>
                  <a:pt x="7896767" y="81103"/>
                </a:lnTo>
                <a:lnTo>
                  <a:pt x="7933331" y="108443"/>
                </a:lnTo>
                <a:lnTo>
                  <a:pt x="7967059" y="139096"/>
                </a:lnTo>
                <a:lnTo>
                  <a:pt x="7997712" y="172824"/>
                </a:lnTo>
                <a:lnTo>
                  <a:pt x="8025052" y="209388"/>
                </a:lnTo>
                <a:lnTo>
                  <a:pt x="8048840" y="248550"/>
                </a:lnTo>
                <a:lnTo>
                  <a:pt x="8068837" y="290071"/>
                </a:lnTo>
                <a:lnTo>
                  <a:pt x="8084806" y="333714"/>
                </a:lnTo>
                <a:lnTo>
                  <a:pt x="8096508" y="379238"/>
                </a:lnTo>
                <a:lnTo>
                  <a:pt x="8103704" y="426406"/>
                </a:lnTo>
                <a:lnTo>
                  <a:pt x="8106156" y="474980"/>
                </a:lnTo>
                <a:lnTo>
                  <a:pt x="8106156" y="2374887"/>
                </a:lnTo>
                <a:lnTo>
                  <a:pt x="8103704" y="2423452"/>
                </a:lnTo>
                <a:lnTo>
                  <a:pt x="8096508" y="2470614"/>
                </a:lnTo>
                <a:lnTo>
                  <a:pt x="8084806" y="2516135"/>
                </a:lnTo>
                <a:lnTo>
                  <a:pt x="8068837" y="2559775"/>
                </a:lnTo>
                <a:lnTo>
                  <a:pt x="8048840" y="2601297"/>
                </a:lnTo>
                <a:lnTo>
                  <a:pt x="8025052" y="2640460"/>
                </a:lnTo>
                <a:lnTo>
                  <a:pt x="7997712" y="2677026"/>
                </a:lnTo>
                <a:lnTo>
                  <a:pt x="7967059" y="2710757"/>
                </a:lnTo>
                <a:lnTo>
                  <a:pt x="7933331" y="2741414"/>
                </a:lnTo>
                <a:lnTo>
                  <a:pt x="7896767" y="2768758"/>
                </a:lnTo>
                <a:lnTo>
                  <a:pt x="7857605" y="2792550"/>
                </a:lnTo>
                <a:lnTo>
                  <a:pt x="7816084" y="2812552"/>
                </a:lnTo>
                <a:lnTo>
                  <a:pt x="7772441" y="2828525"/>
                </a:lnTo>
                <a:lnTo>
                  <a:pt x="7726917" y="2840229"/>
                </a:lnTo>
                <a:lnTo>
                  <a:pt x="7679749" y="2847427"/>
                </a:lnTo>
                <a:lnTo>
                  <a:pt x="7631176" y="2849880"/>
                </a:lnTo>
                <a:lnTo>
                  <a:pt x="474992" y="2849880"/>
                </a:lnTo>
                <a:lnTo>
                  <a:pt x="426427" y="2847427"/>
                </a:lnTo>
                <a:lnTo>
                  <a:pt x="379265" y="2840229"/>
                </a:lnTo>
                <a:lnTo>
                  <a:pt x="333744" y="2828525"/>
                </a:lnTo>
                <a:lnTo>
                  <a:pt x="290104" y="2812552"/>
                </a:lnTo>
                <a:lnTo>
                  <a:pt x="248582" y="2792550"/>
                </a:lnTo>
                <a:lnTo>
                  <a:pt x="209419" y="2768758"/>
                </a:lnTo>
                <a:lnTo>
                  <a:pt x="172853" y="2741414"/>
                </a:lnTo>
                <a:lnTo>
                  <a:pt x="139122" y="2710757"/>
                </a:lnTo>
                <a:lnTo>
                  <a:pt x="108465" y="2677026"/>
                </a:lnTo>
                <a:lnTo>
                  <a:pt x="81121" y="2640460"/>
                </a:lnTo>
                <a:lnTo>
                  <a:pt x="57329" y="2601297"/>
                </a:lnTo>
                <a:lnTo>
                  <a:pt x="37327" y="2559775"/>
                </a:lnTo>
                <a:lnTo>
                  <a:pt x="21354" y="2516135"/>
                </a:lnTo>
                <a:lnTo>
                  <a:pt x="9650" y="2470614"/>
                </a:lnTo>
                <a:lnTo>
                  <a:pt x="2452" y="2423452"/>
                </a:lnTo>
                <a:lnTo>
                  <a:pt x="0" y="2374887"/>
                </a:lnTo>
                <a:lnTo>
                  <a:pt x="0" y="474980"/>
                </a:lnTo>
                <a:close/>
              </a:path>
            </a:pathLst>
          </a:custGeom>
          <a:ln w="25908">
            <a:solidFill>
              <a:srgbClr val="9F293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47496" y="3583889"/>
            <a:ext cx="7409180" cy="25869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2400" b="1" spc="-5" dirty="0">
                <a:latin typeface="Segoe UI"/>
                <a:cs typeface="Segoe UI"/>
              </a:rPr>
              <a:t>Problem: </a:t>
            </a:r>
            <a:r>
              <a:rPr sz="2400" dirty="0">
                <a:latin typeface="Segoe UI"/>
                <a:cs typeface="Segoe UI"/>
              </a:rPr>
              <a:t>The 0-1 </a:t>
            </a:r>
            <a:r>
              <a:rPr sz="2400" spc="-10" dirty="0">
                <a:latin typeface="Segoe UI"/>
                <a:cs typeface="Segoe UI"/>
              </a:rPr>
              <a:t>loss </a:t>
            </a:r>
            <a:r>
              <a:rPr sz="2400" spc="-5" dirty="0">
                <a:latin typeface="Segoe UI"/>
                <a:cs typeface="Segoe UI"/>
              </a:rPr>
              <a:t>above is </a:t>
            </a:r>
            <a:r>
              <a:rPr sz="2400" spc="-10" dirty="0">
                <a:latin typeface="Segoe UI"/>
                <a:cs typeface="Segoe UI"/>
              </a:rPr>
              <a:t>NP-hard </a:t>
            </a:r>
            <a:r>
              <a:rPr sz="2400" spc="-15" dirty="0">
                <a:latin typeface="Segoe UI"/>
                <a:cs typeface="Segoe UI"/>
              </a:rPr>
              <a:t>to</a:t>
            </a:r>
            <a:r>
              <a:rPr sz="2400" spc="100" dirty="0">
                <a:latin typeface="Segoe UI"/>
                <a:cs typeface="Segoe UI"/>
              </a:rPr>
              <a:t> </a:t>
            </a:r>
            <a:r>
              <a:rPr sz="2400" spc="-5" dirty="0">
                <a:latin typeface="Segoe UI"/>
                <a:cs typeface="Segoe UI"/>
              </a:rPr>
              <a:t>optimize</a:t>
            </a:r>
            <a:endParaRPr sz="2400">
              <a:latin typeface="Segoe UI"/>
              <a:cs typeface="Segoe UI"/>
            </a:endParaRPr>
          </a:p>
          <a:p>
            <a:pPr marL="299085">
              <a:lnSpc>
                <a:spcPct val="100000"/>
              </a:lnSpc>
              <a:spcBef>
                <a:spcPts val="5"/>
              </a:spcBef>
            </a:pPr>
            <a:r>
              <a:rPr sz="2400" spc="-5" dirty="0">
                <a:latin typeface="Segoe UI"/>
                <a:cs typeface="Segoe UI"/>
              </a:rPr>
              <a:t>exactly/approximately in</a:t>
            </a:r>
            <a:r>
              <a:rPr sz="2400" spc="35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general</a:t>
            </a:r>
            <a:endParaRPr sz="240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2150">
              <a:latin typeface="Segoe UI"/>
              <a:cs typeface="Segoe UI"/>
            </a:endParaRPr>
          </a:p>
          <a:p>
            <a:pPr marL="299085" marR="5080" indent="-287020">
              <a:lnSpc>
                <a:spcPct val="100000"/>
              </a:lnSpc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2400" b="1" dirty="0">
                <a:latin typeface="Segoe UI"/>
                <a:cs typeface="Segoe UI"/>
              </a:rPr>
              <a:t>Solution: </a:t>
            </a:r>
            <a:r>
              <a:rPr sz="2400" spc="-10" dirty="0">
                <a:latin typeface="Segoe UI"/>
                <a:cs typeface="Segoe UI"/>
              </a:rPr>
              <a:t>Different </a:t>
            </a:r>
            <a:r>
              <a:rPr sz="2400" spc="-5" dirty="0">
                <a:latin typeface="Segoe UI"/>
                <a:cs typeface="Segoe UI"/>
              </a:rPr>
              <a:t>loss function approximations </a:t>
            </a:r>
            <a:r>
              <a:rPr sz="2400" dirty="0">
                <a:latin typeface="Segoe UI"/>
                <a:cs typeface="Segoe UI"/>
              </a:rPr>
              <a:t>and  </a:t>
            </a:r>
            <a:r>
              <a:rPr sz="2400" spc="-5" dirty="0">
                <a:latin typeface="Segoe UI"/>
                <a:cs typeface="Segoe UI"/>
              </a:rPr>
              <a:t>regularizers lead </a:t>
            </a:r>
            <a:r>
              <a:rPr sz="2400" spc="-15" dirty="0">
                <a:latin typeface="Segoe UI"/>
                <a:cs typeface="Segoe UI"/>
              </a:rPr>
              <a:t>to </a:t>
            </a:r>
            <a:r>
              <a:rPr sz="2400" spc="-5" dirty="0">
                <a:latin typeface="Segoe UI"/>
                <a:cs typeface="Segoe UI"/>
              </a:rPr>
              <a:t>specific</a:t>
            </a:r>
            <a:r>
              <a:rPr sz="2400" spc="50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algorithms</a:t>
            </a:r>
            <a:endParaRPr sz="2400">
              <a:latin typeface="Segoe UI"/>
              <a:cs typeface="Segoe UI"/>
            </a:endParaRPr>
          </a:p>
          <a:p>
            <a:pPr marL="927100" marR="745490">
              <a:lnSpc>
                <a:spcPct val="100000"/>
              </a:lnSpc>
            </a:pPr>
            <a:r>
              <a:rPr sz="2400" dirty="0">
                <a:latin typeface="Segoe UI"/>
                <a:cs typeface="Segoe UI"/>
              </a:rPr>
              <a:t>(e.g., </a:t>
            </a:r>
            <a:r>
              <a:rPr sz="2400" spc="-10" dirty="0">
                <a:latin typeface="Segoe UI"/>
                <a:cs typeface="Segoe UI"/>
              </a:rPr>
              <a:t>perceptron, </a:t>
            </a:r>
            <a:r>
              <a:rPr sz="2400" spc="5" dirty="0">
                <a:latin typeface="Segoe UI"/>
                <a:cs typeface="Segoe UI"/>
              </a:rPr>
              <a:t>support </a:t>
            </a:r>
            <a:r>
              <a:rPr sz="2400" spc="-5" dirty="0">
                <a:latin typeface="Segoe UI"/>
                <a:cs typeface="Segoe UI"/>
              </a:rPr>
              <a:t>vector machines,  logistic </a:t>
            </a:r>
            <a:r>
              <a:rPr sz="2400" spc="-10" dirty="0">
                <a:latin typeface="Segoe UI"/>
                <a:cs typeface="Segoe UI"/>
              </a:rPr>
              <a:t>regression,</a:t>
            </a:r>
            <a:r>
              <a:rPr sz="2400" spc="30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etc.)</a:t>
            </a:r>
            <a:endParaRPr sz="24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18866" y="483234"/>
            <a:ext cx="290893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The 0-1</a:t>
            </a:r>
            <a:r>
              <a:rPr spc="-105" dirty="0"/>
              <a:t> </a:t>
            </a:r>
            <a:r>
              <a:rPr dirty="0"/>
              <a:t>Loss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4549521"/>
            <a:ext cx="6860540" cy="1587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Segoe UI"/>
                <a:cs typeface="Segoe UI"/>
              </a:rPr>
              <a:t>Small </a:t>
            </a:r>
            <a:r>
              <a:rPr sz="3200" dirty="0">
                <a:latin typeface="Segoe UI"/>
                <a:cs typeface="Segoe UI"/>
              </a:rPr>
              <a:t>changes in </a:t>
            </a:r>
            <a:r>
              <a:rPr sz="3200" spc="-50" dirty="0">
                <a:latin typeface="Segoe UI"/>
                <a:cs typeface="Segoe UI"/>
              </a:rPr>
              <a:t>w,b </a:t>
            </a:r>
            <a:r>
              <a:rPr sz="3200" dirty="0">
                <a:latin typeface="Segoe UI"/>
                <a:cs typeface="Segoe UI"/>
              </a:rPr>
              <a:t>can </a:t>
            </a:r>
            <a:r>
              <a:rPr sz="3200" spc="-5" dirty="0">
                <a:latin typeface="Segoe UI"/>
                <a:cs typeface="Segoe UI"/>
              </a:rPr>
              <a:t>lead </a:t>
            </a:r>
            <a:r>
              <a:rPr sz="3200" spc="-15" dirty="0">
                <a:latin typeface="Segoe UI"/>
                <a:cs typeface="Segoe UI"/>
              </a:rPr>
              <a:t>to </a:t>
            </a:r>
            <a:r>
              <a:rPr sz="3200" dirty="0">
                <a:latin typeface="Segoe UI"/>
                <a:cs typeface="Segoe UI"/>
              </a:rPr>
              <a:t>big  changes in the </a:t>
            </a:r>
            <a:r>
              <a:rPr sz="3200" spc="-5" dirty="0">
                <a:latin typeface="Segoe UI"/>
                <a:cs typeface="Segoe UI"/>
              </a:rPr>
              <a:t>loss</a:t>
            </a:r>
            <a:r>
              <a:rPr sz="3200" spc="-20" dirty="0">
                <a:latin typeface="Segoe UI"/>
                <a:cs typeface="Segoe UI"/>
              </a:rPr>
              <a:t> </a:t>
            </a:r>
            <a:r>
              <a:rPr sz="3200" spc="-15" dirty="0">
                <a:latin typeface="Segoe UI"/>
                <a:cs typeface="Segoe UI"/>
              </a:rPr>
              <a:t>value</a:t>
            </a:r>
            <a:endParaRPr sz="3200">
              <a:latin typeface="Segoe UI"/>
              <a:cs typeface="Segoe UI"/>
            </a:endParaRPr>
          </a:p>
          <a:p>
            <a:pPr marL="355600" indent="-342900">
              <a:lnSpc>
                <a:spcPct val="100000"/>
              </a:lnSpc>
              <a:spcBef>
                <a:spcPts val="77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Segoe UI"/>
                <a:cs typeface="Segoe UI"/>
              </a:rPr>
              <a:t>0-1 </a:t>
            </a:r>
            <a:r>
              <a:rPr sz="3200" spc="-5" dirty="0">
                <a:latin typeface="Segoe UI"/>
                <a:cs typeface="Segoe UI"/>
              </a:rPr>
              <a:t>loss is non-smooth,</a:t>
            </a:r>
            <a:r>
              <a:rPr sz="3200" spc="-10" dirty="0">
                <a:latin typeface="Segoe UI"/>
                <a:cs typeface="Segoe UI"/>
              </a:rPr>
              <a:t> </a:t>
            </a:r>
            <a:r>
              <a:rPr sz="3200" spc="-5" dirty="0">
                <a:latin typeface="Segoe UI"/>
                <a:cs typeface="Segoe UI"/>
              </a:rPr>
              <a:t>non-convex</a:t>
            </a:r>
            <a:endParaRPr sz="3200">
              <a:latin typeface="Segoe UI"/>
              <a:cs typeface="Segoe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7655" y="1427979"/>
            <a:ext cx="7020266" cy="3151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2614" y="147955"/>
            <a:ext cx="733933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8844" marR="5080" indent="-906780">
              <a:lnSpc>
                <a:spcPct val="100000"/>
              </a:lnSpc>
              <a:spcBef>
                <a:spcPts val="100"/>
              </a:spcBef>
            </a:pPr>
            <a:r>
              <a:rPr spc="-15" dirty="0"/>
              <a:t>Approximating </a:t>
            </a:r>
            <a:r>
              <a:rPr dirty="0"/>
              <a:t>the </a:t>
            </a:r>
            <a:r>
              <a:rPr spc="-5" dirty="0"/>
              <a:t>0-1 loss</a:t>
            </a:r>
            <a:r>
              <a:rPr spc="-100" dirty="0"/>
              <a:t> </a:t>
            </a:r>
            <a:r>
              <a:rPr spc="-5" dirty="0"/>
              <a:t>with  </a:t>
            </a:r>
            <a:r>
              <a:rPr spc="-15" dirty="0"/>
              <a:t>surrogate </a:t>
            </a:r>
            <a:r>
              <a:rPr spc="-5" dirty="0"/>
              <a:t>loss</a:t>
            </a:r>
            <a:r>
              <a:rPr spc="-25" dirty="0"/>
              <a:t> </a:t>
            </a:r>
            <a:r>
              <a:rPr spc="-5" dirty="0"/>
              <a:t>functions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711223"/>
            <a:ext cx="3745865" cy="3879215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5" dirty="0">
                <a:latin typeface="Segoe UI"/>
                <a:cs typeface="Segoe UI"/>
              </a:rPr>
              <a:t>Examples (with b =</a:t>
            </a:r>
            <a:r>
              <a:rPr sz="2800" spc="-40" dirty="0">
                <a:latin typeface="Segoe UI"/>
                <a:cs typeface="Segoe UI"/>
              </a:rPr>
              <a:t> </a:t>
            </a:r>
            <a:r>
              <a:rPr sz="2800" dirty="0">
                <a:latin typeface="Segoe UI"/>
                <a:cs typeface="Segoe UI"/>
              </a:rPr>
              <a:t>0)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10" dirty="0">
                <a:latin typeface="Segoe UI"/>
                <a:cs typeface="Segoe UI"/>
              </a:rPr>
              <a:t>Hinge</a:t>
            </a:r>
            <a:r>
              <a:rPr sz="2800" spc="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0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Log</a:t>
            </a:r>
            <a:r>
              <a:rPr sz="2800" spc="-1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Exponential</a:t>
            </a:r>
            <a:r>
              <a:rPr sz="2800" spc="-1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lvl="1">
              <a:lnSpc>
                <a:spcPct val="100000"/>
              </a:lnSpc>
              <a:spcBef>
                <a:spcPts val="5"/>
              </a:spcBef>
              <a:buFont typeface="Arial"/>
              <a:buChar char="–"/>
            </a:pPr>
            <a:endParaRPr sz="3100">
              <a:latin typeface="Segoe UI"/>
              <a:cs typeface="Segoe UI"/>
            </a:endParaRPr>
          </a:p>
          <a:p>
            <a:pPr marL="355600" marR="45085" indent="-342900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5" dirty="0">
                <a:latin typeface="Segoe UI"/>
                <a:cs typeface="Segoe UI"/>
              </a:rPr>
              <a:t>All </a:t>
            </a:r>
            <a:r>
              <a:rPr sz="2800" spc="-15" dirty="0">
                <a:latin typeface="Segoe UI"/>
                <a:cs typeface="Segoe UI"/>
              </a:rPr>
              <a:t>are </a:t>
            </a:r>
            <a:r>
              <a:rPr sz="2800" spc="-5" dirty="0">
                <a:latin typeface="Segoe UI"/>
                <a:cs typeface="Segoe UI"/>
              </a:rPr>
              <a:t>convex</a:t>
            </a:r>
            <a:r>
              <a:rPr sz="2800" spc="-80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upper-  bounds on the </a:t>
            </a:r>
            <a:r>
              <a:rPr sz="2800" spc="-10" dirty="0">
                <a:latin typeface="Segoe UI"/>
                <a:cs typeface="Segoe UI"/>
              </a:rPr>
              <a:t>0-1  loss</a:t>
            </a:r>
            <a:endParaRPr sz="2800">
              <a:latin typeface="Segoe UI"/>
              <a:cs typeface="Segoe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34024" y="2282959"/>
            <a:ext cx="5445088" cy="44931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3203448" y="2810255"/>
            <a:ext cx="5650230" cy="3957954"/>
            <a:chOff x="3203448" y="2810255"/>
            <a:chExt cx="5650230" cy="3957954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325065" y="3970369"/>
              <a:ext cx="3528378" cy="279749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203448" y="2810255"/>
              <a:ext cx="3672837" cy="5715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398264" y="3313184"/>
              <a:ext cx="2330024" cy="62025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2614" y="147955"/>
            <a:ext cx="733933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8844" marR="5080" indent="-906780">
              <a:lnSpc>
                <a:spcPct val="100000"/>
              </a:lnSpc>
              <a:spcBef>
                <a:spcPts val="100"/>
              </a:spcBef>
            </a:pPr>
            <a:r>
              <a:rPr spc="-15" dirty="0"/>
              <a:t>Approximating </a:t>
            </a:r>
            <a:r>
              <a:rPr dirty="0"/>
              <a:t>the </a:t>
            </a:r>
            <a:r>
              <a:rPr spc="-5" dirty="0"/>
              <a:t>0-1 loss</a:t>
            </a:r>
            <a:r>
              <a:rPr spc="-100" dirty="0"/>
              <a:t> </a:t>
            </a:r>
            <a:r>
              <a:rPr spc="-5" dirty="0"/>
              <a:t>with  </a:t>
            </a:r>
            <a:r>
              <a:rPr spc="-15" dirty="0"/>
              <a:t>surrogate </a:t>
            </a:r>
            <a:r>
              <a:rPr spc="-5" dirty="0"/>
              <a:t>loss</a:t>
            </a:r>
            <a:r>
              <a:rPr spc="-25" dirty="0"/>
              <a:t> </a:t>
            </a:r>
            <a:r>
              <a:rPr spc="-5" dirty="0"/>
              <a:t>functions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711223"/>
            <a:ext cx="3745865" cy="2074545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5" dirty="0">
                <a:latin typeface="Segoe UI"/>
                <a:cs typeface="Segoe UI"/>
              </a:rPr>
              <a:t>Examples (with b =</a:t>
            </a:r>
            <a:r>
              <a:rPr sz="2800" spc="-40" dirty="0">
                <a:latin typeface="Segoe UI"/>
                <a:cs typeface="Segoe UI"/>
              </a:rPr>
              <a:t> </a:t>
            </a:r>
            <a:r>
              <a:rPr sz="2800" dirty="0">
                <a:latin typeface="Segoe UI"/>
                <a:cs typeface="Segoe UI"/>
              </a:rPr>
              <a:t>0)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10" dirty="0">
                <a:latin typeface="Segoe UI"/>
                <a:cs typeface="Segoe UI"/>
              </a:rPr>
              <a:t>Hinge</a:t>
            </a:r>
            <a:r>
              <a:rPr sz="2800" spc="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0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Log</a:t>
            </a:r>
            <a:r>
              <a:rPr sz="2800" spc="-1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Exponential</a:t>
            </a:r>
            <a:r>
              <a:rPr sz="2800" spc="-1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870196"/>
            <a:ext cx="3695700" cy="1305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b="1" spc="-5" dirty="0">
                <a:latin typeface="Segoe UI"/>
                <a:cs typeface="Segoe UI"/>
              </a:rPr>
              <a:t>Q: Which </a:t>
            </a:r>
            <a:r>
              <a:rPr sz="2800" b="1" spc="-30" dirty="0">
                <a:latin typeface="Segoe UI"/>
                <a:cs typeface="Segoe UI"/>
              </a:rPr>
              <a:t>of </a:t>
            </a:r>
            <a:r>
              <a:rPr sz="2800" b="1" spc="-5" dirty="0">
                <a:latin typeface="Segoe UI"/>
                <a:cs typeface="Segoe UI"/>
              </a:rPr>
              <a:t>these  </a:t>
            </a:r>
            <a:r>
              <a:rPr sz="2800" b="1" spc="-10" dirty="0">
                <a:latin typeface="Segoe UI"/>
                <a:cs typeface="Segoe UI"/>
              </a:rPr>
              <a:t>loss functions </a:t>
            </a:r>
            <a:r>
              <a:rPr sz="2800" b="1" spc="-5" dirty="0">
                <a:latin typeface="Segoe UI"/>
                <a:cs typeface="Segoe UI"/>
              </a:rPr>
              <a:t>is not  smooth?</a:t>
            </a:r>
            <a:endParaRPr sz="2800">
              <a:latin typeface="Segoe UI"/>
              <a:cs typeface="Segoe U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25065" y="4014565"/>
            <a:ext cx="3528378" cy="2797496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34024" y="2282959"/>
            <a:ext cx="5445088" cy="449313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3203448" y="2810255"/>
            <a:ext cx="3672840" cy="1123315"/>
            <a:chOff x="3203448" y="2810255"/>
            <a:chExt cx="3672840" cy="1123315"/>
          </a:xfrm>
        </p:grpSpPr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203448" y="2810255"/>
              <a:ext cx="3672837" cy="57150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398264" y="3313184"/>
              <a:ext cx="2330024" cy="62025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2614" y="147955"/>
            <a:ext cx="733933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8844" marR="5080" indent="-906780">
              <a:lnSpc>
                <a:spcPct val="100000"/>
              </a:lnSpc>
              <a:spcBef>
                <a:spcPts val="100"/>
              </a:spcBef>
            </a:pPr>
            <a:r>
              <a:rPr spc="-15" dirty="0"/>
              <a:t>Approximating </a:t>
            </a:r>
            <a:r>
              <a:rPr dirty="0"/>
              <a:t>the </a:t>
            </a:r>
            <a:r>
              <a:rPr spc="-5" dirty="0"/>
              <a:t>0-1 loss</a:t>
            </a:r>
            <a:r>
              <a:rPr spc="-100" dirty="0"/>
              <a:t> </a:t>
            </a:r>
            <a:r>
              <a:rPr spc="-5" dirty="0"/>
              <a:t>with  </a:t>
            </a:r>
            <a:r>
              <a:rPr spc="-15" dirty="0"/>
              <a:t>surrogate </a:t>
            </a:r>
            <a:r>
              <a:rPr spc="-5" dirty="0"/>
              <a:t>loss</a:t>
            </a:r>
            <a:r>
              <a:rPr spc="-25" dirty="0"/>
              <a:t> </a:t>
            </a:r>
            <a:r>
              <a:rPr spc="-5" dirty="0"/>
              <a:t>functions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711223"/>
            <a:ext cx="3745865" cy="4378960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5" dirty="0">
                <a:latin typeface="Segoe UI"/>
                <a:cs typeface="Segoe UI"/>
              </a:rPr>
              <a:t>Examples (with b =</a:t>
            </a:r>
            <a:r>
              <a:rPr sz="2800" spc="-40" dirty="0">
                <a:latin typeface="Segoe UI"/>
                <a:cs typeface="Segoe UI"/>
              </a:rPr>
              <a:t> </a:t>
            </a:r>
            <a:r>
              <a:rPr sz="2800" dirty="0">
                <a:latin typeface="Segoe UI"/>
                <a:cs typeface="Segoe UI"/>
              </a:rPr>
              <a:t>0)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10" dirty="0">
                <a:latin typeface="Segoe UI"/>
                <a:cs typeface="Segoe UI"/>
              </a:rPr>
              <a:t>Hinge</a:t>
            </a:r>
            <a:r>
              <a:rPr sz="2800" spc="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0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Log</a:t>
            </a:r>
            <a:r>
              <a:rPr sz="2800" spc="-1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Exponential</a:t>
            </a:r>
            <a:r>
              <a:rPr sz="2800" spc="-1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lvl="1">
              <a:lnSpc>
                <a:spcPct val="100000"/>
              </a:lnSpc>
              <a:spcBef>
                <a:spcPts val="50"/>
              </a:spcBef>
              <a:buFont typeface="Arial"/>
              <a:buChar char="–"/>
            </a:pPr>
            <a:endParaRPr sz="3500">
              <a:latin typeface="Segoe UI"/>
              <a:cs typeface="Segoe UI"/>
            </a:endParaRPr>
          </a:p>
          <a:p>
            <a:pPr marL="355600" marR="417195" indent="-342900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b="1" spc="-5" dirty="0">
                <a:latin typeface="Segoe UI"/>
                <a:cs typeface="Segoe UI"/>
              </a:rPr>
              <a:t>Q: Which </a:t>
            </a:r>
            <a:r>
              <a:rPr sz="2800" b="1" spc="-30" dirty="0">
                <a:latin typeface="Segoe UI"/>
                <a:cs typeface="Segoe UI"/>
              </a:rPr>
              <a:t>of </a:t>
            </a:r>
            <a:r>
              <a:rPr sz="2800" b="1" spc="-5" dirty="0">
                <a:latin typeface="Segoe UI"/>
                <a:cs typeface="Segoe UI"/>
              </a:rPr>
              <a:t>these  </a:t>
            </a:r>
            <a:r>
              <a:rPr sz="2800" b="1" spc="-10" dirty="0">
                <a:latin typeface="Segoe UI"/>
                <a:cs typeface="Segoe UI"/>
              </a:rPr>
              <a:t>loss functions is  </a:t>
            </a:r>
            <a:r>
              <a:rPr sz="2800" b="1" spc="-5" dirty="0">
                <a:latin typeface="Segoe UI"/>
                <a:cs typeface="Segoe UI"/>
              </a:rPr>
              <a:t>most </a:t>
            </a:r>
            <a:r>
              <a:rPr sz="2800" b="1" spc="-10" dirty="0">
                <a:latin typeface="Segoe UI"/>
                <a:cs typeface="Segoe UI"/>
              </a:rPr>
              <a:t>sensitive to  </a:t>
            </a:r>
            <a:r>
              <a:rPr sz="2800" b="1" spc="-5" dirty="0">
                <a:latin typeface="Segoe UI"/>
                <a:cs typeface="Segoe UI"/>
              </a:rPr>
              <a:t>outliers?</a:t>
            </a:r>
            <a:endParaRPr sz="2800">
              <a:latin typeface="Segoe UI"/>
              <a:cs typeface="Segoe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25065" y="4014565"/>
            <a:ext cx="3528378" cy="279749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34024" y="2282959"/>
            <a:ext cx="5445088" cy="449313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3203448" y="2810255"/>
            <a:ext cx="3672840" cy="1123315"/>
            <a:chOff x="3203448" y="2810255"/>
            <a:chExt cx="3672840" cy="1123315"/>
          </a:xfrm>
        </p:grpSpPr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203448" y="2810255"/>
              <a:ext cx="3672837" cy="5715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398264" y="3313184"/>
              <a:ext cx="2330024" cy="62025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5080" indent="-32384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Casting Linear Classification  as an Optimization</a:t>
            </a:r>
            <a:r>
              <a:rPr spc="-100" dirty="0"/>
              <a:t> </a:t>
            </a:r>
            <a:r>
              <a:rPr spc="-15" dirty="0"/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450594" y="4455410"/>
            <a:ext cx="6862445" cy="90296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914400">
              <a:lnSpc>
                <a:spcPct val="120000"/>
              </a:lnSpc>
              <a:spcBef>
                <a:spcPts val="95"/>
              </a:spcBef>
            </a:pPr>
            <a:r>
              <a:rPr sz="2400" spc="-10" dirty="0">
                <a:latin typeface="Segoe UI"/>
                <a:cs typeface="Segoe UI"/>
              </a:rPr>
              <a:t>Indicator </a:t>
            </a:r>
            <a:r>
              <a:rPr sz="2400" spc="-5" dirty="0">
                <a:latin typeface="Segoe UI"/>
                <a:cs typeface="Segoe UI"/>
              </a:rPr>
              <a:t>function: </a:t>
            </a:r>
            <a:r>
              <a:rPr sz="2400" dirty="0">
                <a:latin typeface="Segoe UI"/>
                <a:cs typeface="Segoe UI"/>
              </a:rPr>
              <a:t>1 </a:t>
            </a:r>
            <a:r>
              <a:rPr sz="2400" spc="-5" dirty="0">
                <a:latin typeface="Segoe UI"/>
                <a:cs typeface="Segoe UI"/>
              </a:rPr>
              <a:t>if </a:t>
            </a:r>
            <a:r>
              <a:rPr sz="2400" dirty="0">
                <a:latin typeface="Segoe UI"/>
                <a:cs typeface="Segoe UI"/>
              </a:rPr>
              <a:t>(.) </a:t>
            </a:r>
            <a:r>
              <a:rPr sz="2400" spc="-5" dirty="0">
                <a:latin typeface="Segoe UI"/>
                <a:cs typeface="Segoe UI"/>
              </a:rPr>
              <a:t>is </a:t>
            </a:r>
            <a:r>
              <a:rPr sz="2400" dirty="0">
                <a:latin typeface="Segoe UI"/>
                <a:cs typeface="Segoe UI"/>
              </a:rPr>
              <a:t>true, 0 </a:t>
            </a:r>
            <a:r>
              <a:rPr sz="2400" spc="10" dirty="0">
                <a:latin typeface="Segoe UI"/>
                <a:cs typeface="Segoe UI"/>
              </a:rPr>
              <a:t>otherwise  </a:t>
            </a:r>
            <a:r>
              <a:rPr sz="2400" dirty="0">
                <a:latin typeface="Segoe UI"/>
                <a:cs typeface="Segoe UI"/>
              </a:rPr>
              <a:t>The </a:t>
            </a:r>
            <a:r>
              <a:rPr sz="2400" spc="-5" dirty="0">
                <a:latin typeface="Segoe UI"/>
                <a:cs typeface="Segoe UI"/>
              </a:rPr>
              <a:t>loss function above is called </a:t>
            </a:r>
            <a:r>
              <a:rPr sz="2400" dirty="0">
                <a:latin typeface="Segoe UI"/>
                <a:cs typeface="Segoe UI"/>
              </a:rPr>
              <a:t>the 0-1</a:t>
            </a:r>
            <a:r>
              <a:rPr sz="2400" spc="100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loss</a:t>
            </a:r>
            <a:endParaRPr sz="24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5062" y="1638236"/>
            <a:ext cx="7571105" cy="2637155"/>
            <a:chOff x="635062" y="1638236"/>
            <a:chExt cx="7571105" cy="263715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35062" y="3326983"/>
              <a:ext cx="7570619" cy="94841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2272030" y="1327404"/>
                  </a:moveTo>
                  <a:lnTo>
                    <a:pt x="1590420" y="1327404"/>
                  </a:lnTo>
                  <a:lnTo>
                    <a:pt x="1938401" y="1687068"/>
                  </a:lnTo>
                  <a:lnTo>
                    <a:pt x="2272030" y="1327404"/>
                  </a:lnTo>
                  <a:close/>
                </a:path>
                <a:path w="2726690" h="1687195">
                  <a:moveTo>
                    <a:pt x="2505202" y="0"/>
                  </a:moveTo>
                  <a:lnTo>
                    <a:pt x="221234" y="0"/>
                  </a:lnTo>
                  <a:lnTo>
                    <a:pt x="176650" y="4495"/>
                  </a:lnTo>
                  <a:lnTo>
                    <a:pt x="135124" y="17387"/>
                  </a:lnTo>
                  <a:lnTo>
                    <a:pt x="97544" y="37785"/>
                  </a:lnTo>
                  <a:lnTo>
                    <a:pt x="64801" y="64801"/>
                  </a:lnTo>
                  <a:lnTo>
                    <a:pt x="37785" y="97544"/>
                  </a:lnTo>
                  <a:lnTo>
                    <a:pt x="17387" y="135124"/>
                  </a:lnTo>
                  <a:lnTo>
                    <a:pt x="4495" y="176650"/>
                  </a:lnTo>
                  <a:lnTo>
                    <a:pt x="0" y="221234"/>
                  </a:lnTo>
                  <a:lnTo>
                    <a:pt x="0" y="1106170"/>
                  </a:lnTo>
                  <a:lnTo>
                    <a:pt x="4495" y="1150753"/>
                  </a:lnTo>
                  <a:lnTo>
                    <a:pt x="17387" y="1192279"/>
                  </a:lnTo>
                  <a:lnTo>
                    <a:pt x="37785" y="1229859"/>
                  </a:lnTo>
                  <a:lnTo>
                    <a:pt x="64801" y="1262602"/>
                  </a:lnTo>
                  <a:lnTo>
                    <a:pt x="97544" y="1289618"/>
                  </a:lnTo>
                  <a:lnTo>
                    <a:pt x="135124" y="1310016"/>
                  </a:lnTo>
                  <a:lnTo>
                    <a:pt x="176650" y="1322908"/>
                  </a:lnTo>
                  <a:lnTo>
                    <a:pt x="221234" y="1327404"/>
                  </a:lnTo>
                  <a:lnTo>
                    <a:pt x="2505202" y="1327404"/>
                  </a:lnTo>
                  <a:lnTo>
                    <a:pt x="2549785" y="1322908"/>
                  </a:lnTo>
                  <a:lnTo>
                    <a:pt x="2591311" y="1310016"/>
                  </a:lnTo>
                  <a:lnTo>
                    <a:pt x="2628891" y="1289618"/>
                  </a:lnTo>
                  <a:lnTo>
                    <a:pt x="2661634" y="1262602"/>
                  </a:lnTo>
                  <a:lnTo>
                    <a:pt x="2688650" y="1229859"/>
                  </a:lnTo>
                  <a:lnTo>
                    <a:pt x="2709048" y="1192279"/>
                  </a:lnTo>
                  <a:lnTo>
                    <a:pt x="2721940" y="1150753"/>
                  </a:lnTo>
                  <a:lnTo>
                    <a:pt x="2726436" y="1106170"/>
                  </a:lnTo>
                  <a:lnTo>
                    <a:pt x="2726436" y="221234"/>
                  </a:lnTo>
                  <a:lnTo>
                    <a:pt x="2721940" y="176650"/>
                  </a:lnTo>
                  <a:lnTo>
                    <a:pt x="2709048" y="135124"/>
                  </a:lnTo>
                  <a:lnTo>
                    <a:pt x="2688650" y="97544"/>
                  </a:lnTo>
                  <a:lnTo>
                    <a:pt x="2661634" y="64801"/>
                  </a:lnTo>
                  <a:lnTo>
                    <a:pt x="2628891" y="37785"/>
                  </a:lnTo>
                  <a:lnTo>
                    <a:pt x="2591311" y="17387"/>
                  </a:lnTo>
                  <a:lnTo>
                    <a:pt x="2549785" y="4495"/>
                  </a:lnTo>
                  <a:lnTo>
                    <a:pt x="25052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0" y="221234"/>
                  </a:moveTo>
                  <a:lnTo>
                    <a:pt x="4495" y="176650"/>
                  </a:lnTo>
                  <a:lnTo>
                    <a:pt x="17387" y="135124"/>
                  </a:lnTo>
                  <a:lnTo>
                    <a:pt x="37785" y="97544"/>
                  </a:lnTo>
                  <a:lnTo>
                    <a:pt x="64801" y="64801"/>
                  </a:lnTo>
                  <a:lnTo>
                    <a:pt x="97544" y="37785"/>
                  </a:lnTo>
                  <a:lnTo>
                    <a:pt x="135124" y="17387"/>
                  </a:lnTo>
                  <a:lnTo>
                    <a:pt x="176650" y="4495"/>
                  </a:lnTo>
                  <a:lnTo>
                    <a:pt x="221234" y="0"/>
                  </a:lnTo>
                  <a:lnTo>
                    <a:pt x="1590420" y="0"/>
                  </a:lnTo>
                  <a:lnTo>
                    <a:pt x="2272030" y="0"/>
                  </a:lnTo>
                  <a:lnTo>
                    <a:pt x="2505202" y="0"/>
                  </a:lnTo>
                  <a:lnTo>
                    <a:pt x="2549785" y="4495"/>
                  </a:lnTo>
                  <a:lnTo>
                    <a:pt x="2591311" y="17387"/>
                  </a:lnTo>
                  <a:lnTo>
                    <a:pt x="2628891" y="37785"/>
                  </a:lnTo>
                  <a:lnTo>
                    <a:pt x="2661634" y="64801"/>
                  </a:lnTo>
                  <a:lnTo>
                    <a:pt x="2688650" y="97544"/>
                  </a:lnTo>
                  <a:lnTo>
                    <a:pt x="2709048" y="135124"/>
                  </a:lnTo>
                  <a:lnTo>
                    <a:pt x="2721940" y="176650"/>
                  </a:lnTo>
                  <a:lnTo>
                    <a:pt x="2726436" y="221234"/>
                  </a:lnTo>
                  <a:lnTo>
                    <a:pt x="2726436" y="774319"/>
                  </a:lnTo>
                  <a:lnTo>
                    <a:pt x="2726436" y="1106170"/>
                  </a:lnTo>
                  <a:lnTo>
                    <a:pt x="2721940" y="1150753"/>
                  </a:lnTo>
                  <a:lnTo>
                    <a:pt x="2709048" y="1192279"/>
                  </a:lnTo>
                  <a:lnTo>
                    <a:pt x="2688650" y="1229859"/>
                  </a:lnTo>
                  <a:lnTo>
                    <a:pt x="2661634" y="1262602"/>
                  </a:lnTo>
                  <a:lnTo>
                    <a:pt x="2628891" y="1289618"/>
                  </a:lnTo>
                  <a:lnTo>
                    <a:pt x="2591311" y="1310016"/>
                  </a:lnTo>
                  <a:lnTo>
                    <a:pt x="2549785" y="1322908"/>
                  </a:lnTo>
                  <a:lnTo>
                    <a:pt x="2505202" y="1327404"/>
                  </a:lnTo>
                  <a:lnTo>
                    <a:pt x="2272030" y="1327404"/>
                  </a:lnTo>
                  <a:lnTo>
                    <a:pt x="1938401" y="1687068"/>
                  </a:lnTo>
                  <a:lnTo>
                    <a:pt x="1590420" y="1327404"/>
                  </a:lnTo>
                  <a:lnTo>
                    <a:pt x="221234" y="1327404"/>
                  </a:lnTo>
                  <a:lnTo>
                    <a:pt x="176650" y="1322908"/>
                  </a:lnTo>
                  <a:lnTo>
                    <a:pt x="135124" y="1310016"/>
                  </a:lnTo>
                  <a:lnTo>
                    <a:pt x="97544" y="1289618"/>
                  </a:lnTo>
                  <a:lnTo>
                    <a:pt x="64801" y="1262602"/>
                  </a:lnTo>
                  <a:lnTo>
                    <a:pt x="37785" y="1229859"/>
                  </a:lnTo>
                  <a:lnTo>
                    <a:pt x="17387" y="1192279"/>
                  </a:lnTo>
                  <a:lnTo>
                    <a:pt x="4495" y="1150753"/>
                  </a:lnTo>
                  <a:lnTo>
                    <a:pt x="0" y="1106170"/>
                  </a:lnTo>
                  <a:lnTo>
                    <a:pt x="0" y="774319"/>
                  </a:lnTo>
                  <a:lnTo>
                    <a:pt x="0" y="221234"/>
                  </a:lnTo>
                  <a:close/>
                </a:path>
              </a:pathLst>
            </a:custGeom>
            <a:ln w="25908">
              <a:solidFill>
                <a:srgbClr val="1B57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28960" y="4522184"/>
            <a:ext cx="525456" cy="388261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3049016" y="1685289"/>
            <a:ext cx="231521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-1270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Loss function  </a:t>
            </a:r>
            <a:r>
              <a:rPr sz="2000" spc="-5" dirty="0">
                <a:latin typeface="Segoe UI"/>
                <a:cs typeface="Segoe UI"/>
              </a:rPr>
              <a:t>measures </a:t>
            </a:r>
            <a:r>
              <a:rPr sz="2000" dirty="0">
                <a:latin typeface="Segoe UI"/>
                <a:cs typeface="Segoe UI"/>
              </a:rPr>
              <a:t>how </a:t>
            </a:r>
            <a:r>
              <a:rPr sz="2000" spc="-5" dirty="0">
                <a:latin typeface="Segoe UI"/>
                <a:cs typeface="Segoe UI"/>
              </a:rPr>
              <a:t>well  classifier fits </a:t>
            </a:r>
            <a:r>
              <a:rPr sz="2000" dirty="0">
                <a:latin typeface="Segoe UI"/>
                <a:cs typeface="Segoe UI"/>
              </a:rPr>
              <a:t>training  data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6216332" y="1606232"/>
            <a:ext cx="2330450" cy="1771650"/>
            <a:chOff x="6216332" y="1606232"/>
            <a:chExt cx="2330450" cy="1771650"/>
          </a:xfrm>
        </p:grpSpPr>
        <p:sp>
          <p:nvSpPr>
            <p:cNvPr id="11" name="object 11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1920240" y="1479803"/>
                  </a:moveTo>
                  <a:lnTo>
                    <a:pt x="1344168" y="1479803"/>
                  </a:lnTo>
                  <a:lnTo>
                    <a:pt x="1507744" y="1745361"/>
                  </a:lnTo>
                  <a:lnTo>
                    <a:pt x="1920240" y="1479803"/>
                  </a:lnTo>
                  <a:close/>
                </a:path>
                <a:path w="2304415" h="1745614">
                  <a:moveTo>
                    <a:pt x="2057653" y="0"/>
                  </a:moveTo>
                  <a:lnTo>
                    <a:pt x="246634" y="0"/>
                  </a:lnTo>
                  <a:lnTo>
                    <a:pt x="196911" y="5008"/>
                  </a:lnTo>
                  <a:lnTo>
                    <a:pt x="150608" y="19373"/>
                  </a:lnTo>
                  <a:lnTo>
                    <a:pt x="108712" y="42105"/>
                  </a:lnTo>
                  <a:lnTo>
                    <a:pt x="72215" y="72215"/>
                  </a:lnTo>
                  <a:lnTo>
                    <a:pt x="42105" y="108712"/>
                  </a:lnTo>
                  <a:lnTo>
                    <a:pt x="19373" y="150608"/>
                  </a:lnTo>
                  <a:lnTo>
                    <a:pt x="5008" y="196911"/>
                  </a:lnTo>
                  <a:lnTo>
                    <a:pt x="0" y="246634"/>
                  </a:lnTo>
                  <a:lnTo>
                    <a:pt x="0" y="1233170"/>
                  </a:lnTo>
                  <a:lnTo>
                    <a:pt x="5008" y="1282892"/>
                  </a:lnTo>
                  <a:lnTo>
                    <a:pt x="19373" y="1329195"/>
                  </a:lnTo>
                  <a:lnTo>
                    <a:pt x="42105" y="1371091"/>
                  </a:lnTo>
                  <a:lnTo>
                    <a:pt x="72215" y="1407588"/>
                  </a:lnTo>
                  <a:lnTo>
                    <a:pt x="108712" y="1437698"/>
                  </a:lnTo>
                  <a:lnTo>
                    <a:pt x="150608" y="1460430"/>
                  </a:lnTo>
                  <a:lnTo>
                    <a:pt x="196911" y="1474795"/>
                  </a:lnTo>
                  <a:lnTo>
                    <a:pt x="246634" y="1479803"/>
                  </a:lnTo>
                  <a:lnTo>
                    <a:pt x="2057653" y="1479803"/>
                  </a:lnTo>
                  <a:lnTo>
                    <a:pt x="2107376" y="1474795"/>
                  </a:lnTo>
                  <a:lnTo>
                    <a:pt x="2153679" y="1460430"/>
                  </a:lnTo>
                  <a:lnTo>
                    <a:pt x="2195575" y="1437698"/>
                  </a:lnTo>
                  <a:lnTo>
                    <a:pt x="2232072" y="1407588"/>
                  </a:lnTo>
                  <a:lnTo>
                    <a:pt x="2262182" y="1371091"/>
                  </a:lnTo>
                  <a:lnTo>
                    <a:pt x="2284914" y="1329195"/>
                  </a:lnTo>
                  <a:lnTo>
                    <a:pt x="2299279" y="1282892"/>
                  </a:lnTo>
                  <a:lnTo>
                    <a:pt x="2304288" y="1233170"/>
                  </a:lnTo>
                  <a:lnTo>
                    <a:pt x="2304288" y="246634"/>
                  </a:lnTo>
                  <a:lnTo>
                    <a:pt x="2299279" y="196911"/>
                  </a:lnTo>
                  <a:lnTo>
                    <a:pt x="2284914" y="150608"/>
                  </a:lnTo>
                  <a:lnTo>
                    <a:pt x="2262182" y="108712"/>
                  </a:lnTo>
                  <a:lnTo>
                    <a:pt x="2232072" y="72215"/>
                  </a:lnTo>
                  <a:lnTo>
                    <a:pt x="2195575" y="42105"/>
                  </a:lnTo>
                  <a:lnTo>
                    <a:pt x="2153679" y="19373"/>
                  </a:lnTo>
                  <a:lnTo>
                    <a:pt x="2107376" y="5008"/>
                  </a:lnTo>
                  <a:lnTo>
                    <a:pt x="205765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0" y="246634"/>
                  </a:moveTo>
                  <a:lnTo>
                    <a:pt x="5008" y="196911"/>
                  </a:lnTo>
                  <a:lnTo>
                    <a:pt x="19373" y="150608"/>
                  </a:lnTo>
                  <a:lnTo>
                    <a:pt x="42105" y="108712"/>
                  </a:lnTo>
                  <a:lnTo>
                    <a:pt x="72215" y="72215"/>
                  </a:lnTo>
                  <a:lnTo>
                    <a:pt x="108712" y="42105"/>
                  </a:lnTo>
                  <a:lnTo>
                    <a:pt x="150608" y="19373"/>
                  </a:lnTo>
                  <a:lnTo>
                    <a:pt x="196911" y="5008"/>
                  </a:lnTo>
                  <a:lnTo>
                    <a:pt x="246634" y="0"/>
                  </a:lnTo>
                  <a:lnTo>
                    <a:pt x="1344168" y="0"/>
                  </a:lnTo>
                  <a:lnTo>
                    <a:pt x="1920240" y="0"/>
                  </a:lnTo>
                  <a:lnTo>
                    <a:pt x="2057653" y="0"/>
                  </a:lnTo>
                  <a:lnTo>
                    <a:pt x="2107376" y="5008"/>
                  </a:lnTo>
                  <a:lnTo>
                    <a:pt x="2153679" y="19373"/>
                  </a:lnTo>
                  <a:lnTo>
                    <a:pt x="2195575" y="42105"/>
                  </a:lnTo>
                  <a:lnTo>
                    <a:pt x="2232072" y="72215"/>
                  </a:lnTo>
                  <a:lnTo>
                    <a:pt x="2262182" y="108712"/>
                  </a:lnTo>
                  <a:lnTo>
                    <a:pt x="2284914" y="150608"/>
                  </a:lnTo>
                  <a:lnTo>
                    <a:pt x="2299279" y="196911"/>
                  </a:lnTo>
                  <a:lnTo>
                    <a:pt x="2304288" y="246634"/>
                  </a:lnTo>
                  <a:lnTo>
                    <a:pt x="2304288" y="863219"/>
                  </a:lnTo>
                  <a:lnTo>
                    <a:pt x="2304288" y="1233170"/>
                  </a:lnTo>
                  <a:lnTo>
                    <a:pt x="2299279" y="1282892"/>
                  </a:lnTo>
                  <a:lnTo>
                    <a:pt x="2284914" y="1329195"/>
                  </a:lnTo>
                  <a:lnTo>
                    <a:pt x="2262182" y="1371091"/>
                  </a:lnTo>
                  <a:lnTo>
                    <a:pt x="2232072" y="1407588"/>
                  </a:lnTo>
                  <a:lnTo>
                    <a:pt x="2195575" y="1437698"/>
                  </a:lnTo>
                  <a:lnTo>
                    <a:pt x="2153679" y="1460430"/>
                  </a:lnTo>
                  <a:lnTo>
                    <a:pt x="2107376" y="1474795"/>
                  </a:lnTo>
                  <a:lnTo>
                    <a:pt x="2057653" y="1479803"/>
                  </a:lnTo>
                  <a:lnTo>
                    <a:pt x="1920240" y="1479803"/>
                  </a:lnTo>
                  <a:lnTo>
                    <a:pt x="1507744" y="1745361"/>
                  </a:lnTo>
                  <a:lnTo>
                    <a:pt x="1344168" y="1479803"/>
                  </a:lnTo>
                  <a:lnTo>
                    <a:pt x="246634" y="1479803"/>
                  </a:lnTo>
                  <a:lnTo>
                    <a:pt x="196911" y="1474795"/>
                  </a:lnTo>
                  <a:lnTo>
                    <a:pt x="150608" y="1460430"/>
                  </a:lnTo>
                  <a:lnTo>
                    <a:pt x="108712" y="1437698"/>
                  </a:lnTo>
                  <a:lnTo>
                    <a:pt x="72215" y="1407588"/>
                  </a:lnTo>
                  <a:lnTo>
                    <a:pt x="42105" y="1371091"/>
                  </a:lnTo>
                  <a:lnTo>
                    <a:pt x="19373" y="1329195"/>
                  </a:lnTo>
                  <a:lnTo>
                    <a:pt x="5008" y="1282892"/>
                  </a:lnTo>
                  <a:lnTo>
                    <a:pt x="0" y="1233170"/>
                  </a:lnTo>
                  <a:lnTo>
                    <a:pt x="0" y="863219"/>
                  </a:lnTo>
                  <a:lnTo>
                    <a:pt x="0" y="246634"/>
                  </a:lnTo>
                  <a:close/>
                </a:path>
              </a:pathLst>
            </a:custGeom>
            <a:ln w="25907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436867" y="1728977"/>
            <a:ext cx="188595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indent="3175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Regularizer  </a:t>
            </a:r>
            <a:r>
              <a:rPr sz="2000" spc="-5" dirty="0">
                <a:latin typeface="Segoe UI"/>
                <a:cs typeface="Segoe UI"/>
              </a:rPr>
              <a:t>prefers solutions  </a:t>
            </a:r>
            <a:r>
              <a:rPr sz="2000" dirty="0">
                <a:latin typeface="Segoe UI"/>
                <a:cs typeface="Segoe UI"/>
              </a:rPr>
              <a:t>that </a:t>
            </a:r>
            <a:r>
              <a:rPr sz="2000" spc="-5" dirty="0">
                <a:latin typeface="Segoe UI"/>
                <a:cs typeface="Segoe UI"/>
              </a:rPr>
              <a:t>generalize  well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45008" y="1732788"/>
            <a:ext cx="1897380" cy="1713230"/>
            <a:chOff x="445008" y="1732788"/>
            <a:chExt cx="1897380" cy="1713230"/>
          </a:xfrm>
        </p:grpSpPr>
        <p:sp>
          <p:nvSpPr>
            <p:cNvPr id="15" name="object 15"/>
            <p:cNvSpPr/>
            <p:nvPr/>
          </p:nvSpPr>
          <p:spPr>
            <a:xfrm>
              <a:off x="457962" y="1745742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1559560" y="1283208"/>
                  </a:moveTo>
                  <a:lnTo>
                    <a:pt x="1091692" y="1283208"/>
                  </a:lnTo>
                  <a:lnTo>
                    <a:pt x="1090168" y="1687322"/>
                  </a:lnTo>
                  <a:lnTo>
                    <a:pt x="1559560" y="1283208"/>
                  </a:lnTo>
                  <a:close/>
                </a:path>
                <a:path w="1871980" h="1687829">
                  <a:moveTo>
                    <a:pt x="1657604" y="0"/>
                  </a:moveTo>
                  <a:lnTo>
                    <a:pt x="213867" y="0"/>
                  </a:lnTo>
                  <a:lnTo>
                    <a:pt x="164831" y="5648"/>
                  </a:lnTo>
                  <a:lnTo>
                    <a:pt x="119816" y="21738"/>
                  </a:lnTo>
                  <a:lnTo>
                    <a:pt x="80107" y="46986"/>
                  </a:lnTo>
                  <a:lnTo>
                    <a:pt x="46986" y="80107"/>
                  </a:lnTo>
                  <a:lnTo>
                    <a:pt x="21738" y="119816"/>
                  </a:lnTo>
                  <a:lnTo>
                    <a:pt x="5648" y="164831"/>
                  </a:lnTo>
                  <a:lnTo>
                    <a:pt x="0" y="213868"/>
                  </a:lnTo>
                  <a:lnTo>
                    <a:pt x="0" y="1069340"/>
                  </a:lnTo>
                  <a:lnTo>
                    <a:pt x="5648" y="1118376"/>
                  </a:lnTo>
                  <a:lnTo>
                    <a:pt x="21738" y="1163391"/>
                  </a:lnTo>
                  <a:lnTo>
                    <a:pt x="46986" y="1203100"/>
                  </a:lnTo>
                  <a:lnTo>
                    <a:pt x="80107" y="1236221"/>
                  </a:lnTo>
                  <a:lnTo>
                    <a:pt x="119816" y="1261469"/>
                  </a:lnTo>
                  <a:lnTo>
                    <a:pt x="164831" y="1277559"/>
                  </a:lnTo>
                  <a:lnTo>
                    <a:pt x="213867" y="1283208"/>
                  </a:lnTo>
                  <a:lnTo>
                    <a:pt x="1657604" y="1283208"/>
                  </a:lnTo>
                  <a:lnTo>
                    <a:pt x="1706640" y="1277559"/>
                  </a:lnTo>
                  <a:lnTo>
                    <a:pt x="1751655" y="1261469"/>
                  </a:lnTo>
                  <a:lnTo>
                    <a:pt x="1791364" y="1236221"/>
                  </a:lnTo>
                  <a:lnTo>
                    <a:pt x="1824485" y="1203100"/>
                  </a:lnTo>
                  <a:lnTo>
                    <a:pt x="1849733" y="1163391"/>
                  </a:lnTo>
                  <a:lnTo>
                    <a:pt x="1865823" y="1118376"/>
                  </a:lnTo>
                  <a:lnTo>
                    <a:pt x="1871471" y="1069340"/>
                  </a:lnTo>
                  <a:lnTo>
                    <a:pt x="1871471" y="213868"/>
                  </a:lnTo>
                  <a:lnTo>
                    <a:pt x="1865823" y="164831"/>
                  </a:lnTo>
                  <a:lnTo>
                    <a:pt x="1849733" y="119816"/>
                  </a:lnTo>
                  <a:lnTo>
                    <a:pt x="1824485" y="80107"/>
                  </a:lnTo>
                  <a:lnTo>
                    <a:pt x="1791364" y="46986"/>
                  </a:lnTo>
                  <a:lnTo>
                    <a:pt x="1751655" y="21738"/>
                  </a:lnTo>
                  <a:lnTo>
                    <a:pt x="1706640" y="5648"/>
                  </a:lnTo>
                  <a:lnTo>
                    <a:pt x="1657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57962" y="1745742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0" y="213868"/>
                  </a:moveTo>
                  <a:lnTo>
                    <a:pt x="5648" y="164831"/>
                  </a:lnTo>
                  <a:lnTo>
                    <a:pt x="21738" y="119816"/>
                  </a:lnTo>
                  <a:lnTo>
                    <a:pt x="46986" y="80107"/>
                  </a:lnTo>
                  <a:lnTo>
                    <a:pt x="80107" y="46986"/>
                  </a:lnTo>
                  <a:lnTo>
                    <a:pt x="119816" y="21738"/>
                  </a:lnTo>
                  <a:lnTo>
                    <a:pt x="164831" y="5648"/>
                  </a:lnTo>
                  <a:lnTo>
                    <a:pt x="213867" y="0"/>
                  </a:lnTo>
                  <a:lnTo>
                    <a:pt x="1091692" y="0"/>
                  </a:lnTo>
                  <a:lnTo>
                    <a:pt x="1559560" y="0"/>
                  </a:lnTo>
                  <a:lnTo>
                    <a:pt x="1657604" y="0"/>
                  </a:lnTo>
                  <a:lnTo>
                    <a:pt x="1706640" y="5648"/>
                  </a:lnTo>
                  <a:lnTo>
                    <a:pt x="1751655" y="21738"/>
                  </a:lnTo>
                  <a:lnTo>
                    <a:pt x="1791364" y="46986"/>
                  </a:lnTo>
                  <a:lnTo>
                    <a:pt x="1824485" y="80107"/>
                  </a:lnTo>
                  <a:lnTo>
                    <a:pt x="1849733" y="119816"/>
                  </a:lnTo>
                  <a:lnTo>
                    <a:pt x="1865823" y="164831"/>
                  </a:lnTo>
                  <a:lnTo>
                    <a:pt x="1871471" y="213868"/>
                  </a:lnTo>
                  <a:lnTo>
                    <a:pt x="1871471" y="748538"/>
                  </a:lnTo>
                  <a:lnTo>
                    <a:pt x="1871471" y="1069340"/>
                  </a:lnTo>
                  <a:lnTo>
                    <a:pt x="1865823" y="1118376"/>
                  </a:lnTo>
                  <a:lnTo>
                    <a:pt x="1849733" y="1163391"/>
                  </a:lnTo>
                  <a:lnTo>
                    <a:pt x="1824485" y="1203100"/>
                  </a:lnTo>
                  <a:lnTo>
                    <a:pt x="1791364" y="1236221"/>
                  </a:lnTo>
                  <a:lnTo>
                    <a:pt x="1751655" y="1261469"/>
                  </a:lnTo>
                  <a:lnTo>
                    <a:pt x="1706640" y="1277559"/>
                  </a:lnTo>
                  <a:lnTo>
                    <a:pt x="1657604" y="1283208"/>
                  </a:lnTo>
                  <a:lnTo>
                    <a:pt x="1559560" y="1283208"/>
                  </a:lnTo>
                  <a:lnTo>
                    <a:pt x="1090168" y="1687322"/>
                  </a:lnTo>
                  <a:lnTo>
                    <a:pt x="1091692" y="1283208"/>
                  </a:lnTo>
                  <a:lnTo>
                    <a:pt x="213867" y="1283208"/>
                  </a:lnTo>
                  <a:lnTo>
                    <a:pt x="164831" y="1277559"/>
                  </a:lnTo>
                  <a:lnTo>
                    <a:pt x="119816" y="1261469"/>
                  </a:lnTo>
                  <a:lnTo>
                    <a:pt x="80107" y="1236221"/>
                  </a:lnTo>
                  <a:lnTo>
                    <a:pt x="46986" y="1203100"/>
                  </a:lnTo>
                  <a:lnTo>
                    <a:pt x="21738" y="1163391"/>
                  </a:lnTo>
                  <a:lnTo>
                    <a:pt x="5648" y="1118376"/>
                  </a:lnTo>
                  <a:lnTo>
                    <a:pt x="0" y="1069340"/>
                  </a:lnTo>
                  <a:lnTo>
                    <a:pt x="0" y="748538"/>
                  </a:lnTo>
                  <a:lnTo>
                    <a:pt x="0" y="213868"/>
                  </a:lnTo>
                  <a:close/>
                </a:path>
              </a:pathLst>
            </a:custGeom>
            <a:ln w="2590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816965" y="2062099"/>
            <a:ext cx="1151890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1755" marR="5080" indent="-59690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O</a:t>
            </a:r>
            <a:r>
              <a:rPr sz="2000" b="1" spc="5" dirty="0">
                <a:latin typeface="Segoe UI"/>
                <a:cs typeface="Segoe UI"/>
              </a:rPr>
              <a:t>b</a:t>
            </a:r>
            <a:r>
              <a:rPr sz="2000" b="1" spc="-5" dirty="0">
                <a:latin typeface="Segoe UI"/>
                <a:cs typeface="Segoe UI"/>
              </a:rPr>
              <a:t>j</a:t>
            </a:r>
            <a:r>
              <a:rPr sz="2000" b="1" spc="-15" dirty="0">
                <a:latin typeface="Segoe UI"/>
                <a:cs typeface="Segoe UI"/>
              </a:rPr>
              <a:t>e</a:t>
            </a:r>
            <a:r>
              <a:rPr sz="2000" b="1" dirty="0">
                <a:latin typeface="Segoe UI"/>
                <a:cs typeface="Segoe UI"/>
              </a:rPr>
              <a:t>ct</a:t>
            </a:r>
            <a:r>
              <a:rPr sz="2000" b="1" spc="-10" dirty="0">
                <a:latin typeface="Segoe UI"/>
                <a:cs typeface="Segoe UI"/>
              </a:rPr>
              <a:t>i</a:t>
            </a:r>
            <a:r>
              <a:rPr sz="2000" b="1" spc="-20" dirty="0">
                <a:latin typeface="Segoe UI"/>
                <a:cs typeface="Segoe UI"/>
              </a:rPr>
              <a:t>v</a:t>
            </a:r>
            <a:r>
              <a:rPr sz="2000" b="1" dirty="0">
                <a:latin typeface="Segoe UI"/>
                <a:cs typeface="Segoe UI"/>
              </a:rPr>
              <a:t>e  </a:t>
            </a:r>
            <a:r>
              <a:rPr sz="2000" b="1" spc="-5" dirty="0">
                <a:latin typeface="Segoe UI"/>
                <a:cs typeface="Segoe UI"/>
              </a:rPr>
              <a:t>function</a:t>
            </a:r>
            <a:endParaRPr sz="20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87320" y="483234"/>
            <a:ext cx="477012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The </a:t>
            </a:r>
            <a:r>
              <a:rPr spc="-10" dirty="0"/>
              <a:t>regularizer</a:t>
            </a:r>
            <a:r>
              <a:rPr spc="-90" dirty="0"/>
              <a:t> </a:t>
            </a:r>
            <a:r>
              <a:rPr spc="-5" dirty="0"/>
              <a:t>term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24329"/>
            <a:ext cx="8253095" cy="26492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354965" algn="l"/>
                <a:tab pos="355600" algn="l"/>
                <a:tab pos="4679315" algn="l"/>
              </a:tabLst>
            </a:pPr>
            <a:r>
              <a:rPr sz="2800" spc="-10" dirty="0">
                <a:latin typeface="Segoe UI"/>
                <a:cs typeface="Segoe UI"/>
              </a:rPr>
              <a:t>Goal: </a:t>
            </a:r>
            <a:r>
              <a:rPr sz="2800" spc="-5" dirty="0">
                <a:latin typeface="Segoe UI"/>
                <a:cs typeface="Segoe UI"/>
              </a:rPr>
              <a:t>find</a:t>
            </a:r>
            <a:r>
              <a:rPr sz="2800" spc="3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simple</a:t>
            </a:r>
            <a:r>
              <a:rPr sz="2800" spc="5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solutions	</a:t>
            </a:r>
            <a:r>
              <a:rPr sz="2800" spc="-10" dirty="0">
                <a:latin typeface="Segoe UI"/>
                <a:cs typeface="Segoe UI"/>
              </a:rPr>
              <a:t>(inductive</a:t>
            </a:r>
            <a:r>
              <a:rPr sz="2800" spc="10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bias)</a:t>
            </a:r>
            <a:endParaRPr sz="280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Char char="•"/>
            </a:pPr>
            <a:endParaRPr sz="3450">
              <a:latin typeface="Segoe UI"/>
              <a:cs typeface="Segoe UI"/>
            </a:endParaRPr>
          </a:p>
          <a:p>
            <a:pPr marL="355600" marR="5080" indent="-342900">
              <a:lnSpc>
                <a:spcPct val="100000"/>
              </a:lnSpc>
              <a:spcBef>
                <a:spcPts val="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spc="-20" dirty="0">
                <a:latin typeface="Segoe UI"/>
                <a:cs typeface="Segoe UI"/>
              </a:rPr>
              <a:t>Ideally, </a:t>
            </a:r>
            <a:r>
              <a:rPr sz="2400" dirty="0">
                <a:latin typeface="Segoe UI"/>
                <a:cs typeface="Segoe UI"/>
              </a:rPr>
              <a:t>we want </a:t>
            </a:r>
            <a:r>
              <a:rPr sz="2400" spc="-5" dirty="0">
                <a:latin typeface="Segoe UI"/>
                <a:cs typeface="Segoe UI"/>
              </a:rPr>
              <a:t>most </a:t>
            </a:r>
            <a:r>
              <a:rPr sz="2400" dirty="0">
                <a:latin typeface="Segoe UI"/>
                <a:cs typeface="Segoe UI"/>
              </a:rPr>
              <a:t>entries </a:t>
            </a:r>
            <a:r>
              <a:rPr sz="2400" spc="-25" dirty="0">
                <a:latin typeface="Segoe UI"/>
                <a:cs typeface="Segoe UI"/>
              </a:rPr>
              <a:t>of </a:t>
            </a:r>
            <a:r>
              <a:rPr sz="2400" dirty="0">
                <a:latin typeface="Segoe UI"/>
                <a:cs typeface="Segoe UI"/>
              </a:rPr>
              <a:t>w </a:t>
            </a:r>
            <a:r>
              <a:rPr sz="2400" spc="-10" dirty="0">
                <a:latin typeface="Segoe UI"/>
                <a:cs typeface="Segoe UI"/>
              </a:rPr>
              <a:t>to </a:t>
            </a:r>
            <a:r>
              <a:rPr sz="2400" dirty="0">
                <a:latin typeface="Segoe UI"/>
                <a:cs typeface="Segoe UI"/>
              </a:rPr>
              <a:t>be </a:t>
            </a:r>
            <a:r>
              <a:rPr sz="2400" spc="-10" dirty="0">
                <a:latin typeface="Segoe UI"/>
                <a:cs typeface="Segoe UI"/>
              </a:rPr>
              <a:t>zero, </a:t>
            </a:r>
            <a:r>
              <a:rPr sz="2400" spc="-5" dirty="0">
                <a:latin typeface="Segoe UI"/>
                <a:cs typeface="Segoe UI"/>
              </a:rPr>
              <a:t>so prediction  </a:t>
            </a:r>
            <a:r>
              <a:rPr sz="2400" dirty="0">
                <a:latin typeface="Segoe UI"/>
                <a:cs typeface="Segoe UI"/>
              </a:rPr>
              <a:t>depends only on a </a:t>
            </a:r>
            <a:r>
              <a:rPr sz="2400" spc="-5" dirty="0">
                <a:latin typeface="Segoe UI"/>
                <a:cs typeface="Segoe UI"/>
              </a:rPr>
              <a:t>small </a:t>
            </a:r>
            <a:r>
              <a:rPr sz="2400" dirty="0">
                <a:latin typeface="Segoe UI"/>
                <a:cs typeface="Segoe UI"/>
              </a:rPr>
              <a:t>number </a:t>
            </a:r>
            <a:r>
              <a:rPr sz="2400" spc="-25" dirty="0">
                <a:latin typeface="Segoe UI"/>
                <a:cs typeface="Segoe UI"/>
              </a:rPr>
              <a:t>of</a:t>
            </a:r>
            <a:r>
              <a:rPr sz="2400" spc="35" dirty="0">
                <a:latin typeface="Segoe UI"/>
                <a:cs typeface="Segoe UI"/>
              </a:rPr>
              <a:t> </a:t>
            </a:r>
            <a:r>
              <a:rPr sz="2400" spc="-5" dirty="0">
                <a:latin typeface="Segoe UI"/>
                <a:cs typeface="Segoe UI"/>
              </a:rPr>
              <a:t>features.</a:t>
            </a:r>
            <a:endParaRPr sz="240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buChar char="•"/>
            </a:pPr>
            <a:endParaRPr sz="3000">
              <a:latin typeface="Segoe UI"/>
              <a:cs typeface="Segoe UI"/>
            </a:endParaRPr>
          </a:p>
          <a:p>
            <a:pPr marL="355600" indent="-342900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spc="-15" dirty="0">
                <a:latin typeface="Segoe UI"/>
                <a:cs typeface="Segoe UI"/>
              </a:rPr>
              <a:t>Formally, </a:t>
            </a:r>
            <a:r>
              <a:rPr sz="2400" dirty="0">
                <a:latin typeface="Segoe UI"/>
                <a:cs typeface="Segoe UI"/>
              </a:rPr>
              <a:t>we want </a:t>
            </a:r>
            <a:r>
              <a:rPr sz="2400" spc="-10" dirty="0">
                <a:latin typeface="Segoe UI"/>
                <a:cs typeface="Segoe UI"/>
              </a:rPr>
              <a:t>to</a:t>
            </a:r>
            <a:r>
              <a:rPr sz="2400" spc="40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minimize:</a:t>
            </a:r>
            <a:endParaRPr sz="2400">
              <a:latin typeface="Segoe UI"/>
              <a:cs typeface="Segoe U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10540" y="5564981"/>
            <a:ext cx="7162800" cy="83058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81000" indent="-342900">
              <a:lnSpc>
                <a:spcPct val="100000"/>
              </a:lnSpc>
              <a:spcBef>
                <a:spcPts val="675"/>
              </a:spcBef>
              <a:buFont typeface="Arial"/>
              <a:buChar char="•"/>
              <a:tabLst>
                <a:tab pos="380365" algn="l"/>
                <a:tab pos="381000" algn="l"/>
              </a:tabLst>
            </a:pPr>
            <a:r>
              <a:rPr sz="2400" spc="-25" dirty="0">
                <a:latin typeface="Segoe UI"/>
                <a:cs typeface="Segoe UI"/>
              </a:rPr>
              <a:t>That’s </a:t>
            </a:r>
            <a:r>
              <a:rPr sz="2400" spc="-5" dirty="0">
                <a:latin typeface="Segoe UI"/>
                <a:cs typeface="Segoe UI"/>
              </a:rPr>
              <a:t>NP-hard, so </a:t>
            </a:r>
            <a:r>
              <a:rPr sz="2400" dirty="0">
                <a:latin typeface="Segoe UI"/>
                <a:cs typeface="Segoe UI"/>
              </a:rPr>
              <a:t>we use </a:t>
            </a:r>
            <a:r>
              <a:rPr sz="2400" spc="-5" dirty="0">
                <a:latin typeface="Segoe UI"/>
                <a:cs typeface="Segoe UI"/>
              </a:rPr>
              <a:t>approximations</a:t>
            </a:r>
            <a:r>
              <a:rPr sz="2400" spc="5" dirty="0">
                <a:latin typeface="Segoe UI"/>
                <a:cs typeface="Segoe UI"/>
              </a:rPr>
              <a:t> </a:t>
            </a:r>
            <a:r>
              <a:rPr sz="2400" spc="-5" dirty="0">
                <a:latin typeface="Segoe UI"/>
                <a:cs typeface="Segoe UI"/>
              </a:rPr>
              <a:t>instead.</a:t>
            </a:r>
            <a:endParaRPr sz="2400">
              <a:latin typeface="Segoe UI"/>
              <a:cs typeface="Segoe UI"/>
            </a:endParaRPr>
          </a:p>
          <a:p>
            <a:pPr marL="495300">
              <a:lnSpc>
                <a:spcPct val="100000"/>
              </a:lnSpc>
              <a:spcBef>
                <a:spcPts val="480"/>
              </a:spcBef>
              <a:tabLst>
                <a:tab pos="781685" algn="l"/>
              </a:tabLst>
            </a:pPr>
            <a:r>
              <a:rPr sz="2000" dirty="0">
                <a:latin typeface="Arial"/>
                <a:cs typeface="Arial"/>
              </a:rPr>
              <a:t>–	</a:t>
            </a:r>
            <a:r>
              <a:rPr sz="2000" spc="-5" dirty="0">
                <a:latin typeface="Segoe UI"/>
                <a:cs typeface="Segoe UI"/>
              </a:rPr>
              <a:t>E.g., we </a:t>
            </a:r>
            <a:r>
              <a:rPr sz="2000" dirty="0">
                <a:latin typeface="Segoe UI"/>
                <a:cs typeface="Segoe UI"/>
              </a:rPr>
              <a:t>encourage </a:t>
            </a:r>
            <a:r>
              <a:rPr sz="2000" spc="-30" dirty="0">
                <a:latin typeface="Segoe UI"/>
                <a:cs typeface="Segoe UI"/>
              </a:rPr>
              <a:t>w</a:t>
            </a:r>
            <a:r>
              <a:rPr sz="1950" spc="-44" baseline="-21367" dirty="0">
                <a:latin typeface="Segoe UI"/>
                <a:cs typeface="Segoe UI"/>
              </a:rPr>
              <a:t>d</a:t>
            </a:r>
            <a:r>
              <a:rPr sz="2000" spc="-30" dirty="0">
                <a:latin typeface="Segoe UI"/>
                <a:cs typeface="Segoe UI"/>
              </a:rPr>
              <a:t>’s </a:t>
            </a:r>
            <a:r>
              <a:rPr sz="2000" spc="-5" dirty="0">
                <a:latin typeface="Segoe UI"/>
                <a:cs typeface="Segoe UI"/>
              </a:rPr>
              <a:t>to </a:t>
            </a:r>
            <a:r>
              <a:rPr sz="2000" dirty="0">
                <a:latin typeface="Segoe UI"/>
                <a:cs typeface="Segoe UI"/>
              </a:rPr>
              <a:t>be</a:t>
            </a:r>
            <a:r>
              <a:rPr sz="2000" spc="50" dirty="0">
                <a:latin typeface="Segoe UI"/>
                <a:cs typeface="Segoe UI"/>
              </a:rPr>
              <a:t> </a:t>
            </a:r>
            <a:r>
              <a:rPr sz="2000" dirty="0">
                <a:latin typeface="Segoe UI"/>
                <a:cs typeface="Segoe UI"/>
              </a:rPr>
              <a:t>small</a:t>
            </a:r>
            <a:endParaRPr sz="2000">
              <a:latin typeface="Segoe UI"/>
              <a:cs typeface="Segoe U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69787" y="4415057"/>
            <a:ext cx="3251971" cy="8471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74672" y="483234"/>
            <a:ext cx="599503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Norm-based</a:t>
            </a:r>
            <a:r>
              <a:rPr spc="-40" dirty="0"/>
              <a:t> </a:t>
            </a:r>
            <a:r>
              <a:rPr spc="-5" dirty="0"/>
              <a:t>Regularizers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23240" y="1614881"/>
            <a:ext cx="6924040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68300" indent="-342900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67665" algn="l"/>
                <a:tab pos="368300" algn="l"/>
                <a:tab pos="815975" algn="l"/>
              </a:tabLst>
            </a:pPr>
            <a:r>
              <a:rPr sz="3200" spc="80" dirty="0">
                <a:latin typeface="Cambria Math"/>
                <a:cs typeface="Cambria Math"/>
              </a:rPr>
              <a:t>𝑙</a:t>
            </a:r>
            <a:r>
              <a:rPr sz="3525" spc="120" baseline="-15366" dirty="0">
                <a:latin typeface="Cambria Math"/>
                <a:cs typeface="Cambria Math"/>
              </a:rPr>
              <a:t>𝑝	</a:t>
            </a:r>
            <a:r>
              <a:rPr sz="3200" spc="-5" dirty="0">
                <a:latin typeface="Segoe UI"/>
                <a:cs typeface="Segoe UI"/>
              </a:rPr>
              <a:t>norms </a:t>
            </a:r>
            <a:r>
              <a:rPr sz="3200" dirty="0">
                <a:latin typeface="Segoe UI"/>
                <a:cs typeface="Segoe UI"/>
              </a:rPr>
              <a:t>can be used as</a:t>
            </a:r>
            <a:r>
              <a:rPr sz="3200" spc="-60" dirty="0">
                <a:latin typeface="Segoe UI"/>
                <a:cs typeface="Segoe UI"/>
              </a:rPr>
              <a:t> </a:t>
            </a:r>
            <a:r>
              <a:rPr sz="3200" dirty="0">
                <a:latin typeface="Segoe UI"/>
                <a:cs typeface="Segoe UI"/>
              </a:rPr>
              <a:t>regularizers</a:t>
            </a:r>
            <a:endParaRPr sz="32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412492" y="2133612"/>
            <a:ext cx="3844290" cy="1614170"/>
            <a:chOff x="2412492" y="2133612"/>
            <a:chExt cx="3844290" cy="161417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04157" y="2716914"/>
              <a:ext cx="3752098" cy="103057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12492" y="2133612"/>
              <a:ext cx="3159750" cy="545579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83358" y="4171207"/>
            <a:ext cx="6709728" cy="1979656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240588" y="5854395"/>
            <a:ext cx="1155700" cy="757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Segoe UI"/>
                <a:cs typeface="Segoe UI"/>
              </a:rPr>
              <a:t>Contour  </a:t>
            </a:r>
            <a:r>
              <a:rPr sz="2400" spc="-5" dirty="0">
                <a:latin typeface="Segoe UI"/>
                <a:cs typeface="Segoe UI"/>
              </a:rPr>
              <a:t>plots</a:t>
            </a:r>
            <a:r>
              <a:rPr sz="2400" spc="-70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for</a:t>
            </a:r>
            <a:endParaRPr sz="2400">
              <a:latin typeface="Segoe UI"/>
              <a:cs typeface="Segoe U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069719" y="6219850"/>
            <a:ext cx="74612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Segoe UI"/>
                <a:cs typeface="Segoe UI"/>
              </a:rPr>
              <a:t>p =</a:t>
            </a:r>
            <a:r>
              <a:rPr sz="2400" spc="-85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2</a:t>
            </a:r>
            <a:endParaRPr sz="2400">
              <a:latin typeface="Segoe UI"/>
              <a:cs typeface="Segoe U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403216" y="6219850"/>
            <a:ext cx="74612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Segoe UI"/>
                <a:cs typeface="Segoe UI"/>
              </a:rPr>
              <a:t>p =</a:t>
            </a:r>
            <a:r>
              <a:rPr sz="2400" spc="-85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1</a:t>
            </a:r>
            <a:endParaRPr sz="2400">
              <a:latin typeface="Segoe UI"/>
              <a:cs typeface="Segoe U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642354" y="6219850"/>
            <a:ext cx="74612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Segoe UI"/>
                <a:cs typeface="Segoe UI"/>
              </a:rPr>
              <a:t>p &lt;</a:t>
            </a:r>
            <a:r>
              <a:rPr sz="2400" spc="-85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1</a:t>
            </a:r>
            <a:endParaRPr sz="24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74672" y="483234"/>
            <a:ext cx="599503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Norm-based</a:t>
            </a:r>
            <a:r>
              <a:rPr spc="-40" dirty="0"/>
              <a:t> </a:t>
            </a:r>
            <a:r>
              <a:rPr spc="-5" dirty="0"/>
              <a:t>Regularizers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85140" y="1492275"/>
            <a:ext cx="7950834" cy="4398010"/>
          </a:xfrm>
          <a:prstGeom prst="rect">
            <a:avLst/>
          </a:prstGeom>
        </p:spPr>
        <p:txBody>
          <a:bodyPr vert="horz" wrap="square" lIns="0" tIns="137795" rIns="0" bIns="0" rtlCol="0">
            <a:spAutoFit/>
          </a:bodyPr>
          <a:lstStyle/>
          <a:p>
            <a:pPr marL="406400" indent="-342900">
              <a:lnSpc>
                <a:spcPct val="100000"/>
              </a:lnSpc>
              <a:spcBef>
                <a:spcPts val="1085"/>
              </a:spcBef>
              <a:buFont typeface="Arial"/>
              <a:buChar char="•"/>
              <a:tabLst>
                <a:tab pos="405765" algn="l"/>
                <a:tab pos="406400" algn="l"/>
              </a:tabLst>
            </a:pPr>
            <a:r>
              <a:rPr sz="2800" spc="70" dirty="0">
                <a:latin typeface="Cambria Math"/>
                <a:cs typeface="Cambria Math"/>
              </a:rPr>
              <a:t>𝑙</a:t>
            </a:r>
            <a:r>
              <a:rPr sz="3075" spc="104" baseline="-16260" dirty="0">
                <a:latin typeface="Cambria Math"/>
                <a:cs typeface="Cambria Math"/>
              </a:rPr>
              <a:t>𝑝 </a:t>
            </a:r>
            <a:r>
              <a:rPr sz="2800" spc="-5" dirty="0">
                <a:latin typeface="Segoe UI"/>
                <a:cs typeface="Segoe UI"/>
              </a:rPr>
              <a:t>norms can be used as</a:t>
            </a:r>
            <a:r>
              <a:rPr sz="2800" spc="-145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regularizers</a:t>
            </a:r>
            <a:endParaRPr sz="2800">
              <a:latin typeface="Segoe UI"/>
              <a:cs typeface="Segoe UI"/>
            </a:endParaRPr>
          </a:p>
          <a:p>
            <a:pPr marL="406400" indent="-342900">
              <a:lnSpc>
                <a:spcPct val="100000"/>
              </a:lnSpc>
              <a:spcBef>
                <a:spcPts val="990"/>
              </a:spcBef>
              <a:buFont typeface="Arial"/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Segoe UI"/>
                <a:cs typeface="Segoe UI"/>
              </a:rPr>
              <a:t>Smaller p </a:t>
            </a:r>
            <a:r>
              <a:rPr sz="2800" dirty="0">
                <a:latin typeface="Segoe UI"/>
                <a:cs typeface="Segoe UI"/>
              </a:rPr>
              <a:t>favors </a:t>
            </a:r>
            <a:r>
              <a:rPr sz="2800" spc="-10" dirty="0">
                <a:latin typeface="Segoe UI"/>
                <a:cs typeface="Segoe UI"/>
              </a:rPr>
              <a:t>sparse </a:t>
            </a:r>
            <a:r>
              <a:rPr sz="2800" spc="-5" dirty="0">
                <a:latin typeface="Segoe UI"/>
                <a:cs typeface="Segoe UI"/>
              </a:rPr>
              <a:t>vectors</a:t>
            </a:r>
            <a:r>
              <a:rPr sz="2800" spc="-65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w</a:t>
            </a:r>
            <a:endParaRPr sz="2800">
              <a:latin typeface="Segoe UI"/>
              <a:cs typeface="Segoe UI"/>
            </a:endParaRPr>
          </a:p>
          <a:p>
            <a:pPr marL="520700">
              <a:lnSpc>
                <a:spcPct val="100000"/>
              </a:lnSpc>
              <a:spcBef>
                <a:spcPts val="580"/>
              </a:spcBef>
            </a:pPr>
            <a:r>
              <a:rPr sz="2400" dirty="0">
                <a:latin typeface="Arial"/>
                <a:cs typeface="Arial"/>
              </a:rPr>
              <a:t>– </a:t>
            </a:r>
            <a:r>
              <a:rPr sz="2400" spc="-5" dirty="0">
                <a:latin typeface="Segoe UI"/>
                <a:cs typeface="Segoe UI"/>
              </a:rPr>
              <a:t>i.e. most entries </a:t>
            </a:r>
            <a:r>
              <a:rPr sz="2400" spc="-30" dirty="0">
                <a:latin typeface="Segoe UI"/>
                <a:cs typeface="Segoe UI"/>
              </a:rPr>
              <a:t>of </a:t>
            </a:r>
            <a:r>
              <a:rPr sz="2400" dirty="0">
                <a:latin typeface="Segoe UI"/>
                <a:cs typeface="Segoe UI"/>
              </a:rPr>
              <a:t>w </a:t>
            </a:r>
            <a:r>
              <a:rPr sz="2400" spc="-10" dirty="0">
                <a:latin typeface="Segoe UI"/>
                <a:cs typeface="Segoe UI"/>
              </a:rPr>
              <a:t>are </a:t>
            </a:r>
            <a:r>
              <a:rPr sz="2400" dirty="0">
                <a:latin typeface="Segoe UI"/>
                <a:cs typeface="Segoe UI"/>
              </a:rPr>
              <a:t>close or equal </a:t>
            </a:r>
            <a:r>
              <a:rPr sz="2400" spc="-15" dirty="0">
                <a:latin typeface="Segoe UI"/>
                <a:cs typeface="Segoe UI"/>
              </a:rPr>
              <a:t>to</a:t>
            </a:r>
            <a:r>
              <a:rPr sz="2400" spc="-330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0</a:t>
            </a:r>
            <a:endParaRPr sz="240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3050">
              <a:latin typeface="Segoe UI"/>
              <a:cs typeface="Segoe UI"/>
            </a:endParaRPr>
          </a:p>
          <a:p>
            <a:pPr marL="406400" indent="-342900">
              <a:lnSpc>
                <a:spcPct val="100000"/>
              </a:lnSpc>
              <a:buFont typeface="Arial"/>
              <a:buChar char="•"/>
              <a:tabLst>
                <a:tab pos="405765" algn="l"/>
                <a:tab pos="406400" algn="l"/>
              </a:tabLst>
            </a:pPr>
            <a:r>
              <a:rPr sz="2800" spc="20" dirty="0">
                <a:latin typeface="Cambria Math"/>
                <a:cs typeface="Cambria Math"/>
              </a:rPr>
              <a:t>𝑙</a:t>
            </a:r>
            <a:r>
              <a:rPr sz="3075" spc="30" baseline="-16260" dirty="0">
                <a:latin typeface="Cambria Math"/>
                <a:cs typeface="Cambria Math"/>
              </a:rPr>
              <a:t>2 </a:t>
            </a:r>
            <a:r>
              <a:rPr sz="2800" spc="-5" dirty="0">
                <a:latin typeface="Segoe UI"/>
                <a:cs typeface="Segoe UI"/>
              </a:rPr>
              <a:t>norm: convex, smooth, easy to</a:t>
            </a:r>
            <a:r>
              <a:rPr sz="2800" spc="-175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optimize</a:t>
            </a:r>
            <a:endParaRPr sz="2800">
              <a:latin typeface="Segoe UI"/>
              <a:cs typeface="Segoe UI"/>
            </a:endParaRPr>
          </a:p>
          <a:p>
            <a:pPr marL="406400" marR="216535" indent="-342900">
              <a:lnSpc>
                <a:spcPct val="100000"/>
              </a:lnSpc>
              <a:spcBef>
                <a:spcPts val="695"/>
              </a:spcBef>
              <a:buFont typeface="Arial"/>
              <a:buChar char="•"/>
              <a:tabLst>
                <a:tab pos="405765" algn="l"/>
                <a:tab pos="406400" algn="l"/>
                <a:tab pos="1884680" algn="l"/>
              </a:tabLst>
            </a:pPr>
            <a:r>
              <a:rPr sz="2800" spc="-10" dirty="0">
                <a:latin typeface="Cambria Math"/>
                <a:cs typeface="Cambria Math"/>
              </a:rPr>
              <a:t>𝑙</a:t>
            </a:r>
            <a:r>
              <a:rPr sz="3075" spc="-15" baseline="-16260" dirty="0">
                <a:latin typeface="Cambria Math"/>
                <a:cs typeface="Cambria Math"/>
              </a:rPr>
              <a:t>1 </a:t>
            </a:r>
            <a:r>
              <a:rPr sz="3075" baseline="-16260" dirty="0">
                <a:latin typeface="Cambria Math"/>
                <a:cs typeface="Cambria Math"/>
              </a:rPr>
              <a:t> </a:t>
            </a:r>
            <a:r>
              <a:rPr sz="2800" spc="-5" dirty="0">
                <a:latin typeface="Segoe UI"/>
                <a:cs typeface="Segoe UI"/>
              </a:rPr>
              <a:t>norm:	encourages </a:t>
            </a:r>
            <a:r>
              <a:rPr sz="2800" spc="-10" dirty="0">
                <a:latin typeface="Segoe UI"/>
                <a:cs typeface="Segoe UI"/>
              </a:rPr>
              <a:t>sparse </a:t>
            </a:r>
            <a:r>
              <a:rPr sz="2800" spc="-65" dirty="0">
                <a:latin typeface="Segoe UI"/>
                <a:cs typeface="Segoe UI"/>
              </a:rPr>
              <a:t>w, </a:t>
            </a:r>
            <a:r>
              <a:rPr sz="2800" spc="-5" dirty="0">
                <a:latin typeface="Segoe UI"/>
                <a:cs typeface="Segoe UI"/>
              </a:rPr>
              <a:t>convex, but not  smooth at axis</a:t>
            </a:r>
            <a:r>
              <a:rPr sz="2800" spc="-15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points</a:t>
            </a:r>
            <a:endParaRPr sz="2800">
              <a:latin typeface="Segoe UI"/>
              <a:cs typeface="Segoe UI"/>
            </a:endParaRPr>
          </a:p>
          <a:p>
            <a:pPr marL="406400" marR="68580" indent="-342900">
              <a:lnSpc>
                <a:spcPct val="100000"/>
              </a:lnSpc>
              <a:spcBef>
                <a:spcPts val="670"/>
              </a:spcBef>
              <a:buFont typeface="Arial"/>
              <a:buChar char="•"/>
              <a:tabLst>
                <a:tab pos="405765" algn="l"/>
                <a:tab pos="406400" algn="l"/>
                <a:tab pos="1523365" algn="l"/>
              </a:tabLst>
            </a:pPr>
            <a:r>
              <a:rPr sz="2800" spc="-5" dirty="0">
                <a:latin typeface="Cambria Math"/>
                <a:cs typeface="Cambria Math"/>
              </a:rPr>
              <a:t>𝑝</a:t>
            </a:r>
            <a:r>
              <a:rPr sz="2800" spc="200" dirty="0">
                <a:latin typeface="Cambria Math"/>
                <a:cs typeface="Cambria Math"/>
              </a:rPr>
              <a:t> </a:t>
            </a:r>
            <a:r>
              <a:rPr sz="2800" spc="-5" dirty="0">
                <a:latin typeface="Cambria Math"/>
                <a:cs typeface="Cambria Math"/>
              </a:rPr>
              <a:t>&lt;</a:t>
            </a:r>
            <a:r>
              <a:rPr sz="2800" spc="170" dirty="0">
                <a:latin typeface="Cambria Math"/>
                <a:cs typeface="Cambria Math"/>
              </a:rPr>
              <a:t> </a:t>
            </a:r>
            <a:r>
              <a:rPr sz="2800" spc="-5" dirty="0">
                <a:latin typeface="Cambria Math"/>
                <a:cs typeface="Cambria Math"/>
              </a:rPr>
              <a:t>1	: </a:t>
            </a:r>
            <a:r>
              <a:rPr sz="2800" spc="-5" dirty="0">
                <a:latin typeface="Segoe UI"/>
                <a:cs typeface="Segoe UI"/>
              </a:rPr>
              <a:t>norm becomes non </a:t>
            </a:r>
            <a:r>
              <a:rPr sz="2800" dirty="0">
                <a:latin typeface="Segoe UI"/>
                <a:cs typeface="Segoe UI"/>
              </a:rPr>
              <a:t>convex </a:t>
            </a:r>
            <a:r>
              <a:rPr sz="2800" spc="-5" dirty="0">
                <a:latin typeface="Segoe UI"/>
                <a:cs typeface="Segoe UI"/>
              </a:rPr>
              <a:t>and </a:t>
            </a:r>
            <a:r>
              <a:rPr sz="2800" spc="-10" dirty="0">
                <a:latin typeface="Segoe UI"/>
                <a:cs typeface="Segoe UI"/>
              </a:rPr>
              <a:t>hard </a:t>
            </a:r>
            <a:r>
              <a:rPr sz="2800" spc="-20" dirty="0">
                <a:latin typeface="Segoe UI"/>
                <a:cs typeface="Segoe UI"/>
              </a:rPr>
              <a:t>to  </a:t>
            </a:r>
            <a:r>
              <a:rPr sz="2800" spc="-5" dirty="0">
                <a:latin typeface="Segoe UI"/>
                <a:cs typeface="Segoe UI"/>
              </a:rPr>
              <a:t>optimize</a:t>
            </a:r>
            <a:endParaRPr sz="28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81990" y="358216"/>
            <a:ext cx="822769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What is the </a:t>
            </a:r>
            <a:r>
              <a:rPr spc="-20" dirty="0"/>
              <a:t>perceptron</a:t>
            </a:r>
            <a:r>
              <a:rPr spc="-65" dirty="0"/>
              <a:t> </a:t>
            </a:r>
            <a:r>
              <a:rPr spc="-5" dirty="0"/>
              <a:t>optimizing?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5721807"/>
            <a:ext cx="68916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5" dirty="0">
                <a:latin typeface="Segoe UI"/>
                <a:cs typeface="Segoe UI"/>
              </a:rPr>
              <a:t>Loss function is a </a:t>
            </a:r>
            <a:r>
              <a:rPr sz="2800" spc="-10" dirty="0">
                <a:latin typeface="Segoe UI"/>
                <a:cs typeface="Segoe UI"/>
              </a:rPr>
              <a:t>variant </a:t>
            </a:r>
            <a:r>
              <a:rPr sz="2800" spc="-30" dirty="0">
                <a:latin typeface="Segoe UI"/>
                <a:cs typeface="Segoe UI"/>
              </a:rPr>
              <a:t>of </a:t>
            </a:r>
            <a:r>
              <a:rPr sz="2800" spc="-5" dirty="0">
                <a:latin typeface="Segoe UI"/>
                <a:cs typeface="Segoe UI"/>
              </a:rPr>
              <a:t>the hinge</a:t>
            </a:r>
            <a:r>
              <a:rPr sz="2800" spc="40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94300" y="6292198"/>
            <a:ext cx="3443376" cy="37074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4654" y="1423453"/>
            <a:ext cx="7347314" cy="379621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5080" indent="-32384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Casting Linear Classification  as an Optimization</a:t>
            </a:r>
            <a:r>
              <a:rPr spc="-100" dirty="0"/>
              <a:t> </a:t>
            </a:r>
            <a:r>
              <a:rPr spc="-15" dirty="0"/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450594" y="4455410"/>
            <a:ext cx="6862445" cy="90296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914400">
              <a:lnSpc>
                <a:spcPct val="120000"/>
              </a:lnSpc>
              <a:spcBef>
                <a:spcPts val="95"/>
              </a:spcBef>
            </a:pPr>
            <a:r>
              <a:rPr sz="2400" spc="-10" dirty="0">
                <a:latin typeface="Segoe UI"/>
                <a:cs typeface="Segoe UI"/>
              </a:rPr>
              <a:t>Indicator </a:t>
            </a:r>
            <a:r>
              <a:rPr sz="2400" spc="-5" dirty="0">
                <a:latin typeface="Segoe UI"/>
                <a:cs typeface="Segoe UI"/>
              </a:rPr>
              <a:t>function: </a:t>
            </a:r>
            <a:r>
              <a:rPr sz="2400" dirty="0">
                <a:latin typeface="Segoe UI"/>
                <a:cs typeface="Segoe UI"/>
              </a:rPr>
              <a:t>1 </a:t>
            </a:r>
            <a:r>
              <a:rPr sz="2400" spc="-5" dirty="0">
                <a:latin typeface="Segoe UI"/>
                <a:cs typeface="Segoe UI"/>
              </a:rPr>
              <a:t>if </a:t>
            </a:r>
            <a:r>
              <a:rPr sz="2400" dirty="0">
                <a:latin typeface="Segoe UI"/>
                <a:cs typeface="Segoe UI"/>
              </a:rPr>
              <a:t>(.) </a:t>
            </a:r>
            <a:r>
              <a:rPr sz="2400" spc="-5" dirty="0">
                <a:latin typeface="Segoe UI"/>
                <a:cs typeface="Segoe UI"/>
              </a:rPr>
              <a:t>is </a:t>
            </a:r>
            <a:r>
              <a:rPr sz="2400" dirty="0">
                <a:latin typeface="Segoe UI"/>
                <a:cs typeface="Segoe UI"/>
              </a:rPr>
              <a:t>true, 0 </a:t>
            </a:r>
            <a:r>
              <a:rPr sz="2400" spc="10" dirty="0">
                <a:latin typeface="Segoe UI"/>
                <a:cs typeface="Segoe UI"/>
              </a:rPr>
              <a:t>otherwise  </a:t>
            </a:r>
            <a:r>
              <a:rPr sz="2400" dirty="0">
                <a:latin typeface="Segoe UI"/>
                <a:cs typeface="Segoe UI"/>
              </a:rPr>
              <a:t>The </a:t>
            </a:r>
            <a:r>
              <a:rPr sz="2400" spc="-5" dirty="0">
                <a:latin typeface="Segoe UI"/>
                <a:cs typeface="Segoe UI"/>
              </a:rPr>
              <a:t>loss function above is called </a:t>
            </a:r>
            <a:r>
              <a:rPr sz="2400" dirty="0">
                <a:latin typeface="Segoe UI"/>
                <a:cs typeface="Segoe UI"/>
              </a:rPr>
              <a:t>the 0-1</a:t>
            </a:r>
            <a:r>
              <a:rPr sz="2400" spc="100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loss</a:t>
            </a:r>
            <a:endParaRPr sz="24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5062" y="1638236"/>
            <a:ext cx="7571105" cy="2637155"/>
            <a:chOff x="635062" y="1638236"/>
            <a:chExt cx="7571105" cy="263715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35062" y="3326983"/>
              <a:ext cx="7570619" cy="94841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2272030" y="1327404"/>
                  </a:moveTo>
                  <a:lnTo>
                    <a:pt x="1590420" y="1327404"/>
                  </a:lnTo>
                  <a:lnTo>
                    <a:pt x="1938401" y="1687068"/>
                  </a:lnTo>
                  <a:lnTo>
                    <a:pt x="2272030" y="1327404"/>
                  </a:lnTo>
                  <a:close/>
                </a:path>
                <a:path w="2726690" h="1687195">
                  <a:moveTo>
                    <a:pt x="2505202" y="0"/>
                  </a:moveTo>
                  <a:lnTo>
                    <a:pt x="221234" y="0"/>
                  </a:lnTo>
                  <a:lnTo>
                    <a:pt x="176650" y="4495"/>
                  </a:lnTo>
                  <a:lnTo>
                    <a:pt x="135124" y="17387"/>
                  </a:lnTo>
                  <a:lnTo>
                    <a:pt x="97544" y="37785"/>
                  </a:lnTo>
                  <a:lnTo>
                    <a:pt x="64801" y="64801"/>
                  </a:lnTo>
                  <a:lnTo>
                    <a:pt x="37785" y="97544"/>
                  </a:lnTo>
                  <a:lnTo>
                    <a:pt x="17387" y="135124"/>
                  </a:lnTo>
                  <a:lnTo>
                    <a:pt x="4495" y="176650"/>
                  </a:lnTo>
                  <a:lnTo>
                    <a:pt x="0" y="221234"/>
                  </a:lnTo>
                  <a:lnTo>
                    <a:pt x="0" y="1106170"/>
                  </a:lnTo>
                  <a:lnTo>
                    <a:pt x="4495" y="1150753"/>
                  </a:lnTo>
                  <a:lnTo>
                    <a:pt x="17387" y="1192279"/>
                  </a:lnTo>
                  <a:lnTo>
                    <a:pt x="37785" y="1229859"/>
                  </a:lnTo>
                  <a:lnTo>
                    <a:pt x="64801" y="1262602"/>
                  </a:lnTo>
                  <a:lnTo>
                    <a:pt x="97544" y="1289618"/>
                  </a:lnTo>
                  <a:lnTo>
                    <a:pt x="135124" y="1310016"/>
                  </a:lnTo>
                  <a:lnTo>
                    <a:pt x="176650" y="1322908"/>
                  </a:lnTo>
                  <a:lnTo>
                    <a:pt x="221234" y="1327404"/>
                  </a:lnTo>
                  <a:lnTo>
                    <a:pt x="2505202" y="1327404"/>
                  </a:lnTo>
                  <a:lnTo>
                    <a:pt x="2549785" y="1322908"/>
                  </a:lnTo>
                  <a:lnTo>
                    <a:pt x="2591311" y="1310016"/>
                  </a:lnTo>
                  <a:lnTo>
                    <a:pt x="2628891" y="1289618"/>
                  </a:lnTo>
                  <a:lnTo>
                    <a:pt x="2661634" y="1262602"/>
                  </a:lnTo>
                  <a:lnTo>
                    <a:pt x="2688650" y="1229859"/>
                  </a:lnTo>
                  <a:lnTo>
                    <a:pt x="2709048" y="1192279"/>
                  </a:lnTo>
                  <a:lnTo>
                    <a:pt x="2721940" y="1150753"/>
                  </a:lnTo>
                  <a:lnTo>
                    <a:pt x="2726436" y="1106170"/>
                  </a:lnTo>
                  <a:lnTo>
                    <a:pt x="2726436" y="221234"/>
                  </a:lnTo>
                  <a:lnTo>
                    <a:pt x="2721940" y="176650"/>
                  </a:lnTo>
                  <a:lnTo>
                    <a:pt x="2709048" y="135124"/>
                  </a:lnTo>
                  <a:lnTo>
                    <a:pt x="2688650" y="97544"/>
                  </a:lnTo>
                  <a:lnTo>
                    <a:pt x="2661634" y="64801"/>
                  </a:lnTo>
                  <a:lnTo>
                    <a:pt x="2628891" y="37785"/>
                  </a:lnTo>
                  <a:lnTo>
                    <a:pt x="2591311" y="17387"/>
                  </a:lnTo>
                  <a:lnTo>
                    <a:pt x="2549785" y="4495"/>
                  </a:lnTo>
                  <a:lnTo>
                    <a:pt x="25052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0" y="221234"/>
                  </a:moveTo>
                  <a:lnTo>
                    <a:pt x="4495" y="176650"/>
                  </a:lnTo>
                  <a:lnTo>
                    <a:pt x="17387" y="135124"/>
                  </a:lnTo>
                  <a:lnTo>
                    <a:pt x="37785" y="97544"/>
                  </a:lnTo>
                  <a:lnTo>
                    <a:pt x="64801" y="64801"/>
                  </a:lnTo>
                  <a:lnTo>
                    <a:pt x="97544" y="37785"/>
                  </a:lnTo>
                  <a:lnTo>
                    <a:pt x="135124" y="17387"/>
                  </a:lnTo>
                  <a:lnTo>
                    <a:pt x="176650" y="4495"/>
                  </a:lnTo>
                  <a:lnTo>
                    <a:pt x="221234" y="0"/>
                  </a:lnTo>
                  <a:lnTo>
                    <a:pt x="1590420" y="0"/>
                  </a:lnTo>
                  <a:lnTo>
                    <a:pt x="2272030" y="0"/>
                  </a:lnTo>
                  <a:lnTo>
                    <a:pt x="2505202" y="0"/>
                  </a:lnTo>
                  <a:lnTo>
                    <a:pt x="2549785" y="4495"/>
                  </a:lnTo>
                  <a:lnTo>
                    <a:pt x="2591311" y="17387"/>
                  </a:lnTo>
                  <a:lnTo>
                    <a:pt x="2628891" y="37785"/>
                  </a:lnTo>
                  <a:lnTo>
                    <a:pt x="2661634" y="64801"/>
                  </a:lnTo>
                  <a:lnTo>
                    <a:pt x="2688650" y="97544"/>
                  </a:lnTo>
                  <a:lnTo>
                    <a:pt x="2709048" y="135124"/>
                  </a:lnTo>
                  <a:lnTo>
                    <a:pt x="2721940" y="176650"/>
                  </a:lnTo>
                  <a:lnTo>
                    <a:pt x="2726436" y="221234"/>
                  </a:lnTo>
                  <a:lnTo>
                    <a:pt x="2726436" y="774319"/>
                  </a:lnTo>
                  <a:lnTo>
                    <a:pt x="2726436" y="1106170"/>
                  </a:lnTo>
                  <a:lnTo>
                    <a:pt x="2721940" y="1150753"/>
                  </a:lnTo>
                  <a:lnTo>
                    <a:pt x="2709048" y="1192279"/>
                  </a:lnTo>
                  <a:lnTo>
                    <a:pt x="2688650" y="1229859"/>
                  </a:lnTo>
                  <a:lnTo>
                    <a:pt x="2661634" y="1262602"/>
                  </a:lnTo>
                  <a:lnTo>
                    <a:pt x="2628891" y="1289618"/>
                  </a:lnTo>
                  <a:lnTo>
                    <a:pt x="2591311" y="1310016"/>
                  </a:lnTo>
                  <a:lnTo>
                    <a:pt x="2549785" y="1322908"/>
                  </a:lnTo>
                  <a:lnTo>
                    <a:pt x="2505202" y="1327404"/>
                  </a:lnTo>
                  <a:lnTo>
                    <a:pt x="2272030" y="1327404"/>
                  </a:lnTo>
                  <a:lnTo>
                    <a:pt x="1938401" y="1687068"/>
                  </a:lnTo>
                  <a:lnTo>
                    <a:pt x="1590420" y="1327404"/>
                  </a:lnTo>
                  <a:lnTo>
                    <a:pt x="221234" y="1327404"/>
                  </a:lnTo>
                  <a:lnTo>
                    <a:pt x="176650" y="1322908"/>
                  </a:lnTo>
                  <a:lnTo>
                    <a:pt x="135124" y="1310016"/>
                  </a:lnTo>
                  <a:lnTo>
                    <a:pt x="97544" y="1289618"/>
                  </a:lnTo>
                  <a:lnTo>
                    <a:pt x="64801" y="1262602"/>
                  </a:lnTo>
                  <a:lnTo>
                    <a:pt x="37785" y="1229859"/>
                  </a:lnTo>
                  <a:lnTo>
                    <a:pt x="17387" y="1192279"/>
                  </a:lnTo>
                  <a:lnTo>
                    <a:pt x="4495" y="1150753"/>
                  </a:lnTo>
                  <a:lnTo>
                    <a:pt x="0" y="1106170"/>
                  </a:lnTo>
                  <a:lnTo>
                    <a:pt x="0" y="774319"/>
                  </a:lnTo>
                  <a:lnTo>
                    <a:pt x="0" y="221234"/>
                  </a:lnTo>
                  <a:close/>
                </a:path>
              </a:pathLst>
            </a:custGeom>
            <a:ln w="25908">
              <a:solidFill>
                <a:srgbClr val="1B57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28960" y="4522184"/>
            <a:ext cx="525456" cy="388261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3049016" y="1685289"/>
            <a:ext cx="231521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-1270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Loss function  </a:t>
            </a:r>
            <a:r>
              <a:rPr sz="2000" spc="-5" dirty="0">
                <a:latin typeface="Segoe UI"/>
                <a:cs typeface="Segoe UI"/>
              </a:rPr>
              <a:t>measures </a:t>
            </a:r>
            <a:r>
              <a:rPr sz="2000" dirty="0">
                <a:latin typeface="Segoe UI"/>
                <a:cs typeface="Segoe UI"/>
              </a:rPr>
              <a:t>how </a:t>
            </a:r>
            <a:r>
              <a:rPr sz="2000" spc="-5" dirty="0">
                <a:latin typeface="Segoe UI"/>
                <a:cs typeface="Segoe UI"/>
              </a:rPr>
              <a:t>well  classifier fits </a:t>
            </a:r>
            <a:r>
              <a:rPr sz="2000" dirty="0">
                <a:latin typeface="Segoe UI"/>
                <a:cs typeface="Segoe UI"/>
              </a:rPr>
              <a:t>training  data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6216332" y="1606232"/>
            <a:ext cx="2330450" cy="1771650"/>
            <a:chOff x="6216332" y="1606232"/>
            <a:chExt cx="2330450" cy="1771650"/>
          </a:xfrm>
        </p:grpSpPr>
        <p:sp>
          <p:nvSpPr>
            <p:cNvPr id="11" name="object 11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1920240" y="1479803"/>
                  </a:moveTo>
                  <a:lnTo>
                    <a:pt x="1344168" y="1479803"/>
                  </a:lnTo>
                  <a:lnTo>
                    <a:pt x="1507744" y="1745361"/>
                  </a:lnTo>
                  <a:lnTo>
                    <a:pt x="1920240" y="1479803"/>
                  </a:lnTo>
                  <a:close/>
                </a:path>
                <a:path w="2304415" h="1745614">
                  <a:moveTo>
                    <a:pt x="2057653" y="0"/>
                  </a:moveTo>
                  <a:lnTo>
                    <a:pt x="246634" y="0"/>
                  </a:lnTo>
                  <a:lnTo>
                    <a:pt x="196911" y="5008"/>
                  </a:lnTo>
                  <a:lnTo>
                    <a:pt x="150608" y="19373"/>
                  </a:lnTo>
                  <a:lnTo>
                    <a:pt x="108712" y="42105"/>
                  </a:lnTo>
                  <a:lnTo>
                    <a:pt x="72215" y="72215"/>
                  </a:lnTo>
                  <a:lnTo>
                    <a:pt x="42105" y="108712"/>
                  </a:lnTo>
                  <a:lnTo>
                    <a:pt x="19373" y="150608"/>
                  </a:lnTo>
                  <a:lnTo>
                    <a:pt x="5008" y="196911"/>
                  </a:lnTo>
                  <a:lnTo>
                    <a:pt x="0" y="246634"/>
                  </a:lnTo>
                  <a:lnTo>
                    <a:pt x="0" y="1233170"/>
                  </a:lnTo>
                  <a:lnTo>
                    <a:pt x="5008" y="1282892"/>
                  </a:lnTo>
                  <a:lnTo>
                    <a:pt x="19373" y="1329195"/>
                  </a:lnTo>
                  <a:lnTo>
                    <a:pt x="42105" y="1371091"/>
                  </a:lnTo>
                  <a:lnTo>
                    <a:pt x="72215" y="1407588"/>
                  </a:lnTo>
                  <a:lnTo>
                    <a:pt x="108712" y="1437698"/>
                  </a:lnTo>
                  <a:lnTo>
                    <a:pt x="150608" y="1460430"/>
                  </a:lnTo>
                  <a:lnTo>
                    <a:pt x="196911" y="1474795"/>
                  </a:lnTo>
                  <a:lnTo>
                    <a:pt x="246634" y="1479803"/>
                  </a:lnTo>
                  <a:lnTo>
                    <a:pt x="2057653" y="1479803"/>
                  </a:lnTo>
                  <a:lnTo>
                    <a:pt x="2107376" y="1474795"/>
                  </a:lnTo>
                  <a:lnTo>
                    <a:pt x="2153679" y="1460430"/>
                  </a:lnTo>
                  <a:lnTo>
                    <a:pt x="2195575" y="1437698"/>
                  </a:lnTo>
                  <a:lnTo>
                    <a:pt x="2232072" y="1407588"/>
                  </a:lnTo>
                  <a:lnTo>
                    <a:pt x="2262182" y="1371091"/>
                  </a:lnTo>
                  <a:lnTo>
                    <a:pt x="2284914" y="1329195"/>
                  </a:lnTo>
                  <a:lnTo>
                    <a:pt x="2299279" y="1282892"/>
                  </a:lnTo>
                  <a:lnTo>
                    <a:pt x="2304288" y="1233170"/>
                  </a:lnTo>
                  <a:lnTo>
                    <a:pt x="2304288" y="246634"/>
                  </a:lnTo>
                  <a:lnTo>
                    <a:pt x="2299279" y="196911"/>
                  </a:lnTo>
                  <a:lnTo>
                    <a:pt x="2284914" y="150608"/>
                  </a:lnTo>
                  <a:lnTo>
                    <a:pt x="2262182" y="108712"/>
                  </a:lnTo>
                  <a:lnTo>
                    <a:pt x="2232072" y="72215"/>
                  </a:lnTo>
                  <a:lnTo>
                    <a:pt x="2195575" y="42105"/>
                  </a:lnTo>
                  <a:lnTo>
                    <a:pt x="2153679" y="19373"/>
                  </a:lnTo>
                  <a:lnTo>
                    <a:pt x="2107376" y="5008"/>
                  </a:lnTo>
                  <a:lnTo>
                    <a:pt x="205765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0" y="246634"/>
                  </a:moveTo>
                  <a:lnTo>
                    <a:pt x="5008" y="196911"/>
                  </a:lnTo>
                  <a:lnTo>
                    <a:pt x="19373" y="150608"/>
                  </a:lnTo>
                  <a:lnTo>
                    <a:pt x="42105" y="108712"/>
                  </a:lnTo>
                  <a:lnTo>
                    <a:pt x="72215" y="72215"/>
                  </a:lnTo>
                  <a:lnTo>
                    <a:pt x="108712" y="42105"/>
                  </a:lnTo>
                  <a:lnTo>
                    <a:pt x="150608" y="19373"/>
                  </a:lnTo>
                  <a:lnTo>
                    <a:pt x="196911" y="5008"/>
                  </a:lnTo>
                  <a:lnTo>
                    <a:pt x="246634" y="0"/>
                  </a:lnTo>
                  <a:lnTo>
                    <a:pt x="1344168" y="0"/>
                  </a:lnTo>
                  <a:lnTo>
                    <a:pt x="1920240" y="0"/>
                  </a:lnTo>
                  <a:lnTo>
                    <a:pt x="2057653" y="0"/>
                  </a:lnTo>
                  <a:lnTo>
                    <a:pt x="2107376" y="5008"/>
                  </a:lnTo>
                  <a:lnTo>
                    <a:pt x="2153679" y="19373"/>
                  </a:lnTo>
                  <a:lnTo>
                    <a:pt x="2195575" y="42105"/>
                  </a:lnTo>
                  <a:lnTo>
                    <a:pt x="2232072" y="72215"/>
                  </a:lnTo>
                  <a:lnTo>
                    <a:pt x="2262182" y="108712"/>
                  </a:lnTo>
                  <a:lnTo>
                    <a:pt x="2284914" y="150608"/>
                  </a:lnTo>
                  <a:lnTo>
                    <a:pt x="2299279" y="196911"/>
                  </a:lnTo>
                  <a:lnTo>
                    <a:pt x="2304288" y="246634"/>
                  </a:lnTo>
                  <a:lnTo>
                    <a:pt x="2304288" y="863219"/>
                  </a:lnTo>
                  <a:lnTo>
                    <a:pt x="2304288" y="1233170"/>
                  </a:lnTo>
                  <a:lnTo>
                    <a:pt x="2299279" y="1282892"/>
                  </a:lnTo>
                  <a:lnTo>
                    <a:pt x="2284914" y="1329195"/>
                  </a:lnTo>
                  <a:lnTo>
                    <a:pt x="2262182" y="1371091"/>
                  </a:lnTo>
                  <a:lnTo>
                    <a:pt x="2232072" y="1407588"/>
                  </a:lnTo>
                  <a:lnTo>
                    <a:pt x="2195575" y="1437698"/>
                  </a:lnTo>
                  <a:lnTo>
                    <a:pt x="2153679" y="1460430"/>
                  </a:lnTo>
                  <a:lnTo>
                    <a:pt x="2107376" y="1474795"/>
                  </a:lnTo>
                  <a:lnTo>
                    <a:pt x="2057653" y="1479803"/>
                  </a:lnTo>
                  <a:lnTo>
                    <a:pt x="1920240" y="1479803"/>
                  </a:lnTo>
                  <a:lnTo>
                    <a:pt x="1507744" y="1745361"/>
                  </a:lnTo>
                  <a:lnTo>
                    <a:pt x="1344168" y="1479803"/>
                  </a:lnTo>
                  <a:lnTo>
                    <a:pt x="246634" y="1479803"/>
                  </a:lnTo>
                  <a:lnTo>
                    <a:pt x="196911" y="1474795"/>
                  </a:lnTo>
                  <a:lnTo>
                    <a:pt x="150608" y="1460430"/>
                  </a:lnTo>
                  <a:lnTo>
                    <a:pt x="108712" y="1437698"/>
                  </a:lnTo>
                  <a:lnTo>
                    <a:pt x="72215" y="1407588"/>
                  </a:lnTo>
                  <a:lnTo>
                    <a:pt x="42105" y="1371091"/>
                  </a:lnTo>
                  <a:lnTo>
                    <a:pt x="19373" y="1329195"/>
                  </a:lnTo>
                  <a:lnTo>
                    <a:pt x="5008" y="1282892"/>
                  </a:lnTo>
                  <a:lnTo>
                    <a:pt x="0" y="1233170"/>
                  </a:lnTo>
                  <a:lnTo>
                    <a:pt x="0" y="863219"/>
                  </a:lnTo>
                  <a:lnTo>
                    <a:pt x="0" y="246634"/>
                  </a:lnTo>
                  <a:close/>
                </a:path>
              </a:pathLst>
            </a:custGeom>
            <a:ln w="25907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436867" y="1728977"/>
            <a:ext cx="188595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indent="3175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Regularizer  </a:t>
            </a:r>
            <a:r>
              <a:rPr sz="2000" spc="-5" dirty="0">
                <a:latin typeface="Segoe UI"/>
                <a:cs typeface="Segoe UI"/>
              </a:rPr>
              <a:t>prefers solutions  </a:t>
            </a:r>
            <a:r>
              <a:rPr sz="2000" dirty="0">
                <a:latin typeface="Segoe UI"/>
                <a:cs typeface="Segoe UI"/>
              </a:rPr>
              <a:t>that </a:t>
            </a:r>
            <a:r>
              <a:rPr sz="2000" spc="-5" dirty="0">
                <a:latin typeface="Segoe UI"/>
                <a:cs typeface="Segoe UI"/>
              </a:rPr>
              <a:t>generalize  well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45008" y="1732788"/>
            <a:ext cx="1897380" cy="1713230"/>
            <a:chOff x="445008" y="1732788"/>
            <a:chExt cx="1897380" cy="1713230"/>
          </a:xfrm>
        </p:grpSpPr>
        <p:sp>
          <p:nvSpPr>
            <p:cNvPr id="15" name="object 15"/>
            <p:cNvSpPr/>
            <p:nvPr/>
          </p:nvSpPr>
          <p:spPr>
            <a:xfrm>
              <a:off x="457962" y="1745742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1559560" y="1283208"/>
                  </a:moveTo>
                  <a:lnTo>
                    <a:pt x="1091692" y="1283208"/>
                  </a:lnTo>
                  <a:lnTo>
                    <a:pt x="1090168" y="1687322"/>
                  </a:lnTo>
                  <a:lnTo>
                    <a:pt x="1559560" y="1283208"/>
                  </a:lnTo>
                  <a:close/>
                </a:path>
                <a:path w="1871980" h="1687829">
                  <a:moveTo>
                    <a:pt x="1657604" y="0"/>
                  </a:moveTo>
                  <a:lnTo>
                    <a:pt x="213867" y="0"/>
                  </a:lnTo>
                  <a:lnTo>
                    <a:pt x="164831" y="5648"/>
                  </a:lnTo>
                  <a:lnTo>
                    <a:pt x="119816" y="21738"/>
                  </a:lnTo>
                  <a:lnTo>
                    <a:pt x="80107" y="46986"/>
                  </a:lnTo>
                  <a:lnTo>
                    <a:pt x="46986" y="80107"/>
                  </a:lnTo>
                  <a:lnTo>
                    <a:pt x="21738" y="119816"/>
                  </a:lnTo>
                  <a:lnTo>
                    <a:pt x="5648" y="164831"/>
                  </a:lnTo>
                  <a:lnTo>
                    <a:pt x="0" y="213868"/>
                  </a:lnTo>
                  <a:lnTo>
                    <a:pt x="0" y="1069340"/>
                  </a:lnTo>
                  <a:lnTo>
                    <a:pt x="5648" y="1118376"/>
                  </a:lnTo>
                  <a:lnTo>
                    <a:pt x="21738" y="1163391"/>
                  </a:lnTo>
                  <a:lnTo>
                    <a:pt x="46986" y="1203100"/>
                  </a:lnTo>
                  <a:lnTo>
                    <a:pt x="80107" y="1236221"/>
                  </a:lnTo>
                  <a:lnTo>
                    <a:pt x="119816" y="1261469"/>
                  </a:lnTo>
                  <a:lnTo>
                    <a:pt x="164831" y="1277559"/>
                  </a:lnTo>
                  <a:lnTo>
                    <a:pt x="213867" y="1283208"/>
                  </a:lnTo>
                  <a:lnTo>
                    <a:pt x="1657604" y="1283208"/>
                  </a:lnTo>
                  <a:lnTo>
                    <a:pt x="1706640" y="1277559"/>
                  </a:lnTo>
                  <a:lnTo>
                    <a:pt x="1751655" y="1261469"/>
                  </a:lnTo>
                  <a:lnTo>
                    <a:pt x="1791364" y="1236221"/>
                  </a:lnTo>
                  <a:lnTo>
                    <a:pt x="1824485" y="1203100"/>
                  </a:lnTo>
                  <a:lnTo>
                    <a:pt x="1849733" y="1163391"/>
                  </a:lnTo>
                  <a:lnTo>
                    <a:pt x="1865823" y="1118376"/>
                  </a:lnTo>
                  <a:lnTo>
                    <a:pt x="1871471" y="1069340"/>
                  </a:lnTo>
                  <a:lnTo>
                    <a:pt x="1871471" y="213868"/>
                  </a:lnTo>
                  <a:lnTo>
                    <a:pt x="1865823" y="164831"/>
                  </a:lnTo>
                  <a:lnTo>
                    <a:pt x="1849733" y="119816"/>
                  </a:lnTo>
                  <a:lnTo>
                    <a:pt x="1824485" y="80107"/>
                  </a:lnTo>
                  <a:lnTo>
                    <a:pt x="1791364" y="46986"/>
                  </a:lnTo>
                  <a:lnTo>
                    <a:pt x="1751655" y="21738"/>
                  </a:lnTo>
                  <a:lnTo>
                    <a:pt x="1706640" y="5648"/>
                  </a:lnTo>
                  <a:lnTo>
                    <a:pt x="1657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57962" y="1745742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0" y="213868"/>
                  </a:moveTo>
                  <a:lnTo>
                    <a:pt x="5648" y="164831"/>
                  </a:lnTo>
                  <a:lnTo>
                    <a:pt x="21738" y="119816"/>
                  </a:lnTo>
                  <a:lnTo>
                    <a:pt x="46986" y="80107"/>
                  </a:lnTo>
                  <a:lnTo>
                    <a:pt x="80107" y="46986"/>
                  </a:lnTo>
                  <a:lnTo>
                    <a:pt x="119816" y="21738"/>
                  </a:lnTo>
                  <a:lnTo>
                    <a:pt x="164831" y="5648"/>
                  </a:lnTo>
                  <a:lnTo>
                    <a:pt x="213867" y="0"/>
                  </a:lnTo>
                  <a:lnTo>
                    <a:pt x="1091692" y="0"/>
                  </a:lnTo>
                  <a:lnTo>
                    <a:pt x="1559560" y="0"/>
                  </a:lnTo>
                  <a:lnTo>
                    <a:pt x="1657604" y="0"/>
                  </a:lnTo>
                  <a:lnTo>
                    <a:pt x="1706640" y="5648"/>
                  </a:lnTo>
                  <a:lnTo>
                    <a:pt x="1751655" y="21738"/>
                  </a:lnTo>
                  <a:lnTo>
                    <a:pt x="1791364" y="46986"/>
                  </a:lnTo>
                  <a:lnTo>
                    <a:pt x="1824485" y="80107"/>
                  </a:lnTo>
                  <a:lnTo>
                    <a:pt x="1849733" y="119816"/>
                  </a:lnTo>
                  <a:lnTo>
                    <a:pt x="1865823" y="164831"/>
                  </a:lnTo>
                  <a:lnTo>
                    <a:pt x="1871471" y="213868"/>
                  </a:lnTo>
                  <a:lnTo>
                    <a:pt x="1871471" y="748538"/>
                  </a:lnTo>
                  <a:lnTo>
                    <a:pt x="1871471" y="1069340"/>
                  </a:lnTo>
                  <a:lnTo>
                    <a:pt x="1865823" y="1118376"/>
                  </a:lnTo>
                  <a:lnTo>
                    <a:pt x="1849733" y="1163391"/>
                  </a:lnTo>
                  <a:lnTo>
                    <a:pt x="1824485" y="1203100"/>
                  </a:lnTo>
                  <a:lnTo>
                    <a:pt x="1791364" y="1236221"/>
                  </a:lnTo>
                  <a:lnTo>
                    <a:pt x="1751655" y="1261469"/>
                  </a:lnTo>
                  <a:lnTo>
                    <a:pt x="1706640" y="1277559"/>
                  </a:lnTo>
                  <a:lnTo>
                    <a:pt x="1657604" y="1283208"/>
                  </a:lnTo>
                  <a:lnTo>
                    <a:pt x="1559560" y="1283208"/>
                  </a:lnTo>
                  <a:lnTo>
                    <a:pt x="1090168" y="1687322"/>
                  </a:lnTo>
                  <a:lnTo>
                    <a:pt x="1091692" y="1283208"/>
                  </a:lnTo>
                  <a:lnTo>
                    <a:pt x="213867" y="1283208"/>
                  </a:lnTo>
                  <a:lnTo>
                    <a:pt x="164831" y="1277559"/>
                  </a:lnTo>
                  <a:lnTo>
                    <a:pt x="119816" y="1261469"/>
                  </a:lnTo>
                  <a:lnTo>
                    <a:pt x="80107" y="1236221"/>
                  </a:lnTo>
                  <a:lnTo>
                    <a:pt x="46986" y="1203100"/>
                  </a:lnTo>
                  <a:lnTo>
                    <a:pt x="21738" y="1163391"/>
                  </a:lnTo>
                  <a:lnTo>
                    <a:pt x="5648" y="1118376"/>
                  </a:lnTo>
                  <a:lnTo>
                    <a:pt x="0" y="1069340"/>
                  </a:lnTo>
                  <a:lnTo>
                    <a:pt x="0" y="748538"/>
                  </a:lnTo>
                  <a:lnTo>
                    <a:pt x="0" y="213868"/>
                  </a:lnTo>
                  <a:close/>
                </a:path>
              </a:pathLst>
            </a:custGeom>
            <a:ln w="2590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816965" y="2062099"/>
            <a:ext cx="1151890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1755" marR="5080" indent="-59690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O</a:t>
            </a:r>
            <a:r>
              <a:rPr sz="2000" b="1" spc="5" dirty="0">
                <a:latin typeface="Segoe UI"/>
                <a:cs typeface="Segoe UI"/>
              </a:rPr>
              <a:t>b</a:t>
            </a:r>
            <a:r>
              <a:rPr sz="2000" b="1" spc="-5" dirty="0">
                <a:latin typeface="Segoe UI"/>
                <a:cs typeface="Segoe UI"/>
              </a:rPr>
              <a:t>j</a:t>
            </a:r>
            <a:r>
              <a:rPr sz="2000" b="1" spc="-15" dirty="0">
                <a:latin typeface="Segoe UI"/>
                <a:cs typeface="Segoe UI"/>
              </a:rPr>
              <a:t>e</a:t>
            </a:r>
            <a:r>
              <a:rPr sz="2000" b="1" dirty="0">
                <a:latin typeface="Segoe UI"/>
                <a:cs typeface="Segoe UI"/>
              </a:rPr>
              <a:t>ct</a:t>
            </a:r>
            <a:r>
              <a:rPr sz="2000" b="1" spc="-10" dirty="0">
                <a:latin typeface="Segoe UI"/>
                <a:cs typeface="Segoe UI"/>
              </a:rPr>
              <a:t>i</a:t>
            </a:r>
            <a:r>
              <a:rPr sz="2000" b="1" spc="-20" dirty="0">
                <a:latin typeface="Segoe UI"/>
                <a:cs typeface="Segoe UI"/>
              </a:rPr>
              <a:t>v</a:t>
            </a:r>
            <a:r>
              <a:rPr sz="2000" b="1" dirty="0">
                <a:latin typeface="Segoe UI"/>
                <a:cs typeface="Segoe UI"/>
              </a:rPr>
              <a:t>e  </a:t>
            </a:r>
            <a:r>
              <a:rPr sz="2000" b="1" spc="-5" dirty="0">
                <a:latin typeface="Segoe UI"/>
                <a:cs typeface="Segoe UI"/>
              </a:rPr>
              <a:t>function</a:t>
            </a:r>
            <a:endParaRPr sz="2000"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467853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071497" y="483234"/>
            <a:ext cx="500189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Recap: Linear</a:t>
            </a:r>
            <a:r>
              <a:rPr spc="-70" dirty="0"/>
              <a:t> </a:t>
            </a:r>
            <a:r>
              <a:rPr dirty="0"/>
              <a:t>Models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25182"/>
            <a:ext cx="8013065" cy="4892040"/>
          </a:xfrm>
          <a:prstGeom prst="rect">
            <a:avLst/>
          </a:prstGeom>
        </p:spPr>
        <p:txBody>
          <a:bodyPr vert="horz" wrap="square" lIns="0" tIns="110489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869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Segoe UI"/>
                <a:cs typeface="Segoe UI"/>
              </a:rPr>
              <a:t>General framework for </a:t>
            </a:r>
            <a:r>
              <a:rPr sz="3200" spc="25" dirty="0">
                <a:latin typeface="Segoe UI"/>
                <a:cs typeface="Segoe UI"/>
              </a:rPr>
              <a:t>binary</a:t>
            </a:r>
            <a:r>
              <a:rPr sz="3200" spc="-114" dirty="0">
                <a:latin typeface="Segoe UI"/>
                <a:cs typeface="Segoe UI"/>
              </a:rPr>
              <a:t> </a:t>
            </a:r>
            <a:r>
              <a:rPr sz="3200" dirty="0">
                <a:latin typeface="Segoe UI"/>
                <a:cs typeface="Segoe UI"/>
              </a:rPr>
              <a:t>classification</a:t>
            </a:r>
            <a:endParaRPr sz="3200">
              <a:latin typeface="Segoe UI"/>
              <a:cs typeface="Segoe UI"/>
            </a:endParaRPr>
          </a:p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Segoe UI"/>
                <a:cs typeface="Segoe UI"/>
              </a:rPr>
              <a:t>Cast </a:t>
            </a:r>
            <a:r>
              <a:rPr sz="3200" dirty="0">
                <a:latin typeface="Segoe UI"/>
                <a:cs typeface="Segoe UI"/>
              </a:rPr>
              <a:t>learning as optimization</a:t>
            </a:r>
            <a:r>
              <a:rPr sz="3200" spc="-15" dirty="0">
                <a:latin typeface="Segoe UI"/>
                <a:cs typeface="Segoe UI"/>
              </a:rPr>
              <a:t> </a:t>
            </a:r>
            <a:r>
              <a:rPr sz="3200" spc="-5" dirty="0">
                <a:latin typeface="Segoe UI"/>
                <a:cs typeface="Segoe UI"/>
              </a:rPr>
              <a:t>problem</a:t>
            </a:r>
            <a:endParaRPr sz="3200">
              <a:latin typeface="Segoe UI"/>
              <a:cs typeface="Segoe UI"/>
            </a:endParaRPr>
          </a:p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Segoe UI"/>
                <a:cs typeface="Segoe UI"/>
              </a:rPr>
              <a:t>Optimization objective combines 2</a:t>
            </a:r>
            <a:r>
              <a:rPr sz="3200" spc="-20" dirty="0">
                <a:latin typeface="Segoe UI"/>
                <a:cs typeface="Segoe UI"/>
              </a:rPr>
              <a:t> </a:t>
            </a:r>
            <a:r>
              <a:rPr sz="3200" spc="-5" dirty="0">
                <a:latin typeface="Segoe UI"/>
                <a:cs typeface="Segoe UI"/>
              </a:rPr>
              <a:t>terms</a:t>
            </a:r>
            <a:endParaRPr sz="3200">
              <a:latin typeface="Segoe UI"/>
              <a:cs typeface="Segoe UI"/>
            </a:endParaRPr>
          </a:p>
          <a:p>
            <a:pPr marL="756285" marR="147320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loss function: measures how </a:t>
            </a:r>
            <a:r>
              <a:rPr sz="2800" spc="-10" dirty="0">
                <a:latin typeface="Segoe UI"/>
                <a:cs typeface="Segoe UI"/>
              </a:rPr>
              <a:t>well </a:t>
            </a:r>
            <a:r>
              <a:rPr sz="2800" spc="-5" dirty="0">
                <a:latin typeface="Segoe UI"/>
                <a:cs typeface="Segoe UI"/>
              </a:rPr>
              <a:t>classifier fits  training</a:t>
            </a:r>
            <a:r>
              <a:rPr sz="2800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data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Regularizer: </a:t>
            </a:r>
            <a:r>
              <a:rPr sz="2800" spc="-10" dirty="0">
                <a:latin typeface="Segoe UI"/>
                <a:cs typeface="Segoe UI"/>
              </a:rPr>
              <a:t>measures </a:t>
            </a:r>
            <a:r>
              <a:rPr sz="2800" spc="-5" dirty="0">
                <a:latin typeface="Segoe UI"/>
                <a:cs typeface="Segoe UI"/>
              </a:rPr>
              <a:t>how </a:t>
            </a:r>
            <a:r>
              <a:rPr sz="2800" spc="-10" dirty="0">
                <a:latin typeface="Segoe UI"/>
                <a:cs typeface="Segoe UI"/>
              </a:rPr>
              <a:t>simple </a:t>
            </a:r>
            <a:r>
              <a:rPr sz="2800" spc="-5" dirty="0">
                <a:latin typeface="Segoe UI"/>
                <a:cs typeface="Segoe UI"/>
              </a:rPr>
              <a:t>classifier</a:t>
            </a:r>
            <a:r>
              <a:rPr sz="2800" spc="85" dirty="0">
                <a:latin typeface="Segoe UI"/>
                <a:cs typeface="Segoe UI"/>
              </a:rPr>
              <a:t> </a:t>
            </a:r>
            <a:r>
              <a:rPr sz="2800" spc="-15" dirty="0">
                <a:latin typeface="Segoe UI"/>
                <a:cs typeface="Segoe UI"/>
              </a:rPr>
              <a:t>is</a:t>
            </a:r>
            <a:endParaRPr sz="2800">
              <a:latin typeface="Segoe UI"/>
              <a:cs typeface="Segoe UI"/>
            </a:endParaRPr>
          </a:p>
          <a:p>
            <a:pPr marL="355600" indent="-342900">
              <a:lnSpc>
                <a:spcPct val="100000"/>
              </a:lnSpc>
              <a:spcBef>
                <a:spcPts val="76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Segoe UI"/>
                <a:cs typeface="Segoe UI"/>
              </a:rPr>
              <a:t>Does </a:t>
            </a:r>
            <a:r>
              <a:rPr sz="3200" dirty="0">
                <a:latin typeface="Segoe UI"/>
                <a:cs typeface="Segoe UI"/>
              </a:rPr>
              <a:t>not assume data </a:t>
            </a:r>
            <a:r>
              <a:rPr sz="3200" spc="-5" dirty="0">
                <a:latin typeface="Segoe UI"/>
                <a:cs typeface="Segoe UI"/>
              </a:rPr>
              <a:t>is </a:t>
            </a:r>
            <a:r>
              <a:rPr sz="3200" dirty="0">
                <a:latin typeface="Segoe UI"/>
                <a:cs typeface="Segoe UI"/>
              </a:rPr>
              <a:t>linearly</a:t>
            </a:r>
            <a:r>
              <a:rPr sz="3200" spc="-65" dirty="0">
                <a:latin typeface="Segoe UI"/>
                <a:cs typeface="Segoe UI"/>
              </a:rPr>
              <a:t> </a:t>
            </a:r>
            <a:r>
              <a:rPr sz="3200" spc="-5" dirty="0">
                <a:latin typeface="Segoe UI"/>
                <a:cs typeface="Segoe UI"/>
              </a:rPr>
              <a:t>separable</a:t>
            </a:r>
            <a:endParaRPr sz="3200">
              <a:latin typeface="Segoe UI"/>
              <a:cs typeface="Segoe UI"/>
            </a:endParaRPr>
          </a:p>
          <a:p>
            <a:pPr marL="355600" marR="709295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Segoe UI"/>
                <a:cs typeface="Segoe UI"/>
              </a:rPr>
              <a:t>Lets us </a:t>
            </a:r>
            <a:r>
              <a:rPr sz="3200" spc="-10" dirty="0">
                <a:latin typeface="Segoe UI"/>
                <a:cs typeface="Segoe UI"/>
              </a:rPr>
              <a:t>separate </a:t>
            </a:r>
            <a:r>
              <a:rPr sz="3200" spc="-5" dirty="0">
                <a:latin typeface="Segoe UI"/>
                <a:cs typeface="Segoe UI"/>
              </a:rPr>
              <a:t>model </a:t>
            </a:r>
            <a:r>
              <a:rPr sz="3200" dirty="0">
                <a:latin typeface="Segoe UI"/>
                <a:cs typeface="Segoe UI"/>
              </a:rPr>
              <a:t>definition </a:t>
            </a:r>
            <a:r>
              <a:rPr sz="3200" spc="-10" dirty="0">
                <a:latin typeface="Segoe UI"/>
                <a:cs typeface="Segoe UI"/>
              </a:rPr>
              <a:t>from  </a:t>
            </a:r>
            <a:r>
              <a:rPr sz="3200" dirty="0">
                <a:latin typeface="Segoe UI"/>
                <a:cs typeface="Segoe UI"/>
              </a:rPr>
              <a:t>training algorithm </a:t>
            </a:r>
            <a:r>
              <a:rPr sz="3200" b="1" spc="-5" dirty="0">
                <a:latin typeface="Segoe UI"/>
                <a:cs typeface="Segoe UI"/>
              </a:rPr>
              <a:t>(Gradient</a:t>
            </a:r>
            <a:r>
              <a:rPr sz="3200" b="1" spc="-55" dirty="0">
                <a:latin typeface="Segoe UI"/>
                <a:cs typeface="Segoe UI"/>
              </a:rPr>
              <a:t> </a:t>
            </a:r>
            <a:r>
              <a:rPr sz="3200" b="1" spc="-5" dirty="0">
                <a:latin typeface="Segoe UI"/>
                <a:cs typeface="Segoe UI"/>
              </a:rPr>
              <a:t>Descent)</a:t>
            </a:r>
            <a:endParaRPr sz="3200"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5682650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74417" y="483234"/>
            <a:ext cx="3996054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Gradient</a:t>
            </a:r>
            <a:r>
              <a:rPr spc="-85" dirty="0"/>
              <a:t> </a:t>
            </a:r>
            <a:r>
              <a:rPr spc="-5" dirty="0"/>
              <a:t>descent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24329"/>
            <a:ext cx="788797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5" dirty="0">
                <a:latin typeface="Segoe UI"/>
                <a:cs typeface="Segoe UI"/>
              </a:rPr>
              <a:t>A general solution </a:t>
            </a:r>
            <a:r>
              <a:rPr sz="2800" dirty="0">
                <a:latin typeface="Segoe UI"/>
                <a:cs typeface="Segoe UI"/>
              </a:rPr>
              <a:t>for </a:t>
            </a:r>
            <a:r>
              <a:rPr sz="2800" spc="-5" dirty="0">
                <a:latin typeface="Segoe UI"/>
                <a:cs typeface="Segoe UI"/>
              </a:rPr>
              <a:t>our optimization</a:t>
            </a:r>
            <a:r>
              <a:rPr sz="2800" spc="-20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problem</a:t>
            </a:r>
            <a:endParaRPr sz="2800">
              <a:latin typeface="Segoe UI"/>
              <a:cs typeface="Segoe U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247769"/>
            <a:ext cx="835977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latin typeface="Segoe UI"/>
                <a:cs typeface="Segoe UI"/>
              </a:rPr>
              <a:t>Idea: </a:t>
            </a:r>
            <a:r>
              <a:rPr sz="2400" spc="-15" dirty="0">
                <a:latin typeface="Segoe UI"/>
                <a:cs typeface="Segoe UI"/>
              </a:rPr>
              <a:t>take </a:t>
            </a:r>
            <a:r>
              <a:rPr sz="2400" spc="-5" dirty="0">
                <a:latin typeface="Segoe UI"/>
                <a:cs typeface="Segoe UI"/>
              </a:rPr>
              <a:t>iterative steps </a:t>
            </a:r>
            <a:r>
              <a:rPr sz="2400" spc="-15" dirty="0">
                <a:latin typeface="Segoe UI"/>
                <a:cs typeface="Segoe UI"/>
              </a:rPr>
              <a:t>to </a:t>
            </a:r>
            <a:r>
              <a:rPr sz="2400" spc="-5" dirty="0">
                <a:latin typeface="Segoe UI"/>
                <a:cs typeface="Segoe UI"/>
              </a:rPr>
              <a:t>update parameters in </a:t>
            </a:r>
            <a:r>
              <a:rPr sz="2400" dirty="0">
                <a:latin typeface="Segoe UI"/>
                <a:cs typeface="Segoe UI"/>
              </a:rPr>
              <a:t>the </a:t>
            </a:r>
            <a:r>
              <a:rPr sz="2400" spc="-5" dirty="0">
                <a:latin typeface="Segoe UI"/>
                <a:cs typeface="Segoe UI"/>
              </a:rPr>
              <a:t>direction  </a:t>
            </a:r>
            <a:r>
              <a:rPr sz="2400" spc="-30" dirty="0">
                <a:latin typeface="Segoe UI"/>
                <a:cs typeface="Segoe UI"/>
              </a:rPr>
              <a:t>of </a:t>
            </a:r>
            <a:r>
              <a:rPr sz="2400" dirty="0">
                <a:latin typeface="Segoe UI"/>
                <a:cs typeface="Segoe UI"/>
              </a:rPr>
              <a:t>the</a:t>
            </a:r>
            <a:r>
              <a:rPr sz="2400" spc="40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gradient</a:t>
            </a:r>
            <a:endParaRPr sz="2400">
              <a:latin typeface="Segoe UI"/>
              <a:cs typeface="Segoe U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5372" y="2155027"/>
            <a:ext cx="7569109" cy="94841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78077" y="483234"/>
            <a:ext cx="638810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Gradient </a:t>
            </a:r>
            <a:r>
              <a:rPr spc="-5" dirty="0"/>
              <a:t>descent</a:t>
            </a:r>
            <a:r>
              <a:rPr spc="-90" dirty="0"/>
              <a:t> </a:t>
            </a:r>
            <a:r>
              <a:rPr spc="-5" dirty="0"/>
              <a:t>algorithm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03511" y="1616900"/>
            <a:ext cx="7832725" cy="3366770"/>
            <a:chOff x="603511" y="1616900"/>
            <a:chExt cx="7832725" cy="336677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3511" y="2738874"/>
              <a:ext cx="7832239" cy="2244398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973074" y="1629918"/>
              <a:ext cx="3612515" cy="1102995"/>
            </a:xfrm>
            <a:custGeom>
              <a:avLst/>
              <a:gdLst/>
              <a:ahLst/>
              <a:cxnLst/>
              <a:rect l="l" t="t" r="r" b="b"/>
              <a:pathLst>
                <a:path w="3612515" h="1102995">
                  <a:moveTo>
                    <a:pt x="1979930" y="693420"/>
                  </a:moveTo>
                  <a:lnTo>
                    <a:pt x="1385951" y="693420"/>
                  </a:lnTo>
                  <a:lnTo>
                    <a:pt x="3612134" y="1102741"/>
                  </a:lnTo>
                  <a:lnTo>
                    <a:pt x="1979930" y="693420"/>
                  </a:lnTo>
                  <a:close/>
                </a:path>
                <a:path w="3612515" h="1102995">
                  <a:moveTo>
                    <a:pt x="2260346" y="0"/>
                  </a:moveTo>
                  <a:lnTo>
                    <a:pt x="115569" y="0"/>
                  </a:lnTo>
                  <a:lnTo>
                    <a:pt x="70583" y="9074"/>
                  </a:lnTo>
                  <a:lnTo>
                    <a:pt x="33848" y="33829"/>
                  </a:lnTo>
                  <a:lnTo>
                    <a:pt x="9081" y="70562"/>
                  </a:lnTo>
                  <a:lnTo>
                    <a:pt x="0" y="115570"/>
                  </a:lnTo>
                  <a:lnTo>
                    <a:pt x="0" y="577850"/>
                  </a:lnTo>
                  <a:lnTo>
                    <a:pt x="9081" y="622857"/>
                  </a:lnTo>
                  <a:lnTo>
                    <a:pt x="33848" y="659590"/>
                  </a:lnTo>
                  <a:lnTo>
                    <a:pt x="70583" y="684345"/>
                  </a:lnTo>
                  <a:lnTo>
                    <a:pt x="115569" y="693420"/>
                  </a:lnTo>
                  <a:lnTo>
                    <a:pt x="2260346" y="693420"/>
                  </a:lnTo>
                  <a:lnTo>
                    <a:pt x="2305353" y="684345"/>
                  </a:lnTo>
                  <a:lnTo>
                    <a:pt x="2342086" y="659590"/>
                  </a:lnTo>
                  <a:lnTo>
                    <a:pt x="2366841" y="622857"/>
                  </a:lnTo>
                  <a:lnTo>
                    <a:pt x="2375916" y="577850"/>
                  </a:lnTo>
                  <a:lnTo>
                    <a:pt x="2375916" y="115570"/>
                  </a:lnTo>
                  <a:lnTo>
                    <a:pt x="2366841" y="70562"/>
                  </a:lnTo>
                  <a:lnTo>
                    <a:pt x="2342086" y="33829"/>
                  </a:lnTo>
                  <a:lnTo>
                    <a:pt x="2305353" y="9074"/>
                  </a:lnTo>
                  <a:lnTo>
                    <a:pt x="226034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73074" y="1629918"/>
              <a:ext cx="3612515" cy="1102995"/>
            </a:xfrm>
            <a:custGeom>
              <a:avLst/>
              <a:gdLst/>
              <a:ahLst/>
              <a:cxnLst/>
              <a:rect l="l" t="t" r="r" b="b"/>
              <a:pathLst>
                <a:path w="3612515" h="1102995">
                  <a:moveTo>
                    <a:pt x="0" y="115570"/>
                  </a:moveTo>
                  <a:lnTo>
                    <a:pt x="9081" y="70562"/>
                  </a:lnTo>
                  <a:lnTo>
                    <a:pt x="33848" y="33829"/>
                  </a:lnTo>
                  <a:lnTo>
                    <a:pt x="70583" y="9074"/>
                  </a:lnTo>
                  <a:lnTo>
                    <a:pt x="115569" y="0"/>
                  </a:lnTo>
                  <a:lnTo>
                    <a:pt x="1385951" y="0"/>
                  </a:lnTo>
                  <a:lnTo>
                    <a:pt x="1979930" y="0"/>
                  </a:lnTo>
                  <a:lnTo>
                    <a:pt x="2260346" y="0"/>
                  </a:lnTo>
                  <a:lnTo>
                    <a:pt x="2305353" y="9074"/>
                  </a:lnTo>
                  <a:lnTo>
                    <a:pt x="2342086" y="33829"/>
                  </a:lnTo>
                  <a:lnTo>
                    <a:pt x="2366841" y="70562"/>
                  </a:lnTo>
                  <a:lnTo>
                    <a:pt x="2375916" y="115570"/>
                  </a:lnTo>
                  <a:lnTo>
                    <a:pt x="2375916" y="404495"/>
                  </a:lnTo>
                  <a:lnTo>
                    <a:pt x="2375916" y="577850"/>
                  </a:lnTo>
                  <a:lnTo>
                    <a:pt x="2366841" y="622857"/>
                  </a:lnTo>
                  <a:lnTo>
                    <a:pt x="2342086" y="659590"/>
                  </a:lnTo>
                  <a:lnTo>
                    <a:pt x="2305353" y="684345"/>
                  </a:lnTo>
                  <a:lnTo>
                    <a:pt x="2260346" y="693420"/>
                  </a:lnTo>
                  <a:lnTo>
                    <a:pt x="1979930" y="693420"/>
                  </a:lnTo>
                  <a:lnTo>
                    <a:pt x="3612134" y="1102741"/>
                  </a:lnTo>
                  <a:lnTo>
                    <a:pt x="1385951" y="693420"/>
                  </a:lnTo>
                  <a:lnTo>
                    <a:pt x="115569" y="693420"/>
                  </a:lnTo>
                  <a:lnTo>
                    <a:pt x="70583" y="684345"/>
                  </a:lnTo>
                  <a:lnTo>
                    <a:pt x="33848" y="659590"/>
                  </a:lnTo>
                  <a:lnTo>
                    <a:pt x="9081" y="622857"/>
                  </a:lnTo>
                  <a:lnTo>
                    <a:pt x="0" y="577850"/>
                  </a:lnTo>
                  <a:lnTo>
                    <a:pt x="0" y="404495"/>
                  </a:lnTo>
                  <a:lnTo>
                    <a:pt x="0" y="115570"/>
                  </a:lnTo>
                  <a:close/>
                </a:path>
              </a:pathLst>
            </a:custGeom>
            <a:ln w="25908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293367" y="1673478"/>
            <a:ext cx="173291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1945" marR="5080" indent="-30988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Objective </a:t>
            </a:r>
            <a:r>
              <a:rPr sz="1800" spc="-5" dirty="0">
                <a:latin typeface="Calibri"/>
                <a:cs typeface="Calibri"/>
              </a:rPr>
              <a:t>function  </a:t>
            </a:r>
            <a:r>
              <a:rPr sz="1800" spc="-10" dirty="0">
                <a:latin typeface="Calibri"/>
                <a:cs typeface="Calibri"/>
              </a:rPr>
              <a:t>to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minimize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271708" y="1715960"/>
            <a:ext cx="1898014" cy="1074420"/>
            <a:chOff x="4271708" y="1715960"/>
            <a:chExt cx="1898014" cy="1074420"/>
          </a:xfrm>
        </p:grpSpPr>
        <p:sp>
          <p:nvSpPr>
            <p:cNvPr id="9" name="object 9"/>
            <p:cNvSpPr/>
            <p:nvPr/>
          </p:nvSpPr>
          <p:spPr>
            <a:xfrm>
              <a:off x="4284726" y="1728978"/>
              <a:ext cx="1871980" cy="1048385"/>
            </a:xfrm>
            <a:custGeom>
              <a:avLst/>
              <a:gdLst/>
              <a:ahLst/>
              <a:cxnLst/>
              <a:rect l="l" t="t" r="r" b="b"/>
              <a:pathLst>
                <a:path w="1871979" h="1048385">
                  <a:moveTo>
                    <a:pt x="779779" y="464820"/>
                  </a:moveTo>
                  <a:lnTo>
                    <a:pt x="311912" y="464820"/>
                  </a:lnTo>
                  <a:lnTo>
                    <a:pt x="607822" y="1048385"/>
                  </a:lnTo>
                  <a:lnTo>
                    <a:pt x="779779" y="464820"/>
                  </a:lnTo>
                  <a:close/>
                </a:path>
                <a:path w="1871979" h="1048385">
                  <a:moveTo>
                    <a:pt x="1794002" y="0"/>
                  </a:moveTo>
                  <a:lnTo>
                    <a:pt x="77470" y="0"/>
                  </a:lnTo>
                  <a:lnTo>
                    <a:pt x="47309" y="6086"/>
                  </a:lnTo>
                  <a:lnTo>
                    <a:pt x="22685" y="22685"/>
                  </a:lnTo>
                  <a:lnTo>
                    <a:pt x="6086" y="47309"/>
                  </a:lnTo>
                  <a:lnTo>
                    <a:pt x="0" y="77470"/>
                  </a:lnTo>
                  <a:lnTo>
                    <a:pt x="0" y="387350"/>
                  </a:lnTo>
                  <a:lnTo>
                    <a:pt x="6086" y="417510"/>
                  </a:lnTo>
                  <a:lnTo>
                    <a:pt x="22685" y="442134"/>
                  </a:lnTo>
                  <a:lnTo>
                    <a:pt x="47309" y="458733"/>
                  </a:lnTo>
                  <a:lnTo>
                    <a:pt x="77470" y="464820"/>
                  </a:lnTo>
                  <a:lnTo>
                    <a:pt x="1794002" y="464820"/>
                  </a:lnTo>
                  <a:lnTo>
                    <a:pt x="1824162" y="458733"/>
                  </a:lnTo>
                  <a:lnTo>
                    <a:pt x="1848786" y="442134"/>
                  </a:lnTo>
                  <a:lnTo>
                    <a:pt x="1865385" y="417510"/>
                  </a:lnTo>
                  <a:lnTo>
                    <a:pt x="1871472" y="387350"/>
                  </a:lnTo>
                  <a:lnTo>
                    <a:pt x="1871472" y="77470"/>
                  </a:lnTo>
                  <a:lnTo>
                    <a:pt x="1865385" y="47309"/>
                  </a:lnTo>
                  <a:lnTo>
                    <a:pt x="1848786" y="22685"/>
                  </a:lnTo>
                  <a:lnTo>
                    <a:pt x="1824162" y="6086"/>
                  </a:lnTo>
                  <a:lnTo>
                    <a:pt x="17940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284726" y="1728978"/>
              <a:ext cx="1871980" cy="1048385"/>
            </a:xfrm>
            <a:custGeom>
              <a:avLst/>
              <a:gdLst/>
              <a:ahLst/>
              <a:cxnLst/>
              <a:rect l="l" t="t" r="r" b="b"/>
              <a:pathLst>
                <a:path w="1871979" h="1048385">
                  <a:moveTo>
                    <a:pt x="0" y="77470"/>
                  </a:moveTo>
                  <a:lnTo>
                    <a:pt x="6086" y="47309"/>
                  </a:lnTo>
                  <a:lnTo>
                    <a:pt x="22685" y="22685"/>
                  </a:lnTo>
                  <a:lnTo>
                    <a:pt x="47309" y="6086"/>
                  </a:lnTo>
                  <a:lnTo>
                    <a:pt x="77470" y="0"/>
                  </a:lnTo>
                  <a:lnTo>
                    <a:pt x="311912" y="0"/>
                  </a:lnTo>
                  <a:lnTo>
                    <a:pt x="779779" y="0"/>
                  </a:lnTo>
                  <a:lnTo>
                    <a:pt x="1794002" y="0"/>
                  </a:lnTo>
                  <a:lnTo>
                    <a:pt x="1824162" y="6086"/>
                  </a:lnTo>
                  <a:lnTo>
                    <a:pt x="1848786" y="22685"/>
                  </a:lnTo>
                  <a:lnTo>
                    <a:pt x="1865385" y="47309"/>
                  </a:lnTo>
                  <a:lnTo>
                    <a:pt x="1871472" y="77470"/>
                  </a:lnTo>
                  <a:lnTo>
                    <a:pt x="1871472" y="271145"/>
                  </a:lnTo>
                  <a:lnTo>
                    <a:pt x="1871472" y="387350"/>
                  </a:lnTo>
                  <a:lnTo>
                    <a:pt x="1865385" y="417510"/>
                  </a:lnTo>
                  <a:lnTo>
                    <a:pt x="1848786" y="442134"/>
                  </a:lnTo>
                  <a:lnTo>
                    <a:pt x="1824162" y="458733"/>
                  </a:lnTo>
                  <a:lnTo>
                    <a:pt x="1794002" y="464820"/>
                  </a:lnTo>
                  <a:lnTo>
                    <a:pt x="779779" y="464820"/>
                  </a:lnTo>
                  <a:lnTo>
                    <a:pt x="607822" y="1048385"/>
                  </a:lnTo>
                  <a:lnTo>
                    <a:pt x="311912" y="464820"/>
                  </a:lnTo>
                  <a:lnTo>
                    <a:pt x="77470" y="464820"/>
                  </a:lnTo>
                  <a:lnTo>
                    <a:pt x="47309" y="458733"/>
                  </a:lnTo>
                  <a:lnTo>
                    <a:pt x="22685" y="442134"/>
                  </a:lnTo>
                  <a:lnTo>
                    <a:pt x="6086" y="417510"/>
                  </a:lnTo>
                  <a:lnTo>
                    <a:pt x="0" y="387350"/>
                  </a:lnTo>
                  <a:lnTo>
                    <a:pt x="0" y="271145"/>
                  </a:lnTo>
                  <a:lnTo>
                    <a:pt x="0" y="77470"/>
                  </a:lnTo>
                  <a:close/>
                </a:path>
              </a:pathLst>
            </a:custGeom>
            <a:ln w="25908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4435221" y="1796288"/>
            <a:ext cx="15684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libri"/>
                <a:cs typeface="Calibri"/>
              </a:rPr>
              <a:t>Number of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steps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53050" y="1694688"/>
            <a:ext cx="2980690" cy="1047750"/>
            <a:chOff x="5353050" y="1694688"/>
            <a:chExt cx="2980690" cy="1047750"/>
          </a:xfrm>
        </p:grpSpPr>
        <p:sp>
          <p:nvSpPr>
            <p:cNvPr id="13" name="object 13"/>
            <p:cNvSpPr/>
            <p:nvPr/>
          </p:nvSpPr>
          <p:spPr>
            <a:xfrm>
              <a:off x="5366003" y="1707642"/>
              <a:ext cx="2954655" cy="1022350"/>
            </a:xfrm>
            <a:custGeom>
              <a:avLst/>
              <a:gdLst/>
              <a:ahLst/>
              <a:cxnLst/>
              <a:rect l="l" t="t" r="r" b="b"/>
              <a:pathLst>
                <a:path w="2954654" h="1022350">
                  <a:moveTo>
                    <a:pt x="1776349" y="650748"/>
                  </a:moveTo>
                  <a:lnTo>
                    <a:pt x="1271524" y="650748"/>
                  </a:lnTo>
                  <a:lnTo>
                    <a:pt x="0" y="1021842"/>
                  </a:lnTo>
                  <a:lnTo>
                    <a:pt x="1776349" y="650748"/>
                  </a:lnTo>
                  <a:close/>
                </a:path>
                <a:path w="2954654" h="1022350">
                  <a:moveTo>
                    <a:pt x="2845816" y="0"/>
                  </a:moveTo>
                  <a:lnTo>
                    <a:pt x="1043432" y="0"/>
                  </a:lnTo>
                  <a:lnTo>
                    <a:pt x="1001196" y="8516"/>
                  </a:lnTo>
                  <a:lnTo>
                    <a:pt x="966724" y="31750"/>
                  </a:lnTo>
                  <a:lnTo>
                    <a:pt x="943490" y="66222"/>
                  </a:lnTo>
                  <a:lnTo>
                    <a:pt x="934974" y="108458"/>
                  </a:lnTo>
                  <a:lnTo>
                    <a:pt x="934974" y="542290"/>
                  </a:lnTo>
                  <a:lnTo>
                    <a:pt x="943490" y="584525"/>
                  </a:lnTo>
                  <a:lnTo>
                    <a:pt x="966724" y="618998"/>
                  </a:lnTo>
                  <a:lnTo>
                    <a:pt x="1001196" y="642231"/>
                  </a:lnTo>
                  <a:lnTo>
                    <a:pt x="1043432" y="650748"/>
                  </a:lnTo>
                  <a:lnTo>
                    <a:pt x="2845816" y="650748"/>
                  </a:lnTo>
                  <a:lnTo>
                    <a:pt x="2888051" y="642231"/>
                  </a:lnTo>
                  <a:lnTo>
                    <a:pt x="2922523" y="618998"/>
                  </a:lnTo>
                  <a:lnTo>
                    <a:pt x="2945757" y="584525"/>
                  </a:lnTo>
                  <a:lnTo>
                    <a:pt x="2954274" y="542290"/>
                  </a:lnTo>
                  <a:lnTo>
                    <a:pt x="2954274" y="108458"/>
                  </a:lnTo>
                  <a:lnTo>
                    <a:pt x="2945757" y="66222"/>
                  </a:lnTo>
                  <a:lnTo>
                    <a:pt x="2922524" y="31750"/>
                  </a:lnTo>
                  <a:lnTo>
                    <a:pt x="2888051" y="8516"/>
                  </a:lnTo>
                  <a:lnTo>
                    <a:pt x="284581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66003" y="1707642"/>
              <a:ext cx="2954655" cy="1022350"/>
            </a:xfrm>
            <a:custGeom>
              <a:avLst/>
              <a:gdLst/>
              <a:ahLst/>
              <a:cxnLst/>
              <a:rect l="l" t="t" r="r" b="b"/>
              <a:pathLst>
                <a:path w="2954654" h="1022350">
                  <a:moveTo>
                    <a:pt x="934974" y="108458"/>
                  </a:moveTo>
                  <a:lnTo>
                    <a:pt x="943490" y="66222"/>
                  </a:lnTo>
                  <a:lnTo>
                    <a:pt x="966724" y="31750"/>
                  </a:lnTo>
                  <a:lnTo>
                    <a:pt x="1001196" y="8516"/>
                  </a:lnTo>
                  <a:lnTo>
                    <a:pt x="1043432" y="0"/>
                  </a:lnTo>
                  <a:lnTo>
                    <a:pt x="1271524" y="0"/>
                  </a:lnTo>
                  <a:lnTo>
                    <a:pt x="1776349" y="0"/>
                  </a:lnTo>
                  <a:lnTo>
                    <a:pt x="2845816" y="0"/>
                  </a:lnTo>
                  <a:lnTo>
                    <a:pt x="2888051" y="8516"/>
                  </a:lnTo>
                  <a:lnTo>
                    <a:pt x="2922524" y="31750"/>
                  </a:lnTo>
                  <a:lnTo>
                    <a:pt x="2945757" y="66222"/>
                  </a:lnTo>
                  <a:lnTo>
                    <a:pt x="2954274" y="108458"/>
                  </a:lnTo>
                  <a:lnTo>
                    <a:pt x="2954274" y="379603"/>
                  </a:lnTo>
                  <a:lnTo>
                    <a:pt x="2954274" y="542290"/>
                  </a:lnTo>
                  <a:lnTo>
                    <a:pt x="2945757" y="584525"/>
                  </a:lnTo>
                  <a:lnTo>
                    <a:pt x="2922524" y="618998"/>
                  </a:lnTo>
                  <a:lnTo>
                    <a:pt x="2888051" y="642231"/>
                  </a:lnTo>
                  <a:lnTo>
                    <a:pt x="2845816" y="650748"/>
                  </a:lnTo>
                  <a:lnTo>
                    <a:pt x="1776349" y="650748"/>
                  </a:lnTo>
                  <a:lnTo>
                    <a:pt x="0" y="1021842"/>
                  </a:lnTo>
                  <a:lnTo>
                    <a:pt x="1271524" y="650748"/>
                  </a:lnTo>
                  <a:lnTo>
                    <a:pt x="1043432" y="650748"/>
                  </a:lnTo>
                  <a:lnTo>
                    <a:pt x="1001196" y="642231"/>
                  </a:lnTo>
                  <a:lnTo>
                    <a:pt x="966724" y="618998"/>
                  </a:lnTo>
                  <a:lnTo>
                    <a:pt x="943490" y="584525"/>
                  </a:lnTo>
                  <a:lnTo>
                    <a:pt x="934974" y="542290"/>
                  </a:lnTo>
                  <a:lnTo>
                    <a:pt x="934974" y="379603"/>
                  </a:lnTo>
                  <a:lnTo>
                    <a:pt x="934974" y="108458"/>
                  </a:lnTo>
                  <a:close/>
                </a:path>
              </a:pathLst>
            </a:custGeom>
            <a:ln w="25908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6894956" y="1867915"/>
            <a:ext cx="8324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Step</a:t>
            </a:r>
            <a:r>
              <a:rPr sz="1800" spc="-55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size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34085" marR="5080" indent="-82169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Illustrating gradient descent  in 1-dimensional</a:t>
            </a:r>
            <a:r>
              <a:rPr spc="-75" dirty="0"/>
              <a:t> </a:t>
            </a:r>
            <a:r>
              <a:rPr dirty="0"/>
              <a:t>case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09138" y="1934293"/>
            <a:ext cx="6068418" cy="405488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8365" marR="5080" indent="-77597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Illustrating gradient descent  in 2-dimensional</a:t>
            </a:r>
            <a:r>
              <a:rPr spc="-65" dirty="0"/>
              <a:t> </a:t>
            </a:r>
            <a:r>
              <a:rPr dirty="0"/>
              <a:t>case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7231" y="1773454"/>
            <a:ext cx="5939130" cy="381160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919471" y="1976627"/>
            <a:ext cx="1682750" cy="1035050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179070" rIns="0" bIns="0" rtlCol="0">
            <a:spAutoFit/>
          </a:bodyPr>
          <a:lstStyle/>
          <a:p>
            <a:pPr marL="213995">
              <a:lnSpc>
                <a:spcPct val="100000"/>
              </a:lnSpc>
              <a:spcBef>
                <a:spcPts val="1410"/>
              </a:spcBef>
            </a:pPr>
            <a:r>
              <a:rPr sz="4000" spc="-65" dirty="0">
                <a:latin typeface="Calibri"/>
                <a:cs typeface="Calibri"/>
              </a:rPr>
              <a:t>F(w,b)</a:t>
            </a:r>
            <a:endParaRPr sz="4000">
              <a:latin typeface="Calibri"/>
              <a:cs typeface="Calibri"/>
            </a:endParaRPr>
          </a:p>
        </p:txBody>
      </p:sp>
      <p:sp>
        <p:nvSpPr>
          <p:cNvPr id="7" name="object 4"/>
          <p:cNvSpPr txBox="1"/>
          <p:nvPr/>
        </p:nvSpPr>
        <p:spPr>
          <a:xfrm>
            <a:off x="1482597" y="6193637"/>
            <a:ext cx="569595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Arial"/>
                <a:cs typeface="Arial"/>
              </a:rPr>
              <a:t>Image source: </a:t>
            </a:r>
            <a:r>
              <a:rPr lang="en-US" u="heavy" spc="-5" dirty="0">
                <a:solidFill>
                  <a:srgbClr val="6B9F24"/>
                </a:solidFill>
                <a:uFill>
                  <a:solidFill>
                    <a:srgbClr val="6B9F24"/>
                  </a:solidFill>
                </a:uFill>
                <a:latin typeface="Arial"/>
                <a:cs typeface="Arial"/>
                <a:hlinkClick r:id="rId3"/>
              </a:rPr>
              <a:t>https://builtin.com/data-science/gradient-descent</a:t>
            </a:r>
            <a:r>
              <a:rPr lang="en-US" u="heavy" spc="-5" dirty="0">
                <a:solidFill>
                  <a:srgbClr val="6B9F24"/>
                </a:solidFill>
                <a:uFill>
                  <a:solidFill>
                    <a:srgbClr val="6B9F24"/>
                  </a:solidFill>
                </a:uFill>
                <a:latin typeface="Arial"/>
                <a:cs typeface="Arial"/>
              </a:rPr>
              <a:t> </a:t>
            </a:r>
            <a:endParaRPr sz="1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8365" marR="5080" indent="-77597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Illustrating gradient descent  in 2-dimensional</a:t>
            </a:r>
            <a:r>
              <a:rPr spc="-65" dirty="0"/>
              <a:t> </a:t>
            </a:r>
            <a:r>
              <a:rPr dirty="0"/>
              <a:t>case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04142" y="1660094"/>
            <a:ext cx="3969937" cy="4372266"/>
          </a:xfrm>
          <a:prstGeom prst="rect">
            <a:avLst/>
          </a:prstGeom>
        </p:spPr>
      </p:pic>
      <p:sp>
        <p:nvSpPr>
          <p:cNvPr id="5" name="object 4"/>
          <p:cNvSpPr txBox="1"/>
          <p:nvPr/>
        </p:nvSpPr>
        <p:spPr>
          <a:xfrm>
            <a:off x="1482597" y="6193637"/>
            <a:ext cx="569595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Arial"/>
                <a:cs typeface="Arial"/>
              </a:rPr>
              <a:t>Image source: </a:t>
            </a:r>
            <a:r>
              <a:rPr lang="en-US" u="heavy" spc="-5" dirty="0">
                <a:solidFill>
                  <a:srgbClr val="6B9F24"/>
                </a:solidFill>
                <a:uFill>
                  <a:solidFill>
                    <a:srgbClr val="6B9F24"/>
                  </a:solidFill>
                </a:uFill>
                <a:latin typeface="Arial"/>
                <a:cs typeface="Arial"/>
                <a:hlinkClick r:id="rId3"/>
              </a:rPr>
              <a:t>https://builtin.com/data-science/gradient-descent</a:t>
            </a:r>
            <a:r>
              <a:rPr lang="en-US" u="heavy" spc="-5" dirty="0">
                <a:solidFill>
                  <a:srgbClr val="6B9F24"/>
                </a:solidFill>
                <a:uFill>
                  <a:solidFill>
                    <a:srgbClr val="6B9F24"/>
                  </a:solidFill>
                </a:uFill>
                <a:latin typeface="Arial"/>
                <a:cs typeface="Arial"/>
              </a:rPr>
              <a:t> </a:t>
            </a:r>
            <a:endParaRPr sz="1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233423" y="147955"/>
            <a:ext cx="6677152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8365" marR="5080" indent="-77597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I</a:t>
            </a:r>
            <a:r>
              <a:rPr lang="en-US" spc="-5" dirty="0"/>
              <a:t>mpact of the step size</a:t>
            </a:r>
            <a:endParaRPr dirty="0"/>
          </a:p>
        </p:txBody>
      </p:sp>
      <p:sp>
        <p:nvSpPr>
          <p:cNvPr id="5" name="object 4"/>
          <p:cNvSpPr txBox="1"/>
          <p:nvPr/>
        </p:nvSpPr>
        <p:spPr>
          <a:xfrm>
            <a:off x="1482597" y="6193637"/>
            <a:ext cx="569595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Arial"/>
                <a:cs typeface="Arial"/>
              </a:rPr>
              <a:t>Image source: </a:t>
            </a:r>
            <a:r>
              <a:rPr lang="en-US" u="heavy" spc="-5" dirty="0">
                <a:solidFill>
                  <a:srgbClr val="6B9F24"/>
                </a:solidFill>
                <a:uFill>
                  <a:solidFill>
                    <a:srgbClr val="6B9F24"/>
                  </a:solidFill>
                </a:uFill>
                <a:latin typeface="Arial"/>
                <a:cs typeface="Arial"/>
                <a:hlinkClick r:id="rId2"/>
              </a:rPr>
              <a:t>https://builtin.com/data-science/gradient-descent</a:t>
            </a:r>
            <a:r>
              <a:rPr lang="en-US" u="heavy" spc="-5" dirty="0">
                <a:solidFill>
                  <a:srgbClr val="6B9F24"/>
                </a:solidFill>
                <a:uFill>
                  <a:solidFill>
                    <a:srgbClr val="6B9F24"/>
                  </a:solidFill>
                </a:uFill>
                <a:latin typeface="Arial"/>
                <a:cs typeface="Arial"/>
              </a:rPr>
              <a:t> </a:t>
            </a:r>
            <a:endParaRPr sz="1800" dirty="0">
              <a:latin typeface="Arial"/>
              <a:cs typeface="Arial"/>
            </a:endParaRPr>
          </a:p>
        </p:txBody>
      </p:sp>
      <p:pic>
        <p:nvPicPr>
          <p:cNvPr id="1026" name="Picture 2" descr="gradient descent learning rat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" y="2028824"/>
            <a:ext cx="7715250" cy="36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7000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78077" y="483234"/>
            <a:ext cx="638810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Gradient </a:t>
            </a:r>
            <a:r>
              <a:rPr spc="-5" dirty="0"/>
              <a:t>descent</a:t>
            </a:r>
            <a:r>
              <a:rPr spc="-90" dirty="0"/>
              <a:t> </a:t>
            </a:r>
            <a:r>
              <a:rPr spc="-5" dirty="0"/>
              <a:t>algorithm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03511" y="1616900"/>
            <a:ext cx="7832725" cy="3366770"/>
            <a:chOff x="603511" y="1616900"/>
            <a:chExt cx="7832725" cy="336677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3511" y="2738874"/>
              <a:ext cx="7832239" cy="2244398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973074" y="1629918"/>
              <a:ext cx="3612515" cy="1102995"/>
            </a:xfrm>
            <a:custGeom>
              <a:avLst/>
              <a:gdLst/>
              <a:ahLst/>
              <a:cxnLst/>
              <a:rect l="l" t="t" r="r" b="b"/>
              <a:pathLst>
                <a:path w="3612515" h="1102995">
                  <a:moveTo>
                    <a:pt x="1979930" y="693420"/>
                  </a:moveTo>
                  <a:lnTo>
                    <a:pt x="1385951" y="693420"/>
                  </a:lnTo>
                  <a:lnTo>
                    <a:pt x="3612134" y="1102741"/>
                  </a:lnTo>
                  <a:lnTo>
                    <a:pt x="1979930" y="693420"/>
                  </a:lnTo>
                  <a:close/>
                </a:path>
                <a:path w="3612515" h="1102995">
                  <a:moveTo>
                    <a:pt x="2260346" y="0"/>
                  </a:moveTo>
                  <a:lnTo>
                    <a:pt x="115569" y="0"/>
                  </a:lnTo>
                  <a:lnTo>
                    <a:pt x="70583" y="9074"/>
                  </a:lnTo>
                  <a:lnTo>
                    <a:pt x="33848" y="33829"/>
                  </a:lnTo>
                  <a:lnTo>
                    <a:pt x="9081" y="70562"/>
                  </a:lnTo>
                  <a:lnTo>
                    <a:pt x="0" y="115570"/>
                  </a:lnTo>
                  <a:lnTo>
                    <a:pt x="0" y="577850"/>
                  </a:lnTo>
                  <a:lnTo>
                    <a:pt x="9081" y="622857"/>
                  </a:lnTo>
                  <a:lnTo>
                    <a:pt x="33848" y="659590"/>
                  </a:lnTo>
                  <a:lnTo>
                    <a:pt x="70583" y="684345"/>
                  </a:lnTo>
                  <a:lnTo>
                    <a:pt x="115569" y="693420"/>
                  </a:lnTo>
                  <a:lnTo>
                    <a:pt x="2260346" y="693420"/>
                  </a:lnTo>
                  <a:lnTo>
                    <a:pt x="2305353" y="684345"/>
                  </a:lnTo>
                  <a:lnTo>
                    <a:pt x="2342086" y="659590"/>
                  </a:lnTo>
                  <a:lnTo>
                    <a:pt x="2366841" y="622857"/>
                  </a:lnTo>
                  <a:lnTo>
                    <a:pt x="2375916" y="577850"/>
                  </a:lnTo>
                  <a:lnTo>
                    <a:pt x="2375916" y="115570"/>
                  </a:lnTo>
                  <a:lnTo>
                    <a:pt x="2366841" y="70562"/>
                  </a:lnTo>
                  <a:lnTo>
                    <a:pt x="2342086" y="33829"/>
                  </a:lnTo>
                  <a:lnTo>
                    <a:pt x="2305353" y="9074"/>
                  </a:lnTo>
                  <a:lnTo>
                    <a:pt x="226034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73074" y="1629918"/>
              <a:ext cx="3612515" cy="1102995"/>
            </a:xfrm>
            <a:custGeom>
              <a:avLst/>
              <a:gdLst/>
              <a:ahLst/>
              <a:cxnLst/>
              <a:rect l="l" t="t" r="r" b="b"/>
              <a:pathLst>
                <a:path w="3612515" h="1102995">
                  <a:moveTo>
                    <a:pt x="0" y="115570"/>
                  </a:moveTo>
                  <a:lnTo>
                    <a:pt x="9081" y="70562"/>
                  </a:lnTo>
                  <a:lnTo>
                    <a:pt x="33848" y="33829"/>
                  </a:lnTo>
                  <a:lnTo>
                    <a:pt x="70583" y="9074"/>
                  </a:lnTo>
                  <a:lnTo>
                    <a:pt x="115569" y="0"/>
                  </a:lnTo>
                  <a:lnTo>
                    <a:pt x="1385951" y="0"/>
                  </a:lnTo>
                  <a:lnTo>
                    <a:pt x="1979930" y="0"/>
                  </a:lnTo>
                  <a:lnTo>
                    <a:pt x="2260346" y="0"/>
                  </a:lnTo>
                  <a:lnTo>
                    <a:pt x="2305353" y="9074"/>
                  </a:lnTo>
                  <a:lnTo>
                    <a:pt x="2342086" y="33829"/>
                  </a:lnTo>
                  <a:lnTo>
                    <a:pt x="2366841" y="70562"/>
                  </a:lnTo>
                  <a:lnTo>
                    <a:pt x="2375916" y="115570"/>
                  </a:lnTo>
                  <a:lnTo>
                    <a:pt x="2375916" y="404495"/>
                  </a:lnTo>
                  <a:lnTo>
                    <a:pt x="2375916" y="577850"/>
                  </a:lnTo>
                  <a:lnTo>
                    <a:pt x="2366841" y="622857"/>
                  </a:lnTo>
                  <a:lnTo>
                    <a:pt x="2342086" y="659590"/>
                  </a:lnTo>
                  <a:lnTo>
                    <a:pt x="2305353" y="684345"/>
                  </a:lnTo>
                  <a:lnTo>
                    <a:pt x="2260346" y="693420"/>
                  </a:lnTo>
                  <a:lnTo>
                    <a:pt x="1979930" y="693420"/>
                  </a:lnTo>
                  <a:lnTo>
                    <a:pt x="3612134" y="1102741"/>
                  </a:lnTo>
                  <a:lnTo>
                    <a:pt x="1385951" y="693420"/>
                  </a:lnTo>
                  <a:lnTo>
                    <a:pt x="115569" y="693420"/>
                  </a:lnTo>
                  <a:lnTo>
                    <a:pt x="70583" y="684345"/>
                  </a:lnTo>
                  <a:lnTo>
                    <a:pt x="33848" y="659590"/>
                  </a:lnTo>
                  <a:lnTo>
                    <a:pt x="9081" y="622857"/>
                  </a:lnTo>
                  <a:lnTo>
                    <a:pt x="0" y="577850"/>
                  </a:lnTo>
                  <a:lnTo>
                    <a:pt x="0" y="404495"/>
                  </a:lnTo>
                  <a:lnTo>
                    <a:pt x="0" y="115570"/>
                  </a:lnTo>
                  <a:close/>
                </a:path>
              </a:pathLst>
            </a:custGeom>
            <a:ln w="25908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293367" y="1673478"/>
            <a:ext cx="173291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1945" marR="5080" indent="-30988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Objective </a:t>
            </a:r>
            <a:r>
              <a:rPr sz="1800" spc="-5" dirty="0">
                <a:latin typeface="Calibri"/>
                <a:cs typeface="Calibri"/>
              </a:rPr>
              <a:t>function  </a:t>
            </a:r>
            <a:r>
              <a:rPr sz="1800" spc="-10" dirty="0">
                <a:latin typeface="Calibri"/>
                <a:cs typeface="Calibri"/>
              </a:rPr>
              <a:t>to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minimize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271708" y="1715960"/>
            <a:ext cx="1898014" cy="1074420"/>
            <a:chOff x="4271708" y="1715960"/>
            <a:chExt cx="1898014" cy="1074420"/>
          </a:xfrm>
        </p:grpSpPr>
        <p:sp>
          <p:nvSpPr>
            <p:cNvPr id="9" name="object 9"/>
            <p:cNvSpPr/>
            <p:nvPr/>
          </p:nvSpPr>
          <p:spPr>
            <a:xfrm>
              <a:off x="4284726" y="1728978"/>
              <a:ext cx="1871980" cy="1048385"/>
            </a:xfrm>
            <a:custGeom>
              <a:avLst/>
              <a:gdLst/>
              <a:ahLst/>
              <a:cxnLst/>
              <a:rect l="l" t="t" r="r" b="b"/>
              <a:pathLst>
                <a:path w="1871979" h="1048385">
                  <a:moveTo>
                    <a:pt x="779779" y="464820"/>
                  </a:moveTo>
                  <a:lnTo>
                    <a:pt x="311912" y="464820"/>
                  </a:lnTo>
                  <a:lnTo>
                    <a:pt x="607822" y="1048385"/>
                  </a:lnTo>
                  <a:lnTo>
                    <a:pt x="779779" y="464820"/>
                  </a:lnTo>
                  <a:close/>
                </a:path>
                <a:path w="1871979" h="1048385">
                  <a:moveTo>
                    <a:pt x="1794002" y="0"/>
                  </a:moveTo>
                  <a:lnTo>
                    <a:pt x="77470" y="0"/>
                  </a:lnTo>
                  <a:lnTo>
                    <a:pt x="47309" y="6086"/>
                  </a:lnTo>
                  <a:lnTo>
                    <a:pt x="22685" y="22685"/>
                  </a:lnTo>
                  <a:lnTo>
                    <a:pt x="6086" y="47309"/>
                  </a:lnTo>
                  <a:lnTo>
                    <a:pt x="0" y="77470"/>
                  </a:lnTo>
                  <a:lnTo>
                    <a:pt x="0" y="387350"/>
                  </a:lnTo>
                  <a:lnTo>
                    <a:pt x="6086" y="417510"/>
                  </a:lnTo>
                  <a:lnTo>
                    <a:pt x="22685" y="442134"/>
                  </a:lnTo>
                  <a:lnTo>
                    <a:pt x="47309" y="458733"/>
                  </a:lnTo>
                  <a:lnTo>
                    <a:pt x="77470" y="464820"/>
                  </a:lnTo>
                  <a:lnTo>
                    <a:pt x="1794002" y="464820"/>
                  </a:lnTo>
                  <a:lnTo>
                    <a:pt x="1824162" y="458733"/>
                  </a:lnTo>
                  <a:lnTo>
                    <a:pt x="1848786" y="442134"/>
                  </a:lnTo>
                  <a:lnTo>
                    <a:pt x="1865385" y="417510"/>
                  </a:lnTo>
                  <a:lnTo>
                    <a:pt x="1871472" y="387350"/>
                  </a:lnTo>
                  <a:lnTo>
                    <a:pt x="1871472" y="77470"/>
                  </a:lnTo>
                  <a:lnTo>
                    <a:pt x="1865385" y="47309"/>
                  </a:lnTo>
                  <a:lnTo>
                    <a:pt x="1848786" y="22685"/>
                  </a:lnTo>
                  <a:lnTo>
                    <a:pt x="1824162" y="6086"/>
                  </a:lnTo>
                  <a:lnTo>
                    <a:pt x="17940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284726" y="1728978"/>
              <a:ext cx="1871980" cy="1048385"/>
            </a:xfrm>
            <a:custGeom>
              <a:avLst/>
              <a:gdLst/>
              <a:ahLst/>
              <a:cxnLst/>
              <a:rect l="l" t="t" r="r" b="b"/>
              <a:pathLst>
                <a:path w="1871979" h="1048385">
                  <a:moveTo>
                    <a:pt x="0" y="77470"/>
                  </a:moveTo>
                  <a:lnTo>
                    <a:pt x="6086" y="47309"/>
                  </a:lnTo>
                  <a:lnTo>
                    <a:pt x="22685" y="22685"/>
                  </a:lnTo>
                  <a:lnTo>
                    <a:pt x="47309" y="6086"/>
                  </a:lnTo>
                  <a:lnTo>
                    <a:pt x="77470" y="0"/>
                  </a:lnTo>
                  <a:lnTo>
                    <a:pt x="311912" y="0"/>
                  </a:lnTo>
                  <a:lnTo>
                    <a:pt x="779779" y="0"/>
                  </a:lnTo>
                  <a:lnTo>
                    <a:pt x="1794002" y="0"/>
                  </a:lnTo>
                  <a:lnTo>
                    <a:pt x="1824162" y="6086"/>
                  </a:lnTo>
                  <a:lnTo>
                    <a:pt x="1848786" y="22685"/>
                  </a:lnTo>
                  <a:lnTo>
                    <a:pt x="1865385" y="47309"/>
                  </a:lnTo>
                  <a:lnTo>
                    <a:pt x="1871472" y="77470"/>
                  </a:lnTo>
                  <a:lnTo>
                    <a:pt x="1871472" y="271145"/>
                  </a:lnTo>
                  <a:lnTo>
                    <a:pt x="1871472" y="387350"/>
                  </a:lnTo>
                  <a:lnTo>
                    <a:pt x="1865385" y="417510"/>
                  </a:lnTo>
                  <a:lnTo>
                    <a:pt x="1848786" y="442134"/>
                  </a:lnTo>
                  <a:lnTo>
                    <a:pt x="1824162" y="458733"/>
                  </a:lnTo>
                  <a:lnTo>
                    <a:pt x="1794002" y="464820"/>
                  </a:lnTo>
                  <a:lnTo>
                    <a:pt x="779779" y="464820"/>
                  </a:lnTo>
                  <a:lnTo>
                    <a:pt x="607822" y="1048385"/>
                  </a:lnTo>
                  <a:lnTo>
                    <a:pt x="311912" y="464820"/>
                  </a:lnTo>
                  <a:lnTo>
                    <a:pt x="77470" y="464820"/>
                  </a:lnTo>
                  <a:lnTo>
                    <a:pt x="47309" y="458733"/>
                  </a:lnTo>
                  <a:lnTo>
                    <a:pt x="22685" y="442134"/>
                  </a:lnTo>
                  <a:lnTo>
                    <a:pt x="6086" y="417510"/>
                  </a:lnTo>
                  <a:lnTo>
                    <a:pt x="0" y="387350"/>
                  </a:lnTo>
                  <a:lnTo>
                    <a:pt x="0" y="271145"/>
                  </a:lnTo>
                  <a:lnTo>
                    <a:pt x="0" y="77470"/>
                  </a:lnTo>
                  <a:close/>
                </a:path>
              </a:pathLst>
            </a:custGeom>
            <a:ln w="25908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4435221" y="1796288"/>
            <a:ext cx="15684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libri"/>
                <a:cs typeface="Calibri"/>
              </a:rPr>
              <a:t>Number of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steps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53050" y="1694688"/>
            <a:ext cx="2980690" cy="1047750"/>
            <a:chOff x="5353050" y="1694688"/>
            <a:chExt cx="2980690" cy="1047750"/>
          </a:xfrm>
        </p:grpSpPr>
        <p:sp>
          <p:nvSpPr>
            <p:cNvPr id="13" name="object 13"/>
            <p:cNvSpPr/>
            <p:nvPr/>
          </p:nvSpPr>
          <p:spPr>
            <a:xfrm>
              <a:off x="5366003" y="1707642"/>
              <a:ext cx="2954655" cy="1022350"/>
            </a:xfrm>
            <a:custGeom>
              <a:avLst/>
              <a:gdLst/>
              <a:ahLst/>
              <a:cxnLst/>
              <a:rect l="l" t="t" r="r" b="b"/>
              <a:pathLst>
                <a:path w="2954654" h="1022350">
                  <a:moveTo>
                    <a:pt x="1776349" y="650748"/>
                  </a:moveTo>
                  <a:lnTo>
                    <a:pt x="1271524" y="650748"/>
                  </a:lnTo>
                  <a:lnTo>
                    <a:pt x="0" y="1021842"/>
                  </a:lnTo>
                  <a:lnTo>
                    <a:pt x="1776349" y="650748"/>
                  </a:lnTo>
                  <a:close/>
                </a:path>
                <a:path w="2954654" h="1022350">
                  <a:moveTo>
                    <a:pt x="2845816" y="0"/>
                  </a:moveTo>
                  <a:lnTo>
                    <a:pt x="1043432" y="0"/>
                  </a:lnTo>
                  <a:lnTo>
                    <a:pt x="1001196" y="8516"/>
                  </a:lnTo>
                  <a:lnTo>
                    <a:pt x="966724" y="31750"/>
                  </a:lnTo>
                  <a:lnTo>
                    <a:pt x="943490" y="66222"/>
                  </a:lnTo>
                  <a:lnTo>
                    <a:pt x="934974" y="108458"/>
                  </a:lnTo>
                  <a:lnTo>
                    <a:pt x="934974" y="542290"/>
                  </a:lnTo>
                  <a:lnTo>
                    <a:pt x="943490" y="584525"/>
                  </a:lnTo>
                  <a:lnTo>
                    <a:pt x="966724" y="618998"/>
                  </a:lnTo>
                  <a:lnTo>
                    <a:pt x="1001196" y="642231"/>
                  </a:lnTo>
                  <a:lnTo>
                    <a:pt x="1043432" y="650748"/>
                  </a:lnTo>
                  <a:lnTo>
                    <a:pt x="2845816" y="650748"/>
                  </a:lnTo>
                  <a:lnTo>
                    <a:pt x="2888051" y="642231"/>
                  </a:lnTo>
                  <a:lnTo>
                    <a:pt x="2922523" y="618998"/>
                  </a:lnTo>
                  <a:lnTo>
                    <a:pt x="2945757" y="584525"/>
                  </a:lnTo>
                  <a:lnTo>
                    <a:pt x="2954274" y="542290"/>
                  </a:lnTo>
                  <a:lnTo>
                    <a:pt x="2954274" y="108458"/>
                  </a:lnTo>
                  <a:lnTo>
                    <a:pt x="2945757" y="66222"/>
                  </a:lnTo>
                  <a:lnTo>
                    <a:pt x="2922524" y="31750"/>
                  </a:lnTo>
                  <a:lnTo>
                    <a:pt x="2888051" y="8516"/>
                  </a:lnTo>
                  <a:lnTo>
                    <a:pt x="284581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66003" y="1707642"/>
              <a:ext cx="2954655" cy="1022350"/>
            </a:xfrm>
            <a:custGeom>
              <a:avLst/>
              <a:gdLst/>
              <a:ahLst/>
              <a:cxnLst/>
              <a:rect l="l" t="t" r="r" b="b"/>
              <a:pathLst>
                <a:path w="2954654" h="1022350">
                  <a:moveTo>
                    <a:pt x="934974" y="108458"/>
                  </a:moveTo>
                  <a:lnTo>
                    <a:pt x="943490" y="66222"/>
                  </a:lnTo>
                  <a:lnTo>
                    <a:pt x="966724" y="31750"/>
                  </a:lnTo>
                  <a:lnTo>
                    <a:pt x="1001196" y="8516"/>
                  </a:lnTo>
                  <a:lnTo>
                    <a:pt x="1043432" y="0"/>
                  </a:lnTo>
                  <a:lnTo>
                    <a:pt x="1271524" y="0"/>
                  </a:lnTo>
                  <a:lnTo>
                    <a:pt x="1776349" y="0"/>
                  </a:lnTo>
                  <a:lnTo>
                    <a:pt x="2845816" y="0"/>
                  </a:lnTo>
                  <a:lnTo>
                    <a:pt x="2888051" y="8516"/>
                  </a:lnTo>
                  <a:lnTo>
                    <a:pt x="2922524" y="31750"/>
                  </a:lnTo>
                  <a:lnTo>
                    <a:pt x="2945757" y="66222"/>
                  </a:lnTo>
                  <a:lnTo>
                    <a:pt x="2954274" y="108458"/>
                  </a:lnTo>
                  <a:lnTo>
                    <a:pt x="2954274" y="379603"/>
                  </a:lnTo>
                  <a:lnTo>
                    <a:pt x="2954274" y="542290"/>
                  </a:lnTo>
                  <a:lnTo>
                    <a:pt x="2945757" y="584525"/>
                  </a:lnTo>
                  <a:lnTo>
                    <a:pt x="2922524" y="618998"/>
                  </a:lnTo>
                  <a:lnTo>
                    <a:pt x="2888051" y="642231"/>
                  </a:lnTo>
                  <a:lnTo>
                    <a:pt x="2845816" y="650748"/>
                  </a:lnTo>
                  <a:lnTo>
                    <a:pt x="1776349" y="650748"/>
                  </a:lnTo>
                  <a:lnTo>
                    <a:pt x="0" y="1021842"/>
                  </a:lnTo>
                  <a:lnTo>
                    <a:pt x="1271524" y="650748"/>
                  </a:lnTo>
                  <a:lnTo>
                    <a:pt x="1043432" y="650748"/>
                  </a:lnTo>
                  <a:lnTo>
                    <a:pt x="1001196" y="642231"/>
                  </a:lnTo>
                  <a:lnTo>
                    <a:pt x="966724" y="618998"/>
                  </a:lnTo>
                  <a:lnTo>
                    <a:pt x="943490" y="584525"/>
                  </a:lnTo>
                  <a:lnTo>
                    <a:pt x="934974" y="542290"/>
                  </a:lnTo>
                  <a:lnTo>
                    <a:pt x="934974" y="379603"/>
                  </a:lnTo>
                  <a:lnTo>
                    <a:pt x="934974" y="108458"/>
                  </a:lnTo>
                  <a:close/>
                </a:path>
              </a:pathLst>
            </a:custGeom>
            <a:ln w="25908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6894956" y="1867915"/>
            <a:ext cx="8324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Step</a:t>
            </a:r>
            <a:r>
              <a:rPr sz="1800" spc="-55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size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43936" y="483234"/>
            <a:ext cx="405765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Gradient</a:t>
            </a:r>
            <a:r>
              <a:rPr spc="-85" dirty="0"/>
              <a:t> </a:t>
            </a:r>
            <a:r>
              <a:rPr spc="-5" dirty="0"/>
              <a:t>Descent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23214"/>
            <a:ext cx="7699375" cy="4247958"/>
          </a:xfrm>
          <a:prstGeom prst="rect">
            <a:avLst/>
          </a:prstGeom>
        </p:spPr>
        <p:txBody>
          <a:bodyPr vert="horz" wrap="square" lIns="0" tIns="11239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88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Segoe UI"/>
                <a:cs typeface="Segoe UI"/>
              </a:rPr>
              <a:t>2</a:t>
            </a:r>
            <a:r>
              <a:rPr sz="3200" spc="-5" dirty="0">
                <a:latin typeface="Segoe UI"/>
                <a:cs typeface="Segoe UI"/>
              </a:rPr>
              <a:t> </a:t>
            </a:r>
            <a:r>
              <a:rPr sz="3200" dirty="0">
                <a:latin typeface="Segoe UI"/>
                <a:cs typeface="Segoe UI"/>
              </a:rPr>
              <a:t>questions</a:t>
            </a:r>
          </a:p>
          <a:p>
            <a:pPr marL="756285" lvl="1" indent="-287020">
              <a:lnSpc>
                <a:spcPct val="100000"/>
              </a:lnSpc>
              <a:spcBef>
                <a:spcPts val="680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10" dirty="0">
                <a:latin typeface="Segoe UI"/>
                <a:cs typeface="Segoe UI"/>
              </a:rPr>
              <a:t>When </a:t>
            </a:r>
            <a:r>
              <a:rPr sz="2800" spc="-15" dirty="0">
                <a:latin typeface="Segoe UI"/>
                <a:cs typeface="Segoe UI"/>
              </a:rPr>
              <a:t>to</a:t>
            </a:r>
            <a:r>
              <a:rPr sz="2800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stop?</a:t>
            </a:r>
            <a:endParaRPr sz="2800" dirty="0">
              <a:latin typeface="Segoe UI"/>
              <a:cs typeface="Segoe UI"/>
            </a:endParaRPr>
          </a:p>
          <a:p>
            <a:pPr marL="1155700" lvl="2" indent="-229235">
              <a:lnSpc>
                <a:spcPct val="100000"/>
              </a:lnSpc>
              <a:spcBef>
                <a:spcPts val="595"/>
              </a:spcBef>
              <a:buFont typeface="Arial"/>
              <a:buChar char="•"/>
              <a:tabLst>
                <a:tab pos="1156335" algn="l"/>
              </a:tabLst>
            </a:pPr>
            <a:r>
              <a:rPr sz="2400" spc="-5" dirty="0">
                <a:latin typeface="Segoe UI"/>
                <a:cs typeface="Segoe UI"/>
              </a:rPr>
              <a:t>When </a:t>
            </a:r>
            <a:r>
              <a:rPr sz="2400" dirty="0">
                <a:latin typeface="Segoe UI"/>
                <a:cs typeface="Segoe UI"/>
              </a:rPr>
              <a:t>the gradient gets </a:t>
            </a:r>
            <a:r>
              <a:rPr sz="2400" spc="-10" dirty="0">
                <a:latin typeface="Segoe UI"/>
                <a:cs typeface="Segoe UI"/>
              </a:rPr>
              <a:t>close </a:t>
            </a:r>
            <a:r>
              <a:rPr sz="2400" spc="-15" dirty="0">
                <a:latin typeface="Segoe UI"/>
                <a:cs typeface="Segoe UI"/>
              </a:rPr>
              <a:t>to</a:t>
            </a:r>
            <a:r>
              <a:rPr sz="2400" spc="25" dirty="0">
                <a:latin typeface="Segoe UI"/>
                <a:cs typeface="Segoe UI"/>
              </a:rPr>
              <a:t> </a:t>
            </a:r>
            <a:r>
              <a:rPr sz="2400" spc="-15" dirty="0">
                <a:latin typeface="Segoe UI"/>
                <a:cs typeface="Segoe UI"/>
              </a:rPr>
              <a:t>zero</a:t>
            </a:r>
            <a:endParaRPr sz="2400" dirty="0">
              <a:latin typeface="Segoe UI"/>
              <a:cs typeface="Segoe UI"/>
            </a:endParaRPr>
          </a:p>
          <a:p>
            <a:pPr marL="1155700" lvl="2" indent="-2292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1156335" algn="l"/>
              </a:tabLst>
            </a:pPr>
            <a:r>
              <a:rPr sz="2400" spc="-5" dirty="0">
                <a:latin typeface="Segoe UI"/>
                <a:cs typeface="Segoe UI"/>
              </a:rPr>
              <a:t>When </a:t>
            </a:r>
            <a:r>
              <a:rPr sz="2400" dirty="0">
                <a:latin typeface="Segoe UI"/>
                <a:cs typeface="Segoe UI"/>
              </a:rPr>
              <a:t>the </a:t>
            </a:r>
            <a:r>
              <a:rPr sz="2400" spc="-5" dirty="0">
                <a:latin typeface="Segoe UI"/>
                <a:cs typeface="Segoe UI"/>
              </a:rPr>
              <a:t>objective stops changing</a:t>
            </a:r>
            <a:r>
              <a:rPr sz="2400" spc="5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much</a:t>
            </a:r>
            <a:endParaRPr sz="2400" dirty="0">
              <a:latin typeface="Segoe UI"/>
              <a:cs typeface="Segoe UI"/>
            </a:endParaRPr>
          </a:p>
          <a:p>
            <a:pPr marL="1155700" lvl="2" indent="-2292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1156335" algn="l"/>
              </a:tabLst>
            </a:pPr>
            <a:r>
              <a:rPr sz="2400" spc="-5" dirty="0">
                <a:latin typeface="Segoe UI"/>
                <a:cs typeface="Segoe UI"/>
              </a:rPr>
              <a:t>When </a:t>
            </a:r>
            <a:r>
              <a:rPr sz="2400" dirty="0">
                <a:latin typeface="Segoe UI"/>
                <a:cs typeface="Segoe UI"/>
              </a:rPr>
              <a:t>the </a:t>
            </a:r>
            <a:r>
              <a:rPr sz="2400" spc="-5" dirty="0">
                <a:latin typeface="Segoe UI"/>
                <a:cs typeface="Segoe UI"/>
              </a:rPr>
              <a:t>parameters </a:t>
            </a:r>
            <a:r>
              <a:rPr sz="2400" spc="-10" dirty="0">
                <a:latin typeface="Segoe UI"/>
                <a:cs typeface="Segoe UI"/>
              </a:rPr>
              <a:t>stop </a:t>
            </a:r>
            <a:r>
              <a:rPr sz="2400" spc="-5" dirty="0">
                <a:latin typeface="Segoe UI"/>
                <a:cs typeface="Segoe UI"/>
              </a:rPr>
              <a:t>changing</a:t>
            </a:r>
            <a:r>
              <a:rPr sz="2400" spc="15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much</a:t>
            </a:r>
            <a:endParaRPr sz="2400" dirty="0">
              <a:latin typeface="Segoe UI"/>
              <a:cs typeface="Segoe UI"/>
            </a:endParaRPr>
          </a:p>
          <a:p>
            <a:pPr marL="1155700" lvl="2" indent="-229235">
              <a:lnSpc>
                <a:spcPct val="100000"/>
              </a:lnSpc>
              <a:spcBef>
                <a:spcPts val="580"/>
              </a:spcBef>
              <a:buFont typeface="Arial"/>
              <a:buChar char="•"/>
              <a:tabLst>
                <a:tab pos="1156335" algn="l"/>
              </a:tabLst>
            </a:pPr>
            <a:r>
              <a:rPr sz="2400" dirty="0">
                <a:latin typeface="Segoe UI"/>
                <a:cs typeface="Segoe UI"/>
              </a:rPr>
              <a:t>Early</a:t>
            </a:r>
            <a:r>
              <a:rPr lang="en-US" sz="2400" dirty="0">
                <a:latin typeface="Segoe UI"/>
                <a:cs typeface="Segoe UI"/>
              </a:rPr>
              <a:t>: </a:t>
            </a:r>
            <a:r>
              <a:rPr sz="2400" spc="-5" dirty="0">
                <a:latin typeface="Segoe UI"/>
                <a:cs typeface="Segoe UI"/>
              </a:rPr>
              <a:t>When </a:t>
            </a:r>
            <a:r>
              <a:rPr sz="2400" dirty="0">
                <a:latin typeface="Segoe UI"/>
                <a:cs typeface="Segoe UI"/>
              </a:rPr>
              <a:t>performance </a:t>
            </a:r>
            <a:r>
              <a:rPr sz="2400" spc="-5" dirty="0">
                <a:latin typeface="Segoe UI"/>
                <a:cs typeface="Segoe UI"/>
              </a:rPr>
              <a:t>on </a:t>
            </a:r>
            <a:r>
              <a:rPr sz="2400" dirty="0">
                <a:latin typeface="Segoe UI"/>
                <a:cs typeface="Segoe UI"/>
              </a:rPr>
              <a:t>held-out dev </a:t>
            </a:r>
            <a:r>
              <a:rPr sz="2400" spc="-5" dirty="0">
                <a:latin typeface="Segoe UI"/>
                <a:cs typeface="Segoe UI"/>
              </a:rPr>
              <a:t>set</a:t>
            </a:r>
            <a:r>
              <a:rPr sz="2400" dirty="0">
                <a:latin typeface="Segoe UI"/>
                <a:cs typeface="Segoe UI"/>
              </a:rPr>
              <a:t> </a:t>
            </a:r>
            <a:r>
              <a:rPr sz="2400" spc="-5" dirty="0">
                <a:latin typeface="Segoe UI"/>
                <a:cs typeface="Segoe UI"/>
              </a:rPr>
              <a:t>plateaus</a:t>
            </a:r>
            <a:endParaRPr sz="2400" dirty="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5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How </a:t>
            </a:r>
            <a:r>
              <a:rPr sz="2800" spc="-15" dirty="0">
                <a:latin typeface="Segoe UI"/>
                <a:cs typeface="Segoe UI"/>
              </a:rPr>
              <a:t>to </a:t>
            </a:r>
            <a:r>
              <a:rPr sz="2800" dirty="0">
                <a:latin typeface="Segoe UI"/>
                <a:cs typeface="Segoe UI"/>
              </a:rPr>
              <a:t>choose </a:t>
            </a:r>
            <a:r>
              <a:rPr sz="2800" spc="-5" dirty="0">
                <a:latin typeface="Segoe UI"/>
                <a:cs typeface="Segoe UI"/>
              </a:rPr>
              <a:t>the </a:t>
            </a:r>
            <a:r>
              <a:rPr sz="2800" spc="-10" dirty="0">
                <a:latin typeface="Segoe UI"/>
                <a:cs typeface="Segoe UI"/>
              </a:rPr>
              <a:t>step</a:t>
            </a:r>
            <a:r>
              <a:rPr sz="2800" spc="-35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size?</a:t>
            </a:r>
            <a:endParaRPr sz="2800" dirty="0">
              <a:latin typeface="Segoe UI"/>
              <a:cs typeface="Segoe UI"/>
            </a:endParaRPr>
          </a:p>
          <a:p>
            <a:pPr marL="1155700" lvl="2" indent="-229235">
              <a:lnSpc>
                <a:spcPct val="100000"/>
              </a:lnSpc>
              <a:spcBef>
                <a:spcPts val="595"/>
              </a:spcBef>
              <a:buFont typeface="Arial"/>
              <a:buChar char="•"/>
              <a:tabLst>
                <a:tab pos="1156335" algn="l"/>
              </a:tabLst>
            </a:pPr>
            <a:r>
              <a:rPr sz="2400" dirty="0">
                <a:latin typeface="Segoe UI"/>
                <a:cs typeface="Segoe UI"/>
              </a:rPr>
              <a:t>Start with </a:t>
            </a:r>
            <a:r>
              <a:rPr sz="2400" spc="-10" dirty="0">
                <a:latin typeface="Segoe UI"/>
                <a:cs typeface="Segoe UI"/>
              </a:rPr>
              <a:t>large </a:t>
            </a:r>
            <a:r>
              <a:rPr sz="2400" spc="-5" dirty="0">
                <a:latin typeface="Segoe UI"/>
                <a:cs typeface="Segoe UI"/>
              </a:rPr>
              <a:t>steps, </a:t>
            </a:r>
            <a:r>
              <a:rPr sz="2400" dirty="0">
                <a:latin typeface="Segoe UI"/>
                <a:cs typeface="Segoe UI"/>
              </a:rPr>
              <a:t>then </a:t>
            </a:r>
            <a:r>
              <a:rPr sz="2400" spc="-15" dirty="0">
                <a:latin typeface="Segoe UI"/>
                <a:cs typeface="Segoe UI"/>
              </a:rPr>
              <a:t>take </a:t>
            </a:r>
            <a:r>
              <a:rPr sz="2400" spc="-5" dirty="0">
                <a:latin typeface="Segoe UI"/>
                <a:cs typeface="Segoe UI"/>
              </a:rPr>
              <a:t>smaller</a:t>
            </a:r>
            <a:r>
              <a:rPr sz="2400" spc="-10" dirty="0">
                <a:latin typeface="Segoe UI"/>
                <a:cs typeface="Segoe UI"/>
              </a:rPr>
              <a:t> </a:t>
            </a:r>
            <a:r>
              <a:rPr sz="2400" spc="-5" dirty="0">
                <a:latin typeface="Segoe UI"/>
                <a:cs typeface="Segoe UI"/>
              </a:rPr>
              <a:t>steps</a:t>
            </a:r>
            <a:endParaRPr sz="2400" dirty="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4514" y="147955"/>
            <a:ext cx="741680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24585" marR="5080" indent="-1112520">
              <a:lnSpc>
                <a:spcPct val="100000"/>
              </a:lnSpc>
              <a:spcBef>
                <a:spcPts val="100"/>
              </a:spcBef>
            </a:pPr>
            <a:r>
              <a:rPr dirty="0"/>
              <a:t>Now </a:t>
            </a:r>
            <a:r>
              <a:rPr spc="-85" dirty="0"/>
              <a:t>let’s </a:t>
            </a:r>
            <a:r>
              <a:rPr spc="-5" dirty="0"/>
              <a:t>calculate gradients </a:t>
            </a:r>
            <a:r>
              <a:rPr spc="-10" dirty="0"/>
              <a:t>for  </a:t>
            </a:r>
            <a:r>
              <a:rPr spc="-5" dirty="0"/>
              <a:t>multivariate objectives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2208402"/>
            <a:ext cx="772350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Segoe UI"/>
                <a:cs typeface="Segoe UI"/>
              </a:rPr>
              <a:t>Consider </a:t>
            </a:r>
            <a:r>
              <a:rPr sz="3200" dirty="0">
                <a:latin typeface="Segoe UI"/>
                <a:cs typeface="Segoe UI"/>
              </a:rPr>
              <a:t>the following learning</a:t>
            </a:r>
            <a:r>
              <a:rPr sz="3200" spc="-25" dirty="0">
                <a:latin typeface="Segoe UI"/>
                <a:cs typeface="Segoe UI"/>
              </a:rPr>
              <a:t> </a:t>
            </a:r>
            <a:r>
              <a:rPr sz="3200" spc="-5" dirty="0">
                <a:latin typeface="Segoe UI"/>
                <a:cs typeface="Segoe UI"/>
              </a:rPr>
              <a:t>objective</a:t>
            </a:r>
            <a:endParaRPr sz="3200">
              <a:latin typeface="Segoe UI"/>
              <a:cs typeface="Segoe U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549521"/>
            <a:ext cx="7428865" cy="10020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Segoe UI"/>
                <a:cs typeface="Segoe UI"/>
              </a:rPr>
              <a:t>What </a:t>
            </a:r>
            <a:r>
              <a:rPr sz="3200" dirty="0">
                <a:latin typeface="Segoe UI"/>
                <a:cs typeface="Segoe UI"/>
              </a:rPr>
              <a:t>do </a:t>
            </a:r>
            <a:r>
              <a:rPr sz="3200" spc="-10" dirty="0">
                <a:latin typeface="Segoe UI"/>
                <a:cs typeface="Segoe UI"/>
              </a:rPr>
              <a:t>we </a:t>
            </a:r>
            <a:r>
              <a:rPr sz="3200" dirty="0">
                <a:latin typeface="Segoe UI"/>
                <a:cs typeface="Segoe UI"/>
              </a:rPr>
              <a:t>need </a:t>
            </a:r>
            <a:r>
              <a:rPr sz="3200" spc="-15" dirty="0">
                <a:latin typeface="Segoe UI"/>
                <a:cs typeface="Segoe UI"/>
              </a:rPr>
              <a:t>to </a:t>
            </a:r>
            <a:r>
              <a:rPr sz="3200" dirty="0">
                <a:latin typeface="Segoe UI"/>
                <a:cs typeface="Segoe UI"/>
              </a:rPr>
              <a:t>do </a:t>
            </a:r>
            <a:r>
              <a:rPr sz="3200" spc="-15" dirty="0">
                <a:latin typeface="Segoe UI"/>
                <a:cs typeface="Segoe UI"/>
              </a:rPr>
              <a:t>to </a:t>
            </a:r>
            <a:r>
              <a:rPr sz="3200" dirty="0">
                <a:latin typeface="Segoe UI"/>
                <a:cs typeface="Segoe UI"/>
              </a:rPr>
              <a:t>run gradient  </a:t>
            </a:r>
            <a:r>
              <a:rPr sz="3200" spc="-10" dirty="0">
                <a:latin typeface="Segoe UI"/>
                <a:cs typeface="Segoe UI"/>
              </a:rPr>
              <a:t>descent?</a:t>
            </a:r>
            <a:endParaRPr sz="3200">
              <a:latin typeface="Segoe UI"/>
              <a:cs typeface="Segoe U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0863" y="3070971"/>
            <a:ext cx="7286330" cy="8333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51966" y="483234"/>
            <a:ext cx="7039609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(1) Derivative </a:t>
            </a:r>
            <a:r>
              <a:rPr dirty="0"/>
              <a:t>with </a:t>
            </a:r>
            <a:r>
              <a:rPr spc="-15" dirty="0"/>
              <a:t>respect </a:t>
            </a:r>
            <a:r>
              <a:rPr dirty="0"/>
              <a:t>to</a:t>
            </a:r>
            <a:r>
              <a:rPr spc="-55" dirty="0"/>
              <a:t> </a:t>
            </a:r>
            <a:r>
              <a:rPr dirty="0"/>
              <a:t>b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9560" y="2060510"/>
            <a:ext cx="7933790" cy="311185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125118" y="483234"/>
            <a:ext cx="689737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(2) </a:t>
            </a:r>
            <a:r>
              <a:rPr dirty="0"/>
              <a:t>Gradient with </a:t>
            </a:r>
            <a:r>
              <a:rPr spc="-15" dirty="0"/>
              <a:t>respect </a:t>
            </a:r>
            <a:r>
              <a:rPr dirty="0"/>
              <a:t>to</a:t>
            </a:r>
            <a:r>
              <a:rPr spc="-100" dirty="0"/>
              <a:t> </a:t>
            </a:r>
            <a:r>
              <a:rPr dirty="0"/>
              <a:t>w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6581" y="2725110"/>
            <a:ext cx="7509943" cy="221690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31998" y="483234"/>
            <a:ext cx="308292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Subgradients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22501"/>
            <a:ext cx="7931150" cy="40633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Segoe UI"/>
                <a:cs typeface="Segoe UI"/>
              </a:rPr>
              <a:t>Problem: </a:t>
            </a:r>
            <a:r>
              <a:rPr sz="3200" dirty="0">
                <a:latin typeface="Segoe UI"/>
                <a:cs typeface="Segoe UI"/>
              </a:rPr>
              <a:t>some objective functions </a:t>
            </a:r>
            <a:r>
              <a:rPr sz="3200" spc="-10" dirty="0">
                <a:latin typeface="Segoe UI"/>
                <a:cs typeface="Segoe UI"/>
              </a:rPr>
              <a:t>are</a:t>
            </a:r>
            <a:r>
              <a:rPr sz="3200" spc="-60" dirty="0">
                <a:latin typeface="Segoe UI"/>
                <a:cs typeface="Segoe UI"/>
              </a:rPr>
              <a:t> </a:t>
            </a:r>
            <a:r>
              <a:rPr sz="3200" dirty="0">
                <a:latin typeface="Segoe UI"/>
                <a:cs typeface="Segoe UI"/>
              </a:rPr>
              <a:t>not  differentiable</a:t>
            </a:r>
            <a:r>
              <a:rPr sz="3200" spc="-40" dirty="0">
                <a:latin typeface="Segoe UI"/>
                <a:cs typeface="Segoe UI"/>
              </a:rPr>
              <a:t> </a:t>
            </a:r>
            <a:r>
              <a:rPr sz="3200" spc="10" dirty="0">
                <a:latin typeface="Segoe UI"/>
                <a:cs typeface="Segoe UI"/>
              </a:rPr>
              <a:t>everywhere</a:t>
            </a:r>
            <a:endParaRPr sz="32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80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10" dirty="0">
                <a:latin typeface="Segoe UI"/>
                <a:cs typeface="Segoe UI"/>
              </a:rPr>
              <a:t>Hinge loss, </a:t>
            </a:r>
            <a:r>
              <a:rPr sz="2800" spc="-5" dirty="0">
                <a:latin typeface="Segoe UI"/>
                <a:cs typeface="Segoe UI"/>
              </a:rPr>
              <a:t>l1</a:t>
            </a:r>
            <a:r>
              <a:rPr sz="2800" spc="15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norm</a:t>
            </a:r>
            <a:endParaRPr sz="2800">
              <a:latin typeface="Segoe UI"/>
              <a:cs typeface="Segoe UI"/>
            </a:endParaRPr>
          </a:p>
          <a:p>
            <a:pPr lvl="1">
              <a:lnSpc>
                <a:spcPct val="100000"/>
              </a:lnSpc>
              <a:spcBef>
                <a:spcPts val="10"/>
              </a:spcBef>
              <a:buFont typeface="Arial"/>
              <a:buChar char="–"/>
            </a:pPr>
            <a:endParaRPr sz="3600">
              <a:latin typeface="Segoe UI"/>
              <a:cs typeface="Segoe UI"/>
            </a:endParaRPr>
          </a:p>
          <a:p>
            <a:pPr marL="355600" indent="-342900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Segoe UI"/>
                <a:cs typeface="Segoe UI"/>
              </a:rPr>
              <a:t>Solution: subgradient</a:t>
            </a:r>
            <a:r>
              <a:rPr sz="3200" spc="25" dirty="0">
                <a:latin typeface="Segoe UI"/>
                <a:cs typeface="Segoe UI"/>
              </a:rPr>
              <a:t> </a:t>
            </a:r>
            <a:r>
              <a:rPr sz="3200" spc="-5" dirty="0">
                <a:latin typeface="Segoe UI"/>
                <a:cs typeface="Segoe UI"/>
              </a:rPr>
              <a:t>optimization</a:t>
            </a:r>
            <a:endParaRPr sz="3200">
              <a:latin typeface="Segoe UI"/>
              <a:cs typeface="Segoe UI"/>
            </a:endParaRPr>
          </a:p>
          <a:p>
            <a:pPr marL="756285" marR="25400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35" dirty="0">
                <a:latin typeface="Segoe UI"/>
                <a:cs typeface="Segoe UI"/>
              </a:rPr>
              <a:t>Let’s </a:t>
            </a:r>
            <a:r>
              <a:rPr sz="2800" spc="-15" dirty="0">
                <a:latin typeface="Segoe UI"/>
                <a:cs typeface="Segoe UI"/>
              </a:rPr>
              <a:t>ignore </a:t>
            </a:r>
            <a:r>
              <a:rPr sz="2800" spc="-5" dirty="0">
                <a:latin typeface="Segoe UI"/>
                <a:cs typeface="Segoe UI"/>
              </a:rPr>
              <a:t>the </a:t>
            </a:r>
            <a:r>
              <a:rPr sz="2800" spc="-10" dirty="0">
                <a:latin typeface="Segoe UI"/>
                <a:cs typeface="Segoe UI"/>
              </a:rPr>
              <a:t>problem, </a:t>
            </a:r>
            <a:r>
              <a:rPr sz="2800" spc="-5" dirty="0">
                <a:latin typeface="Segoe UI"/>
                <a:cs typeface="Segoe UI"/>
              </a:rPr>
              <a:t>and </a:t>
            </a:r>
            <a:r>
              <a:rPr sz="2800" spc="-10" dirty="0">
                <a:latin typeface="Segoe UI"/>
                <a:cs typeface="Segoe UI"/>
              </a:rPr>
              <a:t>just </a:t>
            </a:r>
            <a:r>
              <a:rPr sz="2800" spc="30" dirty="0">
                <a:latin typeface="Segoe UI"/>
                <a:cs typeface="Segoe UI"/>
              </a:rPr>
              <a:t>try </a:t>
            </a:r>
            <a:r>
              <a:rPr sz="2800" spc="-15" dirty="0">
                <a:latin typeface="Segoe UI"/>
                <a:cs typeface="Segoe UI"/>
              </a:rPr>
              <a:t>to </a:t>
            </a:r>
            <a:r>
              <a:rPr sz="2800" spc="-5" dirty="0">
                <a:latin typeface="Segoe UI"/>
                <a:cs typeface="Segoe UI"/>
              </a:rPr>
              <a:t>apply  gradient descent</a:t>
            </a:r>
            <a:r>
              <a:rPr sz="2800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anyway!!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15" dirty="0">
                <a:latin typeface="Segoe UI"/>
                <a:cs typeface="Segoe UI"/>
              </a:rPr>
              <a:t>we </a:t>
            </a:r>
            <a:r>
              <a:rPr sz="2800" spc="-10" dirty="0">
                <a:latin typeface="Segoe UI"/>
                <a:cs typeface="Segoe UI"/>
              </a:rPr>
              <a:t>will just differentiate </a:t>
            </a:r>
            <a:r>
              <a:rPr sz="2800" spc="-5" dirty="0">
                <a:latin typeface="Segoe UI"/>
                <a:cs typeface="Segoe UI"/>
              </a:rPr>
              <a:t>by</a:t>
            </a:r>
            <a:r>
              <a:rPr sz="2800" spc="40" dirty="0">
                <a:latin typeface="Segoe UI"/>
                <a:cs typeface="Segoe UI"/>
              </a:rPr>
              <a:t> </a:t>
            </a:r>
            <a:r>
              <a:rPr sz="2800" spc="5" dirty="0">
                <a:latin typeface="Segoe UI"/>
                <a:cs typeface="Segoe UI"/>
              </a:rPr>
              <a:t>parts…</a:t>
            </a:r>
            <a:endParaRPr sz="28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49932" y="94614"/>
            <a:ext cx="5631815" cy="13677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dirty="0"/>
              <a:t>Example: </a:t>
            </a:r>
            <a:r>
              <a:rPr spc="-5" dirty="0"/>
              <a:t>subgradient</a:t>
            </a:r>
            <a:r>
              <a:rPr spc="-100" dirty="0"/>
              <a:t> </a:t>
            </a:r>
            <a:r>
              <a:rPr spc="-120" dirty="0"/>
              <a:t>of</a:t>
            </a:r>
          </a:p>
          <a:p>
            <a:pPr marL="165100" algn="ctr">
              <a:lnSpc>
                <a:spcPct val="100000"/>
              </a:lnSpc>
              <a:spcBef>
                <a:spcPts val="5"/>
              </a:spcBef>
            </a:pPr>
            <a:r>
              <a:rPr spc="-5" dirty="0"/>
              <a:t>hinge</a:t>
            </a:r>
            <a:r>
              <a:rPr spc="-35" dirty="0"/>
              <a:t> </a:t>
            </a:r>
            <a:r>
              <a:rPr spc="-5" dirty="0"/>
              <a:t>loss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59409" y="1872234"/>
            <a:ext cx="2286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"/>
                <a:cs typeface="Arial"/>
              </a:rPr>
              <a:t>For </a:t>
            </a:r>
            <a:r>
              <a:rPr sz="1800" spc="-5" dirty="0">
                <a:latin typeface="Arial"/>
                <a:cs typeface="Arial"/>
              </a:rPr>
              <a:t>a given example</a:t>
            </a:r>
            <a:r>
              <a:rPr sz="1800" spc="-40" dirty="0">
                <a:latin typeface="Arial"/>
                <a:cs typeface="Arial"/>
              </a:rPr>
              <a:t> </a:t>
            </a:r>
            <a:r>
              <a:rPr sz="1800" spc="-5" dirty="0">
                <a:latin typeface="Arial"/>
                <a:cs typeface="Arial"/>
              </a:rPr>
              <a:t>n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527304" y="3704844"/>
            <a:ext cx="8091170" cy="890269"/>
            <a:chOff x="527304" y="3704844"/>
            <a:chExt cx="8091170" cy="890269"/>
          </a:xfrm>
        </p:grpSpPr>
        <p:sp>
          <p:nvSpPr>
            <p:cNvPr id="7" name="object 7"/>
            <p:cNvSpPr/>
            <p:nvPr/>
          </p:nvSpPr>
          <p:spPr>
            <a:xfrm>
              <a:off x="540258" y="3717798"/>
              <a:ext cx="8065134" cy="864235"/>
            </a:xfrm>
            <a:custGeom>
              <a:avLst/>
              <a:gdLst/>
              <a:ahLst/>
              <a:cxnLst/>
              <a:rect l="l" t="t" r="r" b="b"/>
              <a:pathLst>
                <a:path w="8065134" h="864235">
                  <a:moveTo>
                    <a:pt x="8065008" y="0"/>
                  </a:moveTo>
                  <a:lnTo>
                    <a:pt x="0" y="0"/>
                  </a:lnTo>
                  <a:lnTo>
                    <a:pt x="0" y="864107"/>
                  </a:lnTo>
                  <a:lnTo>
                    <a:pt x="8065008" y="864107"/>
                  </a:lnTo>
                  <a:lnTo>
                    <a:pt x="806500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40258" y="3717798"/>
              <a:ext cx="8065134" cy="864235"/>
            </a:xfrm>
            <a:custGeom>
              <a:avLst/>
              <a:gdLst/>
              <a:ahLst/>
              <a:cxnLst/>
              <a:rect l="l" t="t" r="r" b="b"/>
              <a:pathLst>
                <a:path w="8065134" h="864235">
                  <a:moveTo>
                    <a:pt x="0" y="864107"/>
                  </a:moveTo>
                  <a:lnTo>
                    <a:pt x="8065008" y="864107"/>
                  </a:lnTo>
                  <a:lnTo>
                    <a:pt x="8065008" y="0"/>
                  </a:lnTo>
                  <a:lnTo>
                    <a:pt x="0" y="0"/>
                  </a:lnTo>
                  <a:lnTo>
                    <a:pt x="0" y="864107"/>
                  </a:lnTo>
                  <a:close/>
                </a:path>
              </a:pathLst>
            </a:custGeom>
            <a:ln w="25907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511287"/>
            <a:ext cx="6559826" cy="327991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29408" y="147955"/>
            <a:ext cx="488505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70255" marR="5080" indent="-75819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Subgradient</a:t>
            </a:r>
            <a:r>
              <a:rPr spc="-90" dirty="0"/>
              <a:t> </a:t>
            </a:r>
            <a:r>
              <a:rPr spc="-5" dirty="0"/>
              <a:t>Descent  </a:t>
            </a:r>
            <a:r>
              <a:rPr dirty="0"/>
              <a:t>for Hinge</a:t>
            </a:r>
            <a:r>
              <a:rPr spc="-75" dirty="0"/>
              <a:t> </a:t>
            </a:r>
            <a:r>
              <a:rPr dirty="0"/>
              <a:t>Loss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" y="2001167"/>
            <a:ext cx="7164348" cy="425011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883791" y="682930"/>
            <a:ext cx="537718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40" dirty="0">
                <a:latin typeface="Calibri Light"/>
                <a:cs typeface="Calibri Light"/>
              </a:rPr>
              <a:t>Linear </a:t>
            </a:r>
            <a:r>
              <a:rPr sz="3500" spc="25" dirty="0">
                <a:latin typeface="Calibri Light"/>
                <a:cs typeface="Calibri Light"/>
              </a:rPr>
              <a:t>Regression</a:t>
            </a:r>
            <a:r>
              <a:rPr sz="3500" spc="-25" dirty="0">
                <a:latin typeface="Calibri Light"/>
                <a:cs typeface="Calibri Light"/>
              </a:rPr>
              <a:t> </a:t>
            </a:r>
            <a:r>
              <a:rPr sz="3500" spc="30" dirty="0">
                <a:latin typeface="Calibri Light"/>
                <a:cs typeface="Calibri Light"/>
              </a:rPr>
              <a:t>(1)</a:t>
            </a:r>
            <a:endParaRPr sz="3500" dirty="0">
              <a:latin typeface="Calibri Light"/>
              <a:cs typeface="Calibri Ligh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69288" y="1447800"/>
            <a:ext cx="8122284" cy="4201791"/>
          </a:xfrm>
          <a:prstGeom prst="rect">
            <a:avLst/>
          </a:prstGeom>
        </p:spPr>
        <p:txBody>
          <a:bodyPr vert="horz" wrap="square" lIns="0" tIns="79375" rIns="0" bIns="0" rtlCol="0">
            <a:spAutoFit/>
          </a:bodyPr>
          <a:lstStyle/>
          <a:p>
            <a:pPr marL="279400" indent="-228600">
              <a:lnSpc>
                <a:spcPct val="100000"/>
              </a:lnSpc>
              <a:spcBef>
                <a:spcPts val="625"/>
              </a:spcBef>
              <a:buFont typeface="Arial"/>
              <a:buChar char="•"/>
              <a:tabLst>
                <a:tab pos="279400" algn="l"/>
                <a:tab pos="3963035" algn="l"/>
                <a:tab pos="4202430" algn="l"/>
                <a:tab pos="5060950" algn="l"/>
                <a:tab pos="5723890" algn="l"/>
                <a:tab pos="6771005" algn="l"/>
              </a:tabLst>
            </a:pPr>
            <a:r>
              <a:rPr sz="2400" spc="-5" dirty="0">
                <a:latin typeface="Calibri"/>
                <a:cs typeface="Calibri"/>
              </a:rPr>
              <a:t>Given </a:t>
            </a:r>
            <a:r>
              <a:rPr sz="2400" dirty="0">
                <a:latin typeface="Calibri"/>
                <a:cs typeface="Calibri"/>
              </a:rPr>
              <a:t>a </a:t>
            </a:r>
            <a:r>
              <a:rPr sz="2400" spc="-10" dirty="0">
                <a:latin typeface="Calibri"/>
                <a:cs typeface="Calibri"/>
              </a:rPr>
              <a:t>dataset </a:t>
            </a:r>
            <a:endParaRPr lang="en-US" sz="2400" spc="-10" dirty="0">
              <a:latin typeface="Calibri"/>
              <a:cs typeface="Calibri"/>
            </a:endParaRPr>
          </a:p>
          <a:p>
            <a:pPr marL="50800">
              <a:lnSpc>
                <a:spcPct val="100000"/>
              </a:lnSpc>
              <a:spcBef>
                <a:spcPts val="625"/>
              </a:spcBef>
              <a:tabLst>
                <a:tab pos="279400" algn="l"/>
                <a:tab pos="3963035" algn="l"/>
                <a:tab pos="4202430" algn="l"/>
                <a:tab pos="5060950" algn="l"/>
                <a:tab pos="5723890" algn="l"/>
                <a:tab pos="6771005" algn="l"/>
              </a:tabLst>
            </a:pPr>
            <a:r>
              <a:rPr lang="en-US" sz="2400" spc="-5" dirty="0">
                <a:latin typeface="Calibri"/>
                <a:cs typeface="Calibri"/>
              </a:rPr>
              <a:t>    </a:t>
            </a:r>
            <a:r>
              <a:rPr lang="en-US" sz="2400" spc="-20" dirty="0">
                <a:latin typeface="Calibri"/>
                <a:cs typeface="Calibri"/>
              </a:rPr>
              <a:t> </a:t>
            </a:r>
            <a:r>
              <a:rPr lang="en-US" sz="2400" spc="-10" dirty="0">
                <a:latin typeface="Calibri"/>
                <a:cs typeface="Calibri"/>
              </a:rPr>
              <a:t>where </a:t>
            </a:r>
            <a:endParaRPr sz="2400" dirty="0">
              <a:latin typeface="Cambria Math"/>
              <a:cs typeface="Cambria Math"/>
            </a:endParaRPr>
          </a:p>
          <a:p>
            <a:pPr marL="279400" indent="-266700">
              <a:lnSpc>
                <a:spcPct val="100000"/>
              </a:lnSpc>
              <a:spcBef>
                <a:spcPts val="1610"/>
              </a:spcBef>
              <a:buFont typeface="Arial"/>
              <a:buChar char="•"/>
              <a:tabLst>
                <a:tab pos="279400" algn="l"/>
              </a:tabLst>
            </a:pPr>
            <a:r>
              <a:rPr sz="2400" spc="-5" dirty="0">
                <a:latin typeface="Calibri"/>
                <a:cs typeface="Calibri"/>
              </a:rPr>
              <a:t>In the simple </a:t>
            </a:r>
            <a:r>
              <a:rPr sz="2400" spc="-10" dirty="0">
                <a:latin typeface="Calibri"/>
                <a:cs typeface="Calibri"/>
              </a:rPr>
              <a:t>case that </a:t>
            </a:r>
            <a:r>
              <a:rPr sz="2400" dirty="0">
                <a:latin typeface="Calibri"/>
                <a:cs typeface="Calibri"/>
              </a:rPr>
              <a:t>each </a:t>
            </a:r>
            <a:r>
              <a:rPr sz="2400" spc="-5" dirty="0">
                <a:latin typeface="Calibri"/>
                <a:cs typeface="Calibri"/>
              </a:rPr>
              <a:t>sample </a:t>
            </a:r>
            <a:r>
              <a:rPr sz="2400" dirty="0">
                <a:latin typeface="Calibri"/>
                <a:cs typeface="Calibri"/>
              </a:rPr>
              <a:t>has </a:t>
            </a:r>
            <a:r>
              <a:rPr sz="2400" spc="-5" dirty="0">
                <a:latin typeface="Calibri"/>
                <a:cs typeface="Calibri"/>
              </a:rPr>
              <a:t>only one </a:t>
            </a:r>
            <a:r>
              <a:rPr sz="2400" spc="-15" dirty="0">
                <a:latin typeface="Calibri"/>
                <a:cs typeface="Calibri"/>
              </a:rPr>
              <a:t>attribute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(i.e.,</a:t>
            </a:r>
            <a:endParaRPr sz="2400" dirty="0">
              <a:latin typeface="Calibri"/>
              <a:cs typeface="Calibri"/>
            </a:endParaRPr>
          </a:p>
          <a:p>
            <a:pPr marL="27940" algn="ctr">
              <a:lnSpc>
                <a:spcPct val="100000"/>
              </a:lnSpc>
              <a:spcBef>
                <a:spcPts val="620"/>
              </a:spcBef>
            </a:pPr>
            <a:r>
              <a:rPr lang="en-US" sz="2400" i="1" spc="60" dirty="0">
                <a:latin typeface="Cambria Math"/>
                <a:cs typeface="Cambria Math"/>
              </a:rPr>
              <a:t>d</a:t>
            </a:r>
            <a:r>
              <a:rPr sz="2400" i="1" spc="60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 </a:t>
            </a:r>
            <a:r>
              <a:rPr sz="2400" spc="-5" dirty="0">
                <a:latin typeface="Cambria Math"/>
                <a:cs typeface="Cambria Math"/>
              </a:rPr>
              <a:t>1</a:t>
            </a:r>
            <a:r>
              <a:rPr sz="2400" spc="-5" dirty="0">
                <a:latin typeface="Calibri"/>
                <a:cs typeface="Calibri"/>
              </a:rPr>
              <a:t>), linear </a:t>
            </a:r>
            <a:r>
              <a:rPr sz="2400" spc="-10" dirty="0">
                <a:latin typeface="Calibri"/>
                <a:cs typeface="Calibri"/>
              </a:rPr>
              <a:t>regression </a:t>
            </a:r>
            <a:r>
              <a:rPr sz="2400" spc="-5" dirty="0">
                <a:latin typeface="Calibri"/>
                <a:cs typeface="Calibri"/>
              </a:rPr>
              <a:t>aims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dirty="0">
                <a:latin typeface="Calibri"/>
                <a:cs typeface="Calibri"/>
              </a:rPr>
              <a:t>learn </a:t>
            </a:r>
            <a:r>
              <a:rPr sz="2400" spc="-5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following</a:t>
            </a:r>
            <a:r>
              <a:rPr sz="2400" spc="26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function:</a:t>
            </a:r>
            <a:endParaRPr sz="2400" dirty="0">
              <a:latin typeface="Calibri"/>
              <a:cs typeface="Calibri"/>
            </a:endParaRPr>
          </a:p>
          <a:p>
            <a:pPr marL="323850">
              <a:lnSpc>
                <a:spcPct val="100000"/>
              </a:lnSpc>
              <a:spcBef>
                <a:spcPts val="1605"/>
              </a:spcBef>
              <a:tabLst>
                <a:tab pos="3475990" algn="l"/>
                <a:tab pos="3780154" algn="l"/>
                <a:tab pos="4248150" algn="l"/>
              </a:tabLst>
            </a:pPr>
            <a:endParaRPr lang="en-US" sz="2400" spc="-5" dirty="0">
              <a:latin typeface="Calibri"/>
              <a:cs typeface="Calibri"/>
            </a:endParaRPr>
          </a:p>
          <a:p>
            <a:pPr marL="323850">
              <a:lnSpc>
                <a:spcPct val="100000"/>
              </a:lnSpc>
              <a:spcBef>
                <a:spcPts val="1605"/>
              </a:spcBef>
              <a:tabLst>
                <a:tab pos="3475990" algn="l"/>
                <a:tab pos="3780154" algn="l"/>
                <a:tab pos="4248150" algn="l"/>
              </a:tabLst>
            </a:pPr>
            <a:r>
              <a:rPr sz="2400" spc="-5" dirty="0">
                <a:latin typeface="Calibri"/>
                <a:cs typeface="Calibri"/>
              </a:rPr>
              <a:t>such </a:t>
            </a:r>
            <a:r>
              <a:rPr sz="2400" spc="-10" dirty="0">
                <a:latin typeface="Calibri"/>
                <a:cs typeface="Calibri"/>
              </a:rPr>
              <a:t>that</a:t>
            </a:r>
            <a:r>
              <a:rPr lang="en-US" sz="2400" spc="-10" dirty="0">
                <a:latin typeface="Calibri"/>
                <a:cs typeface="Calibri"/>
              </a:rPr>
              <a:t>                           </a:t>
            </a:r>
            <a:endParaRPr sz="2700" baseline="-15432" dirty="0">
              <a:latin typeface="Cambria Math"/>
              <a:cs typeface="Cambria Math"/>
            </a:endParaRPr>
          </a:p>
          <a:p>
            <a:pPr marL="279400" indent="-228600">
              <a:lnSpc>
                <a:spcPct val="100000"/>
              </a:lnSpc>
              <a:spcBef>
                <a:spcPts val="1515"/>
              </a:spcBef>
              <a:buFont typeface="Arial"/>
              <a:buChar char="•"/>
              <a:tabLst>
                <a:tab pos="279400" algn="l"/>
              </a:tabLst>
            </a:pPr>
            <a:r>
              <a:rPr sz="2400" i="1" spc="-5" dirty="0">
                <a:solidFill>
                  <a:srgbClr val="C00000"/>
                </a:solidFill>
                <a:latin typeface="Calibri"/>
                <a:cs typeface="Calibri"/>
              </a:rPr>
              <a:t>How </a:t>
            </a:r>
            <a:r>
              <a:rPr sz="2400" i="1" spc="-20" dirty="0">
                <a:solidFill>
                  <a:srgbClr val="C00000"/>
                </a:solidFill>
                <a:latin typeface="Calibri"/>
                <a:cs typeface="Calibri"/>
              </a:rPr>
              <a:t>to </a:t>
            </a:r>
            <a:r>
              <a:rPr sz="2400" i="1" spc="-5" dirty="0">
                <a:solidFill>
                  <a:srgbClr val="C00000"/>
                </a:solidFill>
                <a:latin typeface="Calibri"/>
                <a:cs typeface="Calibri"/>
              </a:rPr>
              <a:t>determine the parameters </a:t>
            </a:r>
            <a:r>
              <a:rPr lang="en-US" sz="2400" i="1" spc="440" dirty="0">
                <a:solidFill>
                  <a:srgbClr val="C00000"/>
                </a:solidFill>
                <a:latin typeface="Cambria Math"/>
                <a:cs typeface="Calibri"/>
              </a:rPr>
              <a:t>w</a:t>
            </a:r>
            <a:r>
              <a:rPr sz="2400" spc="440" dirty="0">
                <a:solidFill>
                  <a:srgbClr val="C00000"/>
                </a:solidFill>
                <a:latin typeface="Cambria Math"/>
                <a:cs typeface="Cambria Math"/>
              </a:rPr>
              <a:t> </a:t>
            </a:r>
            <a:r>
              <a:rPr sz="2400" i="1" dirty="0">
                <a:solidFill>
                  <a:srgbClr val="C00000"/>
                </a:solidFill>
                <a:latin typeface="Calibri"/>
                <a:cs typeface="Calibri"/>
              </a:rPr>
              <a:t>and</a:t>
            </a:r>
            <a:r>
              <a:rPr sz="2400" i="1" spc="-36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lang="en-US" sz="2400" i="1" spc="350" dirty="0">
                <a:solidFill>
                  <a:srgbClr val="C00000"/>
                </a:solidFill>
                <a:latin typeface="Cambria Math"/>
                <a:cs typeface="Calibri"/>
              </a:rPr>
              <a:t> b ?</a:t>
            </a:r>
            <a:endParaRPr sz="2400" dirty="0">
              <a:latin typeface="Calibri"/>
              <a:cs typeface="Calibri"/>
            </a:endParaRPr>
          </a:p>
          <a:p>
            <a:pPr marL="279400" indent="-228600">
              <a:lnSpc>
                <a:spcPct val="100000"/>
              </a:lnSpc>
              <a:spcBef>
                <a:spcPts val="1630"/>
              </a:spcBef>
              <a:buFont typeface="Arial"/>
              <a:buChar char="•"/>
              <a:tabLst>
                <a:tab pos="279400" algn="l"/>
              </a:tabLst>
            </a:pPr>
            <a:r>
              <a:rPr sz="2400" spc="-45" dirty="0">
                <a:latin typeface="Calibri"/>
                <a:cs typeface="Calibri"/>
              </a:rPr>
              <a:t>We </a:t>
            </a:r>
            <a:r>
              <a:rPr sz="2400" spc="-5" dirty="0">
                <a:latin typeface="Calibri"/>
                <a:cs typeface="Calibri"/>
              </a:rPr>
              <a:t>will use the </a:t>
            </a:r>
            <a:r>
              <a:rPr sz="2400" spc="-10" dirty="0">
                <a:latin typeface="Calibri"/>
                <a:cs typeface="Calibri"/>
              </a:rPr>
              <a:t>square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loss!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F0EB1A-A8B4-4020-9053-760E0D66A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8487" y="1524000"/>
            <a:ext cx="3737113" cy="3677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E5AD64B-F34A-4695-88FE-D896501F9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1200" y="1944757"/>
            <a:ext cx="3220278" cy="4174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6EE604-2F65-4E8C-A57E-5854330E18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3488635"/>
            <a:ext cx="1828800" cy="39756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812F3E7-3664-47AE-88E1-AD76427283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2400" y="3995530"/>
            <a:ext cx="1152939" cy="34787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883791" y="682930"/>
            <a:ext cx="537718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40" dirty="0">
                <a:latin typeface="Calibri Light"/>
                <a:cs typeface="Calibri Light"/>
              </a:rPr>
              <a:t>Linear </a:t>
            </a:r>
            <a:r>
              <a:rPr sz="3500" spc="25" dirty="0">
                <a:latin typeface="Calibri Light"/>
                <a:cs typeface="Calibri Light"/>
              </a:rPr>
              <a:t>Regression</a:t>
            </a:r>
            <a:r>
              <a:rPr sz="3500" spc="-25" dirty="0">
                <a:latin typeface="Calibri Light"/>
                <a:cs typeface="Calibri Light"/>
              </a:rPr>
              <a:t> </a:t>
            </a:r>
            <a:r>
              <a:rPr sz="3500" spc="30" dirty="0">
                <a:latin typeface="Calibri Light"/>
                <a:cs typeface="Calibri Light"/>
              </a:rPr>
              <a:t>(2)</a:t>
            </a:r>
            <a:endParaRPr sz="3500" dirty="0">
              <a:latin typeface="Calibri Light"/>
              <a:cs typeface="Calibri Ligh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94688" y="1564028"/>
            <a:ext cx="7778115" cy="194117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0" marR="17780" indent="-228600">
              <a:lnSpc>
                <a:spcPct val="118300"/>
              </a:lnSpc>
              <a:spcBef>
                <a:spcPts val="100"/>
              </a:spcBef>
              <a:buFont typeface="Arial"/>
              <a:buChar char="•"/>
              <a:tabLst>
                <a:tab pos="254000" algn="l"/>
              </a:tabLst>
            </a:pPr>
            <a:r>
              <a:rPr sz="2400" spc="-5" dirty="0">
                <a:latin typeface="Calibri"/>
                <a:cs typeface="Calibri"/>
              </a:rPr>
              <a:t>In the simple </a:t>
            </a:r>
            <a:r>
              <a:rPr sz="2400" spc="-10" dirty="0">
                <a:latin typeface="Calibri"/>
                <a:cs typeface="Calibri"/>
              </a:rPr>
              <a:t>case </a:t>
            </a:r>
            <a:r>
              <a:rPr sz="2400" spc="-5" dirty="0">
                <a:latin typeface="Calibri"/>
                <a:cs typeface="Calibri"/>
              </a:rPr>
              <a:t>with only one </a:t>
            </a:r>
            <a:r>
              <a:rPr sz="2400" spc="-15" dirty="0">
                <a:latin typeface="Calibri"/>
                <a:cs typeface="Calibri"/>
              </a:rPr>
              <a:t>attribute </a:t>
            </a:r>
            <a:r>
              <a:rPr sz="2400" spc="-5" dirty="0">
                <a:latin typeface="Calibri"/>
                <a:cs typeface="Calibri"/>
              </a:rPr>
              <a:t>(i.e., </a:t>
            </a:r>
            <a:r>
              <a:rPr lang="en-US" sz="2400" i="1" spc="705" dirty="0">
                <a:latin typeface="Cambria Math"/>
                <a:cs typeface="Calibri"/>
              </a:rPr>
              <a:t>d</a:t>
            </a:r>
            <a:r>
              <a:rPr sz="2400" dirty="0">
                <a:latin typeface="Cambria Math"/>
                <a:cs typeface="Cambria Math"/>
              </a:rPr>
              <a:t>= </a:t>
            </a:r>
            <a:r>
              <a:rPr sz="2400" spc="-5" dirty="0">
                <a:latin typeface="Cambria Math"/>
                <a:cs typeface="Cambria Math"/>
              </a:rPr>
              <a:t>1</a:t>
            </a:r>
            <a:r>
              <a:rPr sz="2400" spc="-5" dirty="0">
                <a:latin typeface="Calibri"/>
                <a:cs typeface="Calibri"/>
              </a:rPr>
              <a:t>),</a:t>
            </a:r>
            <a:r>
              <a:rPr sz="2400" spc="-3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linear  </a:t>
            </a:r>
            <a:r>
              <a:rPr sz="2400" spc="-10" dirty="0">
                <a:latin typeface="Calibri"/>
                <a:cs typeface="Calibri"/>
              </a:rPr>
              <a:t>regression </a:t>
            </a:r>
            <a:r>
              <a:rPr sz="2400" spc="-5" dirty="0">
                <a:latin typeface="Calibri"/>
                <a:cs typeface="Calibri"/>
              </a:rPr>
              <a:t>aims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dirty="0">
                <a:latin typeface="Calibri"/>
                <a:cs typeface="Calibri"/>
              </a:rPr>
              <a:t>learn </a:t>
            </a:r>
            <a:r>
              <a:rPr sz="2400" spc="-5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following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function:</a:t>
            </a:r>
            <a:endParaRPr sz="2400" dirty="0">
              <a:latin typeface="Calibri"/>
              <a:cs typeface="Calibri"/>
            </a:endParaRPr>
          </a:p>
          <a:p>
            <a:pPr marL="939165">
              <a:lnSpc>
                <a:spcPct val="100000"/>
              </a:lnSpc>
              <a:spcBef>
                <a:spcPts val="1605"/>
              </a:spcBef>
              <a:tabLst>
                <a:tab pos="1243330" algn="l"/>
                <a:tab pos="1711325" algn="l"/>
                <a:tab pos="4596765" algn="l"/>
                <a:tab pos="4900930" algn="l"/>
                <a:tab pos="5368925" algn="l"/>
              </a:tabLst>
            </a:pPr>
            <a:endParaRPr sz="2700" baseline="-15432" dirty="0">
              <a:latin typeface="Cambria Math"/>
              <a:cs typeface="Cambria Math"/>
            </a:endParaRPr>
          </a:p>
          <a:p>
            <a:pPr marL="254000" indent="-228600">
              <a:lnSpc>
                <a:spcPct val="100000"/>
              </a:lnSpc>
              <a:spcBef>
                <a:spcPts val="1635"/>
              </a:spcBef>
              <a:buFont typeface="Arial"/>
              <a:buChar char="•"/>
              <a:tabLst>
                <a:tab pos="254000" algn="l"/>
              </a:tabLst>
            </a:pPr>
            <a:r>
              <a:rPr sz="2400" spc="-45" dirty="0">
                <a:latin typeface="Calibri"/>
                <a:cs typeface="Calibri"/>
              </a:rPr>
              <a:t>We </a:t>
            </a:r>
            <a:r>
              <a:rPr sz="2400" spc="-10" dirty="0">
                <a:latin typeface="Calibri"/>
                <a:cs typeface="Calibri"/>
              </a:rPr>
              <a:t>can minimize </a:t>
            </a:r>
            <a:r>
              <a:rPr sz="2400" spc="-5" dirty="0">
                <a:latin typeface="Calibri"/>
                <a:cs typeface="Calibri"/>
              </a:rPr>
              <a:t>the loss function using </a:t>
            </a:r>
            <a:r>
              <a:rPr sz="2400" spc="-10" dirty="0">
                <a:solidFill>
                  <a:srgbClr val="C00000"/>
                </a:solidFill>
                <a:latin typeface="Calibri"/>
                <a:cs typeface="Calibri"/>
              </a:rPr>
              <a:t>squared</a:t>
            </a:r>
            <a:r>
              <a:rPr sz="2400" spc="3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spc="-5" dirty="0">
                <a:solidFill>
                  <a:srgbClr val="C00000"/>
                </a:solidFill>
                <a:latin typeface="Calibri"/>
                <a:cs typeface="Calibri"/>
              </a:rPr>
              <a:t>loss</a:t>
            </a:r>
            <a:r>
              <a:rPr sz="2400" spc="-5" dirty="0">
                <a:latin typeface="Calibri"/>
                <a:cs typeface="Calibri"/>
              </a:rPr>
              <a:t>: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69288" y="4953000"/>
            <a:ext cx="7944484" cy="514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9400" indent="-228600">
              <a:lnSpc>
                <a:spcPts val="2340"/>
              </a:lnSpc>
              <a:spcBef>
                <a:spcPts val="100"/>
              </a:spcBef>
              <a:buFont typeface="Arial"/>
              <a:buChar char="•"/>
              <a:tabLst>
                <a:tab pos="279400" algn="l"/>
              </a:tabLst>
            </a:pPr>
            <a:r>
              <a:rPr sz="2400" spc="-10" dirty="0">
                <a:latin typeface="Calibri"/>
                <a:cs typeface="Calibri"/>
              </a:rPr>
              <a:t>Calculate </a:t>
            </a:r>
            <a:r>
              <a:rPr sz="2400" spc="-5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derivative </a:t>
            </a:r>
            <a:r>
              <a:rPr sz="2400" spc="-5" dirty="0">
                <a:latin typeface="Calibri"/>
                <a:cs typeface="Calibri"/>
              </a:rPr>
              <a:t>of </a:t>
            </a:r>
            <a:r>
              <a:rPr sz="2700" spc="179" baseline="43209" dirty="0">
                <a:latin typeface="Cambria Math"/>
                <a:cs typeface="Cambria Math"/>
              </a:rPr>
              <a:t> </a:t>
            </a:r>
            <a:r>
              <a:rPr lang="en-US" sz="2700" spc="179" baseline="43209" dirty="0">
                <a:latin typeface="Cambria Math"/>
                <a:cs typeface="Cambria Math"/>
              </a:rPr>
              <a:t>     </a:t>
            </a:r>
            <a:r>
              <a:rPr sz="2400" dirty="0">
                <a:latin typeface="Calibri"/>
                <a:cs typeface="Calibri"/>
              </a:rPr>
              <a:t>and </a:t>
            </a:r>
            <a:r>
              <a:rPr lang="en-US" sz="2400" dirty="0">
                <a:latin typeface="Calibri"/>
                <a:cs typeface="Calibri"/>
              </a:rPr>
              <a:t>     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 </a:t>
            </a:r>
            <a:r>
              <a:rPr sz="2400" spc="-10" dirty="0">
                <a:latin typeface="Calibri"/>
                <a:cs typeface="Calibri"/>
              </a:rPr>
              <a:t>let </a:t>
            </a:r>
            <a:r>
              <a:rPr sz="2400" dirty="0">
                <a:latin typeface="Calibri"/>
                <a:cs typeface="Calibri"/>
              </a:rPr>
              <a:t>them equal </a:t>
            </a:r>
            <a:r>
              <a:rPr sz="2400" spc="-15" dirty="0">
                <a:latin typeface="Calibri"/>
                <a:cs typeface="Calibri"/>
              </a:rPr>
              <a:t>to</a:t>
            </a:r>
            <a:r>
              <a:rPr sz="2400" spc="-13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0.</a:t>
            </a:r>
            <a:endParaRPr sz="2400" dirty="0">
              <a:latin typeface="Calibri"/>
              <a:cs typeface="Calibri"/>
            </a:endParaRPr>
          </a:p>
          <a:p>
            <a:pPr marL="412115" algn="ctr">
              <a:lnSpc>
                <a:spcPts val="1620"/>
              </a:lnSpc>
              <a:tabLst>
                <a:tab pos="1341755" algn="l"/>
              </a:tabLst>
            </a:pPr>
            <a:r>
              <a:rPr sz="1800" spc="540" dirty="0">
                <a:latin typeface="Cambria Math"/>
                <a:cs typeface="Cambria Math"/>
              </a:rPr>
              <a:t>	</a:t>
            </a:r>
            <a:endParaRPr sz="1800" dirty="0">
              <a:latin typeface="Cambria Math"/>
              <a:cs typeface="Cambria Math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0C757AF-A906-4174-83E8-B8FB60AED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514600"/>
            <a:ext cx="1828800" cy="39756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A2F939E-FE8E-4B6C-AD2A-3B3B37992D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4861" y="2547730"/>
            <a:ext cx="1152939" cy="34787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B2373C2-0CDD-4D06-A896-1ED16BFF19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4417" y="3756991"/>
            <a:ext cx="4055165" cy="81500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AB195A3-C0CB-4B73-955B-020A792129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4191" y="4896678"/>
            <a:ext cx="357809" cy="43732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F2849C1-1361-46EB-BB89-D159AC434C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8348" y="4866861"/>
            <a:ext cx="318052" cy="46713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883791" y="682930"/>
            <a:ext cx="537718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40" dirty="0">
                <a:latin typeface="Calibri Light"/>
                <a:cs typeface="Calibri Light"/>
              </a:rPr>
              <a:t>Linear </a:t>
            </a:r>
            <a:r>
              <a:rPr sz="3500" spc="25" dirty="0">
                <a:latin typeface="Calibri Light"/>
                <a:cs typeface="Calibri Light"/>
              </a:rPr>
              <a:t>Regression</a:t>
            </a:r>
            <a:r>
              <a:rPr sz="3500" spc="-25" dirty="0">
                <a:latin typeface="Calibri Light"/>
                <a:cs typeface="Calibri Light"/>
              </a:rPr>
              <a:t> </a:t>
            </a:r>
            <a:r>
              <a:rPr sz="3500" spc="30" dirty="0">
                <a:latin typeface="Calibri Light"/>
                <a:cs typeface="Calibri Light"/>
              </a:rPr>
              <a:t>(3)</a:t>
            </a:r>
            <a:endParaRPr sz="3500" dirty="0">
              <a:latin typeface="Calibri Light"/>
              <a:cs typeface="Calibri Ligh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94688" y="1536621"/>
            <a:ext cx="8023225" cy="22970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0" marR="198120" indent="-228600">
              <a:lnSpc>
                <a:spcPct val="107500"/>
              </a:lnSpc>
              <a:spcBef>
                <a:spcPts val="100"/>
              </a:spcBef>
              <a:buFont typeface="Arial"/>
              <a:buChar char="•"/>
              <a:tabLst>
                <a:tab pos="254000" algn="l"/>
              </a:tabLst>
            </a:pPr>
            <a:r>
              <a:rPr sz="2400" spc="-5" dirty="0">
                <a:latin typeface="Calibri"/>
                <a:cs typeface="Calibri"/>
              </a:rPr>
              <a:t>In the </a:t>
            </a:r>
            <a:r>
              <a:rPr sz="2400" spc="-10" dirty="0">
                <a:latin typeface="Calibri"/>
                <a:cs typeface="Calibri"/>
              </a:rPr>
              <a:t>general case </a:t>
            </a:r>
            <a:r>
              <a:rPr sz="2400" spc="-5" dirty="0">
                <a:latin typeface="Calibri"/>
                <a:cs typeface="Calibri"/>
              </a:rPr>
              <a:t>with multiple </a:t>
            </a:r>
            <a:r>
              <a:rPr sz="2400" spc="-15" dirty="0">
                <a:latin typeface="Calibri"/>
                <a:cs typeface="Calibri"/>
              </a:rPr>
              <a:t>attribute </a:t>
            </a:r>
            <a:r>
              <a:rPr sz="2400" spc="-5" dirty="0">
                <a:latin typeface="Calibri"/>
                <a:cs typeface="Calibri"/>
              </a:rPr>
              <a:t>(i.e., </a:t>
            </a:r>
            <a:r>
              <a:rPr lang="en-US" sz="2400" i="1" spc="705" dirty="0">
                <a:latin typeface="Cambria Math"/>
                <a:cs typeface="Calibri"/>
              </a:rPr>
              <a:t>d&gt;</a:t>
            </a:r>
            <a:r>
              <a:rPr sz="2400" dirty="0">
                <a:latin typeface="Cambria Math"/>
                <a:cs typeface="Cambria Math"/>
              </a:rPr>
              <a:t> </a:t>
            </a:r>
            <a:r>
              <a:rPr sz="2400" spc="-5" dirty="0">
                <a:latin typeface="Cambria Math"/>
                <a:cs typeface="Cambria Math"/>
              </a:rPr>
              <a:t>1</a:t>
            </a:r>
            <a:r>
              <a:rPr sz="2400" spc="-5" dirty="0">
                <a:latin typeface="Calibri"/>
                <a:cs typeface="Calibri"/>
              </a:rPr>
              <a:t>),</a:t>
            </a:r>
            <a:r>
              <a:rPr sz="2400" spc="-33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linear  </a:t>
            </a:r>
            <a:r>
              <a:rPr sz="2400" spc="-10" dirty="0">
                <a:latin typeface="Calibri"/>
                <a:cs typeface="Calibri"/>
              </a:rPr>
              <a:t>regression </a:t>
            </a:r>
            <a:r>
              <a:rPr sz="2400" spc="-5" dirty="0">
                <a:latin typeface="Calibri"/>
                <a:cs typeface="Calibri"/>
              </a:rPr>
              <a:t>aims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dirty="0">
                <a:latin typeface="Calibri"/>
                <a:cs typeface="Calibri"/>
              </a:rPr>
              <a:t>learn </a:t>
            </a:r>
            <a:r>
              <a:rPr sz="2400" spc="-5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following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function:</a:t>
            </a:r>
            <a:endParaRPr sz="2400" dirty="0">
              <a:latin typeface="Calibri"/>
              <a:cs typeface="Calibri"/>
            </a:endParaRPr>
          </a:p>
          <a:p>
            <a:pPr marL="254000" marR="17780" indent="-228600">
              <a:lnSpc>
                <a:spcPct val="110800"/>
              </a:lnSpc>
              <a:spcBef>
                <a:spcPts val="1005"/>
              </a:spcBef>
              <a:buFont typeface="Arial"/>
              <a:buChar char="•"/>
              <a:tabLst>
                <a:tab pos="254000" algn="l"/>
              </a:tabLst>
            </a:pPr>
            <a:endParaRPr lang="en-US" sz="2400" spc="-15" dirty="0">
              <a:latin typeface="Calibri"/>
              <a:cs typeface="Calibri"/>
            </a:endParaRPr>
          </a:p>
          <a:p>
            <a:pPr marL="254000" marR="17780" indent="-228600">
              <a:lnSpc>
                <a:spcPct val="110800"/>
              </a:lnSpc>
              <a:spcBef>
                <a:spcPts val="1005"/>
              </a:spcBef>
              <a:buFont typeface="Arial"/>
              <a:buChar char="•"/>
              <a:tabLst>
                <a:tab pos="254000" algn="l"/>
              </a:tabLst>
            </a:pPr>
            <a:r>
              <a:rPr sz="2400" spc="-15" dirty="0">
                <a:latin typeface="Calibri"/>
                <a:cs typeface="Calibri"/>
              </a:rPr>
              <a:t>For </a:t>
            </a:r>
            <a:r>
              <a:rPr sz="2400" spc="-20" dirty="0">
                <a:latin typeface="Calibri"/>
                <a:cs typeface="Calibri"/>
              </a:rPr>
              <a:t>simplicity, </a:t>
            </a:r>
            <a:r>
              <a:rPr sz="2400" spc="-15" dirty="0">
                <a:latin typeface="Calibri"/>
                <a:cs typeface="Calibri"/>
              </a:rPr>
              <a:t>we </a:t>
            </a:r>
            <a:r>
              <a:rPr sz="2400" spc="-5" dirty="0">
                <a:latin typeface="Calibri"/>
                <a:cs typeface="Calibri"/>
              </a:rPr>
              <a:t>define </a:t>
            </a:r>
            <a:r>
              <a:rPr lang="en-US" sz="2400" spc="-5" dirty="0">
                <a:latin typeface="Calibri"/>
                <a:cs typeface="Calibri"/>
              </a:rPr>
              <a:t> </a:t>
            </a:r>
            <a:r>
              <a:rPr sz="2400" spc="125" dirty="0">
                <a:latin typeface="Cambria Math"/>
                <a:cs typeface="Cambria Math"/>
              </a:rPr>
              <a:t> </a:t>
            </a:r>
            <a:r>
              <a:rPr lang="en-US" sz="2400" spc="125" dirty="0">
                <a:latin typeface="Cambria Math"/>
                <a:cs typeface="Cambria Math"/>
              </a:rPr>
              <a:t>  </a:t>
            </a:r>
            <a:r>
              <a:rPr sz="2400" dirty="0">
                <a:latin typeface="Cambria Math"/>
                <a:cs typeface="Cambria Math"/>
              </a:rPr>
              <a:t>= </a:t>
            </a:r>
            <a:r>
              <a:rPr sz="2400" spc="434" dirty="0">
                <a:latin typeface="Cambria Math"/>
                <a:cs typeface="Cambria Math"/>
              </a:rPr>
              <a:t>[</a:t>
            </a:r>
            <a:r>
              <a:rPr lang="en-US" sz="2400" b="1" i="1" spc="434" dirty="0" err="1">
                <a:latin typeface="Cambria Math"/>
                <a:cs typeface="Cambria Math"/>
              </a:rPr>
              <a:t>w</a:t>
            </a:r>
            <a:r>
              <a:rPr sz="2400" spc="434" dirty="0" err="1">
                <a:latin typeface="Cambria Math"/>
                <a:cs typeface="Cambria Math"/>
              </a:rPr>
              <a:t>,</a:t>
            </a:r>
            <a:r>
              <a:rPr lang="en-US" sz="2400" i="1" spc="120" dirty="0" err="1">
                <a:latin typeface="Cambria Math"/>
                <a:cs typeface="Cambria Math"/>
              </a:rPr>
              <a:t>b</a:t>
            </a:r>
            <a:r>
              <a:rPr sz="2400" spc="120" dirty="0">
                <a:latin typeface="Cambria Math"/>
                <a:cs typeface="Cambria Math"/>
              </a:rPr>
              <a:t>]</a:t>
            </a:r>
            <a:r>
              <a:rPr lang="en-US" sz="2700" spc="179" baseline="27777" dirty="0">
                <a:latin typeface="Cambria Math"/>
                <a:cs typeface="Cambria Math"/>
              </a:rPr>
              <a:t>T</a:t>
            </a:r>
            <a:r>
              <a:rPr sz="2400" spc="120" dirty="0">
                <a:latin typeface="Calibri"/>
                <a:cs typeface="Calibri"/>
              </a:rPr>
              <a:t>, </a:t>
            </a:r>
            <a:r>
              <a:rPr sz="2400" spc="-10" dirty="0">
                <a:latin typeface="Calibri"/>
                <a:cs typeface="Calibri"/>
              </a:rPr>
              <a:t>represent dataset </a:t>
            </a:r>
            <a:r>
              <a:rPr sz="2400" spc="330" dirty="0">
                <a:latin typeface="Cambria Math"/>
                <a:cs typeface="Cambria Math"/>
              </a:rPr>
              <a:t>2</a:t>
            </a:r>
            <a:r>
              <a:rPr sz="2400" spc="-215" dirty="0">
                <a:latin typeface="Cambria Math"/>
                <a:cs typeface="Cambria Math"/>
              </a:rPr>
              <a:t> </a:t>
            </a:r>
            <a:r>
              <a:rPr sz="2400" dirty="0">
                <a:latin typeface="Calibri"/>
                <a:cs typeface="Calibri"/>
              </a:rPr>
              <a:t>as a  </a:t>
            </a:r>
            <a:r>
              <a:rPr sz="2400" spc="-10" dirty="0">
                <a:latin typeface="Calibri"/>
                <a:cs typeface="Calibri"/>
              </a:rPr>
              <a:t>matrix </a:t>
            </a:r>
            <a:r>
              <a:rPr lang="en-US" sz="2400" b="1" i="1" spc="330" dirty="0">
                <a:latin typeface="Cambria Math"/>
                <a:cs typeface="Calibri"/>
              </a:rPr>
              <a:t>X</a:t>
            </a:r>
            <a:r>
              <a:rPr sz="2400" spc="330" dirty="0">
                <a:latin typeface="Cambria Math"/>
                <a:cs typeface="Cambria Math"/>
              </a:rPr>
              <a:t> </a:t>
            </a:r>
            <a:r>
              <a:rPr sz="2400" spc="-5" dirty="0">
                <a:latin typeface="Calibri"/>
                <a:cs typeface="Calibri"/>
              </a:rPr>
              <a:t>of </a:t>
            </a:r>
            <a:r>
              <a:rPr sz="2400" spc="-15" dirty="0">
                <a:latin typeface="Calibri"/>
                <a:cs typeface="Calibri"/>
              </a:rPr>
              <a:t>size </a:t>
            </a:r>
            <a:r>
              <a:rPr lang="en-US" sz="2400" spc="355" dirty="0">
                <a:latin typeface="Cambria Math"/>
                <a:cs typeface="Calibri"/>
              </a:rPr>
              <a:t>m</a:t>
            </a:r>
            <a:r>
              <a:rPr sz="2400" spc="355" dirty="0">
                <a:latin typeface="Cambria Math"/>
                <a:cs typeface="Cambria Math"/>
              </a:rPr>
              <a:t>×(</a:t>
            </a:r>
            <a:r>
              <a:rPr lang="en-US" sz="2400" i="1" spc="355" dirty="0">
                <a:latin typeface="Cambria Math"/>
                <a:cs typeface="Cambria Math"/>
              </a:rPr>
              <a:t>d</a:t>
            </a:r>
            <a:r>
              <a:rPr sz="2400" spc="-24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+ </a:t>
            </a:r>
            <a:r>
              <a:rPr sz="2400" spc="-5" dirty="0">
                <a:latin typeface="Cambria Math"/>
                <a:cs typeface="Cambria Math"/>
              </a:rPr>
              <a:t>1)</a:t>
            </a:r>
            <a:r>
              <a:rPr sz="2400" spc="-5" dirty="0">
                <a:latin typeface="Calibri"/>
                <a:cs typeface="Calibri"/>
              </a:rPr>
              <a:t>,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55038" y="5815076"/>
            <a:ext cx="67043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and</a:t>
            </a:r>
            <a:r>
              <a:rPr sz="2400" spc="-10" dirty="0">
                <a:latin typeface="Calibri"/>
                <a:cs typeface="Calibri"/>
              </a:rPr>
              <a:t> represent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700" spc="412" baseline="-15432" dirty="0">
                <a:latin typeface="Cambria Math"/>
                <a:cs typeface="Cambria Math"/>
              </a:rPr>
              <a:t> </a:t>
            </a:r>
            <a:r>
              <a:rPr sz="2400" spc="-5" dirty="0">
                <a:latin typeface="Calibri"/>
                <a:cs typeface="Calibri"/>
              </a:rPr>
              <a:t>in </a:t>
            </a:r>
            <a:r>
              <a:rPr sz="2400" spc="-10" dirty="0">
                <a:latin typeface="Calibri"/>
                <a:cs typeface="Calibri"/>
              </a:rPr>
              <a:t>vector</a:t>
            </a:r>
            <a:r>
              <a:rPr sz="2400" spc="-15" dirty="0">
                <a:latin typeface="Calibri"/>
                <a:cs typeface="Calibri"/>
              </a:rPr>
              <a:t> form:</a:t>
            </a:r>
            <a:endParaRPr sz="2700" baseline="27777" dirty="0">
              <a:latin typeface="Cambria Math"/>
              <a:cs typeface="Cambria Math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FAB3E59-0353-4E6A-A008-C7B1E8F33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514600"/>
            <a:ext cx="1828800" cy="39756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18B6FB6-985C-4263-8D33-240F4ADFA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4861" y="2547730"/>
            <a:ext cx="1152939" cy="34787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F147ACB-7237-411E-B740-BC7B04140E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6608" y="4038600"/>
            <a:ext cx="4770783" cy="13716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2CF46549-97B2-40AB-A0B8-D6788D55CC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00" y="5824330"/>
            <a:ext cx="2226365" cy="34787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C146EF70-B6BC-4EA8-BB3C-3284F9A659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3130" y="3015818"/>
            <a:ext cx="340270" cy="41318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883791" y="682930"/>
            <a:ext cx="537718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40" dirty="0">
                <a:latin typeface="Calibri Light"/>
                <a:cs typeface="Calibri Light"/>
              </a:rPr>
              <a:t>Linear </a:t>
            </a:r>
            <a:r>
              <a:rPr sz="3500" spc="25" dirty="0">
                <a:latin typeface="Calibri Light"/>
                <a:cs typeface="Calibri Light"/>
              </a:rPr>
              <a:t>Regression</a:t>
            </a:r>
            <a:r>
              <a:rPr sz="3500" spc="-25" dirty="0">
                <a:latin typeface="Calibri Light"/>
                <a:cs typeface="Calibri Light"/>
              </a:rPr>
              <a:t> </a:t>
            </a:r>
            <a:r>
              <a:rPr sz="3500" spc="30" dirty="0">
                <a:latin typeface="Calibri Light"/>
                <a:cs typeface="Calibri Light"/>
              </a:rPr>
              <a:t>(4)</a:t>
            </a:r>
            <a:endParaRPr sz="3500" dirty="0">
              <a:latin typeface="Calibri Light"/>
              <a:cs typeface="Calibri Ligh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69288" y="1886998"/>
            <a:ext cx="8022590" cy="2001638"/>
          </a:xfrm>
          <a:prstGeom prst="rect">
            <a:avLst/>
          </a:prstGeom>
        </p:spPr>
        <p:txBody>
          <a:bodyPr vert="horz" wrap="square" lIns="0" tIns="167640" rIns="0" bIns="0" rtlCol="0">
            <a:spAutoFit/>
          </a:bodyPr>
          <a:lstStyle/>
          <a:p>
            <a:pPr marL="342900" marR="636905" indent="-342900">
              <a:lnSpc>
                <a:spcPct val="100000"/>
              </a:lnSpc>
              <a:spcBef>
                <a:spcPts val="1320"/>
              </a:spcBef>
              <a:buFont typeface="Arial" panose="020B0604020202020204" pitchFamily="34" charset="0"/>
              <a:buChar char="•"/>
              <a:tabLst>
                <a:tab pos="303530" algn="l"/>
                <a:tab pos="771525" algn="l"/>
                <a:tab pos="3206115" algn="l"/>
                <a:tab pos="3510279" algn="l"/>
                <a:tab pos="3995420" algn="l"/>
              </a:tabLst>
            </a:pPr>
            <a:r>
              <a:rPr sz="2400" spc="-45" dirty="0">
                <a:latin typeface="Calibri"/>
                <a:cs typeface="Calibri"/>
              </a:rPr>
              <a:t>We </a:t>
            </a:r>
            <a:r>
              <a:rPr sz="2400" spc="-5" dirty="0">
                <a:latin typeface="Calibri"/>
                <a:cs typeface="Calibri"/>
              </a:rPr>
              <a:t>now </a:t>
            </a:r>
            <a:r>
              <a:rPr sz="2400" spc="-15" dirty="0">
                <a:latin typeface="Calibri"/>
                <a:cs typeface="Calibri"/>
              </a:rPr>
              <a:t>optimize </a:t>
            </a:r>
            <a:r>
              <a:rPr sz="2400" spc="-5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following</a:t>
            </a:r>
            <a:r>
              <a:rPr sz="2400" spc="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problem:</a:t>
            </a:r>
            <a:endParaRPr lang="en-US" sz="2400" spc="-10" dirty="0">
              <a:latin typeface="Calibri"/>
              <a:cs typeface="Calibri"/>
            </a:endParaRPr>
          </a:p>
          <a:p>
            <a:pPr marR="636905">
              <a:lnSpc>
                <a:spcPct val="100000"/>
              </a:lnSpc>
              <a:spcBef>
                <a:spcPts val="1320"/>
              </a:spcBef>
              <a:tabLst>
                <a:tab pos="303530" algn="l"/>
                <a:tab pos="771525" algn="l"/>
                <a:tab pos="3206115" algn="l"/>
                <a:tab pos="3510279" algn="l"/>
                <a:tab pos="3995420" algn="l"/>
              </a:tabLst>
            </a:pPr>
            <a:endParaRPr sz="2400" dirty="0">
              <a:latin typeface="Calibri"/>
              <a:cs typeface="Calibri"/>
            </a:endParaRPr>
          </a:p>
          <a:p>
            <a:pPr marL="279400" marR="43180" indent="-228600">
              <a:lnSpc>
                <a:spcPct val="110800"/>
              </a:lnSpc>
              <a:spcBef>
                <a:spcPts val="1010"/>
              </a:spcBef>
              <a:buFont typeface="Arial"/>
              <a:buChar char="•"/>
              <a:tabLst>
                <a:tab pos="279400" algn="l"/>
                <a:tab pos="3541395" algn="l"/>
                <a:tab pos="4664075" algn="l"/>
                <a:tab pos="4947920" algn="l"/>
                <a:tab pos="6069965" algn="l"/>
              </a:tabLst>
            </a:pPr>
            <a:r>
              <a:rPr sz="2400" spc="-5" dirty="0">
                <a:latin typeface="Calibri"/>
                <a:cs typeface="Calibri"/>
              </a:rPr>
              <a:t>Let the loss function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lang="en-US" sz="2400" spc="-55" dirty="0">
                <a:latin typeface="Cambria Math"/>
                <a:cs typeface="Calibri"/>
              </a:rPr>
              <a:t>                                                      </a:t>
            </a:r>
            <a:r>
              <a:rPr lang="en-US" sz="2400" spc="-55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45" dirty="0">
                <a:latin typeface="Calibri"/>
                <a:cs typeface="Calibri"/>
              </a:rPr>
              <a:t>We </a:t>
            </a:r>
            <a:r>
              <a:rPr sz="2400" spc="-10" dirty="0">
                <a:latin typeface="Calibri"/>
                <a:cs typeface="Calibri"/>
              </a:rPr>
              <a:t>obtain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the  </a:t>
            </a:r>
            <a:r>
              <a:rPr sz="2400" spc="-10" dirty="0">
                <a:latin typeface="Calibri"/>
                <a:cs typeface="Calibri"/>
              </a:rPr>
              <a:t>derivative </a:t>
            </a:r>
            <a:r>
              <a:rPr sz="2400" spc="-85" dirty="0" err="1">
                <a:latin typeface="Calibri"/>
                <a:cs typeface="Calibri"/>
              </a:rPr>
              <a:t>w.r.t.</a:t>
            </a:r>
            <a:r>
              <a:rPr lang="en-US" sz="2400" spc="-85" dirty="0">
                <a:latin typeface="Calibri"/>
                <a:cs typeface="Calibri"/>
              </a:rPr>
              <a:t>         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lang="en-US" sz="2400" spc="-1155" dirty="0">
                <a:latin typeface="Cambria Math"/>
                <a:cs typeface="Calibri"/>
              </a:rPr>
              <a:t>      </a:t>
            </a:r>
            <a:r>
              <a:rPr sz="2400" spc="-5" dirty="0">
                <a:latin typeface="Calibri"/>
                <a:cs typeface="Calibri"/>
              </a:rPr>
              <a:t>as: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81988" y="4937251"/>
            <a:ext cx="7606665" cy="8115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6700" marR="30480" indent="-228600">
              <a:lnSpc>
                <a:spcPct val="110800"/>
              </a:lnSpc>
              <a:spcBef>
                <a:spcPts val="100"/>
              </a:spcBef>
              <a:buFont typeface="Arial"/>
              <a:buChar char="•"/>
              <a:tabLst>
                <a:tab pos="266700" algn="l"/>
              </a:tabLst>
            </a:pPr>
            <a:r>
              <a:rPr sz="2400" spc="-5">
                <a:latin typeface="Calibri"/>
                <a:cs typeface="Calibri"/>
              </a:rPr>
              <a:t>If  </a:t>
            </a:r>
            <a:r>
              <a:rPr lang="en-US" sz="2400" spc="300">
                <a:latin typeface="Cambria Math"/>
                <a:cs typeface="Calibri"/>
              </a:rPr>
              <a:t>  </a:t>
            </a:r>
            <a:r>
              <a:rPr sz="2400" spc="300">
                <a:latin typeface="Cambria Math"/>
                <a:cs typeface="Cambria Math"/>
              </a:rPr>
              <a:t> </a:t>
            </a:r>
            <a:r>
              <a:rPr lang="en-US" sz="2400" spc="300">
                <a:latin typeface="Cambria Math"/>
                <a:cs typeface="Cambria Math"/>
              </a:rPr>
              <a:t>   </a:t>
            </a:r>
            <a:r>
              <a:rPr sz="2400" spc="-5">
                <a:latin typeface="Calibri"/>
                <a:cs typeface="Calibri"/>
              </a:rPr>
              <a:t>is </a:t>
            </a:r>
            <a:r>
              <a:rPr sz="2400" dirty="0">
                <a:latin typeface="Calibri"/>
                <a:cs typeface="Calibri"/>
              </a:rPr>
              <a:t>a full </a:t>
            </a:r>
            <a:r>
              <a:rPr sz="2400" spc="-15" dirty="0">
                <a:latin typeface="Calibri"/>
                <a:cs typeface="Calibri"/>
              </a:rPr>
              <a:t>rank </a:t>
            </a:r>
            <a:r>
              <a:rPr sz="2400" spc="-10" dirty="0">
                <a:latin typeface="Calibri"/>
                <a:cs typeface="Calibri"/>
              </a:rPr>
              <a:t>matrix </a:t>
            </a:r>
            <a:r>
              <a:rPr sz="2400" spc="-5" dirty="0">
                <a:latin typeface="Calibri"/>
                <a:cs typeface="Calibri"/>
              </a:rPr>
              <a:t>or </a:t>
            </a:r>
            <a:r>
              <a:rPr sz="2400" spc="-10" dirty="0">
                <a:latin typeface="Calibri"/>
                <a:cs typeface="Calibri"/>
              </a:rPr>
              <a:t>positive definite matrix,</a:t>
            </a:r>
            <a:r>
              <a:rPr sz="2400" spc="-26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the  solution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spc="-10" dirty="0">
                <a:latin typeface="Calibri"/>
                <a:cs typeface="Calibri"/>
              </a:rPr>
              <a:t>above problem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is: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E0A55DE-B2F0-4E7E-840B-1A49C17C18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5513" y="2438400"/>
            <a:ext cx="4412974" cy="56653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F27F85F-DA45-40C2-AA20-DBBAEA190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00" y="3077817"/>
            <a:ext cx="3260035" cy="42738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4A93470-2D66-45AD-A077-DC4DD39A35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0643" y="4075043"/>
            <a:ext cx="2822713" cy="72555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FD4A507-65A7-48AA-BCC0-636D710AFF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5600" y="3505200"/>
            <a:ext cx="318052" cy="39756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C6AED4D-37B1-4BA5-B3BB-AFD5940B3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9913" y="5837583"/>
            <a:ext cx="2584174" cy="48701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4698A5F-CDDE-4EC5-BD81-6B53E099AB1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2696" y="4926496"/>
            <a:ext cx="636104" cy="40750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553368" y="682930"/>
            <a:ext cx="6040755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30" dirty="0">
                <a:latin typeface="Calibri Light"/>
                <a:cs typeface="Calibri Light"/>
              </a:rPr>
              <a:t>Logistic Regression: General</a:t>
            </a:r>
            <a:r>
              <a:rPr sz="3500" spc="10" dirty="0">
                <a:latin typeface="Calibri Light"/>
                <a:cs typeface="Calibri Light"/>
              </a:rPr>
              <a:t> </a:t>
            </a:r>
            <a:r>
              <a:rPr sz="3500" spc="40" dirty="0">
                <a:latin typeface="Calibri Light"/>
                <a:cs typeface="Calibri Light"/>
              </a:rPr>
              <a:t>Idea</a:t>
            </a:r>
            <a:endParaRPr sz="3500">
              <a:latin typeface="Calibri Light"/>
              <a:cs typeface="Calibri Ligh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07390" y="1429004"/>
            <a:ext cx="6516370" cy="1392689"/>
          </a:xfrm>
          <a:prstGeom prst="rect">
            <a:avLst/>
          </a:prstGeom>
        </p:spPr>
        <p:txBody>
          <a:bodyPr vert="horz" wrap="square" lIns="0" tIns="10414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820"/>
              </a:spcBef>
              <a:buFont typeface="Arial"/>
              <a:buChar char="•"/>
              <a:tabLst>
                <a:tab pos="241300" algn="l"/>
              </a:tabLst>
            </a:pPr>
            <a:r>
              <a:rPr sz="2400" u="heavy" spc="-2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Key </a:t>
            </a:r>
            <a:r>
              <a:rPr sz="2400" u="heavy" spc="-5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Idea</a:t>
            </a:r>
            <a:r>
              <a:rPr sz="2400" spc="-5" dirty="0">
                <a:latin typeface="Calibri"/>
                <a:cs typeface="Calibri"/>
              </a:rPr>
              <a:t>: </a:t>
            </a:r>
            <a:r>
              <a:rPr sz="2400" spc="-30" dirty="0">
                <a:latin typeface="Calibri"/>
                <a:cs typeface="Calibri"/>
              </a:rPr>
              <a:t>Turns </a:t>
            </a:r>
            <a:r>
              <a:rPr sz="2400" spc="-5" dirty="0">
                <a:latin typeface="Calibri"/>
                <a:cs typeface="Calibri"/>
              </a:rPr>
              <a:t>linear predictions </a:t>
            </a:r>
            <a:r>
              <a:rPr sz="2400" spc="-15" dirty="0">
                <a:latin typeface="Calibri"/>
                <a:cs typeface="Calibri"/>
              </a:rPr>
              <a:t>into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probabilities</a:t>
            </a:r>
            <a:endParaRPr sz="24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20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5" dirty="0">
                <a:latin typeface="Calibri"/>
                <a:cs typeface="Calibri"/>
              </a:rPr>
              <a:t>Sigmoid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function:</a:t>
            </a:r>
            <a:endParaRPr lang="en-US" sz="2400" spc="-5" dirty="0">
              <a:latin typeface="Calibri"/>
              <a:cs typeface="Calibri"/>
            </a:endParaRPr>
          </a:p>
          <a:p>
            <a:pPr marL="698500" lvl="1" indent="-228600">
              <a:spcBef>
                <a:spcPts val="720"/>
              </a:spcBef>
              <a:buFont typeface="Arial"/>
              <a:buChar char="•"/>
              <a:tabLst>
                <a:tab pos="241300" algn="l"/>
              </a:tabLst>
            </a:pPr>
            <a:endParaRPr sz="2400" dirty="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077967" y="3187758"/>
            <a:ext cx="4066540" cy="3503929"/>
            <a:chOff x="5077967" y="3187758"/>
            <a:chExt cx="4066540" cy="3503929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77967" y="3675887"/>
              <a:ext cx="4066032" cy="270662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265352" y="3187758"/>
              <a:ext cx="3705860" cy="3503929"/>
            </a:xfrm>
            <a:custGeom>
              <a:avLst/>
              <a:gdLst/>
              <a:ahLst/>
              <a:cxnLst/>
              <a:rect l="l" t="t" r="r" b="b"/>
              <a:pathLst>
                <a:path w="3705859" h="3503929">
                  <a:moveTo>
                    <a:pt x="29192" y="3423780"/>
                  </a:moveTo>
                  <a:lnTo>
                    <a:pt x="0" y="3503816"/>
                  </a:lnTo>
                  <a:lnTo>
                    <a:pt x="81545" y="3479148"/>
                  </a:lnTo>
                  <a:lnTo>
                    <a:pt x="72327" y="3469399"/>
                  </a:lnTo>
                  <a:lnTo>
                    <a:pt x="54884" y="3469399"/>
                  </a:lnTo>
                  <a:lnTo>
                    <a:pt x="37433" y="3450944"/>
                  </a:lnTo>
                  <a:lnTo>
                    <a:pt x="46643" y="3442236"/>
                  </a:lnTo>
                  <a:lnTo>
                    <a:pt x="29192" y="3423780"/>
                  </a:lnTo>
                  <a:close/>
                </a:path>
                <a:path w="3705859" h="3503929">
                  <a:moveTo>
                    <a:pt x="46643" y="3442236"/>
                  </a:moveTo>
                  <a:lnTo>
                    <a:pt x="37433" y="3450944"/>
                  </a:lnTo>
                  <a:lnTo>
                    <a:pt x="54884" y="3469399"/>
                  </a:lnTo>
                  <a:lnTo>
                    <a:pt x="64093" y="3460691"/>
                  </a:lnTo>
                  <a:lnTo>
                    <a:pt x="46643" y="3442236"/>
                  </a:lnTo>
                  <a:close/>
                </a:path>
                <a:path w="3705859" h="3503929">
                  <a:moveTo>
                    <a:pt x="64093" y="3460691"/>
                  </a:moveTo>
                  <a:lnTo>
                    <a:pt x="54884" y="3469399"/>
                  </a:lnTo>
                  <a:lnTo>
                    <a:pt x="72327" y="3469399"/>
                  </a:lnTo>
                  <a:lnTo>
                    <a:pt x="64093" y="3460691"/>
                  </a:lnTo>
                  <a:close/>
                </a:path>
                <a:path w="3705859" h="3503929">
                  <a:moveTo>
                    <a:pt x="3641558" y="43124"/>
                  </a:moveTo>
                  <a:lnTo>
                    <a:pt x="46643" y="3442236"/>
                  </a:lnTo>
                  <a:lnTo>
                    <a:pt x="64093" y="3460691"/>
                  </a:lnTo>
                  <a:lnTo>
                    <a:pt x="3659009" y="61580"/>
                  </a:lnTo>
                  <a:lnTo>
                    <a:pt x="3641558" y="43124"/>
                  </a:lnTo>
                  <a:close/>
                </a:path>
                <a:path w="3705859" h="3503929">
                  <a:moveTo>
                    <a:pt x="3693101" y="34409"/>
                  </a:moveTo>
                  <a:lnTo>
                    <a:pt x="3650776" y="34409"/>
                  </a:lnTo>
                  <a:lnTo>
                    <a:pt x="3668227" y="52865"/>
                  </a:lnTo>
                  <a:lnTo>
                    <a:pt x="3659009" y="61580"/>
                  </a:lnTo>
                  <a:lnTo>
                    <a:pt x="3676460" y="80036"/>
                  </a:lnTo>
                  <a:lnTo>
                    <a:pt x="3693101" y="34409"/>
                  </a:lnTo>
                  <a:close/>
                </a:path>
                <a:path w="3705859" h="3503929">
                  <a:moveTo>
                    <a:pt x="3650776" y="34409"/>
                  </a:moveTo>
                  <a:lnTo>
                    <a:pt x="3641558" y="43124"/>
                  </a:lnTo>
                  <a:lnTo>
                    <a:pt x="3659009" y="61580"/>
                  </a:lnTo>
                  <a:lnTo>
                    <a:pt x="3668227" y="52865"/>
                  </a:lnTo>
                  <a:lnTo>
                    <a:pt x="3650776" y="34409"/>
                  </a:lnTo>
                  <a:close/>
                </a:path>
                <a:path w="3705859" h="3503929">
                  <a:moveTo>
                    <a:pt x="3705651" y="0"/>
                  </a:moveTo>
                  <a:lnTo>
                    <a:pt x="3624107" y="24668"/>
                  </a:lnTo>
                  <a:lnTo>
                    <a:pt x="3641558" y="43124"/>
                  </a:lnTo>
                  <a:lnTo>
                    <a:pt x="3650776" y="34409"/>
                  </a:lnTo>
                  <a:lnTo>
                    <a:pt x="3693101" y="34409"/>
                  </a:lnTo>
                  <a:lnTo>
                    <a:pt x="3705651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663107" y="6204203"/>
            <a:ext cx="18351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Linear</a:t>
            </a:r>
            <a:r>
              <a:rPr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Probability  Model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07390" y="2837180"/>
            <a:ext cx="6278245" cy="1965960"/>
          </a:xfrm>
          <a:prstGeom prst="rect">
            <a:avLst/>
          </a:prstGeom>
        </p:spPr>
        <p:txBody>
          <a:bodyPr vert="horz" wrap="square" lIns="0" tIns="104140" rIns="0" bIns="0" rtlCol="0">
            <a:spAutoFit/>
          </a:bodyPr>
          <a:lstStyle/>
          <a:p>
            <a:pPr marL="698500" indent="-228600">
              <a:lnSpc>
                <a:spcPct val="100000"/>
              </a:lnSpc>
              <a:spcBef>
                <a:spcPts val="82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-10" dirty="0">
                <a:latin typeface="Calibri"/>
                <a:cs typeface="Calibri"/>
              </a:rPr>
              <a:t>Projects </a:t>
            </a:r>
            <a:r>
              <a:rPr sz="2400" spc="-5" dirty="0">
                <a:latin typeface="Cambria Math"/>
                <a:cs typeface="Cambria Math"/>
              </a:rPr>
              <a:t>(−∞, +∞)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spc="-5" dirty="0">
                <a:latin typeface="Cambria Math"/>
                <a:cs typeface="Cambria Math"/>
              </a:rPr>
              <a:t>[0,</a:t>
            </a:r>
            <a:r>
              <a:rPr sz="2400" spc="-250" dirty="0">
                <a:latin typeface="Cambria Math"/>
                <a:cs typeface="Cambria Math"/>
              </a:rPr>
              <a:t> </a:t>
            </a:r>
            <a:r>
              <a:rPr sz="2400" spc="-5" dirty="0">
                <a:latin typeface="Cambria Math"/>
                <a:cs typeface="Cambria Math"/>
              </a:rPr>
              <a:t>1]</a:t>
            </a:r>
            <a:endParaRPr sz="2400" dirty="0">
              <a:latin typeface="Cambria Math"/>
              <a:cs typeface="Cambria Math"/>
            </a:endParaRPr>
          </a:p>
          <a:p>
            <a:pPr marL="241300" indent="-228600">
              <a:lnSpc>
                <a:spcPct val="100000"/>
              </a:lnSpc>
              <a:spcBef>
                <a:spcPts val="720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10" dirty="0">
                <a:latin typeface="Calibri"/>
                <a:cs typeface="Calibri"/>
              </a:rPr>
              <a:t>Compare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spc="-5" dirty="0">
                <a:latin typeface="Calibri"/>
                <a:cs typeface="Calibri"/>
              </a:rPr>
              <a:t>linear </a:t>
            </a:r>
            <a:r>
              <a:rPr sz="2400" spc="-10" dirty="0">
                <a:latin typeface="Calibri"/>
                <a:cs typeface="Calibri"/>
              </a:rPr>
              <a:t>probability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model</a:t>
            </a:r>
            <a:endParaRPr sz="2400" dirty="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-15" dirty="0">
                <a:latin typeface="Calibri"/>
                <a:cs typeface="Calibri"/>
              </a:rPr>
              <a:t>More</a:t>
            </a:r>
            <a:r>
              <a:rPr sz="2400" spc="-5" dirty="0">
                <a:latin typeface="Calibri"/>
                <a:cs typeface="Calibri"/>
              </a:rPr>
              <a:t> smooth</a:t>
            </a:r>
            <a:endParaRPr sz="2400" dirty="0">
              <a:latin typeface="Calibri"/>
              <a:cs typeface="Calibri"/>
            </a:endParaRPr>
          </a:p>
          <a:p>
            <a:pPr marL="4323080" marR="5080">
              <a:lnSpc>
                <a:spcPct val="100000"/>
              </a:lnSpc>
              <a:spcBef>
                <a:spcPts val="185"/>
              </a:spcBef>
            </a:pPr>
            <a:r>
              <a:rPr sz="2000" spc="-5" dirty="0">
                <a:solidFill>
                  <a:srgbClr val="0070C0"/>
                </a:solidFill>
                <a:latin typeface="Calibri"/>
                <a:cs typeface="Calibri"/>
              </a:rPr>
              <a:t>Logistic</a:t>
            </a:r>
            <a:r>
              <a:rPr sz="2000" spc="-50" dirty="0">
                <a:solidFill>
                  <a:srgbClr val="0070C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0070C0"/>
                </a:solidFill>
                <a:latin typeface="Calibri"/>
                <a:cs typeface="Calibri"/>
              </a:rPr>
              <a:t>Regression  </a:t>
            </a:r>
            <a:r>
              <a:rPr sz="2000" spc="-5" dirty="0">
                <a:solidFill>
                  <a:srgbClr val="0070C0"/>
                </a:solidFill>
                <a:latin typeface="Calibri"/>
                <a:cs typeface="Calibri"/>
              </a:rPr>
              <a:t>Model</a:t>
            </a:r>
            <a:endParaRPr sz="2000" dirty="0">
              <a:latin typeface="Calibri"/>
              <a:cs typeface="Calibri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20DCD8C-E7CE-4A35-9774-D80FCF4EB8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800" y="2319130"/>
            <a:ext cx="2822713" cy="57647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812800" y="682930"/>
            <a:ext cx="7522845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30" dirty="0">
                <a:latin typeface="Calibri Light"/>
                <a:cs typeface="Calibri Light"/>
              </a:rPr>
              <a:t>Logistic Regression: </a:t>
            </a:r>
            <a:r>
              <a:rPr sz="3500" spc="55" dirty="0">
                <a:latin typeface="Calibri Light"/>
                <a:cs typeface="Calibri Light"/>
              </a:rPr>
              <a:t>Maximum</a:t>
            </a:r>
            <a:r>
              <a:rPr sz="3500" spc="10" dirty="0">
                <a:latin typeface="Calibri Light"/>
                <a:cs typeface="Calibri Light"/>
              </a:rPr>
              <a:t> </a:t>
            </a:r>
            <a:r>
              <a:rPr sz="3500" spc="25" dirty="0">
                <a:latin typeface="Calibri Light"/>
                <a:cs typeface="Calibri Light"/>
              </a:rPr>
              <a:t>Likelihood</a:t>
            </a:r>
            <a:endParaRPr sz="3500">
              <a:latin typeface="Calibri Light"/>
              <a:cs typeface="Calibri Ligh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44680" y="1770379"/>
            <a:ext cx="41840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400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prediction </a:t>
            </a:r>
            <a:r>
              <a:rPr sz="2400" spc="-5" dirty="0">
                <a:latin typeface="Calibri"/>
                <a:cs typeface="Calibri"/>
              </a:rPr>
              <a:t>function </a:t>
            </a:r>
            <a:r>
              <a:rPr sz="2400" spc="-15" dirty="0">
                <a:latin typeface="Calibri"/>
                <a:cs typeface="Calibri"/>
              </a:rPr>
              <a:t>to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learn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body" idx="1"/>
          </p:nvPr>
        </p:nvSpPr>
        <p:spPr>
          <a:xfrm>
            <a:off x="531980" y="3175258"/>
            <a:ext cx="6248400" cy="1056700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254000" indent="-228600">
              <a:lnSpc>
                <a:spcPct val="100000"/>
              </a:lnSpc>
              <a:spcBef>
                <a:spcPts val="625"/>
              </a:spcBef>
              <a:buFont typeface="Arial"/>
              <a:buChar char="•"/>
              <a:tabLst>
                <a:tab pos="254000" algn="l"/>
              </a:tabLst>
            </a:pPr>
            <a:r>
              <a:rPr u="heavy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Maximum</a:t>
            </a:r>
            <a:r>
              <a:rPr u="heavy" spc="-15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Likelihood</a:t>
            </a:r>
          </a:p>
          <a:p>
            <a:pPr marL="711200" lvl="1" indent="-229235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11200" algn="l"/>
              </a:tabLst>
            </a:pPr>
            <a:r>
              <a:rPr sz="2400" spc="-5" dirty="0">
                <a:latin typeface="Calibri"/>
                <a:cs typeface="Calibri"/>
              </a:rPr>
              <a:t>Log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likelihood:</a:t>
            </a:r>
            <a:endParaRPr sz="2400" dirty="0">
              <a:latin typeface="Calibri"/>
              <a:cs typeface="Calibri"/>
            </a:endParaRPr>
          </a:p>
          <a:p>
            <a:pPr marL="1346835">
              <a:lnSpc>
                <a:spcPct val="100000"/>
              </a:lnSpc>
              <a:spcBef>
                <a:spcPts val="45"/>
              </a:spcBef>
            </a:pPr>
            <a:endParaRPr sz="1300" dirty="0"/>
          </a:p>
        </p:txBody>
      </p:sp>
      <p:sp>
        <p:nvSpPr>
          <p:cNvPr id="15" name="object 15"/>
          <p:cNvSpPr txBox="1"/>
          <p:nvPr/>
        </p:nvSpPr>
        <p:spPr>
          <a:xfrm>
            <a:off x="531980" y="4343400"/>
            <a:ext cx="7800975" cy="1728037"/>
          </a:xfrm>
          <a:prstGeom prst="rect">
            <a:avLst/>
          </a:prstGeom>
        </p:spPr>
        <p:txBody>
          <a:bodyPr vert="horz" wrap="square" lIns="0" tIns="121285" rIns="0" bIns="0" rtlCol="0">
            <a:spAutoFit/>
          </a:bodyPr>
          <a:lstStyle/>
          <a:p>
            <a:pPr marL="254000" indent="-228600">
              <a:lnSpc>
                <a:spcPct val="100000"/>
              </a:lnSpc>
              <a:spcBef>
                <a:spcPts val="459"/>
              </a:spcBef>
              <a:buFont typeface="Arial"/>
              <a:buChar char="•"/>
              <a:tabLst>
                <a:tab pos="254000" algn="l"/>
              </a:tabLst>
            </a:pPr>
            <a:endParaRPr lang="en-US" sz="2400" spc="-10" dirty="0">
              <a:latin typeface="Calibri"/>
              <a:cs typeface="Calibri"/>
            </a:endParaRPr>
          </a:p>
          <a:p>
            <a:pPr marL="254000" indent="-228600">
              <a:lnSpc>
                <a:spcPct val="100000"/>
              </a:lnSpc>
              <a:spcBef>
                <a:spcPts val="459"/>
              </a:spcBef>
              <a:buFont typeface="Arial"/>
              <a:buChar char="•"/>
              <a:tabLst>
                <a:tab pos="254000" algn="l"/>
              </a:tabLst>
            </a:pPr>
            <a:r>
              <a:rPr sz="2400" spc="-10" dirty="0">
                <a:latin typeface="Calibri"/>
                <a:cs typeface="Calibri"/>
              </a:rPr>
              <a:t>Optimization: Gradient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Descent</a:t>
            </a:r>
            <a:endParaRPr lang="en-US" sz="2400" spc="-5" dirty="0">
              <a:latin typeface="Calibri"/>
              <a:cs typeface="Calibri"/>
            </a:endParaRPr>
          </a:p>
          <a:p>
            <a:pPr marL="254000" indent="-228600">
              <a:lnSpc>
                <a:spcPct val="100000"/>
              </a:lnSpc>
              <a:spcBef>
                <a:spcPts val="459"/>
              </a:spcBef>
              <a:buFont typeface="Arial"/>
              <a:buChar char="•"/>
              <a:tabLst>
                <a:tab pos="254000" algn="l"/>
              </a:tabLst>
            </a:pPr>
            <a:r>
              <a:rPr lang="en-US" sz="2400" spc="-5" dirty="0">
                <a:latin typeface="Calibri"/>
                <a:cs typeface="Calibri"/>
              </a:rPr>
              <a:t>Note that Logistic Regression is actually a </a:t>
            </a:r>
            <a:r>
              <a:rPr lang="en-US" sz="2400" spc="-5" dirty="0">
                <a:solidFill>
                  <a:srgbClr val="FF0000"/>
                </a:solidFill>
                <a:latin typeface="Calibri"/>
                <a:cs typeface="Calibri"/>
              </a:rPr>
              <a:t>classification</a:t>
            </a:r>
            <a:r>
              <a:rPr lang="en-US" sz="2400" spc="-5" dirty="0">
                <a:latin typeface="Calibri"/>
                <a:cs typeface="Calibri"/>
              </a:rPr>
              <a:t> method (not really regression)!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0D3027A-5DF4-439D-9EDC-540031BB7A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2209800"/>
            <a:ext cx="5923722" cy="79513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FCD11D0-6CF1-4AE5-ABFE-316308D067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08" y="4041913"/>
            <a:ext cx="7513983" cy="83488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621279" y="682930"/>
            <a:ext cx="390017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50" dirty="0">
                <a:latin typeface="Calibri Light"/>
                <a:cs typeface="Calibri Light"/>
              </a:rPr>
              <a:t>Which </a:t>
            </a:r>
            <a:r>
              <a:rPr sz="3500" spc="40" dirty="0">
                <a:latin typeface="Calibri Light"/>
                <a:cs typeface="Calibri Light"/>
              </a:rPr>
              <a:t>Line </a:t>
            </a:r>
            <a:r>
              <a:rPr sz="3500" spc="30" dirty="0">
                <a:latin typeface="Calibri Light"/>
                <a:cs typeface="Calibri Light"/>
              </a:rPr>
              <a:t>is</a:t>
            </a:r>
            <a:r>
              <a:rPr sz="3500" spc="-75" dirty="0">
                <a:latin typeface="Calibri Light"/>
                <a:cs typeface="Calibri Light"/>
              </a:rPr>
              <a:t> </a:t>
            </a:r>
            <a:r>
              <a:rPr sz="3500" spc="20" dirty="0">
                <a:latin typeface="Calibri Light"/>
                <a:cs typeface="Calibri Light"/>
              </a:rPr>
              <a:t>Better?</a:t>
            </a:r>
            <a:endParaRPr sz="3500">
              <a:latin typeface="Calibri Light"/>
              <a:cs typeface="Calibri Light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38272" y="3736847"/>
            <a:ext cx="3267455" cy="312115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506772" y="1773427"/>
            <a:ext cx="7785734" cy="198247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315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5" dirty="0">
                <a:latin typeface="Calibri"/>
                <a:cs typeface="Calibri"/>
              </a:rPr>
              <a:t>There </a:t>
            </a:r>
            <a:r>
              <a:rPr sz="2400" spc="-10" dirty="0">
                <a:latin typeface="Calibri"/>
                <a:cs typeface="Calibri"/>
              </a:rPr>
              <a:t>might </a:t>
            </a:r>
            <a:r>
              <a:rPr sz="2400" dirty="0">
                <a:latin typeface="Calibri"/>
                <a:cs typeface="Calibri"/>
              </a:rPr>
              <a:t>be </a:t>
            </a:r>
            <a:r>
              <a:rPr sz="2400" spc="-15" dirty="0">
                <a:latin typeface="Calibri"/>
                <a:cs typeface="Calibri"/>
              </a:rPr>
              <a:t>many </a:t>
            </a:r>
            <a:r>
              <a:rPr sz="2400" spc="-10" dirty="0">
                <a:latin typeface="Calibri"/>
                <a:cs typeface="Calibri"/>
              </a:rPr>
              <a:t>feasible </a:t>
            </a:r>
            <a:r>
              <a:rPr sz="2400" spc="-5" dirty="0">
                <a:latin typeface="Calibri"/>
                <a:cs typeface="Calibri"/>
              </a:rPr>
              <a:t>linear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functions</a:t>
            </a:r>
            <a:endParaRPr sz="24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-5" dirty="0">
                <a:latin typeface="Calibri"/>
                <a:cs typeface="Calibri"/>
              </a:rPr>
              <a:t>Both </a:t>
            </a:r>
            <a:r>
              <a:rPr sz="2400" dirty="0">
                <a:latin typeface="Calibri"/>
                <a:cs typeface="Calibri"/>
              </a:rPr>
              <a:t>H1 and H2 </a:t>
            </a:r>
            <a:r>
              <a:rPr sz="2400" spc="-5" dirty="0">
                <a:latin typeface="Calibri"/>
                <a:cs typeface="Calibri"/>
              </a:rPr>
              <a:t>will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work</a:t>
            </a:r>
            <a:endParaRPr sz="24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5" dirty="0">
                <a:latin typeface="Calibri"/>
                <a:cs typeface="Calibri"/>
              </a:rPr>
              <a:t>Which one is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better?</a:t>
            </a:r>
            <a:endParaRPr sz="2400">
              <a:latin typeface="Calibri"/>
              <a:cs typeface="Calibri"/>
            </a:endParaRPr>
          </a:p>
          <a:p>
            <a:pPr marL="698500" marR="5080" lvl="1" indent="-228600">
              <a:lnSpc>
                <a:spcPts val="2620"/>
              </a:lnSpc>
              <a:spcBef>
                <a:spcPts val="520"/>
              </a:spcBef>
              <a:buFont typeface="Arial"/>
              <a:buChar char="•"/>
              <a:tabLst>
                <a:tab pos="698500" algn="l"/>
              </a:tabLst>
            </a:pPr>
            <a:r>
              <a:rPr sz="2400" dirty="0">
                <a:latin typeface="Calibri"/>
                <a:cs typeface="Calibri"/>
              </a:rPr>
              <a:t>H2 </a:t>
            </a:r>
            <a:r>
              <a:rPr sz="2400" spc="-10" dirty="0">
                <a:latin typeface="Calibri"/>
                <a:cs typeface="Calibri"/>
              </a:rPr>
              <a:t>looks </a:t>
            </a:r>
            <a:r>
              <a:rPr sz="2400" dirty="0">
                <a:latin typeface="Calibri"/>
                <a:cs typeface="Calibri"/>
              </a:rPr>
              <a:t>“better” </a:t>
            </a:r>
            <a:r>
              <a:rPr sz="2400" spc="-5" dirty="0">
                <a:latin typeface="Calibri"/>
                <a:cs typeface="Calibri"/>
              </a:rPr>
              <a:t>in the sense </a:t>
            </a:r>
            <a:r>
              <a:rPr sz="2400" spc="-10" dirty="0">
                <a:latin typeface="Calibri"/>
                <a:cs typeface="Calibri"/>
              </a:rPr>
              <a:t>that </a:t>
            </a:r>
            <a:r>
              <a:rPr sz="2400" spc="-5" dirty="0">
                <a:latin typeface="Calibri"/>
                <a:cs typeface="Calibri"/>
              </a:rPr>
              <a:t>it is also furthest </a:t>
            </a:r>
            <a:r>
              <a:rPr sz="2400" spc="-10" dirty="0">
                <a:latin typeface="Calibri"/>
                <a:cs typeface="Calibri"/>
              </a:rPr>
              <a:t>from  </a:t>
            </a:r>
            <a:r>
              <a:rPr sz="2400" spc="-5" dirty="0">
                <a:latin typeface="Calibri"/>
                <a:cs typeface="Calibri"/>
              </a:rPr>
              <a:t>both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groups</a:t>
            </a:r>
            <a:endParaRPr sz="24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165845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06772" y="1800859"/>
            <a:ext cx="39319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5" dirty="0">
                <a:latin typeface="Calibri"/>
                <a:cs typeface="Calibri"/>
              </a:rPr>
              <a:t>Which hyperplane </a:t>
            </a:r>
            <a:r>
              <a:rPr sz="2400" spc="-15" dirty="0">
                <a:latin typeface="Calibri"/>
                <a:cs typeface="Calibri"/>
              </a:rPr>
              <a:t>to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choose?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6772" y="5446267"/>
            <a:ext cx="778764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41300" marR="5080" indent="-228600">
              <a:lnSpc>
                <a:spcPts val="2590"/>
              </a:lnSpc>
              <a:spcBef>
                <a:spcPts val="425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10" dirty="0">
                <a:latin typeface="Calibri"/>
                <a:cs typeface="Calibri"/>
              </a:rPr>
              <a:t>SVM </a:t>
            </a:r>
            <a:r>
              <a:rPr sz="2400" dirty="0">
                <a:latin typeface="Calibri"/>
                <a:cs typeface="Calibri"/>
              </a:rPr>
              <a:t>finds </a:t>
            </a:r>
            <a:r>
              <a:rPr sz="2400" spc="-5" dirty="0">
                <a:latin typeface="Calibri"/>
                <a:cs typeface="Calibri"/>
              </a:rPr>
              <a:t>this hyperplane using </a:t>
            </a:r>
            <a:r>
              <a:rPr sz="2400" b="1" spc="-5" dirty="0">
                <a:latin typeface="Calibri"/>
                <a:cs typeface="Calibri"/>
              </a:rPr>
              <a:t>support </a:t>
            </a:r>
            <a:r>
              <a:rPr sz="2400" b="1" spc="-15" dirty="0">
                <a:latin typeface="Calibri"/>
                <a:cs typeface="Calibri"/>
              </a:rPr>
              <a:t>vectors </a:t>
            </a:r>
            <a:r>
              <a:rPr sz="2400" spc="-15" dirty="0">
                <a:latin typeface="Calibri"/>
                <a:cs typeface="Calibri"/>
              </a:rPr>
              <a:t>(“essential”  </a:t>
            </a:r>
            <a:r>
              <a:rPr sz="2400" spc="-10" dirty="0">
                <a:latin typeface="Calibri"/>
                <a:cs typeface="Calibri"/>
              </a:rPr>
              <a:t>training </a:t>
            </a:r>
            <a:r>
              <a:rPr sz="2400" spc="-5" dirty="0">
                <a:latin typeface="Calibri"/>
                <a:cs typeface="Calibri"/>
              </a:rPr>
              <a:t>tuples) </a:t>
            </a:r>
            <a:r>
              <a:rPr sz="2400" dirty="0">
                <a:latin typeface="Calibri"/>
                <a:cs typeface="Calibri"/>
              </a:rPr>
              <a:t>and </a:t>
            </a:r>
            <a:r>
              <a:rPr sz="2400" b="1" spc="-10" dirty="0">
                <a:latin typeface="Calibri"/>
                <a:cs typeface="Calibri"/>
              </a:rPr>
              <a:t>margins </a:t>
            </a:r>
            <a:r>
              <a:rPr sz="2400" spc="-5" dirty="0">
                <a:latin typeface="Calibri"/>
                <a:cs typeface="Calibri"/>
              </a:rPr>
              <a:t>(defined </a:t>
            </a:r>
            <a:r>
              <a:rPr sz="2400" spc="-10" dirty="0">
                <a:latin typeface="Calibri"/>
                <a:cs typeface="Calibri"/>
              </a:rPr>
              <a:t>by </a:t>
            </a:r>
            <a:r>
              <a:rPr sz="2400" spc="-5" dirty="0">
                <a:latin typeface="Calibri"/>
                <a:cs typeface="Calibri"/>
              </a:rPr>
              <a:t>the support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vectors)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507427" y="707314"/>
            <a:ext cx="8128634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45" dirty="0">
                <a:latin typeface="Calibri Light"/>
                <a:cs typeface="Calibri Light"/>
              </a:rPr>
              <a:t>Support </a:t>
            </a:r>
            <a:r>
              <a:rPr sz="3500" spc="5" dirty="0">
                <a:latin typeface="Calibri Light"/>
                <a:cs typeface="Calibri Light"/>
              </a:rPr>
              <a:t>Vector </a:t>
            </a:r>
            <a:r>
              <a:rPr sz="3500" spc="45" dirty="0">
                <a:latin typeface="Calibri Light"/>
                <a:cs typeface="Calibri Light"/>
              </a:rPr>
              <a:t>Machines </a:t>
            </a:r>
            <a:r>
              <a:rPr sz="3500" spc="40" dirty="0">
                <a:latin typeface="Calibri Light"/>
                <a:cs typeface="Calibri Light"/>
              </a:rPr>
              <a:t>(SVM):</a:t>
            </a:r>
            <a:r>
              <a:rPr sz="3500" spc="5" dirty="0">
                <a:latin typeface="Calibri Light"/>
                <a:cs typeface="Calibri Light"/>
              </a:rPr>
              <a:t> </a:t>
            </a:r>
            <a:r>
              <a:rPr sz="3500" spc="30" dirty="0">
                <a:latin typeface="Calibri Light"/>
                <a:cs typeface="Calibri Light"/>
              </a:rPr>
              <a:t>Motivation</a:t>
            </a:r>
            <a:endParaRPr sz="3500">
              <a:latin typeface="Calibri Light"/>
              <a:cs typeface="Calibri Light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30295" y="2490216"/>
            <a:ext cx="2883408" cy="274929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56738" y="682930"/>
            <a:ext cx="3430904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50" dirty="0">
                <a:latin typeface="Calibri Light"/>
                <a:cs typeface="Calibri Light"/>
              </a:rPr>
              <a:t>SVM: </a:t>
            </a:r>
            <a:r>
              <a:rPr sz="3500" spc="30" dirty="0">
                <a:latin typeface="Calibri Light"/>
                <a:cs typeface="Calibri Light"/>
              </a:rPr>
              <a:t>General</a:t>
            </a:r>
            <a:r>
              <a:rPr sz="3500" spc="-55" dirty="0">
                <a:latin typeface="Calibri Light"/>
                <a:cs typeface="Calibri Light"/>
              </a:rPr>
              <a:t> </a:t>
            </a:r>
            <a:r>
              <a:rPr sz="3500" spc="40" dirty="0">
                <a:latin typeface="Calibri Light"/>
                <a:cs typeface="Calibri Light"/>
              </a:rPr>
              <a:t>Idea</a:t>
            </a:r>
            <a:endParaRPr sz="3500">
              <a:latin typeface="Calibri Light"/>
              <a:cs typeface="Calibri Ligh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8055" y="1783079"/>
            <a:ext cx="8247888" cy="413004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347944" y="682930"/>
            <a:ext cx="444881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50" dirty="0">
                <a:latin typeface="Calibri Light"/>
                <a:cs typeface="Calibri Light"/>
              </a:rPr>
              <a:t>SVM: </a:t>
            </a:r>
            <a:r>
              <a:rPr sz="3500" spc="35" dirty="0">
                <a:latin typeface="Calibri Light"/>
                <a:cs typeface="Calibri Light"/>
              </a:rPr>
              <a:t>Linearly</a:t>
            </a:r>
            <a:r>
              <a:rPr sz="3500" spc="-40" dirty="0">
                <a:latin typeface="Calibri Light"/>
                <a:cs typeface="Calibri Light"/>
              </a:rPr>
              <a:t> </a:t>
            </a:r>
            <a:r>
              <a:rPr sz="3500" spc="35" dirty="0">
                <a:latin typeface="Calibri Light"/>
                <a:cs typeface="Calibri Light"/>
              </a:rPr>
              <a:t>Separable</a:t>
            </a:r>
            <a:endParaRPr sz="3500">
              <a:latin typeface="Calibri Light"/>
              <a:cs typeface="Calibri Ligh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26739" y="1515363"/>
            <a:ext cx="7195820" cy="4698365"/>
          </a:xfrm>
          <a:prstGeom prst="rect">
            <a:avLst/>
          </a:prstGeom>
        </p:spPr>
        <p:txBody>
          <a:bodyPr vert="horz" wrap="square" lIns="0" tIns="170815" rIns="0" bIns="0" rtlCol="0">
            <a:spAutoFit/>
          </a:bodyPr>
          <a:lstStyle/>
          <a:p>
            <a:pPr marL="292100" indent="-228600">
              <a:lnSpc>
                <a:spcPct val="100000"/>
              </a:lnSpc>
              <a:spcBef>
                <a:spcPts val="1345"/>
              </a:spcBef>
              <a:buFont typeface="Arial"/>
              <a:buChar char="•"/>
              <a:tabLst>
                <a:tab pos="291465" algn="l"/>
                <a:tab pos="292100" algn="l"/>
              </a:tabLst>
            </a:pPr>
            <a:r>
              <a:rPr sz="2200" dirty="0">
                <a:latin typeface="Calibri"/>
                <a:cs typeface="Calibri"/>
              </a:rPr>
              <a:t>A </a:t>
            </a:r>
            <a:r>
              <a:rPr sz="2200" spc="-15" dirty="0">
                <a:latin typeface="Calibri"/>
                <a:cs typeface="Calibri"/>
              </a:rPr>
              <a:t>separating </a:t>
            </a:r>
            <a:r>
              <a:rPr sz="2200" spc="-10" dirty="0">
                <a:latin typeface="Calibri"/>
                <a:cs typeface="Calibri"/>
              </a:rPr>
              <a:t>hyperplane can </a:t>
            </a:r>
            <a:r>
              <a:rPr sz="2200" spc="-5" dirty="0">
                <a:latin typeface="Calibri"/>
                <a:cs typeface="Calibri"/>
              </a:rPr>
              <a:t>be </a:t>
            </a:r>
            <a:r>
              <a:rPr sz="2200" spc="-10" dirty="0">
                <a:latin typeface="Calibri"/>
                <a:cs typeface="Calibri"/>
              </a:rPr>
              <a:t>written</a:t>
            </a:r>
            <a:r>
              <a:rPr sz="2200" spc="4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as</a:t>
            </a:r>
            <a:endParaRPr sz="2200">
              <a:latin typeface="Calibri"/>
              <a:cs typeface="Calibri"/>
            </a:endParaRPr>
          </a:p>
          <a:p>
            <a:pPr marL="2806065">
              <a:lnSpc>
                <a:spcPct val="100000"/>
              </a:lnSpc>
              <a:spcBef>
                <a:spcPts val="1250"/>
              </a:spcBef>
            </a:pPr>
            <a:r>
              <a:rPr sz="2200" b="1" dirty="0">
                <a:latin typeface="Calibri"/>
                <a:cs typeface="Calibri"/>
              </a:rPr>
              <a:t>W </a:t>
            </a:r>
            <a:r>
              <a:rPr sz="2200" dirty="0">
                <a:latin typeface="Calibri"/>
                <a:cs typeface="Calibri"/>
              </a:rPr>
              <a:t>● </a:t>
            </a:r>
            <a:r>
              <a:rPr sz="2200" b="1" dirty="0">
                <a:latin typeface="Calibri"/>
                <a:cs typeface="Calibri"/>
              </a:rPr>
              <a:t>X </a:t>
            </a:r>
            <a:r>
              <a:rPr sz="2200" dirty="0">
                <a:latin typeface="Calibri"/>
                <a:cs typeface="Calibri"/>
              </a:rPr>
              <a:t>+ b =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0</a:t>
            </a:r>
            <a:endParaRPr sz="2200">
              <a:latin typeface="Calibri"/>
              <a:cs typeface="Calibri"/>
            </a:endParaRPr>
          </a:p>
          <a:p>
            <a:pPr marL="63500">
              <a:lnSpc>
                <a:spcPct val="100000"/>
              </a:lnSpc>
              <a:spcBef>
                <a:spcPts val="1255"/>
              </a:spcBef>
            </a:pPr>
            <a:r>
              <a:rPr sz="2000" spc="-10" dirty="0">
                <a:latin typeface="Calibri"/>
                <a:cs typeface="Calibri"/>
              </a:rPr>
              <a:t>where </a:t>
            </a:r>
            <a:r>
              <a:rPr sz="2000" b="1" dirty="0">
                <a:latin typeface="Calibri"/>
                <a:cs typeface="Calibri"/>
              </a:rPr>
              <a:t>W</a:t>
            </a:r>
            <a:r>
              <a:rPr sz="2000" dirty="0">
                <a:latin typeface="Calibri"/>
                <a:cs typeface="Calibri"/>
              </a:rPr>
              <a:t>={w</a:t>
            </a:r>
            <a:r>
              <a:rPr sz="1950" baseline="-17094" dirty="0">
                <a:latin typeface="Calibri"/>
                <a:cs typeface="Calibri"/>
              </a:rPr>
              <a:t>1</a:t>
            </a:r>
            <a:r>
              <a:rPr sz="2000" dirty="0">
                <a:latin typeface="Calibri"/>
                <a:cs typeface="Calibri"/>
              </a:rPr>
              <a:t>, w</a:t>
            </a:r>
            <a:r>
              <a:rPr sz="1950" baseline="-17094" dirty="0">
                <a:latin typeface="Calibri"/>
                <a:cs typeface="Calibri"/>
              </a:rPr>
              <a:t>2</a:t>
            </a:r>
            <a:r>
              <a:rPr sz="2000" dirty="0">
                <a:latin typeface="Calibri"/>
                <a:cs typeface="Calibri"/>
              </a:rPr>
              <a:t>, </a:t>
            </a:r>
            <a:r>
              <a:rPr sz="2000" spc="-5" dirty="0">
                <a:latin typeface="Calibri"/>
                <a:cs typeface="Calibri"/>
              </a:rPr>
              <a:t>…, </a:t>
            </a:r>
            <a:r>
              <a:rPr sz="2000" dirty="0">
                <a:latin typeface="Calibri"/>
                <a:cs typeface="Calibri"/>
              </a:rPr>
              <a:t>w</a:t>
            </a:r>
            <a:r>
              <a:rPr sz="1950" baseline="-17094" dirty="0">
                <a:latin typeface="Calibri"/>
                <a:cs typeface="Calibri"/>
              </a:rPr>
              <a:t>n</a:t>
            </a:r>
            <a:r>
              <a:rPr sz="2000" dirty="0">
                <a:latin typeface="Calibri"/>
                <a:cs typeface="Calibri"/>
              </a:rPr>
              <a:t>} is a </a:t>
            </a:r>
            <a:r>
              <a:rPr sz="2000" spc="-10" dirty="0">
                <a:latin typeface="Calibri"/>
                <a:cs typeface="Calibri"/>
              </a:rPr>
              <a:t>weight vector </a:t>
            </a:r>
            <a:r>
              <a:rPr sz="2000" spc="-5" dirty="0">
                <a:latin typeface="Calibri"/>
                <a:cs typeface="Calibri"/>
              </a:rPr>
              <a:t>and </a:t>
            </a:r>
            <a:r>
              <a:rPr sz="2000" dirty="0">
                <a:latin typeface="Calibri"/>
                <a:cs typeface="Calibri"/>
              </a:rPr>
              <a:t>b a </a:t>
            </a:r>
            <a:r>
              <a:rPr sz="2000" spc="-5" dirty="0">
                <a:latin typeface="Calibri"/>
                <a:cs typeface="Calibri"/>
              </a:rPr>
              <a:t>scalar</a:t>
            </a:r>
            <a:r>
              <a:rPr sz="2000" dirty="0">
                <a:latin typeface="Calibri"/>
                <a:cs typeface="Calibri"/>
              </a:rPr>
              <a:t> (bias)</a:t>
            </a:r>
            <a:endParaRPr sz="2000">
              <a:latin typeface="Calibri"/>
              <a:cs typeface="Calibri"/>
            </a:endParaRPr>
          </a:p>
          <a:p>
            <a:pPr marL="292100" indent="-228600">
              <a:lnSpc>
                <a:spcPct val="100000"/>
              </a:lnSpc>
              <a:spcBef>
                <a:spcPts val="1215"/>
              </a:spcBef>
              <a:buFont typeface="Arial"/>
              <a:buChar char="•"/>
              <a:tabLst>
                <a:tab pos="291465" algn="l"/>
                <a:tab pos="292100" algn="l"/>
                <a:tab pos="3674745" algn="l"/>
              </a:tabLst>
            </a:pPr>
            <a:r>
              <a:rPr sz="2200" spc="-10" dirty="0">
                <a:latin typeface="Calibri"/>
                <a:cs typeface="Calibri"/>
              </a:rPr>
              <a:t>For </a:t>
            </a:r>
            <a:r>
              <a:rPr sz="2200" spc="-20" dirty="0">
                <a:latin typeface="Calibri"/>
                <a:cs typeface="Calibri"/>
              </a:rPr>
              <a:t>2-D, </a:t>
            </a:r>
            <a:r>
              <a:rPr sz="2200" spc="-5" dirty="0">
                <a:latin typeface="Calibri"/>
                <a:cs typeface="Calibri"/>
              </a:rPr>
              <a:t>it </a:t>
            </a:r>
            <a:r>
              <a:rPr sz="2200" spc="-10" dirty="0">
                <a:latin typeface="Calibri"/>
                <a:cs typeface="Calibri"/>
              </a:rPr>
              <a:t>can </a:t>
            </a:r>
            <a:r>
              <a:rPr sz="2200" spc="-5" dirty="0">
                <a:latin typeface="Calibri"/>
                <a:cs typeface="Calibri"/>
              </a:rPr>
              <a:t>be</a:t>
            </a:r>
            <a:r>
              <a:rPr sz="2200" spc="5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written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as:	</a:t>
            </a:r>
            <a:r>
              <a:rPr sz="2200" dirty="0">
                <a:latin typeface="Calibri"/>
                <a:cs typeface="Calibri"/>
              </a:rPr>
              <a:t>w</a:t>
            </a:r>
            <a:r>
              <a:rPr sz="2250" baseline="-18518" dirty="0">
                <a:latin typeface="Calibri"/>
                <a:cs typeface="Calibri"/>
              </a:rPr>
              <a:t>0 </a:t>
            </a:r>
            <a:r>
              <a:rPr sz="2200" dirty="0">
                <a:latin typeface="Calibri"/>
                <a:cs typeface="Calibri"/>
              </a:rPr>
              <a:t>+ w</a:t>
            </a:r>
            <a:r>
              <a:rPr sz="2250" baseline="-18518" dirty="0">
                <a:latin typeface="Calibri"/>
                <a:cs typeface="Calibri"/>
              </a:rPr>
              <a:t>1 </a:t>
            </a:r>
            <a:r>
              <a:rPr sz="2200" spc="-5" dirty="0">
                <a:latin typeface="Calibri"/>
                <a:cs typeface="Calibri"/>
              </a:rPr>
              <a:t>x</a:t>
            </a:r>
            <a:r>
              <a:rPr sz="2250" spc="-7" baseline="-18518" dirty="0">
                <a:latin typeface="Calibri"/>
                <a:cs typeface="Calibri"/>
              </a:rPr>
              <a:t>1 </a:t>
            </a:r>
            <a:r>
              <a:rPr sz="2200" dirty="0">
                <a:latin typeface="Calibri"/>
                <a:cs typeface="Calibri"/>
              </a:rPr>
              <a:t>+ w</a:t>
            </a:r>
            <a:r>
              <a:rPr sz="2250" baseline="-18518" dirty="0">
                <a:latin typeface="Calibri"/>
                <a:cs typeface="Calibri"/>
              </a:rPr>
              <a:t>2 </a:t>
            </a:r>
            <a:r>
              <a:rPr sz="2200" spc="-5" dirty="0">
                <a:latin typeface="Calibri"/>
                <a:cs typeface="Calibri"/>
              </a:rPr>
              <a:t>x</a:t>
            </a:r>
            <a:r>
              <a:rPr sz="2250" spc="-7" baseline="-18518" dirty="0">
                <a:latin typeface="Calibri"/>
                <a:cs typeface="Calibri"/>
              </a:rPr>
              <a:t>2 </a:t>
            </a:r>
            <a:r>
              <a:rPr sz="2200" dirty="0">
                <a:latin typeface="Calibri"/>
                <a:cs typeface="Calibri"/>
              </a:rPr>
              <a:t>= </a:t>
            </a:r>
            <a:r>
              <a:rPr sz="2200" spc="1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0</a:t>
            </a:r>
            <a:endParaRPr sz="2200">
              <a:latin typeface="Calibri"/>
              <a:cs typeface="Calibri"/>
            </a:endParaRPr>
          </a:p>
          <a:p>
            <a:pPr marL="292100" indent="-228600">
              <a:lnSpc>
                <a:spcPct val="100000"/>
              </a:lnSpc>
              <a:spcBef>
                <a:spcPts val="1250"/>
              </a:spcBef>
              <a:buFont typeface="Arial"/>
              <a:buChar char="•"/>
              <a:tabLst>
                <a:tab pos="291465" algn="l"/>
                <a:tab pos="292100" algn="l"/>
              </a:tabLst>
            </a:pPr>
            <a:r>
              <a:rPr sz="2200" spc="-5" dirty="0">
                <a:latin typeface="Calibri"/>
                <a:cs typeface="Calibri"/>
              </a:rPr>
              <a:t>The </a:t>
            </a:r>
            <a:r>
              <a:rPr sz="2200" spc="-10" dirty="0">
                <a:latin typeface="Calibri"/>
                <a:cs typeface="Calibri"/>
              </a:rPr>
              <a:t>hyperplane defining </a:t>
            </a:r>
            <a:r>
              <a:rPr sz="2200" spc="-5" dirty="0">
                <a:latin typeface="Calibri"/>
                <a:cs typeface="Calibri"/>
              </a:rPr>
              <a:t>the sides </a:t>
            </a:r>
            <a:r>
              <a:rPr sz="2200" dirty="0">
                <a:latin typeface="Calibri"/>
                <a:cs typeface="Calibri"/>
              </a:rPr>
              <a:t>of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spc="4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margin:</a:t>
            </a:r>
            <a:endParaRPr sz="2200">
              <a:latin typeface="Calibri"/>
              <a:cs typeface="Calibri"/>
            </a:endParaRPr>
          </a:p>
          <a:p>
            <a:pPr marL="1891664" marR="612140">
              <a:lnSpc>
                <a:spcPct val="129099"/>
              </a:lnSpc>
              <a:tabLst>
                <a:tab pos="4930140" algn="l"/>
              </a:tabLst>
            </a:pPr>
            <a:r>
              <a:rPr sz="2200" spc="-10" dirty="0">
                <a:latin typeface="Calibri"/>
                <a:cs typeface="Calibri"/>
              </a:rPr>
              <a:t>H</a:t>
            </a:r>
            <a:r>
              <a:rPr sz="2250" spc="-15" baseline="-18518" dirty="0">
                <a:latin typeface="Calibri"/>
                <a:cs typeface="Calibri"/>
              </a:rPr>
              <a:t>1</a:t>
            </a:r>
            <a:r>
              <a:rPr sz="2200" spc="-10" dirty="0">
                <a:latin typeface="Calibri"/>
                <a:cs typeface="Calibri"/>
              </a:rPr>
              <a:t>: </a:t>
            </a:r>
            <a:r>
              <a:rPr sz="2200" dirty="0">
                <a:latin typeface="Calibri"/>
                <a:cs typeface="Calibri"/>
              </a:rPr>
              <a:t>w</a:t>
            </a:r>
            <a:r>
              <a:rPr sz="2250" baseline="-18518" dirty="0">
                <a:latin typeface="Calibri"/>
                <a:cs typeface="Calibri"/>
              </a:rPr>
              <a:t>0 </a:t>
            </a:r>
            <a:r>
              <a:rPr sz="2200" dirty="0">
                <a:latin typeface="Calibri"/>
                <a:cs typeface="Calibri"/>
              </a:rPr>
              <a:t>+ w</a:t>
            </a:r>
            <a:r>
              <a:rPr sz="2250" baseline="-18518" dirty="0">
                <a:latin typeface="Calibri"/>
                <a:cs typeface="Calibri"/>
              </a:rPr>
              <a:t>1 </a:t>
            </a:r>
            <a:r>
              <a:rPr sz="2200" spc="-5" dirty="0">
                <a:latin typeface="Calibri"/>
                <a:cs typeface="Calibri"/>
              </a:rPr>
              <a:t>x</a:t>
            </a:r>
            <a:r>
              <a:rPr sz="2250" spc="-7" baseline="-18518" dirty="0">
                <a:latin typeface="Calibri"/>
                <a:cs typeface="Calibri"/>
              </a:rPr>
              <a:t>1  </a:t>
            </a:r>
            <a:r>
              <a:rPr sz="2200" dirty="0">
                <a:latin typeface="Calibri"/>
                <a:cs typeface="Calibri"/>
              </a:rPr>
              <a:t>+ w</a:t>
            </a:r>
            <a:r>
              <a:rPr sz="2250" baseline="-18518" dirty="0">
                <a:latin typeface="Calibri"/>
                <a:cs typeface="Calibri"/>
              </a:rPr>
              <a:t>2 </a:t>
            </a:r>
            <a:r>
              <a:rPr sz="2200" spc="-5" dirty="0">
                <a:latin typeface="Calibri"/>
                <a:cs typeface="Calibri"/>
              </a:rPr>
              <a:t>x</a:t>
            </a:r>
            <a:r>
              <a:rPr sz="2250" spc="-7" baseline="-18518" dirty="0">
                <a:latin typeface="Calibri"/>
                <a:cs typeface="Calibri"/>
              </a:rPr>
              <a:t>2 </a:t>
            </a:r>
            <a:r>
              <a:rPr sz="2250" spc="60" baseline="-18518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≥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1	</a:t>
            </a:r>
            <a:r>
              <a:rPr sz="2200" spc="-15" dirty="0">
                <a:latin typeface="Calibri"/>
                <a:cs typeface="Calibri"/>
              </a:rPr>
              <a:t>for </a:t>
            </a:r>
            <a:r>
              <a:rPr sz="2200" dirty="0">
                <a:latin typeface="Calibri"/>
                <a:cs typeface="Calibri"/>
              </a:rPr>
              <a:t>y</a:t>
            </a:r>
            <a:r>
              <a:rPr sz="2250" baseline="-18518" dirty="0">
                <a:latin typeface="Calibri"/>
                <a:cs typeface="Calibri"/>
              </a:rPr>
              <a:t>i </a:t>
            </a:r>
            <a:r>
              <a:rPr sz="2200" dirty="0">
                <a:latin typeface="Calibri"/>
                <a:cs typeface="Calibri"/>
              </a:rPr>
              <a:t>= </a:t>
            </a:r>
            <a:r>
              <a:rPr sz="2200" spc="-5" dirty="0">
                <a:latin typeface="Calibri"/>
                <a:cs typeface="Calibri"/>
              </a:rPr>
              <a:t>+1,</a:t>
            </a:r>
            <a:r>
              <a:rPr sz="2200" spc="-7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and  </a:t>
            </a:r>
            <a:r>
              <a:rPr sz="2200" spc="-10" dirty="0">
                <a:latin typeface="Calibri"/>
                <a:cs typeface="Calibri"/>
              </a:rPr>
              <a:t>H</a:t>
            </a:r>
            <a:r>
              <a:rPr sz="2250" spc="-15" baseline="-18518" dirty="0">
                <a:latin typeface="Calibri"/>
                <a:cs typeface="Calibri"/>
              </a:rPr>
              <a:t>2</a:t>
            </a:r>
            <a:r>
              <a:rPr sz="2200" spc="-10" dirty="0">
                <a:latin typeface="Calibri"/>
                <a:cs typeface="Calibri"/>
              </a:rPr>
              <a:t>: </a:t>
            </a:r>
            <a:r>
              <a:rPr sz="2200" dirty="0">
                <a:latin typeface="Calibri"/>
                <a:cs typeface="Calibri"/>
              </a:rPr>
              <a:t>w</a:t>
            </a:r>
            <a:r>
              <a:rPr sz="2250" baseline="-18518" dirty="0">
                <a:latin typeface="Calibri"/>
                <a:cs typeface="Calibri"/>
              </a:rPr>
              <a:t>0 </a:t>
            </a:r>
            <a:r>
              <a:rPr sz="2200" dirty="0">
                <a:latin typeface="Calibri"/>
                <a:cs typeface="Calibri"/>
              </a:rPr>
              <a:t>+ w</a:t>
            </a:r>
            <a:r>
              <a:rPr sz="2250" baseline="-18518" dirty="0">
                <a:latin typeface="Calibri"/>
                <a:cs typeface="Calibri"/>
              </a:rPr>
              <a:t>1 </a:t>
            </a:r>
            <a:r>
              <a:rPr sz="2200" spc="-5" dirty="0">
                <a:latin typeface="Calibri"/>
                <a:cs typeface="Calibri"/>
              </a:rPr>
              <a:t>x</a:t>
            </a:r>
            <a:r>
              <a:rPr sz="2250" spc="-7" baseline="-18518" dirty="0">
                <a:latin typeface="Calibri"/>
                <a:cs typeface="Calibri"/>
              </a:rPr>
              <a:t>1 </a:t>
            </a:r>
            <a:r>
              <a:rPr sz="2200" dirty="0">
                <a:latin typeface="Calibri"/>
                <a:cs typeface="Calibri"/>
              </a:rPr>
              <a:t>+ w</a:t>
            </a:r>
            <a:r>
              <a:rPr sz="2250" baseline="-18518" dirty="0">
                <a:latin typeface="Calibri"/>
                <a:cs typeface="Calibri"/>
              </a:rPr>
              <a:t>2 </a:t>
            </a:r>
            <a:r>
              <a:rPr sz="2200" spc="-5" dirty="0">
                <a:latin typeface="Calibri"/>
                <a:cs typeface="Calibri"/>
              </a:rPr>
              <a:t>x</a:t>
            </a:r>
            <a:r>
              <a:rPr sz="2250" spc="-7" baseline="-18518" dirty="0">
                <a:latin typeface="Calibri"/>
                <a:cs typeface="Calibri"/>
              </a:rPr>
              <a:t>2 </a:t>
            </a:r>
            <a:r>
              <a:rPr sz="2200" dirty="0">
                <a:latin typeface="Calibri"/>
                <a:cs typeface="Calibri"/>
              </a:rPr>
              <a:t>≤ – 1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for </a:t>
            </a:r>
            <a:r>
              <a:rPr sz="2200" dirty="0">
                <a:latin typeface="Calibri"/>
                <a:cs typeface="Calibri"/>
              </a:rPr>
              <a:t>y</a:t>
            </a:r>
            <a:r>
              <a:rPr sz="2250" baseline="-18518" dirty="0">
                <a:latin typeface="Calibri"/>
                <a:cs typeface="Calibri"/>
              </a:rPr>
              <a:t>i </a:t>
            </a:r>
            <a:r>
              <a:rPr sz="2200" dirty="0">
                <a:latin typeface="Calibri"/>
                <a:cs typeface="Calibri"/>
              </a:rPr>
              <a:t>= –1</a:t>
            </a:r>
            <a:endParaRPr sz="2200">
              <a:latin typeface="Calibri"/>
              <a:cs typeface="Calibri"/>
            </a:endParaRPr>
          </a:p>
          <a:p>
            <a:pPr marL="292100" marR="55880" indent="-228600">
              <a:lnSpc>
                <a:spcPct val="110000"/>
              </a:lnSpc>
              <a:spcBef>
                <a:spcPts val="985"/>
              </a:spcBef>
              <a:buFont typeface="Arial"/>
              <a:buChar char="•"/>
              <a:tabLst>
                <a:tab pos="291465" algn="l"/>
                <a:tab pos="292100" algn="l"/>
              </a:tabLst>
            </a:pPr>
            <a:r>
              <a:rPr sz="2200" spc="-15" dirty="0">
                <a:latin typeface="Calibri"/>
                <a:cs typeface="Calibri"/>
              </a:rPr>
              <a:t>Any training </a:t>
            </a:r>
            <a:r>
              <a:rPr sz="2200" spc="-5" dirty="0">
                <a:latin typeface="Calibri"/>
                <a:cs typeface="Calibri"/>
              </a:rPr>
              <a:t>tuples </a:t>
            </a:r>
            <a:r>
              <a:rPr sz="2200" spc="-10" dirty="0">
                <a:latin typeface="Calibri"/>
                <a:cs typeface="Calibri"/>
              </a:rPr>
              <a:t>that </a:t>
            </a:r>
            <a:r>
              <a:rPr sz="2200" spc="-15" dirty="0">
                <a:latin typeface="Calibri"/>
                <a:cs typeface="Calibri"/>
              </a:rPr>
              <a:t>fall </a:t>
            </a:r>
            <a:r>
              <a:rPr sz="2200" dirty="0">
                <a:latin typeface="Calibri"/>
                <a:cs typeface="Calibri"/>
              </a:rPr>
              <a:t>on </a:t>
            </a:r>
            <a:r>
              <a:rPr sz="2200" spc="-10" dirty="0">
                <a:latin typeface="Calibri"/>
                <a:cs typeface="Calibri"/>
              </a:rPr>
              <a:t>hyperplanes H</a:t>
            </a:r>
            <a:r>
              <a:rPr sz="2250" spc="-15" baseline="-18518" dirty="0">
                <a:latin typeface="Calibri"/>
                <a:cs typeface="Calibri"/>
              </a:rPr>
              <a:t>1 </a:t>
            </a:r>
            <a:r>
              <a:rPr sz="2200" dirty="0">
                <a:latin typeface="Calibri"/>
                <a:cs typeface="Calibri"/>
              </a:rPr>
              <a:t>or H</a:t>
            </a:r>
            <a:r>
              <a:rPr sz="2250" baseline="-18518" dirty="0">
                <a:latin typeface="Calibri"/>
                <a:cs typeface="Calibri"/>
              </a:rPr>
              <a:t>2 </a:t>
            </a:r>
            <a:r>
              <a:rPr sz="2200" spc="-5" dirty="0">
                <a:latin typeface="Calibri"/>
                <a:cs typeface="Calibri"/>
              </a:rPr>
              <a:t>(i.e., the  sides </a:t>
            </a:r>
            <a:r>
              <a:rPr sz="2200" spc="-10" dirty="0">
                <a:latin typeface="Calibri"/>
                <a:cs typeface="Calibri"/>
              </a:rPr>
              <a:t>defining </a:t>
            </a:r>
            <a:r>
              <a:rPr sz="2200" spc="-5" dirty="0">
                <a:latin typeface="Calibri"/>
                <a:cs typeface="Calibri"/>
              </a:rPr>
              <a:t>the </a:t>
            </a:r>
            <a:r>
              <a:rPr sz="2200" spc="-10" dirty="0">
                <a:latin typeface="Calibri"/>
                <a:cs typeface="Calibri"/>
              </a:rPr>
              <a:t>margin) </a:t>
            </a:r>
            <a:r>
              <a:rPr sz="2200" spc="-15" dirty="0">
                <a:latin typeface="Calibri"/>
                <a:cs typeface="Calibri"/>
              </a:rPr>
              <a:t>are </a:t>
            </a:r>
            <a:r>
              <a:rPr sz="2200" b="1" spc="-5" dirty="0">
                <a:latin typeface="Calibri"/>
                <a:cs typeface="Calibri"/>
              </a:rPr>
              <a:t>support</a:t>
            </a:r>
            <a:r>
              <a:rPr sz="2200" b="1" spc="40" dirty="0">
                <a:latin typeface="Calibri"/>
                <a:cs typeface="Calibri"/>
              </a:rPr>
              <a:t> </a:t>
            </a:r>
            <a:r>
              <a:rPr sz="2200" b="1" spc="-10" dirty="0">
                <a:latin typeface="Calibri"/>
                <a:cs typeface="Calibri"/>
              </a:rPr>
              <a:t>vectors</a:t>
            </a:r>
            <a:endParaRPr sz="2200">
              <a:latin typeface="Calibri"/>
              <a:cs typeface="Calibri"/>
            </a:endParaRPr>
          </a:p>
          <a:p>
            <a:pPr marL="292100" indent="-228600">
              <a:lnSpc>
                <a:spcPct val="100000"/>
              </a:lnSpc>
              <a:spcBef>
                <a:spcPts val="1365"/>
              </a:spcBef>
              <a:buFont typeface="Arial"/>
              <a:buChar char="•"/>
              <a:tabLst>
                <a:tab pos="291465" algn="l"/>
                <a:tab pos="292100" algn="l"/>
              </a:tabLst>
            </a:pPr>
            <a:r>
              <a:rPr sz="2200" spc="-10" dirty="0">
                <a:latin typeface="Calibri"/>
                <a:cs typeface="Calibri"/>
              </a:rPr>
              <a:t>Constrained </a:t>
            </a:r>
            <a:r>
              <a:rPr sz="2200" spc="-20" dirty="0">
                <a:latin typeface="Calibri"/>
                <a:cs typeface="Calibri"/>
              </a:rPr>
              <a:t>(convex) </a:t>
            </a:r>
            <a:r>
              <a:rPr sz="2200" spc="-15" dirty="0">
                <a:latin typeface="Calibri"/>
                <a:cs typeface="Calibri"/>
              </a:rPr>
              <a:t>quadratic </a:t>
            </a:r>
            <a:r>
              <a:rPr sz="2200" spc="-10" dirty="0">
                <a:latin typeface="Calibri"/>
                <a:cs typeface="Calibri"/>
              </a:rPr>
              <a:t>optimization</a:t>
            </a:r>
            <a:r>
              <a:rPr sz="2200" spc="2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problem.</a:t>
            </a:r>
            <a:endParaRPr sz="2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17687" y="682930"/>
            <a:ext cx="5509895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30" dirty="0">
                <a:latin typeface="Calibri Light"/>
                <a:cs typeface="Calibri Light"/>
              </a:rPr>
              <a:t>Classification </a:t>
            </a:r>
            <a:r>
              <a:rPr sz="3500" spc="40" dirty="0">
                <a:latin typeface="Calibri Light"/>
                <a:cs typeface="Calibri Light"/>
              </a:rPr>
              <a:t>with Linear</a:t>
            </a:r>
            <a:r>
              <a:rPr sz="3500" spc="-15" dirty="0">
                <a:latin typeface="Calibri Light"/>
                <a:cs typeface="Calibri Light"/>
              </a:rPr>
              <a:t> </a:t>
            </a:r>
            <a:r>
              <a:rPr sz="3500" spc="55" dirty="0">
                <a:latin typeface="Calibri Light"/>
                <a:cs typeface="Calibri Light"/>
              </a:rPr>
              <a:t>SVM</a:t>
            </a:r>
            <a:endParaRPr sz="3500">
              <a:latin typeface="Calibri Light"/>
              <a:cs typeface="Calibri Ligh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2103" y="1627632"/>
            <a:ext cx="7260335" cy="486460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063273" y="682930"/>
            <a:ext cx="5018405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40" dirty="0">
                <a:latin typeface="Calibri Light"/>
                <a:cs typeface="Calibri Light"/>
              </a:rPr>
              <a:t>Nonlinear </a:t>
            </a:r>
            <a:r>
              <a:rPr sz="3500" spc="50" dirty="0">
                <a:latin typeface="Calibri Light"/>
                <a:cs typeface="Calibri Light"/>
              </a:rPr>
              <a:t>SVM:</a:t>
            </a:r>
            <a:r>
              <a:rPr sz="3500" spc="-70" dirty="0">
                <a:latin typeface="Calibri Light"/>
                <a:cs typeface="Calibri Light"/>
              </a:rPr>
              <a:t> </a:t>
            </a:r>
            <a:r>
              <a:rPr sz="3500" spc="35" dirty="0">
                <a:latin typeface="Calibri Light"/>
                <a:cs typeface="Calibri Light"/>
              </a:rPr>
              <a:t>Motivation</a:t>
            </a:r>
            <a:endParaRPr sz="3500">
              <a:latin typeface="Calibri Light"/>
              <a:cs typeface="Calibri Ligh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7616" y="1703832"/>
            <a:ext cx="7537704" cy="488899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437382" y="483234"/>
            <a:ext cx="226885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Summa</a:t>
            </a:r>
            <a:r>
              <a:rPr spc="254" dirty="0"/>
              <a:t>r</a:t>
            </a:r>
            <a:r>
              <a:rPr dirty="0"/>
              <a:t>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10296"/>
            <a:ext cx="7409180" cy="4530090"/>
          </a:xfrm>
          <a:prstGeom prst="rect">
            <a:avLst/>
          </a:prstGeom>
        </p:spPr>
        <p:txBody>
          <a:bodyPr vert="horz" wrap="square" lIns="0" tIns="10350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81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</a:t>
            </a:r>
            <a:r>
              <a:rPr sz="28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descent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56285" lvl="1" indent="-287020">
              <a:lnSpc>
                <a:spcPct val="100000"/>
              </a:lnSpc>
              <a:spcBef>
                <a:spcPts val="620"/>
              </a:spcBef>
              <a:buFont typeface="Arial"/>
              <a:buChar char="–"/>
              <a:tabLst>
                <a:tab pos="756920" algn="l"/>
              </a:tabLst>
            </a:pPr>
            <a:r>
              <a:rPr sz="2400" spc="-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sz="24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generic algorithm </a:t>
            </a:r>
            <a:r>
              <a:rPr sz="24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sz="24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minimize 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r>
              <a:rPr sz="2400" spc="2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56285" marR="108585" lvl="1" indent="-287020">
              <a:lnSpc>
                <a:spcPts val="2730"/>
              </a:lnSpc>
              <a:spcBef>
                <a:spcPts val="795"/>
              </a:spcBef>
              <a:buFont typeface="Arial"/>
              <a:buChar char="–"/>
              <a:tabLst>
                <a:tab pos="756920" algn="l"/>
              </a:tabLst>
            </a:pP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Works </a:t>
            </a:r>
            <a:r>
              <a:rPr sz="2400" spc="-1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well </a:t>
            </a:r>
            <a:r>
              <a:rPr sz="2400" spc="-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</a:t>
            </a:r>
            <a:r>
              <a:rPr sz="24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 </a:t>
            </a:r>
            <a:r>
              <a:rPr sz="2400" spc="-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 </a:t>
            </a:r>
            <a:r>
              <a:rPr sz="24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</a:t>
            </a:r>
            <a:r>
              <a:rPr sz="2400" spc="-1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well </a:t>
            </a:r>
            <a:r>
              <a:rPr sz="2400" spc="-1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behaved </a:t>
            </a:r>
            <a:r>
              <a:rPr sz="24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(ie  </a:t>
            </a:r>
            <a:r>
              <a:rPr sz="24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convex)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56285" lvl="1" indent="-287020">
              <a:lnSpc>
                <a:spcPts val="2805"/>
              </a:lnSpc>
              <a:spcBef>
                <a:spcPts val="509"/>
              </a:spcBef>
              <a:buFont typeface="Arial"/>
              <a:buChar char="–"/>
              <a:tabLst>
                <a:tab pos="756920" algn="l"/>
              </a:tabLst>
            </a:pPr>
            <a:r>
              <a:rPr sz="240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Subgradient </a:t>
            </a:r>
            <a:r>
              <a:rPr sz="24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descent 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</a:t>
            </a:r>
            <a:r>
              <a:rPr sz="24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</a:t>
            </a:r>
            <a:r>
              <a:rPr sz="2400" spc="-1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</a:t>
            </a:r>
            <a:r>
              <a:rPr sz="24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points</a:t>
            </a:r>
            <a:r>
              <a:rPr sz="24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56285">
              <a:lnSpc>
                <a:spcPts val="2805"/>
              </a:lnSpc>
            </a:pPr>
            <a:r>
              <a:rPr sz="24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 </a:t>
            </a:r>
            <a:r>
              <a:rPr sz="24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sz="24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sz="2400" spc="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defined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56285" lvl="1" indent="-287020">
              <a:lnSpc>
                <a:spcPct val="100000"/>
              </a:lnSpc>
              <a:spcBef>
                <a:spcPts val="575"/>
              </a:spcBef>
              <a:buFont typeface="Arial"/>
              <a:buChar char="–"/>
              <a:tabLst>
                <a:tab pos="756920" algn="l"/>
              </a:tabLst>
            </a:pP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Choice of </a:t>
            </a:r>
            <a:r>
              <a:rPr sz="2400"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</a:t>
            </a:r>
            <a:r>
              <a:rPr sz="24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 </a:t>
            </a:r>
            <a:r>
              <a:rPr sz="24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400" spc="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indent="-342900">
              <a:lnSpc>
                <a:spcPct val="100000"/>
              </a:lnSpc>
              <a:spcBef>
                <a:spcPts val="63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</a:t>
            </a:r>
            <a:r>
              <a:rPr sz="28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</a:t>
            </a:r>
            <a:r>
              <a:rPr sz="2800" spc="-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</a:t>
            </a:r>
            <a:r>
              <a:rPr sz="2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sz="280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 </a:t>
            </a:r>
            <a:r>
              <a:rPr sz="28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parameters </a:t>
            </a:r>
            <a:r>
              <a:rPr sz="2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r>
              <a:rPr sz="28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sz="2800" spc="3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indent="-342900">
              <a:lnSpc>
                <a:spcPct val="100000"/>
              </a:lnSpc>
              <a:spcBef>
                <a:spcPts val="67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sz="2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indent="-342900">
              <a:lnSpc>
                <a:spcPct val="100000"/>
              </a:lnSpc>
              <a:spcBef>
                <a:spcPts val="67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</a:t>
            </a:r>
            <a:r>
              <a:rPr sz="2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</a:t>
            </a:r>
            <a:r>
              <a:rPr sz="2800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r>
              <a:rPr lang="en-US" sz="28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</TotalTime>
  <Words>1503</Words>
  <Application>Microsoft Office PowerPoint</Application>
  <PresentationFormat>On-screen Show (4:3)</PresentationFormat>
  <Paragraphs>212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2" baseType="lpstr">
      <vt:lpstr>Calibri</vt:lpstr>
      <vt:lpstr>Arial</vt:lpstr>
      <vt:lpstr>Cambria Math</vt:lpstr>
      <vt:lpstr>Calibri Light</vt:lpstr>
      <vt:lpstr>Segoe UI</vt:lpstr>
      <vt:lpstr>Segoe UI Light</vt:lpstr>
      <vt:lpstr>Times New Roman</vt:lpstr>
      <vt:lpstr>Office Theme</vt:lpstr>
      <vt:lpstr>CSCI/ARTI 8950 Machine Learning</vt:lpstr>
      <vt:lpstr>Binary classification  via hyperplanes</vt:lpstr>
      <vt:lpstr>PowerPoint Presentation</vt:lpstr>
      <vt:lpstr>Learning a Linear Classifier  as an Optimization Problem</vt:lpstr>
      <vt:lpstr>Casting Linear Classification  as an Optimization Problem</vt:lpstr>
      <vt:lpstr>Learning a Linear Classifier  as an Optimization Problem</vt:lpstr>
      <vt:lpstr>The 0-1 Loss</vt:lpstr>
      <vt:lpstr>Approximating the 0-1 loss with  surrogate loss functions</vt:lpstr>
      <vt:lpstr>Approximating the 0-1 loss with  surrogate loss functions</vt:lpstr>
      <vt:lpstr>Approximating the 0-1 loss with  surrogate loss functions</vt:lpstr>
      <vt:lpstr>Casting Linear Classification  as an Optimization Problem</vt:lpstr>
      <vt:lpstr>The regularizer term</vt:lpstr>
      <vt:lpstr>Norm-based Regularizers</vt:lpstr>
      <vt:lpstr>Norm-based Regularizers</vt:lpstr>
      <vt:lpstr>What is the perceptron optimizing?</vt:lpstr>
      <vt:lpstr>Casting Linear Classification  as an Optimization Problem</vt:lpstr>
      <vt:lpstr>Recap: Linear Models</vt:lpstr>
      <vt:lpstr>Gradient descent</vt:lpstr>
      <vt:lpstr>Gradient descent algorithm</vt:lpstr>
      <vt:lpstr>Illustrating gradient descent  in 1-dimensional case</vt:lpstr>
      <vt:lpstr>Illustrating gradient descent  in 2-dimensional case</vt:lpstr>
      <vt:lpstr>Illustrating gradient descent  in 2-dimensional case</vt:lpstr>
      <vt:lpstr>Impact of the step size</vt:lpstr>
      <vt:lpstr>Gradient descent algorithm</vt:lpstr>
      <vt:lpstr>Gradient Descent</vt:lpstr>
      <vt:lpstr>Now let’s calculate gradients for  multivariate objectives</vt:lpstr>
      <vt:lpstr>(1) Derivative with respect to b</vt:lpstr>
      <vt:lpstr>(2) Gradient with respect to w</vt:lpstr>
      <vt:lpstr>Subgradients</vt:lpstr>
      <vt:lpstr>Example: subgradient of hinge loss</vt:lpstr>
      <vt:lpstr>Subgradient Descent  for Hinge Loss</vt:lpstr>
      <vt:lpstr>Linear Regression (1)</vt:lpstr>
      <vt:lpstr>Linear Regression (2)</vt:lpstr>
      <vt:lpstr>Linear Regression (3)</vt:lpstr>
      <vt:lpstr>Linear Regression (4)</vt:lpstr>
      <vt:lpstr>Logistic Regression: General Idea</vt:lpstr>
      <vt:lpstr>Logistic Regression: Maximum Likelihood</vt:lpstr>
      <vt:lpstr>Which Line is Better?</vt:lpstr>
      <vt:lpstr>Support Vector Machines (SVM): Motivation</vt:lpstr>
      <vt:lpstr>SVM: General Idea</vt:lpstr>
      <vt:lpstr>SVM: Linearly Separable</vt:lpstr>
      <vt:lpstr>Classification with Linear SVM</vt:lpstr>
      <vt:lpstr>Nonlinear SVM: Motivation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CSCI_8950_Lec10-11_Linear_Models</dc:title>
  <cp:lastModifiedBy>Khaled M Rasheed</cp:lastModifiedBy>
  <cp:revision>25</cp:revision>
  <dcterms:created xsi:type="dcterms:W3CDTF">2020-10-06T18:54:18Z</dcterms:created>
  <dcterms:modified xsi:type="dcterms:W3CDTF">2026-07-27T22:19:23Z</dcterms:modified>
</cp:coreProperties>
</file>