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9144000" cy="6858000"/>
  <p:embeddedFontLst>
    <p:embeddedFont>
      <p:font typeface="Segoe UI" panose="020B0502040204020203" pitchFamily="34" charset="0"/>
      <p:regular r:id="rId21"/>
      <p:bold r:id="rId22"/>
      <p:italic r:id="rId23"/>
      <p:boldItalic r:id="rId24"/>
    </p:embeddedFont>
    <p:embeddedFont>
      <p:font typeface="Segoe UI Light" panose="020B0502040204020203" pitchFamily="34" charset="0"/>
      <p:regular r:id="rId25"/>
      <p:italic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314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42975" y="147955"/>
            <a:ext cx="7858048" cy="13671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0859" y="2208402"/>
            <a:ext cx="8082280" cy="35991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hyperlink" Target="http://www.autoblog.com/2011/05/31/women-voice-command-systems/" TargetMode="Externa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hyperlink" Target="http://www.propublica.org/article/machine-bias-risk-assessments-in-criminal-sentencing" TargetMode="Externa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5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g"/><Relationship Id="rId5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acm.org/about-acm/acm-code-of-ethics-and-professional-conduct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495" y="149352"/>
            <a:ext cx="6355080" cy="72847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12419" y="1635421"/>
            <a:ext cx="6919595" cy="6235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900" spc="20" dirty="0">
                <a:solidFill>
                  <a:srgbClr val="0070C0"/>
                </a:solidFill>
                <a:latin typeface="Calibri Light"/>
                <a:cs typeface="Calibri Light"/>
              </a:rPr>
              <a:t>CSCI/ARTI </a:t>
            </a:r>
            <a:r>
              <a:rPr sz="3900" spc="45" dirty="0">
                <a:solidFill>
                  <a:srgbClr val="0070C0"/>
                </a:solidFill>
                <a:latin typeface="Calibri Light"/>
                <a:cs typeface="Calibri Light"/>
              </a:rPr>
              <a:t>8950 Machine</a:t>
            </a:r>
            <a:r>
              <a:rPr sz="3900" spc="-35" dirty="0">
                <a:solidFill>
                  <a:srgbClr val="0070C0"/>
                </a:solidFill>
                <a:latin typeface="Calibri Light"/>
                <a:cs typeface="Calibri Light"/>
              </a:rPr>
              <a:t> </a:t>
            </a:r>
            <a:r>
              <a:rPr sz="3900" spc="40" dirty="0">
                <a:solidFill>
                  <a:srgbClr val="0070C0"/>
                </a:solidFill>
                <a:latin typeface="Calibri Light"/>
                <a:cs typeface="Calibri Light"/>
              </a:rPr>
              <a:t>Learning</a:t>
            </a:r>
            <a:endParaRPr sz="39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39604" y="2382012"/>
            <a:ext cx="4466590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latin typeface="Calibri"/>
                <a:cs typeface="Calibri"/>
              </a:rPr>
              <a:t>Lecture </a:t>
            </a:r>
            <a:r>
              <a:rPr lang="en-US" sz="2800" b="1" spc="-5">
                <a:latin typeface="Calibri"/>
                <a:cs typeface="Calibri"/>
              </a:rPr>
              <a:t>Notes </a:t>
            </a:r>
            <a:r>
              <a:rPr lang="en-US" sz="2800" b="1">
                <a:latin typeface="Calibri"/>
                <a:cs typeface="Calibri"/>
              </a:rPr>
              <a:t>10</a:t>
            </a:r>
            <a:r>
              <a:rPr sz="2800" b="1">
                <a:latin typeface="Calibri"/>
                <a:cs typeface="Calibri"/>
              </a:rPr>
              <a:t>: </a:t>
            </a:r>
            <a:r>
              <a:rPr sz="3200" b="1" dirty="0">
                <a:latin typeface="Calibri"/>
                <a:cs typeface="Calibri"/>
              </a:rPr>
              <a:t>Bias </a:t>
            </a:r>
            <a:r>
              <a:rPr sz="3200" b="1" spc="-5" dirty="0">
                <a:latin typeface="Calibri"/>
                <a:cs typeface="Calibri"/>
              </a:rPr>
              <a:t>and</a:t>
            </a:r>
            <a:r>
              <a:rPr sz="3200" b="1" spc="-55" dirty="0">
                <a:latin typeface="Calibri"/>
                <a:cs typeface="Calibri"/>
              </a:rPr>
              <a:t> </a:t>
            </a:r>
            <a:r>
              <a:rPr sz="3200" b="1" spc="-15" dirty="0">
                <a:latin typeface="Calibri"/>
                <a:cs typeface="Calibri"/>
              </a:rPr>
              <a:t>Fairness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10756" y="6524243"/>
            <a:ext cx="6093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Credit: some </a:t>
            </a:r>
            <a:r>
              <a:rPr sz="1400" spc="-10" dirty="0">
                <a:latin typeface="Calibri"/>
                <a:cs typeface="Calibri"/>
              </a:rPr>
              <a:t>examples </a:t>
            </a:r>
            <a:r>
              <a:rPr sz="1400" dirty="0">
                <a:latin typeface="Calibri"/>
                <a:cs typeface="Calibri"/>
              </a:rPr>
              <a:t>&amp; </a:t>
            </a:r>
            <a:r>
              <a:rPr sz="1400" spc="-5" dirty="0">
                <a:latin typeface="Calibri"/>
                <a:cs typeface="Calibri"/>
              </a:rPr>
              <a:t>figures by Marine Carpuat, </a:t>
            </a:r>
            <a:r>
              <a:rPr sz="1400" spc="-45" dirty="0">
                <a:latin typeface="Calibri"/>
                <a:cs typeface="Calibri"/>
              </a:rPr>
              <a:t>Tom </a:t>
            </a:r>
            <a:r>
              <a:rPr sz="1400" spc="-5" dirty="0">
                <a:latin typeface="Calibri"/>
                <a:cs typeface="Calibri"/>
              </a:rPr>
              <a:t>Mitchell </a:t>
            </a:r>
            <a:r>
              <a:rPr sz="1400" dirty="0">
                <a:latin typeface="Calibri"/>
                <a:cs typeface="Calibri"/>
              </a:rPr>
              <a:t>and Hal </a:t>
            </a:r>
            <a:r>
              <a:rPr sz="1400" spc="-5" dirty="0">
                <a:latin typeface="Calibri"/>
                <a:cs typeface="Calibri"/>
              </a:rPr>
              <a:t>Daumé</a:t>
            </a:r>
            <a:r>
              <a:rPr sz="1400" spc="1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III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DC8E001-C62E-4A83-A4FD-964D8AD47402}"/>
              </a:ext>
            </a:extLst>
          </p:cNvPr>
          <p:cNvSpPr txBox="1">
            <a:spLocks/>
          </p:cNvSpPr>
          <p:nvPr/>
        </p:nvSpPr>
        <p:spPr>
          <a:xfrm>
            <a:off x="1143000" y="3662998"/>
            <a:ext cx="6858000" cy="2661602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>
            <a:lvl1pPr marL="0">
              <a:defRPr sz="2200" b="0" i="0">
                <a:solidFill>
                  <a:schemeClr val="tx1"/>
                </a:solidFill>
                <a:latin typeface="Segoe UI Emoji"/>
                <a:ea typeface="+mn-ea"/>
                <a:cs typeface="Segoe UI Emoji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Khaled Rasheed</a:t>
            </a:r>
          </a:p>
          <a:p>
            <a:pPr algn="ctr"/>
            <a:r>
              <a:rPr lang="en-US" sz="24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Professor</a:t>
            </a:r>
          </a:p>
          <a:p>
            <a:pPr algn="ctr"/>
            <a:r>
              <a:rPr lang="en-US" sz="24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School of Computing</a:t>
            </a:r>
          </a:p>
          <a:p>
            <a:pPr algn="ctr"/>
            <a:r>
              <a:rPr lang="en-US" sz="24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Member</a:t>
            </a:r>
          </a:p>
          <a:p>
            <a:pPr algn="ctr"/>
            <a:r>
              <a:rPr lang="en-US" sz="24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Institute for Artificial Intelligence</a:t>
            </a:r>
          </a:p>
          <a:p>
            <a:pPr algn="ctr"/>
            <a:r>
              <a:rPr lang="en-US" sz="2400" kern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University of Georgia</a:t>
            </a:r>
            <a:endParaRPr lang="en-US" sz="2400" kern="0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1304" y="620268"/>
            <a:ext cx="4491228" cy="593641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6334" y="6410655"/>
            <a:ext cx="61391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0" spc="-5" dirty="0">
                <a:latin typeface="Segoe UI Light"/>
                <a:cs typeface="Segoe UI Light"/>
                <a:hlinkClick r:id="rId2"/>
              </a:rPr>
              <a:t>http://www.autoblog.com/2011/05/31/women-voice-command-systems/</a:t>
            </a:r>
            <a:endParaRPr sz="1600">
              <a:latin typeface="Segoe UI Light"/>
              <a:cs typeface="Segoe U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" y="477012"/>
            <a:ext cx="7296911" cy="53385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6334" y="6410655"/>
            <a:ext cx="75672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0" spc="-5" dirty="0">
                <a:latin typeface="Segoe UI Light"/>
                <a:cs typeface="Segoe UI Light"/>
              </a:rPr>
              <a:t>https://</a:t>
            </a:r>
            <a:r>
              <a:rPr sz="1600" b="0" spc="-5" dirty="0">
                <a:latin typeface="Segoe UI Light"/>
                <a:cs typeface="Segoe UI Light"/>
                <a:hlinkClick r:id="rId2"/>
              </a:rPr>
              <a:t>www.propublica.org/article/machine-bias-risk-assessments-in-criminal-sentencing</a:t>
            </a:r>
            <a:endParaRPr sz="1600">
              <a:latin typeface="Segoe UI Light"/>
              <a:cs typeface="Segoe U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204" y="117347"/>
            <a:ext cx="6873240" cy="217627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2468879"/>
            <a:ext cx="9144000" cy="35143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82980" marR="5080" indent="-970915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Recall: </a:t>
            </a:r>
            <a:r>
              <a:rPr dirty="0"/>
              <a:t>Formal </a:t>
            </a:r>
            <a:r>
              <a:rPr spc="-5" dirty="0"/>
              <a:t>Definition </a:t>
            </a:r>
            <a:r>
              <a:rPr spc="-60" dirty="0"/>
              <a:t>of </a:t>
            </a:r>
            <a:r>
              <a:rPr spc="40" dirty="0"/>
              <a:t>Binary  </a:t>
            </a:r>
            <a:r>
              <a:rPr spc="-5" dirty="0"/>
              <a:t>Classification </a:t>
            </a:r>
            <a:r>
              <a:rPr spc="-20" dirty="0"/>
              <a:t>(from</a:t>
            </a:r>
            <a:r>
              <a:rPr spc="-50" dirty="0"/>
              <a:t> </a:t>
            </a:r>
            <a:r>
              <a:rPr spc="-5" dirty="0"/>
              <a:t>CIML)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1798" y="2430917"/>
            <a:ext cx="7946465" cy="28235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1808" y="483234"/>
            <a:ext cx="45808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30" dirty="0"/>
              <a:t>Train/Test</a:t>
            </a:r>
            <a:r>
              <a:rPr spc="-70" dirty="0"/>
              <a:t> </a:t>
            </a:r>
            <a:r>
              <a:rPr dirty="0"/>
              <a:t>Mismatch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136774"/>
            <a:ext cx="7978775" cy="3441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65278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  <a:tab pos="6109335" algn="l"/>
              </a:tabLst>
            </a:pPr>
            <a:r>
              <a:rPr sz="2800" spc="-10" dirty="0">
                <a:latin typeface="Segoe UI"/>
                <a:cs typeface="Segoe UI"/>
              </a:rPr>
              <a:t>W</a:t>
            </a:r>
            <a:r>
              <a:rPr sz="2800" dirty="0">
                <a:latin typeface="Segoe UI"/>
                <a:cs typeface="Segoe UI"/>
              </a:rPr>
              <a:t>h</a:t>
            </a:r>
            <a:r>
              <a:rPr sz="2800" spc="-5" dirty="0">
                <a:latin typeface="Segoe UI"/>
                <a:cs typeface="Segoe UI"/>
              </a:rPr>
              <a:t>en</a:t>
            </a:r>
            <a:r>
              <a:rPr sz="2800" spc="5" dirty="0">
                <a:latin typeface="Segoe UI"/>
                <a:cs typeface="Segoe UI"/>
              </a:rPr>
              <a:t> </a:t>
            </a:r>
            <a:r>
              <a:rPr sz="2800" spc="-20" dirty="0">
                <a:latin typeface="Segoe UI"/>
                <a:cs typeface="Segoe UI"/>
              </a:rPr>
              <a:t>w</a:t>
            </a:r>
            <a:r>
              <a:rPr sz="2800" spc="-5" dirty="0">
                <a:latin typeface="Segoe UI"/>
                <a:cs typeface="Segoe UI"/>
              </a:rPr>
              <a:t>or</a:t>
            </a:r>
            <a:r>
              <a:rPr sz="2800" dirty="0">
                <a:latin typeface="Segoe UI"/>
                <a:cs typeface="Segoe UI"/>
              </a:rPr>
              <a:t>k</a:t>
            </a:r>
            <a:r>
              <a:rPr sz="2800" spc="-10" dirty="0">
                <a:latin typeface="Segoe UI"/>
                <a:cs typeface="Segoe UI"/>
              </a:rPr>
              <a:t>in</a:t>
            </a:r>
            <a:r>
              <a:rPr sz="2800" spc="-5" dirty="0">
                <a:latin typeface="Segoe UI"/>
                <a:cs typeface="Segoe UI"/>
              </a:rPr>
              <a:t>g</a:t>
            </a:r>
            <a:r>
              <a:rPr sz="2800" spc="5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with</a:t>
            </a:r>
            <a:r>
              <a:rPr sz="2800" spc="5" dirty="0">
                <a:latin typeface="Segoe UI"/>
                <a:cs typeface="Segoe UI"/>
              </a:rPr>
              <a:t> </a:t>
            </a:r>
            <a:r>
              <a:rPr sz="2800" spc="-45" dirty="0">
                <a:latin typeface="Segoe UI"/>
                <a:cs typeface="Segoe UI"/>
              </a:rPr>
              <a:t>r</a:t>
            </a:r>
            <a:r>
              <a:rPr sz="2800" spc="-5" dirty="0">
                <a:latin typeface="Segoe UI"/>
                <a:cs typeface="Segoe UI"/>
              </a:rPr>
              <a:t>e</a:t>
            </a:r>
            <a:r>
              <a:rPr sz="2800" dirty="0">
                <a:latin typeface="Segoe UI"/>
                <a:cs typeface="Segoe UI"/>
              </a:rPr>
              <a:t>a</a:t>
            </a:r>
            <a:r>
              <a:rPr sz="2800" spc="-5" dirty="0">
                <a:latin typeface="Segoe UI"/>
                <a:cs typeface="Segoe UI"/>
              </a:rPr>
              <a:t>l</a:t>
            </a:r>
            <a:r>
              <a:rPr sz="2800" spc="-20" dirty="0">
                <a:latin typeface="Segoe UI"/>
                <a:cs typeface="Segoe UI"/>
              </a:rPr>
              <a:t> w</a:t>
            </a:r>
            <a:r>
              <a:rPr sz="2800" spc="-5" dirty="0">
                <a:latin typeface="Segoe UI"/>
                <a:cs typeface="Segoe UI"/>
              </a:rPr>
              <a:t>orld</a:t>
            </a:r>
            <a:r>
              <a:rPr sz="2800" spc="10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dat</a:t>
            </a:r>
            <a:r>
              <a:rPr sz="2800" spc="5" dirty="0">
                <a:latin typeface="Segoe UI"/>
                <a:cs typeface="Segoe UI"/>
              </a:rPr>
              <a:t>a</a:t>
            </a:r>
            <a:r>
              <a:rPr sz="2800" spc="-5" dirty="0">
                <a:latin typeface="Segoe UI"/>
                <a:cs typeface="Segoe UI"/>
              </a:rPr>
              <a:t>,</a:t>
            </a:r>
            <a:r>
              <a:rPr sz="2800" dirty="0">
                <a:latin typeface="Segoe UI"/>
                <a:cs typeface="Segoe UI"/>
              </a:rPr>
              <a:t>	</a:t>
            </a:r>
            <a:r>
              <a:rPr sz="2800" spc="-5" dirty="0">
                <a:latin typeface="Segoe UI"/>
                <a:cs typeface="Segoe UI"/>
              </a:rPr>
              <a:t>training  sample</a:t>
            </a:r>
            <a:endParaRPr sz="280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5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Segoe UI"/>
                <a:cs typeface="Segoe UI"/>
              </a:rPr>
              <a:t>reflects </a:t>
            </a:r>
            <a:r>
              <a:rPr sz="2400" spc="-5" dirty="0">
                <a:latin typeface="Segoe UI"/>
                <a:cs typeface="Segoe UI"/>
              </a:rPr>
              <a:t>human</a:t>
            </a:r>
            <a:r>
              <a:rPr sz="2400" spc="1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biases</a:t>
            </a:r>
            <a:endParaRPr sz="240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Segoe UI"/>
                <a:cs typeface="Segoe UI"/>
              </a:rPr>
              <a:t>is influenced </a:t>
            </a:r>
            <a:r>
              <a:rPr sz="2400" dirty="0">
                <a:latin typeface="Segoe UI"/>
                <a:cs typeface="Segoe UI"/>
              </a:rPr>
              <a:t>by </a:t>
            </a:r>
            <a:r>
              <a:rPr sz="2400" spc="-5" dirty="0">
                <a:latin typeface="Segoe UI"/>
                <a:cs typeface="Segoe UI"/>
              </a:rPr>
              <a:t>practical</a:t>
            </a:r>
            <a:r>
              <a:rPr sz="2400" spc="70" dirty="0">
                <a:latin typeface="Segoe UI"/>
                <a:cs typeface="Segoe UI"/>
              </a:rPr>
              <a:t> </a:t>
            </a:r>
            <a:r>
              <a:rPr sz="2400" spc="-5" dirty="0">
                <a:latin typeface="Segoe UI"/>
                <a:cs typeface="Segoe UI"/>
              </a:rPr>
              <a:t>concerns</a:t>
            </a:r>
            <a:endParaRPr sz="2400">
              <a:latin typeface="Segoe UI"/>
              <a:cs typeface="Segoe UI"/>
            </a:endParaRPr>
          </a:p>
          <a:p>
            <a:pPr marL="1225550" lvl="2" indent="-299085">
              <a:lnSpc>
                <a:spcPct val="100000"/>
              </a:lnSpc>
              <a:spcBef>
                <a:spcPts val="484"/>
              </a:spcBef>
              <a:buFont typeface="Arial"/>
              <a:buChar char="•"/>
              <a:tabLst>
                <a:tab pos="1225550" algn="l"/>
                <a:tab pos="1226185" algn="l"/>
                <a:tab pos="2427605" algn="l"/>
              </a:tabLst>
            </a:pPr>
            <a:r>
              <a:rPr sz="2000" spc="-5" dirty="0">
                <a:latin typeface="Segoe UI"/>
                <a:cs typeface="Segoe UI"/>
              </a:rPr>
              <a:t>e.g.,</a:t>
            </a:r>
            <a:r>
              <a:rPr sz="2000" spc="2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what	</a:t>
            </a:r>
            <a:r>
              <a:rPr sz="2000" spc="-5" dirty="0">
                <a:latin typeface="Segoe UI"/>
                <a:cs typeface="Segoe UI"/>
              </a:rPr>
              <a:t>kind </a:t>
            </a:r>
            <a:r>
              <a:rPr sz="2000" spc="-15" dirty="0">
                <a:latin typeface="Segoe UI"/>
                <a:cs typeface="Segoe UI"/>
              </a:rPr>
              <a:t>of </a:t>
            </a:r>
            <a:r>
              <a:rPr sz="2000" dirty="0">
                <a:latin typeface="Segoe UI"/>
                <a:cs typeface="Segoe UI"/>
              </a:rPr>
              <a:t>data </a:t>
            </a:r>
            <a:r>
              <a:rPr sz="2000" spc="-5" dirty="0">
                <a:latin typeface="Segoe UI"/>
                <a:cs typeface="Segoe UI"/>
              </a:rPr>
              <a:t>is </a:t>
            </a:r>
            <a:r>
              <a:rPr sz="2000" dirty="0">
                <a:latin typeface="Segoe UI"/>
                <a:cs typeface="Segoe UI"/>
              </a:rPr>
              <a:t>easy </a:t>
            </a:r>
            <a:r>
              <a:rPr sz="2000" spc="-5" dirty="0">
                <a:latin typeface="Segoe UI"/>
                <a:cs typeface="Segoe UI"/>
              </a:rPr>
              <a:t>to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obtain</a:t>
            </a:r>
            <a:endParaRPr sz="2000">
              <a:latin typeface="Segoe UI"/>
              <a:cs typeface="Segoe UI"/>
            </a:endParaRPr>
          </a:p>
          <a:p>
            <a:pPr lvl="2"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65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30" dirty="0">
                <a:latin typeface="Segoe UI"/>
                <a:cs typeface="Segoe UI"/>
              </a:rPr>
              <a:t>Train/test </a:t>
            </a:r>
            <a:r>
              <a:rPr sz="2800" spc="-5" dirty="0">
                <a:latin typeface="Segoe UI"/>
                <a:cs typeface="Segoe UI"/>
              </a:rPr>
              <a:t>distribution </a:t>
            </a:r>
            <a:r>
              <a:rPr sz="2800" spc="-10" dirty="0">
                <a:latin typeface="Segoe UI"/>
                <a:cs typeface="Segoe UI"/>
              </a:rPr>
              <a:t>mismatch </a:t>
            </a:r>
            <a:r>
              <a:rPr sz="2800" spc="-5" dirty="0">
                <a:latin typeface="Segoe UI"/>
                <a:cs typeface="Segoe UI"/>
              </a:rPr>
              <a:t>is </a:t>
            </a:r>
            <a:r>
              <a:rPr sz="2800" spc="-10" dirty="0">
                <a:latin typeface="Segoe UI"/>
                <a:cs typeface="Segoe UI"/>
              </a:rPr>
              <a:t>frequent</a:t>
            </a:r>
            <a:r>
              <a:rPr sz="2800" spc="100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issue</a:t>
            </a:r>
            <a:endParaRPr sz="280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59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Segoe UI"/>
                <a:cs typeface="Segoe UI"/>
              </a:rPr>
              <a:t>aka </a:t>
            </a:r>
            <a:r>
              <a:rPr sz="2400" spc="-5" dirty="0">
                <a:latin typeface="Segoe UI"/>
                <a:cs typeface="Segoe UI"/>
              </a:rPr>
              <a:t>sample selection </a:t>
            </a:r>
            <a:r>
              <a:rPr sz="2400" dirty="0">
                <a:latin typeface="Segoe UI"/>
                <a:cs typeface="Segoe UI"/>
              </a:rPr>
              <a:t>bias, domain</a:t>
            </a:r>
            <a:r>
              <a:rPr sz="2400" spc="2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adaptation</a:t>
            </a:r>
            <a:endParaRPr sz="24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69617" y="483234"/>
            <a:ext cx="460692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Domain</a:t>
            </a:r>
            <a:r>
              <a:rPr spc="-105" dirty="0"/>
              <a:t> </a:t>
            </a:r>
            <a:r>
              <a:rPr dirty="0"/>
              <a:t>Adaptation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772283"/>
            <a:ext cx="8028305" cy="1635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Segoe UI"/>
                <a:cs typeface="Segoe UI"/>
              </a:rPr>
              <a:t>What </a:t>
            </a:r>
            <a:r>
              <a:rPr sz="2400" dirty="0">
                <a:latin typeface="Segoe UI"/>
                <a:cs typeface="Segoe UI"/>
              </a:rPr>
              <a:t>does </a:t>
            </a:r>
            <a:r>
              <a:rPr sz="2400" spc="-10" dirty="0">
                <a:latin typeface="Segoe UI"/>
                <a:cs typeface="Segoe UI"/>
              </a:rPr>
              <a:t>it </a:t>
            </a:r>
            <a:r>
              <a:rPr sz="2400" spc="-5" dirty="0">
                <a:latin typeface="Segoe UI"/>
                <a:cs typeface="Segoe UI"/>
              </a:rPr>
              <a:t>mean </a:t>
            </a:r>
            <a:r>
              <a:rPr sz="2400" dirty="0">
                <a:latin typeface="Segoe UI"/>
                <a:cs typeface="Segoe UI"/>
              </a:rPr>
              <a:t>for 2 distributions </a:t>
            </a:r>
            <a:r>
              <a:rPr sz="2400" spc="-15" dirty="0">
                <a:latin typeface="Segoe UI"/>
                <a:cs typeface="Segoe UI"/>
              </a:rPr>
              <a:t>to </a:t>
            </a:r>
            <a:r>
              <a:rPr sz="2400" dirty="0">
                <a:latin typeface="Segoe UI"/>
                <a:cs typeface="Segoe UI"/>
              </a:rPr>
              <a:t>be</a:t>
            </a:r>
            <a:r>
              <a:rPr sz="2400" spc="80" dirty="0">
                <a:latin typeface="Segoe UI"/>
                <a:cs typeface="Segoe UI"/>
              </a:rPr>
              <a:t> </a:t>
            </a:r>
            <a:r>
              <a:rPr sz="2400" spc="-10" dirty="0">
                <a:latin typeface="Segoe UI"/>
                <a:cs typeface="Segoe UI"/>
              </a:rPr>
              <a:t>related?</a:t>
            </a:r>
            <a:endParaRPr sz="24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"/>
              <a:buChar char="•"/>
            </a:pPr>
            <a:endParaRPr sz="3000">
              <a:latin typeface="Segoe UI"/>
              <a:cs typeface="Segoe UI"/>
            </a:endParaRPr>
          </a:p>
          <a:p>
            <a:pPr marL="355600" marR="508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Segoe UI"/>
                <a:cs typeface="Segoe UI"/>
              </a:rPr>
              <a:t>When </a:t>
            </a:r>
            <a:r>
              <a:rPr sz="2400" dirty="0">
                <a:latin typeface="Segoe UI"/>
                <a:cs typeface="Segoe UI"/>
              </a:rPr>
              <a:t>2 </a:t>
            </a:r>
            <a:r>
              <a:rPr sz="2400" spc="-5" dirty="0">
                <a:latin typeface="Segoe UI"/>
                <a:cs typeface="Segoe UI"/>
              </a:rPr>
              <a:t>distributions </a:t>
            </a:r>
            <a:r>
              <a:rPr sz="2400" spc="-10" dirty="0">
                <a:latin typeface="Segoe UI"/>
                <a:cs typeface="Segoe UI"/>
              </a:rPr>
              <a:t>are related </a:t>
            </a:r>
            <a:r>
              <a:rPr sz="2400" dirty="0">
                <a:latin typeface="Segoe UI"/>
                <a:cs typeface="Segoe UI"/>
              </a:rPr>
              <a:t>how can we </a:t>
            </a:r>
            <a:r>
              <a:rPr sz="2400" spc="-5" dirty="0">
                <a:latin typeface="Segoe UI"/>
                <a:cs typeface="Segoe UI"/>
              </a:rPr>
              <a:t>build  models </a:t>
            </a:r>
            <a:r>
              <a:rPr sz="2400" dirty="0">
                <a:latin typeface="Segoe UI"/>
                <a:cs typeface="Segoe UI"/>
              </a:rPr>
              <a:t>that </a:t>
            </a:r>
            <a:r>
              <a:rPr sz="2400" spc="-5" dirty="0">
                <a:latin typeface="Segoe UI"/>
                <a:cs typeface="Segoe UI"/>
              </a:rPr>
              <a:t>effectively </a:t>
            </a:r>
            <a:r>
              <a:rPr sz="2400" spc="-10" dirty="0">
                <a:latin typeface="Segoe UI"/>
                <a:cs typeface="Segoe UI"/>
              </a:rPr>
              <a:t>share </a:t>
            </a:r>
            <a:r>
              <a:rPr sz="2400" spc="-5" dirty="0">
                <a:latin typeface="Segoe UI"/>
                <a:cs typeface="Segoe UI"/>
              </a:rPr>
              <a:t>information </a:t>
            </a:r>
            <a:r>
              <a:rPr sz="2400" dirty="0">
                <a:latin typeface="Segoe UI"/>
                <a:cs typeface="Segoe UI"/>
              </a:rPr>
              <a:t>between</a:t>
            </a:r>
            <a:r>
              <a:rPr sz="2400" spc="45" dirty="0">
                <a:latin typeface="Segoe UI"/>
                <a:cs typeface="Segoe UI"/>
              </a:rPr>
              <a:t> </a:t>
            </a:r>
            <a:r>
              <a:rPr sz="2400" spc="-5" dirty="0">
                <a:latin typeface="Segoe UI"/>
                <a:cs typeface="Segoe UI"/>
              </a:rPr>
              <a:t>them?</a:t>
            </a:r>
            <a:endParaRPr sz="24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40204" y="483234"/>
            <a:ext cx="586422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20" dirty="0"/>
              <a:t>Unsupervised</a:t>
            </a:r>
            <a:r>
              <a:rPr spc="-65" dirty="0"/>
              <a:t> </a:t>
            </a:r>
            <a:r>
              <a:rPr spc="-5" dirty="0"/>
              <a:t>adaptation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4329"/>
            <a:ext cx="7933690" cy="19030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114681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b="1" spc="-10" dirty="0">
                <a:latin typeface="Segoe UI"/>
                <a:cs typeface="Segoe UI"/>
              </a:rPr>
              <a:t>Goal: </a:t>
            </a:r>
            <a:r>
              <a:rPr sz="2800" spc="-10" dirty="0">
                <a:latin typeface="Segoe UI"/>
                <a:cs typeface="Segoe UI"/>
              </a:rPr>
              <a:t>learn </a:t>
            </a:r>
            <a:r>
              <a:rPr sz="2800" spc="-5" dirty="0">
                <a:latin typeface="Segoe UI"/>
                <a:cs typeface="Segoe UI"/>
              </a:rPr>
              <a:t>a classifier f that achieves </a:t>
            </a:r>
            <a:r>
              <a:rPr sz="2800" spc="-10" dirty="0">
                <a:latin typeface="Segoe UI"/>
                <a:cs typeface="Segoe UI"/>
              </a:rPr>
              <a:t>low  </a:t>
            </a:r>
            <a:r>
              <a:rPr sz="2800" spc="-5" dirty="0">
                <a:latin typeface="Segoe UI"/>
                <a:cs typeface="Segoe UI"/>
              </a:rPr>
              <a:t>expected loss under new</a:t>
            </a:r>
            <a:r>
              <a:rPr sz="2800" spc="5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distribution</a:t>
            </a:r>
            <a:endParaRPr sz="28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Char char="•"/>
            </a:pPr>
            <a:endParaRPr sz="350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Segoe UI"/>
                <a:cs typeface="Segoe UI"/>
              </a:rPr>
              <a:t>Given </a:t>
            </a:r>
            <a:r>
              <a:rPr sz="2800" spc="-5" dirty="0">
                <a:latin typeface="Segoe UI"/>
                <a:cs typeface="Segoe UI"/>
              </a:rPr>
              <a:t>labeled training data </a:t>
            </a:r>
            <a:r>
              <a:rPr sz="2800" spc="-15" dirty="0">
                <a:latin typeface="Segoe UI"/>
                <a:cs typeface="Segoe UI"/>
              </a:rPr>
              <a:t>from </a:t>
            </a:r>
            <a:r>
              <a:rPr sz="2800" spc="-5" dirty="0">
                <a:latin typeface="Segoe UI"/>
                <a:cs typeface="Segoe UI"/>
              </a:rPr>
              <a:t>old</a:t>
            </a:r>
            <a:r>
              <a:rPr sz="2800" spc="95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distribution</a:t>
            </a:r>
            <a:endParaRPr sz="2800">
              <a:latin typeface="Segoe UI"/>
              <a:cs typeface="Segoe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4612004"/>
            <a:ext cx="770000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Segoe UI"/>
                <a:cs typeface="Segoe UI"/>
              </a:rPr>
              <a:t>And </a:t>
            </a:r>
            <a:r>
              <a:rPr sz="2800" spc="-5" dirty="0">
                <a:latin typeface="Segoe UI"/>
                <a:cs typeface="Segoe UI"/>
              </a:rPr>
              <a:t>unlabeled examples </a:t>
            </a:r>
            <a:r>
              <a:rPr sz="2800" spc="-15" dirty="0">
                <a:latin typeface="Segoe UI"/>
                <a:cs typeface="Segoe UI"/>
              </a:rPr>
              <a:t>from </a:t>
            </a:r>
            <a:r>
              <a:rPr sz="2800" spc="-5" dirty="0">
                <a:latin typeface="Segoe UI"/>
                <a:cs typeface="Segoe UI"/>
              </a:rPr>
              <a:t>new</a:t>
            </a:r>
            <a:r>
              <a:rPr sz="2800" spc="40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distribution</a:t>
            </a:r>
            <a:endParaRPr sz="2800">
              <a:latin typeface="Segoe UI"/>
              <a:cs typeface="Segoe U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48584" y="2167373"/>
            <a:ext cx="728586" cy="25554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4898" y="3646783"/>
            <a:ext cx="705864" cy="38405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91078" y="3731618"/>
            <a:ext cx="2516823" cy="30072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1726" y="5085605"/>
            <a:ext cx="2832434" cy="51938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072" rIns="0" bIns="0" rtlCol="0">
            <a:spAutoFit/>
          </a:bodyPr>
          <a:lstStyle/>
          <a:p>
            <a:pPr marL="1364615" marR="5080" indent="-943610">
              <a:lnSpc>
                <a:spcPct val="100000"/>
              </a:lnSpc>
              <a:spcBef>
                <a:spcPts val="95"/>
              </a:spcBef>
            </a:pPr>
            <a:r>
              <a:rPr sz="4000" spc="-10" dirty="0"/>
              <a:t>Relation between </a:t>
            </a:r>
            <a:r>
              <a:rPr sz="4000" spc="-5" dirty="0"/>
              <a:t>test </a:t>
            </a:r>
            <a:r>
              <a:rPr sz="4000" spc="-10" dirty="0"/>
              <a:t>loss </a:t>
            </a:r>
            <a:r>
              <a:rPr sz="4000" spc="-5" dirty="0"/>
              <a:t>in </a:t>
            </a:r>
            <a:r>
              <a:rPr sz="4000" spc="-10" dirty="0"/>
              <a:t>new  domain and old</a:t>
            </a:r>
            <a:r>
              <a:rPr sz="4000" spc="25" dirty="0"/>
              <a:t> </a:t>
            </a:r>
            <a:r>
              <a:rPr sz="4000" spc="-10" dirty="0"/>
              <a:t>domain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2407" y="2098801"/>
            <a:ext cx="7287182" cy="37283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7415" marR="5080" indent="-520065">
              <a:lnSpc>
                <a:spcPct val="100000"/>
              </a:lnSpc>
              <a:spcBef>
                <a:spcPts val="100"/>
              </a:spcBef>
            </a:pPr>
            <a:r>
              <a:rPr dirty="0"/>
              <a:t>How can we estimate the</a:t>
            </a:r>
            <a:r>
              <a:rPr spc="-125" dirty="0"/>
              <a:t> </a:t>
            </a:r>
            <a:r>
              <a:rPr spc="-5" dirty="0"/>
              <a:t>ratio  between Dnew and</a:t>
            </a:r>
            <a:r>
              <a:rPr spc="-50" dirty="0"/>
              <a:t> </a:t>
            </a:r>
            <a:r>
              <a:rPr dirty="0"/>
              <a:t>Dold?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34516" y="1648904"/>
            <a:ext cx="7477125" cy="4606290"/>
            <a:chOff x="934516" y="1648904"/>
            <a:chExt cx="7477125" cy="460629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4516" y="2567242"/>
              <a:ext cx="7476591" cy="368767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585081" y="1661922"/>
              <a:ext cx="1932305" cy="955675"/>
            </a:xfrm>
            <a:custGeom>
              <a:avLst/>
              <a:gdLst/>
              <a:ahLst/>
              <a:cxnLst/>
              <a:rect l="l" t="t" r="r" b="b"/>
              <a:pathLst>
                <a:path w="1932304" h="955675">
                  <a:moveTo>
                    <a:pt x="924179" y="647700"/>
                  </a:moveTo>
                  <a:lnTo>
                    <a:pt x="492125" y="647700"/>
                  </a:lnTo>
                  <a:lnTo>
                    <a:pt x="0" y="955420"/>
                  </a:lnTo>
                  <a:lnTo>
                    <a:pt x="924179" y="647700"/>
                  </a:lnTo>
                  <a:close/>
                </a:path>
                <a:path w="1932304" h="955675">
                  <a:moveTo>
                    <a:pt x="1824355" y="0"/>
                  </a:moveTo>
                  <a:lnTo>
                    <a:pt x="312039" y="0"/>
                  </a:lnTo>
                  <a:lnTo>
                    <a:pt x="270043" y="8491"/>
                  </a:lnTo>
                  <a:lnTo>
                    <a:pt x="235727" y="31638"/>
                  </a:lnTo>
                  <a:lnTo>
                    <a:pt x="212580" y="65954"/>
                  </a:lnTo>
                  <a:lnTo>
                    <a:pt x="204089" y="107950"/>
                  </a:lnTo>
                  <a:lnTo>
                    <a:pt x="204089" y="539750"/>
                  </a:lnTo>
                  <a:lnTo>
                    <a:pt x="212580" y="581745"/>
                  </a:lnTo>
                  <a:lnTo>
                    <a:pt x="235727" y="616061"/>
                  </a:lnTo>
                  <a:lnTo>
                    <a:pt x="270043" y="639208"/>
                  </a:lnTo>
                  <a:lnTo>
                    <a:pt x="312039" y="647700"/>
                  </a:lnTo>
                  <a:lnTo>
                    <a:pt x="1824355" y="647700"/>
                  </a:lnTo>
                  <a:lnTo>
                    <a:pt x="1866350" y="639208"/>
                  </a:lnTo>
                  <a:lnTo>
                    <a:pt x="1900666" y="616061"/>
                  </a:lnTo>
                  <a:lnTo>
                    <a:pt x="1923813" y="581745"/>
                  </a:lnTo>
                  <a:lnTo>
                    <a:pt x="1932304" y="539750"/>
                  </a:lnTo>
                  <a:lnTo>
                    <a:pt x="1932304" y="107950"/>
                  </a:lnTo>
                  <a:lnTo>
                    <a:pt x="1923813" y="65954"/>
                  </a:lnTo>
                  <a:lnTo>
                    <a:pt x="1900666" y="31638"/>
                  </a:lnTo>
                  <a:lnTo>
                    <a:pt x="1866350" y="8491"/>
                  </a:lnTo>
                  <a:lnTo>
                    <a:pt x="1824355" y="0"/>
                  </a:lnTo>
                  <a:close/>
                </a:path>
              </a:pathLst>
            </a:custGeom>
            <a:solidFill>
              <a:srgbClr val="4E85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85081" y="1661922"/>
              <a:ext cx="1932305" cy="955675"/>
            </a:xfrm>
            <a:custGeom>
              <a:avLst/>
              <a:gdLst/>
              <a:ahLst/>
              <a:cxnLst/>
              <a:rect l="l" t="t" r="r" b="b"/>
              <a:pathLst>
                <a:path w="1932304" h="955675">
                  <a:moveTo>
                    <a:pt x="204089" y="107950"/>
                  </a:moveTo>
                  <a:lnTo>
                    <a:pt x="212580" y="65954"/>
                  </a:lnTo>
                  <a:lnTo>
                    <a:pt x="235727" y="31638"/>
                  </a:lnTo>
                  <a:lnTo>
                    <a:pt x="270043" y="8491"/>
                  </a:lnTo>
                  <a:lnTo>
                    <a:pt x="312039" y="0"/>
                  </a:lnTo>
                  <a:lnTo>
                    <a:pt x="492125" y="0"/>
                  </a:lnTo>
                  <a:lnTo>
                    <a:pt x="924179" y="0"/>
                  </a:lnTo>
                  <a:lnTo>
                    <a:pt x="1824355" y="0"/>
                  </a:lnTo>
                  <a:lnTo>
                    <a:pt x="1866350" y="8491"/>
                  </a:lnTo>
                  <a:lnTo>
                    <a:pt x="1900666" y="31638"/>
                  </a:lnTo>
                  <a:lnTo>
                    <a:pt x="1923813" y="65954"/>
                  </a:lnTo>
                  <a:lnTo>
                    <a:pt x="1932304" y="107950"/>
                  </a:lnTo>
                  <a:lnTo>
                    <a:pt x="1932304" y="377825"/>
                  </a:lnTo>
                  <a:lnTo>
                    <a:pt x="1932304" y="539750"/>
                  </a:lnTo>
                  <a:lnTo>
                    <a:pt x="1923813" y="581745"/>
                  </a:lnTo>
                  <a:lnTo>
                    <a:pt x="1900666" y="616061"/>
                  </a:lnTo>
                  <a:lnTo>
                    <a:pt x="1866350" y="639208"/>
                  </a:lnTo>
                  <a:lnTo>
                    <a:pt x="1824355" y="647700"/>
                  </a:lnTo>
                  <a:lnTo>
                    <a:pt x="924179" y="647700"/>
                  </a:lnTo>
                  <a:lnTo>
                    <a:pt x="0" y="955420"/>
                  </a:lnTo>
                  <a:lnTo>
                    <a:pt x="492125" y="647700"/>
                  </a:lnTo>
                  <a:lnTo>
                    <a:pt x="312039" y="647700"/>
                  </a:lnTo>
                  <a:lnTo>
                    <a:pt x="270043" y="639208"/>
                  </a:lnTo>
                  <a:lnTo>
                    <a:pt x="235727" y="616061"/>
                  </a:lnTo>
                  <a:lnTo>
                    <a:pt x="212580" y="581745"/>
                  </a:lnTo>
                  <a:lnTo>
                    <a:pt x="204089" y="539750"/>
                  </a:lnTo>
                  <a:lnTo>
                    <a:pt x="204089" y="377825"/>
                  </a:lnTo>
                  <a:lnTo>
                    <a:pt x="204089" y="107950"/>
                  </a:lnTo>
                  <a:close/>
                </a:path>
              </a:pathLst>
            </a:custGeom>
            <a:ln w="25908">
              <a:solidFill>
                <a:srgbClr val="375F2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2112264" y="1688592"/>
            <a:ext cx="1754505" cy="816610"/>
            <a:chOff x="2112264" y="1688592"/>
            <a:chExt cx="1754505" cy="816610"/>
          </a:xfrm>
        </p:grpSpPr>
        <p:sp>
          <p:nvSpPr>
            <p:cNvPr id="8" name="object 8"/>
            <p:cNvSpPr/>
            <p:nvPr/>
          </p:nvSpPr>
          <p:spPr>
            <a:xfrm>
              <a:off x="2125218" y="1701546"/>
              <a:ext cx="1728470" cy="790575"/>
            </a:xfrm>
            <a:custGeom>
              <a:avLst/>
              <a:gdLst/>
              <a:ahLst/>
              <a:cxnLst/>
              <a:rect l="l" t="t" r="r" b="b"/>
              <a:pathLst>
                <a:path w="1728470" h="790575">
                  <a:moveTo>
                    <a:pt x="1440180" y="647700"/>
                  </a:moveTo>
                  <a:lnTo>
                    <a:pt x="1008126" y="647700"/>
                  </a:lnTo>
                  <a:lnTo>
                    <a:pt x="1026540" y="790448"/>
                  </a:lnTo>
                  <a:lnTo>
                    <a:pt x="1440180" y="647700"/>
                  </a:lnTo>
                  <a:close/>
                </a:path>
                <a:path w="1728470" h="790575">
                  <a:moveTo>
                    <a:pt x="1620266" y="0"/>
                  </a:moveTo>
                  <a:lnTo>
                    <a:pt x="107950" y="0"/>
                  </a:lnTo>
                  <a:lnTo>
                    <a:pt x="65954" y="8491"/>
                  </a:lnTo>
                  <a:lnTo>
                    <a:pt x="31638" y="31638"/>
                  </a:lnTo>
                  <a:lnTo>
                    <a:pt x="8491" y="65954"/>
                  </a:lnTo>
                  <a:lnTo>
                    <a:pt x="0" y="107950"/>
                  </a:lnTo>
                  <a:lnTo>
                    <a:pt x="0" y="539750"/>
                  </a:lnTo>
                  <a:lnTo>
                    <a:pt x="8491" y="581745"/>
                  </a:lnTo>
                  <a:lnTo>
                    <a:pt x="31638" y="616061"/>
                  </a:lnTo>
                  <a:lnTo>
                    <a:pt x="65954" y="639208"/>
                  </a:lnTo>
                  <a:lnTo>
                    <a:pt x="107950" y="647700"/>
                  </a:lnTo>
                  <a:lnTo>
                    <a:pt x="1620266" y="647700"/>
                  </a:lnTo>
                  <a:lnTo>
                    <a:pt x="1662261" y="639208"/>
                  </a:lnTo>
                  <a:lnTo>
                    <a:pt x="1696577" y="616061"/>
                  </a:lnTo>
                  <a:lnTo>
                    <a:pt x="1719724" y="581745"/>
                  </a:lnTo>
                  <a:lnTo>
                    <a:pt x="1728216" y="539750"/>
                  </a:lnTo>
                  <a:lnTo>
                    <a:pt x="1728216" y="107950"/>
                  </a:lnTo>
                  <a:lnTo>
                    <a:pt x="1719724" y="65954"/>
                  </a:lnTo>
                  <a:lnTo>
                    <a:pt x="1696577" y="31638"/>
                  </a:lnTo>
                  <a:lnTo>
                    <a:pt x="1662261" y="8491"/>
                  </a:lnTo>
                  <a:lnTo>
                    <a:pt x="1620266" y="0"/>
                  </a:lnTo>
                  <a:close/>
                </a:path>
              </a:pathLst>
            </a:custGeom>
            <a:solidFill>
              <a:srgbClr val="4E85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125218" y="1701546"/>
              <a:ext cx="1728470" cy="790575"/>
            </a:xfrm>
            <a:custGeom>
              <a:avLst/>
              <a:gdLst/>
              <a:ahLst/>
              <a:cxnLst/>
              <a:rect l="l" t="t" r="r" b="b"/>
              <a:pathLst>
                <a:path w="1728470" h="790575">
                  <a:moveTo>
                    <a:pt x="0" y="107950"/>
                  </a:moveTo>
                  <a:lnTo>
                    <a:pt x="8491" y="65954"/>
                  </a:lnTo>
                  <a:lnTo>
                    <a:pt x="31638" y="31638"/>
                  </a:lnTo>
                  <a:lnTo>
                    <a:pt x="65954" y="8491"/>
                  </a:lnTo>
                  <a:lnTo>
                    <a:pt x="107950" y="0"/>
                  </a:lnTo>
                  <a:lnTo>
                    <a:pt x="1008126" y="0"/>
                  </a:lnTo>
                  <a:lnTo>
                    <a:pt x="1440180" y="0"/>
                  </a:lnTo>
                  <a:lnTo>
                    <a:pt x="1620266" y="0"/>
                  </a:lnTo>
                  <a:lnTo>
                    <a:pt x="1662261" y="8491"/>
                  </a:lnTo>
                  <a:lnTo>
                    <a:pt x="1696577" y="31638"/>
                  </a:lnTo>
                  <a:lnTo>
                    <a:pt x="1719724" y="65954"/>
                  </a:lnTo>
                  <a:lnTo>
                    <a:pt x="1728216" y="107950"/>
                  </a:lnTo>
                  <a:lnTo>
                    <a:pt x="1728216" y="377825"/>
                  </a:lnTo>
                  <a:lnTo>
                    <a:pt x="1728216" y="539750"/>
                  </a:lnTo>
                  <a:lnTo>
                    <a:pt x="1719724" y="581745"/>
                  </a:lnTo>
                  <a:lnTo>
                    <a:pt x="1696577" y="616061"/>
                  </a:lnTo>
                  <a:lnTo>
                    <a:pt x="1662261" y="639208"/>
                  </a:lnTo>
                  <a:lnTo>
                    <a:pt x="1620266" y="647700"/>
                  </a:lnTo>
                  <a:lnTo>
                    <a:pt x="1440180" y="647700"/>
                  </a:lnTo>
                  <a:lnTo>
                    <a:pt x="1026540" y="790448"/>
                  </a:lnTo>
                  <a:lnTo>
                    <a:pt x="1008126" y="647700"/>
                  </a:lnTo>
                  <a:lnTo>
                    <a:pt x="107950" y="647700"/>
                  </a:lnTo>
                  <a:lnTo>
                    <a:pt x="65954" y="639208"/>
                  </a:lnTo>
                  <a:lnTo>
                    <a:pt x="31638" y="616061"/>
                  </a:lnTo>
                  <a:lnTo>
                    <a:pt x="8491" y="581745"/>
                  </a:lnTo>
                  <a:lnTo>
                    <a:pt x="0" y="539750"/>
                  </a:lnTo>
                  <a:lnTo>
                    <a:pt x="0" y="377825"/>
                  </a:lnTo>
                  <a:lnTo>
                    <a:pt x="0" y="107950"/>
                  </a:lnTo>
                  <a:close/>
                </a:path>
              </a:pathLst>
            </a:custGeom>
            <a:ln w="25907">
              <a:solidFill>
                <a:srgbClr val="375F2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437638" y="1722577"/>
            <a:ext cx="110045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4135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Fixed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base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distribution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61330" y="1683258"/>
            <a:ext cx="11830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2885" marR="5080" indent="-21082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 =</a:t>
            </a:r>
            <a:r>
              <a:rPr sz="18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selection  variable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173728" y="6107925"/>
            <a:ext cx="3580765" cy="763270"/>
            <a:chOff x="4173728" y="6107925"/>
            <a:chExt cx="3580765" cy="763270"/>
          </a:xfrm>
        </p:grpSpPr>
        <p:sp>
          <p:nvSpPr>
            <p:cNvPr id="13" name="object 13"/>
            <p:cNvSpPr/>
            <p:nvPr/>
          </p:nvSpPr>
          <p:spPr>
            <a:xfrm>
              <a:off x="4186682" y="6120879"/>
              <a:ext cx="3554729" cy="737235"/>
            </a:xfrm>
            <a:custGeom>
              <a:avLst/>
              <a:gdLst/>
              <a:ahLst/>
              <a:cxnLst/>
              <a:rect l="l" t="t" r="r" b="b"/>
              <a:pathLst>
                <a:path w="3554729" h="737234">
                  <a:moveTo>
                    <a:pt x="0" y="0"/>
                  </a:moveTo>
                  <a:lnTo>
                    <a:pt x="602488" y="363232"/>
                  </a:lnTo>
                  <a:lnTo>
                    <a:pt x="602488" y="651518"/>
                  </a:lnTo>
                  <a:lnTo>
                    <a:pt x="611558" y="696406"/>
                  </a:lnTo>
                  <a:lnTo>
                    <a:pt x="636285" y="733062"/>
                  </a:lnTo>
                  <a:lnTo>
                    <a:pt x="642302" y="737118"/>
                  </a:lnTo>
                  <a:lnTo>
                    <a:pt x="3514661" y="737118"/>
                  </a:lnTo>
                  <a:lnTo>
                    <a:pt x="3520678" y="733062"/>
                  </a:lnTo>
                  <a:lnTo>
                    <a:pt x="3545405" y="696406"/>
                  </a:lnTo>
                  <a:lnTo>
                    <a:pt x="3554475" y="651518"/>
                  </a:lnTo>
                  <a:lnTo>
                    <a:pt x="3554475" y="190258"/>
                  </a:lnTo>
                  <a:lnTo>
                    <a:pt x="602488" y="190258"/>
                  </a:lnTo>
                  <a:lnTo>
                    <a:pt x="0" y="0"/>
                  </a:lnTo>
                  <a:close/>
                </a:path>
                <a:path w="3554729" h="737234">
                  <a:moveTo>
                    <a:pt x="3439160" y="74942"/>
                  </a:moveTo>
                  <a:lnTo>
                    <a:pt x="717803" y="74942"/>
                  </a:lnTo>
                  <a:lnTo>
                    <a:pt x="672943" y="84004"/>
                  </a:lnTo>
                  <a:lnTo>
                    <a:pt x="636285" y="108716"/>
                  </a:lnTo>
                  <a:lnTo>
                    <a:pt x="611558" y="145371"/>
                  </a:lnTo>
                  <a:lnTo>
                    <a:pt x="602488" y="190258"/>
                  </a:lnTo>
                  <a:lnTo>
                    <a:pt x="3554475" y="190258"/>
                  </a:lnTo>
                  <a:lnTo>
                    <a:pt x="3545405" y="145371"/>
                  </a:lnTo>
                  <a:lnTo>
                    <a:pt x="3520678" y="108716"/>
                  </a:lnTo>
                  <a:lnTo>
                    <a:pt x="3484020" y="84004"/>
                  </a:lnTo>
                  <a:lnTo>
                    <a:pt x="3439160" y="74942"/>
                  </a:lnTo>
                  <a:close/>
                </a:path>
              </a:pathLst>
            </a:custGeom>
            <a:solidFill>
              <a:srgbClr val="EF7E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186682" y="6120879"/>
              <a:ext cx="3554729" cy="737235"/>
            </a:xfrm>
            <a:custGeom>
              <a:avLst/>
              <a:gdLst/>
              <a:ahLst/>
              <a:cxnLst/>
              <a:rect l="l" t="t" r="r" b="b"/>
              <a:pathLst>
                <a:path w="3554729" h="737234">
                  <a:moveTo>
                    <a:pt x="602488" y="190258"/>
                  </a:moveTo>
                  <a:lnTo>
                    <a:pt x="611558" y="145371"/>
                  </a:lnTo>
                  <a:lnTo>
                    <a:pt x="636285" y="108716"/>
                  </a:lnTo>
                  <a:lnTo>
                    <a:pt x="672943" y="84004"/>
                  </a:lnTo>
                  <a:lnTo>
                    <a:pt x="717803" y="74942"/>
                  </a:lnTo>
                  <a:lnTo>
                    <a:pt x="1094485" y="74942"/>
                  </a:lnTo>
                  <a:lnTo>
                    <a:pt x="1832482" y="74942"/>
                  </a:lnTo>
                  <a:lnTo>
                    <a:pt x="3439160" y="74942"/>
                  </a:lnTo>
                  <a:lnTo>
                    <a:pt x="3484020" y="84004"/>
                  </a:lnTo>
                  <a:lnTo>
                    <a:pt x="3520678" y="108716"/>
                  </a:lnTo>
                  <a:lnTo>
                    <a:pt x="3545405" y="145371"/>
                  </a:lnTo>
                  <a:lnTo>
                    <a:pt x="3554475" y="190258"/>
                  </a:lnTo>
                  <a:lnTo>
                    <a:pt x="3554475" y="363232"/>
                  </a:lnTo>
                  <a:lnTo>
                    <a:pt x="3554475" y="651518"/>
                  </a:lnTo>
                  <a:lnTo>
                    <a:pt x="3545405" y="696406"/>
                  </a:lnTo>
                  <a:lnTo>
                    <a:pt x="3520678" y="733062"/>
                  </a:lnTo>
                  <a:lnTo>
                    <a:pt x="3514661" y="737118"/>
                  </a:lnTo>
                </a:path>
                <a:path w="3554729" h="737234">
                  <a:moveTo>
                    <a:pt x="642302" y="737118"/>
                  </a:moveTo>
                  <a:lnTo>
                    <a:pt x="636285" y="733062"/>
                  </a:lnTo>
                  <a:lnTo>
                    <a:pt x="611558" y="696406"/>
                  </a:lnTo>
                  <a:lnTo>
                    <a:pt x="602488" y="651518"/>
                  </a:lnTo>
                  <a:lnTo>
                    <a:pt x="602488" y="363232"/>
                  </a:lnTo>
                  <a:lnTo>
                    <a:pt x="0" y="0"/>
                  </a:lnTo>
                  <a:lnTo>
                    <a:pt x="602488" y="190258"/>
                  </a:lnTo>
                </a:path>
              </a:pathLst>
            </a:custGeom>
            <a:ln w="25908">
              <a:solidFill>
                <a:srgbClr val="AF5C0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063744" y="6239662"/>
            <a:ext cx="24041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 marR="5080" indent="-76200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We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can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estimate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P(s=1|x)  using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binary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classifier!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8009" y="2407288"/>
            <a:ext cx="7660705" cy="24584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40432" y="483234"/>
            <a:ext cx="526288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20" dirty="0"/>
              <a:t>Supervised</a:t>
            </a:r>
            <a:r>
              <a:rPr spc="-55" dirty="0"/>
              <a:t> </a:t>
            </a:r>
            <a:r>
              <a:rPr spc="-5" dirty="0"/>
              <a:t>adaptation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4329"/>
            <a:ext cx="7933690" cy="19030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114681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b="1" spc="-10" dirty="0">
                <a:latin typeface="Segoe UI"/>
                <a:cs typeface="Segoe UI"/>
              </a:rPr>
              <a:t>Goal: </a:t>
            </a:r>
            <a:r>
              <a:rPr sz="2800" spc="-10" dirty="0">
                <a:latin typeface="Segoe UI"/>
                <a:cs typeface="Segoe UI"/>
              </a:rPr>
              <a:t>learn </a:t>
            </a:r>
            <a:r>
              <a:rPr sz="2800" spc="-5" dirty="0">
                <a:latin typeface="Segoe UI"/>
                <a:cs typeface="Segoe UI"/>
              </a:rPr>
              <a:t>a classifier f that achieves </a:t>
            </a:r>
            <a:r>
              <a:rPr sz="2800" spc="-10" dirty="0">
                <a:latin typeface="Segoe UI"/>
                <a:cs typeface="Segoe UI"/>
              </a:rPr>
              <a:t>low  </a:t>
            </a:r>
            <a:r>
              <a:rPr sz="2800" spc="-5" dirty="0">
                <a:latin typeface="Segoe UI"/>
                <a:cs typeface="Segoe UI"/>
              </a:rPr>
              <a:t>expected loss under new</a:t>
            </a:r>
            <a:r>
              <a:rPr sz="2800" spc="5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distribution</a:t>
            </a:r>
            <a:endParaRPr sz="28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Char char="•"/>
            </a:pPr>
            <a:endParaRPr sz="350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Segoe UI"/>
                <a:cs typeface="Segoe UI"/>
              </a:rPr>
              <a:t>Given </a:t>
            </a:r>
            <a:r>
              <a:rPr sz="2800" spc="-5" dirty="0">
                <a:latin typeface="Segoe UI"/>
                <a:cs typeface="Segoe UI"/>
              </a:rPr>
              <a:t>labeled training data </a:t>
            </a:r>
            <a:r>
              <a:rPr sz="2800" spc="-15" dirty="0">
                <a:latin typeface="Segoe UI"/>
                <a:cs typeface="Segoe UI"/>
              </a:rPr>
              <a:t>from </a:t>
            </a:r>
            <a:r>
              <a:rPr sz="2800" spc="-5" dirty="0">
                <a:latin typeface="Segoe UI"/>
                <a:cs typeface="Segoe UI"/>
              </a:rPr>
              <a:t>old</a:t>
            </a:r>
            <a:r>
              <a:rPr sz="2800" spc="95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distribution</a:t>
            </a:r>
            <a:endParaRPr sz="2800">
              <a:latin typeface="Segoe UI"/>
              <a:cs typeface="Segoe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4612004"/>
            <a:ext cx="72974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Segoe UI"/>
                <a:cs typeface="Segoe UI"/>
              </a:rPr>
              <a:t>And </a:t>
            </a:r>
            <a:r>
              <a:rPr sz="2800" spc="-5" dirty="0">
                <a:latin typeface="Segoe UI"/>
                <a:cs typeface="Segoe UI"/>
              </a:rPr>
              <a:t>labeled examples </a:t>
            </a:r>
            <a:r>
              <a:rPr sz="2800" spc="-15" dirty="0">
                <a:latin typeface="Segoe UI"/>
                <a:cs typeface="Segoe UI"/>
              </a:rPr>
              <a:t>from </a:t>
            </a:r>
            <a:r>
              <a:rPr sz="2800" spc="-5" dirty="0">
                <a:latin typeface="Segoe UI"/>
                <a:cs typeface="Segoe UI"/>
              </a:rPr>
              <a:t>new</a:t>
            </a:r>
            <a:r>
              <a:rPr sz="2800" spc="55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distribution</a:t>
            </a:r>
            <a:endParaRPr sz="2800">
              <a:latin typeface="Segoe UI"/>
              <a:cs typeface="Segoe U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48584" y="2167373"/>
            <a:ext cx="728586" cy="25554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4898" y="3646783"/>
            <a:ext cx="705864" cy="384058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1763267" y="3585988"/>
            <a:ext cx="2646045" cy="593090"/>
            <a:chOff x="1763267" y="3585988"/>
            <a:chExt cx="2646045" cy="59309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91078" y="3731618"/>
              <a:ext cx="2516823" cy="30072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63267" y="3585988"/>
              <a:ext cx="2645668" cy="592819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911726" y="5085591"/>
            <a:ext cx="4074160" cy="588010"/>
            <a:chOff x="911726" y="5085591"/>
            <a:chExt cx="4074160" cy="588010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1726" y="5085605"/>
              <a:ext cx="2832434" cy="51938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08047" y="5085591"/>
              <a:ext cx="3077526" cy="58766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08073" y="147955"/>
            <a:ext cx="4927600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31215" marR="5080" indent="-819150">
              <a:lnSpc>
                <a:spcPct val="100000"/>
              </a:lnSpc>
              <a:spcBef>
                <a:spcPts val="100"/>
              </a:spcBef>
              <a:tabLst>
                <a:tab pos="3282950" algn="l"/>
              </a:tabLst>
            </a:pPr>
            <a:r>
              <a:rPr spc="-5" dirty="0"/>
              <a:t>On</a:t>
            </a:r>
            <a:r>
              <a:rPr dirty="0"/>
              <a:t>e</a:t>
            </a:r>
            <a:r>
              <a:rPr spc="-20" dirty="0"/>
              <a:t> </a:t>
            </a:r>
            <a:r>
              <a:rPr spc="-5" dirty="0"/>
              <a:t>solutio</a:t>
            </a:r>
            <a:r>
              <a:rPr spc="-20" dirty="0"/>
              <a:t>n</a:t>
            </a:r>
            <a:r>
              <a:rPr dirty="0"/>
              <a:t>:	</a:t>
            </a:r>
            <a:r>
              <a:rPr spc="-20" dirty="0"/>
              <a:t>f</a:t>
            </a:r>
            <a:r>
              <a:rPr dirty="0"/>
              <a:t>eatu</a:t>
            </a:r>
            <a:r>
              <a:rPr spc="-100" dirty="0"/>
              <a:t>r</a:t>
            </a:r>
            <a:r>
              <a:rPr dirty="0"/>
              <a:t>e  </a:t>
            </a:r>
            <a:r>
              <a:rPr spc="-5" dirty="0"/>
              <a:t>augmentation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136774"/>
            <a:ext cx="78568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Segoe UI"/>
                <a:cs typeface="Segoe UI"/>
              </a:rPr>
              <a:t>Map </a:t>
            </a:r>
            <a:r>
              <a:rPr sz="2800" spc="-10" dirty="0">
                <a:latin typeface="Segoe UI"/>
                <a:cs typeface="Segoe UI"/>
              </a:rPr>
              <a:t>inputs </a:t>
            </a:r>
            <a:r>
              <a:rPr sz="2800" spc="-15" dirty="0">
                <a:latin typeface="Segoe UI"/>
                <a:cs typeface="Segoe UI"/>
              </a:rPr>
              <a:t>to </a:t>
            </a:r>
            <a:r>
              <a:rPr sz="2800" spc="-5" dirty="0">
                <a:latin typeface="Segoe UI"/>
                <a:cs typeface="Segoe UI"/>
              </a:rPr>
              <a:t>a new augmented</a:t>
            </a:r>
            <a:r>
              <a:rPr sz="2800" spc="75" dirty="0">
                <a:latin typeface="Segoe UI"/>
                <a:cs typeface="Segoe UI"/>
              </a:rPr>
              <a:t> </a:t>
            </a:r>
            <a:r>
              <a:rPr sz="2800" spc="-10" dirty="0">
                <a:latin typeface="Segoe UI"/>
                <a:cs typeface="Segoe UI"/>
              </a:rPr>
              <a:t>representation</a:t>
            </a:r>
            <a:endParaRPr sz="280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5519" y="3167140"/>
            <a:ext cx="7106769" cy="277286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08073" y="147955"/>
            <a:ext cx="4927600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31215" marR="5080" indent="-819150">
              <a:lnSpc>
                <a:spcPct val="100000"/>
              </a:lnSpc>
              <a:spcBef>
                <a:spcPts val="100"/>
              </a:spcBef>
              <a:tabLst>
                <a:tab pos="3282950" algn="l"/>
              </a:tabLst>
            </a:pPr>
            <a:r>
              <a:rPr spc="-5" dirty="0"/>
              <a:t>On</a:t>
            </a:r>
            <a:r>
              <a:rPr dirty="0"/>
              <a:t>e</a:t>
            </a:r>
            <a:r>
              <a:rPr spc="-20" dirty="0"/>
              <a:t> </a:t>
            </a:r>
            <a:r>
              <a:rPr spc="-5" dirty="0"/>
              <a:t>solutio</a:t>
            </a:r>
            <a:r>
              <a:rPr spc="-20" dirty="0"/>
              <a:t>n</a:t>
            </a:r>
            <a:r>
              <a:rPr dirty="0"/>
              <a:t>:	</a:t>
            </a:r>
            <a:r>
              <a:rPr spc="-20" dirty="0"/>
              <a:t>f</a:t>
            </a:r>
            <a:r>
              <a:rPr dirty="0"/>
              <a:t>eatu</a:t>
            </a:r>
            <a:r>
              <a:rPr spc="-100" dirty="0"/>
              <a:t>r</a:t>
            </a:r>
            <a:r>
              <a:rPr dirty="0"/>
              <a:t>e  </a:t>
            </a:r>
            <a:r>
              <a:rPr spc="-5" dirty="0"/>
              <a:t>augmentation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208402"/>
            <a:ext cx="7493634" cy="21723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954405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30" dirty="0">
                <a:latin typeface="Segoe UI"/>
                <a:cs typeface="Segoe UI"/>
              </a:rPr>
              <a:t>Transform </a:t>
            </a:r>
            <a:r>
              <a:rPr sz="3200" spc="-5" dirty="0">
                <a:latin typeface="Segoe UI"/>
                <a:cs typeface="Segoe UI"/>
              </a:rPr>
              <a:t>Dold </a:t>
            </a:r>
            <a:r>
              <a:rPr sz="3200" dirty="0">
                <a:latin typeface="Segoe UI"/>
                <a:cs typeface="Segoe UI"/>
              </a:rPr>
              <a:t>and </a:t>
            </a:r>
            <a:r>
              <a:rPr sz="3200" spc="-5" dirty="0">
                <a:latin typeface="Segoe UI"/>
                <a:cs typeface="Segoe UI"/>
              </a:rPr>
              <a:t>Dnew </a:t>
            </a:r>
            <a:r>
              <a:rPr sz="3200" dirty="0">
                <a:latin typeface="Segoe UI"/>
                <a:cs typeface="Segoe UI"/>
              </a:rPr>
              <a:t>training  examples</a:t>
            </a:r>
            <a:endParaRPr sz="320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5" dirty="0">
                <a:latin typeface="Segoe UI"/>
                <a:cs typeface="Segoe UI"/>
              </a:rPr>
              <a:t>Train </a:t>
            </a:r>
            <a:r>
              <a:rPr sz="3200" dirty="0">
                <a:latin typeface="Segoe UI"/>
                <a:cs typeface="Segoe UI"/>
              </a:rPr>
              <a:t>a classifier on new</a:t>
            </a:r>
            <a:r>
              <a:rPr sz="3200" spc="20" dirty="0">
                <a:latin typeface="Segoe UI"/>
                <a:cs typeface="Segoe UI"/>
              </a:rPr>
              <a:t> </a:t>
            </a:r>
            <a:r>
              <a:rPr sz="3200" spc="-5" dirty="0">
                <a:latin typeface="Segoe UI"/>
                <a:cs typeface="Segoe UI"/>
              </a:rPr>
              <a:t>representations</a:t>
            </a:r>
            <a:endParaRPr sz="320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Segoe UI"/>
                <a:cs typeface="Segoe UI"/>
              </a:rPr>
              <a:t>Done!</a:t>
            </a:r>
            <a:endParaRPr sz="32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08073" y="147955"/>
            <a:ext cx="4927600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31215" marR="5080" indent="-819150">
              <a:lnSpc>
                <a:spcPct val="100000"/>
              </a:lnSpc>
              <a:spcBef>
                <a:spcPts val="100"/>
              </a:spcBef>
              <a:tabLst>
                <a:tab pos="3282950" algn="l"/>
              </a:tabLst>
            </a:pPr>
            <a:r>
              <a:rPr spc="-5" dirty="0"/>
              <a:t>On</a:t>
            </a:r>
            <a:r>
              <a:rPr dirty="0"/>
              <a:t>e</a:t>
            </a:r>
            <a:r>
              <a:rPr spc="-20" dirty="0"/>
              <a:t> </a:t>
            </a:r>
            <a:r>
              <a:rPr spc="-5" dirty="0"/>
              <a:t>solutio</a:t>
            </a:r>
            <a:r>
              <a:rPr spc="-20" dirty="0"/>
              <a:t>n</a:t>
            </a:r>
            <a:r>
              <a:rPr dirty="0"/>
              <a:t>:	</a:t>
            </a:r>
            <a:r>
              <a:rPr spc="-20" dirty="0"/>
              <a:t>f</a:t>
            </a:r>
            <a:r>
              <a:rPr dirty="0"/>
              <a:t>eatu</a:t>
            </a:r>
            <a:r>
              <a:rPr spc="-100" dirty="0"/>
              <a:t>r</a:t>
            </a:r>
            <a:r>
              <a:rPr dirty="0"/>
              <a:t>e  </a:t>
            </a:r>
            <a:r>
              <a:rPr spc="-5" dirty="0"/>
              <a:t>augmentation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068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60045" algn="l"/>
                <a:tab pos="360680" algn="l"/>
              </a:tabLst>
            </a:pPr>
            <a:r>
              <a:rPr spc="-5" dirty="0"/>
              <a:t>Adding instance </a:t>
            </a:r>
            <a:r>
              <a:rPr dirty="0"/>
              <a:t>weighting </a:t>
            </a:r>
            <a:r>
              <a:rPr spc="-5" dirty="0"/>
              <a:t>might </a:t>
            </a:r>
            <a:r>
              <a:rPr dirty="0"/>
              <a:t>be useful  </a:t>
            </a:r>
            <a:r>
              <a:rPr spc="-5" dirty="0"/>
              <a:t>if </a:t>
            </a:r>
            <a:r>
              <a:rPr dirty="0"/>
              <a:t>N </a:t>
            </a:r>
            <a:r>
              <a:rPr spc="5" dirty="0"/>
              <a:t>&gt;&gt;</a:t>
            </a:r>
            <a:r>
              <a:rPr spc="-30" dirty="0"/>
              <a:t> </a:t>
            </a:r>
            <a:r>
              <a:rPr dirty="0"/>
              <a:t>M</a:t>
            </a:r>
          </a:p>
          <a:p>
            <a:pPr marL="5080">
              <a:lnSpc>
                <a:spcPct val="100000"/>
              </a:lnSpc>
              <a:spcBef>
                <a:spcPts val="55"/>
              </a:spcBef>
              <a:buFont typeface="Arial"/>
              <a:buChar char="•"/>
            </a:pPr>
            <a:endParaRPr sz="4000"/>
          </a:p>
          <a:p>
            <a:pPr marL="360680" marR="208279" indent="-342900">
              <a:lnSpc>
                <a:spcPct val="100000"/>
              </a:lnSpc>
              <a:buFont typeface="Arial"/>
              <a:buChar char="•"/>
              <a:tabLst>
                <a:tab pos="360045" algn="l"/>
                <a:tab pos="360680" algn="l"/>
              </a:tabLst>
            </a:pPr>
            <a:r>
              <a:rPr dirty="0"/>
              <a:t>Most effective when distributions </a:t>
            </a:r>
            <a:r>
              <a:rPr spc="-10" dirty="0"/>
              <a:t>are</a:t>
            </a:r>
            <a:r>
              <a:rPr spc="-60" dirty="0"/>
              <a:t> </a:t>
            </a:r>
            <a:r>
              <a:rPr dirty="0"/>
              <a:t>“not  </a:t>
            </a:r>
            <a:r>
              <a:rPr spc="-10" dirty="0"/>
              <a:t>too </a:t>
            </a:r>
            <a:r>
              <a:rPr dirty="0"/>
              <a:t>close but not </a:t>
            </a:r>
            <a:r>
              <a:rPr spc="-10" dirty="0"/>
              <a:t>too</a:t>
            </a:r>
            <a:r>
              <a:rPr dirty="0"/>
              <a:t> </a:t>
            </a:r>
            <a:r>
              <a:rPr spc="50" dirty="0"/>
              <a:t>far”</a:t>
            </a:r>
          </a:p>
          <a:p>
            <a:pPr marL="761365" marR="433070" indent="-287020">
              <a:lnSpc>
                <a:spcPct val="100000"/>
              </a:lnSpc>
              <a:spcBef>
                <a:spcPts val="675"/>
              </a:spcBef>
            </a:pPr>
            <a:r>
              <a:rPr sz="2800" spc="-5" dirty="0">
                <a:latin typeface="Arial"/>
                <a:cs typeface="Arial"/>
              </a:rPr>
              <a:t>– </a:t>
            </a:r>
            <a:r>
              <a:rPr sz="2800" spc="-5" dirty="0"/>
              <a:t>In practice, always </a:t>
            </a:r>
            <a:r>
              <a:rPr sz="2800" spc="35" dirty="0"/>
              <a:t>try </a:t>
            </a:r>
            <a:r>
              <a:rPr sz="2800" spc="-5" dirty="0"/>
              <a:t>“old </a:t>
            </a:r>
            <a:r>
              <a:rPr sz="2800" spc="-25" dirty="0"/>
              <a:t>only”, </a:t>
            </a:r>
            <a:r>
              <a:rPr sz="2800" spc="-5" dirty="0"/>
              <a:t>“new</a:t>
            </a:r>
            <a:r>
              <a:rPr sz="2800" spc="-100" dirty="0"/>
              <a:t> </a:t>
            </a:r>
            <a:r>
              <a:rPr sz="2800" spc="-25" dirty="0"/>
              <a:t>only”,  </a:t>
            </a:r>
            <a:r>
              <a:rPr sz="2800" spc="-5" dirty="0"/>
              <a:t>“union </a:t>
            </a:r>
            <a:r>
              <a:rPr sz="2800" spc="-25" dirty="0"/>
              <a:t>of </a:t>
            </a:r>
            <a:r>
              <a:rPr sz="2800" spc="-5" dirty="0"/>
              <a:t>old and new” as</a:t>
            </a:r>
            <a:r>
              <a:rPr sz="2800" spc="10" dirty="0"/>
              <a:t> </a:t>
            </a:r>
            <a:r>
              <a:rPr sz="2800" spc="-10" dirty="0"/>
              <a:t>well!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49576" y="147955"/>
            <a:ext cx="5245735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2880" marR="5080" indent="-170815">
              <a:lnSpc>
                <a:spcPct val="100000"/>
              </a:lnSpc>
              <a:spcBef>
                <a:spcPts val="100"/>
              </a:spcBef>
            </a:pPr>
            <a:r>
              <a:rPr spc="-55" dirty="0"/>
              <a:t>Typical </a:t>
            </a:r>
            <a:r>
              <a:rPr spc="-5" dirty="0"/>
              <a:t>Design </a:t>
            </a:r>
            <a:r>
              <a:rPr spc="-15" dirty="0"/>
              <a:t>Process  </a:t>
            </a:r>
            <a:r>
              <a:rPr dirty="0"/>
              <a:t>for </a:t>
            </a:r>
            <a:r>
              <a:rPr spc="-5" dirty="0"/>
              <a:t>an </a:t>
            </a:r>
            <a:r>
              <a:rPr dirty="0"/>
              <a:t>ML</a:t>
            </a:r>
            <a:r>
              <a:rPr spc="-95" dirty="0"/>
              <a:t> </a:t>
            </a:r>
            <a:r>
              <a:rPr spc="-5" dirty="0"/>
              <a:t>Application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3255" y="1690490"/>
            <a:ext cx="5786060" cy="509894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1097" y="483234"/>
            <a:ext cx="37839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Bias </a:t>
            </a:r>
            <a:r>
              <a:rPr spc="-5" dirty="0"/>
              <a:t>is</a:t>
            </a:r>
            <a:r>
              <a:rPr spc="-90" dirty="0"/>
              <a:t> </a:t>
            </a:r>
            <a:r>
              <a:rPr spc="25" dirty="0"/>
              <a:t>pervasive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444" y="2050821"/>
            <a:ext cx="6668134" cy="309816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770"/>
              </a:spcBef>
              <a:buFont typeface="Arial"/>
              <a:buChar char="–"/>
              <a:tabLst>
                <a:tab pos="299720" algn="l"/>
              </a:tabLst>
            </a:pPr>
            <a:r>
              <a:rPr sz="2800" spc="-10" dirty="0">
                <a:latin typeface="Segoe UI"/>
                <a:cs typeface="Segoe UI"/>
              </a:rPr>
              <a:t>Bias </a:t>
            </a:r>
            <a:r>
              <a:rPr sz="2800" spc="-5" dirty="0">
                <a:latin typeface="Segoe UI"/>
                <a:cs typeface="Segoe UI"/>
              </a:rPr>
              <a:t>in the</a:t>
            </a:r>
            <a:r>
              <a:rPr sz="2800" spc="-10" dirty="0">
                <a:latin typeface="Segoe UI"/>
                <a:cs typeface="Segoe UI"/>
              </a:rPr>
              <a:t> labeling</a:t>
            </a:r>
            <a:endParaRPr sz="2800">
              <a:latin typeface="Segoe UI"/>
              <a:cs typeface="Segoe UI"/>
            </a:endParaRPr>
          </a:p>
          <a:p>
            <a:pPr marL="299085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299720" algn="l"/>
              </a:tabLst>
            </a:pPr>
            <a:r>
              <a:rPr sz="2800" spc="-5" dirty="0">
                <a:latin typeface="Segoe UI"/>
                <a:cs typeface="Segoe UI"/>
              </a:rPr>
              <a:t>Sample </a:t>
            </a:r>
            <a:r>
              <a:rPr sz="2800" spc="-10" dirty="0">
                <a:latin typeface="Segoe UI"/>
                <a:cs typeface="Segoe UI"/>
              </a:rPr>
              <a:t>selection </a:t>
            </a:r>
            <a:r>
              <a:rPr sz="2800" spc="-5" dirty="0">
                <a:latin typeface="Segoe UI"/>
                <a:cs typeface="Segoe UI"/>
              </a:rPr>
              <a:t>bias</a:t>
            </a:r>
            <a:endParaRPr sz="2800">
              <a:latin typeface="Segoe UI"/>
              <a:cs typeface="Segoe UI"/>
            </a:endParaRPr>
          </a:p>
          <a:p>
            <a:pPr marL="299085" indent="-287020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299720" algn="l"/>
              </a:tabLst>
            </a:pPr>
            <a:r>
              <a:rPr sz="2800" spc="-10" dirty="0">
                <a:latin typeface="Segoe UI"/>
                <a:cs typeface="Segoe UI"/>
              </a:rPr>
              <a:t>Bias </a:t>
            </a:r>
            <a:r>
              <a:rPr sz="2800" spc="-5" dirty="0">
                <a:latin typeface="Segoe UI"/>
                <a:cs typeface="Segoe UI"/>
              </a:rPr>
              <a:t>in choice </a:t>
            </a:r>
            <a:r>
              <a:rPr sz="2800" spc="-25" dirty="0">
                <a:latin typeface="Segoe UI"/>
                <a:cs typeface="Segoe UI"/>
              </a:rPr>
              <a:t>of</a:t>
            </a:r>
            <a:r>
              <a:rPr sz="2800" spc="-40" dirty="0">
                <a:latin typeface="Segoe UI"/>
                <a:cs typeface="Segoe UI"/>
              </a:rPr>
              <a:t> </a:t>
            </a:r>
            <a:r>
              <a:rPr sz="2800" spc="-10" dirty="0">
                <a:latin typeface="Segoe UI"/>
                <a:cs typeface="Segoe UI"/>
              </a:rPr>
              <a:t>labels</a:t>
            </a:r>
            <a:endParaRPr sz="2800">
              <a:latin typeface="Segoe UI"/>
              <a:cs typeface="Segoe UI"/>
            </a:endParaRPr>
          </a:p>
          <a:p>
            <a:pPr marL="299085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299720" algn="l"/>
              </a:tabLst>
            </a:pPr>
            <a:r>
              <a:rPr sz="2800" spc="-10" dirty="0">
                <a:latin typeface="Segoe UI"/>
                <a:cs typeface="Segoe UI"/>
              </a:rPr>
              <a:t>Bias </a:t>
            </a:r>
            <a:r>
              <a:rPr sz="2800" spc="-5" dirty="0">
                <a:latin typeface="Segoe UI"/>
                <a:cs typeface="Segoe UI"/>
              </a:rPr>
              <a:t>in </a:t>
            </a:r>
            <a:r>
              <a:rPr sz="2800" spc="-10" dirty="0">
                <a:latin typeface="Segoe UI"/>
                <a:cs typeface="Segoe UI"/>
              </a:rPr>
              <a:t>features </a:t>
            </a:r>
            <a:r>
              <a:rPr sz="2800" spc="-5" dirty="0">
                <a:latin typeface="Segoe UI"/>
                <a:cs typeface="Segoe UI"/>
              </a:rPr>
              <a:t>or model</a:t>
            </a:r>
            <a:r>
              <a:rPr sz="2800" spc="-25" dirty="0">
                <a:latin typeface="Segoe UI"/>
                <a:cs typeface="Segoe UI"/>
              </a:rPr>
              <a:t> </a:t>
            </a:r>
            <a:r>
              <a:rPr sz="2800" spc="-10" dirty="0">
                <a:latin typeface="Segoe UI"/>
                <a:cs typeface="Segoe UI"/>
              </a:rPr>
              <a:t>structure</a:t>
            </a:r>
            <a:endParaRPr sz="2800">
              <a:latin typeface="Segoe UI"/>
              <a:cs typeface="Segoe UI"/>
            </a:endParaRPr>
          </a:p>
          <a:p>
            <a:pPr marL="299085" indent="-287020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299720" algn="l"/>
              </a:tabLst>
            </a:pPr>
            <a:r>
              <a:rPr sz="2800" spc="-10" dirty="0">
                <a:latin typeface="Segoe UI"/>
                <a:cs typeface="Segoe UI"/>
              </a:rPr>
              <a:t>Bias </a:t>
            </a:r>
            <a:r>
              <a:rPr sz="2800" spc="-5" dirty="0">
                <a:latin typeface="Segoe UI"/>
                <a:cs typeface="Segoe UI"/>
              </a:rPr>
              <a:t>in </a:t>
            </a:r>
            <a:r>
              <a:rPr sz="2800" spc="-10" dirty="0">
                <a:latin typeface="Segoe UI"/>
                <a:cs typeface="Segoe UI"/>
              </a:rPr>
              <a:t>loss </a:t>
            </a:r>
            <a:r>
              <a:rPr sz="2800" spc="-5" dirty="0">
                <a:latin typeface="Segoe UI"/>
                <a:cs typeface="Segoe UI"/>
              </a:rPr>
              <a:t>function</a:t>
            </a:r>
            <a:endParaRPr sz="2800">
              <a:latin typeface="Segoe UI"/>
              <a:cs typeface="Segoe UI"/>
            </a:endParaRPr>
          </a:p>
          <a:p>
            <a:pPr marL="299085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299720" algn="l"/>
              </a:tabLst>
            </a:pPr>
            <a:r>
              <a:rPr sz="2800" spc="-10" dirty="0">
                <a:latin typeface="Segoe UI"/>
                <a:cs typeface="Segoe UI"/>
              </a:rPr>
              <a:t>Deployed systems </a:t>
            </a:r>
            <a:r>
              <a:rPr sz="2800" spc="-15" dirty="0">
                <a:latin typeface="Segoe UI"/>
                <a:cs typeface="Segoe UI"/>
              </a:rPr>
              <a:t>create </a:t>
            </a:r>
            <a:r>
              <a:rPr sz="2800" spc="-10" dirty="0">
                <a:latin typeface="Segoe UI"/>
                <a:cs typeface="Segoe UI"/>
              </a:rPr>
              <a:t>feedback</a:t>
            </a:r>
            <a:r>
              <a:rPr sz="2800" spc="10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loops</a:t>
            </a:r>
            <a:endParaRPr sz="2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7613" y="483234"/>
            <a:ext cx="46691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ACM </a:t>
            </a:r>
            <a:r>
              <a:rPr spc="-5" dirty="0"/>
              <a:t>Code </a:t>
            </a:r>
            <a:r>
              <a:rPr spc="-60" dirty="0"/>
              <a:t>of</a:t>
            </a:r>
            <a:r>
              <a:rPr spc="-75" dirty="0"/>
              <a:t> </a:t>
            </a:r>
            <a:r>
              <a:rPr dirty="0"/>
              <a:t>Ethics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5853"/>
            <a:ext cx="7962900" cy="3317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5" dirty="0">
                <a:latin typeface="Segoe UI"/>
                <a:cs typeface="Segoe UI"/>
              </a:rPr>
              <a:t>“To </a:t>
            </a:r>
            <a:r>
              <a:rPr sz="2400" spc="-10" dirty="0">
                <a:latin typeface="Segoe UI"/>
                <a:cs typeface="Segoe UI"/>
              </a:rPr>
              <a:t>minimize </a:t>
            </a:r>
            <a:r>
              <a:rPr sz="2400" dirty="0">
                <a:latin typeface="Segoe UI"/>
                <a:cs typeface="Segoe UI"/>
              </a:rPr>
              <a:t>the </a:t>
            </a:r>
            <a:r>
              <a:rPr sz="2400" spc="-5" dirty="0">
                <a:latin typeface="Segoe UI"/>
                <a:cs typeface="Segoe UI"/>
              </a:rPr>
              <a:t>possibility </a:t>
            </a:r>
            <a:r>
              <a:rPr sz="2400" spc="-30" dirty="0">
                <a:latin typeface="Segoe UI"/>
                <a:cs typeface="Segoe UI"/>
              </a:rPr>
              <a:t>of </a:t>
            </a:r>
            <a:r>
              <a:rPr sz="2400" spc="-10" dirty="0">
                <a:latin typeface="Segoe UI"/>
                <a:cs typeface="Segoe UI"/>
              </a:rPr>
              <a:t>indirectly </a:t>
            </a:r>
            <a:r>
              <a:rPr sz="2400" dirty="0">
                <a:latin typeface="Segoe UI"/>
                <a:cs typeface="Segoe UI"/>
              </a:rPr>
              <a:t>harming others,  </a:t>
            </a:r>
            <a:r>
              <a:rPr sz="2400" spc="-5" dirty="0">
                <a:latin typeface="Segoe UI"/>
                <a:cs typeface="Segoe UI"/>
              </a:rPr>
              <a:t>computing </a:t>
            </a:r>
            <a:r>
              <a:rPr sz="2400" spc="-10" dirty="0">
                <a:latin typeface="Segoe UI"/>
                <a:cs typeface="Segoe UI"/>
              </a:rPr>
              <a:t>professionals </a:t>
            </a:r>
            <a:r>
              <a:rPr sz="2400" spc="-5" dirty="0">
                <a:latin typeface="Segoe UI"/>
                <a:cs typeface="Segoe UI"/>
              </a:rPr>
              <a:t>must </a:t>
            </a:r>
            <a:r>
              <a:rPr sz="2400" spc="-10" dirty="0">
                <a:latin typeface="Segoe UI"/>
                <a:cs typeface="Segoe UI"/>
              </a:rPr>
              <a:t>minimize </a:t>
            </a:r>
            <a:r>
              <a:rPr sz="2400" spc="-5" dirty="0">
                <a:latin typeface="Segoe UI"/>
                <a:cs typeface="Segoe UI"/>
              </a:rPr>
              <a:t>malfunctions </a:t>
            </a:r>
            <a:r>
              <a:rPr sz="2400" dirty="0">
                <a:latin typeface="Segoe UI"/>
                <a:cs typeface="Segoe UI"/>
              </a:rPr>
              <a:t>by  </a:t>
            </a:r>
            <a:r>
              <a:rPr sz="2400" spc="-5" dirty="0">
                <a:latin typeface="Segoe UI"/>
                <a:cs typeface="Segoe UI"/>
              </a:rPr>
              <a:t>following generally accepted </a:t>
            </a:r>
            <a:r>
              <a:rPr sz="2400" spc="-10" dirty="0">
                <a:latin typeface="Segoe UI"/>
                <a:cs typeface="Segoe UI"/>
              </a:rPr>
              <a:t>standards </a:t>
            </a:r>
            <a:r>
              <a:rPr sz="2400" dirty="0">
                <a:latin typeface="Segoe UI"/>
                <a:cs typeface="Segoe UI"/>
              </a:rPr>
              <a:t>for </a:t>
            </a:r>
            <a:r>
              <a:rPr sz="2400" spc="-5" dirty="0">
                <a:latin typeface="Segoe UI"/>
                <a:cs typeface="Segoe UI"/>
              </a:rPr>
              <a:t>system design  </a:t>
            </a:r>
            <a:r>
              <a:rPr sz="2400" dirty="0">
                <a:latin typeface="Segoe UI"/>
                <a:cs typeface="Segoe UI"/>
              </a:rPr>
              <a:t>and </a:t>
            </a:r>
            <a:r>
              <a:rPr sz="2400" spc="-5" dirty="0">
                <a:latin typeface="Segoe UI"/>
                <a:cs typeface="Segoe UI"/>
              </a:rPr>
              <a:t>testing. </a:t>
            </a:r>
            <a:r>
              <a:rPr sz="2400" dirty="0">
                <a:latin typeface="Segoe UI"/>
                <a:cs typeface="Segoe UI"/>
              </a:rPr>
              <a:t>Furthermore, </a:t>
            </a:r>
            <a:r>
              <a:rPr sz="2400" spc="-5" dirty="0">
                <a:latin typeface="Segoe UI"/>
                <a:cs typeface="Segoe UI"/>
              </a:rPr>
              <a:t>it is </a:t>
            </a:r>
            <a:r>
              <a:rPr sz="2400" spc="-10" dirty="0">
                <a:latin typeface="Segoe UI"/>
                <a:cs typeface="Segoe UI"/>
              </a:rPr>
              <a:t>often </a:t>
            </a:r>
            <a:r>
              <a:rPr sz="2400" spc="10" dirty="0">
                <a:latin typeface="Segoe UI"/>
                <a:cs typeface="Segoe UI"/>
              </a:rPr>
              <a:t>necessary </a:t>
            </a:r>
            <a:r>
              <a:rPr sz="2400" spc="-15" dirty="0">
                <a:latin typeface="Segoe UI"/>
                <a:cs typeface="Segoe UI"/>
              </a:rPr>
              <a:t>to </a:t>
            </a:r>
            <a:r>
              <a:rPr sz="2400" dirty="0">
                <a:latin typeface="Segoe UI"/>
                <a:cs typeface="Segoe UI"/>
              </a:rPr>
              <a:t>assess the  </a:t>
            </a:r>
            <a:r>
              <a:rPr sz="2400" spc="-5" dirty="0">
                <a:latin typeface="Segoe UI"/>
                <a:cs typeface="Segoe UI"/>
              </a:rPr>
              <a:t>social consequences </a:t>
            </a:r>
            <a:r>
              <a:rPr sz="2400" spc="-25" dirty="0">
                <a:latin typeface="Segoe UI"/>
                <a:cs typeface="Segoe UI"/>
              </a:rPr>
              <a:t>of </a:t>
            </a:r>
            <a:r>
              <a:rPr sz="2400" spc="-5" dirty="0">
                <a:latin typeface="Segoe UI"/>
                <a:cs typeface="Segoe UI"/>
              </a:rPr>
              <a:t>systems </a:t>
            </a:r>
            <a:r>
              <a:rPr sz="2400" spc="-15" dirty="0">
                <a:latin typeface="Segoe UI"/>
                <a:cs typeface="Segoe UI"/>
              </a:rPr>
              <a:t>to </a:t>
            </a:r>
            <a:r>
              <a:rPr sz="2400" spc="-10" dirty="0">
                <a:latin typeface="Segoe UI"/>
                <a:cs typeface="Segoe UI"/>
              </a:rPr>
              <a:t>project </a:t>
            </a:r>
            <a:r>
              <a:rPr sz="2400" dirty="0">
                <a:latin typeface="Segoe UI"/>
                <a:cs typeface="Segoe UI"/>
              </a:rPr>
              <a:t>the </a:t>
            </a:r>
            <a:r>
              <a:rPr sz="2400" spc="-10" dirty="0">
                <a:latin typeface="Segoe UI"/>
                <a:cs typeface="Segoe UI"/>
              </a:rPr>
              <a:t>likelihood </a:t>
            </a:r>
            <a:r>
              <a:rPr sz="2400" spc="-30" dirty="0">
                <a:latin typeface="Segoe UI"/>
                <a:cs typeface="Segoe UI"/>
              </a:rPr>
              <a:t>of  </a:t>
            </a:r>
            <a:r>
              <a:rPr sz="2400" dirty="0">
                <a:latin typeface="Segoe UI"/>
                <a:cs typeface="Segoe UI"/>
              </a:rPr>
              <a:t>any </a:t>
            </a:r>
            <a:r>
              <a:rPr sz="2400" spc="-5" dirty="0">
                <a:latin typeface="Segoe UI"/>
                <a:cs typeface="Segoe UI"/>
              </a:rPr>
              <a:t>serious </a:t>
            </a:r>
            <a:r>
              <a:rPr sz="2400" dirty="0">
                <a:latin typeface="Segoe UI"/>
                <a:cs typeface="Segoe UI"/>
              </a:rPr>
              <a:t>harm </a:t>
            </a:r>
            <a:r>
              <a:rPr sz="2400" spc="-15" dirty="0">
                <a:latin typeface="Segoe UI"/>
                <a:cs typeface="Segoe UI"/>
              </a:rPr>
              <a:t>to </a:t>
            </a:r>
            <a:r>
              <a:rPr sz="2400" dirty="0">
                <a:latin typeface="Segoe UI"/>
                <a:cs typeface="Segoe UI"/>
              </a:rPr>
              <a:t>others. </a:t>
            </a:r>
            <a:r>
              <a:rPr sz="2400" spc="-5" dirty="0">
                <a:latin typeface="Segoe UI"/>
                <a:cs typeface="Segoe UI"/>
              </a:rPr>
              <a:t>If system features </a:t>
            </a:r>
            <a:r>
              <a:rPr sz="2400" spc="-15" dirty="0">
                <a:latin typeface="Segoe UI"/>
                <a:cs typeface="Segoe UI"/>
              </a:rPr>
              <a:t>are  </a:t>
            </a:r>
            <a:r>
              <a:rPr sz="2400" spc="-10" dirty="0">
                <a:latin typeface="Segoe UI"/>
                <a:cs typeface="Segoe UI"/>
              </a:rPr>
              <a:t>misrepresented </a:t>
            </a:r>
            <a:r>
              <a:rPr sz="2400" spc="-15" dirty="0">
                <a:latin typeface="Segoe UI"/>
                <a:cs typeface="Segoe UI"/>
              </a:rPr>
              <a:t>to </a:t>
            </a:r>
            <a:r>
              <a:rPr sz="2400" dirty="0">
                <a:latin typeface="Segoe UI"/>
                <a:cs typeface="Segoe UI"/>
              </a:rPr>
              <a:t>users, </a:t>
            </a:r>
            <a:r>
              <a:rPr sz="2400" spc="-10" dirty="0">
                <a:latin typeface="Segoe UI"/>
                <a:cs typeface="Segoe UI"/>
              </a:rPr>
              <a:t>coworkers, </a:t>
            </a:r>
            <a:r>
              <a:rPr sz="2400" dirty="0">
                <a:latin typeface="Segoe UI"/>
                <a:cs typeface="Segoe UI"/>
              </a:rPr>
              <a:t>or </a:t>
            </a:r>
            <a:r>
              <a:rPr sz="2400" spc="5" dirty="0">
                <a:latin typeface="Segoe UI"/>
                <a:cs typeface="Segoe UI"/>
              </a:rPr>
              <a:t>supervisors, </a:t>
            </a:r>
            <a:r>
              <a:rPr sz="2400" dirty="0">
                <a:latin typeface="Segoe UI"/>
                <a:cs typeface="Segoe UI"/>
              </a:rPr>
              <a:t>the  </a:t>
            </a:r>
            <a:r>
              <a:rPr sz="2400" spc="-5" dirty="0">
                <a:latin typeface="Segoe UI"/>
                <a:cs typeface="Segoe UI"/>
              </a:rPr>
              <a:t>individual computing </a:t>
            </a:r>
            <a:r>
              <a:rPr sz="2400" spc="-10" dirty="0">
                <a:latin typeface="Segoe UI"/>
                <a:cs typeface="Segoe UI"/>
              </a:rPr>
              <a:t>professional </a:t>
            </a:r>
            <a:r>
              <a:rPr sz="2400" spc="-5" dirty="0">
                <a:latin typeface="Segoe UI"/>
                <a:cs typeface="Segoe UI"/>
              </a:rPr>
              <a:t>is responsible </a:t>
            </a:r>
            <a:r>
              <a:rPr sz="2400" dirty="0">
                <a:latin typeface="Segoe UI"/>
                <a:cs typeface="Segoe UI"/>
              </a:rPr>
              <a:t>for</a:t>
            </a:r>
            <a:r>
              <a:rPr sz="2400" spc="10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any</a:t>
            </a:r>
            <a:endParaRPr sz="2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Segoe UI"/>
                <a:cs typeface="Segoe UI"/>
              </a:rPr>
              <a:t>resulting</a:t>
            </a:r>
            <a:r>
              <a:rPr sz="2400" spc="5" dirty="0">
                <a:latin typeface="Segoe UI"/>
                <a:cs typeface="Segoe UI"/>
              </a:rPr>
              <a:t> </a:t>
            </a:r>
            <a:r>
              <a:rPr sz="2400" spc="-40" dirty="0">
                <a:latin typeface="Segoe UI"/>
                <a:cs typeface="Segoe UI"/>
              </a:rPr>
              <a:t>injury.”</a:t>
            </a:r>
            <a:endParaRPr sz="2400">
              <a:latin typeface="Segoe UI"/>
              <a:cs typeface="Segoe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8488" y="6121400"/>
            <a:ext cx="76434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spc="-10" dirty="0">
                <a:latin typeface="Segoe UI Light"/>
                <a:cs typeface="Segoe UI Light"/>
              </a:rPr>
              <a:t>https:</a:t>
            </a:r>
            <a:r>
              <a:rPr sz="1800" b="0" spc="-10" dirty="0">
                <a:latin typeface="Segoe UI Light"/>
                <a:cs typeface="Segoe UI Light"/>
                <a:hlinkClick r:id="rId2"/>
              </a:rPr>
              <a:t>//w</a:t>
            </a:r>
            <a:r>
              <a:rPr sz="1800" b="0" spc="-10" dirty="0">
                <a:latin typeface="Segoe UI Light"/>
                <a:cs typeface="Segoe UI Light"/>
              </a:rPr>
              <a:t>ww</a:t>
            </a:r>
            <a:r>
              <a:rPr sz="1800" b="0" spc="-10" dirty="0">
                <a:latin typeface="Segoe UI Light"/>
                <a:cs typeface="Segoe UI Light"/>
                <a:hlinkClick r:id="rId2"/>
              </a:rPr>
              <a:t>.acm.org/about-acm/acm-code-of-ethics-and-professional-conduct</a:t>
            </a:r>
            <a:endParaRPr sz="1800">
              <a:latin typeface="Segoe UI Light"/>
              <a:cs typeface="Segoe UI Ligh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56741" y="483234"/>
            <a:ext cx="643191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Bias </a:t>
            </a:r>
            <a:r>
              <a:rPr spc="-5" dirty="0"/>
              <a:t>and how </a:t>
            </a:r>
            <a:r>
              <a:rPr dirty="0"/>
              <a:t>to </a:t>
            </a:r>
            <a:r>
              <a:rPr spc="-5" dirty="0"/>
              <a:t>deal </a:t>
            </a:r>
            <a:r>
              <a:rPr dirty="0"/>
              <a:t>with</a:t>
            </a:r>
            <a:r>
              <a:rPr spc="-135" dirty="0"/>
              <a:t> </a:t>
            </a:r>
            <a:r>
              <a:rPr spc="-5" dirty="0"/>
              <a:t>it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208402"/>
            <a:ext cx="4869815" cy="28549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30" dirty="0">
                <a:latin typeface="Segoe UI"/>
                <a:cs typeface="Segoe UI"/>
              </a:rPr>
              <a:t>Train/test</a:t>
            </a:r>
            <a:r>
              <a:rPr sz="3200" spc="-25" dirty="0">
                <a:latin typeface="Segoe UI"/>
                <a:cs typeface="Segoe UI"/>
              </a:rPr>
              <a:t> </a:t>
            </a:r>
            <a:r>
              <a:rPr sz="3200" spc="-10" dirty="0">
                <a:latin typeface="Segoe UI"/>
                <a:cs typeface="Segoe UI"/>
              </a:rPr>
              <a:t>mismatch</a:t>
            </a:r>
            <a:endParaRPr sz="3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Char char="•"/>
            </a:pPr>
            <a:endParaRPr sz="400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10" dirty="0">
                <a:latin typeface="Segoe UI"/>
                <a:cs typeface="Segoe UI"/>
              </a:rPr>
              <a:t>Unsupervised</a:t>
            </a:r>
            <a:r>
              <a:rPr sz="3200" spc="-15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adaptation</a:t>
            </a:r>
            <a:endParaRPr sz="3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Arial"/>
              <a:buChar char="•"/>
            </a:pPr>
            <a:endParaRPr sz="400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15" dirty="0">
                <a:latin typeface="Segoe UI"/>
                <a:cs typeface="Segoe UI"/>
              </a:rPr>
              <a:t>Supervised</a:t>
            </a:r>
            <a:r>
              <a:rPr sz="3200" spc="-30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adaptation</a:t>
            </a:r>
            <a:endParaRPr sz="32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487</Words>
  <Application>Microsoft Office PowerPoint</Application>
  <PresentationFormat>On-screen Show (4:3)</PresentationFormat>
  <Paragraphs>69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Calibri</vt:lpstr>
      <vt:lpstr>Arial</vt:lpstr>
      <vt:lpstr>Calibri Light</vt:lpstr>
      <vt:lpstr>Segoe UI Light</vt:lpstr>
      <vt:lpstr>Segoe UI</vt:lpstr>
      <vt:lpstr>Office Theme</vt:lpstr>
      <vt:lpstr>CSCI/ARTI 8950 Machine Learning</vt:lpstr>
      <vt:lpstr>PowerPoint Presentation</vt:lpstr>
      <vt:lpstr>PowerPoint Presentation</vt:lpstr>
      <vt:lpstr>PowerPoint Presentation</vt:lpstr>
      <vt:lpstr>Recall: Formal Definition of Binary  Classification (from CIML)</vt:lpstr>
      <vt:lpstr>Train/Test Mismatch</vt:lpstr>
      <vt:lpstr>Domain Adaptation</vt:lpstr>
      <vt:lpstr>Unsupervised adaptation</vt:lpstr>
      <vt:lpstr>Relation between test loss in new  domain and old domain</vt:lpstr>
      <vt:lpstr>How can we estimate the ratio  between Dnew and Dold?</vt:lpstr>
      <vt:lpstr>PowerPoint Presentation</vt:lpstr>
      <vt:lpstr>Supervised adaptation</vt:lpstr>
      <vt:lpstr>One solution: feature  augmentation</vt:lpstr>
      <vt:lpstr>One solution: feature  augmentation</vt:lpstr>
      <vt:lpstr>One solution: feature  augmentation</vt:lpstr>
      <vt:lpstr>Typical Design Process  for an ML Application</vt:lpstr>
      <vt:lpstr>Bias is pervasive</vt:lpstr>
      <vt:lpstr>ACM Code of Ethics</vt:lpstr>
      <vt:lpstr>Bias and how to deal with it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CSCI_8950_Lec9_Bias_Fairness</dc:title>
  <cp:lastModifiedBy>Khaled M Rasheed</cp:lastModifiedBy>
  <cp:revision>3</cp:revision>
  <dcterms:created xsi:type="dcterms:W3CDTF">2020-09-26T21:24:48Z</dcterms:created>
  <dcterms:modified xsi:type="dcterms:W3CDTF">2026-07-27T22:20:24Z</dcterms:modified>
</cp:coreProperties>
</file>