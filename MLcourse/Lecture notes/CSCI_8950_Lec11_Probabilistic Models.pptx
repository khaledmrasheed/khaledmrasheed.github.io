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6" r:id="rId2"/>
  </p:sldMasterIdLst>
  <p:notesMasterIdLst>
    <p:notesMasterId r:id="rId7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4" r:id="rId69"/>
    <p:sldId id="325" r:id="rId70"/>
    <p:sldId id="323" r:id="rId71"/>
  </p:sldIdLst>
  <p:sldSz cx="10058400" cy="7772400"/>
  <p:notesSz cx="10058400" cy="7772400"/>
  <p:embeddedFontLst>
    <p:embeddedFont>
      <p:font typeface="Book Antiqua" panose="02040602050305030304" pitchFamily="18" charset="0"/>
      <p:regular r:id="rId73"/>
      <p:bold r:id="rId74"/>
      <p:italic r:id="rId75"/>
      <p:boldItalic r:id="rId76"/>
    </p:embeddedFont>
    <p:embeddedFont>
      <p:font typeface="Cambria Math" panose="02040503050406030204" pitchFamily="18" charset="0"/>
      <p:regular r:id="rId77"/>
    </p:embeddedFont>
    <p:embeddedFont>
      <p:font typeface="Comic Sans MS" panose="030F0702030302020204" pitchFamily="66" charset="0"/>
      <p:regular r:id="rId78"/>
      <p:bold r:id="rId79"/>
      <p:italic r:id="rId80"/>
      <p:boldItalic r:id="rId81"/>
    </p:embeddedFont>
    <p:embeddedFont>
      <p:font typeface="Palatino Linotype" panose="02040502050505030304" pitchFamily="18" charset="0"/>
      <p:regular r:id="rId82"/>
      <p:bold r:id="rId83"/>
      <p:italic r:id="rId84"/>
      <p:boldItalic r:id="rId85"/>
    </p:embeddedFont>
    <p:embeddedFont>
      <p:font typeface="Segoe UI" panose="020B0502040204020203" pitchFamily="34" charset="0"/>
      <p:regular r:id="rId86"/>
      <p:bold r:id="rId87"/>
      <p:italic r:id="rId88"/>
      <p:boldItalic r:id="rId89"/>
    </p:embeddedFont>
    <p:embeddedFont>
      <p:font typeface="Segoe UI Light" panose="020B0502040204020203" pitchFamily="34" charset="0"/>
      <p:regular r:id="rId90"/>
      <p:italic r:id="rId9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136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font" Target="fonts/font12.fntdata"/><Relationship Id="rId89" Type="http://schemas.openxmlformats.org/officeDocument/2006/relationships/font" Target="fonts/font17.fntdata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font" Target="fonts/font2.fntdata"/><Relationship Id="rId79" Type="http://schemas.openxmlformats.org/officeDocument/2006/relationships/font" Target="fonts/font7.fntdata"/><Relationship Id="rId5" Type="http://schemas.openxmlformats.org/officeDocument/2006/relationships/slide" Target="slides/slide3.xml"/><Relationship Id="rId90" Type="http://schemas.openxmlformats.org/officeDocument/2006/relationships/font" Target="fonts/font18.fntdata"/><Relationship Id="rId95" Type="http://schemas.openxmlformats.org/officeDocument/2006/relationships/tableStyles" Target="tableStyles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notesMaster" Target="notesMasters/notesMaster1.xml"/><Relationship Id="rId80" Type="http://schemas.openxmlformats.org/officeDocument/2006/relationships/font" Target="fonts/font8.fntdata"/><Relationship Id="rId85" Type="http://schemas.openxmlformats.org/officeDocument/2006/relationships/font" Target="fonts/font13.fntdata"/><Relationship Id="rId93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font" Target="fonts/font3.fntdata"/><Relationship Id="rId83" Type="http://schemas.openxmlformats.org/officeDocument/2006/relationships/font" Target="fonts/font11.fntdata"/><Relationship Id="rId88" Type="http://schemas.openxmlformats.org/officeDocument/2006/relationships/font" Target="fonts/font16.fntdata"/><Relationship Id="rId91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font" Target="fonts/font1.fntdata"/><Relationship Id="rId78" Type="http://schemas.openxmlformats.org/officeDocument/2006/relationships/font" Target="fonts/font6.fntdata"/><Relationship Id="rId81" Type="http://schemas.openxmlformats.org/officeDocument/2006/relationships/font" Target="fonts/font9.fntdata"/><Relationship Id="rId86" Type="http://schemas.openxmlformats.org/officeDocument/2006/relationships/font" Target="fonts/font14.fntdata"/><Relationship Id="rId9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font" Target="fonts/font4.fntdata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font" Target="fonts/font15.fntdata"/><Relationship Id="rId61" Type="http://schemas.openxmlformats.org/officeDocument/2006/relationships/slide" Target="slides/slide59.xml"/><Relationship Id="rId82" Type="http://schemas.openxmlformats.org/officeDocument/2006/relationships/font" Target="fonts/font10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F4C0A3-EF96-4417-85AF-878D4E48692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F1EC7-B918-49B5-9483-E1B5C320C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505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F47C9FF3-BA65-4CB2-AD7C-F894A3716AC9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67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325563" y="728663"/>
            <a:ext cx="4652962" cy="3595687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22531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507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EB3737F-462D-4D1A-9D8B-B81BB0FB9827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68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325563" y="728663"/>
            <a:ext cx="4652962" cy="3595687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22531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453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89751" y="1076681"/>
            <a:ext cx="4964496" cy="508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13058" y="3691127"/>
            <a:ext cx="6917882" cy="1115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1272011"/>
            <a:ext cx="7543800" cy="2705947"/>
          </a:xfrm>
        </p:spPr>
        <p:txBody>
          <a:bodyPr anchor="b"/>
          <a:lstStyle>
            <a:lvl1pPr algn="ctr">
              <a:defRPr sz="495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1980"/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11F46-DD8E-40EB-A3BC-0CC2BEA19466}" type="datetimeFigureOut">
              <a:rPr lang="en-NZ" smtClean="0"/>
              <a:t>27/07/2026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17756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11F46-DD8E-40EB-A3BC-0CC2BEA19466}" type="datetimeFigureOut">
              <a:rPr lang="en-NZ" smtClean="0"/>
              <a:t>27/07/2026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39077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495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1pPr>
            <a:lvl2pPr marL="377190" indent="0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11F46-DD8E-40EB-A3BC-0CC2BEA19466}" type="datetimeFigureOut">
              <a:rPr lang="en-NZ" smtClean="0"/>
              <a:t>27/07/2026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94643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11F46-DD8E-40EB-A3BC-0CC2BEA19466}" type="datetimeFigureOut">
              <a:rPr lang="en-NZ" smtClean="0"/>
              <a:t>27/07/2026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28825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11F46-DD8E-40EB-A3BC-0CC2BEA19466}" type="datetimeFigureOut">
              <a:rPr lang="en-NZ" smtClean="0"/>
              <a:t>27/07/2026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322754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11F46-DD8E-40EB-A3BC-0CC2BEA19466}" type="datetimeFigureOut">
              <a:rPr lang="en-NZ" smtClean="0"/>
              <a:t>27/07/2026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997905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11F46-DD8E-40EB-A3BC-0CC2BEA19466}" type="datetimeFigureOut">
              <a:rPr lang="en-NZ" smtClean="0"/>
              <a:t>27/07/2026</a:t>
            </a:fld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3531756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2640"/>
            </a:lvl1pPr>
            <a:lvl2pPr>
              <a:defRPr sz="2310"/>
            </a:lvl2pPr>
            <a:lvl3pPr>
              <a:defRPr sz="198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11F46-DD8E-40EB-A3BC-0CC2BEA19466}" type="datetimeFigureOut">
              <a:rPr lang="en-NZ" smtClean="0"/>
              <a:t>27/07/2026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12641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 marL="0" indent="0">
              <a:buNone/>
              <a:defRPr sz="2640"/>
            </a:lvl1pPr>
            <a:lvl2pPr marL="377190" indent="0">
              <a:buNone/>
              <a:defRPr sz="2310"/>
            </a:lvl2pPr>
            <a:lvl3pPr marL="754380" indent="0">
              <a:buNone/>
              <a:defRPr sz="1980"/>
            </a:lvl3pPr>
            <a:lvl4pPr marL="1131570" indent="0">
              <a:buNone/>
              <a:defRPr sz="1650"/>
            </a:lvl4pPr>
            <a:lvl5pPr marL="1508760" indent="0">
              <a:buNone/>
              <a:defRPr sz="1650"/>
            </a:lvl5pPr>
            <a:lvl6pPr marL="1885950" indent="0">
              <a:buNone/>
              <a:defRPr sz="1650"/>
            </a:lvl6pPr>
            <a:lvl7pPr marL="2263140" indent="0">
              <a:buNone/>
              <a:defRPr sz="1650"/>
            </a:lvl7pPr>
            <a:lvl8pPr marL="2640330" indent="0">
              <a:buNone/>
              <a:defRPr sz="1650"/>
            </a:lvl8pPr>
            <a:lvl9pPr marL="3017520" indent="0">
              <a:buNone/>
              <a:defRPr sz="1650"/>
            </a:lvl9pPr>
          </a:lstStyle>
          <a:p>
            <a:endParaRPr lang="en-N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11F46-DD8E-40EB-A3BC-0CC2BEA19466}" type="datetimeFigureOut">
              <a:rPr lang="en-NZ" smtClean="0"/>
              <a:t>27/07/2026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09320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11F46-DD8E-40EB-A3BC-0CC2BEA19466}" type="datetimeFigureOut">
              <a:rPr lang="en-NZ" smtClean="0"/>
              <a:t>27/07/2026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424557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11F46-DD8E-40EB-A3BC-0CC2BEA19466}" type="datetimeFigureOut">
              <a:rPr lang="en-NZ" smtClean="0"/>
              <a:t>27/07/2026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30738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2975" y="147955"/>
            <a:ext cx="7858048" cy="1367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88394" y="1415626"/>
            <a:ext cx="7282180" cy="3002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D11F46-DD8E-40EB-A3BC-0CC2BEA19466}" type="datetimeFigureOut">
              <a:rPr lang="en-NZ" smtClean="0"/>
              <a:t>27/07/2026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D3929-19F2-429B-ADDC-CA064EDFCD10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678230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36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595" indent="-188595" algn="l" defTabSz="75438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1pPr>
      <a:lvl2pPr marL="56578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94297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132016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69735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54.png"/><Relationship Id="rId7" Type="http://schemas.openxmlformats.org/officeDocument/2006/relationships/image" Target="../media/image51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6.png"/><Relationship Id="rId7" Type="http://schemas.openxmlformats.org/officeDocument/2006/relationships/image" Target="../media/image47.png"/><Relationship Id="rId12" Type="http://schemas.openxmlformats.org/officeDocument/2006/relationships/image" Target="../media/image63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62.png"/><Relationship Id="rId5" Type="http://schemas.openxmlformats.org/officeDocument/2006/relationships/image" Target="../media/image58.png"/><Relationship Id="rId10" Type="http://schemas.openxmlformats.org/officeDocument/2006/relationships/image" Target="../media/image61.png"/><Relationship Id="rId4" Type="http://schemas.openxmlformats.org/officeDocument/2006/relationships/image" Target="../media/image43.png"/><Relationship Id="rId9" Type="http://schemas.openxmlformats.org/officeDocument/2006/relationships/image" Target="../media/image6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6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5.emf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495" y="149352"/>
            <a:ext cx="6355080" cy="7284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12419" y="1635421"/>
            <a:ext cx="6919595" cy="623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spc="20" dirty="0">
                <a:solidFill>
                  <a:srgbClr val="0070C0"/>
                </a:solidFill>
                <a:latin typeface="Calibri Light"/>
                <a:cs typeface="Calibri Light"/>
              </a:rPr>
              <a:t>CSCI/ARTI </a:t>
            </a:r>
            <a:r>
              <a:rPr sz="3900" spc="45" dirty="0">
                <a:solidFill>
                  <a:srgbClr val="0070C0"/>
                </a:solidFill>
                <a:latin typeface="Calibri Light"/>
                <a:cs typeface="Calibri Light"/>
              </a:rPr>
              <a:t>8950 Machine</a:t>
            </a:r>
            <a:r>
              <a:rPr sz="3900" spc="-30" dirty="0">
                <a:solidFill>
                  <a:srgbClr val="0070C0"/>
                </a:solidFill>
                <a:latin typeface="Calibri Light"/>
                <a:cs typeface="Calibri Light"/>
              </a:rPr>
              <a:t> </a:t>
            </a:r>
            <a:r>
              <a:rPr sz="3900" spc="40" dirty="0">
                <a:solidFill>
                  <a:srgbClr val="0070C0"/>
                </a:solidFill>
                <a:latin typeface="Calibri Light"/>
                <a:cs typeface="Calibri Light"/>
              </a:rPr>
              <a:t>Learning</a:t>
            </a:r>
            <a:endParaRPr sz="39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66509" y="2382012"/>
            <a:ext cx="5811520" cy="18517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Calibri"/>
                <a:cs typeface="Calibri"/>
              </a:rPr>
              <a:t>Lecture</a:t>
            </a:r>
            <a:r>
              <a:rPr lang="en-US" sz="2800" b="1" spc="-5" dirty="0">
                <a:latin typeface="Calibri"/>
                <a:cs typeface="Calibri"/>
              </a:rPr>
              <a:t> Note</a:t>
            </a:r>
            <a:r>
              <a:rPr sz="2800" b="1" spc="-5" dirty="0">
                <a:latin typeface="Calibri"/>
                <a:cs typeface="Calibri"/>
              </a:rPr>
              <a:t>s </a:t>
            </a:r>
            <a:r>
              <a:rPr sz="2800" b="1" dirty="0">
                <a:latin typeface="Calibri"/>
                <a:cs typeface="Calibri"/>
              </a:rPr>
              <a:t>1</a:t>
            </a:r>
            <a:r>
              <a:rPr lang="en-US" sz="2800" b="1" dirty="0">
                <a:latin typeface="Calibri"/>
                <a:cs typeface="Calibri"/>
              </a:rPr>
              <a:t>1</a:t>
            </a:r>
            <a:r>
              <a:rPr sz="2800" b="1" dirty="0">
                <a:latin typeface="Calibri"/>
                <a:cs typeface="Calibri"/>
              </a:rPr>
              <a:t>: </a:t>
            </a:r>
            <a:r>
              <a:rPr sz="3200" b="1" spc="-10" dirty="0">
                <a:latin typeface="Calibri"/>
                <a:cs typeface="Calibri"/>
              </a:rPr>
              <a:t>Probabilistic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Models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555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83940" y="7305040"/>
            <a:ext cx="6093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Credit: some </a:t>
            </a:r>
            <a:r>
              <a:rPr sz="1400" spc="-10" dirty="0">
                <a:latin typeface="Calibri"/>
                <a:cs typeface="Calibri"/>
              </a:rPr>
              <a:t>examples </a:t>
            </a:r>
            <a:r>
              <a:rPr sz="1400" dirty="0">
                <a:latin typeface="Calibri"/>
                <a:cs typeface="Calibri"/>
              </a:rPr>
              <a:t>&amp; </a:t>
            </a:r>
            <a:r>
              <a:rPr sz="1400" spc="-5" dirty="0">
                <a:latin typeface="Calibri"/>
                <a:cs typeface="Calibri"/>
              </a:rPr>
              <a:t>figures by Marine Carpuat, </a:t>
            </a:r>
            <a:r>
              <a:rPr sz="1400" spc="-45" dirty="0">
                <a:latin typeface="Calibri"/>
                <a:cs typeface="Calibri"/>
              </a:rPr>
              <a:t>Tom </a:t>
            </a:r>
            <a:r>
              <a:rPr sz="1400" spc="-5" dirty="0">
                <a:latin typeface="Calibri"/>
                <a:cs typeface="Calibri"/>
              </a:rPr>
              <a:t>Mitchell </a:t>
            </a:r>
            <a:r>
              <a:rPr sz="1400" dirty="0">
                <a:latin typeface="Calibri"/>
                <a:cs typeface="Calibri"/>
              </a:rPr>
              <a:t>and Hal </a:t>
            </a:r>
            <a:r>
              <a:rPr sz="1400" spc="-5" dirty="0">
                <a:latin typeface="Calibri"/>
                <a:cs typeface="Calibri"/>
              </a:rPr>
              <a:t>Daumé</a:t>
            </a:r>
            <a:r>
              <a:rPr sz="1400" spc="1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III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552959A-4793-47A7-BDC6-092670458E5C}"/>
              </a:ext>
            </a:extLst>
          </p:cNvPr>
          <p:cNvSpPr txBox="1">
            <a:spLocks/>
          </p:cNvSpPr>
          <p:nvPr/>
        </p:nvSpPr>
        <p:spPr>
          <a:xfrm>
            <a:off x="1371600" y="3967798"/>
            <a:ext cx="6858000" cy="2661602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 marL="0">
              <a:defRPr sz="2200" b="0" i="0">
                <a:solidFill>
                  <a:schemeClr val="tx1"/>
                </a:solidFill>
                <a:latin typeface="Segoe UI Emoji"/>
                <a:ea typeface="+mn-ea"/>
                <a:cs typeface="Segoe UI Emoj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Khaled Rasheed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Professor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 of Computing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Member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Institute for Artificial Intelligence</a:t>
            </a:r>
          </a:p>
          <a:p>
            <a:pPr algn="ctr"/>
            <a:r>
              <a:rPr lang="en-US" sz="2400" kern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University of Georgia</a:t>
            </a:r>
            <a:endParaRPr lang="en-US" sz="2400" kern="0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5610" y="483234"/>
            <a:ext cx="31940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60" dirty="0"/>
              <a:t>New</a:t>
            </a:r>
            <a:r>
              <a:rPr spc="-70" dirty="0"/>
              <a:t> </a:t>
            </a:r>
            <a:r>
              <a:rPr dirty="0"/>
              <a:t>topics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501"/>
            <a:ext cx="7731759" cy="4892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Bayes </a:t>
            </a:r>
            <a:r>
              <a:rPr sz="3200" dirty="0">
                <a:latin typeface="Segoe UI"/>
                <a:cs typeface="Segoe UI"/>
              </a:rPr>
              <a:t>rule</a:t>
            </a:r>
            <a:r>
              <a:rPr sz="3200" spc="-15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review</a:t>
            </a:r>
            <a:endParaRPr sz="32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365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A </a:t>
            </a:r>
            <a:r>
              <a:rPr sz="3200" spc="-5" dirty="0">
                <a:latin typeface="Segoe UI"/>
                <a:cs typeface="Segoe UI"/>
              </a:rPr>
              <a:t>probabilistic </a:t>
            </a:r>
            <a:r>
              <a:rPr sz="3200" dirty="0">
                <a:latin typeface="Segoe UI"/>
                <a:cs typeface="Segoe UI"/>
              </a:rPr>
              <a:t>view </a:t>
            </a:r>
            <a:r>
              <a:rPr sz="3200" spc="-35" dirty="0">
                <a:latin typeface="Segoe UI"/>
                <a:cs typeface="Segoe UI"/>
              </a:rPr>
              <a:t>of </a:t>
            </a:r>
            <a:r>
              <a:rPr sz="3200" dirty="0">
                <a:latin typeface="Segoe UI"/>
                <a:cs typeface="Segoe UI"/>
              </a:rPr>
              <a:t>machine</a:t>
            </a:r>
            <a:r>
              <a:rPr sz="3200" spc="-3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learning</a:t>
            </a:r>
            <a:endParaRPr sz="32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Joint</a:t>
            </a:r>
            <a:r>
              <a:rPr sz="2800" spc="-1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Distributions</a:t>
            </a:r>
            <a:endParaRPr sz="28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Bayes optimal</a:t>
            </a:r>
            <a:r>
              <a:rPr sz="2800" spc="-2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classifier</a:t>
            </a:r>
            <a:endParaRPr sz="280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Font typeface="Arial"/>
              <a:buChar char="–"/>
            </a:pPr>
            <a:endParaRPr sz="27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Segoe UI"/>
                <a:cs typeface="Segoe UI"/>
              </a:rPr>
              <a:t>Statistical</a:t>
            </a:r>
            <a:r>
              <a:rPr sz="3200" spc="-5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Estimation</a:t>
            </a:r>
            <a:endParaRPr sz="32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8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Maximum </a:t>
            </a:r>
            <a:r>
              <a:rPr sz="2800" spc="-10" dirty="0">
                <a:latin typeface="Segoe UI"/>
                <a:cs typeface="Segoe UI"/>
              </a:rPr>
              <a:t>likelihood</a:t>
            </a:r>
            <a:r>
              <a:rPr sz="2800" spc="1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estimates</a:t>
            </a:r>
            <a:endParaRPr sz="2800">
              <a:latin typeface="Segoe UI"/>
              <a:cs typeface="Segoe UI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Segoe UI"/>
                <a:cs typeface="Segoe UI"/>
              </a:rPr>
              <a:t>Derive relative frequency </a:t>
            </a:r>
            <a:r>
              <a:rPr sz="2800" spc="-5" dirty="0">
                <a:latin typeface="Segoe UI"/>
                <a:cs typeface="Segoe UI"/>
              </a:rPr>
              <a:t>as the solution </a:t>
            </a:r>
            <a:r>
              <a:rPr sz="2800" spc="-15" dirty="0">
                <a:latin typeface="Segoe UI"/>
                <a:cs typeface="Segoe UI"/>
              </a:rPr>
              <a:t>to </a:t>
            </a:r>
            <a:r>
              <a:rPr sz="2800" spc="-5" dirty="0">
                <a:latin typeface="Segoe UI"/>
                <a:cs typeface="Segoe UI"/>
              </a:rPr>
              <a:t>a  constrained optimization</a:t>
            </a:r>
            <a:r>
              <a:rPr sz="2800" spc="-10" dirty="0">
                <a:latin typeface="Segoe UI"/>
                <a:cs typeface="Segoe UI"/>
              </a:rPr>
              <a:t> problem</a:t>
            </a:r>
            <a:endParaRPr sz="2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3938" y="483234"/>
            <a:ext cx="25190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Bayes</a:t>
            </a:r>
            <a:r>
              <a:rPr spc="-80" dirty="0"/>
              <a:t> </a:t>
            </a:r>
            <a:r>
              <a:rPr spc="-5" dirty="0"/>
              <a:t>Rule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872" y="1740517"/>
            <a:ext cx="7319448" cy="45381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7978" y="483234"/>
            <a:ext cx="68510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Exercise: </a:t>
            </a:r>
            <a:r>
              <a:rPr dirty="0"/>
              <a:t>Applying Bayes</a:t>
            </a:r>
            <a:r>
              <a:rPr spc="-120" dirty="0"/>
              <a:t> </a:t>
            </a:r>
            <a:r>
              <a:rPr spc="-5" dirty="0"/>
              <a:t>Rule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3214"/>
            <a:ext cx="6408420" cy="485711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55600" marR="5080" indent="-355600" algn="just">
              <a:lnSpc>
                <a:spcPct val="118800"/>
              </a:lnSpc>
              <a:spcBef>
                <a:spcPts val="165"/>
              </a:spcBef>
              <a:buFont typeface="Arial"/>
              <a:buChar char="•"/>
              <a:tabLst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Consider </a:t>
            </a:r>
            <a:r>
              <a:rPr sz="3200" dirty="0">
                <a:latin typeface="Segoe UI"/>
                <a:cs typeface="Segoe UI"/>
              </a:rPr>
              <a:t>the 2 random </a:t>
            </a:r>
            <a:r>
              <a:rPr sz="3200" spc="-5" dirty="0">
                <a:latin typeface="Segoe UI"/>
                <a:cs typeface="Segoe UI"/>
              </a:rPr>
              <a:t>variables  </a:t>
            </a:r>
            <a:r>
              <a:rPr sz="2800" spc="-5" dirty="0">
                <a:latin typeface="Segoe UI"/>
                <a:cs typeface="Segoe UI"/>
              </a:rPr>
              <a:t>A = 1 if you have the flu, 0 </a:t>
            </a:r>
            <a:r>
              <a:rPr sz="2800" spc="5" dirty="0">
                <a:latin typeface="Segoe UI"/>
                <a:cs typeface="Segoe UI"/>
              </a:rPr>
              <a:t>otherwise  </a:t>
            </a:r>
            <a:r>
              <a:rPr sz="2800" spc="-5" dirty="0">
                <a:latin typeface="Segoe UI"/>
                <a:cs typeface="Segoe UI"/>
              </a:rPr>
              <a:t>B = 1 if </a:t>
            </a:r>
            <a:r>
              <a:rPr sz="2800" spc="-10" dirty="0">
                <a:latin typeface="Segoe UI"/>
                <a:cs typeface="Segoe UI"/>
              </a:rPr>
              <a:t>you just </a:t>
            </a:r>
            <a:r>
              <a:rPr sz="2800" spc="-5" dirty="0">
                <a:latin typeface="Segoe UI"/>
                <a:cs typeface="Segoe UI"/>
              </a:rPr>
              <a:t>coughed, 0</a:t>
            </a:r>
            <a:r>
              <a:rPr sz="2800" spc="-20" dirty="0">
                <a:latin typeface="Segoe UI"/>
                <a:cs typeface="Segoe UI"/>
              </a:rPr>
              <a:t> </a:t>
            </a:r>
            <a:r>
              <a:rPr sz="2800" spc="5" dirty="0">
                <a:latin typeface="Segoe UI"/>
                <a:cs typeface="Segoe UI"/>
              </a:rPr>
              <a:t>otherwise</a:t>
            </a:r>
            <a:endParaRPr sz="2800">
              <a:latin typeface="Segoe UI"/>
              <a:cs typeface="Segoe UI"/>
            </a:endParaRPr>
          </a:p>
          <a:p>
            <a:pPr marL="355600" indent="-342900" algn="just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Assume</a:t>
            </a:r>
            <a:endParaRPr sz="3200">
              <a:latin typeface="Segoe UI"/>
              <a:cs typeface="Segoe UI"/>
            </a:endParaRPr>
          </a:p>
          <a:p>
            <a:pPr marL="469900" algn="just">
              <a:lnSpc>
                <a:spcPct val="100000"/>
              </a:lnSpc>
              <a:spcBef>
                <a:spcPts val="675"/>
              </a:spcBef>
            </a:pPr>
            <a:r>
              <a:rPr sz="2800" spc="-10" dirty="0">
                <a:latin typeface="Segoe UI"/>
                <a:cs typeface="Segoe UI"/>
              </a:rPr>
              <a:t>P(A </a:t>
            </a:r>
            <a:r>
              <a:rPr sz="2800" spc="-5" dirty="0">
                <a:latin typeface="Segoe UI"/>
                <a:cs typeface="Segoe UI"/>
              </a:rPr>
              <a:t>= 1) = 0.05</a:t>
            </a:r>
            <a:endParaRPr sz="2800">
              <a:latin typeface="Segoe UI"/>
              <a:cs typeface="Segoe UI"/>
            </a:endParaRPr>
          </a:p>
          <a:p>
            <a:pPr marL="469900" marR="2843530" algn="just">
              <a:lnSpc>
                <a:spcPct val="120000"/>
              </a:lnSpc>
            </a:pPr>
            <a:r>
              <a:rPr sz="2800" spc="-10" dirty="0">
                <a:latin typeface="Segoe UI"/>
                <a:cs typeface="Segoe UI"/>
              </a:rPr>
              <a:t>P(B </a:t>
            </a:r>
            <a:r>
              <a:rPr sz="2800" spc="-5" dirty="0">
                <a:latin typeface="Segoe UI"/>
                <a:cs typeface="Segoe UI"/>
              </a:rPr>
              <a:t>= 1|A = 1) =</a:t>
            </a:r>
            <a:r>
              <a:rPr sz="2800" spc="-7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0.8  </a:t>
            </a:r>
            <a:r>
              <a:rPr sz="2800" spc="-10" dirty="0">
                <a:latin typeface="Segoe UI"/>
                <a:cs typeface="Segoe UI"/>
              </a:rPr>
              <a:t>P(B </a:t>
            </a:r>
            <a:r>
              <a:rPr sz="2800" spc="-5" dirty="0">
                <a:latin typeface="Segoe UI"/>
                <a:cs typeface="Segoe UI"/>
              </a:rPr>
              <a:t>= 1|A = 0) =</a:t>
            </a:r>
            <a:r>
              <a:rPr sz="2800" spc="-6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0.2</a:t>
            </a:r>
            <a:endParaRPr sz="2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600">
              <a:latin typeface="Segoe UI"/>
              <a:cs typeface="Segoe UI"/>
            </a:endParaRPr>
          </a:p>
          <a:p>
            <a:pPr marL="355600" indent="-342900" algn="just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What is </a:t>
            </a:r>
            <a:r>
              <a:rPr sz="3200" dirty="0">
                <a:latin typeface="Segoe UI"/>
                <a:cs typeface="Segoe UI"/>
              </a:rPr>
              <a:t>P(A = </a:t>
            </a:r>
            <a:r>
              <a:rPr sz="3200" spc="-5" dirty="0">
                <a:latin typeface="Segoe UI"/>
                <a:cs typeface="Segoe UI"/>
              </a:rPr>
              <a:t>1|B </a:t>
            </a:r>
            <a:r>
              <a:rPr sz="3200" dirty="0">
                <a:latin typeface="Segoe UI"/>
                <a:cs typeface="Segoe UI"/>
              </a:rPr>
              <a:t>=</a:t>
            </a:r>
            <a:r>
              <a:rPr sz="3200" spc="-60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1)?</a:t>
            </a:r>
            <a:endParaRPr sz="3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75246" y="682930"/>
            <a:ext cx="1393190" cy="563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0" spc="50" dirty="0">
                <a:latin typeface="Calibri Light"/>
                <a:cs typeface="Calibri Light"/>
              </a:rPr>
              <a:t>An</a:t>
            </a:r>
            <a:r>
              <a:rPr sz="3500" spc="20" dirty="0">
                <a:latin typeface="Calibri Light"/>
                <a:cs typeface="Calibri Light"/>
              </a:rPr>
              <a:t>s</a:t>
            </a:r>
            <a:r>
              <a:rPr sz="3500" spc="25" dirty="0">
                <a:latin typeface="Calibri Light"/>
                <a:cs typeface="Calibri Light"/>
              </a:rPr>
              <a:t>w</a:t>
            </a:r>
            <a:r>
              <a:rPr sz="3500" spc="35" dirty="0">
                <a:latin typeface="Calibri Light"/>
                <a:cs typeface="Calibri Light"/>
              </a:rPr>
              <a:t>er</a:t>
            </a:r>
            <a:endParaRPr sz="35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6772" y="1709419"/>
            <a:ext cx="6174740" cy="2294667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spc="-5" dirty="0">
                <a:latin typeface="Calibri"/>
                <a:cs typeface="Calibri"/>
              </a:rPr>
              <a:t>Using </a:t>
            </a:r>
            <a:r>
              <a:rPr sz="2400" b="1" spc="-15" dirty="0">
                <a:latin typeface="Calibri"/>
                <a:cs typeface="Calibri"/>
              </a:rPr>
              <a:t>Bayes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Rule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spc="-5" dirty="0">
                <a:latin typeface="Calibri"/>
                <a:cs typeface="Calibri"/>
              </a:rPr>
              <a:t>P(A|B)P(B)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P(B|A)P(A)</a:t>
            </a:r>
            <a:endParaRPr lang="en-US" sz="2400" spc="-5" dirty="0">
              <a:latin typeface="Calibri"/>
              <a:cs typeface="Calibri"/>
            </a:endParaRPr>
          </a:p>
          <a:p>
            <a:pPr marL="12700">
              <a:spcBef>
                <a:spcPts val="720"/>
              </a:spcBef>
            </a:pPr>
            <a:r>
              <a:rPr lang="en-US" sz="2400" spc="-5" dirty="0">
                <a:latin typeface="Calibri"/>
                <a:cs typeface="Calibri"/>
              </a:rPr>
              <a:t> =&gt; P(A|B) </a:t>
            </a:r>
            <a:r>
              <a:rPr lang="en-US" sz="2400" dirty="0">
                <a:latin typeface="Calibri"/>
                <a:cs typeface="Calibri"/>
              </a:rPr>
              <a:t>=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P(B|A)P(A)/ P(B)</a:t>
            </a:r>
            <a:endParaRPr sz="2400" dirty="0">
              <a:latin typeface="Calibri"/>
              <a:cs typeface="Calibri"/>
            </a:endParaRPr>
          </a:p>
          <a:p>
            <a:pPr marL="12700" marR="5080">
              <a:lnSpc>
                <a:spcPts val="3600"/>
              </a:lnSpc>
              <a:spcBef>
                <a:spcPts val="145"/>
              </a:spcBef>
            </a:pPr>
            <a:r>
              <a:rPr sz="2400" spc="-5" dirty="0">
                <a:latin typeface="Calibri"/>
                <a:cs typeface="Calibri"/>
              </a:rPr>
              <a:t>P(B) </a:t>
            </a:r>
            <a:r>
              <a:rPr sz="2400" dirty="0">
                <a:latin typeface="Calibri"/>
                <a:cs typeface="Calibri"/>
              </a:rPr>
              <a:t>= </a:t>
            </a:r>
            <a:r>
              <a:rPr sz="2400" spc="-5" dirty="0">
                <a:latin typeface="Calibri"/>
                <a:cs typeface="Calibri"/>
              </a:rPr>
              <a:t>0.8*0.05 </a:t>
            </a:r>
            <a:r>
              <a:rPr sz="2400" dirty="0">
                <a:latin typeface="Calibri"/>
                <a:cs typeface="Calibri"/>
              </a:rPr>
              <a:t>+ </a:t>
            </a:r>
            <a:r>
              <a:rPr sz="2400" spc="-5" dirty="0">
                <a:latin typeface="Calibri"/>
                <a:cs typeface="Calibri"/>
              </a:rPr>
              <a:t>0.2*(1-0.05) </a:t>
            </a:r>
            <a:r>
              <a:rPr sz="2400" dirty="0">
                <a:latin typeface="Calibri"/>
                <a:cs typeface="Calibri"/>
              </a:rPr>
              <a:t>= </a:t>
            </a:r>
            <a:r>
              <a:rPr sz="2400" spc="-5" dirty="0">
                <a:latin typeface="Calibri"/>
                <a:cs typeface="Calibri"/>
              </a:rPr>
              <a:t>0.04 </a:t>
            </a:r>
            <a:r>
              <a:rPr sz="2400" dirty="0">
                <a:latin typeface="Calibri"/>
                <a:cs typeface="Calibri"/>
              </a:rPr>
              <a:t>+ </a:t>
            </a:r>
            <a:r>
              <a:rPr sz="2400" spc="-5" dirty="0">
                <a:latin typeface="Calibri"/>
                <a:cs typeface="Calibri"/>
              </a:rPr>
              <a:t>0.19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0.23  P(A|B) </a:t>
            </a:r>
            <a:r>
              <a:rPr sz="2400" dirty="0">
                <a:latin typeface="Calibri"/>
                <a:cs typeface="Calibri"/>
              </a:rPr>
              <a:t>= </a:t>
            </a:r>
            <a:r>
              <a:rPr sz="2400" spc="-5" dirty="0">
                <a:latin typeface="Calibri"/>
                <a:cs typeface="Calibri"/>
              </a:rPr>
              <a:t>0.8*0.05 </a:t>
            </a:r>
            <a:r>
              <a:rPr sz="2400" dirty="0">
                <a:latin typeface="Calibri"/>
                <a:cs typeface="Calibri"/>
              </a:rPr>
              <a:t>/ </a:t>
            </a:r>
            <a:r>
              <a:rPr sz="2400" spc="-5" dirty="0">
                <a:latin typeface="Calibri"/>
                <a:cs typeface="Calibri"/>
              </a:rPr>
              <a:t>0.23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4/23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4589" y="483234"/>
            <a:ext cx="58159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Using a </a:t>
            </a:r>
            <a:r>
              <a:rPr spc="-5" dirty="0"/>
              <a:t>Joint</a:t>
            </a:r>
            <a:r>
              <a:rPr spc="-95" dirty="0"/>
              <a:t> </a:t>
            </a:r>
            <a:r>
              <a:rPr spc="-5" dirty="0"/>
              <a:t>Distribution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4923" y="1857807"/>
            <a:ext cx="8014716" cy="43737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4589" y="483234"/>
            <a:ext cx="58159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Using a </a:t>
            </a:r>
            <a:r>
              <a:rPr spc="-5" dirty="0"/>
              <a:t>Joint</a:t>
            </a:r>
            <a:r>
              <a:rPr spc="-95" dirty="0"/>
              <a:t> </a:t>
            </a:r>
            <a:r>
              <a:rPr spc="-5" dirty="0"/>
              <a:t>Distribution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022" y="2249297"/>
            <a:ext cx="4544071" cy="24782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27575" y="1625853"/>
            <a:ext cx="3649979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Segoe UI"/>
                <a:cs typeface="Segoe UI"/>
              </a:rPr>
              <a:t>Given </a:t>
            </a:r>
            <a:r>
              <a:rPr sz="2400" dirty="0">
                <a:latin typeface="Segoe UI"/>
                <a:cs typeface="Segoe UI"/>
              </a:rPr>
              <a:t>the </a:t>
            </a:r>
            <a:r>
              <a:rPr sz="2400" spc="-10" dirty="0">
                <a:latin typeface="Segoe UI"/>
                <a:cs typeface="Segoe UI"/>
              </a:rPr>
              <a:t>joint  </a:t>
            </a:r>
            <a:r>
              <a:rPr sz="2400" spc="-5" dirty="0">
                <a:latin typeface="Segoe UI"/>
                <a:cs typeface="Segoe UI"/>
              </a:rPr>
              <a:t>distribution, we can </a:t>
            </a:r>
            <a:r>
              <a:rPr sz="2400" dirty="0">
                <a:latin typeface="Segoe UI"/>
                <a:cs typeface="Segoe UI"/>
              </a:rPr>
              <a:t>find  the </a:t>
            </a:r>
            <a:r>
              <a:rPr sz="2400" spc="-10" dirty="0">
                <a:latin typeface="Segoe UI"/>
                <a:cs typeface="Segoe UI"/>
              </a:rPr>
              <a:t>probability </a:t>
            </a:r>
            <a:r>
              <a:rPr sz="2400" spc="-30" dirty="0">
                <a:latin typeface="Segoe UI"/>
                <a:cs typeface="Segoe UI"/>
              </a:rPr>
              <a:t>of </a:t>
            </a:r>
            <a:r>
              <a:rPr sz="2400" dirty="0">
                <a:latin typeface="Segoe UI"/>
                <a:cs typeface="Segoe UI"/>
              </a:rPr>
              <a:t>any  </a:t>
            </a:r>
            <a:r>
              <a:rPr sz="2400" spc="-5" dirty="0">
                <a:latin typeface="Segoe UI"/>
                <a:cs typeface="Segoe UI"/>
              </a:rPr>
              <a:t>logical expression </a:t>
            </a:r>
            <a:r>
              <a:rPr sz="2400" dirty="0">
                <a:latin typeface="Segoe UI"/>
                <a:cs typeface="Segoe UI"/>
              </a:rPr>
              <a:t>E  </a:t>
            </a:r>
            <a:r>
              <a:rPr sz="2400" spc="-5" dirty="0">
                <a:latin typeface="Segoe UI"/>
                <a:cs typeface="Segoe UI"/>
              </a:rPr>
              <a:t>involving </a:t>
            </a:r>
            <a:r>
              <a:rPr sz="2400" dirty="0">
                <a:latin typeface="Segoe UI"/>
                <a:cs typeface="Segoe UI"/>
              </a:rPr>
              <a:t>these</a:t>
            </a:r>
            <a:r>
              <a:rPr sz="2400" spc="-45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variables</a:t>
            </a:r>
            <a:endParaRPr sz="240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65977" y="4285505"/>
            <a:ext cx="3321799" cy="7772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4589" y="483234"/>
            <a:ext cx="58159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Using a </a:t>
            </a:r>
            <a:r>
              <a:rPr spc="-5" dirty="0"/>
              <a:t>Joint</a:t>
            </a:r>
            <a:r>
              <a:rPr spc="-95" dirty="0"/>
              <a:t> </a:t>
            </a:r>
            <a:r>
              <a:rPr spc="-5" dirty="0"/>
              <a:t>Distribution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022" y="2249297"/>
            <a:ext cx="4544071" cy="24782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895215" y="2430907"/>
            <a:ext cx="3961765" cy="1698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78130">
              <a:lnSpc>
                <a:spcPct val="120000"/>
              </a:lnSpc>
              <a:spcBef>
                <a:spcPts val="100"/>
              </a:spcBef>
            </a:pPr>
            <a:r>
              <a:rPr sz="2400" spc="-10" dirty="0">
                <a:latin typeface="Segoe UI"/>
                <a:cs typeface="Segoe UI"/>
              </a:rPr>
              <a:t>Given </a:t>
            </a:r>
            <a:r>
              <a:rPr sz="2400" dirty="0">
                <a:latin typeface="Segoe UI"/>
                <a:cs typeface="Segoe UI"/>
              </a:rPr>
              <a:t>the </a:t>
            </a:r>
            <a:r>
              <a:rPr sz="2400" spc="-5" dirty="0">
                <a:latin typeface="Segoe UI"/>
                <a:cs typeface="Segoe UI"/>
              </a:rPr>
              <a:t>joint distribution,  we </a:t>
            </a:r>
            <a:r>
              <a:rPr sz="2400" dirty="0">
                <a:latin typeface="Segoe UI"/>
                <a:cs typeface="Segoe UI"/>
              </a:rPr>
              <a:t>can </a:t>
            </a:r>
            <a:r>
              <a:rPr sz="2400" spc="-20" dirty="0">
                <a:latin typeface="Segoe UI"/>
                <a:cs typeface="Segoe UI"/>
              </a:rPr>
              <a:t>make</a:t>
            </a:r>
            <a:r>
              <a:rPr sz="2400" spc="-10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inferences</a:t>
            </a:r>
            <a:endParaRPr sz="2400" dirty="0">
              <a:latin typeface="Segoe UI"/>
              <a:cs typeface="Segoe UI"/>
            </a:endParaRPr>
          </a:p>
          <a:p>
            <a:pPr marL="588645" indent="-287020">
              <a:lnSpc>
                <a:spcPct val="100000"/>
              </a:lnSpc>
              <a:spcBef>
                <a:spcPts val="480"/>
              </a:spcBef>
              <a:buFont typeface="Arial"/>
              <a:buChar char="–"/>
              <a:tabLst>
                <a:tab pos="588645" algn="l"/>
                <a:tab pos="589280" algn="l"/>
              </a:tabLst>
            </a:pPr>
            <a:r>
              <a:rPr sz="2000" spc="-5" dirty="0">
                <a:latin typeface="Segoe UI"/>
                <a:cs typeface="Segoe UI"/>
              </a:rPr>
              <a:t>E.g.,</a:t>
            </a:r>
            <a:r>
              <a:rPr sz="2000" spc="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P(Male|Poor)?</a:t>
            </a:r>
            <a:endParaRPr sz="2000" dirty="0">
              <a:latin typeface="Segoe UI"/>
              <a:cs typeface="Segoe UI"/>
            </a:endParaRPr>
          </a:p>
          <a:p>
            <a:pPr marL="588645" indent="-287020">
              <a:lnSpc>
                <a:spcPct val="100000"/>
              </a:lnSpc>
              <a:spcBef>
                <a:spcPts val="975"/>
              </a:spcBef>
              <a:buFont typeface="Arial"/>
              <a:buChar char="–"/>
              <a:tabLst>
                <a:tab pos="588645" algn="l"/>
                <a:tab pos="589280" algn="l"/>
              </a:tabLst>
            </a:pPr>
            <a:r>
              <a:rPr sz="2000" dirty="0">
                <a:latin typeface="Segoe UI"/>
                <a:cs typeface="Segoe UI"/>
              </a:rPr>
              <a:t>Or </a:t>
            </a:r>
            <a:r>
              <a:rPr sz="2000" spc="-10" dirty="0">
                <a:latin typeface="Segoe UI"/>
                <a:cs typeface="Segoe UI"/>
              </a:rPr>
              <a:t>P(Wealth </a:t>
            </a:r>
            <a:r>
              <a:rPr sz="2000" dirty="0">
                <a:latin typeface="Segoe UI"/>
                <a:cs typeface="Segoe UI"/>
              </a:rPr>
              <a:t>| </a:t>
            </a:r>
            <a:r>
              <a:rPr sz="2000" spc="-25" dirty="0">
                <a:latin typeface="Segoe UI"/>
                <a:cs typeface="Segoe UI"/>
              </a:rPr>
              <a:t>Gender,</a:t>
            </a:r>
            <a:r>
              <a:rPr sz="2000" spc="6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Hours)?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5133" y="147955"/>
            <a:ext cx="625602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352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Recall: </a:t>
            </a:r>
            <a:r>
              <a:rPr dirty="0"/>
              <a:t>Machine </a:t>
            </a:r>
            <a:r>
              <a:rPr spc="-5" dirty="0"/>
              <a:t>Learning  as </a:t>
            </a:r>
            <a:r>
              <a:rPr dirty="0"/>
              <a:t>Function</a:t>
            </a:r>
            <a:r>
              <a:rPr spc="-110" dirty="0"/>
              <a:t> </a:t>
            </a:r>
            <a:r>
              <a:rPr spc="-15" dirty="0"/>
              <a:t>Approximation</a:t>
            </a:r>
          </a:p>
        </p:txBody>
      </p:sp>
      <p:sp>
        <p:nvSpPr>
          <p:cNvPr id="3" name="object 3"/>
          <p:cNvSpPr/>
          <p:nvPr/>
        </p:nvSpPr>
        <p:spPr>
          <a:xfrm>
            <a:off x="5144770" y="3305555"/>
            <a:ext cx="405130" cy="283845"/>
          </a:xfrm>
          <a:custGeom>
            <a:avLst/>
            <a:gdLst/>
            <a:ahLst/>
            <a:cxnLst/>
            <a:rect l="l" t="t" r="r" b="b"/>
            <a:pathLst>
              <a:path w="405129" h="283845">
                <a:moveTo>
                  <a:pt x="405129" y="2667"/>
                </a:moveTo>
                <a:lnTo>
                  <a:pt x="382269" y="2667"/>
                </a:lnTo>
                <a:lnTo>
                  <a:pt x="382269" y="279654"/>
                </a:lnTo>
                <a:lnTo>
                  <a:pt x="405129" y="279654"/>
                </a:lnTo>
                <a:lnTo>
                  <a:pt x="405129" y="2667"/>
                </a:lnTo>
                <a:close/>
              </a:path>
              <a:path w="405129" h="283845">
                <a:moveTo>
                  <a:pt x="94868" y="0"/>
                </a:moveTo>
                <a:lnTo>
                  <a:pt x="91058" y="0"/>
                </a:lnTo>
                <a:lnTo>
                  <a:pt x="74650" y="1214"/>
                </a:lnTo>
                <a:lnTo>
                  <a:pt x="38734" y="16002"/>
                </a:lnTo>
                <a:lnTo>
                  <a:pt x="21661" y="59563"/>
                </a:lnTo>
                <a:lnTo>
                  <a:pt x="21558" y="65091"/>
                </a:lnTo>
                <a:lnTo>
                  <a:pt x="21677" y="68633"/>
                </a:lnTo>
                <a:lnTo>
                  <a:pt x="22320" y="75453"/>
                </a:lnTo>
                <a:lnTo>
                  <a:pt x="23391" y="82678"/>
                </a:lnTo>
                <a:lnTo>
                  <a:pt x="24891" y="90297"/>
                </a:lnTo>
                <a:lnTo>
                  <a:pt x="27177" y="100838"/>
                </a:lnTo>
                <a:lnTo>
                  <a:pt x="28447" y="107950"/>
                </a:lnTo>
                <a:lnTo>
                  <a:pt x="28447" y="118364"/>
                </a:lnTo>
                <a:lnTo>
                  <a:pt x="26034" y="123952"/>
                </a:lnTo>
                <a:lnTo>
                  <a:pt x="16637" y="132588"/>
                </a:lnTo>
                <a:lnTo>
                  <a:pt x="9525" y="134874"/>
                </a:lnTo>
                <a:lnTo>
                  <a:pt x="0" y="135128"/>
                </a:lnTo>
                <a:lnTo>
                  <a:pt x="0" y="147320"/>
                </a:lnTo>
                <a:lnTo>
                  <a:pt x="9525" y="147701"/>
                </a:lnTo>
                <a:lnTo>
                  <a:pt x="16637" y="149987"/>
                </a:lnTo>
                <a:lnTo>
                  <a:pt x="26034" y="158623"/>
                </a:lnTo>
                <a:lnTo>
                  <a:pt x="28447" y="164211"/>
                </a:lnTo>
                <a:lnTo>
                  <a:pt x="28447" y="174625"/>
                </a:lnTo>
                <a:lnTo>
                  <a:pt x="27177" y="181610"/>
                </a:lnTo>
                <a:lnTo>
                  <a:pt x="24891" y="192151"/>
                </a:lnTo>
                <a:lnTo>
                  <a:pt x="23391" y="199842"/>
                </a:lnTo>
                <a:lnTo>
                  <a:pt x="22320" y="207105"/>
                </a:lnTo>
                <a:lnTo>
                  <a:pt x="21677" y="213939"/>
                </a:lnTo>
                <a:lnTo>
                  <a:pt x="21462" y="220345"/>
                </a:lnTo>
                <a:lnTo>
                  <a:pt x="22536" y="235321"/>
                </a:lnTo>
                <a:lnTo>
                  <a:pt x="48500" y="274629"/>
                </a:lnTo>
                <a:lnTo>
                  <a:pt x="91058" y="283845"/>
                </a:lnTo>
                <a:lnTo>
                  <a:pt x="94868" y="283845"/>
                </a:lnTo>
                <a:lnTo>
                  <a:pt x="94868" y="272542"/>
                </a:lnTo>
                <a:lnTo>
                  <a:pt x="92709" y="272542"/>
                </a:lnTo>
                <a:lnTo>
                  <a:pt x="82520" y="271829"/>
                </a:lnTo>
                <a:lnTo>
                  <a:pt x="49783" y="246078"/>
                </a:lnTo>
                <a:lnTo>
                  <a:pt x="46735" y="223012"/>
                </a:lnTo>
                <a:lnTo>
                  <a:pt x="46924" y="217465"/>
                </a:lnTo>
                <a:lnTo>
                  <a:pt x="47482" y="211312"/>
                </a:lnTo>
                <a:lnTo>
                  <a:pt x="48396" y="204563"/>
                </a:lnTo>
                <a:lnTo>
                  <a:pt x="49656" y="197231"/>
                </a:lnTo>
                <a:lnTo>
                  <a:pt x="51688" y="186944"/>
                </a:lnTo>
                <a:lnTo>
                  <a:pt x="52704" y="179705"/>
                </a:lnTo>
                <a:lnTo>
                  <a:pt x="52704" y="166878"/>
                </a:lnTo>
                <a:lnTo>
                  <a:pt x="50164" y="160020"/>
                </a:lnTo>
                <a:lnTo>
                  <a:pt x="45212" y="154559"/>
                </a:lnTo>
                <a:lnTo>
                  <a:pt x="40258" y="149225"/>
                </a:lnTo>
                <a:lnTo>
                  <a:pt x="34289" y="145161"/>
                </a:lnTo>
                <a:lnTo>
                  <a:pt x="27558" y="142621"/>
                </a:lnTo>
                <a:lnTo>
                  <a:pt x="27558" y="139954"/>
                </a:lnTo>
                <a:lnTo>
                  <a:pt x="34289" y="137287"/>
                </a:lnTo>
                <a:lnTo>
                  <a:pt x="40258" y="133350"/>
                </a:lnTo>
                <a:lnTo>
                  <a:pt x="45212" y="127889"/>
                </a:lnTo>
                <a:lnTo>
                  <a:pt x="50164" y="122555"/>
                </a:lnTo>
                <a:lnTo>
                  <a:pt x="52704" y="115570"/>
                </a:lnTo>
                <a:lnTo>
                  <a:pt x="52704" y="102870"/>
                </a:lnTo>
                <a:lnTo>
                  <a:pt x="51688" y="95504"/>
                </a:lnTo>
                <a:lnTo>
                  <a:pt x="49656" y="85344"/>
                </a:lnTo>
                <a:lnTo>
                  <a:pt x="48396" y="77958"/>
                </a:lnTo>
                <a:lnTo>
                  <a:pt x="47482" y="71215"/>
                </a:lnTo>
                <a:lnTo>
                  <a:pt x="46924" y="65091"/>
                </a:lnTo>
                <a:lnTo>
                  <a:pt x="46735" y="59563"/>
                </a:lnTo>
                <a:lnTo>
                  <a:pt x="47497" y="47609"/>
                </a:lnTo>
                <a:lnTo>
                  <a:pt x="73485" y="14144"/>
                </a:lnTo>
                <a:lnTo>
                  <a:pt x="92709" y="11303"/>
                </a:lnTo>
                <a:lnTo>
                  <a:pt x="94868" y="11303"/>
                </a:lnTo>
                <a:lnTo>
                  <a:pt x="948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74370" y="1826891"/>
            <a:ext cx="6504305" cy="243967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00" spc="-10" dirty="0">
                <a:latin typeface="Segoe UI"/>
                <a:cs typeface="Segoe UI"/>
              </a:rPr>
              <a:t>Problem</a:t>
            </a:r>
            <a:r>
              <a:rPr sz="2400" spc="5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setting</a:t>
            </a:r>
            <a:endParaRPr sz="24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Segoe UI"/>
                <a:cs typeface="Segoe UI"/>
              </a:rPr>
              <a:t>Set </a:t>
            </a:r>
            <a:r>
              <a:rPr sz="2400" spc="-30" dirty="0">
                <a:latin typeface="Segoe UI"/>
                <a:cs typeface="Segoe UI"/>
              </a:rPr>
              <a:t>of </a:t>
            </a:r>
            <a:r>
              <a:rPr sz="2400" dirty="0">
                <a:latin typeface="Segoe UI"/>
                <a:cs typeface="Segoe UI"/>
              </a:rPr>
              <a:t>possible </a:t>
            </a:r>
            <a:r>
              <a:rPr sz="2400" spc="-5" dirty="0">
                <a:latin typeface="Segoe UI"/>
                <a:cs typeface="Segoe UI"/>
              </a:rPr>
              <a:t>instances</a:t>
            </a:r>
            <a:r>
              <a:rPr sz="2400" spc="60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𝑋</a:t>
            </a:r>
            <a:endParaRPr sz="24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  <a:tab pos="4467860" algn="l"/>
              </a:tabLst>
            </a:pPr>
            <a:r>
              <a:rPr sz="2400" spc="-5" dirty="0">
                <a:latin typeface="Segoe UI"/>
                <a:cs typeface="Segoe UI"/>
              </a:rPr>
              <a:t>Unknown target function</a:t>
            </a:r>
            <a:r>
              <a:rPr sz="2400" spc="100" dirty="0">
                <a:latin typeface="Segoe UI"/>
                <a:cs typeface="Segoe UI"/>
              </a:rPr>
              <a:t> </a:t>
            </a:r>
            <a:r>
              <a:rPr sz="2400" spc="35" dirty="0">
                <a:latin typeface="Cambria Math"/>
                <a:cs typeface="Cambria Math"/>
              </a:rPr>
              <a:t>𝑓:</a:t>
            </a:r>
            <a:r>
              <a:rPr sz="2400" spc="-11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𝑋	→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𝑌</a:t>
            </a:r>
            <a:endParaRPr sz="24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  <a:tab pos="4773930" algn="l"/>
                <a:tab pos="5179060" algn="l"/>
                <a:tab pos="5840730" algn="l"/>
              </a:tabLst>
            </a:pPr>
            <a:r>
              <a:rPr sz="2400" spc="-5" dirty="0">
                <a:latin typeface="Segoe UI"/>
                <a:cs typeface="Segoe UI"/>
              </a:rPr>
              <a:t>Set </a:t>
            </a:r>
            <a:r>
              <a:rPr sz="2400" spc="-30" dirty="0">
                <a:latin typeface="Segoe UI"/>
                <a:cs typeface="Segoe UI"/>
              </a:rPr>
              <a:t>of </a:t>
            </a:r>
            <a:r>
              <a:rPr sz="2400" spc="-5" dirty="0">
                <a:latin typeface="Segoe UI"/>
                <a:cs typeface="Segoe UI"/>
              </a:rPr>
              <a:t>function </a:t>
            </a:r>
            <a:r>
              <a:rPr sz="2400" dirty="0">
                <a:latin typeface="Segoe UI"/>
                <a:cs typeface="Segoe UI"/>
              </a:rPr>
              <a:t>hypotheses</a:t>
            </a:r>
            <a:r>
              <a:rPr sz="2400" spc="105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𝐻</a:t>
            </a:r>
            <a:r>
              <a:rPr sz="2400" spc="2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	ℎ	</a:t>
            </a:r>
            <a:r>
              <a:rPr sz="2400" spc="25" dirty="0">
                <a:latin typeface="Cambria Math"/>
                <a:cs typeface="Cambria Math"/>
              </a:rPr>
              <a:t>ℎ: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𝑋	→</a:t>
            </a:r>
            <a:r>
              <a:rPr sz="2400" spc="60" dirty="0">
                <a:latin typeface="Cambria Math"/>
                <a:cs typeface="Cambria Math"/>
              </a:rPr>
              <a:t> </a:t>
            </a:r>
            <a:r>
              <a:rPr sz="2400" spc="25" dirty="0">
                <a:latin typeface="Cambria Math"/>
                <a:cs typeface="Cambria Math"/>
              </a:rPr>
              <a:t>𝑌}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305"/>
              </a:spcBef>
            </a:pPr>
            <a:r>
              <a:rPr sz="2400" spc="-5" dirty="0">
                <a:latin typeface="Segoe UI"/>
                <a:cs typeface="Segoe UI"/>
              </a:rPr>
              <a:t>Input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70275" y="4389882"/>
            <a:ext cx="1348740" cy="374650"/>
          </a:xfrm>
          <a:custGeom>
            <a:avLst/>
            <a:gdLst/>
            <a:ahLst/>
            <a:cxnLst/>
            <a:rect l="l" t="t" r="r" b="b"/>
            <a:pathLst>
              <a:path w="1348739" h="374650">
                <a:moveTo>
                  <a:pt x="100457" y="18415"/>
                </a:moveTo>
                <a:lnTo>
                  <a:pt x="96774" y="6223"/>
                </a:lnTo>
                <a:lnTo>
                  <a:pt x="74866" y="14757"/>
                </a:lnTo>
                <a:lnTo>
                  <a:pt x="55626" y="28130"/>
                </a:lnTo>
                <a:lnTo>
                  <a:pt x="25146" y="69469"/>
                </a:lnTo>
                <a:lnTo>
                  <a:pt x="6286" y="125209"/>
                </a:lnTo>
                <a:lnTo>
                  <a:pt x="0" y="190500"/>
                </a:lnTo>
                <a:lnTo>
                  <a:pt x="1562" y="224078"/>
                </a:lnTo>
                <a:lnTo>
                  <a:pt x="14135" y="284467"/>
                </a:lnTo>
                <a:lnTo>
                  <a:pt x="39052" y="334251"/>
                </a:lnTo>
                <a:lnTo>
                  <a:pt x="74866" y="365874"/>
                </a:lnTo>
                <a:lnTo>
                  <a:pt x="96774" y="374396"/>
                </a:lnTo>
                <a:lnTo>
                  <a:pt x="100457" y="362204"/>
                </a:lnTo>
                <a:lnTo>
                  <a:pt x="83540" y="353453"/>
                </a:lnTo>
                <a:lnTo>
                  <a:pt x="68821" y="340702"/>
                </a:lnTo>
                <a:lnTo>
                  <a:pt x="45974" y="303276"/>
                </a:lnTo>
                <a:lnTo>
                  <a:pt x="32080" y="252323"/>
                </a:lnTo>
                <a:lnTo>
                  <a:pt x="27432" y="190373"/>
                </a:lnTo>
                <a:lnTo>
                  <a:pt x="28587" y="158153"/>
                </a:lnTo>
                <a:lnTo>
                  <a:pt x="37871" y="101625"/>
                </a:lnTo>
                <a:lnTo>
                  <a:pt x="56299" y="56705"/>
                </a:lnTo>
                <a:lnTo>
                  <a:pt x="83540" y="27178"/>
                </a:lnTo>
                <a:lnTo>
                  <a:pt x="100457" y="18415"/>
                </a:lnTo>
                <a:close/>
              </a:path>
              <a:path w="1348739" h="374650">
                <a:moveTo>
                  <a:pt x="376936" y="8382"/>
                </a:moveTo>
                <a:lnTo>
                  <a:pt x="374015" y="0"/>
                </a:lnTo>
                <a:lnTo>
                  <a:pt x="359054" y="5410"/>
                </a:lnTo>
                <a:lnTo>
                  <a:pt x="345960" y="13233"/>
                </a:lnTo>
                <a:lnTo>
                  <a:pt x="317817" y="50698"/>
                </a:lnTo>
                <a:lnTo>
                  <a:pt x="308229" y="103124"/>
                </a:lnTo>
                <a:lnTo>
                  <a:pt x="309295" y="122034"/>
                </a:lnTo>
                <a:lnTo>
                  <a:pt x="325247" y="170053"/>
                </a:lnTo>
                <a:lnTo>
                  <a:pt x="359029" y="200723"/>
                </a:lnTo>
                <a:lnTo>
                  <a:pt x="374015" y="206121"/>
                </a:lnTo>
                <a:lnTo>
                  <a:pt x="376682" y="197739"/>
                </a:lnTo>
                <a:lnTo>
                  <a:pt x="364909" y="192532"/>
                </a:lnTo>
                <a:lnTo>
                  <a:pt x="354774" y="185280"/>
                </a:lnTo>
                <a:lnTo>
                  <a:pt x="333984" y="151523"/>
                </a:lnTo>
                <a:lnTo>
                  <a:pt x="327025" y="101981"/>
                </a:lnTo>
                <a:lnTo>
                  <a:pt x="327799" y="84442"/>
                </a:lnTo>
                <a:lnTo>
                  <a:pt x="339344" y="41021"/>
                </a:lnTo>
                <a:lnTo>
                  <a:pt x="365074" y="13576"/>
                </a:lnTo>
                <a:lnTo>
                  <a:pt x="376936" y="8382"/>
                </a:lnTo>
                <a:close/>
              </a:path>
              <a:path w="1348739" h="374650">
                <a:moveTo>
                  <a:pt x="582549" y="103124"/>
                </a:moveTo>
                <a:lnTo>
                  <a:pt x="572947" y="50698"/>
                </a:lnTo>
                <a:lnTo>
                  <a:pt x="544804" y="13233"/>
                </a:lnTo>
                <a:lnTo>
                  <a:pt x="516763" y="0"/>
                </a:lnTo>
                <a:lnTo>
                  <a:pt x="513842" y="8382"/>
                </a:lnTo>
                <a:lnTo>
                  <a:pt x="525767" y="13576"/>
                </a:lnTo>
                <a:lnTo>
                  <a:pt x="536028" y="20751"/>
                </a:lnTo>
                <a:lnTo>
                  <a:pt x="556882" y="53924"/>
                </a:lnTo>
                <a:lnTo>
                  <a:pt x="563753" y="101981"/>
                </a:lnTo>
                <a:lnTo>
                  <a:pt x="562978" y="120180"/>
                </a:lnTo>
                <a:lnTo>
                  <a:pt x="551434" y="164719"/>
                </a:lnTo>
                <a:lnTo>
                  <a:pt x="514223" y="197739"/>
                </a:lnTo>
                <a:lnTo>
                  <a:pt x="516763" y="206121"/>
                </a:lnTo>
                <a:lnTo>
                  <a:pt x="556120" y="182676"/>
                </a:lnTo>
                <a:lnTo>
                  <a:pt x="578269" y="139496"/>
                </a:lnTo>
                <a:lnTo>
                  <a:pt x="581469" y="122034"/>
                </a:lnTo>
                <a:lnTo>
                  <a:pt x="582549" y="103124"/>
                </a:lnTo>
                <a:close/>
              </a:path>
              <a:path w="1348739" h="374650">
                <a:moveTo>
                  <a:pt x="1000252" y="8382"/>
                </a:moveTo>
                <a:lnTo>
                  <a:pt x="997331" y="0"/>
                </a:lnTo>
                <a:lnTo>
                  <a:pt x="982370" y="5410"/>
                </a:lnTo>
                <a:lnTo>
                  <a:pt x="969276" y="13233"/>
                </a:lnTo>
                <a:lnTo>
                  <a:pt x="941133" y="50698"/>
                </a:lnTo>
                <a:lnTo>
                  <a:pt x="931545" y="103124"/>
                </a:lnTo>
                <a:lnTo>
                  <a:pt x="932611" y="122034"/>
                </a:lnTo>
                <a:lnTo>
                  <a:pt x="948563" y="170053"/>
                </a:lnTo>
                <a:lnTo>
                  <a:pt x="982345" y="200723"/>
                </a:lnTo>
                <a:lnTo>
                  <a:pt x="997331" y="206121"/>
                </a:lnTo>
                <a:lnTo>
                  <a:pt x="999998" y="197739"/>
                </a:lnTo>
                <a:lnTo>
                  <a:pt x="988225" y="192532"/>
                </a:lnTo>
                <a:lnTo>
                  <a:pt x="978090" y="185280"/>
                </a:lnTo>
                <a:lnTo>
                  <a:pt x="957300" y="151523"/>
                </a:lnTo>
                <a:lnTo>
                  <a:pt x="950341" y="101981"/>
                </a:lnTo>
                <a:lnTo>
                  <a:pt x="951115" y="84442"/>
                </a:lnTo>
                <a:lnTo>
                  <a:pt x="962660" y="41021"/>
                </a:lnTo>
                <a:lnTo>
                  <a:pt x="988390" y="13576"/>
                </a:lnTo>
                <a:lnTo>
                  <a:pt x="1000252" y="8382"/>
                </a:lnTo>
                <a:close/>
              </a:path>
              <a:path w="1348739" h="374650">
                <a:moveTo>
                  <a:pt x="1205865" y="103124"/>
                </a:moveTo>
                <a:lnTo>
                  <a:pt x="1196263" y="50698"/>
                </a:lnTo>
                <a:lnTo>
                  <a:pt x="1168120" y="13233"/>
                </a:lnTo>
                <a:lnTo>
                  <a:pt x="1140079" y="0"/>
                </a:lnTo>
                <a:lnTo>
                  <a:pt x="1137158" y="8382"/>
                </a:lnTo>
                <a:lnTo>
                  <a:pt x="1149083" y="13576"/>
                </a:lnTo>
                <a:lnTo>
                  <a:pt x="1159344" y="20751"/>
                </a:lnTo>
                <a:lnTo>
                  <a:pt x="1180211" y="53924"/>
                </a:lnTo>
                <a:lnTo>
                  <a:pt x="1187069" y="101981"/>
                </a:lnTo>
                <a:lnTo>
                  <a:pt x="1186294" y="120180"/>
                </a:lnTo>
                <a:lnTo>
                  <a:pt x="1174750" y="164719"/>
                </a:lnTo>
                <a:lnTo>
                  <a:pt x="1137539" y="197739"/>
                </a:lnTo>
                <a:lnTo>
                  <a:pt x="1140079" y="206121"/>
                </a:lnTo>
                <a:lnTo>
                  <a:pt x="1179436" y="182676"/>
                </a:lnTo>
                <a:lnTo>
                  <a:pt x="1201585" y="139496"/>
                </a:lnTo>
                <a:lnTo>
                  <a:pt x="1204785" y="122034"/>
                </a:lnTo>
                <a:lnTo>
                  <a:pt x="1205865" y="103124"/>
                </a:lnTo>
                <a:close/>
              </a:path>
              <a:path w="1348739" h="374650">
                <a:moveTo>
                  <a:pt x="1348359" y="190373"/>
                </a:moveTo>
                <a:lnTo>
                  <a:pt x="1342072" y="125209"/>
                </a:lnTo>
                <a:lnTo>
                  <a:pt x="1323213" y="69469"/>
                </a:lnTo>
                <a:lnTo>
                  <a:pt x="1292733" y="28130"/>
                </a:lnTo>
                <a:lnTo>
                  <a:pt x="1251585" y="6223"/>
                </a:lnTo>
                <a:lnTo>
                  <a:pt x="1247902" y="18415"/>
                </a:lnTo>
                <a:lnTo>
                  <a:pt x="1264805" y="27178"/>
                </a:lnTo>
                <a:lnTo>
                  <a:pt x="1279525" y="39941"/>
                </a:lnTo>
                <a:lnTo>
                  <a:pt x="1302385" y="77470"/>
                </a:lnTo>
                <a:lnTo>
                  <a:pt x="1316266" y="128511"/>
                </a:lnTo>
                <a:lnTo>
                  <a:pt x="1320927" y="190500"/>
                </a:lnTo>
                <a:lnTo>
                  <a:pt x="1319758" y="222770"/>
                </a:lnTo>
                <a:lnTo>
                  <a:pt x="1310474" y="279158"/>
                </a:lnTo>
                <a:lnTo>
                  <a:pt x="1292047" y="323977"/>
                </a:lnTo>
                <a:lnTo>
                  <a:pt x="1264805" y="353453"/>
                </a:lnTo>
                <a:lnTo>
                  <a:pt x="1247902" y="362204"/>
                </a:lnTo>
                <a:lnTo>
                  <a:pt x="1251585" y="374396"/>
                </a:lnTo>
                <a:lnTo>
                  <a:pt x="1292733" y="352488"/>
                </a:lnTo>
                <a:lnTo>
                  <a:pt x="1323213" y="311150"/>
                </a:lnTo>
                <a:lnTo>
                  <a:pt x="1342059" y="255435"/>
                </a:lnTo>
                <a:lnTo>
                  <a:pt x="1346784" y="224078"/>
                </a:lnTo>
                <a:lnTo>
                  <a:pt x="1348359" y="1903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264023" y="4389882"/>
            <a:ext cx="1438275" cy="374650"/>
          </a:xfrm>
          <a:custGeom>
            <a:avLst/>
            <a:gdLst/>
            <a:ahLst/>
            <a:cxnLst/>
            <a:rect l="l" t="t" r="r" b="b"/>
            <a:pathLst>
              <a:path w="1438275" h="374650">
                <a:moveTo>
                  <a:pt x="100457" y="18415"/>
                </a:moveTo>
                <a:lnTo>
                  <a:pt x="96774" y="6223"/>
                </a:lnTo>
                <a:lnTo>
                  <a:pt x="74866" y="14757"/>
                </a:lnTo>
                <a:lnTo>
                  <a:pt x="55626" y="28130"/>
                </a:lnTo>
                <a:lnTo>
                  <a:pt x="25146" y="69469"/>
                </a:lnTo>
                <a:lnTo>
                  <a:pt x="6273" y="125209"/>
                </a:lnTo>
                <a:lnTo>
                  <a:pt x="0" y="190500"/>
                </a:lnTo>
                <a:lnTo>
                  <a:pt x="1562" y="224078"/>
                </a:lnTo>
                <a:lnTo>
                  <a:pt x="14135" y="284467"/>
                </a:lnTo>
                <a:lnTo>
                  <a:pt x="39052" y="334251"/>
                </a:lnTo>
                <a:lnTo>
                  <a:pt x="74866" y="365874"/>
                </a:lnTo>
                <a:lnTo>
                  <a:pt x="96774" y="374396"/>
                </a:lnTo>
                <a:lnTo>
                  <a:pt x="100457" y="362204"/>
                </a:lnTo>
                <a:lnTo>
                  <a:pt x="83540" y="353453"/>
                </a:lnTo>
                <a:lnTo>
                  <a:pt x="68821" y="340702"/>
                </a:lnTo>
                <a:lnTo>
                  <a:pt x="45974" y="303276"/>
                </a:lnTo>
                <a:lnTo>
                  <a:pt x="32080" y="252323"/>
                </a:lnTo>
                <a:lnTo>
                  <a:pt x="27432" y="190373"/>
                </a:lnTo>
                <a:lnTo>
                  <a:pt x="28587" y="158153"/>
                </a:lnTo>
                <a:lnTo>
                  <a:pt x="37871" y="101625"/>
                </a:lnTo>
                <a:lnTo>
                  <a:pt x="56299" y="56705"/>
                </a:lnTo>
                <a:lnTo>
                  <a:pt x="83540" y="27178"/>
                </a:lnTo>
                <a:lnTo>
                  <a:pt x="100457" y="18415"/>
                </a:lnTo>
                <a:close/>
              </a:path>
              <a:path w="1438275" h="374650">
                <a:moveTo>
                  <a:pt x="376936" y="8382"/>
                </a:moveTo>
                <a:lnTo>
                  <a:pt x="374015" y="0"/>
                </a:lnTo>
                <a:lnTo>
                  <a:pt x="359054" y="5410"/>
                </a:lnTo>
                <a:lnTo>
                  <a:pt x="345960" y="13233"/>
                </a:lnTo>
                <a:lnTo>
                  <a:pt x="317817" y="50698"/>
                </a:lnTo>
                <a:lnTo>
                  <a:pt x="308229" y="103124"/>
                </a:lnTo>
                <a:lnTo>
                  <a:pt x="309295" y="122034"/>
                </a:lnTo>
                <a:lnTo>
                  <a:pt x="325247" y="170053"/>
                </a:lnTo>
                <a:lnTo>
                  <a:pt x="359029" y="200723"/>
                </a:lnTo>
                <a:lnTo>
                  <a:pt x="374015" y="206121"/>
                </a:lnTo>
                <a:lnTo>
                  <a:pt x="376682" y="197739"/>
                </a:lnTo>
                <a:lnTo>
                  <a:pt x="364909" y="192532"/>
                </a:lnTo>
                <a:lnTo>
                  <a:pt x="354774" y="185280"/>
                </a:lnTo>
                <a:lnTo>
                  <a:pt x="333984" y="151523"/>
                </a:lnTo>
                <a:lnTo>
                  <a:pt x="327025" y="101981"/>
                </a:lnTo>
                <a:lnTo>
                  <a:pt x="327799" y="84442"/>
                </a:lnTo>
                <a:lnTo>
                  <a:pt x="339344" y="41021"/>
                </a:lnTo>
                <a:lnTo>
                  <a:pt x="365074" y="13576"/>
                </a:lnTo>
                <a:lnTo>
                  <a:pt x="376936" y="8382"/>
                </a:lnTo>
                <a:close/>
              </a:path>
              <a:path w="1438275" h="374650">
                <a:moveTo>
                  <a:pt x="626745" y="103124"/>
                </a:moveTo>
                <a:lnTo>
                  <a:pt x="617143" y="50698"/>
                </a:lnTo>
                <a:lnTo>
                  <a:pt x="589000" y="13233"/>
                </a:lnTo>
                <a:lnTo>
                  <a:pt x="560959" y="0"/>
                </a:lnTo>
                <a:lnTo>
                  <a:pt x="558038" y="8382"/>
                </a:lnTo>
                <a:lnTo>
                  <a:pt x="569963" y="13576"/>
                </a:lnTo>
                <a:lnTo>
                  <a:pt x="580224" y="20751"/>
                </a:lnTo>
                <a:lnTo>
                  <a:pt x="601091" y="53924"/>
                </a:lnTo>
                <a:lnTo>
                  <a:pt x="607949" y="101981"/>
                </a:lnTo>
                <a:lnTo>
                  <a:pt x="607174" y="120180"/>
                </a:lnTo>
                <a:lnTo>
                  <a:pt x="595630" y="164719"/>
                </a:lnTo>
                <a:lnTo>
                  <a:pt x="558419" y="197739"/>
                </a:lnTo>
                <a:lnTo>
                  <a:pt x="560959" y="206121"/>
                </a:lnTo>
                <a:lnTo>
                  <a:pt x="600316" y="182676"/>
                </a:lnTo>
                <a:lnTo>
                  <a:pt x="622465" y="139496"/>
                </a:lnTo>
                <a:lnTo>
                  <a:pt x="625665" y="122034"/>
                </a:lnTo>
                <a:lnTo>
                  <a:pt x="626745" y="103124"/>
                </a:lnTo>
                <a:close/>
              </a:path>
              <a:path w="1438275" h="374650">
                <a:moveTo>
                  <a:pt x="1044448" y="8382"/>
                </a:moveTo>
                <a:lnTo>
                  <a:pt x="1041527" y="0"/>
                </a:lnTo>
                <a:lnTo>
                  <a:pt x="1026566" y="5410"/>
                </a:lnTo>
                <a:lnTo>
                  <a:pt x="1013472" y="13233"/>
                </a:lnTo>
                <a:lnTo>
                  <a:pt x="985329" y="50698"/>
                </a:lnTo>
                <a:lnTo>
                  <a:pt x="975741" y="103124"/>
                </a:lnTo>
                <a:lnTo>
                  <a:pt x="976807" y="122034"/>
                </a:lnTo>
                <a:lnTo>
                  <a:pt x="992759" y="170053"/>
                </a:lnTo>
                <a:lnTo>
                  <a:pt x="1026541" y="200723"/>
                </a:lnTo>
                <a:lnTo>
                  <a:pt x="1041527" y="206121"/>
                </a:lnTo>
                <a:lnTo>
                  <a:pt x="1044194" y="197739"/>
                </a:lnTo>
                <a:lnTo>
                  <a:pt x="1032421" y="192532"/>
                </a:lnTo>
                <a:lnTo>
                  <a:pt x="1022286" y="185280"/>
                </a:lnTo>
                <a:lnTo>
                  <a:pt x="1001496" y="151523"/>
                </a:lnTo>
                <a:lnTo>
                  <a:pt x="994537" y="101981"/>
                </a:lnTo>
                <a:lnTo>
                  <a:pt x="995311" y="84442"/>
                </a:lnTo>
                <a:lnTo>
                  <a:pt x="1006856" y="41021"/>
                </a:lnTo>
                <a:lnTo>
                  <a:pt x="1032586" y="13576"/>
                </a:lnTo>
                <a:lnTo>
                  <a:pt x="1044448" y="8382"/>
                </a:lnTo>
                <a:close/>
              </a:path>
              <a:path w="1438275" h="374650">
                <a:moveTo>
                  <a:pt x="1294257" y="103124"/>
                </a:moveTo>
                <a:lnTo>
                  <a:pt x="1284655" y="50698"/>
                </a:lnTo>
                <a:lnTo>
                  <a:pt x="1256512" y="13233"/>
                </a:lnTo>
                <a:lnTo>
                  <a:pt x="1228471" y="0"/>
                </a:lnTo>
                <a:lnTo>
                  <a:pt x="1225550" y="8382"/>
                </a:lnTo>
                <a:lnTo>
                  <a:pt x="1237475" y="13576"/>
                </a:lnTo>
                <a:lnTo>
                  <a:pt x="1247736" y="20751"/>
                </a:lnTo>
                <a:lnTo>
                  <a:pt x="1268603" y="53924"/>
                </a:lnTo>
                <a:lnTo>
                  <a:pt x="1275448" y="101981"/>
                </a:lnTo>
                <a:lnTo>
                  <a:pt x="1274686" y="120180"/>
                </a:lnTo>
                <a:lnTo>
                  <a:pt x="1263142" y="164719"/>
                </a:lnTo>
                <a:lnTo>
                  <a:pt x="1225931" y="197739"/>
                </a:lnTo>
                <a:lnTo>
                  <a:pt x="1228471" y="206121"/>
                </a:lnTo>
                <a:lnTo>
                  <a:pt x="1267828" y="182676"/>
                </a:lnTo>
                <a:lnTo>
                  <a:pt x="1289977" y="139496"/>
                </a:lnTo>
                <a:lnTo>
                  <a:pt x="1293177" y="122034"/>
                </a:lnTo>
                <a:lnTo>
                  <a:pt x="1294257" y="103124"/>
                </a:lnTo>
                <a:close/>
              </a:path>
              <a:path w="1438275" h="374650">
                <a:moveTo>
                  <a:pt x="1438275" y="190373"/>
                </a:moveTo>
                <a:lnTo>
                  <a:pt x="1431988" y="125209"/>
                </a:lnTo>
                <a:lnTo>
                  <a:pt x="1413129" y="69469"/>
                </a:lnTo>
                <a:lnTo>
                  <a:pt x="1382649" y="28130"/>
                </a:lnTo>
                <a:lnTo>
                  <a:pt x="1341501" y="6223"/>
                </a:lnTo>
                <a:lnTo>
                  <a:pt x="1337818" y="18415"/>
                </a:lnTo>
                <a:lnTo>
                  <a:pt x="1354721" y="27178"/>
                </a:lnTo>
                <a:lnTo>
                  <a:pt x="1369428" y="39941"/>
                </a:lnTo>
                <a:lnTo>
                  <a:pt x="1392301" y="77470"/>
                </a:lnTo>
                <a:lnTo>
                  <a:pt x="1406182" y="128511"/>
                </a:lnTo>
                <a:lnTo>
                  <a:pt x="1410843" y="190500"/>
                </a:lnTo>
                <a:lnTo>
                  <a:pt x="1409674" y="222770"/>
                </a:lnTo>
                <a:lnTo>
                  <a:pt x="1400390" y="279158"/>
                </a:lnTo>
                <a:lnTo>
                  <a:pt x="1381963" y="323977"/>
                </a:lnTo>
                <a:lnTo>
                  <a:pt x="1354721" y="353453"/>
                </a:lnTo>
                <a:lnTo>
                  <a:pt x="1337818" y="362204"/>
                </a:lnTo>
                <a:lnTo>
                  <a:pt x="1341501" y="374396"/>
                </a:lnTo>
                <a:lnTo>
                  <a:pt x="1382636" y="352488"/>
                </a:lnTo>
                <a:lnTo>
                  <a:pt x="1413129" y="311150"/>
                </a:lnTo>
                <a:lnTo>
                  <a:pt x="1431988" y="255435"/>
                </a:lnTo>
                <a:lnTo>
                  <a:pt x="1436700" y="224078"/>
                </a:lnTo>
                <a:lnTo>
                  <a:pt x="1438275" y="1903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808220" y="4350766"/>
            <a:ext cx="3754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66420" algn="l"/>
                <a:tab pos="1921510" algn="l"/>
              </a:tabLst>
            </a:pP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…	𝑥  </a:t>
            </a:r>
            <a:r>
              <a:rPr sz="2625" spc="60" baseline="28571" dirty="0">
                <a:latin typeface="Cambria Math"/>
                <a:cs typeface="Cambria Math"/>
              </a:rPr>
              <a:t>𝑁  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3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𝑦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625" spc="60" baseline="28571" dirty="0">
                <a:latin typeface="Cambria Math"/>
                <a:cs typeface="Cambria Math"/>
              </a:rPr>
              <a:t>𝑁	</a:t>
            </a:r>
            <a:r>
              <a:rPr sz="2400" dirty="0">
                <a:latin typeface="Cambria Math"/>
                <a:cs typeface="Cambria Math"/>
              </a:rPr>
              <a:t>} </a:t>
            </a:r>
            <a:r>
              <a:rPr sz="2400" spc="-30" dirty="0">
                <a:latin typeface="Segoe UI"/>
                <a:cs typeface="Segoe UI"/>
              </a:rPr>
              <a:t>of</a:t>
            </a:r>
            <a:r>
              <a:rPr sz="2400" spc="85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unknown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8970" y="4323334"/>
            <a:ext cx="4194175" cy="147066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380365" algn="l"/>
                <a:tab pos="381000" algn="l"/>
                <a:tab pos="3131820" algn="l"/>
              </a:tabLst>
            </a:pPr>
            <a:r>
              <a:rPr sz="2400" spc="-30" dirty="0">
                <a:latin typeface="Segoe UI"/>
                <a:cs typeface="Segoe UI"/>
              </a:rPr>
              <a:t>Training</a:t>
            </a:r>
            <a:r>
              <a:rPr sz="2400" spc="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examples</a:t>
            </a:r>
            <a:r>
              <a:rPr sz="2400" spc="-10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{	𝑥 </a:t>
            </a:r>
            <a:r>
              <a:rPr sz="2625" spc="60" baseline="28571" dirty="0">
                <a:latin typeface="Cambria Math"/>
                <a:cs typeface="Cambria Math"/>
              </a:rPr>
              <a:t>1 </a:t>
            </a:r>
            <a:r>
              <a:rPr sz="2400" dirty="0">
                <a:latin typeface="Cambria Math"/>
                <a:cs typeface="Cambria Math"/>
              </a:rPr>
              <a:t>, 𝑦</a:t>
            </a:r>
            <a:r>
              <a:rPr lang="en-US" sz="2400" dirty="0">
                <a:latin typeface="Cambria Math"/>
                <a:cs typeface="Cambria Math"/>
              </a:rPr>
              <a:t>  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625" spc="60" baseline="28571" dirty="0">
                <a:latin typeface="Cambria Math"/>
                <a:cs typeface="Cambria Math"/>
              </a:rPr>
              <a:t>1</a:t>
            </a:r>
            <a:endParaRPr sz="2625" baseline="28571" dirty="0">
              <a:latin typeface="Cambria Math"/>
              <a:cs typeface="Cambria Math"/>
            </a:endParaRPr>
          </a:p>
          <a:p>
            <a:pPr marL="381000">
              <a:lnSpc>
                <a:spcPct val="100000"/>
              </a:lnSpc>
              <a:spcBef>
                <a:spcPts val="215"/>
              </a:spcBef>
            </a:pPr>
            <a:r>
              <a:rPr sz="2400" spc="-5" dirty="0">
                <a:latin typeface="Segoe UI"/>
                <a:cs typeface="Segoe UI"/>
              </a:rPr>
              <a:t>target function</a:t>
            </a:r>
            <a:r>
              <a:rPr sz="2400" spc="30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𝑓</a:t>
            </a:r>
          </a:p>
          <a:p>
            <a:pPr marL="38100">
              <a:lnSpc>
                <a:spcPct val="100000"/>
              </a:lnSpc>
              <a:spcBef>
                <a:spcPts val="2305"/>
              </a:spcBef>
            </a:pPr>
            <a:r>
              <a:rPr sz="2400" dirty="0">
                <a:latin typeface="Segoe UI"/>
                <a:cs typeface="Segoe UI"/>
              </a:rPr>
              <a:t>Output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74370" y="5841593"/>
            <a:ext cx="8262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  <a:tab pos="2254250" algn="l"/>
              </a:tabLst>
            </a:pPr>
            <a:r>
              <a:rPr sz="2400" spc="-5" dirty="0">
                <a:latin typeface="Segoe UI"/>
                <a:cs typeface="Segoe UI"/>
              </a:rPr>
              <a:t>Hypothesis</a:t>
            </a:r>
            <a:r>
              <a:rPr sz="2400" spc="10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ℎ	∈ 𝐻 </a:t>
            </a:r>
            <a:r>
              <a:rPr sz="2400" dirty="0">
                <a:latin typeface="Segoe UI"/>
                <a:cs typeface="Segoe UI"/>
              </a:rPr>
              <a:t>that best </a:t>
            </a:r>
            <a:r>
              <a:rPr sz="2400" spc="-10" dirty="0">
                <a:latin typeface="Segoe UI"/>
                <a:cs typeface="Segoe UI"/>
              </a:rPr>
              <a:t>approximates </a:t>
            </a:r>
            <a:r>
              <a:rPr sz="2400" spc="-5" dirty="0">
                <a:latin typeface="Segoe UI"/>
                <a:cs typeface="Segoe UI"/>
              </a:rPr>
              <a:t>target function</a:t>
            </a:r>
            <a:r>
              <a:rPr sz="2400" spc="229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2980" marR="5080" indent="-97091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Recall: </a:t>
            </a:r>
            <a:r>
              <a:rPr dirty="0"/>
              <a:t>Formal </a:t>
            </a:r>
            <a:r>
              <a:rPr spc="-5" dirty="0"/>
              <a:t>Definition </a:t>
            </a:r>
            <a:r>
              <a:rPr spc="-60" dirty="0"/>
              <a:t>of </a:t>
            </a:r>
            <a:r>
              <a:rPr spc="40" dirty="0"/>
              <a:t>Binary  </a:t>
            </a:r>
            <a:r>
              <a:rPr spc="-5" dirty="0"/>
              <a:t>Classification </a:t>
            </a:r>
            <a:r>
              <a:rPr spc="-20" dirty="0"/>
              <a:t>(from</a:t>
            </a:r>
            <a:r>
              <a:rPr spc="-50" dirty="0"/>
              <a:t> </a:t>
            </a:r>
            <a:r>
              <a:rPr spc="-5" dirty="0"/>
              <a:t>CIML)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798" y="2430917"/>
            <a:ext cx="7946465" cy="28235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3232" y="682930"/>
            <a:ext cx="5177155" cy="563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0" spc="45" dirty="0">
                <a:latin typeface="Calibri Light"/>
                <a:cs typeface="Calibri Light"/>
              </a:rPr>
              <a:t>The </a:t>
            </a:r>
            <a:r>
              <a:rPr sz="3500" spc="20" dirty="0">
                <a:latin typeface="Calibri Light"/>
                <a:cs typeface="Calibri Light"/>
              </a:rPr>
              <a:t>Bayes </a:t>
            </a:r>
            <a:r>
              <a:rPr sz="3500" spc="45" dirty="0">
                <a:latin typeface="Calibri Light"/>
                <a:cs typeface="Calibri Light"/>
              </a:rPr>
              <a:t>Optimal</a:t>
            </a:r>
            <a:r>
              <a:rPr sz="3500" spc="-65" dirty="0">
                <a:latin typeface="Calibri Light"/>
                <a:cs typeface="Calibri Light"/>
              </a:rPr>
              <a:t> </a:t>
            </a:r>
            <a:r>
              <a:rPr sz="3500" spc="35" dirty="0">
                <a:latin typeface="Calibri Light"/>
                <a:cs typeface="Calibri Light"/>
              </a:rPr>
              <a:t>Classifier</a:t>
            </a:r>
            <a:endParaRPr sz="35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6772" y="1709419"/>
            <a:ext cx="6653530" cy="93980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Assume </a:t>
            </a:r>
            <a:r>
              <a:rPr sz="2400" spc="-15" dirty="0">
                <a:latin typeface="Calibri"/>
                <a:cs typeface="Calibri"/>
              </a:rPr>
              <a:t>we </a:t>
            </a:r>
            <a:r>
              <a:rPr sz="2400" spc="-5" dirty="0">
                <a:latin typeface="Calibri"/>
                <a:cs typeface="Calibri"/>
              </a:rPr>
              <a:t>know the </a:t>
            </a:r>
            <a:r>
              <a:rPr sz="2400" spc="-15" dirty="0">
                <a:latin typeface="Calibri"/>
                <a:cs typeface="Calibri"/>
              </a:rPr>
              <a:t>data </a:t>
            </a:r>
            <a:r>
              <a:rPr sz="2400" spc="-10" dirty="0">
                <a:latin typeface="Calibri"/>
                <a:cs typeface="Calibri"/>
              </a:rPr>
              <a:t>generating </a:t>
            </a:r>
            <a:r>
              <a:rPr sz="2400" spc="-5" dirty="0">
                <a:latin typeface="Calibri"/>
                <a:cs typeface="Calibri"/>
              </a:rPr>
              <a:t>distribution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mbria Math"/>
                <a:cs typeface="Cambria Math"/>
              </a:rPr>
              <a:t>𝒟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45" dirty="0">
                <a:latin typeface="Calibri"/>
                <a:cs typeface="Calibri"/>
              </a:rPr>
              <a:t>We </a:t>
            </a:r>
            <a:r>
              <a:rPr sz="2400" spc="-5" dirty="0">
                <a:latin typeface="Calibri"/>
                <a:cs typeface="Calibri"/>
              </a:rPr>
              <a:t>define the </a:t>
            </a:r>
            <a:r>
              <a:rPr sz="2400" b="1" spc="-15" dirty="0">
                <a:latin typeface="Calibri"/>
                <a:cs typeface="Calibri"/>
              </a:rPr>
              <a:t>Bayes </a:t>
            </a:r>
            <a:r>
              <a:rPr sz="2400" b="1" spc="-5" dirty="0">
                <a:latin typeface="Calibri"/>
                <a:cs typeface="Calibri"/>
              </a:rPr>
              <a:t>Optimal </a:t>
            </a:r>
            <a:r>
              <a:rPr sz="2400" b="1" dirty="0">
                <a:latin typeface="Calibri"/>
                <a:cs typeface="Calibri"/>
              </a:rPr>
              <a:t>Classifier</a:t>
            </a:r>
            <a:r>
              <a:rPr sz="2400" b="1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06772" y="3617467"/>
            <a:ext cx="8101330" cy="337848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5080" indent="-228600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spc="-10" dirty="0">
                <a:latin typeface="Calibri"/>
                <a:cs typeface="Calibri"/>
              </a:rPr>
              <a:t>Theorem</a:t>
            </a:r>
            <a:r>
              <a:rPr sz="2400" spc="-10" dirty="0">
                <a:latin typeface="Calibri"/>
                <a:cs typeface="Calibri"/>
              </a:rPr>
              <a:t>: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all </a:t>
            </a:r>
            <a:r>
              <a:rPr sz="2400" spc="-5" dirty="0">
                <a:latin typeface="Calibri"/>
                <a:cs typeface="Calibri"/>
              </a:rPr>
              <a:t>possible </a:t>
            </a:r>
            <a:r>
              <a:rPr sz="2400" spc="-10" dirty="0">
                <a:latin typeface="Calibri"/>
                <a:cs typeface="Calibri"/>
              </a:rPr>
              <a:t>classifiers,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20" dirty="0">
                <a:latin typeface="Calibri"/>
                <a:cs typeface="Calibri"/>
              </a:rPr>
              <a:t>Bayes </a:t>
            </a:r>
            <a:r>
              <a:rPr sz="2400" spc="-5" dirty="0">
                <a:latin typeface="Calibri"/>
                <a:cs typeface="Calibri"/>
              </a:rPr>
              <a:t>Optimal Classifier  achieves the smallest </a:t>
            </a:r>
            <a:r>
              <a:rPr sz="2400" spc="-20" dirty="0">
                <a:latin typeface="Calibri"/>
                <a:cs typeface="Calibri"/>
              </a:rPr>
              <a:t>zero/one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loss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spc="-15" dirty="0">
                <a:latin typeface="Calibri"/>
                <a:cs typeface="Calibri"/>
              </a:rPr>
              <a:t>Bayes </a:t>
            </a:r>
            <a:r>
              <a:rPr sz="2400" b="1" spc="-10" dirty="0">
                <a:latin typeface="Calibri"/>
                <a:cs typeface="Calibri"/>
              </a:rPr>
              <a:t>error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30" dirty="0">
                <a:latin typeface="Calibri"/>
                <a:cs typeface="Calibri"/>
              </a:rPr>
              <a:t>rate</a:t>
            </a:r>
            <a:endParaRPr sz="24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33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5" dirty="0">
                <a:latin typeface="Calibri"/>
                <a:cs typeface="Calibri"/>
              </a:rPr>
              <a:t>Defined </a:t>
            </a:r>
            <a:r>
              <a:rPr sz="2000" dirty="0">
                <a:latin typeface="Calibri"/>
                <a:cs typeface="Calibri"/>
              </a:rPr>
              <a:t>as the </a:t>
            </a:r>
            <a:r>
              <a:rPr sz="2000" spc="-10" dirty="0">
                <a:latin typeface="Calibri"/>
                <a:cs typeface="Calibri"/>
              </a:rPr>
              <a:t>error </a:t>
            </a:r>
            <a:r>
              <a:rPr sz="2000" spc="-20" dirty="0">
                <a:latin typeface="Calibri"/>
                <a:cs typeface="Calibri"/>
              </a:rPr>
              <a:t>rate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spc="-15" dirty="0">
                <a:latin typeface="Calibri"/>
                <a:cs typeface="Calibri"/>
              </a:rPr>
              <a:t>Bayes </a:t>
            </a:r>
            <a:r>
              <a:rPr sz="2000" spc="-5" dirty="0">
                <a:latin typeface="Calibri"/>
                <a:cs typeface="Calibri"/>
              </a:rPr>
              <a:t>optimal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classifier</a:t>
            </a:r>
          </a:p>
          <a:p>
            <a:pPr marL="698500" lvl="1" indent="-228600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10" dirty="0">
                <a:latin typeface="Calibri"/>
                <a:cs typeface="Calibri"/>
              </a:rPr>
              <a:t>Best error </a:t>
            </a:r>
            <a:r>
              <a:rPr sz="2000" spc="-20" dirty="0">
                <a:latin typeface="Calibri"/>
                <a:cs typeface="Calibri"/>
              </a:rPr>
              <a:t>rate </a:t>
            </a:r>
            <a:r>
              <a:rPr sz="2000" spc="-15" dirty="0">
                <a:latin typeface="Calibri"/>
                <a:cs typeface="Calibri"/>
              </a:rPr>
              <a:t>we </a:t>
            </a:r>
            <a:r>
              <a:rPr sz="2000" spc="-5" dirty="0">
                <a:latin typeface="Calibri"/>
                <a:cs typeface="Calibri"/>
              </a:rPr>
              <a:t>can </a:t>
            </a:r>
            <a:r>
              <a:rPr sz="2000" spc="-10" dirty="0">
                <a:latin typeface="Calibri"/>
                <a:cs typeface="Calibri"/>
              </a:rPr>
              <a:t>ever </a:t>
            </a:r>
            <a:r>
              <a:rPr sz="2000" spc="-5" dirty="0">
                <a:latin typeface="Calibri"/>
                <a:cs typeface="Calibri"/>
              </a:rPr>
              <a:t>hope </a:t>
            </a:r>
            <a:r>
              <a:rPr sz="2000" spc="-10" dirty="0">
                <a:latin typeface="Calibri"/>
                <a:cs typeface="Calibri"/>
              </a:rPr>
              <a:t>to achieve </a:t>
            </a:r>
            <a:r>
              <a:rPr sz="2000" spc="-5" dirty="0">
                <a:latin typeface="Calibri"/>
                <a:cs typeface="Calibri"/>
              </a:rPr>
              <a:t>under </a:t>
            </a:r>
            <a:r>
              <a:rPr sz="2000" spc="-20" dirty="0">
                <a:latin typeface="Calibri"/>
                <a:cs typeface="Calibri"/>
              </a:rPr>
              <a:t>zero/one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loss</a:t>
            </a:r>
            <a:endParaRPr lang="en-US" sz="2000" dirty="0">
              <a:latin typeface="Calibri"/>
              <a:cs typeface="Calibri"/>
            </a:endParaRPr>
          </a:p>
          <a:p>
            <a:pPr marL="469900" lvl="1">
              <a:lnSpc>
                <a:spcPct val="100000"/>
              </a:lnSpc>
              <a:spcBef>
                <a:spcPts val="190"/>
              </a:spcBef>
              <a:tabLst>
                <a:tab pos="697865" algn="l"/>
                <a:tab pos="698500" algn="l"/>
              </a:tabLst>
            </a:pPr>
            <a:endParaRPr lang="en-US" sz="2000" dirty="0">
              <a:latin typeface="Calibri"/>
              <a:cs typeface="Calibri"/>
            </a:endParaRPr>
          </a:p>
          <a:p>
            <a:pPr marL="241300" indent="-228600">
              <a:spcBef>
                <a:spcPts val="19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lang="en-US" sz="2400" dirty="0">
                <a:latin typeface="Calibri"/>
                <a:cs typeface="Calibri"/>
              </a:rPr>
              <a:t>If we had access to </a:t>
            </a:r>
            <a:r>
              <a:rPr lang="en-US" sz="2400" dirty="0">
                <a:latin typeface="Cambria Math"/>
                <a:cs typeface="Cambria Math"/>
              </a:rPr>
              <a:t>𝒟 we can build an optimal classifier</a:t>
            </a:r>
          </a:p>
          <a:p>
            <a:pPr marL="698500" lvl="1" indent="-228600">
              <a:spcBef>
                <a:spcPts val="19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lang="en-US" sz="2400" dirty="0">
                <a:solidFill>
                  <a:srgbClr val="FF0000"/>
                </a:solidFill>
                <a:latin typeface="Cambria Math"/>
                <a:cs typeface="Calibri"/>
              </a:rPr>
              <a:t>We don’t have access to 𝒟</a:t>
            </a:r>
          </a:p>
          <a:p>
            <a:pPr marL="698500" lvl="1" indent="-228600">
              <a:spcBef>
                <a:spcPts val="19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lang="en-US" sz="2400" dirty="0">
                <a:latin typeface="Cambria Math"/>
                <a:cs typeface="Calibri"/>
              </a:rPr>
              <a:t>We need to try to estimate it instead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7895" y="2831592"/>
            <a:ext cx="3218687" cy="59740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9705" marR="5080" indent="-9448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What does “training” </a:t>
            </a:r>
            <a:r>
              <a:rPr dirty="0"/>
              <a:t>mean </a:t>
            </a:r>
            <a:r>
              <a:rPr spc="-5" dirty="0"/>
              <a:t>in  </a:t>
            </a:r>
            <a:r>
              <a:rPr spc="-10" dirty="0"/>
              <a:t>probabilistic</a:t>
            </a:r>
            <a:r>
              <a:rPr spc="-60" dirty="0"/>
              <a:t> </a:t>
            </a:r>
            <a:r>
              <a:rPr spc="-10" dirty="0"/>
              <a:t>settings?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49066"/>
            <a:ext cx="7927340" cy="302895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8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35" dirty="0">
                <a:latin typeface="Segoe UI"/>
                <a:cs typeface="Segoe UI"/>
              </a:rPr>
              <a:t>Training </a:t>
            </a:r>
            <a:r>
              <a:rPr sz="2800" spc="-5" dirty="0">
                <a:latin typeface="Segoe UI"/>
                <a:cs typeface="Segoe UI"/>
              </a:rPr>
              <a:t>= estimating </a:t>
            </a:r>
            <a:r>
              <a:rPr sz="2800" spc="-5" dirty="0">
                <a:latin typeface="Cambria Math"/>
                <a:cs typeface="Cambria Math"/>
              </a:rPr>
              <a:t>𝒟 </a:t>
            </a:r>
            <a:r>
              <a:rPr sz="2800" spc="-15" dirty="0">
                <a:latin typeface="Segoe UI"/>
                <a:cs typeface="Segoe UI"/>
              </a:rPr>
              <a:t>from </a:t>
            </a:r>
            <a:r>
              <a:rPr sz="2800" spc="-5" dirty="0">
                <a:latin typeface="Segoe UI"/>
                <a:cs typeface="Segoe UI"/>
              </a:rPr>
              <a:t>a </a:t>
            </a:r>
            <a:r>
              <a:rPr sz="2800" spc="-10" dirty="0">
                <a:latin typeface="Segoe UI"/>
                <a:cs typeface="Segoe UI"/>
              </a:rPr>
              <a:t>finite </a:t>
            </a:r>
            <a:r>
              <a:rPr sz="2800" spc="-5" dirty="0">
                <a:latin typeface="Segoe UI"/>
                <a:cs typeface="Segoe UI"/>
              </a:rPr>
              <a:t>training</a:t>
            </a:r>
            <a:r>
              <a:rPr sz="2800" spc="-29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set</a:t>
            </a:r>
            <a:endParaRPr sz="2800">
              <a:latin typeface="Segoe UI"/>
              <a:cs typeface="Segoe UI"/>
            </a:endParaRPr>
          </a:p>
          <a:p>
            <a:pPr marL="756285" marR="523240" indent="-287020">
              <a:lnSpc>
                <a:spcPct val="100000"/>
              </a:lnSpc>
              <a:spcBef>
                <a:spcPts val="590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spc="-30" dirty="0">
                <a:latin typeface="Segoe UI"/>
                <a:cs typeface="Segoe UI"/>
              </a:rPr>
              <a:t>We </a:t>
            </a:r>
            <a:r>
              <a:rPr sz="2400" spc="-5" dirty="0">
                <a:latin typeface="Segoe UI"/>
                <a:cs typeface="Segoe UI"/>
              </a:rPr>
              <a:t>typically </a:t>
            </a:r>
            <a:r>
              <a:rPr sz="2400" dirty="0">
                <a:latin typeface="Segoe UI"/>
                <a:cs typeface="Segoe UI"/>
              </a:rPr>
              <a:t>assume that </a:t>
            </a:r>
            <a:r>
              <a:rPr sz="2400" dirty="0">
                <a:latin typeface="Cambria Math"/>
                <a:cs typeface="Cambria Math"/>
              </a:rPr>
              <a:t>𝒟 </a:t>
            </a:r>
            <a:r>
              <a:rPr sz="2400" dirty="0">
                <a:latin typeface="Segoe UI"/>
                <a:cs typeface="Segoe UI"/>
              </a:rPr>
              <a:t>comes </a:t>
            </a:r>
            <a:r>
              <a:rPr sz="2400" spc="-10" dirty="0">
                <a:latin typeface="Segoe UI"/>
                <a:cs typeface="Segoe UI"/>
              </a:rPr>
              <a:t>from </a:t>
            </a:r>
            <a:r>
              <a:rPr sz="2400" dirty="0">
                <a:latin typeface="Segoe UI"/>
                <a:cs typeface="Segoe UI"/>
              </a:rPr>
              <a:t>a </a:t>
            </a:r>
            <a:r>
              <a:rPr sz="2400" spc="-5" dirty="0">
                <a:latin typeface="Segoe UI"/>
                <a:cs typeface="Segoe UI"/>
              </a:rPr>
              <a:t>specific  </a:t>
            </a:r>
            <a:r>
              <a:rPr sz="2400" dirty="0">
                <a:latin typeface="Segoe UI"/>
                <a:cs typeface="Segoe UI"/>
              </a:rPr>
              <a:t>family </a:t>
            </a:r>
            <a:r>
              <a:rPr sz="2400" spc="-30" dirty="0">
                <a:latin typeface="Segoe UI"/>
                <a:cs typeface="Segoe UI"/>
              </a:rPr>
              <a:t>of </a:t>
            </a:r>
            <a:r>
              <a:rPr sz="2400" spc="-10" dirty="0">
                <a:latin typeface="Segoe UI"/>
                <a:cs typeface="Segoe UI"/>
              </a:rPr>
              <a:t>probability</a:t>
            </a:r>
            <a:r>
              <a:rPr sz="2400" spc="80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distributions</a:t>
            </a:r>
            <a:endParaRPr sz="2400">
              <a:latin typeface="Segoe UI"/>
              <a:cs typeface="Segoe UI"/>
            </a:endParaRPr>
          </a:p>
          <a:p>
            <a:pPr marL="92710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Segoe UI"/>
                <a:cs typeface="Segoe UI"/>
              </a:rPr>
              <a:t>e.g., </a:t>
            </a:r>
            <a:r>
              <a:rPr sz="2400" spc="-5" dirty="0">
                <a:latin typeface="Segoe UI"/>
                <a:cs typeface="Segoe UI"/>
              </a:rPr>
              <a:t>Bernouilli, Gaussian,</a:t>
            </a:r>
            <a:r>
              <a:rPr sz="2400" spc="80" dirty="0">
                <a:latin typeface="Segoe UI"/>
                <a:cs typeface="Segoe UI"/>
              </a:rPr>
              <a:t> </a:t>
            </a:r>
            <a:r>
              <a:rPr sz="2400" spc="-15" dirty="0">
                <a:latin typeface="Segoe UI"/>
                <a:cs typeface="Segoe UI"/>
              </a:rPr>
              <a:t>etc</a:t>
            </a:r>
            <a:endParaRPr sz="2400">
              <a:latin typeface="Segoe UI"/>
              <a:cs typeface="Segoe UI"/>
            </a:endParaRPr>
          </a:p>
          <a:p>
            <a:pPr marL="756285" marR="1247775" indent="-28702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spc="-5" dirty="0">
                <a:latin typeface="Segoe UI"/>
                <a:cs typeface="Segoe UI"/>
              </a:rPr>
              <a:t>Learning means inferring parameters </a:t>
            </a:r>
            <a:r>
              <a:rPr sz="2400" spc="-30" dirty="0">
                <a:latin typeface="Segoe UI"/>
                <a:cs typeface="Segoe UI"/>
              </a:rPr>
              <a:t>of </a:t>
            </a:r>
            <a:r>
              <a:rPr sz="2400" dirty="0">
                <a:latin typeface="Segoe UI"/>
                <a:cs typeface="Segoe UI"/>
              </a:rPr>
              <a:t>that  </a:t>
            </a:r>
            <a:r>
              <a:rPr sz="2400" spc="-5" dirty="0">
                <a:latin typeface="Segoe UI"/>
                <a:cs typeface="Segoe UI"/>
              </a:rPr>
              <a:t>distributions</a:t>
            </a:r>
            <a:endParaRPr sz="2400">
              <a:latin typeface="Segoe UI"/>
              <a:cs typeface="Segoe UI"/>
            </a:endParaRPr>
          </a:p>
          <a:p>
            <a:pPr marL="9271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Segoe UI"/>
                <a:cs typeface="Segoe UI"/>
              </a:rPr>
              <a:t>e.g., </a:t>
            </a:r>
            <a:r>
              <a:rPr sz="2400" spc="-5" dirty="0">
                <a:latin typeface="Segoe UI"/>
                <a:cs typeface="Segoe UI"/>
              </a:rPr>
              <a:t>mean </a:t>
            </a:r>
            <a:r>
              <a:rPr sz="2400" dirty="0">
                <a:latin typeface="Segoe UI"/>
                <a:cs typeface="Segoe UI"/>
              </a:rPr>
              <a:t>and </a:t>
            </a:r>
            <a:r>
              <a:rPr sz="2400" spc="-10" dirty="0">
                <a:latin typeface="Segoe UI"/>
                <a:cs typeface="Segoe UI"/>
              </a:rPr>
              <a:t>covariance </a:t>
            </a:r>
            <a:r>
              <a:rPr sz="2400" spc="-30" dirty="0">
                <a:latin typeface="Segoe UI"/>
                <a:cs typeface="Segoe UI"/>
              </a:rPr>
              <a:t>of </a:t>
            </a:r>
            <a:r>
              <a:rPr sz="2400" dirty="0">
                <a:latin typeface="Segoe UI"/>
                <a:cs typeface="Segoe UI"/>
              </a:rPr>
              <a:t>the</a:t>
            </a:r>
            <a:r>
              <a:rPr sz="2400" spc="95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Gaussian</a:t>
            </a:r>
            <a:endParaRPr sz="2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49145" marR="5080" indent="-14605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Training </a:t>
            </a:r>
            <a:r>
              <a:rPr spc="-5" dirty="0"/>
              <a:t>assumption: training  </a:t>
            </a:r>
            <a:r>
              <a:rPr dirty="0"/>
              <a:t>examples </a:t>
            </a:r>
            <a:r>
              <a:rPr spc="-35" dirty="0"/>
              <a:t>are</a:t>
            </a:r>
            <a:r>
              <a:rPr spc="-40" dirty="0"/>
              <a:t> </a:t>
            </a:r>
            <a:r>
              <a:rPr spc="-5" dirty="0"/>
              <a:t>iid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86482"/>
            <a:ext cx="7702550" cy="4050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62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b="1" spc="-5" dirty="0">
                <a:latin typeface="Segoe UI"/>
                <a:cs typeface="Segoe UI"/>
              </a:rPr>
              <a:t>Independently </a:t>
            </a:r>
            <a:r>
              <a:rPr sz="3200" b="1" dirty="0">
                <a:latin typeface="Segoe UI"/>
                <a:cs typeface="Segoe UI"/>
              </a:rPr>
              <a:t>and Identically  distributed</a:t>
            </a:r>
            <a:endParaRPr sz="32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i.e. as </a:t>
            </a:r>
            <a:r>
              <a:rPr sz="2800" spc="-15" dirty="0">
                <a:latin typeface="Segoe UI"/>
                <a:cs typeface="Segoe UI"/>
              </a:rPr>
              <a:t>we </a:t>
            </a:r>
            <a:r>
              <a:rPr sz="2800" spc="-5" dirty="0">
                <a:latin typeface="Segoe UI"/>
                <a:cs typeface="Segoe UI"/>
              </a:rPr>
              <a:t>draw a </a:t>
            </a:r>
            <a:r>
              <a:rPr sz="2800" spc="-10" dirty="0">
                <a:latin typeface="Segoe UI"/>
                <a:cs typeface="Segoe UI"/>
              </a:rPr>
              <a:t>sequence </a:t>
            </a:r>
            <a:r>
              <a:rPr sz="2800" spc="-25" dirty="0">
                <a:latin typeface="Segoe UI"/>
                <a:cs typeface="Segoe UI"/>
              </a:rPr>
              <a:t>of </a:t>
            </a:r>
            <a:r>
              <a:rPr sz="2800" spc="-5" dirty="0">
                <a:latin typeface="Segoe UI"/>
                <a:cs typeface="Segoe UI"/>
              </a:rPr>
              <a:t>examples</a:t>
            </a:r>
            <a:r>
              <a:rPr sz="2800" spc="45" dirty="0">
                <a:latin typeface="Segoe UI"/>
                <a:cs typeface="Segoe UI"/>
              </a:rPr>
              <a:t> </a:t>
            </a:r>
            <a:r>
              <a:rPr sz="2800" spc="-15" dirty="0">
                <a:latin typeface="Segoe UI"/>
                <a:cs typeface="Segoe UI"/>
              </a:rPr>
              <a:t>from</a:t>
            </a:r>
            <a:endParaRPr sz="2800">
              <a:latin typeface="Segoe UI"/>
              <a:cs typeface="Segoe UI"/>
            </a:endParaRPr>
          </a:p>
          <a:p>
            <a:pPr marL="756285" marR="483234">
              <a:lnSpc>
                <a:spcPct val="100000"/>
              </a:lnSpc>
            </a:pPr>
            <a:r>
              <a:rPr sz="2800" spc="30" dirty="0">
                <a:latin typeface="Cambria Math"/>
                <a:cs typeface="Cambria Math"/>
              </a:rPr>
              <a:t>𝒟</a:t>
            </a:r>
            <a:r>
              <a:rPr sz="2800" spc="30" dirty="0">
                <a:latin typeface="Segoe UI"/>
                <a:cs typeface="Segoe UI"/>
              </a:rPr>
              <a:t>, </a:t>
            </a:r>
            <a:r>
              <a:rPr sz="2800" spc="-5" dirty="0">
                <a:latin typeface="Segoe UI"/>
                <a:cs typeface="Segoe UI"/>
              </a:rPr>
              <a:t>the n-th draw is </a:t>
            </a:r>
            <a:r>
              <a:rPr sz="2800" spc="-10" dirty="0">
                <a:latin typeface="Segoe UI"/>
                <a:cs typeface="Segoe UI"/>
              </a:rPr>
              <a:t>independent </a:t>
            </a:r>
            <a:r>
              <a:rPr sz="2800" spc="-15" dirty="0">
                <a:latin typeface="Segoe UI"/>
                <a:cs typeface="Segoe UI"/>
              </a:rPr>
              <a:t>from </a:t>
            </a:r>
            <a:r>
              <a:rPr sz="2800" spc="-5" dirty="0">
                <a:latin typeface="Segoe UI"/>
                <a:cs typeface="Segoe UI"/>
              </a:rPr>
              <a:t>the  </a:t>
            </a:r>
            <a:r>
              <a:rPr sz="2800" spc="-10" dirty="0">
                <a:latin typeface="Segoe UI"/>
                <a:cs typeface="Segoe UI"/>
              </a:rPr>
              <a:t>previous </a:t>
            </a:r>
            <a:r>
              <a:rPr sz="2800" spc="-5" dirty="0">
                <a:latin typeface="Segoe UI"/>
                <a:cs typeface="Segoe UI"/>
              </a:rPr>
              <a:t>n-1</a:t>
            </a:r>
            <a:r>
              <a:rPr sz="2800" spc="1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sample</a:t>
            </a:r>
            <a:endParaRPr sz="2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0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This </a:t>
            </a:r>
            <a:r>
              <a:rPr sz="3200" spc="-5" dirty="0">
                <a:latin typeface="Segoe UI"/>
                <a:cs typeface="Segoe UI"/>
              </a:rPr>
              <a:t>assumption is </a:t>
            </a:r>
            <a:r>
              <a:rPr sz="3200" dirty="0">
                <a:latin typeface="Segoe UI"/>
                <a:cs typeface="Segoe UI"/>
              </a:rPr>
              <a:t>usually</a:t>
            </a:r>
            <a:r>
              <a:rPr sz="3200" spc="15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false!</a:t>
            </a:r>
            <a:endParaRPr sz="32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Segoe UI"/>
                <a:cs typeface="Segoe UI"/>
              </a:rPr>
              <a:t>But sufficiently </a:t>
            </a:r>
            <a:r>
              <a:rPr sz="2800" spc="-5" dirty="0">
                <a:latin typeface="Segoe UI"/>
                <a:cs typeface="Segoe UI"/>
              </a:rPr>
              <a:t>close </a:t>
            </a:r>
            <a:r>
              <a:rPr sz="2800" spc="-15" dirty="0">
                <a:latin typeface="Segoe UI"/>
                <a:cs typeface="Segoe UI"/>
              </a:rPr>
              <a:t>to </a:t>
            </a:r>
            <a:r>
              <a:rPr sz="2800" spc="-5" dirty="0">
                <a:latin typeface="Segoe UI"/>
                <a:cs typeface="Segoe UI"/>
              </a:rPr>
              <a:t>true </a:t>
            </a:r>
            <a:r>
              <a:rPr sz="2800" spc="-15" dirty="0">
                <a:latin typeface="Segoe UI"/>
                <a:cs typeface="Segoe UI"/>
              </a:rPr>
              <a:t>to </a:t>
            </a:r>
            <a:r>
              <a:rPr sz="2800" spc="-5" dirty="0">
                <a:latin typeface="Segoe UI"/>
                <a:cs typeface="Segoe UI"/>
              </a:rPr>
              <a:t>be</a:t>
            </a:r>
            <a:r>
              <a:rPr sz="2800" spc="2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useful</a:t>
            </a:r>
            <a:endParaRPr sz="2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2793619"/>
            <a:ext cx="747839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Segoe UI"/>
                <a:cs typeface="Segoe UI"/>
              </a:rPr>
              <a:t>How can </a:t>
            </a:r>
            <a:r>
              <a:rPr sz="3200" spc="-10" dirty="0">
                <a:latin typeface="Segoe UI"/>
                <a:cs typeface="Segoe UI"/>
              </a:rPr>
              <a:t>we </a:t>
            </a:r>
            <a:r>
              <a:rPr sz="3200" spc="-5" dirty="0">
                <a:latin typeface="Segoe UI"/>
                <a:cs typeface="Segoe UI"/>
              </a:rPr>
              <a:t>estimate </a:t>
            </a:r>
            <a:r>
              <a:rPr sz="3200" dirty="0">
                <a:latin typeface="Segoe UI"/>
                <a:cs typeface="Segoe UI"/>
              </a:rPr>
              <a:t>the </a:t>
            </a:r>
            <a:r>
              <a:rPr sz="3200" spc="-5" dirty="0">
                <a:latin typeface="Segoe UI"/>
                <a:cs typeface="Segoe UI"/>
              </a:rPr>
              <a:t>joint </a:t>
            </a:r>
            <a:r>
              <a:rPr sz="3200" spc="-10" dirty="0">
                <a:latin typeface="Segoe UI"/>
                <a:cs typeface="Segoe UI"/>
              </a:rPr>
              <a:t>probability  </a:t>
            </a:r>
            <a:r>
              <a:rPr sz="3200" dirty="0">
                <a:latin typeface="Segoe UI"/>
                <a:cs typeface="Segoe UI"/>
              </a:rPr>
              <a:t>distribution </a:t>
            </a:r>
            <a:r>
              <a:rPr sz="3200" spc="-5" dirty="0">
                <a:latin typeface="Segoe UI"/>
                <a:cs typeface="Segoe UI"/>
              </a:rPr>
              <a:t>from</a:t>
            </a:r>
            <a:r>
              <a:rPr sz="3200" spc="-35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data?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3866769"/>
            <a:ext cx="45224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latin typeface="Segoe UI"/>
                <a:cs typeface="Segoe UI"/>
              </a:rPr>
              <a:t>What </a:t>
            </a:r>
            <a:r>
              <a:rPr sz="3200" spc="-10" dirty="0">
                <a:latin typeface="Segoe UI"/>
                <a:cs typeface="Segoe UI"/>
              </a:rPr>
              <a:t>are </a:t>
            </a:r>
            <a:r>
              <a:rPr sz="3200" dirty="0">
                <a:latin typeface="Segoe UI"/>
                <a:cs typeface="Segoe UI"/>
              </a:rPr>
              <a:t>the</a:t>
            </a:r>
            <a:r>
              <a:rPr sz="3200" spc="-85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challenges?</a:t>
            </a:r>
            <a:endParaRPr sz="3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7562" y="483234"/>
            <a:ext cx="74104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Maximum Likelihood</a:t>
            </a:r>
            <a:r>
              <a:rPr spc="-90" dirty="0"/>
              <a:t> </a:t>
            </a:r>
            <a:r>
              <a:rPr dirty="0"/>
              <a:t>Estimation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208402"/>
            <a:ext cx="7275830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Find </a:t>
            </a:r>
            <a:r>
              <a:rPr sz="3200" dirty="0">
                <a:latin typeface="Segoe UI"/>
                <a:cs typeface="Segoe UI"/>
              </a:rPr>
              <a:t>the </a:t>
            </a:r>
            <a:r>
              <a:rPr sz="3200" spc="-5" dirty="0">
                <a:latin typeface="Segoe UI"/>
                <a:cs typeface="Segoe UI"/>
              </a:rPr>
              <a:t>parameters </a:t>
            </a:r>
            <a:r>
              <a:rPr sz="3200" dirty="0">
                <a:latin typeface="Segoe UI"/>
                <a:cs typeface="Segoe UI"/>
              </a:rPr>
              <a:t>that maximize the  </a:t>
            </a:r>
            <a:r>
              <a:rPr sz="3200" spc="-10" dirty="0">
                <a:latin typeface="Segoe UI"/>
                <a:cs typeface="Segoe UI"/>
              </a:rPr>
              <a:t>probability </a:t>
            </a:r>
            <a:r>
              <a:rPr sz="3200" spc="-40" dirty="0">
                <a:latin typeface="Segoe UI"/>
                <a:cs typeface="Segoe UI"/>
              </a:rPr>
              <a:t>of </a:t>
            </a:r>
            <a:r>
              <a:rPr sz="3200" spc="-5" dirty="0">
                <a:latin typeface="Segoe UI"/>
                <a:cs typeface="Segoe UI"/>
              </a:rPr>
              <a:t>the</a:t>
            </a:r>
            <a:r>
              <a:rPr sz="3200" spc="6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data</a:t>
            </a:r>
            <a:endParaRPr sz="3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84314" y="682930"/>
            <a:ext cx="1576070" cy="563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0" spc="45" dirty="0">
                <a:latin typeface="Calibri Light"/>
                <a:cs typeface="Calibri Light"/>
              </a:rPr>
              <a:t>E</a:t>
            </a:r>
            <a:r>
              <a:rPr sz="3500" spc="-25" dirty="0">
                <a:latin typeface="Calibri Light"/>
                <a:cs typeface="Calibri Light"/>
              </a:rPr>
              <a:t>x</a:t>
            </a:r>
            <a:r>
              <a:rPr sz="3500" spc="50" dirty="0">
                <a:latin typeface="Calibri Light"/>
                <a:cs typeface="Calibri Light"/>
              </a:rPr>
              <a:t>a</a:t>
            </a:r>
            <a:r>
              <a:rPr sz="3500" spc="65" dirty="0">
                <a:latin typeface="Calibri Light"/>
                <a:cs typeface="Calibri Light"/>
              </a:rPr>
              <a:t>mp</a:t>
            </a:r>
            <a:r>
              <a:rPr sz="3500" spc="25" dirty="0">
                <a:latin typeface="Calibri Light"/>
                <a:cs typeface="Calibri Light"/>
              </a:rPr>
              <a:t>l</a:t>
            </a:r>
            <a:r>
              <a:rPr sz="3500" spc="45" dirty="0">
                <a:latin typeface="Calibri Light"/>
                <a:cs typeface="Calibri Light"/>
              </a:rPr>
              <a:t>e</a:t>
            </a:r>
            <a:endParaRPr sz="35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6772" y="1776476"/>
            <a:ext cx="47148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3000" spc="-5" dirty="0">
                <a:latin typeface="Calibri"/>
                <a:cs typeface="Calibri"/>
              </a:rPr>
              <a:t>How </a:t>
            </a:r>
            <a:r>
              <a:rPr sz="3000" spc="-20" dirty="0">
                <a:latin typeface="Calibri"/>
                <a:cs typeface="Calibri"/>
              </a:rPr>
              <a:t>to </a:t>
            </a:r>
            <a:r>
              <a:rPr sz="3000" spc="-5" dirty="0">
                <a:latin typeface="Calibri"/>
                <a:cs typeface="Calibri"/>
              </a:rPr>
              <a:t>model </a:t>
            </a:r>
            <a:r>
              <a:rPr sz="3000" dirty="0">
                <a:latin typeface="Calibri"/>
                <a:cs typeface="Calibri"/>
              </a:rPr>
              <a:t>a </a:t>
            </a:r>
            <a:r>
              <a:rPr sz="3000" spc="-5" dirty="0">
                <a:latin typeface="Calibri"/>
                <a:cs typeface="Calibri"/>
              </a:rPr>
              <a:t>biased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coin?</a:t>
            </a:r>
            <a:endParaRPr sz="3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3884" y="192786"/>
            <a:ext cx="718502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Maximum Likelihood</a:t>
            </a:r>
            <a:r>
              <a:rPr spc="-100" dirty="0"/>
              <a:t> </a:t>
            </a:r>
            <a:r>
              <a:rPr dirty="0"/>
              <a:t>Estimates</a:t>
            </a:r>
          </a:p>
        </p:txBody>
      </p:sp>
      <p:sp>
        <p:nvSpPr>
          <p:cNvPr id="3" name="object 3"/>
          <p:cNvSpPr/>
          <p:nvPr/>
        </p:nvSpPr>
        <p:spPr>
          <a:xfrm>
            <a:off x="5705855" y="2383027"/>
            <a:ext cx="403860" cy="282575"/>
          </a:xfrm>
          <a:custGeom>
            <a:avLst/>
            <a:gdLst/>
            <a:ahLst/>
            <a:cxnLst/>
            <a:rect l="l" t="t" r="r" b="b"/>
            <a:pathLst>
              <a:path w="403860" h="282575">
                <a:moveTo>
                  <a:pt x="313690" y="0"/>
                </a:moveTo>
                <a:lnTo>
                  <a:pt x="309626" y="11430"/>
                </a:lnTo>
                <a:lnTo>
                  <a:pt x="325935" y="18522"/>
                </a:lnTo>
                <a:lnTo>
                  <a:pt x="339994" y="28352"/>
                </a:lnTo>
                <a:lnTo>
                  <a:pt x="368575" y="73852"/>
                </a:lnTo>
                <a:lnTo>
                  <a:pt x="376906" y="115623"/>
                </a:lnTo>
                <a:lnTo>
                  <a:pt x="377952" y="139700"/>
                </a:lnTo>
                <a:lnTo>
                  <a:pt x="376904" y="164633"/>
                </a:lnTo>
                <a:lnTo>
                  <a:pt x="368522" y="207547"/>
                </a:lnTo>
                <a:lnTo>
                  <a:pt x="340026" y="253841"/>
                </a:lnTo>
                <a:lnTo>
                  <a:pt x="310007" y="270891"/>
                </a:lnTo>
                <a:lnTo>
                  <a:pt x="313690" y="282321"/>
                </a:lnTo>
                <a:lnTo>
                  <a:pt x="352139" y="264239"/>
                </a:lnTo>
                <a:lnTo>
                  <a:pt x="380492" y="232918"/>
                </a:lnTo>
                <a:lnTo>
                  <a:pt x="397859" y="191119"/>
                </a:lnTo>
                <a:lnTo>
                  <a:pt x="403606" y="141224"/>
                </a:lnTo>
                <a:lnTo>
                  <a:pt x="402153" y="115341"/>
                </a:lnTo>
                <a:lnTo>
                  <a:pt x="390532" y="69482"/>
                </a:lnTo>
                <a:lnTo>
                  <a:pt x="367482" y="32146"/>
                </a:lnTo>
                <a:lnTo>
                  <a:pt x="334144" y="7381"/>
                </a:lnTo>
                <a:lnTo>
                  <a:pt x="313690" y="0"/>
                </a:lnTo>
                <a:close/>
              </a:path>
              <a:path w="403860" h="282575">
                <a:moveTo>
                  <a:pt x="90043" y="0"/>
                </a:moveTo>
                <a:lnTo>
                  <a:pt x="51657" y="18097"/>
                </a:lnTo>
                <a:lnTo>
                  <a:pt x="23368" y="49530"/>
                </a:lnTo>
                <a:lnTo>
                  <a:pt x="5826" y="91424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71"/>
                </a:lnTo>
                <a:lnTo>
                  <a:pt x="63690" y="253841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31489" y="1364996"/>
            <a:ext cx="5669280" cy="3049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 marR="1778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Segoe UI"/>
                <a:cs typeface="Segoe UI"/>
              </a:rPr>
              <a:t>Each coin flip yields a Boolean </a:t>
            </a:r>
            <a:r>
              <a:rPr sz="2800" spc="-15" dirty="0">
                <a:latin typeface="Segoe UI"/>
                <a:cs typeface="Segoe UI"/>
              </a:rPr>
              <a:t>value  </a:t>
            </a:r>
            <a:r>
              <a:rPr sz="2800" spc="-5" dirty="0">
                <a:latin typeface="Segoe UI"/>
                <a:cs typeface="Segoe UI"/>
              </a:rPr>
              <a:t>for</a:t>
            </a:r>
            <a:r>
              <a:rPr sz="2800" spc="-1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X</a:t>
            </a:r>
            <a:endParaRPr sz="2800" dirty="0">
              <a:latin typeface="Segoe UI"/>
              <a:cs typeface="Segoe UI"/>
            </a:endParaRPr>
          </a:p>
          <a:p>
            <a:pPr marL="482600">
              <a:lnSpc>
                <a:spcPct val="100000"/>
              </a:lnSpc>
              <a:spcBef>
                <a:spcPts val="595"/>
              </a:spcBef>
              <a:tabLst>
                <a:tab pos="2774315" algn="l"/>
                <a:tab pos="3190875" algn="l"/>
                <a:tab pos="3568700" algn="l"/>
                <a:tab pos="4363085" algn="l"/>
              </a:tabLst>
            </a:pPr>
            <a:r>
              <a:rPr sz="2400" dirty="0">
                <a:latin typeface="Segoe UI"/>
                <a:cs typeface="Segoe UI"/>
              </a:rPr>
              <a:t>X ~</a:t>
            </a:r>
            <a:r>
              <a:rPr sz="2400" spc="10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Bernouilli:</a:t>
            </a:r>
            <a:r>
              <a:rPr sz="2400" spc="50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𝑃	𝑋	=	</a:t>
            </a:r>
            <a:r>
              <a:rPr sz="2400" spc="95" dirty="0">
                <a:latin typeface="Cambria Math"/>
                <a:cs typeface="Cambria Math"/>
              </a:rPr>
              <a:t>𝜃</a:t>
            </a:r>
            <a:r>
              <a:rPr sz="2625" spc="142" baseline="28571" dirty="0">
                <a:latin typeface="Cambria Math"/>
                <a:cs typeface="Cambria Math"/>
              </a:rPr>
              <a:t>𝑋</a:t>
            </a:r>
            <a:r>
              <a:rPr sz="2400" spc="95" dirty="0">
                <a:latin typeface="Cambria Math"/>
                <a:cs typeface="Cambria Math"/>
              </a:rPr>
              <a:t>(1	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spc="70" dirty="0">
                <a:latin typeface="Cambria Math"/>
                <a:cs typeface="Cambria Math"/>
              </a:rPr>
              <a:t>𝜃)</a:t>
            </a:r>
            <a:r>
              <a:rPr lang="en-US" sz="2625" spc="142" baseline="28571" dirty="0">
                <a:latin typeface="Cambria Math"/>
                <a:cs typeface="Cambria Math"/>
              </a:rPr>
              <a:t>1-</a:t>
            </a:r>
            <a:r>
              <a:rPr sz="2625" spc="104" baseline="28571" dirty="0">
                <a:latin typeface="Cambria Math"/>
                <a:cs typeface="Cambria Math"/>
              </a:rPr>
              <a:t>𝑋</a:t>
            </a:r>
            <a:endParaRPr sz="2625" baseline="28571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000" dirty="0">
              <a:latin typeface="Cambria Math"/>
              <a:cs typeface="Cambria Math"/>
            </a:endParaRPr>
          </a:p>
          <a:p>
            <a:pPr marL="25400" marR="73025">
              <a:lnSpc>
                <a:spcPct val="100000"/>
              </a:lnSpc>
            </a:pPr>
            <a:r>
              <a:rPr sz="2800" spc="-10" dirty="0">
                <a:latin typeface="Segoe UI"/>
                <a:cs typeface="Segoe UI"/>
              </a:rPr>
              <a:t>Given </a:t>
            </a:r>
            <a:r>
              <a:rPr sz="2800" spc="-5" dirty="0">
                <a:latin typeface="Segoe UI"/>
                <a:cs typeface="Segoe UI"/>
              </a:rPr>
              <a:t>a data set D </a:t>
            </a:r>
            <a:r>
              <a:rPr sz="2800" spc="-25" dirty="0">
                <a:latin typeface="Segoe UI"/>
                <a:cs typeface="Segoe UI"/>
              </a:rPr>
              <a:t>of </a:t>
            </a:r>
            <a:r>
              <a:rPr sz="2800" spc="-10" dirty="0">
                <a:latin typeface="Segoe UI"/>
                <a:cs typeface="Segoe UI"/>
              </a:rPr>
              <a:t>iid </a:t>
            </a:r>
            <a:r>
              <a:rPr sz="2800" spc="-5" dirty="0">
                <a:latin typeface="Segoe UI"/>
                <a:cs typeface="Segoe UI"/>
              </a:rPr>
              <a:t>flips, which  contains </a:t>
            </a:r>
            <a:r>
              <a:rPr sz="2800" spc="-10" dirty="0">
                <a:latin typeface="Cambria Math"/>
                <a:cs typeface="Cambria Math"/>
              </a:rPr>
              <a:t>𝛼</a:t>
            </a:r>
            <a:r>
              <a:rPr sz="3075" spc="-15" baseline="-16260" dirty="0">
                <a:latin typeface="Cambria Math"/>
                <a:cs typeface="Cambria Math"/>
              </a:rPr>
              <a:t>1 </a:t>
            </a:r>
            <a:r>
              <a:rPr sz="2800" spc="-5" dirty="0">
                <a:latin typeface="Segoe UI"/>
                <a:cs typeface="Segoe UI"/>
              </a:rPr>
              <a:t>ones and </a:t>
            </a:r>
            <a:r>
              <a:rPr sz="2800" spc="20" dirty="0">
                <a:latin typeface="Cambria Math"/>
                <a:cs typeface="Cambria Math"/>
              </a:rPr>
              <a:t>𝛼</a:t>
            </a:r>
            <a:r>
              <a:rPr sz="3075" spc="30" baseline="-16260" dirty="0">
                <a:latin typeface="Cambria Math"/>
                <a:cs typeface="Cambria Math"/>
              </a:rPr>
              <a:t>0</a:t>
            </a:r>
            <a:r>
              <a:rPr sz="3075" spc="592" baseline="-16260" dirty="0">
                <a:latin typeface="Cambria Math"/>
                <a:cs typeface="Cambria Math"/>
              </a:rPr>
              <a:t> </a:t>
            </a:r>
            <a:r>
              <a:rPr sz="2800" spc="-15" dirty="0">
                <a:latin typeface="Segoe UI"/>
                <a:cs typeface="Segoe UI"/>
              </a:rPr>
              <a:t>zeros</a:t>
            </a:r>
            <a:endParaRPr sz="2800" dirty="0">
              <a:latin typeface="Segoe UI"/>
              <a:cs typeface="Segoe UI"/>
            </a:endParaRPr>
          </a:p>
          <a:p>
            <a:pPr marL="459740" algn="ctr">
              <a:lnSpc>
                <a:spcPct val="100000"/>
              </a:lnSpc>
              <a:spcBef>
                <a:spcPts val="5"/>
              </a:spcBef>
              <a:tabLst>
                <a:tab pos="2927985" algn="l"/>
              </a:tabLst>
            </a:pPr>
            <a:r>
              <a:rPr sz="2800" spc="75" dirty="0">
                <a:latin typeface="Cambria Math"/>
                <a:cs typeface="Cambria Math"/>
              </a:rPr>
              <a:t>𝑃</a:t>
            </a:r>
            <a:r>
              <a:rPr sz="3075" spc="112" baseline="-16260" dirty="0">
                <a:latin typeface="Cambria Math"/>
                <a:cs typeface="Cambria Math"/>
              </a:rPr>
              <a:t>𝜃</a:t>
            </a:r>
            <a:r>
              <a:rPr sz="2800" spc="75" dirty="0">
                <a:latin typeface="Cambria Math"/>
                <a:cs typeface="Cambria Math"/>
              </a:rPr>
              <a:t>(𝐷) </a:t>
            </a:r>
            <a:r>
              <a:rPr sz="2800" spc="-5" dirty="0">
                <a:latin typeface="Cambria Math"/>
                <a:cs typeface="Cambria Math"/>
              </a:rPr>
              <a:t>=</a:t>
            </a:r>
            <a:r>
              <a:rPr sz="2800" spc="265" dirty="0">
                <a:latin typeface="Cambria Math"/>
                <a:cs typeface="Cambria Math"/>
              </a:rPr>
              <a:t> </a:t>
            </a:r>
            <a:r>
              <a:rPr sz="2800" spc="114" dirty="0">
                <a:latin typeface="Cambria Math"/>
                <a:cs typeface="Cambria Math"/>
              </a:rPr>
              <a:t>𝜃</a:t>
            </a:r>
            <a:r>
              <a:rPr sz="3075" spc="172" baseline="27100" dirty="0">
                <a:latin typeface="Cambria Math"/>
                <a:cs typeface="Cambria Math"/>
              </a:rPr>
              <a:t>𝛼</a:t>
            </a:r>
            <a:r>
              <a:rPr sz="2475" spc="172" baseline="20202" dirty="0">
                <a:latin typeface="Cambria Math"/>
                <a:cs typeface="Cambria Math"/>
              </a:rPr>
              <a:t>1</a:t>
            </a:r>
            <a:r>
              <a:rPr sz="2475" spc="-247" baseline="20202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(1	−</a:t>
            </a:r>
            <a:r>
              <a:rPr sz="2800" dirty="0">
                <a:latin typeface="Cambria Math"/>
                <a:cs typeface="Cambria Math"/>
              </a:rPr>
              <a:t> </a:t>
            </a:r>
            <a:r>
              <a:rPr sz="2800" spc="70" dirty="0">
                <a:latin typeface="Cambria Math"/>
                <a:cs typeface="Cambria Math"/>
              </a:rPr>
              <a:t>𝜃)</a:t>
            </a:r>
            <a:r>
              <a:rPr sz="3075" spc="104" baseline="27100" dirty="0">
                <a:latin typeface="Cambria Math"/>
                <a:cs typeface="Cambria Math"/>
              </a:rPr>
              <a:t>𝛼</a:t>
            </a:r>
            <a:r>
              <a:rPr sz="2475" spc="104" baseline="20202" dirty="0">
                <a:latin typeface="Cambria Math"/>
                <a:cs typeface="Cambria Math"/>
              </a:rPr>
              <a:t>0</a:t>
            </a:r>
            <a:endParaRPr sz="2475" baseline="20202" dirty="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05302" y="4971110"/>
            <a:ext cx="257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200" spc="-1470" baseline="-11904" dirty="0">
                <a:latin typeface="Cambria Math"/>
                <a:cs typeface="Cambria Math"/>
              </a:rPr>
              <a:t>𝜃</a:t>
            </a:r>
            <a:r>
              <a:rPr sz="2800" spc="204" dirty="0">
                <a:latin typeface="Cambria Math"/>
                <a:cs typeface="Cambria Math"/>
              </a:rPr>
              <a:t> 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18153" y="5214950"/>
            <a:ext cx="56197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50" dirty="0">
                <a:latin typeface="Cambria Math"/>
                <a:cs typeface="Cambria Math"/>
              </a:rPr>
              <a:t>𝑀𝐿𝐸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641465" y="5147055"/>
            <a:ext cx="488950" cy="328930"/>
          </a:xfrm>
          <a:custGeom>
            <a:avLst/>
            <a:gdLst/>
            <a:ahLst/>
            <a:cxnLst/>
            <a:rect l="l" t="t" r="r" b="b"/>
            <a:pathLst>
              <a:path w="488950" h="328929">
                <a:moveTo>
                  <a:pt x="383920" y="0"/>
                </a:moveTo>
                <a:lnTo>
                  <a:pt x="379221" y="13462"/>
                </a:lnTo>
                <a:lnTo>
                  <a:pt x="398272" y="21705"/>
                </a:lnTo>
                <a:lnTo>
                  <a:pt x="414654" y="33115"/>
                </a:lnTo>
                <a:lnTo>
                  <a:pt x="439419" y="65532"/>
                </a:lnTo>
                <a:lnTo>
                  <a:pt x="453993" y="109220"/>
                </a:lnTo>
                <a:lnTo>
                  <a:pt x="458850" y="162814"/>
                </a:lnTo>
                <a:lnTo>
                  <a:pt x="457634" y="191863"/>
                </a:lnTo>
                <a:lnTo>
                  <a:pt x="447867" y="241913"/>
                </a:lnTo>
                <a:lnTo>
                  <a:pt x="428289" y="280965"/>
                </a:lnTo>
                <a:lnTo>
                  <a:pt x="398520" y="307306"/>
                </a:lnTo>
                <a:lnTo>
                  <a:pt x="379729" y="315595"/>
                </a:lnTo>
                <a:lnTo>
                  <a:pt x="383920" y="328930"/>
                </a:lnTo>
                <a:lnTo>
                  <a:pt x="428799" y="307895"/>
                </a:lnTo>
                <a:lnTo>
                  <a:pt x="461771" y="271526"/>
                </a:lnTo>
                <a:lnTo>
                  <a:pt x="482060" y="222726"/>
                </a:lnTo>
                <a:lnTo>
                  <a:pt x="488823" y="164592"/>
                </a:lnTo>
                <a:lnTo>
                  <a:pt x="487130" y="134471"/>
                </a:lnTo>
                <a:lnTo>
                  <a:pt x="473553" y="80992"/>
                </a:lnTo>
                <a:lnTo>
                  <a:pt x="446643" y="37486"/>
                </a:lnTo>
                <a:lnTo>
                  <a:pt x="407781" y="8669"/>
                </a:lnTo>
                <a:lnTo>
                  <a:pt x="383920" y="0"/>
                </a:lnTo>
                <a:close/>
              </a:path>
              <a:path w="488950" h="328929">
                <a:moveTo>
                  <a:pt x="104901" y="0"/>
                </a:moveTo>
                <a:lnTo>
                  <a:pt x="60134" y="21161"/>
                </a:lnTo>
                <a:lnTo>
                  <a:pt x="27177" y="57658"/>
                </a:lnTo>
                <a:lnTo>
                  <a:pt x="6778" y="106600"/>
                </a:lnTo>
                <a:lnTo>
                  <a:pt x="0" y="164592"/>
                </a:lnTo>
                <a:lnTo>
                  <a:pt x="1690" y="194837"/>
                </a:lnTo>
                <a:lnTo>
                  <a:pt x="15216" y="248281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30"/>
                </a:lnTo>
                <a:lnTo>
                  <a:pt x="109092" y="315595"/>
                </a:lnTo>
                <a:lnTo>
                  <a:pt x="90356" y="307306"/>
                </a:lnTo>
                <a:lnTo>
                  <a:pt x="74168" y="295767"/>
                </a:lnTo>
                <a:lnTo>
                  <a:pt x="49529" y="262890"/>
                </a:lnTo>
                <a:lnTo>
                  <a:pt x="34845" y="218233"/>
                </a:lnTo>
                <a:lnTo>
                  <a:pt x="29971" y="162814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716"/>
                </a:lnTo>
                <a:lnTo>
                  <a:pt x="90624" y="21705"/>
                </a:lnTo>
                <a:lnTo>
                  <a:pt x="109600" y="13462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139946" y="5045786"/>
            <a:ext cx="34258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492759" algn="l"/>
                <a:tab pos="2062480" algn="l"/>
                <a:tab pos="2618740" algn="l"/>
                <a:tab pos="3121660" algn="l"/>
              </a:tabLst>
            </a:pPr>
            <a:r>
              <a:rPr sz="2800" spc="-5" dirty="0">
                <a:latin typeface="Cambria Math"/>
                <a:cs typeface="Cambria Math"/>
              </a:rPr>
              <a:t>=	</a:t>
            </a:r>
            <a:r>
              <a:rPr sz="2800" spc="10" dirty="0">
                <a:latin typeface="Cambria Math"/>
                <a:cs typeface="Cambria Math"/>
              </a:rPr>
              <a:t>𝑎𝑟𝑔𝑚𝑎𝑥</a:t>
            </a:r>
            <a:r>
              <a:rPr sz="3075" spc="15" baseline="-16260" dirty="0">
                <a:latin typeface="Cambria Math"/>
                <a:cs typeface="Cambria Math"/>
              </a:rPr>
              <a:t>𝜃	</a:t>
            </a:r>
            <a:r>
              <a:rPr sz="2800" spc="60" dirty="0">
                <a:latin typeface="Cambria Math"/>
                <a:cs typeface="Cambria Math"/>
              </a:rPr>
              <a:t>𝑃</a:t>
            </a:r>
            <a:r>
              <a:rPr sz="3075" spc="89" baseline="-16260" dirty="0">
                <a:latin typeface="Cambria Math"/>
                <a:cs typeface="Cambria Math"/>
              </a:rPr>
              <a:t>𝜃	</a:t>
            </a:r>
            <a:r>
              <a:rPr sz="2800" spc="-5" dirty="0">
                <a:latin typeface="Cambria Math"/>
                <a:cs typeface="Cambria Math"/>
              </a:rPr>
              <a:t>𝐷	=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02931" y="5300090"/>
            <a:ext cx="1172210" cy="22860"/>
          </a:xfrm>
          <a:custGeom>
            <a:avLst/>
            <a:gdLst/>
            <a:ahLst/>
            <a:cxnLst/>
            <a:rect l="l" t="t" r="r" b="b"/>
            <a:pathLst>
              <a:path w="1172209" h="22860">
                <a:moveTo>
                  <a:pt x="1171955" y="0"/>
                </a:moveTo>
                <a:lnTo>
                  <a:pt x="0" y="0"/>
                </a:lnTo>
                <a:lnTo>
                  <a:pt x="0" y="22860"/>
                </a:lnTo>
                <a:lnTo>
                  <a:pt x="1171955" y="22860"/>
                </a:lnTo>
                <a:lnTo>
                  <a:pt x="11719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066785" y="4777866"/>
            <a:ext cx="43243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mbria Math"/>
                <a:cs typeface="Cambria Math"/>
              </a:rPr>
              <a:t>𝛼</a:t>
            </a:r>
            <a:r>
              <a:rPr sz="3075" spc="-15" baseline="-16260" dirty="0">
                <a:latin typeface="Cambria Math"/>
                <a:cs typeface="Cambria Math"/>
              </a:rPr>
              <a:t>1</a:t>
            </a:r>
            <a:endParaRPr sz="3075" baseline="-1626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65973" y="5284114"/>
            <a:ext cx="12325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mbria Math"/>
                <a:cs typeface="Cambria Math"/>
              </a:rPr>
              <a:t>𝛼</a:t>
            </a:r>
            <a:r>
              <a:rPr sz="3075" spc="-15" baseline="-16260" dirty="0">
                <a:latin typeface="Cambria Math"/>
                <a:cs typeface="Cambria Math"/>
              </a:rPr>
              <a:t>1 </a:t>
            </a:r>
            <a:r>
              <a:rPr sz="2800" spc="-5" dirty="0">
                <a:latin typeface="Cambria Math"/>
                <a:cs typeface="Cambria Math"/>
              </a:rPr>
              <a:t>+</a:t>
            </a:r>
            <a:r>
              <a:rPr sz="2800" spc="-229" dirty="0">
                <a:latin typeface="Cambria Math"/>
                <a:cs typeface="Cambria Math"/>
              </a:rPr>
              <a:t> </a:t>
            </a:r>
            <a:r>
              <a:rPr sz="2800" spc="20" dirty="0">
                <a:latin typeface="Cambria Math"/>
                <a:cs typeface="Cambria Math"/>
              </a:rPr>
              <a:t>𝛼</a:t>
            </a:r>
            <a:r>
              <a:rPr sz="3075" spc="30" baseline="-16260" dirty="0">
                <a:latin typeface="Cambria Math"/>
                <a:cs typeface="Cambria Math"/>
              </a:rPr>
              <a:t>0</a:t>
            </a:r>
            <a:endParaRPr sz="3075" baseline="-16260">
              <a:latin typeface="Cambria Math"/>
              <a:cs typeface="Cambria Math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4946" y="1414405"/>
            <a:ext cx="2384569" cy="267281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84314" y="682930"/>
            <a:ext cx="1576070" cy="563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0" spc="45" dirty="0">
                <a:latin typeface="Calibri Light"/>
                <a:cs typeface="Calibri Light"/>
              </a:rPr>
              <a:t>E</a:t>
            </a:r>
            <a:r>
              <a:rPr sz="3500" spc="-25" dirty="0">
                <a:latin typeface="Calibri Light"/>
                <a:cs typeface="Calibri Light"/>
              </a:rPr>
              <a:t>x</a:t>
            </a:r>
            <a:r>
              <a:rPr sz="3500" spc="50" dirty="0">
                <a:latin typeface="Calibri Light"/>
                <a:cs typeface="Calibri Light"/>
              </a:rPr>
              <a:t>a</a:t>
            </a:r>
            <a:r>
              <a:rPr sz="3500" spc="65" dirty="0">
                <a:latin typeface="Calibri Light"/>
                <a:cs typeface="Calibri Light"/>
              </a:rPr>
              <a:t>mp</a:t>
            </a:r>
            <a:r>
              <a:rPr sz="3500" spc="25" dirty="0">
                <a:latin typeface="Calibri Light"/>
                <a:cs typeface="Calibri Light"/>
              </a:rPr>
              <a:t>l</a:t>
            </a:r>
            <a:r>
              <a:rPr sz="3500" spc="45" dirty="0">
                <a:latin typeface="Calibri Light"/>
                <a:cs typeface="Calibri Light"/>
              </a:rPr>
              <a:t>e</a:t>
            </a:r>
            <a:endParaRPr sz="35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6772" y="1776476"/>
            <a:ext cx="46374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3000" spc="-5" dirty="0">
                <a:latin typeface="Calibri"/>
                <a:cs typeface="Calibri"/>
              </a:rPr>
              <a:t>How </a:t>
            </a:r>
            <a:r>
              <a:rPr sz="3000" spc="-20" dirty="0">
                <a:latin typeface="Calibri"/>
                <a:cs typeface="Calibri"/>
              </a:rPr>
              <a:t>to </a:t>
            </a:r>
            <a:r>
              <a:rPr sz="3000" spc="-5" dirty="0">
                <a:latin typeface="Calibri"/>
                <a:cs typeface="Calibri"/>
              </a:rPr>
              <a:t>model </a:t>
            </a:r>
            <a:r>
              <a:rPr sz="3000" dirty="0">
                <a:latin typeface="Calibri"/>
                <a:cs typeface="Calibri"/>
              </a:rPr>
              <a:t>a </a:t>
            </a:r>
            <a:r>
              <a:rPr sz="3000" spc="-25" dirty="0">
                <a:latin typeface="Calibri"/>
                <a:cs typeface="Calibri"/>
              </a:rPr>
              <a:t>k-sided </a:t>
            </a:r>
            <a:r>
              <a:rPr sz="3000" spc="-5" dirty="0">
                <a:latin typeface="Calibri"/>
                <a:cs typeface="Calibri"/>
              </a:rPr>
              <a:t>die?</a:t>
            </a:r>
            <a:endParaRPr sz="3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3884" y="192786"/>
            <a:ext cx="718502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Maximum Likelihood</a:t>
            </a:r>
            <a:r>
              <a:rPr spc="-100" dirty="0"/>
              <a:t> </a:t>
            </a:r>
            <a:r>
              <a:rPr dirty="0"/>
              <a:t>Estimates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4189" y="1364996"/>
            <a:ext cx="5634990" cy="1756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01625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Segoe UI"/>
                <a:cs typeface="Segoe UI"/>
              </a:rPr>
              <a:t>K-sided </a:t>
            </a:r>
            <a:r>
              <a:rPr sz="2800" spc="-5" dirty="0">
                <a:latin typeface="Segoe UI"/>
                <a:cs typeface="Segoe UI"/>
              </a:rPr>
              <a:t>die: each die </a:t>
            </a:r>
            <a:r>
              <a:rPr sz="2800" spc="-15" dirty="0">
                <a:latin typeface="Segoe UI"/>
                <a:cs typeface="Segoe UI"/>
              </a:rPr>
              <a:t>roll </a:t>
            </a:r>
            <a:r>
              <a:rPr sz="2800" spc="-5" dirty="0">
                <a:latin typeface="Segoe UI"/>
                <a:cs typeface="Segoe UI"/>
              </a:rPr>
              <a:t>yields an  </a:t>
            </a:r>
            <a:r>
              <a:rPr sz="2800" spc="-10" dirty="0">
                <a:latin typeface="Segoe UI"/>
                <a:cs typeface="Segoe UI"/>
              </a:rPr>
              <a:t>integer </a:t>
            </a:r>
            <a:r>
              <a:rPr sz="2800" spc="-5" dirty="0">
                <a:latin typeface="Segoe UI"/>
                <a:cs typeface="Segoe UI"/>
              </a:rPr>
              <a:t>between 1 and</a:t>
            </a:r>
            <a:r>
              <a:rPr sz="2800" spc="2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K</a:t>
            </a:r>
            <a:endParaRPr sz="2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6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latin typeface="Segoe UI"/>
                <a:cs typeface="Segoe UI"/>
              </a:rPr>
              <a:t>Given </a:t>
            </a:r>
            <a:r>
              <a:rPr sz="2800" spc="-5" dirty="0">
                <a:latin typeface="Segoe UI"/>
                <a:cs typeface="Segoe UI"/>
              </a:rPr>
              <a:t>a data set D </a:t>
            </a:r>
            <a:r>
              <a:rPr sz="2800" spc="-25" dirty="0">
                <a:latin typeface="Segoe UI"/>
                <a:cs typeface="Segoe UI"/>
              </a:rPr>
              <a:t>of </a:t>
            </a:r>
            <a:r>
              <a:rPr sz="2800" spc="-10" dirty="0">
                <a:latin typeface="Segoe UI"/>
                <a:cs typeface="Segoe UI"/>
              </a:rPr>
              <a:t>iid rolls, where</a:t>
            </a:r>
            <a:endParaRPr sz="28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44189" y="3096513"/>
            <a:ext cx="8667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Segoe UI"/>
                <a:cs typeface="Segoe UI"/>
              </a:rPr>
              <a:t>side</a:t>
            </a:r>
            <a:r>
              <a:rPr sz="2800" spc="-70" dirty="0">
                <a:latin typeface="Segoe UI"/>
                <a:cs typeface="Segoe UI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37252" y="4213986"/>
            <a:ext cx="18986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245" dirty="0">
                <a:latin typeface="Cambria Math"/>
                <a:cs typeface="Cambria Math"/>
              </a:rPr>
              <a:t>𝜃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15657" y="4258183"/>
            <a:ext cx="116839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204" dirty="0">
                <a:latin typeface="Cambria Math"/>
                <a:cs typeface="Cambria Math"/>
              </a:rPr>
              <a:t>𝑖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10558" y="2974529"/>
            <a:ext cx="3284220" cy="131254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5"/>
              </a:spcBef>
            </a:pPr>
            <a:r>
              <a:rPr sz="2800" spc="-5" dirty="0">
                <a:latin typeface="Segoe UI"/>
                <a:cs typeface="Segoe UI"/>
              </a:rPr>
              <a:t>is </a:t>
            </a:r>
            <a:r>
              <a:rPr sz="2800" spc="10" dirty="0">
                <a:latin typeface="Segoe UI"/>
                <a:cs typeface="Segoe UI"/>
              </a:rPr>
              <a:t>observed </a:t>
            </a:r>
            <a:r>
              <a:rPr sz="2800" spc="15" dirty="0">
                <a:latin typeface="Cambria Math"/>
                <a:cs typeface="Cambria Math"/>
              </a:rPr>
              <a:t>𝑥</a:t>
            </a:r>
            <a:r>
              <a:rPr sz="3075" spc="22" baseline="-16260" dirty="0">
                <a:latin typeface="Cambria Math"/>
                <a:cs typeface="Cambria Math"/>
              </a:rPr>
              <a:t>𝑖</a:t>
            </a:r>
            <a:r>
              <a:rPr sz="3075" spc="615" baseline="-1626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Segoe UI"/>
                <a:cs typeface="Segoe UI"/>
              </a:rPr>
              <a:t>times:</a:t>
            </a:r>
            <a:endParaRPr sz="2800" dirty="0">
              <a:latin typeface="Segoe UI"/>
              <a:cs typeface="Segoe UI"/>
            </a:endParaRPr>
          </a:p>
          <a:p>
            <a:pPr marL="2113915">
              <a:lnSpc>
                <a:spcPct val="100000"/>
              </a:lnSpc>
              <a:spcBef>
                <a:spcPts val="690"/>
              </a:spcBef>
            </a:pPr>
            <a:endParaRPr sz="2050" dirty="0">
              <a:latin typeface="Cambria Math"/>
              <a:cs typeface="Cambria Math"/>
            </a:endParaRPr>
          </a:p>
          <a:p>
            <a:pPr marL="2764790">
              <a:lnSpc>
                <a:spcPct val="100000"/>
              </a:lnSpc>
              <a:spcBef>
                <a:spcPts val="204"/>
              </a:spcBef>
            </a:pPr>
            <a:endParaRPr sz="2050" dirty="0">
              <a:latin typeface="Cambria Math"/>
              <a:cs typeface="Cambria Math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05968" y="1040891"/>
            <a:ext cx="2063750" cy="2504440"/>
            <a:chOff x="505968" y="1040891"/>
            <a:chExt cx="2063750" cy="250444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0346" y="1121700"/>
              <a:ext cx="1861298" cy="242312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8922" y="1053845"/>
              <a:ext cx="2037714" cy="1080770"/>
            </a:xfrm>
            <a:custGeom>
              <a:avLst/>
              <a:gdLst/>
              <a:ahLst/>
              <a:cxnLst/>
              <a:rect l="l" t="t" r="r" b="b"/>
              <a:pathLst>
                <a:path w="2037714" h="1080770">
                  <a:moveTo>
                    <a:pt x="2037588" y="0"/>
                  </a:moveTo>
                  <a:lnTo>
                    <a:pt x="0" y="0"/>
                  </a:lnTo>
                  <a:lnTo>
                    <a:pt x="0" y="1080515"/>
                  </a:lnTo>
                  <a:lnTo>
                    <a:pt x="2037588" y="1080515"/>
                  </a:lnTo>
                  <a:lnTo>
                    <a:pt x="20375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18922" y="1053845"/>
              <a:ext cx="2037714" cy="1080770"/>
            </a:xfrm>
            <a:custGeom>
              <a:avLst/>
              <a:gdLst/>
              <a:ahLst/>
              <a:cxnLst/>
              <a:rect l="l" t="t" r="r" b="b"/>
              <a:pathLst>
                <a:path w="2037714" h="1080770">
                  <a:moveTo>
                    <a:pt x="0" y="1080515"/>
                  </a:moveTo>
                  <a:lnTo>
                    <a:pt x="2037588" y="1080515"/>
                  </a:lnTo>
                  <a:lnTo>
                    <a:pt x="2037588" y="0"/>
                  </a:lnTo>
                  <a:lnTo>
                    <a:pt x="0" y="0"/>
                  </a:lnTo>
                  <a:lnTo>
                    <a:pt x="0" y="108051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B0EBB9A9-86FC-452B-9F16-ED57AC0A6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3826565"/>
            <a:ext cx="2902226" cy="280283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8D24A3D-84D0-4C0A-AAD2-947115C6451A}"/>
              </a:ext>
            </a:extLst>
          </p:cNvPr>
          <p:cNvSpPr txBox="1"/>
          <p:nvPr/>
        </p:nvSpPr>
        <p:spPr>
          <a:xfrm>
            <a:off x="2514600" y="4262735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Segoe UI"/>
                <a:cs typeface="Segoe UI"/>
              </a:rPr>
              <a:t>X ~</a:t>
            </a:r>
            <a:r>
              <a:rPr lang="en-US" sz="2400" spc="10" dirty="0">
                <a:latin typeface="Segoe UI"/>
                <a:cs typeface="Segoe UI"/>
              </a:rPr>
              <a:t> </a:t>
            </a:r>
            <a:r>
              <a:rPr lang="en-US" sz="2400" spc="-5" dirty="0">
                <a:latin typeface="Segoe UI"/>
                <a:cs typeface="Segoe UI"/>
              </a:rPr>
              <a:t>Discrete:</a:t>
            </a:r>
            <a:r>
              <a:rPr lang="en-US" sz="2400" spc="50" dirty="0">
                <a:latin typeface="Segoe UI"/>
                <a:cs typeface="Segoe UI"/>
              </a:rPr>
              <a:t> 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1769" y="483234"/>
            <a:ext cx="52209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What </a:t>
            </a:r>
            <a:r>
              <a:rPr dirty="0"/>
              <a:t>we </a:t>
            </a:r>
            <a:r>
              <a:rPr spc="-5" dirty="0"/>
              <a:t>know so</a:t>
            </a:r>
            <a:r>
              <a:rPr spc="-95" dirty="0"/>
              <a:t> </a:t>
            </a:r>
            <a:r>
              <a:rPr spc="-145" dirty="0"/>
              <a:t>far…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4329"/>
            <a:ext cx="7741284" cy="4356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Segoe UI"/>
                <a:cs typeface="Segoe UI"/>
              </a:rPr>
              <a:t>Bayes</a:t>
            </a:r>
            <a:r>
              <a:rPr sz="2800" spc="-2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rule</a:t>
            </a:r>
            <a:endParaRPr sz="2800" dirty="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32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Segoe UI"/>
                <a:cs typeface="Segoe UI"/>
              </a:rPr>
              <a:t>A </a:t>
            </a:r>
            <a:r>
              <a:rPr sz="2800" spc="-10" dirty="0">
                <a:latin typeface="Segoe UI"/>
                <a:cs typeface="Segoe UI"/>
              </a:rPr>
              <a:t>probabilistic </a:t>
            </a:r>
            <a:r>
              <a:rPr sz="2800" spc="-5" dirty="0">
                <a:latin typeface="Segoe UI"/>
                <a:cs typeface="Segoe UI"/>
              </a:rPr>
              <a:t>view </a:t>
            </a:r>
            <a:r>
              <a:rPr sz="2800" spc="-25" dirty="0">
                <a:latin typeface="Segoe UI"/>
                <a:cs typeface="Segoe UI"/>
              </a:rPr>
              <a:t>of </a:t>
            </a:r>
            <a:r>
              <a:rPr sz="2800" spc="-5" dirty="0">
                <a:latin typeface="Segoe UI"/>
                <a:cs typeface="Segoe UI"/>
              </a:rPr>
              <a:t>machine</a:t>
            </a:r>
            <a:r>
              <a:rPr sz="280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learning</a:t>
            </a:r>
            <a:endParaRPr sz="2800" dirty="0">
              <a:latin typeface="Segoe UI"/>
              <a:cs typeface="Segoe UI"/>
            </a:endParaRPr>
          </a:p>
          <a:p>
            <a:pPr marL="756285" marR="74295" lvl="1" indent="-287020">
              <a:lnSpc>
                <a:spcPct val="100000"/>
              </a:lnSpc>
              <a:spcBef>
                <a:spcPts val="59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Segoe UI"/>
                <a:cs typeface="Segoe UI"/>
              </a:rPr>
              <a:t>If </a:t>
            </a:r>
            <a:r>
              <a:rPr sz="2400" dirty="0">
                <a:latin typeface="Segoe UI"/>
                <a:cs typeface="Segoe UI"/>
              </a:rPr>
              <a:t>we </a:t>
            </a:r>
            <a:r>
              <a:rPr sz="2400" spc="-5" dirty="0">
                <a:latin typeface="Segoe UI"/>
                <a:cs typeface="Segoe UI"/>
              </a:rPr>
              <a:t>know </a:t>
            </a:r>
            <a:r>
              <a:rPr sz="2400" dirty="0">
                <a:latin typeface="Segoe UI"/>
                <a:cs typeface="Segoe UI"/>
              </a:rPr>
              <a:t>the data generating </a:t>
            </a:r>
            <a:r>
              <a:rPr sz="2400" spc="-5" dirty="0">
                <a:latin typeface="Segoe UI"/>
                <a:cs typeface="Segoe UI"/>
              </a:rPr>
              <a:t>distribution, we can  define the </a:t>
            </a:r>
            <a:r>
              <a:rPr sz="2400" dirty="0">
                <a:latin typeface="Segoe UI"/>
                <a:cs typeface="Segoe UI"/>
              </a:rPr>
              <a:t>Bayes </a:t>
            </a:r>
            <a:r>
              <a:rPr sz="2400" spc="-5" dirty="0">
                <a:latin typeface="Segoe UI"/>
                <a:cs typeface="Segoe UI"/>
              </a:rPr>
              <a:t>optimal</a:t>
            </a:r>
            <a:r>
              <a:rPr sz="2400" spc="10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classifier</a:t>
            </a:r>
            <a:endParaRPr sz="24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Segoe UI"/>
                <a:cs typeface="Segoe UI"/>
              </a:rPr>
              <a:t>Under </a:t>
            </a:r>
            <a:r>
              <a:rPr sz="2400" spc="-10" dirty="0">
                <a:latin typeface="Segoe UI"/>
                <a:cs typeface="Segoe UI"/>
              </a:rPr>
              <a:t>iid</a:t>
            </a:r>
            <a:r>
              <a:rPr sz="2400" spc="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assumption</a:t>
            </a:r>
          </a:p>
          <a:p>
            <a:pPr lvl="1">
              <a:lnSpc>
                <a:spcPct val="100000"/>
              </a:lnSpc>
              <a:spcBef>
                <a:spcPts val="55"/>
              </a:spcBef>
              <a:buFont typeface="Arial"/>
              <a:buChar char="–"/>
            </a:pPr>
            <a:endParaRPr sz="3050" dirty="0">
              <a:latin typeface="Segoe UI"/>
              <a:cs typeface="Segoe UI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Segoe UI"/>
                <a:cs typeface="Segoe UI"/>
              </a:rPr>
              <a:t>How </a:t>
            </a:r>
            <a:r>
              <a:rPr sz="2800" spc="-15" dirty="0">
                <a:latin typeface="Segoe UI"/>
                <a:cs typeface="Segoe UI"/>
              </a:rPr>
              <a:t>to </a:t>
            </a:r>
            <a:r>
              <a:rPr sz="2800" spc="-5" dirty="0">
                <a:latin typeface="Segoe UI"/>
                <a:cs typeface="Segoe UI"/>
              </a:rPr>
              <a:t>estimate a </a:t>
            </a:r>
            <a:r>
              <a:rPr sz="2800" spc="-10" dirty="0">
                <a:latin typeface="Segoe UI"/>
                <a:cs typeface="Segoe UI"/>
              </a:rPr>
              <a:t>probability </a:t>
            </a:r>
            <a:r>
              <a:rPr sz="2800" spc="-5" dirty="0">
                <a:latin typeface="Segoe UI"/>
                <a:cs typeface="Segoe UI"/>
              </a:rPr>
              <a:t>distribution </a:t>
            </a:r>
            <a:r>
              <a:rPr sz="2800" spc="-15" dirty="0">
                <a:latin typeface="Segoe UI"/>
                <a:cs typeface="Segoe UI"/>
              </a:rPr>
              <a:t>from  </a:t>
            </a:r>
            <a:r>
              <a:rPr sz="2800" dirty="0">
                <a:latin typeface="Segoe UI"/>
                <a:cs typeface="Segoe UI"/>
              </a:rPr>
              <a:t>data?</a:t>
            </a:r>
          </a:p>
          <a:p>
            <a:pPr marL="756285" lvl="1" indent="-287020">
              <a:lnSpc>
                <a:spcPct val="100000"/>
              </a:lnSpc>
              <a:spcBef>
                <a:spcPts val="59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Segoe UI"/>
                <a:cs typeface="Segoe UI"/>
              </a:rPr>
              <a:t>Maximum </a:t>
            </a:r>
            <a:r>
              <a:rPr sz="2400" spc="-10" dirty="0">
                <a:latin typeface="Segoe UI"/>
                <a:cs typeface="Segoe UI"/>
              </a:rPr>
              <a:t>likelihood</a:t>
            </a:r>
            <a:r>
              <a:rPr sz="2400" spc="50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estimation</a:t>
            </a:r>
            <a:endParaRPr sz="240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8364" y="147955"/>
            <a:ext cx="482663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 marR="5080" indent="-419100">
              <a:lnSpc>
                <a:spcPct val="100000"/>
              </a:lnSpc>
              <a:spcBef>
                <a:spcPts val="100"/>
              </a:spcBef>
              <a:tabLst>
                <a:tab pos="2463800" algn="l"/>
              </a:tabLst>
            </a:pPr>
            <a:r>
              <a:rPr spc="-80" dirty="0"/>
              <a:t>Let’s</a:t>
            </a:r>
            <a:r>
              <a:rPr spc="15" dirty="0"/>
              <a:t> </a:t>
            </a:r>
            <a:r>
              <a:rPr spc="-10" dirty="0"/>
              <a:t>learn	</a:t>
            </a:r>
            <a:r>
              <a:rPr dirty="0"/>
              <a:t>a</a:t>
            </a:r>
            <a:r>
              <a:rPr spc="-50" dirty="0"/>
              <a:t> </a:t>
            </a:r>
            <a:r>
              <a:rPr spc="-10" dirty="0"/>
              <a:t>classifier  </a:t>
            </a:r>
            <a:r>
              <a:rPr spc="-5" dirty="0"/>
              <a:t>by </a:t>
            </a:r>
            <a:r>
              <a:rPr spc="-10" dirty="0"/>
              <a:t>learning</a:t>
            </a:r>
            <a:r>
              <a:rPr spc="-40" dirty="0"/>
              <a:t> </a:t>
            </a:r>
            <a:r>
              <a:rPr dirty="0"/>
              <a:t>P(Y|X)</a:t>
            </a:r>
          </a:p>
        </p:txBody>
      </p:sp>
      <p:sp>
        <p:nvSpPr>
          <p:cNvPr id="3" name="object 3"/>
          <p:cNvSpPr/>
          <p:nvPr/>
        </p:nvSpPr>
        <p:spPr>
          <a:xfrm>
            <a:off x="4930902" y="4568316"/>
            <a:ext cx="1153795" cy="328930"/>
          </a:xfrm>
          <a:custGeom>
            <a:avLst/>
            <a:gdLst/>
            <a:ahLst/>
            <a:cxnLst/>
            <a:rect l="l" t="t" r="r" b="b"/>
            <a:pathLst>
              <a:path w="1153795" h="328929">
                <a:moveTo>
                  <a:pt x="1153795" y="2412"/>
                </a:moveTo>
                <a:lnTo>
                  <a:pt x="1127125" y="2412"/>
                </a:lnTo>
                <a:lnTo>
                  <a:pt x="1127125" y="325119"/>
                </a:lnTo>
                <a:lnTo>
                  <a:pt x="1153795" y="325119"/>
                </a:lnTo>
                <a:lnTo>
                  <a:pt x="1153795" y="2412"/>
                </a:lnTo>
                <a:close/>
              </a:path>
              <a:path w="1153795" h="328929">
                <a:moveTo>
                  <a:pt x="104901" y="0"/>
                </a:moveTo>
                <a:lnTo>
                  <a:pt x="60118" y="21113"/>
                </a:lnTo>
                <a:lnTo>
                  <a:pt x="27050" y="57657"/>
                </a:lnTo>
                <a:lnTo>
                  <a:pt x="6762" y="106552"/>
                </a:lnTo>
                <a:lnTo>
                  <a:pt x="0" y="164591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29"/>
                </a:lnTo>
                <a:lnTo>
                  <a:pt x="108965" y="315594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30" y="262889"/>
                </a:lnTo>
                <a:lnTo>
                  <a:pt x="34845" y="218185"/>
                </a:lnTo>
                <a:lnTo>
                  <a:pt x="29972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4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97840" y="2208402"/>
            <a:ext cx="6728459" cy="27108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sz="3200" spc="-10" dirty="0">
                <a:latin typeface="Segoe UI"/>
                <a:cs typeface="Segoe UI"/>
              </a:rPr>
              <a:t>Goal: </a:t>
            </a:r>
            <a:r>
              <a:rPr sz="3200" dirty="0">
                <a:latin typeface="Segoe UI"/>
                <a:cs typeface="Segoe UI"/>
              </a:rPr>
              <a:t>learn a classifier</a:t>
            </a:r>
            <a:r>
              <a:rPr sz="3200" spc="-55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P(Y|X)</a:t>
            </a:r>
            <a:endParaRPr sz="3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4000">
              <a:latin typeface="Segoe UI"/>
              <a:cs typeface="Segoe UI"/>
            </a:endParaRPr>
          </a:p>
          <a:p>
            <a:pPr marL="3937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sz="3200" spc="-5" dirty="0">
                <a:latin typeface="Segoe UI"/>
                <a:cs typeface="Segoe UI"/>
              </a:rPr>
              <a:t>Prediction:</a:t>
            </a:r>
            <a:endParaRPr sz="3200">
              <a:latin typeface="Segoe UI"/>
              <a:cs typeface="Segoe UI"/>
            </a:endParaRPr>
          </a:p>
          <a:p>
            <a:pPr marL="508000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latin typeface="Arial"/>
                <a:cs typeface="Arial"/>
              </a:rPr>
              <a:t>– </a:t>
            </a:r>
            <a:r>
              <a:rPr sz="2800" spc="-10" dirty="0">
                <a:latin typeface="Segoe UI"/>
                <a:cs typeface="Segoe UI"/>
              </a:rPr>
              <a:t>Given </a:t>
            </a:r>
            <a:r>
              <a:rPr sz="2800" spc="-5" dirty="0">
                <a:latin typeface="Segoe UI"/>
                <a:cs typeface="Segoe UI"/>
              </a:rPr>
              <a:t>an example</a:t>
            </a:r>
            <a:r>
              <a:rPr sz="2800" spc="-8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x</a:t>
            </a:r>
            <a:endParaRPr sz="2800">
              <a:latin typeface="Segoe UI"/>
              <a:cs typeface="Segoe UI"/>
            </a:endParaRPr>
          </a:p>
          <a:p>
            <a:pPr marL="508000">
              <a:lnSpc>
                <a:spcPct val="100000"/>
              </a:lnSpc>
              <a:spcBef>
                <a:spcPts val="685"/>
              </a:spcBef>
              <a:tabLst>
                <a:tab pos="4549775" algn="l"/>
                <a:tab pos="5630545" algn="l"/>
              </a:tabLst>
            </a:pPr>
            <a:r>
              <a:rPr sz="2800" spc="-5" dirty="0">
                <a:latin typeface="Arial"/>
                <a:cs typeface="Arial"/>
              </a:rPr>
              <a:t>– </a:t>
            </a:r>
            <a:r>
              <a:rPr sz="2800" spc="-10" dirty="0">
                <a:latin typeface="Segoe UI"/>
                <a:cs typeface="Segoe UI"/>
              </a:rPr>
              <a:t>Predict </a:t>
            </a:r>
            <a:r>
              <a:rPr sz="2800" spc="-1200" dirty="0">
                <a:latin typeface="Cambria Math"/>
                <a:cs typeface="Cambria Math"/>
              </a:rPr>
              <a:t>𝑦</a:t>
            </a:r>
            <a:r>
              <a:rPr sz="2800" spc="140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=</a:t>
            </a:r>
            <a:r>
              <a:rPr sz="2800" spc="85" dirty="0">
                <a:latin typeface="Cambria Math"/>
                <a:cs typeface="Cambria Math"/>
              </a:rPr>
              <a:t> </a:t>
            </a:r>
            <a:r>
              <a:rPr sz="2800" spc="15" dirty="0">
                <a:latin typeface="Cambria Math"/>
                <a:cs typeface="Cambria Math"/>
              </a:rPr>
              <a:t>𝑎𝑟𝑔𝑚𝑎𝑥</a:t>
            </a:r>
            <a:r>
              <a:rPr sz="3075" spc="22" baseline="-16260" dirty="0">
                <a:latin typeface="Cambria Math"/>
                <a:cs typeface="Cambria Math"/>
              </a:rPr>
              <a:t>𝑦</a:t>
            </a:r>
            <a:r>
              <a:rPr sz="3075" spc="517" baseline="-1626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𝑃	𝑌</a:t>
            </a:r>
            <a:r>
              <a:rPr sz="2800" spc="229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=</a:t>
            </a:r>
            <a:r>
              <a:rPr sz="2800" spc="16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𝑦	𝑋 =</a:t>
            </a:r>
            <a:r>
              <a:rPr sz="2800" spc="315" dirty="0">
                <a:latin typeface="Cambria Math"/>
                <a:cs typeface="Cambria Math"/>
              </a:rPr>
              <a:t> </a:t>
            </a:r>
            <a:r>
              <a:rPr sz="2800" spc="35" dirty="0">
                <a:latin typeface="Cambria Math"/>
                <a:cs typeface="Cambria Math"/>
              </a:rPr>
              <a:t>𝑥)</a:t>
            </a:r>
            <a:endParaRPr sz="2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2083" y="289687"/>
            <a:ext cx="72390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Parameters </a:t>
            </a:r>
            <a:r>
              <a:rPr spc="-10" dirty="0"/>
              <a:t>for </a:t>
            </a:r>
            <a:r>
              <a:rPr spc="35" dirty="0"/>
              <a:t>P(X,Y) </a:t>
            </a:r>
            <a:r>
              <a:rPr spc="-5" dirty="0"/>
              <a:t>vs.</a:t>
            </a:r>
            <a:r>
              <a:rPr spc="-80" dirty="0"/>
              <a:t> </a:t>
            </a:r>
            <a:r>
              <a:rPr dirty="0"/>
              <a:t>P(Y|X)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0832" y="1810511"/>
            <a:ext cx="8833485" cy="4718685"/>
            <a:chOff x="310832" y="1810511"/>
            <a:chExt cx="8833485" cy="47186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64615" y="1810511"/>
              <a:ext cx="6379384" cy="471830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23850" y="2702813"/>
              <a:ext cx="3185160" cy="908685"/>
            </a:xfrm>
            <a:custGeom>
              <a:avLst/>
              <a:gdLst/>
              <a:ahLst/>
              <a:cxnLst/>
              <a:rect l="l" t="t" r="r" b="b"/>
              <a:pathLst>
                <a:path w="3185160" h="908685">
                  <a:moveTo>
                    <a:pt x="2346452" y="0"/>
                  </a:moveTo>
                  <a:lnTo>
                    <a:pt x="151384" y="0"/>
                  </a:lnTo>
                  <a:lnTo>
                    <a:pt x="103536" y="7721"/>
                  </a:lnTo>
                  <a:lnTo>
                    <a:pt x="61979" y="29220"/>
                  </a:lnTo>
                  <a:lnTo>
                    <a:pt x="29209" y="61996"/>
                  </a:lnTo>
                  <a:lnTo>
                    <a:pt x="7717" y="103550"/>
                  </a:lnTo>
                  <a:lnTo>
                    <a:pt x="0" y="151384"/>
                  </a:lnTo>
                  <a:lnTo>
                    <a:pt x="0" y="756920"/>
                  </a:lnTo>
                  <a:lnTo>
                    <a:pt x="7717" y="804753"/>
                  </a:lnTo>
                  <a:lnTo>
                    <a:pt x="29209" y="846307"/>
                  </a:lnTo>
                  <a:lnTo>
                    <a:pt x="61979" y="879083"/>
                  </a:lnTo>
                  <a:lnTo>
                    <a:pt x="103536" y="900582"/>
                  </a:lnTo>
                  <a:lnTo>
                    <a:pt x="151384" y="908304"/>
                  </a:lnTo>
                  <a:lnTo>
                    <a:pt x="2346452" y="908304"/>
                  </a:lnTo>
                  <a:lnTo>
                    <a:pt x="2394285" y="900582"/>
                  </a:lnTo>
                  <a:lnTo>
                    <a:pt x="2435839" y="879083"/>
                  </a:lnTo>
                  <a:lnTo>
                    <a:pt x="2468615" y="846307"/>
                  </a:lnTo>
                  <a:lnTo>
                    <a:pt x="2490114" y="804753"/>
                  </a:lnTo>
                  <a:lnTo>
                    <a:pt x="2497836" y="756920"/>
                  </a:lnTo>
                  <a:lnTo>
                    <a:pt x="2497836" y="378460"/>
                  </a:lnTo>
                  <a:lnTo>
                    <a:pt x="3185160" y="254126"/>
                  </a:lnTo>
                  <a:lnTo>
                    <a:pt x="2497836" y="151384"/>
                  </a:lnTo>
                  <a:lnTo>
                    <a:pt x="2490114" y="103550"/>
                  </a:lnTo>
                  <a:lnTo>
                    <a:pt x="2468615" y="61996"/>
                  </a:lnTo>
                  <a:lnTo>
                    <a:pt x="2435839" y="29220"/>
                  </a:lnTo>
                  <a:lnTo>
                    <a:pt x="2394285" y="7721"/>
                  </a:lnTo>
                  <a:lnTo>
                    <a:pt x="23464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3850" y="2702813"/>
              <a:ext cx="3185160" cy="908685"/>
            </a:xfrm>
            <a:custGeom>
              <a:avLst/>
              <a:gdLst/>
              <a:ahLst/>
              <a:cxnLst/>
              <a:rect l="l" t="t" r="r" b="b"/>
              <a:pathLst>
                <a:path w="3185160" h="908685">
                  <a:moveTo>
                    <a:pt x="0" y="151384"/>
                  </a:moveTo>
                  <a:lnTo>
                    <a:pt x="7717" y="103550"/>
                  </a:lnTo>
                  <a:lnTo>
                    <a:pt x="29209" y="61996"/>
                  </a:lnTo>
                  <a:lnTo>
                    <a:pt x="61979" y="29220"/>
                  </a:lnTo>
                  <a:lnTo>
                    <a:pt x="103536" y="7721"/>
                  </a:lnTo>
                  <a:lnTo>
                    <a:pt x="151384" y="0"/>
                  </a:lnTo>
                  <a:lnTo>
                    <a:pt x="1457070" y="0"/>
                  </a:lnTo>
                  <a:lnTo>
                    <a:pt x="2081530" y="0"/>
                  </a:lnTo>
                  <a:lnTo>
                    <a:pt x="2346452" y="0"/>
                  </a:lnTo>
                  <a:lnTo>
                    <a:pt x="2394285" y="7721"/>
                  </a:lnTo>
                  <a:lnTo>
                    <a:pt x="2435839" y="29220"/>
                  </a:lnTo>
                  <a:lnTo>
                    <a:pt x="2468615" y="61996"/>
                  </a:lnTo>
                  <a:lnTo>
                    <a:pt x="2490114" y="103550"/>
                  </a:lnTo>
                  <a:lnTo>
                    <a:pt x="2497836" y="151384"/>
                  </a:lnTo>
                  <a:lnTo>
                    <a:pt x="3185160" y="254126"/>
                  </a:lnTo>
                  <a:lnTo>
                    <a:pt x="2497836" y="378460"/>
                  </a:lnTo>
                  <a:lnTo>
                    <a:pt x="2497836" y="756920"/>
                  </a:lnTo>
                  <a:lnTo>
                    <a:pt x="2490114" y="804753"/>
                  </a:lnTo>
                  <a:lnTo>
                    <a:pt x="2468615" y="846307"/>
                  </a:lnTo>
                  <a:lnTo>
                    <a:pt x="2435839" y="879083"/>
                  </a:lnTo>
                  <a:lnTo>
                    <a:pt x="2394285" y="900582"/>
                  </a:lnTo>
                  <a:lnTo>
                    <a:pt x="2346452" y="908304"/>
                  </a:lnTo>
                  <a:lnTo>
                    <a:pt x="2081530" y="908304"/>
                  </a:lnTo>
                  <a:lnTo>
                    <a:pt x="1457070" y="908304"/>
                  </a:lnTo>
                  <a:lnTo>
                    <a:pt x="151384" y="908304"/>
                  </a:lnTo>
                  <a:lnTo>
                    <a:pt x="103536" y="900582"/>
                  </a:lnTo>
                  <a:lnTo>
                    <a:pt x="61979" y="879083"/>
                  </a:lnTo>
                  <a:lnTo>
                    <a:pt x="29209" y="846307"/>
                  </a:lnTo>
                  <a:lnTo>
                    <a:pt x="7717" y="804753"/>
                  </a:lnTo>
                  <a:lnTo>
                    <a:pt x="0" y="756920"/>
                  </a:lnTo>
                  <a:lnTo>
                    <a:pt x="0" y="378460"/>
                  </a:lnTo>
                  <a:lnTo>
                    <a:pt x="0" y="151384"/>
                  </a:lnTo>
                  <a:close/>
                </a:path>
              </a:pathLst>
            </a:custGeom>
            <a:ln w="25908">
              <a:solidFill>
                <a:srgbClr val="1B57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4401" y="1800225"/>
            <a:ext cx="3047365" cy="16281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Y =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Wealth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X = </a:t>
            </a:r>
            <a:r>
              <a:rPr sz="1800" spc="-15" dirty="0">
                <a:latin typeface="Arial"/>
                <a:cs typeface="Arial"/>
              </a:rPr>
              <a:t>&lt;Gender,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Hours_worked&gt;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 dirty="0">
              <a:latin typeface="Arial"/>
              <a:cs typeface="Arial"/>
            </a:endParaRPr>
          </a:p>
          <a:p>
            <a:pPr marL="708025">
              <a:lnSpc>
                <a:spcPct val="100000"/>
              </a:lnSpc>
              <a:spcBef>
                <a:spcPts val="1680"/>
              </a:spcBef>
            </a:pPr>
            <a:r>
              <a:rPr sz="1800" spc="-5" dirty="0">
                <a:latin typeface="Calibri"/>
                <a:cs typeface="Calibri"/>
              </a:rPr>
              <a:t>Joint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probability</a:t>
            </a:r>
            <a:endParaRPr sz="1800" dirty="0">
              <a:latin typeface="Calibri"/>
              <a:cs typeface="Calibri"/>
            </a:endParaRPr>
          </a:p>
          <a:p>
            <a:pPr marL="62865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distribution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P(X,Y)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6679" y="5216652"/>
            <a:ext cx="2704465" cy="934719"/>
            <a:chOff x="106679" y="5216652"/>
            <a:chExt cx="2704465" cy="934719"/>
          </a:xfrm>
        </p:grpSpPr>
        <p:sp>
          <p:nvSpPr>
            <p:cNvPr id="9" name="object 9"/>
            <p:cNvSpPr/>
            <p:nvPr/>
          </p:nvSpPr>
          <p:spPr>
            <a:xfrm>
              <a:off x="119633" y="5229606"/>
              <a:ext cx="2678430" cy="908685"/>
            </a:xfrm>
            <a:custGeom>
              <a:avLst/>
              <a:gdLst/>
              <a:ahLst/>
              <a:cxnLst/>
              <a:rect l="l" t="t" r="r" b="b"/>
              <a:pathLst>
                <a:path w="2678430" h="908685">
                  <a:moveTo>
                    <a:pt x="2346452" y="0"/>
                  </a:moveTo>
                  <a:lnTo>
                    <a:pt x="151384" y="0"/>
                  </a:lnTo>
                  <a:lnTo>
                    <a:pt x="103536" y="7721"/>
                  </a:lnTo>
                  <a:lnTo>
                    <a:pt x="61979" y="29220"/>
                  </a:lnTo>
                  <a:lnTo>
                    <a:pt x="29209" y="61996"/>
                  </a:lnTo>
                  <a:lnTo>
                    <a:pt x="7717" y="103550"/>
                  </a:lnTo>
                  <a:lnTo>
                    <a:pt x="0" y="151384"/>
                  </a:lnTo>
                  <a:lnTo>
                    <a:pt x="0" y="756920"/>
                  </a:lnTo>
                  <a:lnTo>
                    <a:pt x="7717" y="804767"/>
                  </a:lnTo>
                  <a:lnTo>
                    <a:pt x="29209" y="846324"/>
                  </a:lnTo>
                  <a:lnTo>
                    <a:pt x="61979" y="879094"/>
                  </a:lnTo>
                  <a:lnTo>
                    <a:pt x="103536" y="900586"/>
                  </a:lnTo>
                  <a:lnTo>
                    <a:pt x="151384" y="908304"/>
                  </a:lnTo>
                  <a:lnTo>
                    <a:pt x="2346452" y="908304"/>
                  </a:lnTo>
                  <a:lnTo>
                    <a:pt x="2394285" y="900586"/>
                  </a:lnTo>
                  <a:lnTo>
                    <a:pt x="2435839" y="879094"/>
                  </a:lnTo>
                  <a:lnTo>
                    <a:pt x="2468615" y="846324"/>
                  </a:lnTo>
                  <a:lnTo>
                    <a:pt x="2490114" y="804767"/>
                  </a:lnTo>
                  <a:lnTo>
                    <a:pt x="2497836" y="756920"/>
                  </a:lnTo>
                  <a:lnTo>
                    <a:pt x="2497836" y="378460"/>
                  </a:lnTo>
                  <a:lnTo>
                    <a:pt x="2678176" y="232156"/>
                  </a:lnTo>
                  <a:lnTo>
                    <a:pt x="2497836" y="151384"/>
                  </a:lnTo>
                  <a:lnTo>
                    <a:pt x="2490114" y="103550"/>
                  </a:lnTo>
                  <a:lnTo>
                    <a:pt x="2468615" y="61996"/>
                  </a:lnTo>
                  <a:lnTo>
                    <a:pt x="2435839" y="29220"/>
                  </a:lnTo>
                  <a:lnTo>
                    <a:pt x="2394285" y="7721"/>
                  </a:lnTo>
                  <a:lnTo>
                    <a:pt x="23464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9633" y="5229606"/>
              <a:ext cx="2678430" cy="908685"/>
            </a:xfrm>
            <a:custGeom>
              <a:avLst/>
              <a:gdLst/>
              <a:ahLst/>
              <a:cxnLst/>
              <a:rect l="l" t="t" r="r" b="b"/>
              <a:pathLst>
                <a:path w="2678430" h="908685">
                  <a:moveTo>
                    <a:pt x="0" y="151384"/>
                  </a:moveTo>
                  <a:lnTo>
                    <a:pt x="7717" y="103550"/>
                  </a:lnTo>
                  <a:lnTo>
                    <a:pt x="29209" y="61996"/>
                  </a:lnTo>
                  <a:lnTo>
                    <a:pt x="61979" y="29220"/>
                  </a:lnTo>
                  <a:lnTo>
                    <a:pt x="103536" y="7721"/>
                  </a:lnTo>
                  <a:lnTo>
                    <a:pt x="151384" y="0"/>
                  </a:lnTo>
                  <a:lnTo>
                    <a:pt x="1457071" y="0"/>
                  </a:lnTo>
                  <a:lnTo>
                    <a:pt x="2081530" y="0"/>
                  </a:lnTo>
                  <a:lnTo>
                    <a:pt x="2346452" y="0"/>
                  </a:lnTo>
                  <a:lnTo>
                    <a:pt x="2394285" y="7721"/>
                  </a:lnTo>
                  <a:lnTo>
                    <a:pt x="2435839" y="29220"/>
                  </a:lnTo>
                  <a:lnTo>
                    <a:pt x="2468615" y="61996"/>
                  </a:lnTo>
                  <a:lnTo>
                    <a:pt x="2490114" y="103550"/>
                  </a:lnTo>
                  <a:lnTo>
                    <a:pt x="2497836" y="151384"/>
                  </a:lnTo>
                  <a:lnTo>
                    <a:pt x="2678176" y="232156"/>
                  </a:lnTo>
                  <a:lnTo>
                    <a:pt x="2497836" y="378460"/>
                  </a:lnTo>
                  <a:lnTo>
                    <a:pt x="2497836" y="756920"/>
                  </a:lnTo>
                  <a:lnTo>
                    <a:pt x="2490114" y="804767"/>
                  </a:lnTo>
                  <a:lnTo>
                    <a:pt x="2468615" y="846324"/>
                  </a:lnTo>
                  <a:lnTo>
                    <a:pt x="2435839" y="879094"/>
                  </a:lnTo>
                  <a:lnTo>
                    <a:pt x="2394285" y="900586"/>
                  </a:lnTo>
                  <a:lnTo>
                    <a:pt x="2346452" y="908304"/>
                  </a:lnTo>
                  <a:lnTo>
                    <a:pt x="2081530" y="908304"/>
                  </a:lnTo>
                  <a:lnTo>
                    <a:pt x="1457071" y="908304"/>
                  </a:lnTo>
                  <a:lnTo>
                    <a:pt x="151384" y="908304"/>
                  </a:lnTo>
                  <a:lnTo>
                    <a:pt x="103536" y="900586"/>
                  </a:lnTo>
                  <a:lnTo>
                    <a:pt x="61979" y="879094"/>
                  </a:lnTo>
                  <a:lnTo>
                    <a:pt x="29209" y="846324"/>
                  </a:lnTo>
                  <a:lnTo>
                    <a:pt x="7717" y="804767"/>
                  </a:lnTo>
                  <a:lnTo>
                    <a:pt x="0" y="756920"/>
                  </a:lnTo>
                  <a:lnTo>
                    <a:pt x="0" y="378460"/>
                  </a:lnTo>
                  <a:lnTo>
                    <a:pt x="0" y="151384"/>
                  </a:lnTo>
                  <a:close/>
                </a:path>
              </a:pathLst>
            </a:custGeom>
            <a:ln w="25908">
              <a:solidFill>
                <a:srgbClr val="1B57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3319" y="5381650"/>
            <a:ext cx="21475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3360" marR="5080" indent="-20129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Conditional </a:t>
            </a:r>
            <a:r>
              <a:rPr sz="1800" spc="-10" dirty="0">
                <a:latin typeface="Calibri"/>
                <a:cs typeface="Calibri"/>
              </a:rPr>
              <a:t>probability  distribution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P(Y|X)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7552" y="147955"/>
            <a:ext cx="578167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7320">
              <a:lnSpc>
                <a:spcPct val="100000"/>
              </a:lnSpc>
              <a:spcBef>
                <a:spcPts val="100"/>
              </a:spcBef>
            </a:pPr>
            <a:r>
              <a:rPr dirty="0"/>
              <a:t>How many parameters  </a:t>
            </a:r>
            <a:r>
              <a:rPr spc="-5" dirty="0"/>
              <a:t>do </a:t>
            </a:r>
            <a:r>
              <a:rPr dirty="0"/>
              <a:t>we </a:t>
            </a:r>
            <a:r>
              <a:rPr spc="-10" dirty="0"/>
              <a:t>need </a:t>
            </a:r>
            <a:r>
              <a:rPr dirty="0"/>
              <a:t>to</a:t>
            </a:r>
            <a:r>
              <a:rPr spc="-90" dirty="0"/>
              <a:t> </a:t>
            </a:r>
            <a:r>
              <a:rPr dirty="0"/>
              <a:t>estimate?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240" y="2050821"/>
            <a:ext cx="7907020" cy="250063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770"/>
              </a:spcBef>
            </a:pPr>
            <a:r>
              <a:rPr sz="2800" spc="-5" dirty="0">
                <a:latin typeface="Segoe UI"/>
                <a:cs typeface="Segoe UI"/>
              </a:rPr>
              <a:t>Suppose </a:t>
            </a:r>
            <a:r>
              <a:rPr sz="2800" spc="-5" dirty="0">
                <a:latin typeface="Cambria Math"/>
                <a:cs typeface="Cambria Math"/>
              </a:rPr>
              <a:t>𝑋 = &lt; </a:t>
            </a:r>
            <a:r>
              <a:rPr sz="2800" spc="-10" dirty="0">
                <a:latin typeface="Cambria Math"/>
                <a:cs typeface="Cambria Math"/>
              </a:rPr>
              <a:t>𝑋</a:t>
            </a:r>
            <a:r>
              <a:rPr sz="3075" spc="-15" baseline="-16260" dirty="0">
                <a:latin typeface="Cambria Math"/>
                <a:cs typeface="Cambria Math"/>
              </a:rPr>
              <a:t>1</a:t>
            </a:r>
            <a:r>
              <a:rPr sz="2800" spc="-10" dirty="0">
                <a:latin typeface="Cambria Math"/>
                <a:cs typeface="Cambria Math"/>
              </a:rPr>
              <a:t>, </a:t>
            </a:r>
            <a:r>
              <a:rPr sz="2800" spc="10" dirty="0">
                <a:latin typeface="Cambria Math"/>
                <a:cs typeface="Cambria Math"/>
              </a:rPr>
              <a:t>𝑋</a:t>
            </a:r>
            <a:r>
              <a:rPr sz="3075" spc="15" baseline="-16260" dirty="0">
                <a:latin typeface="Cambria Math"/>
                <a:cs typeface="Cambria Math"/>
              </a:rPr>
              <a:t>2</a:t>
            </a:r>
            <a:r>
              <a:rPr sz="2800" spc="10" dirty="0">
                <a:latin typeface="Cambria Math"/>
                <a:cs typeface="Cambria Math"/>
              </a:rPr>
              <a:t>, </a:t>
            </a:r>
            <a:r>
              <a:rPr sz="2800" spc="-5" dirty="0">
                <a:latin typeface="Cambria Math"/>
                <a:cs typeface="Cambria Math"/>
              </a:rPr>
              <a:t>… </a:t>
            </a:r>
            <a:r>
              <a:rPr sz="2800" spc="-10" dirty="0">
                <a:latin typeface="Cambria Math"/>
                <a:cs typeface="Cambria Math"/>
              </a:rPr>
              <a:t>𝑋</a:t>
            </a:r>
            <a:r>
              <a:rPr sz="3075" spc="-15" baseline="-16260" dirty="0">
                <a:latin typeface="Cambria Math"/>
                <a:cs typeface="Cambria Math"/>
              </a:rPr>
              <a:t>𝑑</a:t>
            </a:r>
            <a:r>
              <a:rPr sz="3075" spc="-247" baseline="-1626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&gt;</a:t>
            </a:r>
            <a:endParaRPr sz="2800" dirty="0">
              <a:latin typeface="Cambria Math"/>
              <a:cs typeface="Cambria Math"/>
            </a:endParaRPr>
          </a:p>
          <a:p>
            <a:pPr marL="25400">
              <a:lnSpc>
                <a:spcPct val="100000"/>
              </a:lnSpc>
              <a:spcBef>
                <a:spcPts val="675"/>
              </a:spcBef>
              <a:tabLst>
                <a:tab pos="2787015" algn="l"/>
              </a:tabLst>
            </a:pPr>
            <a:r>
              <a:rPr sz="2800" spc="-15" dirty="0">
                <a:latin typeface="Segoe UI"/>
                <a:cs typeface="Segoe UI"/>
              </a:rPr>
              <a:t>where </a:t>
            </a:r>
            <a:r>
              <a:rPr sz="2800" spc="-35" dirty="0">
                <a:latin typeface="Cambria Math"/>
                <a:cs typeface="Cambria Math"/>
              </a:rPr>
              <a:t>𝑋</a:t>
            </a:r>
            <a:r>
              <a:rPr sz="3075" spc="-52" baseline="-16260" dirty="0">
                <a:latin typeface="Cambria Math"/>
                <a:cs typeface="Cambria Math"/>
              </a:rPr>
              <a:t>𝑖 </a:t>
            </a:r>
            <a:r>
              <a:rPr sz="3075" spc="172" baseline="-1626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Segoe UI"/>
                <a:cs typeface="Segoe UI"/>
              </a:rPr>
              <a:t>and</a:t>
            </a:r>
            <a:r>
              <a:rPr sz="2800" spc="5" dirty="0">
                <a:latin typeface="Segoe UI"/>
                <a:cs typeface="Segoe UI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𝑌	</a:t>
            </a:r>
            <a:r>
              <a:rPr sz="2800" spc="-15" dirty="0">
                <a:latin typeface="Segoe UI"/>
                <a:cs typeface="Segoe UI"/>
              </a:rPr>
              <a:t>are </a:t>
            </a:r>
            <a:r>
              <a:rPr sz="2800" spc="-5" dirty="0">
                <a:latin typeface="Segoe UI"/>
                <a:cs typeface="Segoe UI"/>
              </a:rPr>
              <a:t>Boolean random</a:t>
            </a:r>
            <a:r>
              <a:rPr sz="2800" spc="-2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variables</a:t>
            </a:r>
            <a:endParaRPr sz="28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500" dirty="0">
              <a:latin typeface="Segoe UI"/>
              <a:cs typeface="Segoe UI"/>
            </a:endParaRPr>
          </a:p>
          <a:p>
            <a:pPr marL="25400">
              <a:lnSpc>
                <a:spcPct val="100000"/>
              </a:lnSpc>
              <a:tabLst>
                <a:tab pos="565150" algn="l"/>
              </a:tabLst>
            </a:pPr>
            <a:r>
              <a:rPr sz="2800" spc="-5" dirty="0">
                <a:latin typeface="Segoe UI"/>
                <a:cs typeface="Segoe UI"/>
              </a:rPr>
              <a:t>Q:	</a:t>
            </a:r>
            <a:r>
              <a:rPr sz="2800" spc="-10" dirty="0">
                <a:latin typeface="Segoe UI"/>
                <a:cs typeface="Segoe UI"/>
              </a:rPr>
              <a:t>How </a:t>
            </a:r>
            <a:r>
              <a:rPr sz="2800" spc="-5" dirty="0">
                <a:latin typeface="Segoe UI"/>
                <a:cs typeface="Segoe UI"/>
              </a:rPr>
              <a:t>many </a:t>
            </a:r>
            <a:r>
              <a:rPr sz="2800" spc="-10" dirty="0">
                <a:latin typeface="Segoe UI"/>
                <a:cs typeface="Segoe UI"/>
              </a:rPr>
              <a:t>parameters do we </a:t>
            </a:r>
            <a:r>
              <a:rPr sz="2800" spc="-5" dirty="0">
                <a:latin typeface="Segoe UI"/>
                <a:cs typeface="Segoe UI"/>
              </a:rPr>
              <a:t>need </a:t>
            </a:r>
            <a:r>
              <a:rPr sz="2800" spc="-15" dirty="0">
                <a:latin typeface="Segoe UI"/>
                <a:cs typeface="Segoe UI"/>
              </a:rPr>
              <a:t>to</a:t>
            </a:r>
            <a:r>
              <a:rPr sz="2800" spc="-5" dirty="0">
                <a:latin typeface="Segoe UI"/>
                <a:cs typeface="Segoe UI"/>
              </a:rPr>
              <a:t> estimate</a:t>
            </a:r>
            <a:endParaRPr sz="2800" dirty="0">
              <a:latin typeface="Segoe UI"/>
              <a:cs typeface="Segoe UI"/>
            </a:endParaRPr>
          </a:p>
          <a:p>
            <a:pPr marL="25400">
              <a:lnSpc>
                <a:spcPct val="100000"/>
              </a:lnSpc>
            </a:pPr>
            <a:r>
              <a:rPr sz="2800" spc="10" dirty="0">
                <a:latin typeface="Cambria Math"/>
                <a:cs typeface="Cambria Math"/>
              </a:rPr>
              <a:t>𝑃(𝑌|𝑋</a:t>
            </a:r>
            <a:r>
              <a:rPr sz="3075" spc="15" baseline="-16260" dirty="0">
                <a:latin typeface="Cambria Math"/>
                <a:cs typeface="Cambria Math"/>
              </a:rPr>
              <a:t>1</a:t>
            </a:r>
            <a:r>
              <a:rPr sz="2800" spc="10" dirty="0">
                <a:latin typeface="Cambria Math"/>
                <a:cs typeface="Cambria Math"/>
              </a:rPr>
              <a:t>, 𝑋</a:t>
            </a:r>
            <a:r>
              <a:rPr sz="3075" spc="15" baseline="-16260" dirty="0">
                <a:latin typeface="Cambria Math"/>
                <a:cs typeface="Cambria Math"/>
              </a:rPr>
              <a:t>2</a:t>
            </a:r>
            <a:r>
              <a:rPr sz="2800" spc="10" dirty="0">
                <a:latin typeface="Cambria Math"/>
                <a:cs typeface="Cambria Math"/>
              </a:rPr>
              <a:t>,</a:t>
            </a:r>
            <a:r>
              <a:rPr sz="2800" spc="-475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… </a:t>
            </a:r>
            <a:r>
              <a:rPr sz="2800" spc="35" dirty="0">
                <a:latin typeface="Cambria Math"/>
                <a:cs typeface="Cambria Math"/>
              </a:rPr>
              <a:t>𝑋</a:t>
            </a:r>
            <a:r>
              <a:rPr sz="3075" spc="52" baseline="-16260" dirty="0">
                <a:latin typeface="Cambria Math"/>
                <a:cs typeface="Cambria Math"/>
              </a:rPr>
              <a:t>𝑑</a:t>
            </a:r>
            <a:r>
              <a:rPr sz="2800" spc="35" dirty="0">
                <a:latin typeface="Segoe UI"/>
                <a:cs typeface="Segoe UI"/>
              </a:rPr>
              <a:t>)?</a:t>
            </a:r>
            <a:endParaRPr sz="280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2689" y="483234"/>
            <a:ext cx="57391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Naïve Bayes</a:t>
            </a:r>
            <a:r>
              <a:rPr spc="-65" dirty="0"/>
              <a:t> </a:t>
            </a:r>
            <a:r>
              <a:rPr spc="-5" dirty="0"/>
              <a:t>Assumption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208402"/>
            <a:ext cx="38036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Segoe UI"/>
                <a:cs typeface="Segoe UI"/>
              </a:rPr>
              <a:t>Naïve Bayes</a:t>
            </a:r>
            <a:r>
              <a:rPr sz="3200" spc="-7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assumes</a:t>
            </a:r>
            <a:endParaRPr sz="3200">
              <a:latin typeface="Segoe UI"/>
              <a:cs typeface="Segoe U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60982" y="3528948"/>
            <a:ext cx="2642870" cy="377190"/>
          </a:xfrm>
          <a:custGeom>
            <a:avLst/>
            <a:gdLst/>
            <a:ahLst/>
            <a:cxnLst/>
            <a:rect l="l" t="t" r="r" b="b"/>
            <a:pathLst>
              <a:path w="2642870" h="377189">
                <a:moveTo>
                  <a:pt x="2204847" y="2793"/>
                </a:moveTo>
                <a:lnTo>
                  <a:pt x="2174240" y="2793"/>
                </a:lnTo>
                <a:lnTo>
                  <a:pt x="2174240" y="372618"/>
                </a:lnTo>
                <a:lnTo>
                  <a:pt x="2204847" y="372618"/>
                </a:lnTo>
                <a:lnTo>
                  <a:pt x="2204847" y="2793"/>
                </a:lnTo>
                <a:close/>
              </a:path>
              <a:path w="2642870" h="377189">
                <a:moveTo>
                  <a:pt x="2522220" y="0"/>
                </a:moveTo>
                <a:lnTo>
                  <a:pt x="2516759" y="15366"/>
                </a:lnTo>
                <a:lnTo>
                  <a:pt x="2538642" y="24818"/>
                </a:lnTo>
                <a:lnTo>
                  <a:pt x="2557430" y="37925"/>
                </a:lnTo>
                <a:lnTo>
                  <a:pt x="2585720" y="75056"/>
                </a:lnTo>
                <a:lnTo>
                  <a:pt x="2602468" y="125142"/>
                </a:lnTo>
                <a:lnTo>
                  <a:pt x="2608072" y="186562"/>
                </a:lnTo>
                <a:lnTo>
                  <a:pt x="2606669" y="219805"/>
                </a:lnTo>
                <a:lnTo>
                  <a:pt x="2595481" y="277145"/>
                </a:lnTo>
                <a:lnTo>
                  <a:pt x="2573025" y="321941"/>
                </a:lnTo>
                <a:lnTo>
                  <a:pt x="2538874" y="352143"/>
                </a:lnTo>
                <a:lnTo>
                  <a:pt x="2517394" y="361695"/>
                </a:lnTo>
                <a:lnTo>
                  <a:pt x="2522220" y="376936"/>
                </a:lnTo>
                <a:lnTo>
                  <a:pt x="2573559" y="352853"/>
                </a:lnTo>
                <a:lnTo>
                  <a:pt x="2611373" y="311150"/>
                </a:lnTo>
                <a:lnTo>
                  <a:pt x="2634630" y="255206"/>
                </a:lnTo>
                <a:lnTo>
                  <a:pt x="2642362" y="188594"/>
                </a:lnTo>
                <a:lnTo>
                  <a:pt x="2640429" y="154070"/>
                </a:lnTo>
                <a:lnTo>
                  <a:pt x="2624895" y="92833"/>
                </a:lnTo>
                <a:lnTo>
                  <a:pt x="2594032" y="42969"/>
                </a:lnTo>
                <a:lnTo>
                  <a:pt x="2549507" y="9909"/>
                </a:lnTo>
                <a:lnTo>
                  <a:pt x="2522220" y="0"/>
                </a:lnTo>
                <a:close/>
              </a:path>
              <a:path w="2642870" h="377189">
                <a:moveTo>
                  <a:pt x="120142" y="0"/>
                </a:moveTo>
                <a:lnTo>
                  <a:pt x="68897" y="24225"/>
                </a:lnTo>
                <a:lnTo>
                  <a:pt x="30987" y="66166"/>
                </a:lnTo>
                <a:lnTo>
                  <a:pt x="7731" y="122142"/>
                </a:lnTo>
                <a:lnTo>
                  <a:pt x="0" y="188594"/>
                </a:lnTo>
                <a:lnTo>
                  <a:pt x="1930" y="223246"/>
                </a:lnTo>
                <a:lnTo>
                  <a:pt x="17412" y="284499"/>
                </a:lnTo>
                <a:lnTo>
                  <a:pt x="48150" y="334198"/>
                </a:lnTo>
                <a:lnTo>
                  <a:pt x="92763" y="367103"/>
                </a:lnTo>
                <a:lnTo>
                  <a:pt x="120142" y="376936"/>
                </a:lnTo>
                <a:lnTo>
                  <a:pt x="124968" y="361695"/>
                </a:lnTo>
                <a:lnTo>
                  <a:pt x="103487" y="352143"/>
                </a:lnTo>
                <a:lnTo>
                  <a:pt x="84947" y="338899"/>
                </a:lnTo>
                <a:lnTo>
                  <a:pt x="56642" y="301244"/>
                </a:lnTo>
                <a:lnTo>
                  <a:pt x="39893" y="249999"/>
                </a:lnTo>
                <a:lnTo>
                  <a:pt x="34290" y="186562"/>
                </a:lnTo>
                <a:lnTo>
                  <a:pt x="35692" y="154441"/>
                </a:lnTo>
                <a:lnTo>
                  <a:pt x="46880" y="98677"/>
                </a:lnTo>
                <a:lnTo>
                  <a:pt x="69361" y="54675"/>
                </a:lnTo>
                <a:lnTo>
                  <a:pt x="103755" y="24818"/>
                </a:lnTo>
                <a:lnTo>
                  <a:pt x="125475" y="15366"/>
                </a:lnTo>
                <a:lnTo>
                  <a:pt x="1201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425194" y="3413582"/>
            <a:ext cx="28746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469265" algn="l"/>
                <a:tab pos="2590800" algn="l"/>
              </a:tabLst>
            </a:pPr>
            <a:r>
              <a:rPr sz="3200" dirty="0">
                <a:latin typeface="Cambria Math"/>
                <a:cs typeface="Cambria Math"/>
              </a:rPr>
              <a:t>𝑃	</a:t>
            </a:r>
            <a:r>
              <a:rPr sz="3200" spc="-15" dirty="0">
                <a:latin typeface="Cambria Math"/>
                <a:cs typeface="Cambria Math"/>
              </a:rPr>
              <a:t>𝑋</a:t>
            </a:r>
            <a:r>
              <a:rPr sz="3525" spc="-22" baseline="-15366" dirty="0">
                <a:latin typeface="Cambria Math"/>
                <a:cs typeface="Cambria Math"/>
              </a:rPr>
              <a:t>1</a:t>
            </a:r>
            <a:r>
              <a:rPr sz="3200" spc="-15" dirty="0">
                <a:latin typeface="Cambria Math"/>
                <a:cs typeface="Cambria Math"/>
              </a:rPr>
              <a:t>, </a:t>
            </a:r>
            <a:r>
              <a:rPr sz="3200" spc="10" dirty="0">
                <a:latin typeface="Cambria Math"/>
                <a:cs typeface="Cambria Math"/>
              </a:rPr>
              <a:t>𝑋</a:t>
            </a:r>
            <a:r>
              <a:rPr sz="3525" spc="15" baseline="-15366" dirty="0">
                <a:latin typeface="Cambria Math"/>
                <a:cs typeface="Cambria Math"/>
              </a:rPr>
              <a:t>2</a:t>
            </a:r>
            <a:r>
              <a:rPr sz="3200" spc="10" dirty="0">
                <a:latin typeface="Cambria Math"/>
                <a:cs typeface="Cambria Math"/>
              </a:rPr>
              <a:t>,</a:t>
            </a:r>
            <a:r>
              <a:rPr sz="3200" spc="-325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…</a:t>
            </a:r>
            <a:r>
              <a:rPr sz="3200" spc="-160" dirty="0">
                <a:latin typeface="Cambria Math"/>
                <a:cs typeface="Cambria Math"/>
              </a:rPr>
              <a:t> </a:t>
            </a:r>
            <a:r>
              <a:rPr sz="3200" spc="-10" dirty="0">
                <a:latin typeface="Cambria Math"/>
                <a:cs typeface="Cambria Math"/>
              </a:rPr>
              <a:t>𝑋</a:t>
            </a:r>
            <a:r>
              <a:rPr sz="3525" spc="-15" baseline="-15366" dirty="0">
                <a:latin typeface="Cambria Math"/>
                <a:cs typeface="Cambria Math"/>
              </a:rPr>
              <a:t>𝑑	</a:t>
            </a:r>
            <a:r>
              <a:rPr sz="3200" dirty="0">
                <a:latin typeface="Cambria Math"/>
                <a:cs typeface="Cambria Math"/>
              </a:rPr>
              <a:t>𝑌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18580" y="3413582"/>
            <a:ext cx="15017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mbria Math"/>
                <a:cs typeface="Cambria Math"/>
              </a:rPr>
              <a:t>𝑃(𝑋</a:t>
            </a:r>
            <a:r>
              <a:rPr sz="3525" baseline="-15366" dirty="0">
                <a:latin typeface="Cambria Math"/>
                <a:cs typeface="Cambria Math"/>
              </a:rPr>
              <a:t>𝑖</a:t>
            </a:r>
            <a:r>
              <a:rPr sz="3525" spc="232" baseline="-15366" dirty="0">
                <a:latin typeface="Cambria Math"/>
                <a:cs typeface="Cambria Math"/>
              </a:rPr>
              <a:t> </a:t>
            </a:r>
            <a:r>
              <a:rPr sz="3200" spc="25" dirty="0">
                <a:latin typeface="Cambria Math"/>
                <a:cs typeface="Cambria Math"/>
              </a:rPr>
              <a:t>|𝑌)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25194" y="4550995"/>
            <a:ext cx="6514465" cy="109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9500"/>
              </a:lnSpc>
              <a:spcBef>
                <a:spcPts val="100"/>
              </a:spcBef>
              <a:tabLst>
                <a:tab pos="2038985" algn="l"/>
                <a:tab pos="3311525" algn="l"/>
                <a:tab pos="5534025" algn="l"/>
                <a:tab pos="6040120" algn="l"/>
              </a:tabLst>
            </a:pPr>
            <a:r>
              <a:rPr sz="3200" spc="-5" dirty="0">
                <a:latin typeface="Segoe UI"/>
                <a:cs typeface="Segoe UI"/>
              </a:rPr>
              <a:t>i.e.,</a:t>
            </a:r>
            <a:r>
              <a:rPr sz="3200" spc="1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that</a:t>
            </a:r>
            <a:r>
              <a:rPr sz="3200" spc="15" dirty="0">
                <a:latin typeface="Segoe UI"/>
                <a:cs typeface="Segoe UI"/>
              </a:rPr>
              <a:t> </a:t>
            </a:r>
            <a:r>
              <a:rPr sz="3200" spc="-40" dirty="0">
                <a:latin typeface="Cambria Math"/>
                <a:cs typeface="Cambria Math"/>
              </a:rPr>
              <a:t>𝑋</a:t>
            </a:r>
            <a:r>
              <a:rPr sz="3525" spc="-60" baseline="-15366" dirty="0">
                <a:latin typeface="Cambria Math"/>
                <a:cs typeface="Cambria Math"/>
              </a:rPr>
              <a:t>𝑖	</a:t>
            </a:r>
            <a:r>
              <a:rPr sz="3200" dirty="0">
                <a:latin typeface="Segoe UI"/>
                <a:cs typeface="Segoe UI"/>
              </a:rPr>
              <a:t>and</a:t>
            </a:r>
            <a:r>
              <a:rPr sz="3200" spc="-20" dirty="0">
                <a:latin typeface="Segoe UI"/>
                <a:cs typeface="Segoe UI"/>
              </a:rPr>
              <a:t> </a:t>
            </a:r>
            <a:r>
              <a:rPr sz="3200" spc="-95" dirty="0">
                <a:latin typeface="Cambria Math"/>
                <a:cs typeface="Cambria Math"/>
              </a:rPr>
              <a:t>𝑋</a:t>
            </a:r>
            <a:r>
              <a:rPr sz="3525" spc="-142" baseline="-15366" dirty="0">
                <a:latin typeface="Cambria Math"/>
                <a:cs typeface="Cambria Math"/>
              </a:rPr>
              <a:t>𝑗	</a:t>
            </a:r>
            <a:r>
              <a:rPr sz="3200" spc="-10" dirty="0">
                <a:latin typeface="Segoe UI"/>
                <a:cs typeface="Segoe UI"/>
              </a:rPr>
              <a:t>are</a:t>
            </a:r>
            <a:r>
              <a:rPr sz="3200" spc="-75" dirty="0">
                <a:latin typeface="Segoe UI"/>
                <a:cs typeface="Segoe UI"/>
              </a:rPr>
              <a:t> </a:t>
            </a:r>
            <a:r>
              <a:rPr sz="3200" b="1" dirty="0">
                <a:latin typeface="Segoe UI"/>
                <a:cs typeface="Segoe UI"/>
              </a:rPr>
              <a:t>conditionally  </a:t>
            </a:r>
            <a:r>
              <a:rPr sz="3200" b="1" spc="-5" dirty="0">
                <a:latin typeface="Segoe UI"/>
                <a:cs typeface="Segoe UI"/>
              </a:rPr>
              <a:t>independent </a:t>
            </a:r>
            <a:r>
              <a:rPr sz="3200" spc="-5" dirty="0">
                <a:latin typeface="Segoe UI"/>
                <a:cs typeface="Segoe UI"/>
              </a:rPr>
              <a:t>given </a:t>
            </a:r>
            <a:r>
              <a:rPr sz="3200" spc="-140" dirty="0">
                <a:latin typeface="Segoe UI"/>
                <a:cs typeface="Segoe UI"/>
              </a:rPr>
              <a:t>Y, </a:t>
            </a:r>
            <a:r>
              <a:rPr sz="3200" dirty="0">
                <a:latin typeface="Segoe UI"/>
                <a:cs typeface="Segoe UI"/>
              </a:rPr>
              <a:t>for</a:t>
            </a:r>
            <a:r>
              <a:rPr sz="3200" spc="215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all</a:t>
            </a:r>
            <a:r>
              <a:rPr sz="3200" spc="10" dirty="0">
                <a:latin typeface="Segoe UI"/>
                <a:cs typeface="Segoe UI"/>
              </a:rPr>
              <a:t> </a:t>
            </a:r>
            <a:r>
              <a:rPr sz="3200" dirty="0">
                <a:latin typeface="Cambria Math"/>
                <a:cs typeface="Cambria Math"/>
              </a:rPr>
              <a:t>𝑖	≠	𝑗</a:t>
            </a:r>
            <a:endParaRPr sz="3200">
              <a:latin typeface="Cambria Math"/>
              <a:cs typeface="Cambria Math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3CADF5-ADD0-431A-870F-A8079B3C7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276600"/>
            <a:ext cx="1391478" cy="75537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7136" y="483234"/>
            <a:ext cx="61887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Conditional</a:t>
            </a:r>
            <a:r>
              <a:rPr spc="-85" dirty="0"/>
              <a:t> </a:t>
            </a:r>
            <a:r>
              <a:rPr spc="-5" dirty="0"/>
              <a:t>Independence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786" y="2140051"/>
            <a:ext cx="8727440" cy="287972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54965" algn="l"/>
                <a:tab pos="356235" algn="l"/>
              </a:tabLst>
            </a:pPr>
            <a:r>
              <a:rPr sz="3200" spc="-5" dirty="0">
                <a:latin typeface="Segoe UI"/>
                <a:cs typeface="Segoe UI"/>
              </a:rPr>
              <a:t>Definition:</a:t>
            </a:r>
            <a:endParaRPr sz="3200">
              <a:latin typeface="Segoe UI"/>
              <a:cs typeface="Segoe UI"/>
            </a:endParaRPr>
          </a:p>
          <a:p>
            <a:pPr marL="607060" marR="690245" indent="-252095">
              <a:lnSpc>
                <a:spcPct val="120000"/>
              </a:lnSpc>
            </a:pPr>
            <a:r>
              <a:rPr sz="3200" dirty="0">
                <a:latin typeface="Segoe UI"/>
                <a:cs typeface="Segoe UI"/>
              </a:rPr>
              <a:t>X </a:t>
            </a:r>
            <a:r>
              <a:rPr sz="3200" spc="-5" dirty="0">
                <a:latin typeface="Segoe UI"/>
                <a:cs typeface="Segoe UI"/>
              </a:rPr>
              <a:t>is </a:t>
            </a:r>
            <a:r>
              <a:rPr sz="3200" dirty="0">
                <a:latin typeface="Segoe UI"/>
                <a:cs typeface="Segoe UI"/>
              </a:rPr>
              <a:t>conditionally </a:t>
            </a:r>
            <a:r>
              <a:rPr sz="3200" spc="-5" dirty="0">
                <a:latin typeface="Segoe UI"/>
                <a:cs typeface="Segoe UI"/>
              </a:rPr>
              <a:t>independent </a:t>
            </a:r>
            <a:r>
              <a:rPr sz="3200" dirty="0">
                <a:latin typeface="Segoe UI"/>
                <a:cs typeface="Segoe UI"/>
              </a:rPr>
              <a:t>of Y given Z  if </a:t>
            </a:r>
            <a:r>
              <a:rPr sz="3200" b="1" spc="-50" dirty="0">
                <a:latin typeface="Segoe UI"/>
                <a:cs typeface="Segoe UI"/>
              </a:rPr>
              <a:t>P(X|Y,Z) </a:t>
            </a:r>
            <a:r>
              <a:rPr sz="3200" b="1" dirty="0">
                <a:latin typeface="Segoe UI"/>
                <a:cs typeface="Segoe UI"/>
              </a:rPr>
              <a:t>=</a:t>
            </a:r>
            <a:r>
              <a:rPr sz="3200" b="1" spc="35" dirty="0">
                <a:latin typeface="Segoe UI"/>
                <a:cs typeface="Segoe UI"/>
              </a:rPr>
              <a:t> </a:t>
            </a:r>
            <a:r>
              <a:rPr sz="3200" b="1" spc="-5" dirty="0">
                <a:latin typeface="Segoe UI"/>
                <a:cs typeface="Segoe UI"/>
              </a:rPr>
              <a:t>P(X|Z)</a:t>
            </a:r>
            <a:endParaRPr sz="3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600">
              <a:latin typeface="Segoe UI"/>
              <a:cs typeface="Segoe UI"/>
            </a:endParaRPr>
          </a:p>
          <a:p>
            <a:pPr marL="364490" indent="-343535">
              <a:lnSpc>
                <a:spcPct val="100000"/>
              </a:lnSpc>
              <a:buFont typeface="Arial"/>
              <a:buChar char="•"/>
              <a:tabLst>
                <a:tab pos="363855" algn="l"/>
                <a:tab pos="365125" algn="l"/>
              </a:tabLst>
            </a:pPr>
            <a:r>
              <a:rPr sz="3200" spc="-15" dirty="0">
                <a:latin typeface="Segoe UI"/>
                <a:cs typeface="Segoe UI"/>
              </a:rPr>
              <a:t>Recall </a:t>
            </a:r>
            <a:r>
              <a:rPr sz="3200" dirty="0">
                <a:latin typeface="Segoe UI"/>
                <a:cs typeface="Segoe UI"/>
              </a:rPr>
              <a:t>that X </a:t>
            </a:r>
            <a:r>
              <a:rPr sz="3200" spc="-5" dirty="0">
                <a:latin typeface="Segoe UI"/>
                <a:cs typeface="Segoe UI"/>
              </a:rPr>
              <a:t>is independent </a:t>
            </a:r>
            <a:r>
              <a:rPr sz="3200" spc="-40" dirty="0">
                <a:latin typeface="Segoe UI"/>
                <a:cs typeface="Segoe UI"/>
              </a:rPr>
              <a:t>of </a:t>
            </a:r>
            <a:r>
              <a:rPr sz="3200" dirty="0">
                <a:latin typeface="Segoe UI"/>
                <a:cs typeface="Segoe UI"/>
              </a:rPr>
              <a:t>Y </a:t>
            </a:r>
            <a:r>
              <a:rPr sz="3200" spc="-5" dirty="0">
                <a:latin typeface="Segoe UI"/>
                <a:cs typeface="Segoe UI"/>
              </a:rPr>
              <a:t>if</a:t>
            </a:r>
            <a:r>
              <a:rPr sz="3200" spc="10" dirty="0">
                <a:latin typeface="Segoe UI"/>
                <a:cs typeface="Segoe UI"/>
              </a:rPr>
              <a:t> </a:t>
            </a:r>
            <a:r>
              <a:rPr sz="3200" spc="-20" dirty="0">
                <a:latin typeface="Segoe UI"/>
                <a:cs typeface="Segoe UI"/>
              </a:rPr>
              <a:t>P(</a:t>
            </a:r>
            <a:r>
              <a:rPr sz="3200" spc="-20" dirty="0">
                <a:latin typeface="Palatino Linotype"/>
                <a:cs typeface="Palatino Linotype"/>
              </a:rPr>
              <a:t>X</a:t>
            </a:r>
            <a:r>
              <a:rPr sz="3200" spc="-20" dirty="0">
                <a:latin typeface="Segoe UI"/>
                <a:cs typeface="Segoe UI"/>
              </a:rPr>
              <a:t>|</a:t>
            </a:r>
            <a:r>
              <a:rPr sz="3200" spc="-20" dirty="0">
                <a:latin typeface="Palatino Linotype"/>
                <a:cs typeface="Palatino Linotype"/>
              </a:rPr>
              <a:t>Y</a:t>
            </a:r>
            <a:r>
              <a:rPr sz="3200" spc="-20" dirty="0">
                <a:latin typeface="Segoe UI"/>
                <a:cs typeface="Segoe UI"/>
              </a:rPr>
              <a:t>)=P(</a:t>
            </a:r>
            <a:r>
              <a:rPr sz="3200" spc="-20" dirty="0">
                <a:latin typeface="Palatino Linotype"/>
                <a:cs typeface="Palatino Linotype"/>
              </a:rPr>
              <a:t>X</a:t>
            </a:r>
            <a:r>
              <a:rPr sz="3200" spc="-20" dirty="0">
                <a:latin typeface="Segoe UI"/>
                <a:cs typeface="Segoe UI"/>
              </a:rPr>
              <a:t>)</a:t>
            </a:r>
            <a:endParaRPr sz="3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7217" y="483234"/>
            <a:ext cx="49091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Naïve Bayes</a:t>
            </a:r>
            <a:r>
              <a:rPr spc="-70" dirty="0"/>
              <a:t> </a:t>
            </a:r>
            <a:r>
              <a:rPr spc="-5" dirty="0"/>
              <a:t>classifier</a:t>
            </a:r>
          </a:p>
        </p:txBody>
      </p:sp>
      <p:sp>
        <p:nvSpPr>
          <p:cNvPr id="3" name="object 3"/>
          <p:cNvSpPr/>
          <p:nvPr/>
        </p:nvSpPr>
        <p:spPr>
          <a:xfrm>
            <a:off x="4032503" y="2192401"/>
            <a:ext cx="1319530" cy="377190"/>
          </a:xfrm>
          <a:custGeom>
            <a:avLst/>
            <a:gdLst/>
            <a:ahLst/>
            <a:cxnLst/>
            <a:rect l="l" t="t" r="r" b="b"/>
            <a:pathLst>
              <a:path w="1319529" h="377189">
                <a:moveTo>
                  <a:pt x="1319530" y="2794"/>
                </a:moveTo>
                <a:lnTo>
                  <a:pt x="1288923" y="2794"/>
                </a:lnTo>
                <a:lnTo>
                  <a:pt x="1288923" y="372618"/>
                </a:lnTo>
                <a:lnTo>
                  <a:pt x="1319530" y="372618"/>
                </a:lnTo>
                <a:lnTo>
                  <a:pt x="1319530" y="2794"/>
                </a:lnTo>
                <a:close/>
              </a:path>
              <a:path w="1319529" h="377189">
                <a:moveTo>
                  <a:pt x="120269" y="0"/>
                </a:moveTo>
                <a:lnTo>
                  <a:pt x="68929" y="24225"/>
                </a:lnTo>
                <a:lnTo>
                  <a:pt x="31115" y="66166"/>
                </a:lnTo>
                <a:lnTo>
                  <a:pt x="7794" y="122142"/>
                </a:lnTo>
                <a:lnTo>
                  <a:pt x="0" y="188595"/>
                </a:lnTo>
                <a:lnTo>
                  <a:pt x="1930" y="223246"/>
                </a:lnTo>
                <a:lnTo>
                  <a:pt x="17412" y="284499"/>
                </a:lnTo>
                <a:lnTo>
                  <a:pt x="48206" y="334198"/>
                </a:lnTo>
                <a:lnTo>
                  <a:pt x="92835" y="367103"/>
                </a:lnTo>
                <a:lnTo>
                  <a:pt x="120269" y="376936"/>
                </a:lnTo>
                <a:lnTo>
                  <a:pt x="124968" y="361696"/>
                </a:lnTo>
                <a:lnTo>
                  <a:pt x="103489" y="352143"/>
                </a:lnTo>
                <a:lnTo>
                  <a:pt x="84962" y="338899"/>
                </a:lnTo>
                <a:lnTo>
                  <a:pt x="56769" y="301244"/>
                </a:lnTo>
                <a:lnTo>
                  <a:pt x="39973" y="249999"/>
                </a:lnTo>
                <a:lnTo>
                  <a:pt x="34417" y="186562"/>
                </a:lnTo>
                <a:lnTo>
                  <a:pt x="35802" y="154441"/>
                </a:lnTo>
                <a:lnTo>
                  <a:pt x="46954" y="98677"/>
                </a:lnTo>
                <a:lnTo>
                  <a:pt x="69435" y="54675"/>
                </a:lnTo>
                <a:lnTo>
                  <a:pt x="103864" y="24818"/>
                </a:lnTo>
                <a:lnTo>
                  <a:pt x="125603" y="15366"/>
                </a:lnTo>
                <a:lnTo>
                  <a:pt x="1202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551932" y="2779141"/>
            <a:ext cx="1332230" cy="377190"/>
          </a:xfrm>
          <a:custGeom>
            <a:avLst/>
            <a:gdLst/>
            <a:ahLst/>
            <a:cxnLst/>
            <a:rect l="l" t="t" r="r" b="b"/>
            <a:pathLst>
              <a:path w="1332229" h="377189">
                <a:moveTo>
                  <a:pt x="1331721" y="2794"/>
                </a:moveTo>
                <a:lnTo>
                  <a:pt x="1301114" y="2794"/>
                </a:lnTo>
                <a:lnTo>
                  <a:pt x="1301114" y="372618"/>
                </a:lnTo>
                <a:lnTo>
                  <a:pt x="1331721" y="372618"/>
                </a:lnTo>
                <a:lnTo>
                  <a:pt x="1331721" y="2794"/>
                </a:lnTo>
                <a:close/>
              </a:path>
              <a:path w="1332229" h="377189">
                <a:moveTo>
                  <a:pt x="120268" y="0"/>
                </a:moveTo>
                <a:lnTo>
                  <a:pt x="68929" y="24225"/>
                </a:lnTo>
                <a:lnTo>
                  <a:pt x="31114" y="66167"/>
                </a:lnTo>
                <a:lnTo>
                  <a:pt x="7794" y="122142"/>
                </a:lnTo>
                <a:lnTo>
                  <a:pt x="0" y="188595"/>
                </a:lnTo>
                <a:lnTo>
                  <a:pt x="1930" y="223246"/>
                </a:lnTo>
                <a:lnTo>
                  <a:pt x="17412" y="284499"/>
                </a:lnTo>
                <a:lnTo>
                  <a:pt x="48206" y="334198"/>
                </a:lnTo>
                <a:lnTo>
                  <a:pt x="92835" y="367103"/>
                </a:lnTo>
                <a:lnTo>
                  <a:pt x="120268" y="376936"/>
                </a:lnTo>
                <a:lnTo>
                  <a:pt x="124967" y="361696"/>
                </a:lnTo>
                <a:lnTo>
                  <a:pt x="103489" y="352143"/>
                </a:lnTo>
                <a:lnTo>
                  <a:pt x="84962" y="338899"/>
                </a:lnTo>
                <a:lnTo>
                  <a:pt x="56768" y="301244"/>
                </a:lnTo>
                <a:lnTo>
                  <a:pt x="39973" y="249999"/>
                </a:lnTo>
                <a:lnTo>
                  <a:pt x="34416" y="186562"/>
                </a:lnTo>
                <a:lnTo>
                  <a:pt x="35802" y="154441"/>
                </a:lnTo>
                <a:lnTo>
                  <a:pt x="46954" y="98677"/>
                </a:lnTo>
                <a:lnTo>
                  <a:pt x="69435" y="54675"/>
                </a:lnTo>
                <a:lnTo>
                  <a:pt x="103864" y="24818"/>
                </a:lnTo>
                <a:lnTo>
                  <a:pt x="125602" y="15367"/>
                </a:lnTo>
                <a:lnTo>
                  <a:pt x="12026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38900" y="3848989"/>
            <a:ext cx="1551305" cy="377190"/>
          </a:xfrm>
          <a:custGeom>
            <a:avLst/>
            <a:gdLst/>
            <a:ahLst/>
            <a:cxnLst/>
            <a:rect l="l" t="t" r="r" b="b"/>
            <a:pathLst>
              <a:path w="1551304" h="377189">
                <a:moveTo>
                  <a:pt x="1551177" y="2793"/>
                </a:moveTo>
                <a:lnTo>
                  <a:pt x="1520571" y="2793"/>
                </a:lnTo>
                <a:lnTo>
                  <a:pt x="1520571" y="372618"/>
                </a:lnTo>
                <a:lnTo>
                  <a:pt x="1551177" y="372618"/>
                </a:lnTo>
                <a:lnTo>
                  <a:pt x="1551177" y="2793"/>
                </a:lnTo>
                <a:close/>
              </a:path>
              <a:path w="1551304" h="377189">
                <a:moveTo>
                  <a:pt x="120269" y="0"/>
                </a:moveTo>
                <a:lnTo>
                  <a:pt x="68929" y="24225"/>
                </a:lnTo>
                <a:lnTo>
                  <a:pt x="31114" y="66167"/>
                </a:lnTo>
                <a:lnTo>
                  <a:pt x="7794" y="122142"/>
                </a:lnTo>
                <a:lnTo>
                  <a:pt x="0" y="188594"/>
                </a:lnTo>
                <a:lnTo>
                  <a:pt x="1930" y="223246"/>
                </a:lnTo>
                <a:lnTo>
                  <a:pt x="17412" y="284499"/>
                </a:lnTo>
                <a:lnTo>
                  <a:pt x="48206" y="334198"/>
                </a:lnTo>
                <a:lnTo>
                  <a:pt x="92835" y="367103"/>
                </a:lnTo>
                <a:lnTo>
                  <a:pt x="120269" y="376936"/>
                </a:lnTo>
                <a:lnTo>
                  <a:pt x="124968" y="361696"/>
                </a:lnTo>
                <a:lnTo>
                  <a:pt x="103489" y="352143"/>
                </a:lnTo>
                <a:lnTo>
                  <a:pt x="84962" y="338899"/>
                </a:lnTo>
                <a:lnTo>
                  <a:pt x="56769" y="301244"/>
                </a:lnTo>
                <a:lnTo>
                  <a:pt x="39973" y="249999"/>
                </a:lnTo>
                <a:lnTo>
                  <a:pt x="34416" y="186562"/>
                </a:lnTo>
                <a:lnTo>
                  <a:pt x="35802" y="154441"/>
                </a:lnTo>
                <a:lnTo>
                  <a:pt x="46954" y="98677"/>
                </a:lnTo>
                <a:lnTo>
                  <a:pt x="69435" y="54675"/>
                </a:lnTo>
                <a:lnTo>
                  <a:pt x="103864" y="24818"/>
                </a:lnTo>
                <a:lnTo>
                  <a:pt x="125602" y="15367"/>
                </a:lnTo>
                <a:lnTo>
                  <a:pt x="120269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1670" y="1978888"/>
            <a:ext cx="8865235" cy="400366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880"/>
              </a:spcBef>
              <a:tabLst>
                <a:tab pos="803910" algn="l"/>
                <a:tab pos="1522095" algn="l"/>
                <a:tab pos="3704590" algn="l"/>
                <a:tab pos="4939030" algn="l"/>
              </a:tabLst>
            </a:pPr>
            <a:r>
              <a:rPr sz="3200" spc="-1375" dirty="0">
                <a:latin typeface="Cambria Math"/>
                <a:cs typeface="Cambria Math"/>
              </a:rPr>
              <a:t>𝑦	</a:t>
            </a:r>
            <a:r>
              <a:rPr sz="3200" dirty="0">
                <a:latin typeface="Cambria Math"/>
                <a:cs typeface="Cambria Math"/>
              </a:rPr>
              <a:t>=	</a:t>
            </a:r>
            <a:r>
              <a:rPr sz="3200" spc="15" dirty="0">
                <a:latin typeface="Cambria Math"/>
                <a:cs typeface="Cambria Math"/>
              </a:rPr>
              <a:t>𝑎𝑟𝑔𝑚𝑎𝑥</a:t>
            </a:r>
            <a:r>
              <a:rPr sz="3525" spc="22" baseline="-15366" dirty="0">
                <a:latin typeface="Cambria Math"/>
                <a:cs typeface="Cambria Math"/>
              </a:rPr>
              <a:t>𝑦</a:t>
            </a:r>
            <a:r>
              <a:rPr sz="3525" spc="585" baseline="-15366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𝑃	𝑌</a:t>
            </a:r>
            <a:r>
              <a:rPr sz="3200" spc="260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=</a:t>
            </a:r>
            <a:r>
              <a:rPr sz="3200" spc="175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𝑦	𝑋 =</a:t>
            </a:r>
            <a:r>
              <a:rPr sz="3200" spc="-270" dirty="0">
                <a:latin typeface="Cambria Math"/>
                <a:cs typeface="Cambria Math"/>
              </a:rPr>
              <a:t> </a:t>
            </a:r>
            <a:r>
              <a:rPr sz="3200" spc="40" dirty="0">
                <a:latin typeface="Cambria Math"/>
                <a:cs typeface="Cambria Math"/>
              </a:rPr>
              <a:t>𝑥)</a:t>
            </a:r>
            <a:endParaRPr sz="3200" dirty="0">
              <a:latin typeface="Cambria Math"/>
              <a:cs typeface="Cambria Math"/>
            </a:endParaRPr>
          </a:p>
          <a:p>
            <a:pPr marL="803910">
              <a:lnSpc>
                <a:spcPct val="100000"/>
              </a:lnSpc>
              <a:spcBef>
                <a:spcPts val="780"/>
              </a:spcBef>
              <a:tabLst>
                <a:tab pos="1514475" algn="l"/>
                <a:tab pos="5224145" algn="l"/>
                <a:tab pos="6470650" algn="l"/>
              </a:tabLst>
            </a:pPr>
            <a:r>
              <a:rPr sz="3200" dirty="0">
                <a:latin typeface="Cambria Math"/>
                <a:cs typeface="Cambria Math"/>
              </a:rPr>
              <a:t>=	</a:t>
            </a:r>
            <a:r>
              <a:rPr sz="3200" spc="35" dirty="0">
                <a:latin typeface="Cambria Math"/>
                <a:cs typeface="Cambria Math"/>
              </a:rPr>
              <a:t>𝑎𝑟𝑔𝑚𝑎𝑥</a:t>
            </a:r>
            <a:r>
              <a:rPr sz="3525" spc="52" baseline="-15366" dirty="0">
                <a:latin typeface="Cambria Math"/>
                <a:cs typeface="Cambria Math"/>
              </a:rPr>
              <a:t>𝑦</a:t>
            </a:r>
            <a:r>
              <a:rPr sz="3200" spc="35" dirty="0">
                <a:solidFill>
                  <a:srgbClr val="FF0000"/>
                </a:solidFill>
                <a:latin typeface="Cambria Math"/>
                <a:cs typeface="Cambria Math"/>
              </a:rPr>
              <a:t>𝑃(𝑌</a:t>
            </a:r>
            <a:r>
              <a:rPr sz="3200" spc="25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2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3200" spc="1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200" spc="20" dirty="0">
                <a:solidFill>
                  <a:srgbClr val="FF0000"/>
                </a:solidFill>
                <a:latin typeface="Cambria Math"/>
                <a:cs typeface="Cambria Math"/>
              </a:rPr>
              <a:t>𝑦)𝑃	</a:t>
            </a:r>
            <a:r>
              <a:rPr sz="3200" dirty="0">
                <a:solidFill>
                  <a:srgbClr val="FF0000"/>
                </a:solidFill>
                <a:latin typeface="Cambria Math"/>
                <a:cs typeface="Cambria Math"/>
              </a:rPr>
              <a:t>𝑋</a:t>
            </a:r>
            <a:r>
              <a:rPr sz="3200" spc="25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2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3200" spc="17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200" dirty="0">
                <a:solidFill>
                  <a:srgbClr val="FF0000"/>
                </a:solidFill>
                <a:latin typeface="Cambria Math"/>
                <a:cs typeface="Cambria Math"/>
              </a:rPr>
              <a:t>𝑥	𝑌 =</a:t>
            </a:r>
            <a:r>
              <a:rPr sz="3200" spc="-2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200" spc="20" dirty="0">
                <a:solidFill>
                  <a:srgbClr val="FF0000"/>
                </a:solidFill>
                <a:latin typeface="Cambria Math"/>
                <a:cs typeface="Cambria Math"/>
              </a:rPr>
              <a:t>𝑦)</a:t>
            </a:r>
            <a:endParaRPr sz="3200" dirty="0">
              <a:latin typeface="Cambria Math"/>
              <a:cs typeface="Cambria Math"/>
            </a:endParaRPr>
          </a:p>
          <a:p>
            <a:pPr marL="1736725" algn="ctr">
              <a:lnSpc>
                <a:spcPct val="100000"/>
              </a:lnSpc>
              <a:spcBef>
                <a:spcPts val="670"/>
              </a:spcBef>
            </a:pPr>
            <a:endParaRPr sz="2350" dirty="0">
              <a:latin typeface="Cambria Math"/>
              <a:cs typeface="Cambria Math"/>
            </a:endParaRPr>
          </a:p>
          <a:p>
            <a:pPr marL="803910">
              <a:lnSpc>
                <a:spcPct val="100000"/>
              </a:lnSpc>
              <a:spcBef>
                <a:spcPts val="1095"/>
              </a:spcBef>
              <a:tabLst>
                <a:tab pos="1652905" algn="l"/>
                <a:tab pos="6111240" algn="l"/>
                <a:tab pos="6598920" algn="l"/>
                <a:tab pos="7577455" algn="l"/>
              </a:tabLst>
            </a:pPr>
            <a:r>
              <a:rPr sz="3200" dirty="0">
                <a:latin typeface="Cambria Math"/>
                <a:cs typeface="Cambria Math"/>
              </a:rPr>
              <a:t>=	</a:t>
            </a:r>
            <a:r>
              <a:rPr sz="3200" spc="35" dirty="0">
                <a:latin typeface="Cambria Math"/>
                <a:cs typeface="Cambria Math"/>
              </a:rPr>
              <a:t>𝑎𝑟𝑔𝑚𝑎𝑥</a:t>
            </a:r>
            <a:r>
              <a:rPr sz="3525" spc="52" baseline="-15366" dirty="0">
                <a:latin typeface="Cambria Math"/>
                <a:cs typeface="Cambria Math"/>
              </a:rPr>
              <a:t>𝑦</a:t>
            </a:r>
            <a:r>
              <a:rPr sz="3200" spc="35" dirty="0">
                <a:latin typeface="Cambria Math"/>
                <a:cs typeface="Cambria Math"/>
              </a:rPr>
              <a:t>𝑃(𝑌 </a:t>
            </a:r>
            <a:r>
              <a:rPr sz="3200" dirty="0">
                <a:latin typeface="Cambria Math"/>
                <a:cs typeface="Cambria Math"/>
              </a:rPr>
              <a:t>=</a:t>
            </a:r>
            <a:r>
              <a:rPr sz="3200" spc="405" dirty="0">
                <a:latin typeface="Cambria Math"/>
                <a:cs typeface="Cambria Math"/>
              </a:rPr>
              <a:t> </a:t>
            </a:r>
            <a:r>
              <a:rPr sz="3200" spc="20" dirty="0">
                <a:latin typeface="Cambria Math"/>
                <a:cs typeface="Cambria Math"/>
              </a:rPr>
              <a:t>𝑦)  </a:t>
            </a:r>
            <a:r>
              <a:rPr sz="3200" spc="20" dirty="0">
                <a:solidFill>
                  <a:srgbClr val="1B577B"/>
                </a:solidFill>
                <a:latin typeface="Cambria Math"/>
                <a:cs typeface="Cambria Math"/>
              </a:rPr>
              <a:t>    </a:t>
            </a:r>
            <a:r>
              <a:rPr sz="3200" spc="265" dirty="0">
                <a:solidFill>
                  <a:srgbClr val="1B577B"/>
                </a:solidFill>
                <a:latin typeface="Cambria Math"/>
                <a:cs typeface="Cambria Math"/>
              </a:rPr>
              <a:t> </a:t>
            </a:r>
            <a:r>
              <a:rPr lang="en-US" sz="3200" spc="265" dirty="0">
                <a:solidFill>
                  <a:srgbClr val="1B577B"/>
                </a:solidFill>
                <a:latin typeface="Cambria Math"/>
                <a:cs typeface="Cambria Math"/>
              </a:rPr>
              <a:t> </a:t>
            </a:r>
            <a:r>
              <a:rPr sz="3200" dirty="0">
                <a:solidFill>
                  <a:srgbClr val="1B577B"/>
                </a:solidFill>
                <a:latin typeface="Cambria Math"/>
                <a:cs typeface="Cambria Math"/>
              </a:rPr>
              <a:t>𝑃	</a:t>
            </a:r>
            <a:r>
              <a:rPr sz="3200" spc="-40" dirty="0">
                <a:solidFill>
                  <a:srgbClr val="1B577B"/>
                </a:solidFill>
                <a:latin typeface="Cambria Math"/>
                <a:cs typeface="Cambria Math"/>
              </a:rPr>
              <a:t>𝑋</a:t>
            </a:r>
            <a:r>
              <a:rPr sz="3525" spc="-60" baseline="-15366" dirty="0">
                <a:solidFill>
                  <a:srgbClr val="1B577B"/>
                </a:solidFill>
                <a:latin typeface="Cambria Math"/>
                <a:cs typeface="Cambria Math"/>
              </a:rPr>
              <a:t>𝑖	</a:t>
            </a:r>
            <a:r>
              <a:rPr sz="3200" dirty="0">
                <a:solidFill>
                  <a:srgbClr val="1B577B"/>
                </a:solidFill>
                <a:latin typeface="Cambria Math"/>
                <a:cs typeface="Cambria Math"/>
              </a:rPr>
              <a:t>=</a:t>
            </a:r>
            <a:r>
              <a:rPr sz="3200" spc="175" dirty="0">
                <a:solidFill>
                  <a:srgbClr val="1B577B"/>
                </a:solidFill>
                <a:latin typeface="Cambria Math"/>
                <a:cs typeface="Cambria Math"/>
              </a:rPr>
              <a:t> </a:t>
            </a:r>
            <a:r>
              <a:rPr sz="3200" spc="15" dirty="0">
                <a:solidFill>
                  <a:srgbClr val="1B577B"/>
                </a:solidFill>
                <a:latin typeface="Cambria Math"/>
                <a:cs typeface="Cambria Math"/>
              </a:rPr>
              <a:t>𝑥</a:t>
            </a:r>
            <a:r>
              <a:rPr sz="3525" spc="22" baseline="-15366" dirty="0">
                <a:solidFill>
                  <a:srgbClr val="1B577B"/>
                </a:solidFill>
                <a:latin typeface="Cambria Math"/>
                <a:cs typeface="Cambria Math"/>
              </a:rPr>
              <a:t>𝑖	</a:t>
            </a:r>
            <a:r>
              <a:rPr sz="3200" dirty="0">
                <a:solidFill>
                  <a:srgbClr val="1B577B"/>
                </a:solidFill>
                <a:latin typeface="Cambria Math"/>
                <a:cs typeface="Cambria Math"/>
              </a:rPr>
              <a:t>𝑌 =</a:t>
            </a:r>
            <a:r>
              <a:rPr sz="3200" spc="370" dirty="0">
                <a:solidFill>
                  <a:srgbClr val="1B577B"/>
                </a:solidFill>
                <a:latin typeface="Cambria Math"/>
                <a:cs typeface="Cambria Math"/>
              </a:rPr>
              <a:t> </a:t>
            </a:r>
            <a:r>
              <a:rPr sz="3200" spc="20" dirty="0">
                <a:solidFill>
                  <a:srgbClr val="1B577B"/>
                </a:solidFill>
                <a:latin typeface="Cambria Math"/>
                <a:cs typeface="Cambria Math"/>
              </a:rPr>
              <a:t>𝑦)</a:t>
            </a:r>
            <a:endParaRPr sz="235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3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00" dirty="0">
              <a:latin typeface="Cambria Math"/>
              <a:cs typeface="Cambria Math"/>
            </a:endParaRPr>
          </a:p>
          <a:p>
            <a:pPr marL="25400">
              <a:lnSpc>
                <a:spcPct val="100000"/>
              </a:lnSpc>
            </a:pPr>
            <a:r>
              <a:rPr sz="3200" spc="-5" dirty="0">
                <a:solidFill>
                  <a:srgbClr val="FF0000"/>
                </a:solidFill>
                <a:latin typeface="Segoe UI"/>
                <a:cs typeface="Segoe UI"/>
              </a:rPr>
              <a:t>Bayes</a:t>
            </a:r>
            <a:r>
              <a:rPr sz="3200" spc="-2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3200" dirty="0">
                <a:solidFill>
                  <a:srgbClr val="FF0000"/>
                </a:solidFill>
                <a:latin typeface="Segoe UI"/>
                <a:cs typeface="Segoe UI"/>
              </a:rPr>
              <a:t>rule</a:t>
            </a:r>
            <a:endParaRPr sz="3200" dirty="0">
              <a:latin typeface="Segoe UI"/>
              <a:cs typeface="Segoe UI"/>
            </a:endParaRPr>
          </a:p>
          <a:p>
            <a:pPr marL="2540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Segoe UI"/>
                <a:cs typeface="Segoe UI"/>
              </a:rPr>
              <a:t>+ </a:t>
            </a:r>
            <a:r>
              <a:rPr sz="3200" spc="-5" dirty="0">
                <a:solidFill>
                  <a:srgbClr val="1B577B"/>
                </a:solidFill>
                <a:latin typeface="Segoe UI"/>
                <a:cs typeface="Segoe UI"/>
              </a:rPr>
              <a:t>Conditional independence</a:t>
            </a:r>
            <a:r>
              <a:rPr sz="3200" spc="-10" dirty="0">
                <a:solidFill>
                  <a:srgbClr val="1B577B"/>
                </a:solidFill>
                <a:latin typeface="Segoe UI"/>
                <a:cs typeface="Segoe UI"/>
              </a:rPr>
              <a:t> </a:t>
            </a:r>
            <a:r>
              <a:rPr sz="3200" spc="-5" dirty="0">
                <a:solidFill>
                  <a:srgbClr val="1B577B"/>
                </a:solidFill>
                <a:latin typeface="Segoe UI"/>
                <a:cs typeface="Segoe UI"/>
              </a:rPr>
              <a:t>assumption</a:t>
            </a:r>
            <a:endParaRPr sz="3200" dirty="0">
              <a:latin typeface="Segoe UI"/>
              <a:cs typeface="Segoe U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083E22-6D43-46AB-855C-477782AFB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0383" y="3283226"/>
            <a:ext cx="715617" cy="144117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9878" y="147955"/>
            <a:ext cx="692594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9220" marR="5080" indent="-1367155">
              <a:lnSpc>
                <a:spcPct val="100000"/>
              </a:lnSpc>
              <a:spcBef>
                <a:spcPts val="100"/>
              </a:spcBef>
              <a:tabLst>
                <a:tab pos="2708910" algn="l"/>
              </a:tabLst>
            </a:pPr>
            <a:r>
              <a:rPr dirty="0"/>
              <a:t>How many parameters </a:t>
            </a:r>
            <a:r>
              <a:rPr spc="-5" dirty="0"/>
              <a:t>do</a:t>
            </a:r>
            <a:r>
              <a:rPr spc="-130" dirty="0"/>
              <a:t> </a:t>
            </a:r>
            <a:r>
              <a:rPr dirty="0"/>
              <a:t>we  </a:t>
            </a:r>
            <a:r>
              <a:rPr spc="-5" dirty="0"/>
              <a:t>need	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estimate?</a:t>
            </a:r>
          </a:p>
        </p:txBody>
      </p:sp>
      <p:sp>
        <p:nvSpPr>
          <p:cNvPr id="3" name="object 3"/>
          <p:cNvSpPr/>
          <p:nvPr/>
        </p:nvSpPr>
        <p:spPr>
          <a:xfrm>
            <a:off x="3326129" y="2908680"/>
            <a:ext cx="3817620" cy="377190"/>
          </a:xfrm>
          <a:custGeom>
            <a:avLst/>
            <a:gdLst/>
            <a:ahLst/>
            <a:cxnLst/>
            <a:rect l="l" t="t" r="r" b="b"/>
            <a:pathLst>
              <a:path w="3817620" h="377189">
                <a:moveTo>
                  <a:pt x="3817239" y="2794"/>
                </a:moveTo>
                <a:lnTo>
                  <a:pt x="3786631" y="2794"/>
                </a:lnTo>
                <a:lnTo>
                  <a:pt x="3786631" y="372618"/>
                </a:lnTo>
                <a:lnTo>
                  <a:pt x="3817239" y="372618"/>
                </a:lnTo>
                <a:lnTo>
                  <a:pt x="3817239" y="2794"/>
                </a:lnTo>
                <a:close/>
              </a:path>
              <a:path w="3817620" h="377189">
                <a:moveTo>
                  <a:pt x="120142" y="0"/>
                </a:moveTo>
                <a:lnTo>
                  <a:pt x="68897" y="24225"/>
                </a:lnTo>
                <a:lnTo>
                  <a:pt x="30987" y="66167"/>
                </a:lnTo>
                <a:lnTo>
                  <a:pt x="7731" y="122142"/>
                </a:lnTo>
                <a:lnTo>
                  <a:pt x="0" y="188595"/>
                </a:lnTo>
                <a:lnTo>
                  <a:pt x="1930" y="223246"/>
                </a:lnTo>
                <a:lnTo>
                  <a:pt x="17412" y="284499"/>
                </a:lnTo>
                <a:lnTo>
                  <a:pt x="48150" y="334198"/>
                </a:lnTo>
                <a:lnTo>
                  <a:pt x="92763" y="367103"/>
                </a:lnTo>
                <a:lnTo>
                  <a:pt x="120142" y="376936"/>
                </a:lnTo>
                <a:lnTo>
                  <a:pt x="124968" y="361696"/>
                </a:lnTo>
                <a:lnTo>
                  <a:pt x="103487" y="352143"/>
                </a:lnTo>
                <a:lnTo>
                  <a:pt x="84947" y="338899"/>
                </a:lnTo>
                <a:lnTo>
                  <a:pt x="56642" y="301244"/>
                </a:lnTo>
                <a:lnTo>
                  <a:pt x="39893" y="249999"/>
                </a:lnTo>
                <a:lnTo>
                  <a:pt x="34290" y="186563"/>
                </a:lnTo>
                <a:lnTo>
                  <a:pt x="35692" y="154441"/>
                </a:lnTo>
                <a:lnTo>
                  <a:pt x="46880" y="98677"/>
                </a:lnTo>
                <a:lnTo>
                  <a:pt x="69361" y="54675"/>
                </a:lnTo>
                <a:lnTo>
                  <a:pt x="103755" y="24818"/>
                </a:lnTo>
                <a:lnTo>
                  <a:pt x="125475" y="15367"/>
                </a:lnTo>
                <a:lnTo>
                  <a:pt x="1201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97840" y="2111476"/>
            <a:ext cx="7823200" cy="374459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sz="3200" spc="-165" dirty="0">
                <a:latin typeface="Segoe UI"/>
                <a:cs typeface="Segoe UI"/>
              </a:rPr>
              <a:t>To </a:t>
            </a:r>
            <a:r>
              <a:rPr sz="3200" dirty="0">
                <a:latin typeface="Segoe UI"/>
                <a:cs typeface="Segoe UI"/>
              </a:rPr>
              <a:t>describe</a:t>
            </a:r>
            <a:r>
              <a:rPr sz="3200" spc="14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P(Y)?</a:t>
            </a:r>
            <a:endParaRPr sz="3200">
              <a:latin typeface="Segoe UI"/>
              <a:cs typeface="Segoe UI"/>
            </a:endParaRPr>
          </a:p>
          <a:p>
            <a:pPr marL="3937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93065" algn="l"/>
                <a:tab pos="393700" algn="l"/>
                <a:tab pos="2961640" algn="l"/>
                <a:tab pos="6261735" algn="l"/>
              </a:tabLst>
            </a:pPr>
            <a:r>
              <a:rPr sz="3200" spc="-165" dirty="0">
                <a:latin typeface="Segoe UI"/>
                <a:cs typeface="Segoe UI"/>
              </a:rPr>
              <a:t>To</a:t>
            </a:r>
            <a:r>
              <a:rPr sz="3200" spc="-5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describe </a:t>
            </a:r>
            <a:r>
              <a:rPr sz="3200" dirty="0">
                <a:latin typeface="Cambria Math"/>
                <a:cs typeface="Cambria Math"/>
              </a:rPr>
              <a:t>𝑃	𝑋 = &lt; </a:t>
            </a:r>
            <a:r>
              <a:rPr sz="3200" spc="-10" dirty="0">
                <a:latin typeface="Cambria Math"/>
                <a:cs typeface="Cambria Math"/>
              </a:rPr>
              <a:t>𝑋</a:t>
            </a:r>
            <a:r>
              <a:rPr sz="3525" spc="-15" baseline="-15366" dirty="0">
                <a:latin typeface="Cambria Math"/>
                <a:cs typeface="Cambria Math"/>
              </a:rPr>
              <a:t>1</a:t>
            </a:r>
            <a:r>
              <a:rPr sz="3200" spc="-10" dirty="0">
                <a:latin typeface="Cambria Math"/>
                <a:cs typeface="Cambria Math"/>
              </a:rPr>
              <a:t>, </a:t>
            </a:r>
            <a:r>
              <a:rPr sz="3200" spc="10" dirty="0">
                <a:latin typeface="Cambria Math"/>
                <a:cs typeface="Cambria Math"/>
              </a:rPr>
              <a:t>𝑋</a:t>
            </a:r>
            <a:r>
              <a:rPr sz="3525" spc="15" baseline="-15366" dirty="0">
                <a:latin typeface="Cambria Math"/>
                <a:cs typeface="Cambria Math"/>
              </a:rPr>
              <a:t>2</a:t>
            </a:r>
            <a:r>
              <a:rPr sz="3200" spc="10" dirty="0">
                <a:latin typeface="Cambria Math"/>
                <a:cs typeface="Cambria Math"/>
              </a:rPr>
              <a:t>,</a:t>
            </a:r>
            <a:r>
              <a:rPr sz="3200" spc="100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…</a:t>
            </a:r>
            <a:r>
              <a:rPr sz="3200" spc="-160" dirty="0">
                <a:latin typeface="Cambria Math"/>
                <a:cs typeface="Cambria Math"/>
              </a:rPr>
              <a:t> </a:t>
            </a:r>
            <a:r>
              <a:rPr sz="3200" spc="-10" dirty="0">
                <a:latin typeface="Cambria Math"/>
                <a:cs typeface="Cambria Math"/>
              </a:rPr>
              <a:t>𝑋</a:t>
            </a:r>
            <a:r>
              <a:rPr sz="3525" spc="-15" baseline="-15366" dirty="0">
                <a:latin typeface="Cambria Math"/>
                <a:cs typeface="Cambria Math"/>
              </a:rPr>
              <a:t>𝑑	</a:t>
            </a:r>
            <a:r>
              <a:rPr sz="3200" dirty="0">
                <a:latin typeface="Cambria Math"/>
                <a:cs typeface="Cambria Math"/>
              </a:rPr>
              <a:t>&gt;</a:t>
            </a:r>
            <a:r>
              <a:rPr sz="3200" spc="290" dirty="0">
                <a:latin typeface="Cambria Math"/>
                <a:cs typeface="Cambria Math"/>
              </a:rPr>
              <a:t> </a:t>
            </a:r>
            <a:r>
              <a:rPr sz="3200" spc="40" dirty="0">
                <a:latin typeface="Cambria Math"/>
                <a:cs typeface="Cambria Math"/>
              </a:rPr>
              <a:t>𝑌</a:t>
            </a:r>
            <a:r>
              <a:rPr sz="3200" spc="40" dirty="0">
                <a:latin typeface="Segoe UI"/>
                <a:cs typeface="Segoe UI"/>
              </a:rPr>
              <a:t>)</a:t>
            </a:r>
            <a:endParaRPr sz="3200">
              <a:latin typeface="Segoe UI"/>
              <a:cs typeface="Segoe UI"/>
            </a:endParaRPr>
          </a:p>
          <a:p>
            <a:pPr marL="794385" marR="158305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95020" algn="l"/>
              </a:tabLst>
            </a:pPr>
            <a:r>
              <a:rPr sz="2800" spc="-10" dirty="0">
                <a:latin typeface="Segoe UI"/>
                <a:cs typeface="Segoe UI"/>
              </a:rPr>
              <a:t>Without </a:t>
            </a:r>
            <a:r>
              <a:rPr sz="2800" spc="-5" dirty="0">
                <a:latin typeface="Segoe UI"/>
                <a:cs typeface="Segoe UI"/>
              </a:rPr>
              <a:t>conditional independence  assumption?</a:t>
            </a:r>
            <a:endParaRPr sz="2800">
              <a:latin typeface="Segoe UI"/>
              <a:cs typeface="Segoe UI"/>
            </a:endParaRPr>
          </a:p>
          <a:p>
            <a:pPr marL="7943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95020" algn="l"/>
              </a:tabLst>
            </a:pPr>
            <a:r>
              <a:rPr sz="2800" spc="-10" dirty="0">
                <a:latin typeface="Segoe UI"/>
                <a:cs typeface="Segoe UI"/>
              </a:rPr>
              <a:t>With </a:t>
            </a:r>
            <a:r>
              <a:rPr sz="2800" spc="-5" dirty="0">
                <a:latin typeface="Segoe UI"/>
                <a:cs typeface="Segoe UI"/>
              </a:rPr>
              <a:t>conditional </a:t>
            </a:r>
            <a:r>
              <a:rPr sz="2800" spc="-10" dirty="0">
                <a:latin typeface="Segoe UI"/>
                <a:cs typeface="Segoe UI"/>
              </a:rPr>
              <a:t>independence</a:t>
            </a:r>
            <a:r>
              <a:rPr sz="2800" spc="2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assumption?</a:t>
            </a:r>
            <a:endParaRPr sz="2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600">
              <a:latin typeface="Segoe UI"/>
              <a:cs typeface="Segoe UI"/>
            </a:endParaRPr>
          </a:p>
          <a:p>
            <a:pPr marL="50800">
              <a:lnSpc>
                <a:spcPct val="100000"/>
              </a:lnSpc>
            </a:pPr>
            <a:r>
              <a:rPr sz="3200" spc="-5" dirty="0">
                <a:latin typeface="Segoe UI"/>
                <a:cs typeface="Segoe UI"/>
              </a:rPr>
              <a:t>(Suppose </a:t>
            </a:r>
            <a:r>
              <a:rPr sz="3200" dirty="0">
                <a:latin typeface="Segoe UI"/>
                <a:cs typeface="Segoe UI"/>
              </a:rPr>
              <a:t>all random </a:t>
            </a:r>
            <a:r>
              <a:rPr sz="3200" spc="-5" dirty="0">
                <a:latin typeface="Segoe UI"/>
                <a:cs typeface="Segoe UI"/>
              </a:rPr>
              <a:t>variables </a:t>
            </a:r>
            <a:r>
              <a:rPr sz="3200" spc="-10" dirty="0">
                <a:latin typeface="Segoe UI"/>
                <a:cs typeface="Segoe UI"/>
              </a:rPr>
              <a:t>are</a:t>
            </a:r>
            <a:r>
              <a:rPr sz="3200" spc="-60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Boolean)</a:t>
            </a:r>
            <a:endParaRPr sz="3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2426" y="483234"/>
            <a:ext cx="73018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Training </a:t>
            </a:r>
            <a:r>
              <a:rPr dirty="0"/>
              <a:t>a </a:t>
            </a:r>
            <a:r>
              <a:rPr spc="-5" dirty="0"/>
              <a:t>Naïve </a:t>
            </a:r>
            <a:r>
              <a:rPr dirty="0"/>
              <a:t>Bayes</a:t>
            </a:r>
            <a:r>
              <a:rPr spc="25" dirty="0"/>
              <a:t> </a:t>
            </a:r>
            <a:r>
              <a:rPr spc="-5" dirty="0"/>
              <a:t>classifier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1461" y="1778688"/>
            <a:ext cx="6896006" cy="424252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9370" y="682930"/>
            <a:ext cx="3986529" cy="563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0" spc="35" dirty="0">
                <a:latin typeface="Calibri Light"/>
                <a:cs typeface="Calibri Light"/>
              </a:rPr>
              <a:t>Naïve </a:t>
            </a:r>
            <a:r>
              <a:rPr sz="3500" spc="20" dirty="0">
                <a:latin typeface="Calibri Light"/>
                <a:cs typeface="Calibri Light"/>
              </a:rPr>
              <a:t>Bayes:</a:t>
            </a:r>
            <a:r>
              <a:rPr sz="3500" spc="-45" dirty="0">
                <a:latin typeface="Calibri Light"/>
                <a:cs typeface="Calibri Light"/>
              </a:rPr>
              <a:t> </a:t>
            </a:r>
            <a:r>
              <a:rPr sz="3500" spc="40" dirty="0">
                <a:latin typeface="Calibri Light"/>
                <a:cs typeface="Calibri Light"/>
              </a:rPr>
              <a:t>Example</a:t>
            </a:r>
            <a:endParaRPr sz="35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3009" y="1457451"/>
            <a:ext cx="3399154" cy="113220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2200" b="1" spc="-5" dirty="0">
                <a:latin typeface="Calibri"/>
                <a:cs typeface="Calibri"/>
              </a:rPr>
              <a:t>Class</a:t>
            </a:r>
            <a:r>
              <a:rPr sz="2200" spc="-5" dirty="0"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60"/>
              </a:spcBef>
            </a:pPr>
            <a:r>
              <a:rPr sz="2200" spc="-10" dirty="0">
                <a:latin typeface="Calibri"/>
                <a:cs typeface="Calibri"/>
              </a:rPr>
              <a:t>C1:buys_computer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‘yes’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2200" b="1" spc="-5" dirty="0">
                <a:latin typeface="Calibri"/>
                <a:cs typeface="Calibri"/>
              </a:rPr>
              <a:t>Sample </a:t>
            </a:r>
            <a:r>
              <a:rPr sz="2200" b="1" spc="-15" dirty="0">
                <a:latin typeface="Calibri"/>
                <a:cs typeface="Calibri"/>
              </a:rPr>
              <a:t>to </a:t>
            </a:r>
            <a:r>
              <a:rPr sz="2200" b="1" spc="-5" dirty="0">
                <a:latin typeface="Calibri"/>
                <a:cs typeface="Calibri"/>
              </a:rPr>
              <a:t>be</a:t>
            </a:r>
            <a:r>
              <a:rPr sz="2200" b="1" spc="2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classified: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02208" y="1859788"/>
            <a:ext cx="286258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0" dirty="0">
                <a:latin typeface="Calibri"/>
                <a:cs typeface="Calibri"/>
              </a:rPr>
              <a:t>C2:buys_computer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‘no’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0209" y="2597403"/>
            <a:ext cx="7779384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Calibri"/>
                <a:cs typeface="Calibri"/>
              </a:rPr>
              <a:t>X = </a:t>
            </a:r>
            <a:r>
              <a:rPr sz="2200" spc="-10" dirty="0">
                <a:latin typeface="Calibri"/>
                <a:cs typeface="Calibri"/>
              </a:rPr>
              <a:t>(age </a:t>
            </a:r>
            <a:r>
              <a:rPr sz="2200" spc="-5" dirty="0">
                <a:latin typeface="Calibri"/>
                <a:cs typeface="Calibri"/>
              </a:rPr>
              <a:t>&lt;=30, </a:t>
            </a:r>
            <a:r>
              <a:rPr sz="2200" spc="-10" dirty="0">
                <a:latin typeface="Calibri"/>
                <a:cs typeface="Calibri"/>
              </a:rPr>
              <a:t>Income </a:t>
            </a:r>
            <a:r>
              <a:rPr sz="2200" dirty="0">
                <a:latin typeface="Calibri"/>
                <a:cs typeface="Calibri"/>
              </a:rPr>
              <a:t>= </a:t>
            </a:r>
            <a:r>
              <a:rPr sz="2200" spc="-5" dirty="0">
                <a:latin typeface="Calibri"/>
                <a:cs typeface="Calibri"/>
              </a:rPr>
              <a:t>medium, </a:t>
            </a:r>
            <a:r>
              <a:rPr sz="2200" spc="-10" dirty="0">
                <a:latin typeface="Calibri"/>
                <a:cs typeface="Calibri"/>
              </a:rPr>
              <a:t>Student </a:t>
            </a:r>
            <a:r>
              <a:rPr sz="2200" dirty="0">
                <a:latin typeface="Calibri"/>
                <a:cs typeface="Calibri"/>
              </a:rPr>
              <a:t>= </a:t>
            </a:r>
            <a:r>
              <a:rPr sz="2200" spc="-5" dirty="0">
                <a:latin typeface="Calibri"/>
                <a:cs typeface="Calibri"/>
              </a:rPr>
              <a:t>yes, </a:t>
            </a:r>
            <a:r>
              <a:rPr sz="2200" spc="-15" dirty="0">
                <a:latin typeface="Calibri"/>
                <a:cs typeface="Calibri"/>
              </a:rPr>
              <a:t>Credit_rating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Fair)</a:t>
            </a:r>
            <a:endParaRPr sz="22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352075" y="3181262"/>
          <a:ext cx="4424044" cy="33010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3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4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7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25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2892">
                <a:tc>
                  <a:txBody>
                    <a:bodyPr/>
                    <a:lstStyle/>
                    <a:p>
                      <a:pPr marL="195580">
                        <a:lnSpc>
                          <a:spcPts val="1535"/>
                        </a:lnSpc>
                        <a:spcBef>
                          <a:spcPts val="120"/>
                        </a:spcBef>
                      </a:pPr>
                      <a:r>
                        <a:rPr sz="1300" spc="45" dirty="0">
                          <a:latin typeface="Arial"/>
                          <a:cs typeface="Arial"/>
                        </a:rPr>
                        <a:t>age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535"/>
                        </a:lnSpc>
                        <a:spcBef>
                          <a:spcPts val="120"/>
                        </a:spcBef>
                      </a:pPr>
                      <a:r>
                        <a:rPr sz="1300" spc="35" dirty="0">
                          <a:latin typeface="Arial"/>
                          <a:cs typeface="Arial"/>
                        </a:rPr>
                        <a:t>income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535"/>
                        </a:lnSpc>
                        <a:spcBef>
                          <a:spcPts val="120"/>
                        </a:spcBef>
                      </a:pPr>
                      <a:r>
                        <a:rPr sz="1300" spc="45" dirty="0">
                          <a:latin typeface="Arial"/>
                          <a:cs typeface="Arial"/>
                        </a:rPr>
                        <a:t>student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535"/>
                        </a:lnSpc>
                        <a:spcBef>
                          <a:spcPts val="120"/>
                        </a:spcBef>
                      </a:pPr>
                      <a:r>
                        <a:rPr sz="1300" spc="25" dirty="0">
                          <a:latin typeface="Arial"/>
                          <a:cs typeface="Arial"/>
                        </a:rPr>
                        <a:t>credit_rating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535"/>
                        </a:lnSpc>
                        <a:spcBef>
                          <a:spcPts val="120"/>
                        </a:spcBef>
                      </a:pPr>
                      <a:r>
                        <a:rPr sz="1300" spc="45" dirty="0">
                          <a:latin typeface="Arial"/>
                          <a:cs typeface="Arial"/>
                        </a:rPr>
                        <a:t>buys_computer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915">
                <a:tc>
                  <a:txBody>
                    <a:bodyPr/>
                    <a:lstStyle/>
                    <a:p>
                      <a:pPr marL="28575">
                        <a:lnSpc>
                          <a:spcPts val="1505"/>
                        </a:lnSpc>
                        <a:spcBef>
                          <a:spcPts val="150"/>
                        </a:spcBef>
                      </a:pPr>
                      <a:r>
                        <a:rPr sz="1300" spc="35" dirty="0">
                          <a:latin typeface="Arial"/>
                          <a:cs typeface="Arial"/>
                        </a:rPr>
                        <a:t>&lt;=30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05"/>
                        </a:lnSpc>
                        <a:spcBef>
                          <a:spcPts val="150"/>
                        </a:spcBef>
                      </a:pPr>
                      <a:r>
                        <a:rPr sz="1300" spc="55" dirty="0">
                          <a:latin typeface="Arial"/>
                          <a:cs typeface="Arial"/>
                        </a:rPr>
                        <a:t>high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ts val="1505"/>
                        </a:lnSpc>
                        <a:spcBef>
                          <a:spcPts val="150"/>
                        </a:spcBef>
                      </a:pPr>
                      <a:r>
                        <a:rPr sz="1300" spc="75" dirty="0">
                          <a:latin typeface="Arial"/>
                          <a:cs typeface="Arial"/>
                        </a:rPr>
                        <a:t>no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05"/>
                        </a:lnSpc>
                        <a:spcBef>
                          <a:spcPts val="150"/>
                        </a:spcBef>
                      </a:pPr>
                      <a:r>
                        <a:rPr sz="1300" spc="15" dirty="0">
                          <a:latin typeface="Arial"/>
                          <a:cs typeface="Arial"/>
                        </a:rPr>
                        <a:t>fair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505"/>
                        </a:lnSpc>
                        <a:spcBef>
                          <a:spcPts val="150"/>
                        </a:spcBef>
                      </a:pPr>
                      <a:r>
                        <a:rPr sz="1300" spc="75" dirty="0">
                          <a:latin typeface="Arial"/>
                          <a:cs typeface="Arial"/>
                        </a:rPr>
                        <a:t>no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314">
                <a:tc>
                  <a:txBody>
                    <a:bodyPr/>
                    <a:lstStyle/>
                    <a:p>
                      <a:pPr marL="28575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35" dirty="0">
                          <a:latin typeface="Arial"/>
                          <a:cs typeface="Arial"/>
                        </a:rPr>
                        <a:t>&lt;=30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55" dirty="0">
                          <a:latin typeface="Arial"/>
                          <a:cs typeface="Arial"/>
                        </a:rPr>
                        <a:t>high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75" dirty="0">
                          <a:latin typeface="Arial"/>
                          <a:cs typeface="Arial"/>
                        </a:rPr>
                        <a:t>no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30" dirty="0">
                          <a:latin typeface="Arial"/>
                          <a:cs typeface="Arial"/>
                        </a:rPr>
                        <a:t>excellent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75" dirty="0">
                          <a:latin typeface="Arial"/>
                          <a:cs typeface="Arial"/>
                        </a:rPr>
                        <a:t>no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08">
                <a:tc>
                  <a:txBody>
                    <a:bodyPr/>
                    <a:lstStyle/>
                    <a:p>
                      <a:pPr marL="28575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30" dirty="0">
                          <a:latin typeface="Arial"/>
                          <a:cs typeface="Arial"/>
                        </a:rPr>
                        <a:t>31…40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55" dirty="0">
                          <a:latin typeface="Arial"/>
                          <a:cs typeface="Arial"/>
                        </a:rPr>
                        <a:t>high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75" dirty="0">
                          <a:latin typeface="Arial"/>
                          <a:cs typeface="Arial"/>
                        </a:rPr>
                        <a:t>no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15" dirty="0">
                          <a:latin typeface="Arial"/>
                          <a:cs typeface="Arial"/>
                        </a:rPr>
                        <a:t>fair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30" dirty="0">
                          <a:latin typeface="Arial"/>
                          <a:cs typeface="Arial"/>
                        </a:rPr>
                        <a:t>yes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314">
                <a:tc>
                  <a:txBody>
                    <a:bodyPr/>
                    <a:lstStyle/>
                    <a:p>
                      <a:pPr marL="28575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30" dirty="0">
                          <a:latin typeface="Arial"/>
                          <a:cs typeface="Arial"/>
                        </a:rPr>
                        <a:t>&gt;40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45" dirty="0">
                          <a:latin typeface="Arial"/>
                          <a:cs typeface="Arial"/>
                        </a:rPr>
                        <a:t>medium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75" dirty="0">
                          <a:latin typeface="Arial"/>
                          <a:cs typeface="Arial"/>
                        </a:rPr>
                        <a:t>no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15" dirty="0">
                          <a:latin typeface="Arial"/>
                          <a:cs typeface="Arial"/>
                        </a:rPr>
                        <a:t>fair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30" dirty="0">
                          <a:latin typeface="Arial"/>
                          <a:cs typeface="Arial"/>
                        </a:rPr>
                        <a:t>yes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361">
                <a:tc>
                  <a:txBody>
                    <a:bodyPr/>
                    <a:lstStyle/>
                    <a:p>
                      <a:pPr marL="28575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30" dirty="0">
                          <a:latin typeface="Arial"/>
                          <a:cs typeface="Arial"/>
                        </a:rPr>
                        <a:t>&gt;40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40" dirty="0">
                          <a:latin typeface="Arial"/>
                          <a:cs typeface="Arial"/>
                        </a:rPr>
                        <a:t>low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30" dirty="0">
                          <a:latin typeface="Arial"/>
                          <a:cs typeface="Arial"/>
                        </a:rPr>
                        <a:t>yes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15" dirty="0">
                          <a:latin typeface="Arial"/>
                          <a:cs typeface="Arial"/>
                        </a:rPr>
                        <a:t>fair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30" dirty="0">
                          <a:latin typeface="Arial"/>
                          <a:cs typeface="Arial"/>
                        </a:rPr>
                        <a:t>yes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08">
                <a:tc>
                  <a:txBody>
                    <a:bodyPr/>
                    <a:lstStyle/>
                    <a:p>
                      <a:pPr marL="28575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30" dirty="0">
                          <a:latin typeface="Arial"/>
                          <a:cs typeface="Arial"/>
                        </a:rPr>
                        <a:t>&gt;40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40" dirty="0">
                          <a:latin typeface="Arial"/>
                          <a:cs typeface="Arial"/>
                        </a:rPr>
                        <a:t>low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30" dirty="0">
                          <a:latin typeface="Arial"/>
                          <a:cs typeface="Arial"/>
                        </a:rPr>
                        <a:t>yes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30" dirty="0">
                          <a:latin typeface="Arial"/>
                          <a:cs typeface="Arial"/>
                        </a:rPr>
                        <a:t>excellent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75" dirty="0">
                          <a:latin typeface="Arial"/>
                          <a:cs typeface="Arial"/>
                        </a:rPr>
                        <a:t>no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361">
                <a:tc>
                  <a:txBody>
                    <a:bodyPr/>
                    <a:lstStyle/>
                    <a:p>
                      <a:pPr marL="28575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30" dirty="0">
                          <a:latin typeface="Arial"/>
                          <a:cs typeface="Arial"/>
                        </a:rPr>
                        <a:t>31…40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40" dirty="0">
                          <a:latin typeface="Arial"/>
                          <a:cs typeface="Arial"/>
                        </a:rPr>
                        <a:t>low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30" dirty="0">
                          <a:latin typeface="Arial"/>
                          <a:cs typeface="Arial"/>
                        </a:rPr>
                        <a:t>yes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30" dirty="0">
                          <a:latin typeface="Arial"/>
                          <a:cs typeface="Arial"/>
                        </a:rPr>
                        <a:t>excellent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30" dirty="0">
                          <a:latin typeface="Arial"/>
                          <a:cs typeface="Arial"/>
                        </a:rPr>
                        <a:t>yes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314">
                <a:tc>
                  <a:txBody>
                    <a:bodyPr/>
                    <a:lstStyle/>
                    <a:p>
                      <a:pPr marL="28575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35" dirty="0">
                          <a:latin typeface="Arial"/>
                          <a:cs typeface="Arial"/>
                        </a:rPr>
                        <a:t>&lt;=30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45" dirty="0">
                          <a:latin typeface="Arial"/>
                          <a:cs typeface="Arial"/>
                        </a:rPr>
                        <a:t>medium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75" dirty="0">
                          <a:latin typeface="Arial"/>
                          <a:cs typeface="Arial"/>
                        </a:rPr>
                        <a:t>no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15" dirty="0">
                          <a:latin typeface="Arial"/>
                          <a:cs typeface="Arial"/>
                        </a:rPr>
                        <a:t>fair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75" dirty="0">
                          <a:latin typeface="Arial"/>
                          <a:cs typeface="Arial"/>
                        </a:rPr>
                        <a:t>no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408">
                <a:tc>
                  <a:txBody>
                    <a:bodyPr/>
                    <a:lstStyle/>
                    <a:p>
                      <a:pPr marL="28575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35" dirty="0">
                          <a:latin typeface="Arial"/>
                          <a:cs typeface="Arial"/>
                        </a:rPr>
                        <a:t>&lt;=30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40" dirty="0">
                          <a:latin typeface="Arial"/>
                          <a:cs typeface="Arial"/>
                        </a:rPr>
                        <a:t>low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30" dirty="0">
                          <a:latin typeface="Arial"/>
                          <a:cs typeface="Arial"/>
                        </a:rPr>
                        <a:t>yes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15" dirty="0">
                          <a:latin typeface="Arial"/>
                          <a:cs typeface="Arial"/>
                        </a:rPr>
                        <a:t>fair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30" dirty="0">
                          <a:latin typeface="Arial"/>
                          <a:cs typeface="Arial"/>
                        </a:rPr>
                        <a:t>yes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338">
                <a:tc>
                  <a:txBody>
                    <a:bodyPr/>
                    <a:lstStyle/>
                    <a:p>
                      <a:pPr marL="28575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30" dirty="0">
                          <a:latin typeface="Arial"/>
                          <a:cs typeface="Arial"/>
                        </a:rPr>
                        <a:t>&gt;40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45" dirty="0">
                          <a:latin typeface="Arial"/>
                          <a:cs typeface="Arial"/>
                        </a:rPr>
                        <a:t>medium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30" dirty="0">
                          <a:latin typeface="Arial"/>
                          <a:cs typeface="Arial"/>
                        </a:rPr>
                        <a:t>yes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15" dirty="0">
                          <a:latin typeface="Arial"/>
                          <a:cs typeface="Arial"/>
                        </a:rPr>
                        <a:t>fair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30" dirty="0">
                          <a:latin typeface="Arial"/>
                          <a:cs typeface="Arial"/>
                        </a:rPr>
                        <a:t>yes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361">
                <a:tc>
                  <a:txBody>
                    <a:bodyPr/>
                    <a:lstStyle/>
                    <a:p>
                      <a:pPr marL="28575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35" dirty="0">
                          <a:latin typeface="Arial"/>
                          <a:cs typeface="Arial"/>
                        </a:rPr>
                        <a:t>&lt;=30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45" dirty="0">
                          <a:latin typeface="Arial"/>
                          <a:cs typeface="Arial"/>
                        </a:rPr>
                        <a:t>medium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30" dirty="0">
                          <a:latin typeface="Arial"/>
                          <a:cs typeface="Arial"/>
                        </a:rPr>
                        <a:t>yes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30" dirty="0">
                          <a:latin typeface="Arial"/>
                          <a:cs typeface="Arial"/>
                        </a:rPr>
                        <a:t>excellent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30" dirty="0">
                          <a:latin typeface="Arial"/>
                          <a:cs typeface="Arial"/>
                        </a:rPr>
                        <a:t>yes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361">
                <a:tc>
                  <a:txBody>
                    <a:bodyPr/>
                    <a:lstStyle/>
                    <a:p>
                      <a:pPr marL="28575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30" dirty="0">
                          <a:latin typeface="Arial"/>
                          <a:cs typeface="Arial"/>
                        </a:rPr>
                        <a:t>31…40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45" dirty="0">
                          <a:latin typeface="Arial"/>
                          <a:cs typeface="Arial"/>
                        </a:rPr>
                        <a:t>medium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75" dirty="0">
                          <a:latin typeface="Arial"/>
                          <a:cs typeface="Arial"/>
                        </a:rPr>
                        <a:t>no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30" dirty="0">
                          <a:latin typeface="Arial"/>
                          <a:cs typeface="Arial"/>
                        </a:rPr>
                        <a:t>excellent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30" dirty="0">
                          <a:latin typeface="Arial"/>
                          <a:cs typeface="Arial"/>
                        </a:rPr>
                        <a:t>yes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9361">
                <a:tc>
                  <a:txBody>
                    <a:bodyPr/>
                    <a:lstStyle/>
                    <a:p>
                      <a:pPr marL="28575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30" dirty="0">
                          <a:latin typeface="Arial"/>
                          <a:cs typeface="Arial"/>
                        </a:rPr>
                        <a:t>31…40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55" dirty="0">
                          <a:latin typeface="Arial"/>
                          <a:cs typeface="Arial"/>
                        </a:rPr>
                        <a:t>high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30" dirty="0">
                          <a:latin typeface="Arial"/>
                          <a:cs typeface="Arial"/>
                        </a:rPr>
                        <a:t>yes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15" dirty="0">
                          <a:latin typeface="Arial"/>
                          <a:cs typeface="Arial"/>
                        </a:rPr>
                        <a:t>fair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505"/>
                        </a:lnSpc>
                        <a:spcBef>
                          <a:spcPts val="120"/>
                        </a:spcBef>
                      </a:pPr>
                      <a:r>
                        <a:rPr sz="1300" spc="30" dirty="0">
                          <a:latin typeface="Arial"/>
                          <a:cs typeface="Arial"/>
                        </a:rPr>
                        <a:t>yes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2892">
                <a:tc>
                  <a:txBody>
                    <a:bodyPr/>
                    <a:lstStyle/>
                    <a:p>
                      <a:pPr marL="28575">
                        <a:lnSpc>
                          <a:spcPts val="1535"/>
                        </a:lnSpc>
                        <a:spcBef>
                          <a:spcPts val="120"/>
                        </a:spcBef>
                      </a:pPr>
                      <a:r>
                        <a:rPr sz="1300" spc="30" dirty="0">
                          <a:latin typeface="Arial"/>
                          <a:cs typeface="Arial"/>
                        </a:rPr>
                        <a:t>&gt;40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35"/>
                        </a:lnSpc>
                        <a:spcBef>
                          <a:spcPts val="120"/>
                        </a:spcBef>
                      </a:pPr>
                      <a:r>
                        <a:rPr sz="1300" spc="45" dirty="0">
                          <a:latin typeface="Arial"/>
                          <a:cs typeface="Arial"/>
                        </a:rPr>
                        <a:t>medium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ts val="1535"/>
                        </a:lnSpc>
                        <a:spcBef>
                          <a:spcPts val="120"/>
                        </a:spcBef>
                      </a:pPr>
                      <a:r>
                        <a:rPr sz="1300" spc="75" dirty="0">
                          <a:latin typeface="Arial"/>
                          <a:cs typeface="Arial"/>
                        </a:rPr>
                        <a:t>no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35"/>
                        </a:lnSpc>
                        <a:spcBef>
                          <a:spcPts val="120"/>
                        </a:spcBef>
                      </a:pPr>
                      <a:r>
                        <a:rPr sz="1300" spc="30" dirty="0">
                          <a:latin typeface="Arial"/>
                          <a:cs typeface="Arial"/>
                        </a:rPr>
                        <a:t>excellent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535"/>
                        </a:lnSpc>
                        <a:spcBef>
                          <a:spcPts val="120"/>
                        </a:spcBef>
                      </a:pPr>
                      <a:r>
                        <a:rPr sz="1300" spc="75" dirty="0">
                          <a:latin typeface="Arial"/>
                          <a:cs typeface="Arial"/>
                        </a:rPr>
                        <a:t>no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9370" y="682930"/>
            <a:ext cx="3986529" cy="563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0" spc="35" dirty="0">
                <a:latin typeface="Calibri Light"/>
                <a:cs typeface="Calibri Light"/>
              </a:rPr>
              <a:t>Naïve </a:t>
            </a:r>
            <a:r>
              <a:rPr sz="3500" spc="20" dirty="0">
                <a:latin typeface="Calibri Light"/>
                <a:cs typeface="Calibri Light"/>
              </a:rPr>
              <a:t>Bayes:</a:t>
            </a:r>
            <a:r>
              <a:rPr sz="3500" spc="-45" dirty="0">
                <a:latin typeface="Calibri Light"/>
                <a:cs typeface="Calibri Light"/>
              </a:rPr>
              <a:t> </a:t>
            </a:r>
            <a:r>
              <a:rPr sz="3500" spc="40" dirty="0">
                <a:latin typeface="Calibri Light"/>
                <a:cs typeface="Calibri Light"/>
              </a:rPr>
              <a:t>Example</a:t>
            </a:r>
            <a:endParaRPr sz="35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8659" y="1479803"/>
            <a:ext cx="8432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66065" algn="l"/>
                <a:tab pos="266700" algn="l"/>
              </a:tabLst>
            </a:pPr>
            <a:r>
              <a:rPr sz="2000" b="1" dirty="0">
                <a:latin typeface="Calibri"/>
                <a:cs typeface="Calibri"/>
              </a:rPr>
              <a:t>P(C</a:t>
            </a:r>
            <a:r>
              <a:rPr sz="1950" b="1" baseline="-17094" dirty="0">
                <a:latin typeface="Calibri"/>
                <a:cs typeface="Calibri"/>
              </a:rPr>
              <a:t>i</a:t>
            </a:r>
            <a:r>
              <a:rPr sz="2000" b="1" dirty="0">
                <a:latin typeface="Calibri"/>
                <a:cs typeface="Calibri"/>
              </a:rPr>
              <a:t>)</a:t>
            </a:r>
            <a:r>
              <a:rPr sz="2000" dirty="0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09338" y="1479803"/>
            <a:ext cx="4320540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 marR="5080" indent="-90805">
              <a:lnSpc>
                <a:spcPct val="104000"/>
              </a:lnSpc>
            </a:pPr>
            <a:r>
              <a:rPr sz="2000" spc="-10" dirty="0">
                <a:latin typeface="Calibri"/>
                <a:cs typeface="Calibri"/>
              </a:rPr>
              <a:t>P(buys_computer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“yes”)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9/14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0.643  </a:t>
            </a:r>
            <a:r>
              <a:rPr sz="2000" spc="-10" dirty="0">
                <a:latin typeface="Calibri"/>
                <a:cs typeface="Calibri"/>
              </a:rPr>
              <a:t>P(buys_computer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“no”)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5/14=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0.357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3259" y="2116835"/>
            <a:ext cx="8325484" cy="4393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100" indent="-228600">
              <a:lnSpc>
                <a:spcPts val="2245"/>
              </a:lnSpc>
              <a:spcBef>
                <a:spcPts val="100"/>
              </a:spcBef>
              <a:buFont typeface="Arial"/>
              <a:buChar char="•"/>
              <a:tabLst>
                <a:tab pos="291465" algn="l"/>
                <a:tab pos="292100" algn="l"/>
              </a:tabLst>
            </a:pPr>
            <a:r>
              <a:rPr sz="2000" b="1" spc="-10" dirty="0">
                <a:latin typeface="Calibri"/>
                <a:cs typeface="Calibri"/>
              </a:rPr>
              <a:t>Compute </a:t>
            </a:r>
            <a:r>
              <a:rPr sz="2000" b="1" spc="-5" dirty="0">
                <a:latin typeface="Calibri"/>
                <a:cs typeface="Calibri"/>
              </a:rPr>
              <a:t>P(X|C</a:t>
            </a:r>
            <a:r>
              <a:rPr sz="1950" b="1" spc="-7" baseline="-17094" dirty="0">
                <a:latin typeface="Calibri"/>
                <a:cs typeface="Calibri"/>
              </a:rPr>
              <a:t>i</a:t>
            </a:r>
            <a:r>
              <a:rPr sz="2000" b="1" spc="-5" dirty="0">
                <a:latin typeface="Calibri"/>
                <a:cs typeface="Calibri"/>
              </a:rPr>
              <a:t>) </a:t>
            </a:r>
            <a:r>
              <a:rPr sz="2000" b="1" spc="-15" dirty="0">
                <a:latin typeface="Calibri"/>
                <a:cs typeface="Calibri"/>
              </a:rPr>
              <a:t>for </a:t>
            </a:r>
            <a:r>
              <a:rPr sz="2000" b="1" spc="-5" dirty="0">
                <a:latin typeface="Calibri"/>
                <a:cs typeface="Calibri"/>
              </a:rPr>
              <a:t>each</a:t>
            </a:r>
            <a:r>
              <a:rPr sz="2000" b="1" spc="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class</a:t>
            </a:r>
            <a:endParaRPr sz="2000">
              <a:latin typeface="Calibri"/>
              <a:cs typeface="Calibri"/>
            </a:endParaRPr>
          </a:p>
          <a:p>
            <a:pPr marL="349250" marR="2409825">
              <a:lnSpc>
                <a:spcPts val="2210"/>
              </a:lnSpc>
              <a:spcBef>
                <a:spcPts val="75"/>
              </a:spcBef>
            </a:pPr>
            <a:r>
              <a:rPr sz="2000" spc="-5" dirty="0">
                <a:latin typeface="Calibri"/>
                <a:cs typeface="Calibri"/>
              </a:rPr>
              <a:t>P(age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“&lt;=30”|buys_computer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“yes”)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2/9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0.222  P(age </a:t>
            </a:r>
            <a:r>
              <a:rPr sz="2000" dirty="0">
                <a:latin typeface="Calibri"/>
                <a:cs typeface="Calibri"/>
              </a:rPr>
              <a:t>= “&lt;= </a:t>
            </a:r>
            <a:r>
              <a:rPr sz="2000" spc="-10" dirty="0">
                <a:latin typeface="Calibri"/>
                <a:cs typeface="Calibri"/>
              </a:rPr>
              <a:t>30”|buys_computer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“no”)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3/5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0.6</a:t>
            </a:r>
            <a:endParaRPr sz="2000">
              <a:latin typeface="Calibri"/>
              <a:cs typeface="Calibri"/>
            </a:endParaRPr>
          </a:p>
          <a:p>
            <a:pPr marL="349250">
              <a:lnSpc>
                <a:spcPts val="1950"/>
              </a:lnSpc>
            </a:pPr>
            <a:r>
              <a:rPr sz="2000" spc="-5" dirty="0">
                <a:latin typeface="Calibri"/>
                <a:cs typeface="Calibri"/>
              </a:rPr>
              <a:t>P(income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“medium” </a:t>
            </a:r>
            <a:r>
              <a:rPr sz="2000" dirty="0">
                <a:latin typeface="Calibri"/>
                <a:cs typeface="Calibri"/>
              </a:rPr>
              <a:t>| </a:t>
            </a:r>
            <a:r>
              <a:rPr sz="2000" spc="-10" dirty="0">
                <a:latin typeface="Calibri"/>
                <a:cs typeface="Calibri"/>
              </a:rPr>
              <a:t>buys_computer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“yes”)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4/9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0.444</a:t>
            </a:r>
            <a:endParaRPr sz="2000">
              <a:latin typeface="Calibri"/>
              <a:cs typeface="Calibri"/>
            </a:endParaRPr>
          </a:p>
          <a:p>
            <a:pPr marL="349250" marR="1492885">
              <a:lnSpc>
                <a:spcPct val="89500"/>
              </a:lnSpc>
              <a:spcBef>
                <a:spcPts val="155"/>
              </a:spcBef>
            </a:pPr>
            <a:r>
              <a:rPr sz="2000" spc="-5" dirty="0">
                <a:latin typeface="Calibri"/>
                <a:cs typeface="Calibri"/>
              </a:rPr>
              <a:t>P(income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“medium” </a:t>
            </a:r>
            <a:r>
              <a:rPr sz="2000" dirty="0">
                <a:latin typeface="Calibri"/>
                <a:cs typeface="Calibri"/>
              </a:rPr>
              <a:t>| </a:t>
            </a:r>
            <a:r>
              <a:rPr sz="2000" spc="-10" dirty="0">
                <a:latin typeface="Calibri"/>
                <a:cs typeface="Calibri"/>
              </a:rPr>
              <a:t>buys_computer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“no”)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2/5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0.4  P(student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“yes” </a:t>
            </a:r>
            <a:r>
              <a:rPr sz="2000" dirty="0">
                <a:latin typeface="Calibri"/>
                <a:cs typeface="Calibri"/>
              </a:rPr>
              <a:t>| </a:t>
            </a:r>
            <a:r>
              <a:rPr sz="2000" spc="-10" dirty="0">
                <a:latin typeface="Calibri"/>
                <a:cs typeface="Calibri"/>
              </a:rPr>
              <a:t>buys_computer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“yes)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6/9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0.667  P(student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“yes” </a:t>
            </a:r>
            <a:r>
              <a:rPr sz="2000" dirty="0">
                <a:latin typeface="Calibri"/>
                <a:cs typeface="Calibri"/>
              </a:rPr>
              <a:t>| </a:t>
            </a:r>
            <a:r>
              <a:rPr sz="2000" spc="-10" dirty="0">
                <a:latin typeface="Calibri"/>
                <a:cs typeface="Calibri"/>
              </a:rPr>
              <a:t>buys_computer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“no”)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1/5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0.2  P(credit_rating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5" dirty="0">
                <a:latin typeface="Calibri"/>
                <a:cs typeface="Calibri"/>
              </a:rPr>
              <a:t>“fair” </a:t>
            </a:r>
            <a:r>
              <a:rPr sz="2000" dirty="0">
                <a:latin typeface="Calibri"/>
                <a:cs typeface="Calibri"/>
              </a:rPr>
              <a:t>| </a:t>
            </a:r>
            <a:r>
              <a:rPr sz="2000" spc="-10" dirty="0">
                <a:latin typeface="Calibri"/>
                <a:cs typeface="Calibri"/>
              </a:rPr>
              <a:t>buys_computer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“yes”)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6/9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0.667  P(credit_rating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5" dirty="0">
                <a:latin typeface="Calibri"/>
                <a:cs typeface="Calibri"/>
              </a:rPr>
              <a:t>“fair” </a:t>
            </a:r>
            <a:r>
              <a:rPr sz="2000" dirty="0">
                <a:latin typeface="Calibri"/>
                <a:cs typeface="Calibri"/>
              </a:rPr>
              <a:t>| </a:t>
            </a:r>
            <a:r>
              <a:rPr sz="2000" spc="-10" dirty="0">
                <a:latin typeface="Calibri"/>
                <a:cs typeface="Calibri"/>
              </a:rPr>
              <a:t>buys_computer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“no”)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2/5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5" dirty="0">
                <a:latin typeface="Calibri"/>
                <a:cs typeface="Calibri"/>
              </a:rPr>
              <a:t> 0.4</a:t>
            </a:r>
            <a:endParaRPr sz="2000">
              <a:latin typeface="Calibri"/>
              <a:cs typeface="Calibri"/>
            </a:endParaRPr>
          </a:p>
          <a:p>
            <a:pPr marL="63500" marR="354330">
              <a:lnSpc>
                <a:spcPts val="2520"/>
              </a:lnSpc>
              <a:spcBef>
                <a:spcPts val="80"/>
              </a:spcBef>
              <a:buFont typeface="Arial"/>
              <a:buChar char="•"/>
              <a:tabLst>
                <a:tab pos="348615" algn="l"/>
                <a:tab pos="349250" algn="l"/>
              </a:tabLst>
            </a:pPr>
            <a:r>
              <a:rPr sz="2000" b="1" dirty="0">
                <a:latin typeface="Calibri"/>
                <a:cs typeface="Calibri"/>
              </a:rPr>
              <a:t>X = </a:t>
            </a:r>
            <a:r>
              <a:rPr sz="2000" b="1" spc="-5" dirty="0">
                <a:latin typeface="Calibri"/>
                <a:cs typeface="Calibri"/>
              </a:rPr>
              <a:t>(age </a:t>
            </a:r>
            <a:r>
              <a:rPr sz="2000" b="1" dirty="0">
                <a:latin typeface="Calibri"/>
                <a:cs typeface="Calibri"/>
              </a:rPr>
              <a:t>&lt;= </a:t>
            </a:r>
            <a:r>
              <a:rPr sz="2000" b="1" spc="-5" dirty="0">
                <a:latin typeface="Calibri"/>
                <a:cs typeface="Calibri"/>
              </a:rPr>
              <a:t>30 </a:t>
            </a:r>
            <a:r>
              <a:rPr sz="2000" b="1" dirty="0">
                <a:latin typeface="Calibri"/>
                <a:cs typeface="Calibri"/>
              </a:rPr>
              <a:t>, </a:t>
            </a:r>
            <a:r>
              <a:rPr sz="2000" b="1" spc="-5" dirty="0">
                <a:latin typeface="Calibri"/>
                <a:cs typeface="Calibri"/>
              </a:rPr>
              <a:t>income </a:t>
            </a:r>
            <a:r>
              <a:rPr sz="2000" b="1" dirty="0">
                <a:latin typeface="Calibri"/>
                <a:cs typeface="Calibri"/>
              </a:rPr>
              <a:t>= </a:t>
            </a:r>
            <a:r>
              <a:rPr sz="2000" b="1" spc="-5" dirty="0">
                <a:latin typeface="Calibri"/>
                <a:cs typeface="Calibri"/>
              </a:rPr>
              <a:t>medium, </a:t>
            </a:r>
            <a:r>
              <a:rPr sz="2000" b="1" spc="-10" dirty="0">
                <a:latin typeface="Calibri"/>
                <a:cs typeface="Calibri"/>
              </a:rPr>
              <a:t>student </a:t>
            </a:r>
            <a:r>
              <a:rPr sz="2000" b="1" dirty="0">
                <a:latin typeface="Calibri"/>
                <a:cs typeface="Calibri"/>
              </a:rPr>
              <a:t>= </a:t>
            </a:r>
            <a:r>
              <a:rPr sz="2000" b="1" spc="-5" dirty="0">
                <a:latin typeface="Calibri"/>
                <a:cs typeface="Calibri"/>
              </a:rPr>
              <a:t>yes, </a:t>
            </a:r>
            <a:r>
              <a:rPr sz="2000" b="1" spc="-10" dirty="0">
                <a:latin typeface="Calibri"/>
                <a:cs typeface="Calibri"/>
              </a:rPr>
              <a:t>credit_rating </a:t>
            </a:r>
            <a:r>
              <a:rPr sz="2000" b="1" dirty="0">
                <a:latin typeface="Calibri"/>
                <a:cs typeface="Calibri"/>
              </a:rPr>
              <a:t>= </a:t>
            </a:r>
            <a:r>
              <a:rPr sz="2000" b="1" spc="-10" dirty="0">
                <a:latin typeface="Calibri"/>
                <a:cs typeface="Calibri"/>
              </a:rPr>
              <a:t>fair)  </a:t>
            </a:r>
            <a:r>
              <a:rPr sz="2000" b="1" spc="-5" dirty="0">
                <a:latin typeface="Calibri"/>
                <a:cs typeface="Calibri"/>
              </a:rPr>
              <a:t>P(X|C</a:t>
            </a:r>
            <a:r>
              <a:rPr sz="1950" b="1" spc="-7" baseline="-17094" dirty="0">
                <a:latin typeface="Calibri"/>
                <a:cs typeface="Calibri"/>
              </a:rPr>
              <a:t>i</a:t>
            </a:r>
            <a:r>
              <a:rPr sz="2000" b="1" spc="-5" dirty="0">
                <a:latin typeface="Calibri"/>
                <a:cs typeface="Calibri"/>
              </a:rPr>
              <a:t>) </a:t>
            </a:r>
            <a:r>
              <a:rPr sz="2000" b="1" dirty="0">
                <a:latin typeface="Calibri"/>
                <a:cs typeface="Calibri"/>
              </a:rPr>
              <a:t>: </a:t>
            </a:r>
            <a:r>
              <a:rPr sz="2000" spc="-5" dirty="0">
                <a:latin typeface="Calibri"/>
                <a:cs typeface="Calibri"/>
              </a:rPr>
              <a:t>P(X|buys_computer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“yes”)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0.222 </a:t>
            </a:r>
            <a:r>
              <a:rPr sz="2000" dirty="0">
                <a:latin typeface="Calibri"/>
                <a:cs typeface="Calibri"/>
              </a:rPr>
              <a:t>x </a:t>
            </a:r>
            <a:r>
              <a:rPr sz="2000" spc="-5" dirty="0">
                <a:latin typeface="Calibri"/>
                <a:cs typeface="Calibri"/>
              </a:rPr>
              <a:t>0.444 </a:t>
            </a:r>
            <a:r>
              <a:rPr sz="2000" dirty="0">
                <a:latin typeface="Calibri"/>
                <a:cs typeface="Calibri"/>
              </a:rPr>
              <a:t>x </a:t>
            </a:r>
            <a:r>
              <a:rPr sz="2000" spc="-5" dirty="0">
                <a:latin typeface="Calibri"/>
                <a:cs typeface="Calibri"/>
              </a:rPr>
              <a:t>0.667 </a:t>
            </a:r>
            <a:r>
              <a:rPr sz="2000" dirty="0">
                <a:latin typeface="Calibri"/>
                <a:cs typeface="Calibri"/>
              </a:rPr>
              <a:t>x </a:t>
            </a:r>
            <a:r>
              <a:rPr sz="2000" spc="-5" dirty="0">
                <a:latin typeface="Calibri"/>
                <a:cs typeface="Calibri"/>
              </a:rPr>
              <a:t>0.667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0.044</a:t>
            </a:r>
            <a:endParaRPr sz="2000">
              <a:latin typeface="Calibri"/>
              <a:cs typeface="Calibri"/>
            </a:endParaRPr>
          </a:p>
          <a:p>
            <a:pPr marL="977900">
              <a:lnSpc>
                <a:spcPts val="2295"/>
              </a:lnSpc>
            </a:pPr>
            <a:r>
              <a:rPr sz="2000" spc="-5" dirty="0">
                <a:latin typeface="Calibri"/>
                <a:cs typeface="Calibri"/>
              </a:rPr>
              <a:t>P(X|buys_computer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“no”)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0.6 </a:t>
            </a:r>
            <a:r>
              <a:rPr sz="2000" dirty="0">
                <a:latin typeface="Calibri"/>
                <a:cs typeface="Calibri"/>
              </a:rPr>
              <a:t>x </a:t>
            </a:r>
            <a:r>
              <a:rPr sz="2000" spc="-5" dirty="0">
                <a:latin typeface="Calibri"/>
                <a:cs typeface="Calibri"/>
              </a:rPr>
              <a:t>0.4 </a:t>
            </a:r>
            <a:r>
              <a:rPr sz="2000" dirty="0">
                <a:latin typeface="Calibri"/>
                <a:cs typeface="Calibri"/>
              </a:rPr>
              <a:t>x </a:t>
            </a:r>
            <a:r>
              <a:rPr sz="2000" spc="-5" dirty="0">
                <a:latin typeface="Calibri"/>
                <a:cs typeface="Calibri"/>
              </a:rPr>
              <a:t>0.2 </a:t>
            </a:r>
            <a:r>
              <a:rPr sz="2000" dirty="0">
                <a:latin typeface="Calibri"/>
                <a:cs typeface="Calibri"/>
              </a:rPr>
              <a:t>x </a:t>
            </a:r>
            <a:r>
              <a:rPr sz="2000" spc="-5" dirty="0">
                <a:latin typeface="Calibri"/>
                <a:cs typeface="Calibri"/>
              </a:rPr>
              <a:t>0.4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0.019</a:t>
            </a:r>
            <a:endParaRPr sz="2000">
              <a:latin typeface="Calibri"/>
              <a:cs typeface="Calibri"/>
            </a:endParaRPr>
          </a:p>
          <a:p>
            <a:pPr marL="1720850" marR="43180" indent="-165735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Calibri"/>
                <a:cs typeface="Calibri"/>
              </a:rPr>
              <a:t>P(X|C</a:t>
            </a:r>
            <a:r>
              <a:rPr sz="1950" b="1" spc="-7" baseline="-17094" dirty="0">
                <a:latin typeface="Calibri"/>
                <a:cs typeface="Calibri"/>
              </a:rPr>
              <a:t>i</a:t>
            </a:r>
            <a:r>
              <a:rPr sz="2000" b="1" spc="-5" dirty="0">
                <a:latin typeface="Calibri"/>
                <a:cs typeface="Calibri"/>
              </a:rPr>
              <a:t>)*P(C</a:t>
            </a:r>
            <a:r>
              <a:rPr sz="1950" b="1" spc="-7" baseline="-17094" dirty="0">
                <a:latin typeface="Calibri"/>
                <a:cs typeface="Calibri"/>
              </a:rPr>
              <a:t>i</a:t>
            </a:r>
            <a:r>
              <a:rPr sz="2000" b="1" spc="-5" dirty="0">
                <a:latin typeface="Calibri"/>
                <a:cs typeface="Calibri"/>
              </a:rPr>
              <a:t>) </a:t>
            </a:r>
            <a:r>
              <a:rPr sz="2000" b="1" dirty="0">
                <a:latin typeface="Calibri"/>
                <a:cs typeface="Calibri"/>
              </a:rPr>
              <a:t>: </a:t>
            </a:r>
            <a:r>
              <a:rPr sz="2000" spc="-5" dirty="0">
                <a:latin typeface="Calibri"/>
                <a:cs typeface="Calibri"/>
              </a:rPr>
              <a:t>P(X|buys_computer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“yes”) </a:t>
            </a:r>
            <a:r>
              <a:rPr sz="2000" dirty="0">
                <a:latin typeface="Calibri"/>
                <a:cs typeface="Calibri"/>
              </a:rPr>
              <a:t>* </a:t>
            </a:r>
            <a:r>
              <a:rPr sz="2000" spc="-10" dirty="0">
                <a:latin typeface="Calibri"/>
                <a:cs typeface="Calibri"/>
              </a:rPr>
              <a:t>P(buys_computer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“yes”)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0.028  P(X|buys_computer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“no”) </a:t>
            </a:r>
            <a:r>
              <a:rPr sz="2000" dirty="0">
                <a:latin typeface="Calibri"/>
                <a:cs typeface="Calibri"/>
              </a:rPr>
              <a:t>* </a:t>
            </a:r>
            <a:r>
              <a:rPr sz="2000" spc="-10" dirty="0">
                <a:latin typeface="Calibri"/>
                <a:cs typeface="Calibri"/>
              </a:rPr>
              <a:t>P(buys_computer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“no”)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0.007</a:t>
            </a:r>
            <a:endParaRPr sz="200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latin typeface="Calibri"/>
                <a:cs typeface="Calibri"/>
              </a:rPr>
              <a:t>Therefore, </a:t>
            </a:r>
            <a:r>
              <a:rPr sz="2000" b="1" dirty="0">
                <a:latin typeface="Calibri"/>
                <a:cs typeface="Calibri"/>
              </a:rPr>
              <a:t>X belongs </a:t>
            </a:r>
            <a:r>
              <a:rPr sz="2000" b="1" spc="-15" dirty="0">
                <a:latin typeface="Calibri"/>
                <a:cs typeface="Calibri"/>
              </a:rPr>
              <a:t>to </a:t>
            </a:r>
            <a:r>
              <a:rPr sz="2000" b="1" spc="-5" dirty="0">
                <a:latin typeface="Calibri"/>
                <a:cs typeface="Calibri"/>
              </a:rPr>
              <a:t>class (“buys_computer </a:t>
            </a:r>
            <a:r>
              <a:rPr sz="2000" b="1" dirty="0">
                <a:latin typeface="Calibri"/>
                <a:cs typeface="Calibri"/>
              </a:rPr>
              <a:t>= </a:t>
            </a:r>
            <a:r>
              <a:rPr sz="2000" b="1" spc="-5" dirty="0">
                <a:latin typeface="Calibri"/>
                <a:cs typeface="Calibri"/>
              </a:rPr>
              <a:t>yes”)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2729" y="147955"/>
            <a:ext cx="50977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Naïve Bayes</a:t>
            </a:r>
            <a:r>
              <a:rPr spc="-70" dirty="0"/>
              <a:t> </a:t>
            </a:r>
            <a:r>
              <a:rPr spc="-5" dirty="0"/>
              <a:t>Wrap-up</a:t>
            </a:r>
          </a:p>
        </p:txBody>
      </p:sp>
      <p:sp>
        <p:nvSpPr>
          <p:cNvPr id="3" name="object 3"/>
          <p:cNvSpPr/>
          <p:nvPr/>
        </p:nvSpPr>
        <p:spPr>
          <a:xfrm>
            <a:off x="1552194" y="5322696"/>
            <a:ext cx="1355090" cy="329565"/>
          </a:xfrm>
          <a:custGeom>
            <a:avLst/>
            <a:gdLst/>
            <a:ahLst/>
            <a:cxnLst/>
            <a:rect l="l" t="t" r="r" b="b"/>
            <a:pathLst>
              <a:path w="1355089" h="329564">
                <a:moveTo>
                  <a:pt x="1354963" y="2412"/>
                </a:moveTo>
                <a:lnTo>
                  <a:pt x="1328293" y="2412"/>
                </a:lnTo>
                <a:lnTo>
                  <a:pt x="1328293" y="325119"/>
                </a:lnTo>
                <a:lnTo>
                  <a:pt x="1354963" y="325119"/>
                </a:lnTo>
                <a:lnTo>
                  <a:pt x="1354963" y="2412"/>
                </a:lnTo>
                <a:close/>
              </a:path>
              <a:path w="1355089" h="329564">
                <a:moveTo>
                  <a:pt x="104901" y="0"/>
                </a:moveTo>
                <a:lnTo>
                  <a:pt x="60118" y="21113"/>
                </a:lnTo>
                <a:lnTo>
                  <a:pt x="27050" y="57657"/>
                </a:lnTo>
                <a:lnTo>
                  <a:pt x="6762" y="106552"/>
                </a:lnTo>
                <a:lnTo>
                  <a:pt x="0" y="164591"/>
                </a:lnTo>
                <a:lnTo>
                  <a:pt x="1690" y="194783"/>
                </a:lnTo>
                <a:lnTo>
                  <a:pt x="15216" y="248236"/>
                </a:lnTo>
                <a:lnTo>
                  <a:pt x="42054" y="291600"/>
                </a:lnTo>
                <a:lnTo>
                  <a:pt x="80968" y="320341"/>
                </a:lnTo>
                <a:lnTo>
                  <a:pt x="104901" y="328942"/>
                </a:lnTo>
                <a:lnTo>
                  <a:pt x="108966" y="315594"/>
                </a:lnTo>
                <a:lnTo>
                  <a:pt x="90249" y="307291"/>
                </a:lnTo>
                <a:lnTo>
                  <a:pt x="74104" y="295738"/>
                </a:lnTo>
                <a:lnTo>
                  <a:pt x="49530" y="262889"/>
                </a:lnTo>
                <a:lnTo>
                  <a:pt x="34845" y="218185"/>
                </a:lnTo>
                <a:lnTo>
                  <a:pt x="29971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4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97840" y="1622501"/>
            <a:ext cx="7913370" cy="405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0" marR="107823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sz="3200" dirty="0">
                <a:latin typeface="Segoe UI"/>
                <a:cs typeface="Segoe UI"/>
              </a:rPr>
              <a:t>An easy </a:t>
            </a:r>
            <a:r>
              <a:rPr sz="3200" spc="-15" dirty="0">
                <a:latin typeface="Segoe UI"/>
                <a:cs typeface="Segoe UI"/>
              </a:rPr>
              <a:t>to </a:t>
            </a:r>
            <a:r>
              <a:rPr sz="3200" dirty="0">
                <a:latin typeface="Segoe UI"/>
                <a:cs typeface="Segoe UI"/>
              </a:rPr>
              <a:t>implement </a:t>
            </a:r>
            <a:r>
              <a:rPr sz="3200" spc="-20" dirty="0">
                <a:latin typeface="Segoe UI"/>
                <a:cs typeface="Segoe UI"/>
              </a:rPr>
              <a:t>classifier,</a:t>
            </a:r>
            <a:r>
              <a:rPr sz="3200" spc="-8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that  </a:t>
            </a:r>
            <a:r>
              <a:rPr sz="3200" spc="10" dirty="0">
                <a:latin typeface="Segoe UI"/>
                <a:cs typeface="Segoe UI"/>
              </a:rPr>
              <a:t>performs </a:t>
            </a:r>
            <a:r>
              <a:rPr sz="3200" spc="-5" dirty="0">
                <a:latin typeface="Segoe UI"/>
                <a:cs typeface="Segoe UI"/>
              </a:rPr>
              <a:t>well in</a:t>
            </a:r>
            <a:r>
              <a:rPr sz="3200" spc="-4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practice</a:t>
            </a:r>
            <a:endParaRPr sz="3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Arial"/>
              <a:buChar char="•"/>
            </a:pPr>
            <a:endParaRPr sz="4000">
              <a:latin typeface="Segoe UI"/>
              <a:cs typeface="Segoe UI"/>
            </a:endParaRPr>
          </a:p>
          <a:p>
            <a:pPr marL="393700" indent="-342900">
              <a:lnSpc>
                <a:spcPct val="100000"/>
              </a:lnSpc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sz="3200" spc="-5" dirty="0">
                <a:latin typeface="Segoe UI"/>
                <a:cs typeface="Segoe UI"/>
              </a:rPr>
              <a:t>Subtleties</a:t>
            </a:r>
            <a:endParaRPr sz="3200">
              <a:latin typeface="Segoe UI"/>
              <a:cs typeface="Segoe UI"/>
            </a:endParaRPr>
          </a:p>
          <a:p>
            <a:pPr marL="794385" marR="94932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95020" algn="l"/>
              </a:tabLst>
            </a:pPr>
            <a:r>
              <a:rPr sz="2800" dirty="0">
                <a:latin typeface="Segoe UI"/>
                <a:cs typeface="Segoe UI"/>
              </a:rPr>
              <a:t>Often </a:t>
            </a:r>
            <a:r>
              <a:rPr sz="2800" spc="-5" dirty="0">
                <a:latin typeface="Segoe UI"/>
                <a:cs typeface="Segoe UI"/>
              </a:rPr>
              <a:t>the </a:t>
            </a:r>
            <a:r>
              <a:rPr sz="2800" spc="-35" dirty="0">
                <a:latin typeface="Cambria Math"/>
                <a:cs typeface="Cambria Math"/>
              </a:rPr>
              <a:t>𝑋</a:t>
            </a:r>
            <a:r>
              <a:rPr sz="3075" spc="-52" baseline="-16260" dirty="0">
                <a:latin typeface="Cambria Math"/>
                <a:cs typeface="Cambria Math"/>
              </a:rPr>
              <a:t>𝑖 </a:t>
            </a:r>
            <a:r>
              <a:rPr sz="2800" spc="-15" dirty="0">
                <a:latin typeface="Segoe UI"/>
                <a:cs typeface="Segoe UI"/>
              </a:rPr>
              <a:t>are </a:t>
            </a:r>
            <a:r>
              <a:rPr sz="2800" spc="-5" dirty="0">
                <a:latin typeface="Segoe UI"/>
                <a:cs typeface="Segoe UI"/>
              </a:rPr>
              <a:t>not </a:t>
            </a:r>
            <a:r>
              <a:rPr sz="2800" spc="-10" dirty="0">
                <a:latin typeface="Segoe UI"/>
                <a:cs typeface="Segoe UI"/>
              </a:rPr>
              <a:t>really </a:t>
            </a:r>
            <a:r>
              <a:rPr sz="2800" spc="-5" dirty="0">
                <a:latin typeface="Segoe UI"/>
                <a:cs typeface="Segoe UI"/>
              </a:rPr>
              <a:t>conditionally  </a:t>
            </a:r>
            <a:r>
              <a:rPr sz="2800" spc="-10" dirty="0">
                <a:latin typeface="Segoe UI"/>
                <a:cs typeface="Segoe UI"/>
              </a:rPr>
              <a:t>independent</a:t>
            </a:r>
            <a:endParaRPr sz="2800">
              <a:latin typeface="Segoe UI"/>
              <a:cs typeface="Segoe UI"/>
            </a:endParaRPr>
          </a:p>
          <a:p>
            <a:pPr marL="7943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95020" algn="l"/>
              </a:tabLst>
            </a:pPr>
            <a:r>
              <a:rPr sz="2800" spc="-5" dirty="0">
                <a:latin typeface="Segoe UI"/>
                <a:cs typeface="Segoe UI"/>
              </a:rPr>
              <a:t>What </a:t>
            </a:r>
            <a:r>
              <a:rPr sz="2800" spc="-10" dirty="0">
                <a:latin typeface="Segoe UI"/>
                <a:cs typeface="Segoe UI"/>
              </a:rPr>
              <a:t>if </a:t>
            </a:r>
            <a:r>
              <a:rPr sz="2800" spc="-5" dirty="0">
                <a:latin typeface="Segoe UI"/>
                <a:cs typeface="Segoe UI"/>
              </a:rPr>
              <a:t>the Maximum </a:t>
            </a:r>
            <a:r>
              <a:rPr sz="2800" spc="-10" dirty="0">
                <a:latin typeface="Segoe UI"/>
                <a:cs typeface="Segoe UI"/>
              </a:rPr>
              <a:t>Likelihood estimate</a:t>
            </a:r>
            <a:r>
              <a:rPr sz="2800" spc="3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for</a:t>
            </a:r>
            <a:endParaRPr sz="2800">
              <a:latin typeface="Segoe UI"/>
              <a:cs typeface="Segoe UI"/>
            </a:endParaRPr>
          </a:p>
          <a:p>
            <a:pPr marL="794385">
              <a:lnSpc>
                <a:spcPct val="100000"/>
              </a:lnSpc>
              <a:tabLst>
                <a:tab pos="1170940" algn="l"/>
                <a:tab pos="2451100" algn="l"/>
              </a:tabLst>
            </a:pPr>
            <a:r>
              <a:rPr sz="2800" spc="-5" dirty="0">
                <a:latin typeface="Cambria Math"/>
                <a:cs typeface="Cambria Math"/>
              </a:rPr>
              <a:t>𝑃	</a:t>
            </a:r>
            <a:r>
              <a:rPr sz="2800" spc="-35" dirty="0">
                <a:latin typeface="Cambria Math"/>
                <a:cs typeface="Cambria Math"/>
              </a:rPr>
              <a:t>𝑋</a:t>
            </a:r>
            <a:r>
              <a:rPr sz="3075" spc="-52" baseline="-16260" dirty="0">
                <a:latin typeface="Cambria Math"/>
                <a:cs typeface="Cambria Math"/>
              </a:rPr>
              <a:t>𝑖 </a:t>
            </a:r>
            <a:r>
              <a:rPr sz="3075" spc="127" baseline="-1626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=</a:t>
            </a:r>
            <a:r>
              <a:rPr sz="2800" spc="160" dirty="0">
                <a:latin typeface="Cambria Math"/>
                <a:cs typeface="Cambria Math"/>
              </a:rPr>
              <a:t> </a:t>
            </a:r>
            <a:r>
              <a:rPr sz="2800" spc="15" dirty="0">
                <a:latin typeface="Cambria Math"/>
                <a:cs typeface="Cambria Math"/>
              </a:rPr>
              <a:t>𝑥</a:t>
            </a:r>
            <a:r>
              <a:rPr sz="3075" spc="22" baseline="-16260" dirty="0">
                <a:latin typeface="Cambria Math"/>
                <a:cs typeface="Cambria Math"/>
              </a:rPr>
              <a:t>𝑖	</a:t>
            </a:r>
            <a:r>
              <a:rPr sz="2800" spc="-5" dirty="0">
                <a:latin typeface="Cambria Math"/>
                <a:cs typeface="Cambria Math"/>
              </a:rPr>
              <a:t>𝑌 = </a:t>
            </a:r>
            <a:r>
              <a:rPr sz="2800" spc="25" dirty="0">
                <a:latin typeface="Cambria Math"/>
                <a:cs typeface="Cambria Math"/>
              </a:rPr>
              <a:t>𝑦) </a:t>
            </a:r>
            <a:r>
              <a:rPr sz="2800" spc="-5" dirty="0">
                <a:latin typeface="Segoe UI"/>
                <a:cs typeface="Segoe UI"/>
              </a:rPr>
              <a:t>is</a:t>
            </a:r>
            <a:r>
              <a:rPr sz="2800" spc="-120" dirty="0">
                <a:latin typeface="Segoe UI"/>
                <a:cs typeface="Segoe UI"/>
              </a:rPr>
              <a:t> </a:t>
            </a:r>
            <a:r>
              <a:rPr sz="2800" spc="-15" dirty="0">
                <a:latin typeface="Segoe UI"/>
                <a:cs typeface="Segoe UI"/>
              </a:rPr>
              <a:t>zero?</a:t>
            </a:r>
            <a:endParaRPr sz="2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4297" y="682930"/>
            <a:ext cx="4895215" cy="563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0" spc="30" dirty="0">
                <a:latin typeface="Calibri Light"/>
                <a:cs typeface="Calibri Light"/>
              </a:rPr>
              <a:t>Avoiding </a:t>
            </a:r>
            <a:r>
              <a:rPr sz="3500" spc="10" dirty="0">
                <a:latin typeface="Calibri Light"/>
                <a:cs typeface="Calibri Light"/>
              </a:rPr>
              <a:t>Zero</a:t>
            </a:r>
            <a:r>
              <a:rPr sz="3500" spc="-50" dirty="0">
                <a:latin typeface="Calibri Light"/>
                <a:cs typeface="Calibri Light"/>
              </a:rPr>
              <a:t> </a:t>
            </a:r>
            <a:r>
              <a:rPr sz="3500" spc="30" dirty="0">
                <a:latin typeface="Calibri Light"/>
                <a:cs typeface="Calibri Light"/>
              </a:rPr>
              <a:t>Probabilities</a:t>
            </a:r>
            <a:endParaRPr sz="35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1372" y="1725623"/>
            <a:ext cx="7421245" cy="4522777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66700" marR="227329" indent="-228600">
              <a:lnSpc>
                <a:spcPct val="80000"/>
              </a:lnSpc>
              <a:spcBef>
                <a:spcPts val="720"/>
              </a:spcBef>
              <a:buFont typeface="Arial"/>
              <a:buChar char="•"/>
              <a:tabLst>
                <a:tab pos="266700" algn="l"/>
              </a:tabLst>
            </a:pPr>
            <a:r>
              <a:rPr sz="2600" spc="-10" dirty="0">
                <a:latin typeface="Calibri"/>
                <a:cs typeface="Calibri"/>
              </a:rPr>
              <a:t>Naïve </a:t>
            </a:r>
            <a:r>
              <a:rPr sz="2600" spc="-15" dirty="0">
                <a:latin typeface="Calibri"/>
                <a:cs typeface="Calibri"/>
              </a:rPr>
              <a:t>Bayesian </a:t>
            </a:r>
            <a:r>
              <a:rPr sz="2600" spc="-5" dirty="0">
                <a:latin typeface="Calibri"/>
                <a:cs typeface="Calibri"/>
              </a:rPr>
              <a:t>prediction </a:t>
            </a:r>
            <a:r>
              <a:rPr sz="2600" spc="-15" dirty="0">
                <a:latin typeface="Calibri"/>
                <a:cs typeface="Calibri"/>
              </a:rPr>
              <a:t>requires </a:t>
            </a:r>
            <a:r>
              <a:rPr sz="2600" spc="-5" dirty="0">
                <a:latin typeface="Calibri"/>
                <a:cs typeface="Calibri"/>
              </a:rPr>
              <a:t>each conditional  probability be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non-zero</a:t>
            </a:r>
            <a:endParaRPr sz="2600" dirty="0">
              <a:latin typeface="Calibri"/>
              <a:cs typeface="Calibri"/>
            </a:endParaRPr>
          </a:p>
          <a:p>
            <a:pPr marL="787400" lvl="1" indent="-292100">
              <a:lnSpc>
                <a:spcPts val="2630"/>
              </a:lnSpc>
              <a:buFont typeface="Arial"/>
              <a:buChar char="•"/>
              <a:tabLst>
                <a:tab pos="786765" algn="l"/>
                <a:tab pos="787400" algn="l"/>
              </a:tabLst>
            </a:pPr>
            <a:r>
              <a:rPr sz="2200" dirty="0">
                <a:latin typeface="Calibri"/>
                <a:cs typeface="Calibri"/>
              </a:rPr>
              <a:t>Otherwise,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predicted probability </a:t>
            </a:r>
            <a:r>
              <a:rPr sz="2200" spc="-5" dirty="0">
                <a:latin typeface="Calibri"/>
                <a:cs typeface="Calibri"/>
              </a:rPr>
              <a:t>will be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zero</a:t>
            </a:r>
            <a:endParaRPr lang="en-US" sz="2200" spc="-20" dirty="0">
              <a:latin typeface="Calibri"/>
              <a:cs typeface="Calibri"/>
            </a:endParaRPr>
          </a:p>
          <a:p>
            <a:pPr marL="787400" lvl="1" indent="-292100">
              <a:lnSpc>
                <a:spcPts val="2630"/>
              </a:lnSpc>
              <a:buFont typeface="Arial"/>
              <a:buChar char="•"/>
              <a:tabLst>
                <a:tab pos="786765" algn="l"/>
                <a:tab pos="787400" algn="l"/>
              </a:tabLst>
            </a:pPr>
            <a:endParaRPr sz="2000" dirty="0">
              <a:latin typeface="Cambria Math"/>
              <a:cs typeface="Cambria Math"/>
            </a:endParaRPr>
          </a:p>
          <a:p>
            <a:pPr marL="266700" indent="-228600">
              <a:lnSpc>
                <a:spcPts val="3110"/>
              </a:lnSpc>
              <a:spcBef>
                <a:spcPts val="670"/>
              </a:spcBef>
              <a:buFont typeface="Arial"/>
              <a:buChar char="•"/>
              <a:tabLst>
                <a:tab pos="266700" algn="l"/>
                <a:tab pos="1633855" algn="l"/>
              </a:tabLst>
            </a:pPr>
            <a:r>
              <a:rPr sz="2600" spc="-10" dirty="0">
                <a:latin typeface="Calibri"/>
                <a:cs typeface="Calibri"/>
              </a:rPr>
              <a:t>Example.	</a:t>
            </a:r>
            <a:r>
              <a:rPr sz="2600" spc="-5" dirty="0">
                <a:latin typeface="Calibri"/>
                <a:cs typeface="Calibri"/>
              </a:rPr>
              <a:t>Suppose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15" dirty="0">
                <a:latin typeface="Calibri"/>
                <a:cs typeface="Calibri"/>
              </a:rPr>
              <a:t>dataset </a:t>
            </a:r>
            <a:r>
              <a:rPr sz="2600" dirty="0">
                <a:latin typeface="Calibri"/>
                <a:cs typeface="Calibri"/>
              </a:rPr>
              <a:t>with </a:t>
            </a:r>
            <a:r>
              <a:rPr sz="2600" spc="-10" dirty="0">
                <a:latin typeface="Calibri"/>
                <a:cs typeface="Calibri"/>
              </a:rPr>
              <a:t>1000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tuples:</a:t>
            </a:r>
            <a:endParaRPr sz="2600" dirty="0">
              <a:latin typeface="Calibri"/>
              <a:cs typeface="Calibri"/>
            </a:endParaRPr>
          </a:p>
          <a:p>
            <a:pPr marL="621665" algn="ctr">
              <a:lnSpc>
                <a:spcPts val="2390"/>
              </a:lnSpc>
            </a:pPr>
            <a:r>
              <a:rPr sz="2000" spc="-5" dirty="0">
                <a:latin typeface="Calibri"/>
                <a:cs typeface="Calibri"/>
              </a:rPr>
              <a:t>income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low </a:t>
            </a:r>
            <a:r>
              <a:rPr sz="2000" dirty="0">
                <a:latin typeface="Calibri"/>
                <a:cs typeface="Calibri"/>
              </a:rPr>
              <a:t>(0), </a:t>
            </a:r>
            <a:r>
              <a:rPr sz="2000" spc="-5" dirty="0">
                <a:latin typeface="Calibri"/>
                <a:cs typeface="Calibri"/>
              </a:rPr>
              <a:t>income= medium (990), and income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high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(10)</a:t>
            </a:r>
            <a:endParaRPr sz="2000" dirty="0">
              <a:latin typeface="Calibri"/>
              <a:cs typeface="Calibri"/>
            </a:endParaRPr>
          </a:p>
          <a:p>
            <a:pPr marL="266700" indent="-228600">
              <a:lnSpc>
                <a:spcPts val="3115"/>
              </a:lnSpc>
              <a:spcBef>
                <a:spcPts val="409"/>
              </a:spcBef>
              <a:buFont typeface="Arial"/>
              <a:buChar char="•"/>
              <a:tabLst>
                <a:tab pos="266700" algn="l"/>
              </a:tabLst>
            </a:pPr>
            <a:r>
              <a:rPr sz="2600" spc="-5" dirty="0">
                <a:latin typeface="Calibri"/>
                <a:cs typeface="Calibri"/>
              </a:rPr>
              <a:t>Use </a:t>
            </a:r>
            <a:r>
              <a:rPr sz="2600" b="1" spc="-5" dirty="0">
                <a:latin typeface="Calibri"/>
                <a:cs typeface="Calibri"/>
              </a:rPr>
              <a:t>Laplacian </a:t>
            </a:r>
            <a:r>
              <a:rPr sz="2600" b="1" spc="-10" dirty="0">
                <a:latin typeface="Calibri"/>
                <a:cs typeface="Calibri"/>
              </a:rPr>
              <a:t>correction </a:t>
            </a:r>
            <a:r>
              <a:rPr sz="2600" spc="-5" dirty="0">
                <a:latin typeface="Calibri"/>
                <a:cs typeface="Calibri"/>
              </a:rPr>
              <a:t>(or Laplacian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estimator)</a:t>
            </a:r>
            <a:endParaRPr sz="2600" dirty="0">
              <a:latin typeface="Calibri"/>
              <a:cs typeface="Calibri"/>
            </a:endParaRPr>
          </a:p>
          <a:p>
            <a:pPr marL="723900" lvl="1" indent="-228600">
              <a:lnSpc>
                <a:spcPts val="2635"/>
              </a:lnSpc>
              <a:buFont typeface="Arial"/>
              <a:buChar char="•"/>
              <a:tabLst>
                <a:tab pos="723265" algn="l"/>
                <a:tab pos="723900" algn="l"/>
              </a:tabLst>
            </a:pPr>
            <a:r>
              <a:rPr sz="2200" i="1" spc="-5" dirty="0">
                <a:latin typeface="Calibri"/>
                <a:cs typeface="Calibri"/>
              </a:rPr>
              <a:t>Adding </a:t>
            </a:r>
            <a:r>
              <a:rPr sz="2200" i="1" dirty="0">
                <a:latin typeface="Calibri"/>
                <a:cs typeface="Calibri"/>
              </a:rPr>
              <a:t>1 </a:t>
            </a:r>
            <a:r>
              <a:rPr sz="2200" i="1" spc="-15" dirty="0">
                <a:latin typeface="Calibri"/>
                <a:cs typeface="Calibri"/>
              </a:rPr>
              <a:t>to </a:t>
            </a:r>
            <a:r>
              <a:rPr sz="2200" i="1" spc="-5" dirty="0">
                <a:latin typeface="Calibri"/>
                <a:cs typeface="Calibri"/>
              </a:rPr>
              <a:t>each </a:t>
            </a:r>
            <a:r>
              <a:rPr sz="2200" i="1" spc="-10" dirty="0">
                <a:latin typeface="Calibri"/>
                <a:cs typeface="Calibri"/>
              </a:rPr>
              <a:t>case</a:t>
            </a:r>
            <a:endParaRPr sz="2200" dirty="0">
              <a:latin typeface="Calibri"/>
              <a:cs typeface="Calibri"/>
            </a:endParaRPr>
          </a:p>
          <a:p>
            <a:pPr marL="1409700" marR="1212850">
              <a:lnSpc>
                <a:spcPct val="100000"/>
              </a:lnSpc>
              <a:spcBef>
                <a:spcPts val="55"/>
              </a:spcBef>
            </a:pPr>
            <a:r>
              <a:rPr sz="2000" spc="-10" dirty="0">
                <a:latin typeface="Calibri"/>
                <a:cs typeface="Calibri"/>
              </a:rPr>
              <a:t>Prob(income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low)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1/(1000 </a:t>
            </a:r>
            <a:r>
              <a:rPr sz="2000" dirty="0">
                <a:latin typeface="Calibri"/>
                <a:cs typeface="Calibri"/>
              </a:rPr>
              <a:t>+ </a:t>
            </a:r>
            <a:r>
              <a:rPr sz="2000" spc="-5" dirty="0">
                <a:latin typeface="Calibri"/>
                <a:cs typeface="Calibri"/>
              </a:rPr>
              <a:t>3)  </a:t>
            </a:r>
            <a:r>
              <a:rPr sz="2000" spc="-10" dirty="0">
                <a:latin typeface="Calibri"/>
                <a:cs typeface="Calibri"/>
              </a:rPr>
              <a:t>Prob(income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medium)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(990 </a:t>
            </a:r>
            <a:r>
              <a:rPr sz="2000" dirty="0">
                <a:latin typeface="Calibri"/>
                <a:cs typeface="Calibri"/>
              </a:rPr>
              <a:t>+ </a:t>
            </a:r>
            <a:r>
              <a:rPr sz="2000" spc="-5" dirty="0">
                <a:latin typeface="Calibri"/>
                <a:cs typeface="Calibri"/>
              </a:rPr>
              <a:t>1)/(1000 </a:t>
            </a:r>
            <a:r>
              <a:rPr sz="2000" dirty="0">
                <a:latin typeface="Calibri"/>
                <a:cs typeface="Calibri"/>
              </a:rPr>
              <a:t>+ </a:t>
            </a:r>
            <a:r>
              <a:rPr sz="2000" spc="-5" dirty="0">
                <a:latin typeface="Calibri"/>
                <a:cs typeface="Calibri"/>
              </a:rPr>
              <a:t>3)  </a:t>
            </a:r>
            <a:r>
              <a:rPr sz="2000" spc="-10" dirty="0">
                <a:latin typeface="Calibri"/>
                <a:cs typeface="Calibri"/>
              </a:rPr>
              <a:t>Prob(income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high) </a:t>
            </a:r>
            <a:r>
              <a:rPr sz="2000" dirty="0">
                <a:latin typeface="Calibri"/>
                <a:cs typeface="Calibri"/>
              </a:rPr>
              <a:t>= (10 + </a:t>
            </a:r>
            <a:r>
              <a:rPr sz="2000" spc="-5" dirty="0">
                <a:latin typeface="Calibri"/>
                <a:cs typeface="Calibri"/>
              </a:rPr>
              <a:t>1)/(1000 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3)</a:t>
            </a:r>
            <a:endParaRPr sz="2000" dirty="0">
              <a:latin typeface="Calibri"/>
              <a:cs typeface="Calibri"/>
            </a:endParaRPr>
          </a:p>
          <a:p>
            <a:pPr marL="723900" marR="469265" lvl="1" indent="-228600">
              <a:lnSpc>
                <a:spcPts val="2110"/>
              </a:lnSpc>
              <a:spcBef>
                <a:spcPts val="505"/>
              </a:spcBef>
              <a:buFont typeface="Arial"/>
              <a:buChar char="•"/>
              <a:tabLst>
                <a:tab pos="723265" algn="l"/>
                <a:tab pos="723900" algn="l"/>
              </a:tabLst>
            </a:pP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20" dirty="0">
                <a:latin typeface="Calibri"/>
                <a:cs typeface="Calibri"/>
              </a:rPr>
              <a:t>“corrected” </a:t>
            </a:r>
            <a:r>
              <a:rPr sz="2200" spc="-10" dirty="0">
                <a:latin typeface="Calibri"/>
                <a:cs typeface="Calibri"/>
              </a:rPr>
              <a:t>probability estimates </a:t>
            </a:r>
            <a:r>
              <a:rPr sz="2200" spc="-15" dirty="0">
                <a:latin typeface="Calibri"/>
                <a:cs typeface="Calibri"/>
              </a:rPr>
              <a:t>are </a:t>
            </a:r>
            <a:r>
              <a:rPr sz="2200" spc="-5" dirty="0">
                <a:latin typeface="Calibri"/>
                <a:cs typeface="Calibri"/>
              </a:rPr>
              <a:t>close </a:t>
            </a:r>
            <a:r>
              <a:rPr sz="2200" spc="-15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their  </a:t>
            </a:r>
            <a:r>
              <a:rPr sz="2200" spc="-10" dirty="0">
                <a:latin typeface="Calibri"/>
                <a:cs typeface="Calibri"/>
              </a:rPr>
              <a:t>“uncorrected”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counterparts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4C9CA6-5F8C-4EF6-96F7-9FF84F2BC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782957"/>
            <a:ext cx="6082748" cy="41744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793619"/>
            <a:ext cx="7407909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b="0" spc="-5" dirty="0">
                <a:latin typeface="Segoe UI"/>
                <a:cs typeface="Segoe UI"/>
              </a:rPr>
              <a:t>What is </a:t>
            </a:r>
            <a:r>
              <a:rPr sz="3200" b="0" dirty="0">
                <a:latin typeface="Segoe UI"/>
                <a:cs typeface="Segoe UI"/>
              </a:rPr>
              <a:t>the decision </a:t>
            </a:r>
            <a:r>
              <a:rPr sz="3200" b="0" spc="15" dirty="0">
                <a:latin typeface="Segoe UI"/>
                <a:cs typeface="Segoe UI"/>
              </a:rPr>
              <a:t>boundary </a:t>
            </a:r>
            <a:r>
              <a:rPr sz="3200" b="0" spc="-40" dirty="0">
                <a:latin typeface="Segoe UI"/>
                <a:cs typeface="Segoe UI"/>
              </a:rPr>
              <a:t>of </a:t>
            </a:r>
            <a:r>
              <a:rPr sz="3200" b="0" dirty="0">
                <a:latin typeface="Segoe UI"/>
                <a:cs typeface="Segoe UI"/>
              </a:rPr>
              <a:t>a </a:t>
            </a:r>
            <a:r>
              <a:rPr sz="3200" b="0" spc="-10" dirty="0">
                <a:latin typeface="Segoe UI"/>
                <a:cs typeface="Segoe UI"/>
              </a:rPr>
              <a:t>Naïve  </a:t>
            </a:r>
            <a:r>
              <a:rPr sz="3200" b="0" spc="-5" dirty="0">
                <a:latin typeface="Segoe UI"/>
                <a:cs typeface="Segoe UI"/>
              </a:rPr>
              <a:t>Bayes</a:t>
            </a:r>
            <a:r>
              <a:rPr sz="3200" b="0" spc="-20" dirty="0">
                <a:latin typeface="Segoe UI"/>
                <a:cs typeface="Segoe UI"/>
              </a:rPr>
              <a:t> </a:t>
            </a:r>
            <a:r>
              <a:rPr sz="3200" b="0" dirty="0">
                <a:latin typeface="Segoe UI"/>
                <a:cs typeface="Segoe UI"/>
              </a:rPr>
              <a:t>classifier?</a:t>
            </a:r>
            <a:endParaRPr sz="3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0141" y="483234"/>
            <a:ext cx="53651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Naïve Bayes</a:t>
            </a:r>
            <a:r>
              <a:rPr spc="-40" dirty="0"/>
              <a:t> </a:t>
            </a:r>
            <a:r>
              <a:rPr spc="5" dirty="0"/>
              <a:t>Properties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3214"/>
            <a:ext cx="7942580" cy="299148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8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Naïve Bayes is </a:t>
            </a:r>
            <a:r>
              <a:rPr sz="3200" dirty="0">
                <a:latin typeface="Segoe UI"/>
                <a:cs typeface="Segoe UI"/>
              </a:rPr>
              <a:t>a linear</a:t>
            </a:r>
            <a:r>
              <a:rPr sz="3200" spc="-25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classifier</a:t>
            </a:r>
            <a:endParaRPr sz="3200">
              <a:latin typeface="Segoe UI"/>
              <a:cs typeface="Segoe UI"/>
            </a:endParaRPr>
          </a:p>
          <a:p>
            <a:pPr marL="756285" marR="160655" indent="-287020">
              <a:lnSpc>
                <a:spcPct val="100000"/>
              </a:lnSpc>
              <a:spcBef>
                <a:spcPts val="680"/>
              </a:spcBef>
            </a:pPr>
            <a:r>
              <a:rPr sz="2800" spc="-5" dirty="0">
                <a:latin typeface="Arial"/>
                <a:cs typeface="Arial"/>
              </a:rPr>
              <a:t>– </a:t>
            </a:r>
            <a:r>
              <a:rPr sz="2800" spc="-10" dirty="0">
                <a:latin typeface="Segoe UI"/>
                <a:cs typeface="Segoe UI"/>
              </a:rPr>
              <a:t>See CIML </a:t>
            </a:r>
            <a:r>
              <a:rPr sz="2800" spc="-5" dirty="0">
                <a:latin typeface="Segoe UI"/>
                <a:cs typeface="Segoe UI"/>
              </a:rPr>
              <a:t>for example </a:t>
            </a:r>
            <a:r>
              <a:rPr sz="2800" spc="-25" dirty="0">
                <a:latin typeface="Segoe UI"/>
                <a:cs typeface="Segoe UI"/>
              </a:rPr>
              <a:t>of </a:t>
            </a:r>
            <a:r>
              <a:rPr sz="2800" spc="-5" dirty="0">
                <a:latin typeface="Segoe UI"/>
                <a:cs typeface="Segoe UI"/>
              </a:rPr>
              <a:t>computation </a:t>
            </a:r>
            <a:r>
              <a:rPr sz="2800" spc="-30" dirty="0">
                <a:latin typeface="Segoe UI"/>
                <a:cs typeface="Segoe UI"/>
              </a:rPr>
              <a:t>of </a:t>
            </a:r>
            <a:r>
              <a:rPr sz="2800" spc="-5" dirty="0">
                <a:latin typeface="Segoe UI"/>
                <a:cs typeface="Segoe UI"/>
              </a:rPr>
              <a:t>Log  </a:t>
            </a:r>
            <a:r>
              <a:rPr sz="2800" spc="-10" dirty="0">
                <a:latin typeface="Segoe UI"/>
                <a:cs typeface="Segoe UI"/>
              </a:rPr>
              <a:t>Likelihood </a:t>
            </a:r>
            <a:r>
              <a:rPr sz="2800" spc="-5" dirty="0">
                <a:latin typeface="Segoe UI"/>
                <a:cs typeface="Segoe UI"/>
              </a:rPr>
              <a:t>Ratio</a:t>
            </a:r>
            <a:endParaRPr sz="2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700">
              <a:latin typeface="Segoe UI"/>
              <a:cs typeface="Segoe UI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Choice </a:t>
            </a:r>
            <a:r>
              <a:rPr sz="3200" spc="-30" dirty="0">
                <a:latin typeface="Segoe UI"/>
                <a:cs typeface="Segoe UI"/>
              </a:rPr>
              <a:t>of </a:t>
            </a:r>
            <a:r>
              <a:rPr sz="3200" spc="-10" dirty="0">
                <a:latin typeface="Segoe UI"/>
                <a:cs typeface="Segoe UI"/>
              </a:rPr>
              <a:t>probability </a:t>
            </a:r>
            <a:r>
              <a:rPr sz="3200" dirty="0">
                <a:latin typeface="Segoe UI"/>
                <a:cs typeface="Segoe UI"/>
              </a:rPr>
              <a:t>distribution </a:t>
            </a:r>
            <a:r>
              <a:rPr sz="3200" spc="-5" dirty="0">
                <a:latin typeface="Segoe UI"/>
                <a:cs typeface="Segoe UI"/>
              </a:rPr>
              <a:t>is </a:t>
            </a:r>
            <a:r>
              <a:rPr sz="3200" dirty="0">
                <a:latin typeface="Segoe UI"/>
                <a:cs typeface="Segoe UI"/>
              </a:rPr>
              <a:t>a form  </a:t>
            </a:r>
            <a:r>
              <a:rPr sz="3200" spc="-35" dirty="0">
                <a:latin typeface="Segoe UI"/>
                <a:cs typeface="Segoe UI"/>
              </a:rPr>
              <a:t>of </a:t>
            </a:r>
            <a:r>
              <a:rPr sz="3200" spc="-5" dirty="0">
                <a:latin typeface="Segoe UI"/>
                <a:cs typeface="Segoe UI"/>
              </a:rPr>
              <a:t>inductive</a:t>
            </a:r>
            <a:r>
              <a:rPr sz="3200" spc="3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bias</a:t>
            </a:r>
            <a:endParaRPr sz="32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1943" y="4739466"/>
            <a:ext cx="1157783" cy="15073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57960" y="4235845"/>
            <a:ext cx="3038538" cy="221699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7925" y="483234"/>
            <a:ext cx="42487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Generative</a:t>
            </a:r>
            <a:r>
              <a:rPr spc="-55" dirty="0"/>
              <a:t> </a:t>
            </a:r>
            <a:r>
              <a:rPr spc="-5" dirty="0"/>
              <a:t>Stories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4329"/>
            <a:ext cx="7446009" cy="2329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3429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Segoe UI"/>
                <a:cs typeface="Segoe UI"/>
              </a:rPr>
              <a:t>Probabilistic </a:t>
            </a:r>
            <a:r>
              <a:rPr sz="2800" spc="-5" dirty="0">
                <a:latin typeface="Segoe UI"/>
                <a:cs typeface="Segoe UI"/>
              </a:rPr>
              <a:t>models </a:t>
            </a:r>
            <a:r>
              <a:rPr sz="2800" spc="-10" dirty="0">
                <a:latin typeface="Segoe UI"/>
                <a:cs typeface="Segoe UI"/>
              </a:rPr>
              <a:t>tell </a:t>
            </a:r>
            <a:r>
              <a:rPr sz="2800" spc="-5" dirty="0">
                <a:latin typeface="Segoe UI"/>
                <a:cs typeface="Segoe UI"/>
              </a:rPr>
              <a:t>a </a:t>
            </a:r>
            <a:r>
              <a:rPr sz="2800" dirty="0">
                <a:latin typeface="Segoe UI"/>
                <a:cs typeface="Segoe UI"/>
              </a:rPr>
              <a:t>fictional </a:t>
            </a:r>
            <a:r>
              <a:rPr sz="2800" spc="10" dirty="0">
                <a:latin typeface="Segoe UI"/>
                <a:cs typeface="Segoe UI"/>
              </a:rPr>
              <a:t>story  </a:t>
            </a:r>
            <a:r>
              <a:rPr sz="2800" spc="-5" dirty="0">
                <a:latin typeface="Segoe UI"/>
                <a:cs typeface="Segoe UI"/>
              </a:rPr>
              <a:t>explaining how our training data was</a:t>
            </a:r>
            <a:r>
              <a:rPr sz="2800" spc="3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created</a:t>
            </a:r>
            <a:endParaRPr sz="2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3500">
              <a:latin typeface="Segoe UI"/>
              <a:cs typeface="Segoe UI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Segoe UI"/>
                <a:cs typeface="Segoe UI"/>
              </a:rPr>
              <a:t>Example </a:t>
            </a:r>
            <a:r>
              <a:rPr sz="2800" spc="-25" dirty="0">
                <a:latin typeface="Segoe UI"/>
                <a:cs typeface="Segoe UI"/>
              </a:rPr>
              <a:t>of </a:t>
            </a:r>
            <a:r>
              <a:rPr sz="2800" spc="-5" dirty="0">
                <a:latin typeface="Segoe UI"/>
                <a:cs typeface="Segoe UI"/>
              </a:rPr>
              <a:t>a generative </a:t>
            </a:r>
            <a:r>
              <a:rPr sz="2800" spc="10" dirty="0">
                <a:latin typeface="Segoe UI"/>
                <a:cs typeface="Segoe UI"/>
              </a:rPr>
              <a:t>story </a:t>
            </a:r>
            <a:r>
              <a:rPr sz="2800" dirty="0">
                <a:latin typeface="Segoe UI"/>
                <a:cs typeface="Segoe UI"/>
              </a:rPr>
              <a:t>for </a:t>
            </a:r>
            <a:r>
              <a:rPr sz="2800" spc="-5" dirty="0">
                <a:latin typeface="Segoe UI"/>
                <a:cs typeface="Segoe UI"/>
              </a:rPr>
              <a:t>a multiclass  classification task </a:t>
            </a:r>
            <a:r>
              <a:rPr sz="2800" spc="-10" dirty="0">
                <a:latin typeface="Segoe UI"/>
                <a:cs typeface="Segoe UI"/>
              </a:rPr>
              <a:t>with </a:t>
            </a:r>
            <a:r>
              <a:rPr sz="2800" dirty="0">
                <a:latin typeface="Segoe UI"/>
                <a:cs typeface="Segoe UI"/>
              </a:rPr>
              <a:t>continuous</a:t>
            </a:r>
            <a:r>
              <a:rPr sz="2800" spc="-1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features</a:t>
            </a:r>
            <a:endParaRPr sz="28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0536" y="4363311"/>
            <a:ext cx="5780426" cy="194447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9414" marR="5080" indent="-158432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From </a:t>
            </a:r>
            <a:r>
              <a:rPr dirty="0"/>
              <a:t>the Generative </a:t>
            </a:r>
            <a:r>
              <a:rPr spc="50" dirty="0"/>
              <a:t>Story </a:t>
            </a:r>
            <a:r>
              <a:rPr dirty="0"/>
              <a:t>to</a:t>
            </a:r>
            <a:r>
              <a:rPr spc="-90" dirty="0"/>
              <a:t> </a:t>
            </a:r>
            <a:r>
              <a:rPr dirty="0"/>
              <a:t>the  </a:t>
            </a:r>
            <a:r>
              <a:rPr spc="-5" dirty="0"/>
              <a:t>Likelihood</a:t>
            </a:r>
            <a:r>
              <a:rPr spc="-40" dirty="0"/>
              <a:t> </a:t>
            </a:r>
            <a:r>
              <a:rPr dirty="0"/>
              <a:t>Function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4913" y="1728345"/>
            <a:ext cx="7436960" cy="430660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6082" y="3073544"/>
            <a:ext cx="5514917" cy="49949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150" b="1" spc="70" dirty="0">
                <a:latin typeface="Calibri"/>
                <a:cs typeface="Calibri"/>
              </a:rPr>
              <a:t>Probabilis</a:t>
            </a:r>
            <a:r>
              <a:rPr lang="en-US" sz="3150" b="1" spc="70" dirty="0">
                <a:latin typeface="Calibri"/>
                <a:cs typeface="Calibri"/>
              </a:rPr>
              <a:t>ti</a:t>
            </a:r>
            <a:r>
              <a:rPr sz="3150" b="1" spc="70" dirty="0">
                <a:latin typeface="Calibri"/>
                <a:cs typeface="Calibri"/>
              </a:rPr>
              <a:t>c </a:t>
            </a:r>
            <a:r>
              <a:rPr sz="3150" b="1" spc="-5" dirty="0">
                <a:latin typeface="Calibri"/>
                <a:cs typeface="Calibri"/>
              </a:rPr>
              <a:t>Graphical</a:t>
            </a:r>
            <a:r>
              <a:rPr sz="3150" b="1" spc="-95" dirty="0">
                <a:latin typeface="Calibri"/>
                <a:cs typeface="Calibri"/>
              </a:rPr>
              <a:t> </a:t>
            </a:r>
            <a:r>
              <a:rPr sz="3150" b="1" dirty="0">
                <a:latin typeface="Calibri"/>
                <a:cs typeface="Calibri"/>
              </a:rPr>
              <a:t>Models</a:t>
            </a:r>
            <a:endParaRPr sz="315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27854" y="6589720"/>
            <a:ext cx="5291455" cy="7467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4925" marR="5080" indent="-22860">
              <a:lnSpc>
                <a:spcPct val="121300"/>
              </a:lnSpc>
              <a:spcBef>
                <a:spcPts val="90"/>
              </a:spcBef>
            </a:pPr>
            <a:r>
              <a:rPr sz="1950" spc="-75" dirty="0">
                <a:solidFill>
                  <a:srgbClr val="2D2DB9"/>
                </a:solidFill>
                <a:latin typeface="Book Antiqua"/>
                <a:cs typeface="Book Antiqua"/>
              </a:rPr>
              <a:t>Many </a:t>
            </a:r>
            <a:r>
              <a:rPr sz="1950" spc="-35" dirty="0">
                <a:solidFill>
                  <a:srgbClr val="2D2DB9"/>
                </a:solidFill>
                <a:latin typeface="Book Antiqua"/>
                <a:cs typeface="Book Antiqua"/>
              </a:rPr>
              <a:t>of </a:t>
            </a:r>
            <a:r>
              <a:rPr sz="1950" spc="-45" dirty="0">
                <a:solidFill>
                  <a:srgbClr val="2D2DB9"/>
                </a:solidFill>
                <a:latin typeface="Book Antiqua"/>
                <a:cs typeface="Book Antiqua"/>
              </a:rPr>
              <a:t>the </a:t>
            </a:r>
            <a:r>
              <a:rPr sz="1950" spc="-70" dirty="0">
                <a:solidFill>
                  <a:srgbClr val="2D2DB9"/>
                </a:solidFill>
                <a:latin typeface="Book Antiqua"/>
                <a:cs typeface="Book Antiqua"/>
              </a:rPr>
              <a:t>following slides </a:t>
            </a:r>
            <a:r>
              <a:rPr sz="1950" spc="-55" dirty="0">
                <a:solidFill>
                  <a:srgbClr val="2D2DB9"/>
                </a:solidFill>
                <a:latin typeface="Book Antiqua"/>
                <a:cs typeface="Book Antiqua"/>
              </a:rPr>
              <a:t>are </a:t>
            </a:r>
            <a:r>
              <a:rPr sz="1950" spc="-85" dirty="0">
                <a:solidFill>
                  <a:srgbClr val="2D2DB9"/>
                </a:solidFill>
                <a:latin typeface="Book Antiqua"/>
                <a:cs typeface="Book Antiqua"/>
              </a:rPr>
              <a:t>derived </a:t>
            </a:r>
            <a:r>
              <a:rPr sz="1950" spc="-35" dirty="0">
                <a:solidFill>
                  <a:srgbClr val="2D2DB9"/>
                </a:solidFill>
                <a:latin typeface="Book Antiqua"/>
                <a:cs typeface="Book Antiqua"/>
              </a:rPr>
              <a:t>from </a:t>
            </a:r>
            <a:r>
              <a:rPr sz="1950" spc="-65" dirty="0">
                <a:solidFill>
                  <a:srgbClr val="2D2DB9"/>
                </a:solidFill>
                <a:latin typeface="Book Antiqua"/>
                <a:cs typeface="Book Antiqua"/>
              </a:rPr>
              <a:t>Tom  </a:t>
            </a:r>
            <a:r>
              <a:rPr sz="1950" spc="-35" dirty="0">
                <a:solidFill>
                  <a:srgbClr val="2D2DB9"/>
                </a:solidFill>
                <a:latin typeface="Book Antiqua"/>
                <a:cs typeface="Book Antiqua"/>
              </a:rPr>
              <a:t>Mitchell, </a:t>
            </a:r>
            <a:r>
              <a:rPr sz="1950" spc="-85" dirty="0">
                <a:solidFill>
                  <a:srgbClr val="2D2DB9"/>
                </a:solidFill>
                <a:latin typeface="Book Antiqua"/>
                <a:cs typeface="Book Antiqua"/>
              </a:rPr>
              <a:t>Ziv </a:t>
            </a:r>
            <a:r>
              <a:rPr sz="1950" spc="-50" dirty="0">
                <a:solidFill>
                  <a:srgbClr val="2D2DB9"/>
                </a:solidFill>
                <a:latin typeface="Book Antiqua"/>
                <a:cs typeface="Book Antiqua"/>
              </a:rPr>
              <a:t>Joseph, </a:t>
            </a:r>
            <a:r>
              <a:rPr sz="1950" spc="-75" dirty="0">
                <a:solidFill>
                  <a:srgbClr val="2D2DB9"/>
                </a:solidFill>
                <a:latin typeface="Book Antiqua"/>
                <a:cs typeface="Book Antiqua"/>
              </a:rPr>
              <a:t>and </a:t>
            </a:r>
            <a:r>
              <a:rPr sz="1950" spc="-40" dirty="0">
                <a:solidFill>
                  <a:srgbClr val="2D2DB9"/>
                </a:solidFill>
                <a:latin typeface="Book Antiqua"/>
                <a:cs typeface="Book Antiqua"/>
              </a:rPr>
              <a:t>S.</a:t>
            </a:r>
            <a:r>
              <a:rPr sz="1950" spc="110" dirty="0">
                <a:solidFill>
                  <a:srgbClr val="2D2DB9"/>
                </a:solidFill>
                <a:latin typeface="Book Antiqua"/>
                <a:cs typeface="Book Antiqua"/>
              </a:rPr>
              <a:t> </a:t>
            </a:r>
            <a:r>
              <a:rPr sz="1950" spc="-35" dirty="0">
                <a:solidFill>
                  <a:srgbClr val="2D2DB9"/>
                </a:solidFill>
                <a:latin typeface="Book Antiqua"/>
                <a:cs typeface="Book Antiqua"/>
              </a:rPr>
              <a:t>Kim.</a:t>
            </a:r>
            <a:endParaRPr sz="19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5554" y="1076681"/>
            <a:ext cx="5228590" cy="5080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150" b="1" dirty="0">
                <a:latin typeface="Calibri"/>
                <a:cs typeface="Calibri"/>
              </a:rPr>
              <a:t>Naïve </a:t>
            </a:r>
            <a:r>
              <a:rPr sz="3150" b="1" spc="-15" dirty="0">
                <a:latin typeface="Calibri"/>
                <a:cs typeface="Calibri"/>
              </a:rPr>
              <a:t>Bayes </a:t>
            </a:r>
            <a:r>
              <a:rPr sz="3150" b="1" dirty="0">
                <a:latin typeface="Calibri"/>
                <a:cs typeface="Calibri"/>
              </a:rPr>
              <a:t>Classiﬁer</a:t>
            </a:r>
            <a:r>
              <a:rPr sz="3150" b="1" spc="-45" dirty="0">
                <a:latin typeface="Calibri"/>
                <a:cs typeface="Calibri"/>
              </a:rPr>
              <a:t> </a:t>
            </a:r>
            <a:r>
              <a:rPr sz="3150" b="1" spc="-10" dirty="0">
                <a:latin typeface="Calibri"/>
                <a:cs typeface="Calibri"/>
              </a:rPr>
              <a:t>Revisited</a:t>
            </a:r>
            <a:endParaRPr sz="31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37867" y="3721379"/>
            <a:ext cx="3603241" cy="53522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73761" y="3691128"/>
            <a:ext cx="236855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750" spc="10" dirty="0">
                <a:latin typeface="Arial"/>
                <a:cs typeface="Arial"/>
              </a:rPr>
              <a:t>P(X|Y) </a:t>
            </a:r>
            <a:r>
              <a:rPr sz="1750" spc="15" dirty="0">
                <a:latin typeface="Arial"/>
                <a:cs typeface="Arial"/>
              </a:rPr>
              <a:t>= P(X</a:t>
            </a:r>
            <a:r>
              <a:rPr sz="1725" spc="22" baseline="-21739" dirty="0">
                <a:latin typeface="Arial"/>
                <a:cs typeface="Arial"/>
              </a:rPr>
              <a:t>1</a:t>
            </a:r>
            <a:r>
              <a:rPr sz="1750" spc="15" dirty="0">
                <a:latin typeface="Arial"/>
                <a:cs typeface="Arial"/>
              </a:rPr>
              <a:t>,… </a:t>
            </a:r>
            <a:r>
              <a:rPr sz="1750" spc="20" dirty="0">
                <a:latin typeface="Arial"/>
                <a:cs typeface="Arial"/>
              </a:rPr>
              <a:t>X</a:t>
            </a:r>
            <a:r>
              <a:rPr sz="1725" spc="30" baseline="-21739" dirty="0">
                <a:latin typeface="Arial"/>
                <a:cs typeface="Arial"/>
              </a:rPr>
              <a:t>n</a:t>
            </a:r>
            <a:r>
              <a:rPr sz="1725" spc="-97" baseline="-21739" dirty="0">
                <a:latin typeface="Arial"/>
                <a:cs typeface="Arial"/>
              </a:rPr>
              <a:t> </a:t>
            </a:r>
            <a:r>
              <a:rPr sz="1750" spc="10" dirty="0">
                <a:latin typeface="Arial"/>
                <a:cs typeface="Arial"/>
              </a:rPr>
              <a:t>|Y)</a:t>
            </a:r>
            <a:endParaRPr sz="17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6376" y="2560827"/>
            <a:ext cx="2124710" cy="836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105"/>
              </a:spcBef>
            </a:pPr>
            <a:r>
              <a:rPr sz="1750" spc="10" dirty="0">
                <a:solidFill>
                  <a:srgbClr val="0000FF"/>
                </a:solidFill>
                <a:latin typeface="Calibri"/>
                <a:cs typeface="Calibri"/>
              </a:rPr>
              <a:t>Full </a:t>
            </a:r>
            <a:r>
              <a:rPr sz="1750" spc="5" dirty="0">
                <a:solidFill>
                  <a:srgbClr val="0000FF"/>
                </a:solidFill>
                <a:latin typeface="Calibri"/>
                <a:cs typeface="Calibri"/>
              </a:rPr>
              <a:t>joint </a:t>
            </a:r>
            <a:r>
              <a:rPr sz="1750" spc="-5" dirty="0">
                <a:solidFill>
                  <a:srgbClr val="0000FF"/>
                </a:solidFill>
                <a:latin typeface="Calibri"/>
                <a:cs typeface="Calibri"/>
              </a:rPr>
              <a:t>distribu</a:t>
            </a:r>
            <a:r>
              <a:rPr lang="en-US" sz="1750" spc="-5" dirty="0">
                <a:solidFill>
                  <a:srgbClr val="0000FF"/>
                </a:solidFill>
                <a:latin typeface="Calibri"/>
                <a:cs typeface="Calibri"/>
              </a:rPr>
              <a:t>ti</a:t>
            </a:r>
            <a:r>
              <a:rPr sz="1750" spc="-5" dirty="0">
                <a:solidFill>
                  <a:srgbClr val="0000FF"/>
                </a:solidFill>
                <a:latin typeface="Calibri"/>
                <a:cs typeface="Calibri"/>
              </a:rPr>
              <a:t>on:  </a:t>
            </a:r>
            <a:r>
              <a:rPr sz="1750" spc="-5" dirty="0">
                <a:latin typeface="Calibri"/>
                <a:cs typeface="Calibri"/>
              </a:rPr>
              <a:t>exponen</a:t>
            </a:r>
            <a:r>
              <a:rPr lang="en-US" sz="1750" spc="-5" dirty="0">
                <a:latin typeface="Calibri"/>
                <a:cs typeface="Calibri"/>
              </a:rPr>
              <a:t>ti</a:t>
            </a:r>
            <a:r>
              <a:rPr sz="1750" spc="-5" dirty="0">
                <a:latin typeface="Calibri"/>
                <a:cs typeface="Calibri"/>
              </a:rPr>
              <a:t>al </a:t>
            </a:r>
            <a:r>
              <a:rPr sz="1750" spc="15" dirty="0">
                <a:latin typeface="Calibri"/>
                <a:cs typeface="Calibri"/>
              </a:rPr>
              <a:t>number</a:t>
            </a:r>
            <a:r>
              <a:rPr sz="1750" spc="-40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of  </a:t>
            </a:r>
            <a:r>
              <a:rPr sz="1750" dirty="0">
                <a:latin typeface="Calibri"/>
                <a:cs typeface="Calibri"/>
              </a:rPr>
              <a:t>parameters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934588" y="2560827"/>
            <a:ext cx="3460750" cy="836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105"/>
              </a:spcBef>
            </a:pPr>
            <a:r>
              <a:rPr sz="1750" dirty="0">
                <a:solidFill>
                  <a:srgbClr val="0000FF"/>
                </a:solidFill>
                <a:latin typeface="Calibri"/>
                <a:cs typeface="Calibri"/>
              </a:rPr>
              <a:t>Condi</a:t>
            </a:r>
            <a:r>
              <a:rPr lang="en-US" sz="1750" dirty="0">
                <a:solidFill>
                  <a:srgbClr val="0000FF"/>
                </a:solidFill>
                <a:latin typeface="Calibri"/>
                <a:cs typeface="Calibri"/>
              </a:rPr>
              <a:t>ti</a:t>
            </a:r>
            <a:r>
              <a:rPr sz="1750" dirty="0">
                <a:solidFill>
                  <a:srgbClr val="0000FF"/>
                </a:solidFill>
                <a:latin typeface="Calibri"/>
                <a:cs typeface="Calibri"/>
              </a:rPr>
              <a:t>onal </a:t>
            </a:r>
            <a:r>
              <a:rPr sz="1750" spc="10" dirty="0">
                <a:solidFill>
                  <a:srgbClr val="0000FF"/>
                </a:solidFill>
                <a:latin typeface="Calibri"/>
                <a:cs typeface="Calibri"/>
              </a:rPr>
              <a:t>independence  </a:t>
            </a:r>
            <a:r>
              <a:rPr sz="1750" dirty="0">
                <a:solidFill>
                  <a:srgbClr val="0000FF"/>
                </a:solidFill>
                <a:latin typeface="Calibri"/>
                <a:cs typeface="Calibri"/>
              </a:rPr>
              <a:t>assump</a:t>
            </a:r>
            <a:r>
              <a:rPr lang="en-US" sz="1750" dirty="0">
                <a:solidFill>
                  <a:srgbClr val="0000FF"/>
                </a:solidFill>
                <a:latin typeface="Calibri"/>
                <a:cs typeface="Calibri"/>
              </a:rPr>
              <a:t>ti</a:t>
            </a:r>
            <a:r>
              <a:rPr sz="1750" dirty="0">
                <a:solidFill>
                  <a:srgbClr val="0000FF"/>
                </a:solidFill>
                <a:latin typeface="Calibri"/>
                <a:cs typeface="Calibri"/>
              </a:rPr>
              <a:t>on </a:t>
            </a:r>
            <a:r>
              <a:rPr sz="1750" spc="-5" dirty="0">
                <a:solidFill>
                  <a:srgbClr val="0000FF"/>
                </a:solidFill>
                <a:latin typeface="Calibri"/>
                <a:cs typeface="Calibri"/>
              </a:rPr>
              <a:t>for </a:t>
            </a:r>
            <a:r>
              <a:rPr sz="1750" spc="5" dirty="0">
                <a:solidFill>
                  <a:srgbClr val="0000FF"/>
                </a:solidFill>
                <a:latin typeface="Calibri"/>
                <a:cs typeface="Calibri"/>
              </a:rPr>
              <a:t>Naïve </a:t>
            </a:r>
            <a:r>
              <a:rPr sz="1750" dirty="0">
                <a:solidFill>
                  <a:srgbClr val="0000FF"/>
                </a:solidFill>
                <a:latin typeface="Calibri"/>
                <a:cs typeface="Calibri"/>
              </a:rPr>
              <a:t>Bayes </a:t>
            </a:r>
            <a:r>
              <a:rPr sz="1750" spc="10" dirty="0">
                <a:solidFill>
                  <a:srgbClr val="0000FF"/>
                </a:solidFill>
                <a:latin typeface="Calibri"/>
                <a:cs typeface="Calibri"/>
              </a:rPr>
              <a:t>classiﬁer</a:t>
            </a:r>
            <a:r>
              <a:rPr sz="1750" spc="10" dirty="0">
                <a:latin typeface="Calibri"/>
                <a:cs typeface="Calibri"/>
              </a:rPr>
              <a:t>:  linear </a:t>
            </a:r>
            <a:r>
              <a:rPr sz="1750" spc="15" dirty="0">
                <a:latin typeface="Calibri"/>
                <a:cs typeface="Calibri"/>
              </a:rPr>
              <a:t>number </a:t>
            </a:r>
            <a:r>
              <a:rPr sz="1750" spc="5" dirty="0">
                <a:latin typeface="Calibri"/>
                <a:cs typeface="Calibri"/>
              </a:rPr>
              <a:t>of</a:t>
            </a:r>
            <a:r>
              <a:rPr sz="1750" spc="-2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parameters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3623055" y="3105911"/>
            <a:ext cx="1831975" cy="600710"/>
            <a:chOff x="3623055" y="3105911"/>
            <a:chExt cx="1831975" cy="60071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23055" y="3105911"/>
              <a:ext cx="1831848" cy="60045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72128" y="3131143"/>
              <a:ext cx="1732737" cy="50358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672128" y="3131142"/>
              <a:ext cx="1732914" cy="504190"/>
            </a:xfrm>
            <a:custGeom>
              <a:avLst/>
              <a:gdLst/>
              <a:ahLst/>
              <a:cxnLst/>
              <a:rect l="l" t="t" r="r" b="b"/>
              <a:pathLst>
                <a:path w="1732914" h="504189">
                  <a:moveTo>
                    <a:pt x="0" y="251790"/>
                  </a:moveTo>
                  <a:lnTo>
                    <a:pt x="251734" y="0"/>
                  </a:lnTo>
                  <a:lnTo>
                    <a:pt x="251734" y="125895"/>
                  </a:lnTo>
                  <a:lnTo>
                    <a:pt x="1481003" y="125895"/>
                  </a:lnTo>
                  <a:lnTo>
                    <a:pt x="1481003" y="0"/>
                  </a:lnTo>
                  <a:lnTo>
                    <a:pt x="1732737" y="251790"/>
                  </a:lnTo>
                  <a:lnTo>
                    <a:pt x="1481003" y="503580"/>
                  </a:lnTo>
                  <a:lnTo>
                    <a:pt x="1481003" y="377685"/>
                  </a:lnTo>
                  <a:lnTo>
                    <a:pt x="251734" y="377685"/>
                  </a:lnTo>
                  <a:lnTo>
                    <a:pt x="251734" y="503580"/>
                  </a:lnTo>
                  <a:lnTo>
                    <a:pt x="0" y="251790"/>
                  </a:lnTo>
                  <a:close/>
                </a:path>
              </a:pathLst>
            </a:custGeom>
            <a:ln w="12558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00505" y="3841835"/>
            <a:ext cx="1579880" cy="57340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3600"/>
              </a:lnSpc>
              <a:spcBef>
                <a:spcPts val="55"/>
              </a:spcBef>
            </a:pPr>
            <a:r>
              <a:rPr sz="1750" spc="-5" dirty="0">
                <a:latin typeface="Calibri"/>
                <a:cs typeface="Calibri"/>
              </a:rPr>
              <a:t>Probabilis</a:t>
            </a:r>
            <a:r>
              <a:rPr lang="en-US" sz="1750" spc="-5" dirty="0">
                <a:latin typeface="Calibri"/>
                <a:cs typeface="Calibri"/>
              </a:rPr>
              <a:t>ti</a:t>
            </a:r>
            <a:r>
              <a:rPr sz="1750" spc="-5" dirty="0">
                <a:latin typeface="Calibri"/>
                <a:cs typeface="Calibri"/>
              </a:rPr>
              <a:t>c  </a:t>
            </a:r>
            <a:r>
              <a:rPr sz="1750" spc="5" dirty="0">
                <a:latin typeface="Calibri"/>
                <a:cs typeface="Calibri"/>
              </a:rPr>
              <a:t>graphical</a:t>
            </a:r>
            <a:r>
              <a:rPr sz="1750" spc="-65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models</a:t>
            </a:r>
            <a:endParaRPr sz="17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6084" y="1076681"/>
            <a:ext cx="5591116" cy="49949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150" b="1" spc="70" dirty="0">
                <a:latin typeface="Calibri"/>
                <a:cs typeface="Calibri"/>
              </a:rPr>
              <a:t>Probabilis</a:t>
            </a:r>
            <a:r>
              <a:rPr lang="en-US" sz="3150" b="1" spc="70" dirty="0">
                <a:latin typeface="Calibri"/>
                <a:cs typeface="Calibri"/>
              </a:rPr>
              <a:t>ti</a:t>
            </a:r>
            <a:r>
              <a:rPr sz="3150" b="1" spc="70" dirty="0">
                <a:latin typeface="Calibri"/>
                <a:cs typeface="Calibri"/>
              </a:rPr>
              <a:t>c </a:t>
            </a:r>
            <a:r>
              <a:rPr sz="3150" b="1" spc="-10" dirty="0">
                <a:latin typeface="Calibri"/>
                <a:cs typeface="Calibri"/>
              </a:rPr>
              <a:t>Graphical</a:t>
            </a:r>
            <a:r>
              <a:rPr sz="3150" b="1" spc="-75" dirty="0">
                <a:latin typeface="Calibri"/>
                <a:cs typeface="Calibri"/>
              </a:rPr>
              <a:t> </a:t>
            </a:r>
            <a:r>
              <a:rPr sz="3150" b="1" dirty="0">
                <a:latin typeface="Calibri"/>
                <a:cs typeface="Calibri"/>
              </a:rPr>
              <a:t>Models</a:t>
            </a:r>
            <a:endParaRPr sz="315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351155" indent="-339090">
              <a:lnSpc>
                <a:spcPct val="100000"/>
              </a:lnSpc>
              <a:spcBef>
                <a:spcPts val="830"/>
              </a:spcBef>
              <a:buFont typeface="Arial"/>
              <a:buChar char="•"/>
              <a:tabLst>
                <a:tab pos="351155" algn="l"/>
                <a:tab pos="351790" algn="l"/>
              </a:tabLst>
            </a:pPr>
            <a:r>
              <a:rPr spc="-15" dirty="0"/>
              <a:t>Key</a:t>
            </a:r>
            <a:r>
              <a:rPr spc="-5" dirty="0"/>
              <a:t> </a:t>
            </a:r>
            <a:r>
              <a:rPr spc="5" dirty="0"/>
              <a:t>Idea:</a:t>
            </a:r>
          </a:p>
          <a:p>
            <a:pPr marL="746760" lvl="1" indent="-283210">
              <a:lnSpc>
                <a:spcPct val="100000"/>
              </a:lnSpc>
              <a:spcBef>
                <a:spcPts val="635"/>
              </a:spcBef>
              <a:buFont typeface="Arial"/>
              <a:buChar char="–"/>
              <a:tabLst>
                <a:tab pos="747395" algn="l"/>
              </a:tabLst>
            </a:pPr>
            <a:r>
              <a:rPr sz="2350" spc="-10" dirty="0">
                <a:latin typeface="Calibri"/>
                <a:cs typeface="Calibri"/>
              </a:rPr>
              <a:t>Condi</a:t>
            </a:r>
            <a:r>
              <a:rPr lang="en-US" sz="2350" spc="-10" dirty="0">
                <a:latin typeface="Calibri"/>
                <a:cs typeface="Calibri"/>
              </a:rPr>
              <a:t>ti</a:t>
            </a:r>
            <a:r>
              <a:rPr sz="2350" spc="-10" dirty="0">
                <a:latin typeface="Calibri"/>
                <a:cs typeface="Calibri"/>
              </a:rPr>
              <a:t>onal </a:t>
            </a:r>
            <a:r>
              <a:rPr sz="2350" spc="10" dirty="0">
                <a:latin typeface="Calibri"/>
                <a:cs typeface="Calibri"/>
              </a:rPr>
              <a:t>independence </a:t>
            </a:r>
            <a:r>
              <a:rPr sz="2350" spc="-10" dirty="0">
                <a:latin typeface="Calibri"/>
                <a:cs typeface="Calibri"/>
              </a:rPr>
              <a:t>assump</a:t>
            </a:r>
            <a:r>
              <a:rPr lang="en-US" sz="2350" spc="-10" dirty="0">
                <a:latin typeface="Calibri"/>
                <a:cs typeface="Calibri"/>
              </a:rPr>
              <a:t>ti</a:t>
            </a:r>
            <a:r>
              <a:rPr sz="2350" spc="-10" dirty="0">
                <a:latin typeface="Calibri"/>
                <a:cs typeface="Calibri"/>
              </a:rPr>
              <a:t>ons</a:t>
            </a:r>
            <a:r>
              <a:rPr sz="2350" spc="10" dirty="0">
                <a:latin typeface="Calibri"/>
                <a:cs typeface="Calibri"/>
              </a:rPr>
              <a:t> </a:t>
            </a:r>
            <a:r>
              <a:rPr sz="2350" spc="5" dirty="0">
                <a:latin typeface="Calibri"/>
                <a:cs typeface="Calibri"/>
              </a:rPr>
              <a:t>useful</a:t>
            </a:r>
            <a:endParaRPr sz="2350" dirty="0">
              <a:latin typeface="Calibri"/>
              <a:cs typeface="Calibri"/>
            </a:endParaRPr>
          </a:p>
          <a:p>
            <a:pPr marL="746760" lvl="1" indent="-283210">
              <a:lnSpc>
                <a:spcPct val="100000"/>
              </a:lnSpc>
              <a:spcBef>
                <a:spcPts val="540"/>
              </a:spcBef>
              <a:buFont typeface="Arial"/>
              <a:buChar char="–"/>
              <a:tabLst>
                <a:tab pos="747395" algn="l"/>
              </a:tabLst>
            </a:pPr>
            <a:r>
              <a:rPr sz="2350" spc="10" dirty="0">
                <a:latin typeface="Calibri"/>
                <a:cs typeface="Calibri"/>
              </a:rPr>
              <a:t>but </a:t>
            </a:r>
            <a:r>
              <a:rPr sz="2350" spc="5" dirty="0">
                <a:latin typeface="Calibri"/>
                <a:cs typeface="Calibri"/>
              </a:rPr>
              <a:t>Naïve </a:t>
            </a:r>
            <a:r>
              <a:rPr sz="2350" spc="-10" dirty="0">
                <a:latin typeface="Calibri"/>
                <a:cs typeface="Calibri"/>
              </a:rPr>
              <a:t>Bayes </a:t>
            </a:r>
            <a:r>
              <a:rPr sz="2350" spc="5" dirty="0">
                <a:latin typeface="Calibri"/>
                <a:cs typeface="Calibri"/>
              </a:rPr>
              <a:t>is</a:t>
            </a:r>
            <a:r>
              <a:rPr sz="2350" spc="1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extreme!</a:t>
            </a:r>
          </a:p>
          <a:p>
            <a:pPr marL="753110" marR="197485" lvl="1" indent="-288925">
              <a:lnSpc>
                <a:spcPts val="2790"/>
              </a:lnSpc>
              <a:spcBef>
                <a:spcPts val="760"/>
              </a:spcBef>
              <a:buFont typeface="Arial"/>
              <a:buChar char="–"/>
              <a:tabLst>
                <a:tab pos="747395" algn="l"/>
              </a:tabLst>
            </a:pPr>
            <a:r>
              <a:rPr sz="2350" spc="-10" dirty="0">
                <a:latin typeface="Calibri"/>
                <a:cs typeface="Calibri"/>
              </a:rPr>
              <a:t>Probabilis</a:t>
            </a:r>
            <a:r>
              <a:rPr lang="en-US" sz="2350" spc="-10" dirty="0">
                <a:latin typeface="Calibri"/>
                <a:cs typeface="Calibri"/>
              </a:rPr>
              <a:t>ti</a:t>
            </a:r>
            <a:r>
              <a:rPr sz="2350" spc="-10" dirty="0">
                <a:latin typeface="Calibri"/>
                <a:cs typeface="Calibri"/>
              </a:rPr>
              <a:t>c </a:t>
            </a:r>
            <a:r>
              <a:rPr sz="2350" dirty="0">
                <a:latin typeface="Calibri"/>
                <a:cs typeface="Calibri"/>
              </a:rPr>
              <a:t>graphical </a:t>
            </a:r>
            <a:r>
              <a:rPr sz="2350" spc="5" dirty="0">
                <a:latin typeface="Calibri"/>
                <a:cs typeface="Calibri"/>
              </a:rPr>
              <a:t>models </a:t>
            </a:r>
            <a:r>
              <a:rPr sz="2350" spc="-5" dirty="0">
                <a:latin typeface="Calibri"/>
                <a:cs typeface="Calibri"/>
              </a:rPr>
              <a:t>are </a:t>
            </a:r>
            <a:r>
              <a:rPr sz="2350" spc="10" dirty="0">
                <a:latin typeface="Calibri"/>
                <a:cs typeface="Calibri"/>
              </a:rPr>
              <a:t>a </a:t>
            </a:r>
            <a:r>
              <a:rPr sz="2350" dirty="0">
                <a:latin typeface="Calibri"/>
                <a:cs typeface="Calibri"/>
              </a:rPr>
              <a:t>joint </a:t>
            </a:r>
            <a:r>
              <a:rPr sz="2350" spc="5" dirty="0">
                <a:latin typeface="Calibri"/>
                <a:cs typeface="Calibri"/>
              </a:rPr>
              <a:t>probability  </a:t>
            </a:r>
            <a:r>
              <a:rPr sz="2350" spc="-10" dirty="0">
                <a:latin typeface="Calibri"/>
                <a:cs typeface="Calibri"/>
              </a:rPr>
              <a:t>distribu</a:t>
            </a:r>
            <a:r>
              <a:rPr lang="en-US" sz="2350" spc="-10" dirty="0">
                <a:latin typeface="Calibri"/>
                <a:cs typeface="Calibri"/>
              </a:rPr>
              <a:t>ti</a:t>
            </a:r>
            <a:r>
              <a:rPr sz="2350" spc="-10" dirty="0">
                <a:latin typeface="Calibri"/>
                <a:cs typeface="Calibri"/>
              </a:rPr>
              <a:t>on </a:t>
            </a:r>
            <a:r>
              <a:rPr sz="2350" spc="5" dirty="0">
                <a:latin typeface="Calibri"/>
                <a:cs typeface="Calibri"/>
              </a:rPr>
              <a:t>deﬁned </a:t>
            </a:r>
            <a:r>
              <a:rPr sz="2350" dirty="0">
                <a:latin typeface="Calibri"/>
                <a:cs typeface="Calibri"/>
              </a:rPr>
              <a:t>over </a:t>
            </a:r>
            <a:r>
              <a:rPr sz="2350" spc="10" dirty="0">
                <a:latin typeface="Calibri"/>
                <a:cs typeface="Calibri"/>
              </a:rPr>
              <a:t>a</a:t>
            </a:r>
            <a:r>
              <a:rPr sz="2350" spc="1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graph</a:t>
            </a:r>
          </a:p>
          <a:p>
            <a:pPr marL="1142365" marR="5080" lvl="2" indent="-226060">
              <a:lnSpc>
                <a:spcPct val="102499"/>
              </a:lnSpc>
              <a:spcBef>
                <a:spcPts val="459"/>
              </a:spcBef>
              <a:buFont typeface="Arial"/>
              <a:buChar char="•"/>
              <a:tabLst>
                <a:tab pos="1143000" algn="l"/>
              </a:tabLst>
            </a:pPr>
            <a:r>
              <a:rPr sz="2350" spc="5" dirty="0">
                <a:solidFill>
                  <a:srgbClr val="0000FF"/>
                </a:solidFill>
                <a:latin typeface="Calibri"/>
                <a:cs typeface="Calibri"/>
              </a:rPr>
              <a:t>sets of </a:t>
            </a:r>
            <a:r>
              <a:rPr sz="2350" spc="-10" dirty="0">
                <a:solidFill>
                  <a:srgbClr val="0000FF"/>
                </a:solidFill>
                <a:latin typeface="Calibri"/>
                <a:cs typeface="Calibri"/>
              </a:rPr>
              <a:t>condi</a:t>
            </a:r>
            <a:r>
              <a:rPr lang="en-US" sz="2350" spc="-10" dirty="0">
                <a:solidFill>
                  <a:srgbClr val="0000FF"/>
                </a:solidFill>
                <a:latin typeface="Calibri"/>
                <a:cs typeface="Calibri"/>
              </a:rPr>
              <a:t>ti</a:t>
            </a:r>
            <a:r>
              <a:rPr sz="2350" spc="-10" dirty="0">
                <a:solidFill>
                  <a:srgbClr val="0000FF"/>
                </a:solidFill>
                <a:latin typeface="Calibri"/>
                <a:cs typeface="Calibri"/>
              </a:rPr>
              <a:t>onal </a:t>
            </a:r>
            <a:r>
              <a:rPr sz="2350" spc="10" dirty="0">
                <a:solidFill>
                  <a:srgbClr val="0000FF"/>
                </a:solidFill>
                <a:latin typeface="Calibri"/>
                <a:cs typeface="Calibri"/>
              </a:rPr>
              <a:t>independence </a:t>
            </a:r>
            <a:r>
              <a:rPr sz="2350" spc="-10" dirty="0">
                <a:solidFill>
                  <a:srgbClr val="0000FF"/>
                </a:solidFill>
                <a:latin typeface="Calibri"/>
                <a:cs typeface="Calibri"/>
              </a:rPr>
              <a:t>assump</a:t>
            </a:r>
            <a:r>
              <a:rPr lang="en-US" sz="2350" spc="-10" dirty="0">
                <a:solidFill>
                  <a:srgbClr val="0000FF"/>
                </a:solidFill>
                <a:latin typeface="Calibri"/>
                <a:cs typeface="Calibri"/>
              </a:rPr>
              <a:t>ti</a:t>
            </a:r>
            <a:r>
              <a:rPr sz="2350" spc="-10" dirty="0">
                <a:solidFill>
                  <a:srgbClr val="0000FF"/>
                </a:solidFill>
                <a:latin typeface="Calibri"/>
                <a:cs typeface="Calibri"/>
              </a:rPr>
              <a:t>ons </a:t>
            </a:r>
            <a:r>
              <a:rPr sz="2350" spc="-5" dirty="0">
                <a:latin typeface="Calibri"/>
                <a:cs typeface="Calibri"/>
              </a:rPr>
              <a:t>are  </a:t>
            </a:r>
            <a:r>
              <a:rPr sz="2350" dirty="0">
                <a:latin typeface="Calibri"/>
                <a:cs typeface="Calibri"/>
              </a:rPr>
              <a:t>expressed </a:t>
            </a:r>
            <a:r>
              <a:rPr sz="2350" spc="5" dirty="0">
                <a:latin typeface="Calibri"/>
                <a:cs typeface="Calibri"/>
              </a:rPr>
              <a:t>via </a:t>
            </a:r>
            <a:r>
              <a:rPr sz="2350" dirty="0">
                <a:solidFill>
                  <a:srgbClr val="0000FF"/>
                </a:solidFill>
                <a:latin typeface="Calibri"/>
                <a:cs typeface="Calibri"/>
              </a:rPr>
              <a:t>graph</a:t>
            </a:r>
            <a:r>
              <a:rPr sz="2350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350" dirty="0">
                <a:solidFill>
                  <a:srgbClr val="0000FF"/>
                </a:solidFill>
                <a:latin typeface="Calibri"/>
                <a:cs typeface="Calibri"/>
              </a:rPr>
              <a:t>structure</a:t>
            </a:r>
            <a:endParaRPr sz="235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8394" y="4905823"/>
            <a:ext cx="4772025" cy="4476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51155" indent="-339090">
              <a:lnSpc>
                <a:spcPct val="100000"/>
              </a:lnSpc>
              <a:spcBef>
                <a:spcPts val="114"/>
              </a:spcBef>
              <a:buFont typeface="Arial"/>
              <a:buChar char="•"/>
              <a:tabLst>
                <a:tab pos="351155" algn="l"/>
                <a:tab pos="351790" algn="l"/>
              </a:tabLst>
            </a:pPr>
            <a:r>
              <a:rPr sz="2750" spc="-40" dirty="0">
                <a:latin typeface="Calibri"/>
                <a:cs typeface="Calibri"/>
              </a:rPr>
              <a:t>Two </a:t>
            </a:r>
            <a:r>
              <a:rPr sz="2750" spc="5" dirty="0">
                <a:latin typeface="Calibri"/>
                <a:cs typeface="Calibri"/>
              </a:rPr>
              <a:t>types of </a:t>
            </a:r>
            <a:r>
              <a:rPr sz="2750" spc="-5" dirty="0">
                <a:latin typeface="Calibri"/>
                <a:cs typeface="Calibri"/>
              </a:rPr>
              <a:t>graphical</a:t>
            </a:r>
            <a:r>
              <a:rPr sz="2750" spc="-1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models: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40413" y="5318258"/>
            <a:ext cx="6090285" cy="90487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294640" indent="-282575">
              <a:lnSpc>
                <a:spcPct val="100000"/>
              </a:lnSpc>
              <a:spcBef>
                <a:spcPts val="735"/>
              </a:spcBef>
              <a:buFont typeface="Arial"/>
              <a:buChar char="–"/>
              <a:tabLst>
                <a:tab pos="295275" algn="l"/>
              </a:tabLst>
            </a:pPr>
            <a:r>
              <a:rPr sz="2350" dirty="0">
                <a:latin typeface="Calibri"/>
                <a:cs typeface="Calibri"/>
              </a:rPr>
              <a:t>Directed graphs </a:t>
            </a:r>
            <a:r>
              <a:rPr sz="2350" spc="-5" dirty="0">
                <a:latin typeface="Calibri"/>
                <a:cs typeface="Calibri"/>
              </a:rPr>
              <a:t>(aka </a:t>
            </a:r>
            <a:r>
              <a:rPr sz="2350" dirty="0">
                <a:latin typeface="Calibri"/>
                <a:cs typeface="Calibri"/>
              </a:rPr>
              <a:t>Bayesian</a:t>
            </a:r>
            <a:r>
              <a:rPr sz="2350" spc="1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Networks)</a:t>
            </a:r>
            <a:endParaRPr sz="2350">
              <a:latin typeface="Calibri"/>
              <a:cs typeface="Calibri"/>
            </a:endParaRPr>
          </a:p>
          <a:p>
            <a:pPr marL="294640" indent="-282575">
              <a:lnSpc>
                <a:spcPct val="100000"/>
              </a:lnSpc>
              <a:spcBef>
                <a:spcPts val="640"/>
              </a:spcBef>
              <a:buFont typeface="Arial"/>
              <a:buChar char="–"/>
              <a:tabLst>
                <a:tab pos="295275" algn="l"/>
              </a:tabLst>
            </a:pPr>
            <a:r>
              <a:rPr sz="2350" dirty="0">
                <a:latin typeface="Calibri"/>
                <a:cs typeface="Calibri"/>
              </a:rPr>
              <a:t>Undirected graphs </a:t>
            </a:r>
            <a:r>
              <a:rPr sz="2350" spc="-5" dirty="0">
                <a:latin typeface="Calibri"/>
                <a:cs typeface="Calibri"/>
              </a:rPr>
              <a:t>(aka Markov </a:t>
            </a:r>
            <a:r>
              <a:rPr sz="2350" spc="10" dirty="0">
                <a:latin typeface="Calibri"/>
                <a:cs typeface="Calibri"/>
              </a:rPr>
              <a:t>Random</a:t>
            </a:r>
            <a:r>
              <a:rPr sz="2350" spc="30" dirty="0">
                <a:latin typeface="Calibri"/>
                <a:cs typeface="Calibri"/>
              </a:rPr>
              <a:t> </a:t>
            </a:r>
            <a:r>
              <a:rPr sz="2350" spc="5" dirty="0">
                <a:latin typeface="Calibri"/>
                <a:cs typeface="Calibri"/>
              </a:rPr>
              <a:t>Fields)</a:t>
            </a:r>
            <a:endParaRPr sz="2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000" y="1122188"/>
            <a:ext cx="9040368" cy="5524973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9845" y="1076681"/>
            <a:ext cx="3983990" cy="5080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150" b="1" spc="-5" dirty="0">
                <a:latin typeface="Calibri"/>
                <a:cs typeface="Calibri"/>
              </a:rPr>
              <a:t>Marginal</a:t>
            </a:r>
            <a:r>
              <a:rPr sz="3150" b="1" spc="-30" dirty="0">
                <a:latin typeface="Calibri"/>
                <a:cs typeface="Calibri"/>
              </a:rPr>
              <a:t> </a:t>
            </a:r>
            <a:r>
              <a:rPr sz="3150" b="1" dirty="0">
                <a:latin typeface="Calibri"/>
                <a:cs typeface="Calibri"/>
              </a:rPr>
              <a:t>Independence</a:t>
            </a:r>
            <a:endParaRPr sz="31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4009" y="1850136"/>
            <a:ext cx="8588375" cy="425116"/>
          </a:xfrm>
          <a:prstGeom prst="rect">
            <a:avLst/>
          </a:prstGeom>
          <a:ln w="18838">
            <a:solidFill>
              <a:srgbClr val="FF4C00"/>
            </a:solidFill>
          </a:ln>
        </p:spPr>
        <p:txBody>
          <a:bodyPr vert="horz" wrap="square" lIns="0" tIns="123825" rIns="0" bIns="0" rtlCol="0">
            <a:spAutoFit/>
          </a:bodyPr>
          <a:lstStyle/>
          <a:p>
            <a:pPr marL="316230">
              <a:lnSpc>
                <a:spcPct val="100000"/>
              </a:lnSpc>
              <a:spcBef>
                <a:spcPts val="975"/>
              </a:spcBef>
            </a:pPr>
            <a:r>
              <a:rPr sz="1950" i="1" spc="-20" dirty="0">
                <a:latin typeface="Calibri"/>
                <a:cs typeface="Calibri"/>
              </a:rPr>
              <a:t>Deﬁni</a:t>
            </a:r>
            <a:r>
              <a:rPr lang="en-US" sz="1950" i="1" spc="-20" dirty="0">
                <a:latin typeface="Calibri"/>
                <a:cs typeface="Calibri"/>
              </a:rPr>
              <a:t>ti</a:t>
            </a:r>
            <a:r>
              <a:rPr sz="1950" i="1" spc="-20" dirty="0">
                <a:latin typeface="Calibri"/>
                <a:cs typeface="Calibri"/>
              </a:rPr>
              <a:t>on</a:t>
            </a:r>
            <a:r>
              <a:rPr sz="1950" spc="-20" dirty="0">
                <a:latin typeface="Calibri"/>
                <a:cs typeface="Calibri"/>
              </a:rPr>
              <a:t>: </a:t>
            </a:r>
            <a:r>
              <a:rPr sz="1950" spc="10" dirty="0">
                <a:latin typeface="Calibri"/>
                <a:cs typeface="Calibri"/>
              </a:rPr>
              <a:t>X </a:t>
            </a:r>
            <a:r>
              <a:rPr sz="1950" spc="5" dirty="0">
                <a:latin typeface="Calibri"/>
                <a:cs typeface="Calibri"/>
              </a:rPr>
              <a:t>is </a:t>
            </a:r>
            <a:r>
              <a:rPr sz="1950" u="sng" spc="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marginally </a:t>
            </a:r>
            <a:r>
              <a:rPr sz="1950" u="sng" spc="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independent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of </a:t>
            </a:r>
            <a:r>
              <a:rPr sz="1950" spc="10" dirty="0">
                <a:latin typeface="Calibri"/>
                <a:cs typeface="Calibri"/>
              </a:rPr>
              <a:t>Y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if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1724" y="2608342"/>
            <a:ext cx="6090586" cy="293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77837" y="4642881"/>
            <a:ext cx="4717389" cy="2936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88394" y="3992540"/>
            <a:ext cx="149987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-10" dirty="0">
                <a:latin typeface="Calibri"/>
                <a:cs typeface="Calibri"/>
              </a:rPr>
              <a:t>Equivalently,</a:t>
            </a:r>
            <a:r>
              <a:rPr sz="1950" spc="-35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if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88394" y="5650315"/>
            <a:ext cx="149987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-10" dirty="0">
                <a:latin typeface="Calibri"/>
                <a:cs typeface="Calibri"/>
              </a:rPr>
              <a:t>Equivalently,</a:t>
            </a:r>
            <a:r>
              <a:rPr sz="1950" spc="-35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if</a:t>
            </a:r>
            <a:endParaRPr sz="195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48957" y="6224715"/>
            <a:ext cx="4677360" cy="294187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1598" y="1076681"/>
            <a:ext cx="4676002" cy="49949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150" b="1" spc="85" dirty="0">
                <a:latin typeface="Calibri"/>
                <a:cs typeface="Calibri"/>
              </a:rPr>
              <a:t>Condi</a:t>
            </a:r>
            <a:r>
              <a:rPr lang="en-US" sz="3150" b="1" spc="85" dirty="0">
                <a:latin typeface="Calibri"/>
                <a:cs typeface="Calibri"/>
              </a:rPr>
              <a:t>ti</a:t>
            </a:r>
            <a:r>
              <a:rPr sz="3150" b="1" spc="85" dirty="0">
                <a:latin typeface="Calibri"/>
                <a:cs typeface="Calibri"/>
              </a:rPr>
              <a:t>onal</a:t>
            </a:r>
            <a:r>
              <a:rPr sz="3150" b="1" spc="-35" dirty="0">
                <a:latin typeface="Calibri"/>
                <a:cs typeface="Calibri"/>
              </a:rPr>
              <a:t> </a:t>
            </a:r>
            <a:r>
              <a:rPr sz="3150" b="1" dirty="0">
                <a:latin typeface="Calibri"/>
                <a:cs typeface="Calibri"/>
              </a:rPr>
              <a:t>Independence</a:t>
            </a:r>
            <a:endParaRPr sz="315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3401" y="2102203"/>
            <a:ext cx="8839200" cy="869597"/>
          </a:xfrm>
          <a:prstGeom prst="rect">
            <a:avLst/>
          </a:prstGeom>
          <a:ln w="18838">
            <a:solidFill>
              <a:srgbClr val="FF4C00"/>
            </a:solidFill>
          </a:ln>
        </p:spPr>
        <p:txBody>
          <a:bodyPr vert="horz" wrap="square" lIns="0" tIns="270510" rIns="0" bIns="0" rtlCol="0">
            <a:spAutoFit/>
          </a:bodyPr>
          <a:lstStyle/>
          <a:p>
            <a:pPr marL="655320" marR="304800" indent="-339090">
              <a:lnSpc>
                <a:spcPct val="101400"/>
              </a:lnSpc>
              <a:spcBef>
                <a:spcPts val="2130"/>
              </a:spcBef>
            </a:pPr>
            <a:r>
              <a:rPr sz="1950" i="1" spc="-20" dirty="0">
                <a:latin typeface="Calibri"/>
                <a:cs typeface="Calibri"/>
              </a:rPr>
              <a:t>Deﬁni</a:t>
            </a:r>
            <a:r>
              <a:rPr lang="en-US" sz="1950" i="1" spc="-20" dirty="0">
                <a:latin typeface="Calibri"/>
                <a:cs typeface="Calibri"/>
              </a:rPr>
              <a:t>ti</a:t>
            </a:r>
            <a:r>
              <a:rPr sz="1950" i="1" spc="-20" dirty="0">
                <a:latin typeface="Calibri"/>
                <a:cs typeface="Calibri"/>
              </a:rPr>
              <a:t>on</a:t>
            </a:r>
            <a:r>
              <a:rPr sz="1950" spc="-20" dirty="0">
                <a:latin typeface="Calibri"/>
                <a:cs typeface="Calibri"/>
              </a:rPr>
              <a:t>: </a:t>
            </a:r>
            <a:r>
              <a:rPr sz="1950" spc="10" dirty="0">
                <a:latin typeface="Calibri"/>
                <a:cs typeface="Calibri"/>
              </a:rPr>
              <a:t>X </a:t>
            </a:r>
            <a:r>
              <a:rPr sz="1950" spc="5" dirty="0">
                <a:latin typeface="Calibri"/>
                <a:cs typeface="Calibri"/>
              </a:rPr>
              <a:t>is </a:t>
            </a:r>
            <a:r>
              <a:rPr sz="195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condi</a:t>
            </a:r>
            <a:r>
              <a:rPr lang="en-US" sz="195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</a:t>
            </a:r>
            <a:r>
              <a:rPr sz="195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onally </a:t>
            </a:r>
            <a:r>
              <a:rPr sz="1950" u="sng" spc="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independent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of </a:t>
            </a:r>
            <a:r>
              <a:rPr sz="1950" spc="10" dirty="0">
                <a:latin typeface="Calibri"/>
                <a:cs typeface="Calibri"/>
              </a:rPr>
              <a:t>Y </a:t>
            </a:r>
            <a:r>
              <a:rPr sz="1950" spc="5" dirty="0">
                <a:latin typeface="Calibri"/>
                <a:cs typeface="Calibri"/>
              </a:rPr>
              <a:t>given Z, if </a:t>
            </a:r>
            <a:r>
              <a:rPr sz="1950" spc="10" dirty="0">
                <a:latin typeface="Calibri"/>
                <a:cs typeface="Calibri"/>
              </a:rPr>
              <a:t>the </a:t>
            </a:r>
            <a:r>
              <a:rPr sz="1950" spc="5" dirty="0">
                <a:latin typeface="Calibri"/>
                <a:cs typeface="Calibri"/>
              </a:rPr>
              <a:t>probability</a:t>
            </a:r>
            <a:r>
              <a:rPr lang="en-US" sz="1950" spc="5" dirty="0">
                <a:latin typeface="Calibri"/>
                <a:cs typeface="Calibri"/>
              </a:rPr>
              <a:t> </a:t>
            </a:r>
            <a:r>
              <a:rPr sz="1950" spc="-5" dirty="0">
                <a:latin typeface="Calibri"/>
                <a:cs typeface="Calibri"/>
              </a:rPr>
              <a:t>distribu</a:t>
            </a:r>
            <a:r>
              <a:rPr lang="en-US" sz="1950" spc="-5" dirty="0">
                <a:latin typeface="Calibri"/>
                <a:cs typeface="Calibri"/>
              </a:rPr>
              <a:t>ti</a:t>
            </a:r>
            <a:r>
              <a:rPr sz="1950" spc="-5" dirty="0">
                <a:latin typeface="Calibri"/>
                <a:cs typeface="Calibri"/>
              </a:rPr>
              <a:t>on </a:t>
            </a:r>
            <a:r>
              <a:rPr sz="1950" spc="5" dirty="0">
                <a:latin typeface="Calibri"/>
                <a:cs typeface="Calibri"/>
              </a:rPr>
              <a:t>governing </a:t>
            </a:r>
            <a:r>
              <a:rPr sz="1950" spc="10" dirty="0">
                <a:latin typeface="Calibri"/>
                <a:cs typeface="Calibri"/>
              </a:rPr>
              <a:t>X </a:t>
            </a:r>
            <a:r>
              <a:rPr sz="1950" spc="5" dirty="0">
                <a:latin typeface="Calibri"/>
                <a:cs typeface="Calibri"/>
              </a:rPr>
              <a:t>is </a:t>
            </a:r>
            <a:r>
              <a:rPr sz="1950" spc="10" dirty="0">
                <a:latin typeface="Calibri"/>
                <a:cs typeface="Calibri"/>
              </a:rPr>
              <a:t>independent </a:t>
            </a:r>
            <a:r>
              <a:rPr sz="1950" spc="5" dirty="0">
                <a:latin typeface="Calibri"/>
                <a:cs typeface="Calibri"/>
              </a:rPr>
              <a:t>of </a:t>
            </a:r>
            <a:r>
              <a:rPr sz="1950" spc="10" dirty="0">
                <a:latin typeface="Calibri"/>
                <a:cs typeface="Calibri"/>
              </a:rPr>
              <a:t>the </a:t>
            </a:r>
            <a:r>
              <a:rPr sz="1950" spc="5" dirty="0">
                <a:latin typeface="Calibri"/>
                <a:cs typeface="Calibri"/>
              </a:rPr>
              <a:t>value of </a:t>
            </a:r>
            <a:r>
              <a:rPr sz="1950" spc="-114" dirty="0">
                <a:latin typeface="Calibri"/>
                <a:cs typeface="Calibri"/>
              </a:rPr>
              <a:t>Y, </a:t>
            </a:r>
            <a:r>
              <a:rPr sz="1950" spc="5" dirty="0">
                <a:latin typeface="Calibri"/>
                <a:cs typeface="Calibri"/>
              </a:rPr>
              <a:t>given </a:t>
            </a:r>
            <a:r>
              <a:rPr sz="1950" spc="10" dirty="0">
                <a:latin typeface="Calibri"/>
                <a:cs typeface="Calibri"/>
              </a:rPr>
              <a:t>the </a:t>
            </a:r>
            <a:r>
              <a:rPr sz="1950" spc="5" dirty="0">
                <a:latin typeface="Calibri"/>
                <a:cs typeface="Calibri"/>
              </a:rPr>
              <a:t>value of  </a:t>
            </a:r>
            <a:r>
              <a:rPr sz="1950" spc="10" dirty="0">
                <a:latin typeface="Calibri"/>
                <a:cs typeface="Calibri"/>
              </a:rPr>
              <a:t>Z</a:t>
            </a:r>
            <a:endParaRPr sz="195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7722" y="4442149"/>
            <a:ext cx="2543678" cy="31611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10" dirty="0">
                <a:latin typeface="Calibri"/>
                <a:cs typeface="Calibri"/>
              </a:rPr>
              <a:t>which </a:t>
            </a:r>
            <a:r>
              <a:rPr sz="1950" spc="5" dirty="0">
                <a:latin typeface="Calibri"/>
                <a:cs typeface="Calibri"/>
              </a:rPr>
              <a:t>we </a:t>
            </a:r>
            <a:r>
              <a:rPr sz="1950" spc="165" dirty="0">
                <a:latin typeface="Calibri"/>
                <a:cs typeface="Calibri"/>
              </a:rPr>
              <a:t>o</a:t>
            </a:r>
            <a:r>
              <a:rPr lang="en-US" sz="1950" spc="165" dirty="0">
                <a:latin typeface="Calibri"/>
                <a:cs typeface="Calibri"/>
              </a:rPr>
              <a:t>ft</a:t>
            </a:r>
            <a:r>
              <a:rPr sz="1950" spc="165" dirty="0">
                <a:latin typeface="Calibri"/>
                <a:cs typeface="Calibri"/>
              </a:rPr>
              <a:t>en</a:t>
            </a:r>
            <a:r>
              <a:rPr sz="1950" spc="-6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write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37722" y="5779922"/>
            <a:ext cx="41529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10" dirty="0">
                <a:latin typeface="Calibri"/>
                <a:cs typeface="Calibri"/>
              </a:rPr>
              <a:t>E</a:t>
            </a:r>
            <a:r>
              <a:rPr sz="1750" spc="20" dirty="0">
                <a:latin typeface="Calibri"/>
                <a:cs typeface="Calibri"/>
              </a:rPr>
              <a:t>.</a:t>
            </a:r>
            <a:r>
              <a:rPr sz="1750" dirty="0">
                <a:latin typeface="Calibri"/>
                <a:cs typeface="Calibri"/>
              </a:rPr>
              <a:t>g.,</a:t>
            </a:r>
            <a:endParaRPr sz="175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8658" y="5092015"/>
            <a:ext cx="2857705" cy="28332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43472" y="5848706"/>
            <a:ext cx="5943413" cy="28634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45297" y="3505583"/>
            <a:ext cx="7146484" cy="304417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5669" y="1076681"/>
            <a:ext cx="3770629" cy="5080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150" b="1" spc="-10" dirty="0">
                <a:latin typeface="Calibri"/>
                <a:cs typeface="Calibri"/>
              </a:rPr>
              <a:t>Directed </a:t>
            </a:r>
            <a:r>
              <a:rPr sz="3150" b="1" spc="-5" dirty="0">
                <a:latin typeface="Calibri"/>
                <a:cs typeface="Calibri"/>
              </a:rPr>
              <a:t>Acyclic</a:t>
            </a:r>
            <a:r>
              <a:rPr sz="3150" b="1" spc="-15" dirty="0">
                <a:latin typeface="Calibri"/>
                <a:cs typeface="Calibri"/>
              </a:rPr>
              <a:t> </a:t>
            </a:r>
            <a:r>
              <a:rPr sz="3150" b="1" spc="-10" dirty="0">
                <a:latin typeface="Calibri"/>
                <a:cs typeface="Calibri"/>
              </a:rPr>
              <a:t>Graph</a:t>
            </a:r>
            <a:endParaRPr sz="31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7722" y="2108709"/>
            <a:ext cx="3630929" cy="20726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1155" marR="125730" indent="-339090">
              <a:lnSpc>
                <a:spcPct val="101699"/>
              </a:lnSpc>
              <a:spcBef>
                <a:spcPts val="75"/>
              </a:spcBef>
              <a:buFont typeface="Arial"/>
              <a:buChar char="•"/>
              <a:tabLst>
                <a:tab pos="351155" algn="l"/>
                <a:tab pos="351790" algn="l"/>
              </a:tabLst>
            </a:pPr>
            <a:r>
              <a:rPr sz="2350" spc="10" dirty="0">
                <a:latin typeface="Calibri"/>
                <a:cs typeface="Calibri"/>
              </a:rPr>
              <a:t>A </a:t>
            </a:r>
            <a:r>
              <a:rPr sz="2350" dirty="0">
                <a:latin typeface="Calibri"/>
                <a:cs typeface="Calibri"/>
              </a:rPr>
              <a:t>directed acyclic graph</a:t>
            </a:r>
            <a:r>
              <a:rPr sz="2350" spc="-50" dirty="0">
                <a:latin typeface="Calibri"/>
                <a:cs typeface="Calibri"/>
              </a:rPr>
              <a:t> </a:t>
            </a:r>
            <a:r>
              <a:rPr sz="2350" spc="5" dirty="0">
                <a:latin typeface="Calibri"/>
                <a:cs typeface="Calibri"/>
              </a:rPr>
              <a:t>is  deﬁned</a:t>
            </a:r>
            <a:r>
              <a:rPr sz="2350" dirty="0">
                <a:latin typeface="Calibri"/>
                <a:cs typeface="Calibri"/>
              </a:rPr>
              <a:t> by:</a:t>
            </a:r>
          </a:p>
          <a:p>
            <a:pPr marL="746760" lvl="1" indent="-283210">
              <a:lnSpc>
                <a:spcPct val="100000"/>
              </a:lnSpc>
              <a:spcBef>
                <a:spcPts val="525"/>
              </a:spcBef>
              <a:buFont typeface="Arial"/>
              <a:buChar char="–"/>
              <a:tabLst>
                <a:tab pos="746760" algn="l"/>
                <a:tab pos="747395" algn="l"/>
              </a:tabLst>
            </a:pPr>
            <a:r>
              <a:rPr sz="1950" spc="15" dirty="0">
                <a:latin typeface="Calibri"/>
                <a:cs typeface="Calibri"/>
              </a:rPr>
              <a:t>A </a:t>
            </a:r>
            <a:r>
              <a:rPr sz="1950" spc="5" dirty="0">
                <a:latin typeface="Calibri"/>
                <a:cs typeface="Calibri"/>
              </a:rPr>
              <a:t>set of</a:t>
            </a:r>
            <a:r>
              <a:rPr sz="1950" spc="-1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nodes</a:t>
            </a:r>
            <a:endParaRPr sz="1950" dirty="0">
              <a:latin typeface="Calibri"/>
              <a:cs typeface="Calibri"/>
            </a:endParaRPr>
          </a:p>
          <a:p>
            <a:pPr marL="753110" marR="5080" lvl="1" indent="-288925">
              <a:lnSpc>
                <a:spcPct val="101800"/>
              </a:lnSpc>
              <a:spcBef>
                <a:spcPts val="390"/>
              </a:spcBef>
              <a:buFont typeface="Arial"/>
              <a:buChar char="–"/>
              <a:tabLst>
                <a:tab pos="746760" algn="l"/>
                <a:tab pos="747395" algn="l"/>
              </a:tabLst>
            </a:pPr>
            <a:r>
              <a:rPr sz="1950" spc="15" dirty="0">
                <a:latin typeface="Calibri"/>
                <a:cs typeface="Calibri"/>
              </a:rPr>
              <a:t>A </a:t>
            </a:r>
            <a:r>
              <a:rPr sz="1950" spc="5" dirty="0">
                <a:latin typeface="Calibri"/>
                <a:cs typeface="Calibri"/>
              </a:rPr>
              <a:t>set of edges, </a:t>
            </a:r>
            <a:r>
              <a:rPr sz="1950" spc="10" dirty="0">
                <a:latin typeface="Calibri"/>
                <a:cs typeface="Calibri"/>
              </a:rPr>
              <a:t>such </a:t>
            </a:r>
            <a:r>
              <a:rPr sz="1950" spc="5" dirty="0">
                <a:latin typeface="Calibri"/>
                <a:cs typeface="Calibri"/>
              </a:rPr>
              <a:t>that  </a:t>
            </a:r>
            <a:r>
              <a:rPr sz="1950" dirty="0">
                <a:latin typeface="Calibri"/>
                <a:cs typeface="Calibri"/>
              </a:rPr>
              <a:t>directed </a:t>
            </a:r>
            <a:r>
              <a:rPr sz="1950" spc="5" dirty="0">
                <a:latin typeface="Calibri"/>
                <a:cs typeface="Calibri"/>
              </a:rPr>
              <a:t>edges </a:t>
            </a:r>
            <a:r>
              <a:rPr sz="1950" spc="10" dirty="0">
                <a:latin typeface="Calibri"/>
                <a:cs typeface="Calibri"/>
              </a:rPr>
              <a:t>do no</a:t>
            </a:r>
            <a:r>
              <a:rPr lang="en-US" sz="1950" spc="10" dirty="0">
                <a:latin typeface="Calibri"/>
                <a:cs typeface="Calibri"/>
              </a:rPr>
              <a:t>t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spc="-5" dirty="0">
                <a:latin typeface="Calibri"/>
                <a:cs typeface="Calibri"/>
              </a:rPr>
              <a:t>form </a:t>
            </a:r>
            <a:r>
              <a:rPr sz="1950" spc="10" dirty="0">
                <a:latin typeface="Calibri"/>
                <a:cs typeface="Calibri"/>
              </a:rPr>
              <a:t>a  </a:t>
            </a:r>
            <a:r>
              <a:rPr sz="1950" spc="5" dirty="0">
                <a:latin typeface="Calibri"/>
                <a:cs typeface="Calibri"/>
              </a:rPr>
              <a:t>cycle</a:t>
            </a:r>
            <a:endParaRPr sz="195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7722" y="4513383"/>
            <a:ext cx="3083560" cy="154940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1155" indent="-33909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351155" algn="l"/>
                <a:tab pos="351790" algn="l"/>
              </a:tabLst>
            </a:pPr>
            <a:r>
              <a:rPr sz="2350" spc="-15" dirty="0">
                <a:latin typeface="Calibri"/>
                <a:cs typeface="Calibri"/>
              </a:rPr>
              <a:t>Terminology</a:t>
            </a:r>
            <a:endParaRPr sz="2350" dirty="0">
              <a:latin typeface="Calibri"/>
              <a:cs typeface="Calibri"/>
            </a:endParaRPr>
          </a:p>
          <a:p>
            <a:pPr marL="746760" lvl="1" indent="-283210">
              <a:lnSpc>
                <a:spcPct val="100000"/>
              </a:lnSpc>
              <a:spcBef>
                <a:spcPts val="550"/>
              </a:spcBef>
              <a:buFont typeface="Arial"/>
              <a:buChar char="–"/>
              <a:tabLst>
                <a:tab pos="746760" algn="l"/>
                <a:tab pos="747395" algn="l"/>
              </a:tabLst>
            </a:pPr>
            <a:r>
              <a:rPr sz="1950" spc="-5" dirty="0">
                <a:solidFill>
                  <a:srgbClr val="0000FF"/>
                </a:solidFill>
                <a:latin typeface="Calibri"/>
                <a:cs typeface="Calibri"/>
              </a:rPr>
              <a:t>Parents </a:t>
            </a:r>
            <a:r>
              <a:rPr sz="1950" spc="5" dirty="0">
                <a:latin typeface="Calibri"/>
                <a:cs typeface="Calibri"/>
              </a:rPr>
              <a:t>of </a:t>
            </a:r>
            <a:r>
              <a:rPr sz="1950" spc="10" dirty="0">
                <a:latin typeface="Calibri"/>
                <a:cs typeface="Calibri"/>
              </a:rPr>
              <a:t>node</a:t>
            </a:r>
            <a:r>
              <a:rPr sz="1950" spc="-4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v</a:t>
            </a:r>
            <a:endParaRPr sz="1950" dirty="0">
              <a:latin typeface="Calibri"/>
              <a:cs typeface="Calibri"/>
            </a:endParaRPr>
          </a:p>
          <a:p>
            <a:pPr marL="746760" lvl="1" indent="-283210">
              <a:lnSpc>
                <a:spcPct val="100000"/>
              </a:lnSpc>
              <a:spcBef>
                <a:spcPts val="430"/>
              </a:spcBef>
              <a:buFont typeface="Arial"/>
              <a:buChar char="–"/>
              <a:tabLst>
                <a:tab pos="746760" algn="l"/>
                <a:tab pos="747395" algn="l"/>
              </a:tabLst>
            </a:pPr>
            <a:r>
              <a:rPr sz="1950" spc="5" dirty="0">
                <a:solidFill>
                  <a:srgbClr val="0000FF"/>
                </a:solidFill>
                <a:latin typeface="Calibri"/>
                <a:cs typeface="Calibri"/>
              </a:rPr>
              <a:t>Children </a:t>
            </a:r>
            <a:r>
              <a:rPr sz="1950" spc="5" dirty="0">
                <a:latin typeface="Calibri"/>
                <a:cs typeface="Calibri"/>
              </a:rPr>
              <a:t>of </a:t>
            </a:r>
            <a:r>
              <a:rPr sz="1950" spc="10" dirty="0">
                <a:latin typeface="Calibri"/>
                <a:cs typeface="Calibri"/>
              </a:rPr>
              <a:t>node</a:t>
            </a:r>
            <a:r>
              <a:rPr sz="1950" spc="-6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v</a:t>
            </a:r>
            <a:endParaRPr sz="1950" dirty="0">
              <a:latin typeface="Calibri"/>
              <a:cs typeface="Calibri"/>
            </a:endParaRPr>
          </a:p>
          <a:p>
            <a:pPr marL="746760" lvl="1" indent="-283210">
              <a:lnSpc>
                <a:spcPct val="100000"/>
              </a:lnSpc>
              <a:spcBef>
                <a:spcPts val="525"/>
              </a:spcBef>
              <a:buFont typeface="Arial"/>
              <a:buChar char="–"/>
              <a:tabLst>
                <a:tab pos="746760" algn="l"/>
                <a:tab pos="747395" algn="l"/>
              </a:tabLst>
            </a:pPr>
            <a:r>
              <a:rPr sz="1950" spc="10" dirty="0">
                <a:solidFill>
                  <a:srgbClr val="0000FF"/>
                </a:solidFill>
                <a:latin typeface="Calibri"/>
                <a:cs typeface="Calibri"/>
              </a:rPr>
              <a:t>Descendents </a:t>
            </a:r>
            <a:r>
              <a:rPr sz="1950" spc="5" dirty="0">
                <a:latin typeface="Calibri"/>
                <a:cs typeface="Calibri"/>
              </a:rPr>
              <a:t>of </a:t>
            </a:r>
            <a:r>
              <a:rPr sz="1950" spc="10" dirty="0">
                <a:latin typeface="Calibri"/>
                <a:cs typeface="Calibri"/>
              </a:rPr>
              <a:t>node</a:t>
            </a:r>
            <a:r>
              <a:rPr sz="1950" spc="-8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v</a:t>
            </a:r>
            <a:endParaRPr sz="1950" dirty="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076614" y="5234757"/>
            <a:ext cx="540385" cy="540385"/>
            <a:chOff x="6076614" y="5234757"/>
            <a:chExt cx="540385" cy="540385"/>
          </a:xfrm>
        </p:grpSpPr>
        <p:sp>
          <p:nvSpPr>
            <p:cNvPr id="6" name="object 6"/>
            <p:cNvSpPr/>
            <p:nvPr/>
          </p:nvSpPr>
          <p:spPr>
            <a:xfrm>
              <a:off x="6082893" y="5241035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4"/>
                  </a:lnTo>
                  <a:lnTo>
                    <a:pt x="16496" y="171710"/>
                  </a:lnTo>
                  <a:lnTo>
                    <a:pt x="4248" y="216330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1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3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30"/>
                  </a:lnTo>
                  <a:lnTo>
                    <a:pt x="510858" y="171710"/>
                  </a:lnTo>
                  <a:lnTo>
                    <a:pt x="491355" y="130624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3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82893" y="5241035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6829907" y="3878326"/>
            <a:ext cx="1595120" cy="1896745"/>
            <a:chOff x="6829907" y="3878326"/>
            <a:chExt cx="1595120" cy="1896745"/>
          </a:xfrm>
        </p:grpSpPr>
        <p:sp>
          <p:nvSpPr>
            <p:cNvPr id="9" name="object 9"/>
            <p:cNvSpPr/>
            <p:nvPr/>
          </p:nvSpPr>
          <p:spPr>
            <a:xfrm>
              <a:off x="7890967" y="524103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4"/>
                  </a:lnTo>
                  <a:lnTo>
                    <a:pt x="16496" y="171710"/>
                  </a:lnTo>
                  <a:lnTo>
                    <a:pt x="4248" y="216330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1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3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30"/>
                  </a:lnTo>
                  <a:lnTo>
                    <a:pt x="510858" y="171710"/>
                  </a:lnTo>
                  <a:lnTo>
                    <a:pt x="491355" y="130624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3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890967" y="524103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836257" y="3884675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263677" y="0"/>
                  </a:moveTo>
                  <a:lnTo>
                    <a:pt x="216280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4"/>
                  </a:lnTo>
                  <a:lnTo>
                    <a:pt x="16496" y="171710"/>
                  </a:lnTo>
                  <a:lnTo>
                    <a:pt x="4248" y="216330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0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2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30"/>
                  </a:lnTo>
                  <a:lnTo>
                    <a:pt x="510858" y="171710"/>
                  </a:lnTo>
                  <a:lnTo>
                    <a:pt x="491355" y="130624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2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836257" y="388467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0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0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989297" y="3992540"/>
            <a:ext cx="17780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15" dirty="0">
                <a:latin typeface="Calibri"/>
                <a:cs typeface="Calibri"/>
              </a:rPr>
              <a:t>A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35933" y="5348902"/>
            <a:ext cx="10858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5" dirty="0">
                <a:latin typeface="Calibri"/>
                <a:cs typeface="Calibri"/>
              </a:rPr>
              <a:t>J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44007" y="5348902"/>
            <a:ext cx="24511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20" dirty="0">
                <a:latin typeface="Calibri"/>
                <a:cs typeface="Calibri"/>
              </a:rPr>
              <a:t>M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775197" y="2521966"/>
            <a:ext cx="2348230" cy="540385"/>
            <a:chOff x="5775197" y="2521966"/>
            <a:chExt cx="2348230" cy="540385"/>
          </a:xfrm>
        </p:grpSpPr>
        <p:sp>
          <p:nvSpPr>
            <p:cNvPr id="17" name="object 17"/>
            <p:cNvSpPr/>
            <p:nvPr/>
          </p:nvSpPr>
          <p:spPr>
            <a:xfrm>
              <a:off x="5781547" y="2528315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4"/>
                  </a:lnTo>
                  <a:lnTo>
                    <a:pt x="16496" y="171710"/>
                  </a:lnTo>
                  <a:lnTo>
                    <a:pt x="4248" y="216330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1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3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30"/>
                  </a:lnTo>
                  <a:lnTo>
                    <a:pt x="510858" y="171710"/>
                  </a:lnTo>
                  <a:lnTo>
                    <a:pt x="491355" y="130624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3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781547" y="252831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589621" y="2528315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263677" y="0"/>
                  </a:moveTo>
                  <a:lnTo>
                    <a:pt x="216280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4"/>
                  </a:lnTo>
                  <a:lnTo>
                    <a:pt x="16496" y="171710"/>
                  </a:lnTo>
                  <a:lnTo>
                    <a:pt x="4248" y="216330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0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2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30"/>
                  </a:lnTo>
                  <a:lnTo>
                    <a:pt x="510858" y="171710"/>
                  </a:lnTo>
                  <a:lnTo>
                    <a:pt x="491355" y="130624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2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589621" y="252831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0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0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934588" y="2636182"/>
            <a:ext cx="16637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15" dirty="0">
                <a:latin typeface="Calibri"/>
                <a:cs typeface="Calibri"/>
              </a:rPr>
              <a:t>B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742661" y="2636182"/>
            <a:ext cx="14795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10" dirty="0">
                <a:latin typeface="Calibri"/>
                <a:cs typeface="Calibri"/>
              </a:rPr>
              <a:t>E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151951" y="3049510"/>
            <a:ext cx="1907539" cy="2209800"/>
            <a:chOff x="6151951" y="3049510"/>
            <a:chExt cx="1907539" cy="2209800"/>
          </a:xfrm>
        </p:grpSpPr>
        <p:sp>
          <p:nvSpPr>
            <p:cNvPr id="24" name="object 24"/>
            <p:cNvSpPr/>
            <p:nvPr/>
          </p:nvSpPr>
          <p:spPr>
            <a:xfrm>
              <a:off x="6158229" y="3055789"/>
              <a:ext cx="753745" cy="829310"/>
            </a:xfrm>
            <a:custGeom>
              <a:avLst/>
              <a:gdLst/>
              <a:ahLst/>
              <a:cxnLst/>
              <a:rect l="l" t="t" r="r" b="b"/>
              <a:pathLst>
                <a:path w="753745" h="829310">
                  <a:moveTo>
                    <a:pt x="0" y="0"/>
                  </a:moveTo>
                  <a:lnTo>
                    <a:pt x="753364" y="828886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849937" y="3822161"/>
              <a:ext cx="78740" cy="81280"/>
            </a:xfrm>
            <a:custGeom>
              <a:avLst/>
              <a:gdLst/>
              <a:ahLst/>
              <a:cxnLst/>
              <a:rect l="l" t="t" r="r" b="b"/>
              <a:pathLst>
                <a:path w="78740" h="81279">
                  <a:moveTo>
                    <a:pt x="55744" y="0"/>
                  </a:moveTo>
                  <a:lnTo>
                    <a:pt x="0" y="50686"/>
                  </a:lnTo>
                  <a:lnTo>
                    <a:pt x="78548" y="81099"/>
                  </a:lnTo>
                  <a:lnTo>
                    <a:pt x="557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288275" y="3055789"/>
              <a:ext cx="527685" cy="829310"/>
            </a:xfrm>
            <a:custGeom>
              <a:avLst/>
              <a:gdLst/>
              <a:ahLst/>
              <a:cxnLst/>
              <a:rect l="l" t="t" r="r" b="b"/>
              <a:pathLst>
                <a:path w="527684" h="829310">
                  <a:moveTo>
                    <a:pt x="527354" y="0"/>
                  </a:moveTo>
                  <a:lnTo>
                    <a:pt x="0" y="828886"/>
                  </a:lnTo>
                </a:path>
              </a:pathLst>
            </a:custGeom>
            <a:ln w="12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274793" y="3822066"/>
              <a:ext cx="72390" cy="83820"/>
            </a:xfrm>
            <a:custGeom>
              <a:avLst/>
              <a:gdLst/>
              <a:ahLst/>
              <a:cxnLst/>
              <a:rect l="l" t="t" r="r" b="b"/>
              <a:pathLst>
                <a:path w="72390" h="83820">
                  <a:moveTo>
                    <a:pt x="8667" y="0"/>
                  </a:moveTo>
                  <a:lnTo>
                    <a:pt x="0" y="83800"/>
                  </a:lnTo>
                  <a:lnTo>
                    <a:pt x="72226" y="40455"/>
                  </a:lnTo>
                  <a:lnTo>
                    <a:pt x="86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212939" y="4412149"/>
              <a:ext cx="829310" cy="829310"/>
            </a:xfrm>
            <a:custGeom>
              <a:avLst/>
              <a:gdLst/>
              <a:ahLst/>
              <a:cxnLst/>
              <a:rect l="l" t="t" r="r" b="b"/>
              <a:pathLst>
                <a:path w="829309" h="829310">
                  <a:moveTo>
                    <a:pt x="0" y="0"/>
                  </a:moveTo>
                  <a:lnTo>
                    <a:pt x="828700" y="828886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979489" y="5178873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53271" y="0"/>
                  </a:moveTo>
                  <a:lnTo>
                    <a:pt x="0" y="53282"/>
                  </a:lnTo>
                  <a:lnTo>
                    <a:pt x="79907" y="79923"/>
                  </a:lnTo>
                  <a:lnTo>
                    <a:pt x="532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534911" y="4412149"/>
              <a:ext cx="377190" cy="753745"/>
            </a:xfrm>
            <a:custGeom>
              <a:avLst/>
              <a:gdLst/>
              <a:ahLst/>
              <a:cxnLst/>
              <a:rect l="l" t="t" r="r" b="b"/>
              <a:pathLst>
                <a:path w="377190" h="753745">
                  <a:moveTo>
                    <a:pt x="376682" y="0"/>
                  </a:moveTo>
                  <a:lnTo>
                    <a:pt x="0" y="753533"/>
                  </a:lnTo>
                </a:path>
              </a:pathLst>
            </a:custGeom>
            <a:ln w="12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523681" y="5103901"/>
              <a:ext cx="67945" cy="84455"/>
            </a:xfrm>
            <a:custGeom>
              <a:avLst/>
              <a:gdLst/>
              <a:ahLst/>
              <a:cxnLst/>
              <a:rect l="l" t="t" r="r" b="b"/>
              <a:pathLst>
                <a:path w="67945" h="84454">
                  <a:moveTo>
                    <a:pt x="0" y="0"/>
                  </a:moveTo>
                  <a:lnTo>
                    <a:pt x="0" y="84247"/>
                  </a:lnTo>
                  <a:lnTo>
                    <a:pt x="67382" y="336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885" y="616713"/>
            <a:ext cx="5139115" cy="49949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150" b="1" spc="-10" dirty="0">
                <a:latin typeface="Calibri"/>
                <a:cs typeface="Calibri"/>
              </a:rPr>
              <a:t>Bayesian </a:t>
            </a:r>
            <a:r>
              <a:rPr sz="3150" b="1" spc="-5" dirty="0">
                <a:latin typeface="Calibri"/>
                <a:cs typeface="Calibri"/>
              </a:rPr>
              <a:t>Networks</a:t>
            </a:r>
            <a:r>
              <a:rPr sz="3150" b="1" spc="-40" dirty="0">
                <a:latin typeface="Calibri"/>
                <a:cs typeface="Calibri"/>
              </a:rPr>
              <a:t> </a:t>
            </a:r>
            <a:r>
              <a:rPr sz="3150" b="1" u="sng" spc="1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Deﬁni</a:t>
            </a:r>
            <a:r>
              <a:rPr lang="en-US" sz="3150" b="1" u="sng" spc="1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</a:t>
            </a:r>
            <a:r>
              <a:rPr sz="3150" b="1" u="sng" spc="1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</a:t>
            </a:r>
            <a:endParaRPr sz="315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1712" y="1505882"/>
            <a:ext cx="8238490" cy="284607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1155" marR="5080" indent="-339090">
              <a:lnSpc>
                <a:spcPct val="101699"/>
              </a:lnSpc>
              <a:spcBef>
                <a:spcPts val="75"/>
              </a:spcBef>
            </a:pPr>
            <a:r>
              <a:rPr sz="2350" spc="10" dirty="0">
                <a:latin typeface="Calibri"/>
                <a:cs typeface="Calibri"/>
              </a:rPr>
              <a:t>A </a:t>
            </a:r>
            <a:r>
              <a:rPr sz="2350" spc="-10" dirty="0">
                <a:latin typeface="Calibri"/>
                <a:cs typeface="Calibri"/>
              </a:rPr>
              <a:t>Bayes </a:t>
            </a:r>
            <a:r>
              <a:rPr sz="2350" dirty="0">
                <a:latin typeface="Calibri"/>
                <a:cs typeface="Calibri"/>
              </a:rPr>
              <a:t>network represents </a:t>
            </a:r>
            <a:r>
              <a:rPr sz="2350" spc="10" dirty="0">
                <a:latin typeface="Calibri"/>
                <a:cs typeface="Calibri"/>
              </a:rPr>
              <a:t>the </a:t>
            </a:r>
            <a:r>
              <a:rPr sz="2350" dirty="0">
                <a:latin typeface="Calibri"/>
                <a:cs typeface="Calibri"/>
              </a:rPr>
              <a:t>joint </a:t>
            </a:r>
            <a:r>
              <a:rPr sz="2350" spc="5" dirty="0">
                <a:latin typeface="Calibri"/>
                <a:cs typeface="Calibri"/>
              </a:rPr>
              <a:t>probability </a:t>
            </a:r>
            <a:r>
              <a:rPr sz="2350" spc="-10" dirty="0">
                <a:latin typeface="Calibri"/>
                <a:cs typeface="Calibri"/>
              </a:rPr>
              <a:t>distribu</a:t>
            </a:r>
            <a:r>
              <a:rPr lang="en-US" sz="2350" spc="-10" dirty="0">
                <a:latin typeface="Calibri"/>
                <a:cs typeface="Calibri"/>
              </a:rPr>
              <a:t>ti</a:t>
            </a:r>
            <a:r>
              <a:rPr sz="2350" spc="-10" dirty="0">
                <a:latin typeface="Calibri"/>
                <a:cs typeface="Calibri"/>
              </a:rPr>
              <a:t>on </a:t>
            </a:r>
            <a:r>
              <a:rPr sz="2350" dirty="0">
                <a:latin typeface="Calibri"/>
                <a:cs typeface="Calibri"/>
              </a:rPr>
              <a:t>over </a:t>
            </a:r>
            <a:r>
              <a:rPr sz="2350" spc="10" dirty="0">
                <a:latin typeface="Calibri"/>
                <a:cs typeface="Calibri"/>
              </a:rPr>
              <a:t>a  </a:t>
            </a:r>
            <a:r>
              <a:rPr sz="2350" spc="-15" dirty="0">
                <a:latin typeface="Calibri"/>
                <a:cs typeface="Calibri"/>
              </a:rPr>
              <a:t>collec</a:t>
            </a:r>
            <a:r>
              <a:rPr lang="en-US" sz="2350" spc="-15" dirty="0">
                <a:latin typeface="Calibri"/>
                <a:cs typeface="Calibri"/>
              </a:rPr>
              <a:t>ti</a:t>
            </a:r>
            <a:r>
              <a:rPr sz="2350" spc="-15" dirty="0">
                <a:latin typeface="Calibri"/>
                <a:cs typeface="Calibri"/>
              </a:rPr>
              <a:t>on </a:t>
            </a:r>
            <a:r>
              <a:rPr sz="2350" spc="5" dirty="0">
                <a:latin typeface="Calibri"/>
                <a:cs typeface="Calibri"/>
              </a:rPr>
              <a:t>of </a:t>
            </a:r>
            <a:r>
              <a:rPr sz="2350" dirty="0">
                <a:latin typeface="Calibri"/>
                <a:cs typeface="Calibri"/>
              </a:rPr>
              <a:t>random</a:t>
            </a:r>
            <a:r>
              <a:rPr sz="2350" spc="2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variables</a:t>
            </a:r>
          </a:p>
          <a:p>
            <a:pPr>
              <a:lnSpc>
                <a:spcPct val="100000"/>
              </a:lnSpc>
            </a:pPr>
            <a:endParaRPr sz="3200" dirty="0">
              <a:latin typeface="Calibri"/>
              <a:cs typeface="Calibri"/>
            </a:endParaRPr>
          </a:p>
          <a:p>
            <a:pPr marL="351155" marR="66675" indent="-339090">
              <a:lnSpc>
                <a:spcPct val="102499"/>
              </a:lnSpc>
            </a:pPr>
            <a:r>
              <a:rPr sz="2350" spc="10" dirty="0">
                <a:latin typeface="Calibri"/>
                <a:cs typeface="Calibri"/>
              </a:rPr>
              <a:t>A </a:t>
            </a:r>
            <a:r>
              <a:rPr sz="2350" spc="-10" dirty="0">
                <a:latin typeface="Calibri"/>
                <a:cs typeface="Calibri"/>
              </a:rPr>
              <a:t>Bayes </a:t>
            </a:r>
            <a:r>
              <a:rPr sz="2350" dirty="0">
                <a:latin typeface="Calibri"/>
                <a:cs typeface="Calibri"/>
              </a:rPr>
              <a:t>network </a:t>
            </a:r>
            <a:r>
              <a:rPr sz="2350" spc="5" dirty="0">
                <a:latin typeface="Calibri"/>
                <a:cs typeface="Calibri"/>
              </a:rPr>
              <a:t>is </a:t>
            </a:r>
            <a:r>
              <a:rPr sz="2350" spc="10" dirty="0">
                <a:latin typeface="Calibri"/>
                <a:cs typeface="Calibri"/>
              </a:rPr>
              <a:t>a </a:t>
            </a:r>
            <a:r>
              <a:rPr sz="2350" dirty="0">
                <a:latin typeface="Calibri"/>
                <a:cs typeface="Calibri"/>
              </a:rPr>
              <a:t>directed acyclic graph </a:t>
            </a:r>
            <a:r>
              <a:rPr sz="2350" spc="10" dirty="0">
                <a:latin typeface="Calibri"/>
                <a:cs typeface="Calibri"/>
              </a:rPr>
              <a:t>and a </a:t>
            </a:r>
            <a:r>
              <a:rPr sz="2350" dirty="0">
                <a:latin typeface="Calibri"/>
                <a:cs typeface="Calibri"/>
              </a:rPr>
              <a:t>set </a:t>
            </a:r>
            <a:r>
              <a:rPr sz="2350" spc="5" dirty="0">
                <a:latin typeface="Calibri"/>
                <a:cs typeface="Calibri"/>
              </a:rPr>
              <a:t>of </a:t>
            </a:r>
            <a:r>
              <a:rPr sz="2350" spc="-10" dirty="0">
                <a:latin typeface="Calibri"/>
                <a:cs typeface="Calibri"/>
              </a:rPr>
              <a:t>condi</a:t>
            </a:r>
            <a:r>
              <a:rPr lang="en-US" sz="2350" spc="-10" dirty="0">
                <a:latin typeface="Calibri"/>
                <a:cs typeface="Calibri"/>
              </a:rPr>
              <a:t>ti</a:t>
            </a:r>
            <a:r>
              <a:rPr sz="2350" spc="-10" dirty="0">
                <a:latin typeface="Calibri"/>
                <a:cs typeface="Calibri"/>
              </a:rPr>
              <a:t>onal  </a:t>
            </a:r>
            <a:r>
              <a:rPr sz="2350" spc="5" dirty="0">
                <a:latin typeface="Calibri"/>
                <a:cs typeface="Calibri"/>
              </a:rPr>
              <a:t>probability </a:t>
            </a:r>
            <a:r>
              <a:rPr sz="2350" spc="-10" dirty="0">
                <a:latin typeface="Calibri"/>
                <a:cs typeface="Calibri"/>
              </a:rPr>
              <a:t>distribu</a:t>
            </a:r>
            <a:r>
              <a:rPr lang="en-US" sz="2350" spc="-10" dirty="0">
                <a:latin typeface="Calibri"/>
                <a:cs typeface="Calibri"/>
              </a:rPr>
              <a:t>ti</a:t>
            </a:r>
            <a:r>
              <a:rPr sz="2350" spc="-10" dirty="0">
                <a:latin typeface="Calibri"/>
                <a:cs typeface="Calibri"/>
              </a:rPr>
              <a:t>ons</a:t>
            </a:r>
            <a:r>
              <a:rPr sz="2350" spc="-5" dirty="0">
                <a:latin typeface="Calibri"/>
                <a:cs typeface="Calibri"/>
              </a:rPr>
              <a:t> </a:t>
            </a:r>
            <a:r>
              <a:rPr sz="2350" spc="-15" dirty="0">
                <a:latin typeface="Calibri"/>
                <a:cs typeface="Calibri"/>
              </a:rPr>
              <a:t>(CPD’s)</a:t>
            </a:r>
            <a:endParaRPr sz="2350" dirty="0">
              <a:latin typeface="Calibri"/>
              <a:cs typeface="Calibri"/>
            </a:endParaRPr>
          </a:p>
          <a:p>
            <a:pPr marL="351155" indent="-33909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351155" algn="l"/>
                <a:tab pos="351790" algn="l"/>
              </a:tabLst>
            </a:pPr>
            <a:r>
              <a:rPr sz="2350" spc="-5" dirty="0">
                <a:latin typeface="Calibri"/>
                <a:cs typeface="Calibri"/>
              </a:rPr>
              <a:t>Each </a:t>
            </a:r>
            <a:r>
              <a:rPr sz="2350" spc="10" dirty="0">
                <a:latin typeface="Calibri"/>
                <a:cs typeface="Calibri"/>
              </a:rPr>
              <a:t>node </a:t>
            </a:r>
            <a:r>
              <a:rPr sz="2350" spc="5" dirty="0">
                <a:latin typeface="Calibri"/>
                <a:cs typeface="Calibri"/>
              </a:rPr>
              <a:t>denotes </a:t>
            </a:r>
            <a:r>
              <a:rPr sz="2350" spc="10" dirty="0">
                <a:latin typeface="Calibri"/>
                <a:cs typeface="Calibri"/>
              </a:rPr>
              <a:t>a </a:t>
            </a:r>
            <a:r>
              <a:rPr sz="2350" dirty="0">
                <a:latin typeface="Calibri"/>
                <a:cs typeface="Calibri"/>
              </a:rPr>
              <a:t>random variable</a:t>
            </a:r>
          </a:p>
          <a:p>
            <a:pPr marL="351155" indent="-339090">
              <a:lnSpc>
                <a:spcPct val="100000"/>
              </a:lnSpc>
              <a:spcBef>
                <a:spcPts val="540"/>
              </a:spcBef>
              <a:buFont typeface="Arial"/>
              <a:buChar char="•"/>
              <a:tabLst>
                <a:tab pos="351155" algn="l"/>
                <a:tab pos="351790" algn="l"/>
              </a:tabLst>
            </a:pPr>
            <a:r>
              <a:rPr sz="2350" spc="-5" dirty="0">
                <a:latin typeface="Calibri"/>
                <a:cs typeface="Calibri"/>
              </a:rPr>
              <a:t>Edges </a:t>
            </a:r>
            <a:r>
              <a:rPr sz="2350" spc="5" dirty="0">
                <a:latin typeface="Calibri"/>
                <a:cs typeface="Calibri"/>
              </a:rPr>
              <a:t>denote</a:t>
            </a:r>
            <a:r>
              <a:rPr sz="2350" spc="10" dirty="0">
                <a:latin typeface="Calibri"/>
                <a:cs typeface="Calibri"/>
              </a:rPr>
              <a:t> dependencies</a:t>
            </a:r>
            <a:endParaRPr sz="23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885" y="616713"/>
            <a:ext cx="5443915" cy="49949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150" b="1" spc="-10" dirty="0">
                <a:latin typeface="Calibri"/>
                <a:cs typeface="Calibri"/>
              </a:rPr>
              <a:t>Bayesian </a:t>
            </a:r>
            <a:r>
              <a:rPr sz="3150" b="1" spc="-5" dirty="0">
                <a:latin typeface="Calibri"/>
                <a:cs typeface="Calibri"/>
              </a:rPr>
              <a:t>Networks</a:t>
            </a:r>
            <a:r>
              <a:rPr sz="3150" b="1" spc="-40" dirty="0">
                <a:latin typeface="Calibri"/>
                <a:cs typeface="Calibri"/>
              </a:rPr>
              <a:t> </a:t>
            </a:r>
            <a:r>
              <a:rPr sz="3150" b="1" u="sng" spc="1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Deﬁni</a:t>
            </a:r>
            <a:r>
              <a:rPr lang="en-US" sz="3150" b="1" u="sng" spc="1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</a:t>
            </a:r>
            <a:r>
              <a:rPr sz="3150" b="1" u="sng" spc="1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</a:t>
            </a:r>
            <a:endParaRPr sz="315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3612" y="1505882"/>
            <a:ext cx="8289290" cy="371221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9255" marR="17780" indent="-339090">
              <a:lnSpc>
                <a:spcPct val="101699"/>
              </a:lnSpc>
              <a:spcBef>
                <a:spcPts val="75"/>
              </a:spcBef>
            </a:pPr>
            <a:r>
              <a:rPr sz="2350" spc="10" dirty="0">
                <a:latin typeface="Calibri"/>
                <a:cs typeface="Calibri"/>
              </a:rPr>
              <a:t>A </a:t>
            </a:r>
            <a:r>
              <a:rPr sz="2350" spc="-10" dirty="0">
                <a:latin typeface="Calibri"/>
                <a:cs typeface="Calibri"/>
              </a:rPr>
              <a:t>Bayes </a:t>
            </a:r>
            <a:r>
              <a:rPr sz="2350" dirty="0">
                <a:latin typeface="Calibri"/>
                <a:cs typeface="Calibri"/>
              </a:rPr>
              <a:t>network represents </a:t>
            </a:r>
            <a:r>
              <a:rPr sz="2350" spc="10" dirty="0">
                <a:latin typeface="Calibri"/>
                <a:cs typeface="Calibri"/>
              </a:rPr>
              <a:t>the </a:t>
            </a:r>
            <a:r>
              <a:rPr sz="2350" dirty="0">
                <a:latin typeface="Calibri"/>
                <a:cs typeface="Calibri"/>
              </a:rPr>
              <a:t>joint </a:t>
            </a:r>
            <a:r>
              <a:rPr sz="2350" spc="5" dirty="0">
                <a:latin typeface="Calibri"/>
                <a:cs typeface="Calibri"/>
              </a:rPr>
              <a:t>probability </a:t>
            </a:r>
            <a:r>
              <a:rPr sz="2350" spc="-10" dirty="0">
                <a:latin typeface="Calibri"/>
                <a:cs typeface="Calibri"/>
              </a:rPr>
              <a:t>distribu</a:t>
            </a:r>
            <a:r>
              <a:rPr lang="en-US" sz="2350" spc="-10" dirty="0">
                <a:latin typeface="Calibri"/>
                <a:cs typeface="Calibri"/>
              </a:rPr>
              <a:t>ti</a:t>
            </a:r>
            <a:r>
              <a:rPr sz="2350" spc="-10" dirty="0">
                <a:latin typeface="Calibri"/>
                <a:cs typeface="Calibri"/>
              </a:rPr>
              <a:t>on </a:t>
            </a:r>
            <a:r>
              <a:rPr sz="2350" dirty="0">
                <a:latin typeface="Calibri"/>
                <a:cs typeface="Calibri"/>
              </a:rPr>
              <a:t>over </a:t>
            </a:r>
            <a:r>
              <a:rPr sz="2350" spc="10" dirty="0">
                <a:latin typeface="Calibri"/>
                <a:cs typeface="Calibri"/>
              </a:rPr>
              <a:t>a  </a:t>
            </a:r>
            <a:r>
              <a:rPr sz="2350" spc="-15" dirty="0">
                <a:latin typeface="Calibri"/>
                <a:cs typeface="Calibri"/>
              </a:rPr>
              <a:t>collec</a:t>
            </a:r>
            <a:r>
              <a:rPr lang="en-US" sz="2350" spc="-15" dirty="0">
                <a:latin typeface="Calibri"/>
                <a:cs typeface="Calibri"/>
              </a:rPr>
              <a:t>ti</a:t>
            </a:r>
            <a:r>
              <a:rPr sz="2350" spc="-15" dirty="0">
                <a:latin typeface="Calibri"/>
                <a:cs typeface="Calibri"/>
              </a:rPr>
              <a:t>on </a:t>
            </a:r>
            <a:r>
              <a:rPr sz="2350" spc="5" dirty="0">
                <a:latin typeface="Calibri"/>
                <a:cs typeface="Calibri"/>
              </a:rPr>
              <a:t>of </a:t>
            </a:r>
            <a:r>
              <a:rPr sz="2350" dirty="0">
                <a:latin typeface="Calibri"/>
                <a:cs typeface="Calibri"/>
              </a:rPr>
              <a:t>random</a:t>
            </a:r>
            <a:r>
              <a:rPr sz="2350" spc="2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variables</a:t>
            </a:r>
          </a:p>
          <a:p>
            <a:pPr>
              <a:lnSpc>
                <a:spcPct val="100000"/>
              </a:lnSpc>
            </a:pPr>
            <a:endParaRPr sz="3200" dirty="0">
              <a:latin typeface="Calibri"/>
              <a:cs typeface="Calibri"/>
            </a:endParaRPr>
          </a:p>
          <a:p>
            <a:pPr marL="389255" marR="79375" indent="-339090">
              <a:lnSpc>
                <a:spcPct val="102499"/>
              </a:lnSpc>
            </a:pPr>
            <a:r>
              <a:rPr sz="2350" spc="10" dirty="0">
                <a:latin typeface="Calibri"/>
                <a:cs typeface="Calibri"/>
              </a:rPr>
              <a:t>A </a:t>
            </a:r>
            <a:r>
              <a:rPr sz="2350" spc="-10" dirty="0">
                <a:latin typeface="Calibri"/>
                <a:cs typeface="Calibri"/>
              </a:rPr>
              <a:t>Bayes </a:t>
            </a:r>
            <a:r>
              <a:rPr sz="2350" dirty="0">
                <a:latin typeface="Calibri"/>
                <a:cs typeface="Calibri"/>
              </a:rPr>
              <a:t>network </a:t>
            </a:r>
            <a:r>
              <a:rPr sz="2350" spc="5" dirty="0">
                <a:latin typeface="Calibri"/>
                <a:cs typeface="Calibri"/>
              </a:rPr>
              <a:t>is </a:t>
            </a:r>
            <a:r>
              <a:rPr sz="2350" spc="10" dirty="0">
                <a:latin typeface="Calibri"/>
                <a:cs typeface="Calibri"/>
              </a:rPr>
              <a:t>a </a:t>
            </a:r>
            <a:r>
              <a:rPr sz="2350" dirty="0">
                <a:latin typeface="Calibri"/>
                <a:cs typeface="Calibri"/>
              </a:rPr>
              <a:t>directed acyclic graph </a:t>
            </a:r>
            <a:r>
              <a:rPr sz="2350" spc="10" dirty="0">
                <a:latin typeface="Calibri"/>
                <a:cs typeface="Calibri"/>
              </a:rPr>
              <a:t>and a </a:t>
            </a:r>
            <a:r>
              <a:rPr sz="2350" dirty="0">
                <a:latin typeface="Calibri"/>
                <a:cs typeface="Calibri"/>
              </a:rPr>
              <a:t>set </a:t>
            </a:r>
            <a:r>
              <a:rPr sz="2350" spc="5" dirty="0">
                <a:latin typeface="Calibri"/>
                <a:cs typeface="Calibri"/>
              </a:rPr>
              <a:t>of </a:t>
            </a:r>
            <a:r>
              <a:rPr sz="2350" spc="-10" dirty="0">
                <a:latin typeface="Calibri"/>
                <a:cs typeface="Calibri"/>
              </a:rPr>
              <a:t>condi</a:t>
            </a:r>
            <a:r>
              <a:rPr lang="en-US" sz="2350" spc="-10" dirty="0">
                <a:latin typeface="Calibri"/>
                <a:cs typeface="Calibri"/>
              </a:rPr>
              <a:t>ti</a:t>
            </a:r>
            <a:r>
              <a:rPr sz="2350" spc="-10" dirty="0">
                <a:latin typeface="Calibri"/>
                <a:cs typeface="Calibri"/>
              </a:rPr>
              <a:t>onal  </a:t>
            </a:r>
            <a:r>
              <a:rPr sz="2350" spc="5" dirty="0">
                <a:latin typeface="Calibri"/>
                <a:cs typeface="Calibri"/>
              </a:rPr>
              <a:t>probability </a:t>
            </a:r>
            <a:r>
              <a:rPr sz="2350" spc="-10" dirty="0">
                <a:latin typeface="Calibri"/>
                <a:cs typeface="Calibri"/>
              </a:rPr>
              <a:t>distribu</a:t>
            </a:r>
            <a:r>
              <a:rPr lang="en-US" sz="2350" spc="-10" dirty="0">
                <a:latin typeface="Calibri"/>
                <a:cs typeface="Calibri"/>
              </a:rPr>
              <a:t>ti</a:t>
            </a:r>
            <a:r>
              <a:rPr sz="2350" spc="-10" dirty="0">
                <a:latin typeface="Calibri"/>
                <a:cs typeface="Calibri"/>
              </a:rPr>
              <a:t>ons</a:t>
            </a:r>
            <a:r>
              <a:rPr sz="2350" spc="-5" dirty="0">
                <a:latin typeface="Calibri"/>
                <a:cs typeface="Calibri"/>
              </a:rPr>
              <a:t> </a:t>
            </a:r>
            <a:r>
              <a:rPr sz="2350" spc="-15" dirty="0">
                <a:latin typeface="Calibri"/>
                <a:cs typeface="Calibri"/>
              </a:rPr>
              <a:t>(CPD’s)</a:t>
            </a:r>
            <a:endParaRPr sz="2350" dirty="0">
              <a:latin typeface="Calibri"/>
              <a:cs typeface="Calibri"/>
            </a:endParaRPr>
          </a:p>
          <a:p>
            <a:pPr marL="389255" indent="-33909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389255" algn="l"/>
                <a:tab pos="389890" algn="l"/>
              </a:tabLst>
            </a:pPr>
            <a:r>
              <a:rPr sz="2350" spc="-5" dirty="0">
                <a:latin typeface="Calibri"/>
                <a:cs typeface="Calibri"/>
              </a:rPr>
              <a:t>Each </a:t>
            </a:r>
            <a:r>
              <a:rPr sz="2350" spc="10" dirty="0">
                <a:latin typeface="Calibri"/>
                <a:cs typeface="Calibri"/>
              </a:rPr>
              <a:t>node </a:t>
            </a:r>
            <a:r>
              <a:rPr sz="2350" spc="5" dirty="0">
                <a:latin typeface="Calibri"/>
                <a:cs typeface="Calibri"/>
              </a:rPr>
              <a:t>denotes </a:t>
            </a:r>
            <a:r>
              <a:rPr sz="2350" spc="10" dirty="0">
                <a:latin typeface="Calibri"/>
                <a:cs typeface="Calibri"/>
              </a:rPr>
              <a:t>a </a:t>
            </a:r>
            <a:r>
              <a:rPr sz="2350" dirty="0">
                <a:latin typeface="Calibri"/>
                <a:cs typeface="Calibri"/>
              </a:rPr>
              <a:t>random variable</a:t>
            </a:r>
          </a:p>
          <a:p>
            <a:pPr marL="389255" indent="-339090">
              <a:lnSpc>
                <a:spcPct val="100000"/>
              </a:lnSpc>
              <a:spcBef>
                <a:spcPts val="540"/>
              </a:spcBef>
              <a:buFont typeface="Arial"/>
              <a:buChar char="•"/>
              <a:tabLst>
                <a:tab pos="389255" algn="l"/>
                <a:tab pos="389890" algn="l"/>
              </a:tabLst>
            </a:pPr>
            <a:r>
              <a:rPr sz="2350" spc="-5" dirty="0">
                <a:latin typeface="Calibri"/>
                <a:cs typeface="Calibri"/>
              </a:rPr>
              <a:t>Edges </a:t>
            </a:r>
            <a:r>
              <a:rPr sz="2350" spc="5" dirty="0">
                <a:latin typeface="Calibri"/>
                <a:cs typeface="Calibri"/>
              </a:rPr>
              <a:t>denote</a:t>
            </a:r>
            <a:r>
              <a:rPr sz="2350" spc="10" dirty="0">
                <a:latin typeface="Calibri"/>
                <a:cs typeface="Calibri"/>
              </a:rPr>
              <a:t> dependencies</a:t>
            </a:r>
            <a:endParaRPr sz="2350" dirty="0">
              <a:latin typeface="Calibri"/>
              <a:cs typeface="Calibri"/>
            </a:endParaRPr>
          </a:p>
          <a:p>
            <a:pPr marL="389255" indent="-33909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389255" algn="l"/>
                <a:tab pos="389890" algn="l"/>
              </a:tabLst>
            </a:pPr>
            <a:r>
              <a:rPr sz="2350" spc="-5" dirty="0">
                <a:latin typeface="Calibri"/>
                <a:cs typeface="Calibri"/>
              </a:rPr>
              <a:t>For </a:t>
            </a:r>
            <a:r>
              <a:rPr sz="2350" spc="5" dirty="0">
                <a:latin typeface="Calibri"/>
                <a:cs typeface="Calibri"/>
              </a:rPr>
              <a:t>each </a:t>
            </a:r>
            <a:r>
              <a:rPr sz="2350" spc="10" dirty="0">
                <a:latin typeface="Calibri"/>
                <a:cs typeface="Calibri"/>
              </a:rPr>
              <a:t>node </a:t>
            </a:r>
            <a:r>
              <a:rPr sz="2350" i="1" spc="10" dirty="0">
                <a:latin typeface="Times New Roman"/>
                <a:cs typeface="Times New Roman"/>
              </a:rPr>
              <a:t>X</a:t>
            </a:r>
            <a:r>
              <a:rPr sz="2325" i="1" spc="15" baseline="-21505" dirty="0">
                <a:latin typeface="Times New Roman"/>
                <a:cs typeface="Times New Roman"/>
              </a:rPr>
              <a:t>i </a:t>
            </a:r>
            <a:r>
              <a:rPr sz="2350" spc="5" dirty="0">
                <a:latin typeface="Calibri"/>
                <a:cs typeface="Calibri"/>
              </a:rPr>
              <a:t>its </a:t>
            </a:r>
            <a:r>
              <a:rPr sz="2350" spc="10" dirty="0">
                <a:latin typeface="Calibri"/>
                <a:cs typeface="Calibri"/>
              </a:rPr>
              <a:t>CPD </a:t>
            </a:r>
            <a:r>
              <a:rPr sz="2350" spc="5" dirty="0">
                <a:latin typeface="Calibri"/>
                <a:cs typeface="Calibri"/>
              </a:rPr>
              <a:t>deﬁnes </a:t>
            </a:r>
            <a:r>
              <a:rPr sz="2350" i="1" spc="5" dirty="0">
                <a:latin typeface="Times New Roman"/>
                <a:cs typeface="Times New Roman"/>
              </a:rPr>
              <a:t>P(X</a:t>
            </a:r>
            <a:r>
              <a:rPr sz="2325" i="1" spc="7" baseline="-21505" dirty="0">
                <a:latin typeface="Times New Roman"/>
                <a:cs typeface="Times New Roman"/>
              </a:rPr>
              <a:t>i </a:t>
            </a:r>
            <a:r>
              <a:rPr sz="2350" i="1" spc="5" dirty="0">
                <a:latin typeface="Times New Roman"/>
                <a:cs typeface="Times New Roman"/>
              </a:rPr>
              <a:t>|</a:t>
            </a:r>
            <a:r>
              <a:rPr sz="2350" i="1" spc="-60" dirty="0">
                <a:latin typeface="Times New Roman"/>
                <a:cs typeface="Times New Roman"/>
              </a:rPr>
              <a:t> </a:t>
            </a:r>
            <a:r>
              <a:rPr sz="2350" i="1" spc="5" dirty="0">
                <a:latin typeface="Times New Roman"/>
                <a:cs typeface="Times New Roman"/>
              </a:rPr>
              <a:t>Pa(X</a:t>
            </a:r>
            <a:r>
              <a:rPr sz="2325" i="1" spc="7" baseline="-21505" dirty="0">
                <a:latin typeface="Times New Roman"/>
                <a:cs typeface="Times New Roman"/>
              </a:rPr>
              <a:t>i</a:t>
            </a:r>
            <a:r>
              <a:rPr sz="2350" i="1" spc="5" dirty="0">
                <a:latin typeface="Times New Roman"/>
                <a:cs typeface="Times New Roman"/>
              </a:rPr>
              <a:t>))</a:t>
            </a:r>
            <a:endParaRPr sz="2350" dirty="0">
              <a:latin typeface="Times New Roman"/>
              <a:cs typeface="Times New Roman"/>
            </a:endParaRPr>
          </a:p>
          <a:p>
            <a:pPr marL="389255" indent="-339090">
              <a:lnSpc>
                <a:spcPct val="100000"/>
              </a:lnSpc>
              <a:spcBef>
                <a:spcPts val="545"/>
              </a:spcBef>
              <a:buFont typeface="Arial"/>
              <a:buChar char="•"/>
              <a:tabLst>
                <a:tab pos="389255" algn="l"/>
                <a:tab pos="389890" algn="l"/>
              </a:tabLst>
            </a:pPr>
            <a:r>
              <a:rPr sz="2350" spc="10" dirty="0">
                <a:latin typeface="Calibri"/>
                <a:cs typeface="Calibri"/>
              </a:rPr>
              <a:t>The </a:t>
            </a:r>
            <a:r>
              <a:rPr sz="2350" dirty="0">
                <a:latin typeface="Calibri"/>
                <a:cs typeface="Calibri"/>
              </a:rPr>
              <a:t>joint </a:t>
            </a:r>
            <a:r>
              <a:rPr sz="2350" spc="-10" dirty="0">
                <a:latin typeface="Calibri"/>
                <a:cs typeface="Calibri"/>
              </a:rPr>
              <a:t>distribu</a:t>
            </a:r>
            <a:r>
              <a:rPr lang="en-US" sz="2350" spc="-10" dirty="0">
                <a:latin typeface="Calibri"/>
                <a:cs typeface="Calibri"/>
              </a:rPr>
              <a:t>ti</a:t>
            </a:r>
            <a:r>
              <a:rPr sz="2350" spc="-10" dirty="0">
                <a:latin typeface="Calibri"/>
                <a:cs typeface="Calibri"/>
              </a:rPr>
              <a:t>on </a:t>
            </a:r>
            <a:r>
              <a:rPr sz="2350" dirty="0">
                <a:latin typeface="Calibri"/>
                <a:cs typeface="Calibri"/>
              </a:rPr>
              <a:t>over </a:t>
            </a:r>
            <a:r>
              <a:rPr sz="2350" spc="5" dirty="0">
                <a:latin typeface="Calibri"/>
                <a:cs typeface="Calibri"/>
              </a:rPr>
              <a:t>all </a:t>
            </a:r>
            <a:r>
              <a:rPr sz="2350" dirty="0">
                <a:latin typeface="Calibri"/>
                <a:cs typeface="Calibri"/>
              </a:rPr>
              <a:t>variables </a:t>
            </a:r>
            <a:r>
              <a:rPr sz="2350" spc="5" dirty="0">
                <a:latin typeface="Calibri"/>
                <a:cs typeface="Calibri"/>
              </a:rPr>
              <a:t>is deﬁned </a:t>
            </a:r>
            <a:r>
              <a:rPr sz="2350" spc="-5" dirty="0">
                <a:latin typeface="Calibri"/>
                <a:cs typeface="Calibri"/>
              </a:rPr>
              <a:t>to</a:t>
            </a:r>
            <a:r>
              <a:rPr sz="2350" spc="30" dirty="0">
                <a:latin typeface="Calibri"/>
                <a:cs typeface="Calibri"/>
              </a:rPr>
              <a:t> </a:t>
            </a:r>
            <a:r>
              <a:rPr sz="2350" spc="10" dirty="0">
                <a:latin typeface="Calibri"/>
                <a:cs typeface="Calibri"/>
              </a:rPr>
              <a:t>be</a:t>
            </a:r>
            <a:endParaRPr sz="235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5943" y="5480997"/>
            <a:ext cx="5176632" cy="65832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316073" y="6597395"/>
            <a:ext cx="5424805" cy="395605"/>
          </a:xfrm>
          <a:prstGeom prst="rect">
            <a:avLst/>
          </a:prstGeom>
          <a:solidFill>
            <a:srgbClr val="DEDFF7"/>
          </a:solidFill>
        </p:spPr>
        <p:txBody>
          <a:bodyPr vert="horz" wrap="square" lIns="0" tIns="4826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80"/>
              </a:spcBef>
            </a:pPr>
            <a:r>
              <a:rPr sz="1950" spc="10" dirty="0">
                <a:latin typeface="Comic Sans MS"/>
                <a:cs typeface="Comic Sans MS"/>
              </a:rPr>
              <a:t>Pa(X) = immediate parents of </a:t>
            </a:r>
            <a:r>
              <a:rPr sz="1950" spc="15" dirty="0">
                <a:latin typeface="Comic Sans MS"/>
                <a:cs typeface="Comic Sans MS"/>
              </a:rPr>
              <a:t>X </a:t>
            </a:r>
            <a:r>
              <a:rPr sz="1950" spc="10" dirty="0">
                <a:latin typeface="Comic Sans MS"/>
                <a:cs typeface="Comic Sans MS"/>
              </a:rPr>
              <a:t>in the</a:t>
            </a:r>
            <a:r>
              <a:rPr sz="1950" spc="-55" dirty="0">
                <a:latin typeface="Comic Sans MS"/>
                <a:cs typeface="Comic Sans MS"/>
              </a:rPr>
              <a:t> </a:t>
            </a:r>
            <a:r>
              <a:rPr sz="1950" spc="10" dirty="0">
                <a:latin typeface="Comic Sans MS"/>
                <a:cs typeface="Comic Sans MS"/>
              </a:rPr>
              <a:t>graph</a:t>
            </a:r>
            <a:endParaRPr sz="195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4373" y="1076681"/>
            <a:ext cx="3152775" cy="5080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150" b="1" spc="-10" dirty="0">
                <a:latin typeface="Calibri"/>
                <a:cs typeface="Calibri"/>
              </a:rPr>
              <a:t>Bayesian</a:t>
            </a:r>
            <a:r>
              <a:rPr sz="3150" b="1" spc="-45" dirty="0">
                <a:latin typeface="Calibri"/>
                <a:cs typeface="Calibri"/>
              </a:rPr>
              <a:t> </a:t>
            </a:r>
            <a:r>
              <a:rPr sz="3150" b="1" spc="-10" dirty="0">
                <a:latin typeface="Calibri"/>
                <a:cs typeface="Calibri"/>
              </a:rPr>
              <a:t>networks</a:t>
            </a:r>
            <a:endParaRPr sz="31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7722" y="2108709"/>
            <a:ext cx="8047990" cy="628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1155" marR="5080" indent="-339090">
              <a:lnSpc>
                <a:spcPct val="101400"/>
              </a:lnSpc>
              <a:spcBef>
                <a:spcPts val="95"/>
              </a:spcBef>
              <a:buFont typeface="Arial"/>
              <a:buChar char="•"/>
              <a:tabLst>
                <a:tab pos="351155" algn="l"/>
                <a:tab pos="351790" algn="l"/>
              </a:tabLst>
            </a:pPr>
            <a:r>
              <a:rPr sz="1950" spc="-5" dirty="0">
                <a:latin typeface="Calibri"/>
                <a:cs typeface="Calibri"/>
              </a:rPr>
              <a:t>Let’s </a:t>
            </a:r>
            <a:r>
              <a:rPr sz="1950" spc="10" dirty="0">
                <a:latin typeface="Calibri"/>
                <a:cs typeface="Calibri"/>
              </a:rPr>
              <a:t>use a movie </a:t>
            </a:r>
            <a:r>
              <a:rPr sz="1950" dirty="0">
                <a:latin typeface="Calibri"/>
                <a:cs typeface="Calibri"/>
              </a:rPr>
              <a:t>example: </a:t>
            </a:r>
            <a:r>
              <a:rPr sz="1950" spc="-20" dirty="0">
                <a:latin typeface="Calibri"/>
                <a:cs typeface="Calibri"/>
              </a:rPr>
              <a:t>We </a:t>
            </a:r>
            <a:r>
              <a:rPr sz="1950" spc="5" dirty="0">
                <a:latin typeface="Calibri"/>
                <a:cs typeface="Calibri"/>
              </a:rPr>
              <a:t>would </a:t>
            </a:r>
            <a:r>
              <a:rPr sz="1950" spc="-10" dirty="0">
                <a:latin typeface="Calibri"/>
                <a:cs typeface="Calibri"/>
              </a:rPr>
              <a:t>like </a:t>
            </a:r>
            <a:r>
              <a:rPr sz="1950" dirty="0">
                <a:latin typeface="Calibri"/>
                <a:cs typeface="Calibri"/>
              </a:rPr>
              <a:t>to </a:t>
            </a:r>
            <a:r>
              <a:rPr sz="1950" spc="5" dirty="0">
                <a:latin typeface="Calibri"/>
                <a:cs typeface="Calibri"/>
              </a:rPr>
              <a:t>determine </a:t>
            </a:r>
            <a:r>
              <a:rPr sz="1950" spc="10" dirty="0">
                <a:latin typeface="Calibri"/>
                <a:cs typeface="Calibri"/>
              </a:rPr>
              <a:t>the </a:t>
            </a:r>
            <a:r>
              <a:rPr sz="1950" spc="5" dirty="0">
                <a:latin typeface="Calibri"/>
                <a:cs typeface="Calibri"/>
              </a:rPr>
              <a:t>joint probability  </a:t>
            </a:r>
            <a:r>
              <a:rPr sz="1950" spc="-10" dirty="0">
                <a:latin typeface="Calibri"/>
                <a:cs typeface="Calibri"/>
              </a:rPr>
              <a:t>for </a:t>
            </a:r>
            <a:r>
              <a:rPr sz="1950" spc="5" dirty="0">
                <a:latin typeface="Calibri"/>
                <a:cs typeface="Calibri"/>
              </a:rPr>
              <a:t>length, </a:t>
            </a:r>
            <a:r>
              <a:rPr sz="1950" spc="-5" dirty="0">
                <a:latin typeface="Calibri"/>
                <a:cs typeface="Calibri"/>
              </a:rPr>
              <a:t>liked </a:t>
            </a:r>
            <a:r>
              <a:rPr sz="1950" spc="10" dirty="0">
                <a:latin typeface="Calibri"/>
                <a:cs typeface="Calibri"/>
              </a:rPr>
              <a:t>and </a:t>
            </a:r>
            <a:r>
              <a:rPr sz="1950" spc="5" dirty="0">
                <a:latin typeface="Calibri"/>
                <a:cs typeface="Calibri"/>
              </a:rPr>
              <a:t>slept </a:t>
            </a:r>
            <a:r>
              <a:rPr sz="1950" spc="10" dirty="0">
                <a:latin typeface="Calibri"/>
                <a:cs typeface="Calibri"/>
              </a:rPr>
              <a:t>in a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movie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56359" y="3727619"/>
            <a:ext cx="2348230" cy="2122805"/>
            <a:chOff x="1556359" y="3727619"/>
            <a:chExt cx="2348230" cy="2122805"/>
          </a:xfrm>
        </p:grpSpPr>
        <p:sp>
          <p:nvSpPr>
            <p:cNvPr id="5" name="object 5"/>
            <p:cNvSpPr/>
            <p:nvPr/>
          </p:nvSpPr>
          <p:spPr>
            <a:xfrm>
              <a:off x="1562709" y="5316388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4"/>
                  </a:lnTo>
                  <a:lnTo>
                    <a:pt x="16496" y="171710"/>
                  </a:lnTo>
                  <a:lnTo>
                    <a:pt x="4248" y="216330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50"/>
                  </a:lnTo>
                  <a:lnTo>
                    <a:pt x="62013" y="433659"/>
                  </a:lnTo>
                  <a:lnTo>
                    <a:pt x="93793" y="465446"/>
                  </a:lnTo>
                  <a:lnTo>
                    <a:pt x="130594" y="491466"/>
                  </a:lnTo>
                  <a:lnTo>
                    <a:pt x="171671" y="510974"/>
                  </a:lnTo>
                  <a:lnTo>
                    <a:pt x="216281" y="523225"/>
                  </a:lnTo>
                  <a:lnTo>
                    <a:pt x="263677" y="527474"/>
                  </a:lnTo>
                  <a:lnTo>
                    <a:pt x="311073" y="523225"/>
                  </a:lnTo>
                  <a:lnTo>
                    <a:pt x="355682" y="510974"/>
                  </a:lnTo>
                  <a:lnTo>
                    <a:pt x="396760" y="491466"/>
                  </a:lnTo>
                  <a:lnTo>
                    <a:pt x="433561" y="465446"/>
                  </a:lnTo>
                  <a:lnTo>
                    <a:pt x="465341" y="433659"/>
                  </a:lnTo>
                  <a:lnTo>
                    <a:pt x="491355" y="396850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30"/>
                  </a:lnTo>
                  <a:lnTo>
                    <a:pt x="510858" y="171710"/>
                  </a:lnTo>
                  <a:lnTo>
                    <a:pt x="491355" y="130624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2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62709" y="5316389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42082" y="3733968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4"/>
                  </a:lnTo>
                  <a:lnTo>
                    <a:pt x="16496" y="171710"/>
                  </a:lnTo>
                  <a:lnTo>
                    <a:pt x="4248" y="216330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50"/>
                  </a:lnTo>
                  <a:lnTo>
                    <a:pt x="62013" y="433659"/>
                  </a:lnTo>
                  <a:lnTo>
                    <a:pt x="93793" y="465446"/>
                  </a:lnTo>
                  <a:lnTo>
                    <a:pt x="130594" y="491466"/>
                  </a:lnTo>
                  <a:lnTo>
                    <a:pt x="171671" y="510974"/>
                  </a:lnTo>
                  <a:lnTo>
                    <a:pt x="216281" y="523225"/>
                  </a:lnTo>
                  <a:lnTo>
                    <a:pt x="263677" y="527474"/>
                  </a:lnTo>
                  <a:lnTo>
                    <a:pt x="311073" y="523225"/>
                  </a:lnTo>
                  <a:lnTo>
                    <a:pt x="355682" y="510974"/>
                  </a:lnTo>
                  <a:lnTo>
                    <a:pt x="396760" y="491466"/>
                  </a:lnTo>
                  <a:lnTo>
                    <a:pt x="433561" y="465446"/>
                  </a:lnTo>
                  <a:lnTo>
                    <a:pt x="465341" y="433659"/>
                  </a:lnTo>
                  <a:lnTo>
                    <a:pt x="491355" y="396850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30"/>
                  </a:lnTo>
                  <a:lnTo>
                    <a:pt x="510858" y="171710"/>
                  </a:lnTo>
                  <a:lnTo>
                    <a:pt x="491355" y="130624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2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42082" y="3733969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39391" y="4261442"/>
              <a:ext cx="678180" cy="1055370"/>
            </a:xfrm>
            <a:custGeom>
              <a:avLst/>
              <a:gdLst/>
              <a:ahLst/>
              <a:cxnLst/>
              <a:rect l="l" t="t" r="r" b="b"/>
              <a:pathLst>
                <a:path w="678180" h="1055370">
                  <a:moveTo>
                    <a:pt x="678027" y="0"/>
                  </a:moveTo>
                  <a:lnTo>
                    <a:pt x="0" y="1054946"/>
                  </a:lnTo>
                </a:path>
              </a:pathLst>
            </a:custGeom>
            <a:ln w="376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19022" y="5138682"/>
              <a:ext cx="181610" cy="209550"/>
            </a:xfrm>
            <a:custGeom>
              <a:avLst/>
              <a:gdLst/>
              <a:ahLst/>
              <a:cxnLst/>
              <a:rect l="l" t="t" r="r" b="b"/>
              <a:pathLst>
                <a:path w="181610" h="209550">
                  <a:moveTo>
                    <a:pt x="22632" y="0"/>
                  </a:moveTo>
                  <a:lnTo>
                    <a:pt x="0" y="209398"/>
                  </a:lnTo>
                  <a:lnTo>
                    <a:pt x="181061" y="101870"/>
                  </a:lnTo>
                  <a:lnTo>
                    <a:pt x="226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918764" y="4261442"/>
              <a:ext cx="678180" cy="979805"/>
            </a:xfrm>
            <a:custGeom>
              <a:avLst/>
              <a:gdLst/>
              <a:ahLst/>
              <a:cxnLst/>
              <a:rect l="l" t="t" r="r" b="b"/>
              <a:pathLst>
                <a:path w="678179" h="979804">
                  <a:moveTo>
                    <a:pt x="0" y="0"/>
                  </a:moveTo>
                  <a:lnTo>
                    <a:pt x="678027" y="979593"/>
                  </a:lnTo>
                </a:path>
              </a:pathLst>
            </a:custGeom>
            <a:ln w="376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370783" y="5316388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4"/>
                  </a:lnTo>
                  <a:lnTo>
                    <a:pt x="16496" y="171710"/>
                  </a:lnTo>
                  <a:lnTo>
                    <a:pt x="4248" y="216330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50"/>
                  </a:lnTo>
                  <a:lnTo>
                    <a:pt x="62013" y="433659"/>
                  </a:lnTo>
                  <a:lnTo>
                    <a:pt x="93793" y="465446"/>
                  </a:lnTo>
                  <a:lnTo>
                    <a:pt x="130594" y="491466"/>
                  </a:lnTo>
                  <a:lnTo>
                    <a:pt x="171671" y="510974"/>
                  </a:lnTo>
                  <a:lnTo>
                    <a:pt x="216281" y="523225"/>
                  </a:lnTo>
                  <a:lnTo>
                    <a:pt x="263677" y="527474"/>
                  </a:lnTo>
                  <a:lnTo>
                    <a:pt x="311073" y="523225"/>
                  </a:lnTo>
                  <a:lnTo>
                    <a:pt x="355682" y="510974"/>
                  </a:lnTo>
                  <a:lnTo>
                    <a:pt x="396760" y="491466"/>
                  </a:lnTo>
                  <a:lnTo>
                    <a:pt x="433561" y="465446"/>
                  </a:lnTo>
                  <a:lnTo>
                    <a:pt x="465341" y="433659"/>
                  </a:lnTo>
                  <a:lnTo>
                    <a:pt x="491355" y="396850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30"/>
                  </a:lnTo>
                  <a:lnTo>
                    <a:pt x="510858" y="171710"/>
                  </a:lnTo>
                  <a:lnTo>
                    <a:pt x="491355" y="130624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2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70783" y="5316389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433601" y="5063511"/>
              <a:ext cx="184785" cy="208915"/>
            </a:xfrm>
            <a:custGeom>
              <a:avLst/>
              <a:gdLst/>
              <a:ahLst/>
              <a:cxnLst/>
              <a:rect l="l" t="t" r="r" b="b"/>
              <a:pathLst>
                <a:path w="184785" h="208914">
                  <a:moveTo>
                    <a:pt x="154853" y="0"/>
                  </a:moveTo>
                  <a:lnTo>
                    <a:pt x="0" y="107229"/>
                  </a:lnTo>
                  <a:lnTo>
                    <a:pt x="184632" y="208502"/>
                  </a:lnTo>
                  <a:lnTo>
                    <a:pt x="1548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695122" y="3841835"/>
            <a:ext cx="26670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10" dirty="0">
                <a:latin typeface="Calibri"/>
                <a:cs typeface="Calibri"/>
              </a:rPr>
              <a:t>Lo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15749" y="5424254"/>
            <a:ext cx="19367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5" dirty="0">
                <a:latin typeface="Calibri"/>
                <a:cs typeface="Calibri"/>
              </a:rPr>
              <a:t>Li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97814" y="5395997"/>
            <a:ext cx="55372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10" dirty="0">
                <a:latin typeface="Calibri"/>
                <a:cs typeface="Calibri"/>
              </a:rPr>
              <a:t>Sle</a:t>
            </a:r>
            <a:r>
              <a:rPr sz="1950" b="1" dirty="0">
                <a:latin typeface="Calibri"/>
                <a:cs typeface="Calibri"/>
              </a:rPr>
              <a:t>p</a:t>
            </a:r>
            <a:r>
              <a:rPr sz="1950" b="1" spc="5" dirty="0">
                <a:latin typeface="Calibri"/>
                <a:cs typeface="Calibri"/>
              </a:rPr>
              <a:t>t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30875" y="3733968"/>
            <a:ext cx="1808480" cy="363220"/>
          </a:xfrm>
          <a:prstGeom prst="rect">
            <a:avLst/>
          </a:prstGeom>
          <a:solidFill>
            <a:srgbClr val="D4FEFF"/>
          </a:solidFill>
        </p:spPr>
        <p:txBody>
          <a:bodyPr vert="horz" wrap="square" lIns="0" tIns="4889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85"/>
              </a:spcBef>
            </a:pPr>
            <a:r>
              <a:rPr sz="1750" spc="10" dirty="0">
                <a:latin typeface="Calibri"/>
                <a:cs typeface="Calibri"/>
              </a:rPr>
              <a:t>Long?</a:t>
            </a:r>
            <a:endParaRPr sz="17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044337" y="3871976"/>
            <a:ext cx="2599690" cy="1833880"/>
            <a:chOff x="3044337" y="3871976"/>
            <a:chExt cx="2599690" cy="1833880"/>
          </a:xfrm>
        </p:grpSpPr>
        <p:sp>
          <p:nvSpPr>
            <p:cNvPr id="20" name="object 20"/>
            <p:cNvSpPr/>
            <p:nvPr/>
          </p:nvSpPr>
          <p:spPr>
            <a:xfrm>
              <a:off x="3069437" y="3884676"/>
              <a:ext cx="2486660" cy="75565"/>
            </a:xfrm>
            <a:custGeom>
              <a:avLst/>
              <a:gdLst/>
              <a:ahLst/>
              <a:cxnLst/>
              <a:rect l="l" t="t" r="r" b="b"/>
              <a:pathLst>
                <a:path w="2486660" h="75564">
                  <a:moveTo>
                    <a:pt x="2486101" y="0"/>
                  </a:moveTo>
                  <a:lnTo>
                    <a:pt x="0" y="75353"/>
                  </a:lnTo>
                </a:path>
              </a:pathLst>
            </a:custGeom>
            <a:ln w="251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44337" y="3894221"/>
              <a:ext cx="127635" cy="125730"/>
            </a:xfrm>
            <a:custGeom>
              <a:avLst/>
              <a:gdLst/>
              <a:ahLst/>
              <a:cxnLst/>
              <a:rect l="l" t="t" r="r" b="b"/>
              <a:pathLst>
                <a:path w="127635" h="125729">
                  <a:moveTo>
                    <a:pt x="123601" y="0"/>
                  </a:moveTo>
                  <a:lnTo>
                    <a:pt x="0" y="66569"/>
                  </a:lnTo>
                  <a:lnTo>
                    <a:pt x="127403" y="125530"/>
                  </a:lnTo>
                  <a:lnTo>
                    <a:pt x="1236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973474" y="5617802"/>
              <a:ext cx="1657985" cy="75565"/>
            </a:xfrm>
            <a:custGeom>
              <a:avLst/>
              <a:gdLst/>
              <a:ahLst/>
              <a:cxnLst/>
              <a:rect l="l" t="t" r="r" b="b"/>
              <a:pathLst>
                <a:path w="1657985" h="75564">
                  <a:moveTo>
                    <a:pt x="1657400" y="75353"/>
                  </a:moveTo>
                  <a:lnTo>
                    <a:pt x="0" y="0"/>
                  </a:lnTo>
                </a:path>
              </a:pathLst>
            </a:custGeom>
            <a:ln w="251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948387" y="5559635"/>
              <a:ext cx="128905" cy="125730"/>
            </a:xfrm>
            <a:custGeom>
              <a:avLst/>
              <a:gdLst/>
              <a:ahLst/>
              <a:cxnLst/>
              <a:rect l="l" t="t" r="r" b="b"/>
              <a:pathLst>
                <a:path w="128904" h="125729">
                  <a:moveTo>
                    <a:pt x="128282" y="0"/>
                  </a:moveTo>
                  <a:lnTo>
                    <a:pt x="0" y="57026"/>
                  </a:lnTo>
                  <a:lnTo>
                    <a:pt x="122580" y="125458"/>
                  </a:lnTo>
                  <a:lnTo>
                    <a:pt x="1282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706211" y="5542448"/>
            <a:ext cx="904240" cy="363220"/>
          </a:xfrm>
          <a:prstGeom prst="rect">
            <a:avLst/>
          </a:prstGeom>
          <a:solidFill>
            <a:srgbClr val="D4FEFF"/>
          </a:solidFill>
        </p:spPr>
        <p:txBody>
          <a:bodyPr vert="horz" wrap="square" lIns="0" tIns="4889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85"/>
              </a:spcBef>
            </a:pPr>
            <a:r>
              <a:rPr sz="1750" spc="10" dirty="0">
                <a:latin typeface="Calibri"/>
                <a:cs typeface="Calibri"/>
              </a:rPr>
              <a:t>Slept?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90064" y="6281854"/>
            <a:ext cx="1054735" cy="363220"/>
          </a:xfrm>
          <a:prstGeom prst="rect">
            <a:avLst/>
          </a:prstGeom>
          <a:solidFill>
            <a:srgbClr val="D4FEFF"/>
          </a:solidFill>
        </p:spPr>
        <p:txBody>
          <a:bodyPr vert="horz" wrap="square" lIns="0" tIns="4889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85"/>
              </a:spcBef>
            </a:pPr>
            <a:r>
              <a:rPr sz="1750" dirty="0">
                <a:latin typeface="Calibri"/>
                <a:cs typeface="Calibri"/>
              </a:rPr>
              <a:t>Liked?</a:t>
            </a:r>
            <a:endParaRPr sz="17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919075" y="5829098"/>
            <a:ext cx="635635" cy="465455"/>
            <a:chOff x="1919075" y="5829098"/>
            <a:chExt cx="635635" cy="465455"/>
          </a:xfrm>
        </p:grpSpPr>
        <p:sp>
          <p:nvSpPr>
            <p:cNvPr id="27" name="object 27"/>
            <p:cNvSpPr/>
            <p:nvPr/>
          </p:nvSpPr>
          <p:spPr>
            <a:xfrm>
              <a:off x="1939391" y="5843861"/>
              <a:ext cx="603250" cy="438150"/>
            </a:xfrm>
            <a:custGeom>
              <a:avLst/>
              <a:gdLst/>
              <a:ahLst/>
              <a:cxnLst/>
              <a:rect l="l" t="t" r="r" b="b"/>
              <a:pathLst>
                <a:path w="603250" h="438150">
                  <a:moveTo>
                    <a:pt x="602691" y="437991"/>
                  </a:moveTo>
                  <a:lnTo>
                    <a:pt x="0" y="0"/>
                  </a:lnTo>
                </a:path>
              </a:pathLst>
            </a:custGeom>
            <a:ln w="251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19075" y="5829098"/>
              <a:ext cx="139065" cy="125095"/>
            </a:xfrm>
            <a:custGeom>
              <a:avLst/>
              <a:gdLst/>
              <a:ahLst/>
              <a:cxnLst/>
              <a:rect l="l" t="t" r="r" b="b"/>
              <a:pathLst>
                <a:path w="139064" h="125095">
                  <a:moveTo>
                    <a:pt x="0" y="0"/>
                  </a:moveTo>
                  <a:lnTo>
                    <a:pt x="64677" y="124621"/>
                  </a:lnTo>
                  <a:lnTo>
                    <a:pt x="138482" y="230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2776" y="1076681"/>
            <a:ext cx="5315824" cy="49949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150" b="1" spc="-10" dirty="0">
                <a:latin typeface="Calibri"/>
                <a:cs typeface="Calibri"/>
              </a:rPr>
              <a:t>Bayesian </a:t>
            </a:r>
            <a:r>
              <a:rPr sz="3150" b="1" spc="-5" dirty="0">
                <a:latin typeface="Calibri"/>
                <a:cs typeface="Calibri"/>
              </a:rPr>
              <a:t>networks:</a:t>
            </a:r>
            <a:r>
              <a:rPr sz="3150" b="1" spc="-45" dirty="0">
                <a:latin typeface="Calibri"/>
                <a:cs typeface="Calibri"/>
              </a:rPr>
              <a:t> </a:t>
            </a:r>
            <a:r>
              <a:rPr sz="3150" b="1" spc="105" dirty="0">
                <a:latin typeface="Calibri"/>
                <a:cs typeface="Calibri"/>
              </a:rPr>
              <a:t>Nota</a:t>
            </a:r>
            <a:r>
              <a:rPr lang="en-US" sz="3150" b="1" spc="105" dirty="0">
                <a:latin typeface="Calibri"/>
                <a:cs typeface="Calibri"/>
              </a:rPr>
              <a:t>ti</a:t>
            </a:r>
            <a:r>
              <a:rPr sz="3150" b="1" spc="105" dirty="0">
                <a:latin typeface="Calibri"/>
                <a:cs typeface="Calibri"/>
              </a:rPr>
              <a:t>ons</a:t>
            </a:r>
            <a:endParaRPr sz="315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117797" y="3727619"/>
            <a:ext cx="2348230" cy="2122805"/>
            <a:chOff x="4117797" y="3727619"/>
            <a:chExt cx="2348230" cy="2122805"/>
          </a:xfrm>
        </p:grpSpPr>
        <p:sp>
          <p:nvSpPr>
            <p:cNvPr id="4" name="object 4"/>
            <p:cNvSpPr/>
            <p:nvPr/>
          </p:nvSpPr>
          <p:spPr>
            <a:xfrm>
              <a:off x="4124147" y="5316388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4"/>
                  </a:lnTo>
                  <a:lnTo>
                    <a:pt x="16496" y="171710"/>
                  </a:lnTo>
                  <a:lnTo>
                    <a:pt x="4248" y="216330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50"/>
                  </a:lnTo>
                  <a:lnTo>
                    <a:pt x="62013" y="433659"/>
                  </a:lnTo>
                  <a:lnTo>
                    <a:pt x="93793" y="465446"/>
                  </a:lnTo>
                  <a:lnTo>
                    <a:pt x="130594" y="491466"/>
                  </a:lnTo>
                  <a:lnTo>
                    <a:pt x="171671" y="510974"/>
                  </a:lnTo>
                  <a:lnTo>
                    <a:pt x="216281" y="523225"/>
                  </a:lnTo>
                  <a:lnTo>
                    <a:pt x="263677" y="527474"/>
                  </a:lnTo>
                  <a:lnTo>
                    <a:pt x="311073" y="523225"/>
                  </a:lnTo>
                  <a:lnTo>
                    <a:pt x="355682" y="510974"/>
                  </a:lnTo>
                  <a:lnTo>
                    <a:pt x="396760" y="491466"/>
                  </a:lnTo>
                  <a:lnTo>
                    <a:pt x="433561" y="465446"/>
                  </a:lnTo>
                  <a:lnTo>
                    <a:pt x="465341" y="433659"/>
                  </a:lnTo>
                  <a:lnTo>
                    <a:pt x="491355" y="396850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30"/>
                  </a:lnTo>
                  <a:lnTo>
                    <a:pt x="510858" y="171710"/>
                  </a:lnTo>
                  <a:lnTo>
                    <a:pt x="491355" y="130624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2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24147" y="5316389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103520" y="3733968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4"/>
                  </a:lnTo>
                  <a:lnTo>
                    <a:pt x="16496" y="171710"/>
                  </a:lnTo>
                  <a:lnTo>
                    <a:pt x="4248" y="216330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50"/>
                  </a:lnTo>
                  <a:lnTo>
                    <a:pt x="62013" y="433659"/>
                  </a:lnTo>
                  <a:lnTo>
                    <a:pt x="93793" y="465446"/>
                  </a:lnTo>
                  <a:lnTo>
                    <a:pt x="130594" y="491466"/>
                  </a:lnTo>
                  <a:lnTo>
                    <a:pt x="171671" y="510974"/>
                  </a:lnTo>
                  <a:lnTo>
                    <a:pt x="216281" y="523225"/>
                  </a:lnTo>
                  <a:lnTo>
                    <a:pt x="263677" y="527474"/>
                  </a:lnTo>
                  <a:lnTo>
                    <a:pt x="311073" y="523225"/>
                  </a:lnTo>
                  <a:lnTo>
                    <a:pt x="355683" y="510974"/>
                  </a:lnTo>
                  <a:lnTo>
                    <a:pt x="396760" y="491466"/>
                  </a:lnTo>
                  <a:lnTo>
                    <a:pt x="433561" y="465446"/>
                  </a:lnTo>
                  <a:lnTo>
                    <a:pt x="465341" y="433659"/>
                  </a:lnTo>
                  <a:lnTo>
                    <a:pt x="491355" y="396850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30"/>
                  </a:lnTo>
                  <a:lnTo>
                    <a:pt x="510858" y="171710"/>
                  </a:lnTo>
                  <a:lnTo>
                    <a:pt x="491355" y="130624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3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3520" y="3733969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00829" y="4261442"/>
              <a:ext cx="678180" cy="1055370"/>
            </a:xfrm>
            <a:custGeom>
              <a:avLst/>
              <a:gdLst/>
              <a:ahLst/>
              <a:cxnLst/>
              <a:rect l="l" t="t" r="r" b="b"/>
              <a:pathLst>
                <a:path w="678179" h="1055370">
                  <a:moveTo>
                    <a:pt x="678027" y="0"/>
                  </a:moveTo>
                  <a:lnTo>
                    <a:pt x="0" y="1054946"/>
                  </a:lnTo>
                </a:path>
              </a:pathLst>
            </a:custGeom>
            <a:ln w="376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80459" y="5138682"/>
              <a:ext cx="181610" cy="209550"/>
            </a:xfrm>
            <a:custGeom>
              <a:avLst/>
              <a:gdLst/>
              <a:ahLst/>
              <a:cxnLst/>
              <a:rect l="l" t="t" r="r" b="b"/>
              <a:pathLst>
                <a:path w="181610" h="209550">
                  <a:moveTo>
                    <a:pt x="22632" y="0"/>
                  </a:moveTo>
                  <a:lnTo>
                    <a:pt x="0" y="209398"/>
                  </a:lnTo>
                  <a:lnTo>
                    <a:pt x="181061" y="101870"/>
                  </a:lnTo>
                  <a:lnTo>
                    <a:pt x="226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80202" y="4261442"/>
              <a:ext cx="678180" cy="979805"/>
            </a:xfrm>
            <a:custGeom>
              <a:avLst/>
              <a:gdLst/>
              <a:ahLst/>
              <a:cxnLst/>
              <a:rect l="l" t="t" r="r" b="b"/>
              <a:pathLst>
                <a:path w="678179" h="979804">
                  <a:moveTo>
                    <a:pt x="0" y="0"/>
                  </a:moveTo>
                  <a:lnTo>
                    <a:pt x="678027" y="979593"/>
                  </a:lnTo>
                </a:path>
              </a:pathLst>
            </a:custGeom>
            <a:ln w="376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32220" y="5316388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263677" y="0"/>
                  </a:moveTo>
                  <a:lnTo>
                    <a:pt x="216280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4"/>
                  </a:lnTo>
                  <a:lnTo>
                    <a:pt x="16496" y="171710"/>
                  </a:lnTo>
                  <a:lnTo>
                    <a:pt x="4248" y="216330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50"/>
                  </a:lnTo>
                  <a:lnTo>
                    <a:pt x="62013" y="433659"/>
                  </a:lnTo>
                  <a:lnTo>
                    <a:pt x="93793" y="465446"/>
                  </a:lnTo>
                  <a:lnTo>
                    <a:pt x="130594" y="491466"/>
                  </a:lnTo>
                  <a:lnTo>
                    <a:pt x="171671" y="510974"/>
                  </a:lnTo>
                  <a:lnTo>
                    <a:pt x="216280" y="523225"/>
                  </a:lnTo>
                  <a:lnTo>
                    <a:pt x="263677" y="527474"/>
                  </a:lnTo>
                  <a:lnTo>
                    <a:pt x="311073" y="523225"/>
                  </a:lnTo>
                  <a:lnTo>
                    <a:pt x="355683" y="510974"/>
                  </a:lnTo>
                  <a:lnTo>
                    <a:pt x="396760" y="491466"/>
                  </a:lnTo>
                  <a:lnTo>
                    <a:pt x="433561" y="465446"/>
                  </a:lnTo>
                  <a:lnTo>
                    <a:pt x="465341" y="433659"/>
                  </a:lnTo>
                  <a:lnTo>
                    <a:pt x="491355" y="396850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30"/>
                  </a:lnTo>
                  <a:lnTo>
                    <a:pt x="510858" y="171710"/>
                  </a:lnTo>
                  <a:lnTo>
                    <a:pt x="491355" y="130624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3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32220" y="5316389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95038" y="5063511"/>
              <a:ext cx="184785" cy="208915"/>
            </a:xfrm>
            <a:custGeom>
              <a:avLst/>
              <a:gdLst/>
              <a:ahLst/>
              <a:cxnLst/>
              <a:rect l="l" t="t" r="r" b="b"/>
              <a:pathLst>
                <a:path w="184785" h="208914">
                  <a:moveTo>
                    <a:pt x="154852" y="0"/>
                  </a:moveTo>
                  <a:lnTo>
                    <a:pt x="0" y="107229"/>
                  </a:lnTo>
                  <a:lnTo>
                    <a:pt x="184632" y="208502"/>
                  </a:lnTo>
                  <a:lnTo>
                    <a:pt x="1548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181224" y="3841835"/>
            <a:ext cx="26670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10" dirty="0">
                <a:latin typeface="Calibri"/>
                <a:cs typeface="Calibri"/>
              </a:rPr>
              <a:t>Lo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77187" y="5424254"/>
            <a:ext cx="19367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5" dirty="0">
                <a:latin typeface="Calibri"/>
                <a:cs typeface="Calibri"/>
              </a:rPr>
              <a:t>Li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85260" y="5424254"/>
            <a:ext cx="14414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10" dirty="0">
                <a:latin typeface="Calibri"/>
                <a:cs typeface="Calibri"/>
              </a:rPr>
              <a:t>S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78532" y="3239007"/>
            <a:ext cx="99441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10" dirty="0">
                <a:latin typeface="Calibri"/>
                <a:cs typeface="Calibri"/>
              </a:rPr>
              <a:t>P(Lo) =</a:t>
            </a:r>
            <a:r>
              <a:rPr sz="1750" spc="-70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0.5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92431" y="5132890"/>
            <a:ext cx="1508760" cy="849630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1750" spc="10" dirty="0">
                <a:latin typeface="Calibri"/>
                <a:cs typeface="Calibri"/>
              </a:rPr>
              <a:t>P(Li | Lo) =</a:t>
            </a:r>
            <a:r>
              <a:rPr sz="1750" spc="-50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0.4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750" spc="10" dirty="0">
                <a:latin typeface="Calibri"/>
                <a:cs typeface="Calibri"/>
              </a:rPr>
              <a:t>P(Li | </a:t>
            </a:r>
            <a:r>
              <a:rPr sz="1750" spc="10" dirty="0">
                <a:latin typeface="Symbol"/>
                <a:cs typeface="Symbol"/>
              </a:rPr>
              <a:t></a:t>
            </a:r>
            <a:r>
              <a:rPr sz="1750" spc="10" dirty="0">
                <a:latin typeface="Calibri"/>
                <a:cs typeface="Calibri"/>
              </a:rPr>
              <a:t>Lo) =</a:t>
            </a:r>
            <a:r>
              <a:rPr sz="1750" spc="-75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0.7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12614" y="5057535"/>
            <a:ext cx="1465580" cy="8496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54500"/>
              </a:lnSpc>
              <a:spcBef>
                <a:spcPts val="90"/>
              </a:spcBef>
            </a:pPr>
            <a:r>
              <a:rPr sz="1750" spc="10" dirty="0">
                <a:latin typeface="Calibri"/>
                <a:cs typeface="Calibri"/>
              </a:rPr>
              <a:t>P(S | Lo) = </a:t>
            </a:r>
            <a:r>
              <a:rPr sz="1750" spc="5" dirty="0">
                <a:latin typeface="Calibri"/>
                <a:cs typeface="Calibri"/>
              </a:rPr>
              <a:t>0.6  </a:t>
            </a:r>
            <a:r>
              <a:rPr sz="1750" spc="10" dirty="0">
                <a:latin typeface="Calibri"/>
                <a:cs typeface="Calibri"/>
              </a:rPr>
              <a:t>P(S | </a:t>
            </a:r>
            <a:r>
              <a:rPr sz="1750" spc="10" dirty="0">
                <a:latin typeface="Symbol"/>
                <a:cs typeface="Symbol"/>
              </a:rPr>
              <a:t></a:t>
            </a:r>
            <a:r>
              <a:rPr sz="1750" spc="10" dirty="0">
                <a:latin typeface="Calibri"/>
                <a:cs typeface="Calibri"/>
              </a:rPr>
              <a:t>Lo) =</a:t>
            </a:r>
            <a:r>
              <a:rPr sz="1750" spc="-75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0.2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09345" y="3206495"/>
            <a:ext cx="2185035" cy="853439"/>
          </a:xfrm>
          <a:prstGeom prst="rect">
            <a:avLst/>
          </a:prstGeom>
          <a:solidFill>
            <a:srgbClr val="D4FEFF"/>
          </a:solidFill>
        </p:spPr>
        <p:txBody>
          <a:bodyPr vert="horz" wrap="square" lIns="0" tIns="45720" rIns="0" bIns="0" rtlCol="0">
            <a:spAutoFit/>
          </a:bodyPr>
          <a:lstStyle/>
          <a:p>
            <a:pPr marL="90170" marR="490220">
              <a:lnSpc>
                <a:spcPct val="101200"/>
              </a:lnSpc>
              <a:spcBef>
                <a:spcPts val="360"/>
              </a:spcBef>
            </a:pPr>
            <a:r>
              <a:rPr sz="1750" dirty="0">
                <a:solidFill>
                  <a:srgbClr val="FF0000"/>
                </a:solidFill>
                <a:latin typeface="Calibri"/>
                <a:cs typeface="Calibri"/>
              </a:rPr>
              <a:t>Condi</a:t>
            </a:r>
            <a:r>
              <a:rPr lang="en-US" sz="1750" dirty="0">
                <a:solidFill>
                  <a:srgbClr val="FF0000"/>
                </a:solidFill>
                <a:latin typeface="Calibri"/>
                <a:cs typeface="Calibri"/>
              </a:rPr>
              <a:t>ti</a:t>
            </a:r>
            <a:r>
              <a:rPr sz="1750" dirty="0">
                <a:solidFill>
                  <a:srgbClr val="FF0000"/>
                </a:solidFill>
                <a:latin typeface="Calibri"/>
                <a:cs typeface="Calibri"/>
              </a:rPr>
              <a:t>onal  </a:t>
            </a:r>
            <a:r>
              <a:rPr sz="1750" spc="5" dirty="0">
                <a:solidFill>
                  <a:srgbClr val="FF0000"/>
                </a:solidFill>
                <a:latin typeface="Calibri"/>
                <a:cs typeface="Calibri"/>
              </a:rPr>
              <a:t>probability</a:t>
            </a:r>
            <a:r>
              <a:rPr sz="175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50" spc="5" dirty="0">
                <a:solidFill>
                  <a:srgbClr val="FF0000"/>
                </a:solidFill>
                <a:latin typeface="Calibri"/>
                <a:cs typeface="Calibri"/>
              </a:rPr>
              <a:t>tables  </a:t>
            </a:r>
            <a:r>
              <a:rPr sz="1750" spc="-15" dirty="0">
                <a:solidFill>
                  <a:srgbClr val="FF0000"/>
                </a:solidFill>
                <a:latin typeface="Calibri"/>
                <a:cs typeface="Calibri"/>
              </a:rPr>
              <a:t>(CPTs)</a:t>
            </a:r>
            <a:endParaRPr sz="1750" dirty="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987821" y="3397435"/>
            <a:ext cx="1538605" cy="116839"/>
            <a:chOff x="2987821" y="3397435"/>
            <a:chExt cx="1538605" cy="116839"/>
          </a:xfrm>
        </p:grpSpPr>
        <p:sp>
          <p:nvSpPr>
            <p:cNvPr id="22" name="object 22"/>
            <p:cNvSpPr/>
            <p:nvPr/>
          </p:nvSpPr>
          <p:spPr>
            <a:xfrm>
              <a:off x="2994101" y="3432555"/>
              <a:ext cx="1506855" cy="75565"/>
            </a:xfrm>
            <a:custGeom>
              <a:avLst/>
              <a:gdLst/>
              <a:ahLst/>
              <a:cxnLst/>
              <a:rect l="l" t="t" r="r" b="b"/>
              <a:pathLst>
                <a:path w="1506854" h="75564">
                  <a:moveTo>
                    <a:pt x="0" y="75353"/>
                  </a:moveTo>
                  <a:lnTo>
                    <a:pt x="1506728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48787" y="3397435"/>
              <a:ext cx="77470" cy="75565"/>
            </a:xfrm>
            <a:custGeom>
              <a:avLst/>
              <a:gdLst/>
              <a:ahLst/>
              <a:cxnLst/>
              <a:rect l="l" t="t" r="r" b="b"/>
              <a:pathLst>
                <a:path w="77470" h="75564">
                  <a:moveTo>
                    <a:pt x="0" y="0"/>
                  </a:moveTo>
                  <a:lnTo>
                    <a:pt x="3761" y="75258"/>
                  </a:lnTo>
                  <a:lnTo>
                    <a:pt x="77122" y="338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2611069" y="3727619"/>
            <a:ext cx="4231640" cy="1537335"/>
            <a:chOff x="2611069" y="3727619"/>
            <a:chExt cx="4231640" cy="1537335"/>
          </a:xfrm>
        </p:grpSpPr>
        <p:sp>
          <p:nvSpPr>
            <p:cNvPr id="25" name="object 25"/>
            <p:cNvSpPr/>
            <p:nvPr/>
          </p:nvSpPr>
          <p:spPr>
            <a:xfrm>
              <a:off x="2617419" y="4110736"/>
              <a:ext cx="377190" cy="1130300"/>
            </a:xfrm>
            <a:custGeom>
              <a:avLst/>
              <a:gdLst/>
              <a:ahLst/>
              <a:cxnLst/>
              <a:rect l="l" t="t" r="r" b="b"/>
              <a:pathLst>
                <a:path w="377189" h="1130300">
                  <a:moveTo>
                    <a:pt x="0" y="0"/>
                  </a:moveTo>
                  <a:lnTo>
                    <a:pt x="376682" y="1130300"/>
                  </a:lnTo>
                </a:path>
              </a:pathLst>
            </a:custGeom>
            <a:ln w="12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942483" y="5181464"/>
              <a:ext cx="71755" cy="83820"/>
            </a:xfrm>
            <a:custGeom>
              <a:avLst/>
              <a:gdLst/>
              <a:ahLst/>
              <a:cxnLst/>
              <a:rect l="l" t="t" r="r" b="b"/>
              <a:pathLst>
                <a:path w="71755" h="83820">
                  <a:moveTo>
                    <a:pt x="71470" y="0"/>
                  </a:moveTo>
                  <a:lnTo>
                    <a:pt x="0" y="23829"/>
                  </a:lnTo>
                  <a:lnTo>
                    <a:pt x="59559" y="83400"/>
                  </a:lnTo>
                  <a:lnTo>
                    <a:pt x="714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994101" y="3809322"/>
              <a:ext cx="3541395" cy="1431925"/>
            </a:xfrm>
            <a:custGeom>
              <a:avLst/>
              <a:gdLst/>
              <a:ahLst/>
              <a:cxnLst/>
              <a:rect l="l" t="t" r="r" b="b"/>
              <a:pathLst>
                <a:path w="3541395" h="1431925">
                  <a:moveTo>
                    <a:pt x="0" y="0"/>
                  </a:moveTo>
                  <a:lnTo>
                    <a:pt x="3540810" y="1431713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474231" y="5187278"/>
              <a:ext cx="84455" cy="70485"/>
            </a:xfrm>
            <a:custGeom>
              <a:avLst/>
              <a:gdLst/>
              <a:ahLst/>
              <a:cxnLst/>
              <a:rect l="l" t="t" r="r" b="b"/>
              <a:pathLst>
                <a:path w="84454" h="70485">
                  <a:moveTo>
                    <a:pt x="28234" y="0"/>
                  </a:moveTo>
                  <a:lnTo>
                    <a:pt x="0" y="69860"/>
                  </a:lnTo>
                  <a:lnTo>
                    <a:pt x="83962" y="63172"/>
                  </a:lnTo>
                  <a:lnTo>
                    <a:pt x="282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932220" y="3884676"/>
              <a:ext cx="904240" cy="829310"/>
            </a:xfrm>
            <a:custGeom>
              <a:avLst/>
              <a:gdLst/>
              <a:ahLst/>
              <a:cxnLst/>
              <a:rect l="l" t="t" r="r" b="b"/>
              <a:pathLst>
                <a:path w="904240" h="829310">
                  <a:moveTo>
                    <a:pt x="904036" y="0"/>
                  </a:moveTo>
                  <a:lnTo>
                    <a:pt x="0" y="828886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13709" y="4651843"/>
              <a:ext cx="81280" cy="78740"/>
            </a:xfrm>
            <a:custGeom>
              <a:avLst/>
              <a:gdLst/>
              <a:ahLst/>
              <a:cxnLst/>
              <a:rect l="l" t="t" r="r" b="b"/>
              <a:pathLst>
                <a:path w="81279" h="78739">
                  <a:moveTo>
                    <a:pt x="30081" y="0"/>
                  </a:moveTo>
                  <a:lnTo>
                    <a:pt x="0" y="78691"/>
                  </a:lnTo>
                  <a:lnTo>
                    <a:pt x="80987" y="55547"/>
                  </a:lnTo>
                  <a:lnTo>
                    <a:pt x="300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103520" y="3733969"/>
              <a:ext cx="1732914" cy="753745"/>
            </a:xfrm>
            <a:custGeom>
              <a:avLst/>
              <a:gdLst/>
              <a:ahLst/>
              <a:cxnLst/>
              <a:rect l="l" t="t" r="r" b="b"/>
              <a:pathLst>
                <a:path w="1732915" h="753745">
                  <a:moveTo>
                    <a:pt x="1732737" y="0"/>
                  </a:moveTo>
                  <a:lnTo>
                    <a:pt x="0" y="753533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080490" y="4432920"/>
              <a:ext cx="84455" cy="69215"/>
            </a:xfrm>
            <a:custGeom>
              <a:avLst/>
              <a:gdLst/>
              <a:ahLst/>
              <a:cxnLst/>
              <a:rect l="l" t="t" r="r" b="b"/>
              <a:pathLst>
                <a:path w="84454" h="69214">
                  <a:moveTo>
                    <a:pt x="54070" y="0"/>
                  </a:moveTo>
                  <a:lnTo>
                    <a:pt x="0" y="64597"/>
                  </a:lnTo>
                  <a:lnTo>
                    <a:pt x="84108" y="69103"/>
                  </a:lnTo>
                  <a:lnTo>
                    <a:pt x="540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911593" y="3432555"/>
            <a:ext cx="2185035" cy="589136"/>
          </a:xfrm>
          <a:prstGeom prst="rect">
            <a:avLst/>
          </a:prstGeom>
          <a:solidFill>
            <a:srgbClr val="D4FEFF"/>
          </a:solidFill>
        </p:spPr>
        <p:txBody>
          <a:bodyPr vert="horz" wrap="square" lIns="0" tIns="39370" rIns="0" bIns="0" rtlCol="0">
            <a:spAutoFit/>
          </a:bodyPr>
          <a:lstStyle/>
          <a:p>
            <a:pPr marL="90170" marR="958215">
              <a:lnSpc>
                <a:spcPct val="103600"/>
              </a:lnSpc>
              <a:spcBef>
                <a:spcPts val="310"/>
              </a:spcBef>
            </a:pPr>
            <a:r>
              <a:rPr sz="1750" dirty="0">
                <a:solidFill>
                  <a:srgbClr val="FF0000"/>
                </a:solidFill>
                <a:latin typeface="Calibri"/>
                <a:cs typeface="Calibri"/>
              </a:rPr>
              <a:t>Condi</a:t>
            </a:r>
            <a:r>
              <a:rPr lang="en-US" sz="1750" dirty="0">
                <a:solidFill>
                  <a:srgbClr val="FF0000"/>
                </a:solidFill>
                <a:latin typeface="Calibri"/>
                <a:cs typeface="Calibri"/>
              </a:rPr>
              <a:t>ti</a:t>
            </a:r>
            <a:r>
              <a:rPr sz="1750" dirty="0">
                <a:solidFill>
                  <a:srgbClr val="FF0000"/>
                </a:solidFill>
                <a:latin typeface="Calibri"/>
                <a:cs typeface="Calibri"/>
              </a:rPr>
              <a:t>onal  </a:t>
            </a:r>
            <a:r>
              <a:rPr sz="1750" spc="15" dirty="0">
                <a:solidFill>
                  <a:srgbClr val="FF0000"/>
                </a:solidFill>
                <a:latin typeface="Calibri"/>
                <a:cs typeface="Calibri"/>
              </a:rPr>
              <a:t>d</a:t>
            </a:r>
            <a:r>
              <a:rPr sz="1750" spc="5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1750" spc="15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750" spc="5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1750" spc="15" dirty="0">
                <a:solidFill>
                  <a:srgbClr val="FF0000"/>
                </a:solidFill>
                <a:latin typeface="Calibri"/>
                <a:cs typeface="Calibri"/>
              </a:rPr>
              <a:t>nd</a:t>
            </a:r>
            <a:r>
              <a:rPr sz="1750" spc="5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1750" spc="15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z="1750" spc="5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1750" spc="10" dirty="0">
                <a:solidFill>
                  <a:srgbClr val="FF0000"/>
                </a:solidFill>
                <a:latin typeface="Calibri"/>
                <a:cs typeface="Calibri"/>
              </a:rPr>
              <a:t>y</a:t>
            </a:r>
            <a:endParaRPr sz="1750" dirty="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199483" y="6522042"/>
            <a:ext cx="2185035" cy="363220"/>
          </a:xfrm>
          <a:prstGeom prst="rect">
            <a:avLst/>
          </a:prstGeom>
          <a:solidFill>
            <a:srgbClr val="D4FEFF"/>
          </a:solidFill>
        </p:spPr>
        <p:txBody>
          <a:bodyPr vert="horz" wrap="square" lIns="0" tIns="4889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85"/>
              </a:spcBef>
            </a:pPr>
            <a:r>
              <a:rPr sz="1750" spc="15" dirty="0">
                <a:solidFill>
                  <a:srgbClr val="FF0000"/>
                </a:solidFill>
                <a:latin typeface="Calibri"/>
                <a:cs typeface="Calibri"/>
              </a:rPr>
              <a:t>Random</a:t>
            </a:r>
            <a:r>
              <a:rPr sz="175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50" spc="5" dirty="0">
                <a:solidFill>
                  <a:srgbClr val="FF0000"/>
                </a:solidFill>
                <a:latin typeface="Calibri"/>
                <a:cs typeface="Calibri"/>
              </a:rPr>
              <a:t>variables</a:t>
            </a:r>
            <a:endParaRPr sz="175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484486" y="5900145"/>
            <a:ext cx="474980" cy="553085"/>
            <a:chOff x="4484486" y="5900145"/>
            <a:chExt cx="474980" cy="553085"/>
          </a:xfrm>
        </p:grpSpPr>
        <p:sp>
          <p:nvSpPr>
            <p:cNvPr id="36" name="object 36"/>
            <p:cNvSpPr/>
            <p:nvPr/>
          </p:nvSpPr>
          <p:spPr>
            <a:xfrm>
              <a:off x="4500829" y="5919216"/>
              <a:ext cx="452120" cy="527685"/>
            </a:xfrm>
            <a:custGeom>
              <a:avLst/>
              <a:gdLst/>
              <a:ahLst/>
              <a:cxnLst/>
              <a:rect l="l" t="t" r="r" b="b"/>
              <a:pathLst>
                <a:path w="452120" h="527685">
                  <a:moveTo>
                    <a:pt x="452018" y="527473"/>
                  </a:moveTo>
                  <a:lnTo>
                    <a:pt x="0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484486" y="5900145"/>
              <a:ext cx="78105" cy="81915"/>
            </a:xfrm>
            <a:custGeom>
              <a:avLst/>
              <a:gdLst/>
              <a:ahLst/>
              <a:cxnLst/>
              <a:rect l="l" t="t" r="r" b="b"/>
              <a:pathLst>
                <a:path w="78104" h="81914">
                  <a:moveTo>
                    <a:pt x="0" y="0"/>
                  </a:moveTo>
                  <a:lnTo>
                    <a:pt x="20427" y="81732"/>
                  </a:lnTo>
                  <a:lnTo>
                    <a:pt x="77627" y="326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5624596" y="5899122"/>
            <a:ext cx="473709" cy="629285"/>
            <a:chOff x="5624596" y="5899122"/>
            <a:chExt cx="473709" cy="629285"/>
          </a:xfrm>
        </p:grpSpPr>
        <p:sp>
          <p:nvSpPr>
            <p:cNvPr id="39" name="object 39"/>
            <p:cNvSpPr/>
            <p:nvPr/>
          </p:nvSpPr>
          <p:spPr>
            <a:xfrm>
              <a:off x="5630875" y="5919216"/>
              <a:ext cx="452120" cy="603250"/>
            </a:xfrm>
            <a:custGeom>
              <a:avLst/>
              <a:gdLst/>
              <a:ahLst/>
              <a:cxnLst/>
              <a:rect l="l" t="t" r="r" b="b"/>
              <a:pathLst>
                <a:path w="452120" h="603250">
                  <a:moveTo>
                    <a:pt x="0" y="602826"/>
                  </a:moveTo>
                  <a:lnTo>
                    <a:pt x="452018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022624" y="5899122"/>
              <a:ext cx="75565" cy="83185"/>
            </a:xfrm>
            <a:custGeom>
              <a:avLst/>
              <a:gdLst/>
              <a:ahLst/>
              <a:cxnLst/>
              <a:rect l="l" t="t" r="r" b="b"/>
              <a:pathLst>
                <a:path w="75564" h="83185">
                  <a:moveTo>
                    <a:pt x="75336" y="0"/>
                  </a:moveTo>
                  <a:lnTo>
                    <a:pt x="0" y="37677"/>
                  </a:lnTo>
                  <a:lnTo>
                    <a:pt x="60269" y="82889"/>
                  </a:lnTo>
                  <a:lnTo>
                    <a:pt x="753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5291861" y="4311677"/>
            <a:ext cx="75565" cy="2210435"/>
            <a:chOff x="5291861" y="4311677"/>
            <a:chExt cx="75565" cy="2210435"/>
          </a:xfrm>
        </p:grpSpPr>
        <p:sp>
          <p:nvSpPr>
            <p:cNvPr id="42" name="object 42"/>
            <p:cNvSpPr/>
            <p:nvPr/>
          </p:nvSpPr>
          <p:spPr>
            <a:xfrm>
              <a:off x="5329529" y="4336796"/>
              <a:ext cx="0" cy="2185670"/>
            </a:xfrm>
            <a:custGeom>
              <a:avLst/>
              <a:gdLst/>
              <a:ahLst/>
              <a:cxnLst/>
              <a:rect l="l" t="t" r="r" b="b"/>
              <a:pathLst>
                <a:path h="2185670">
                  <a:moveTo>
                    <a:pt x="0" y="2185246"/>
                  </a:moveTo>
                  <a:lnTo>
                    <a:pt x="0" y="0"/>
                  </a:lnTo>
                </a:path>
              </a:pathLst>
            </a:custGeom>
            <a:ln w="12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291861" y="4311677"/>
              <a:ext cx="75565" cy="75565"/>
            </a:xfrm>
            <a:custGeom>
              <a:avLst/>
              <a:gdLst/>
              <a:ahLst/>
              <a:cxnLst/>
              <a:rect l="l" t="t" r="r" b="b"/>
              <a:pathLst>
                <a:path w="75564" h="75564">
                  <a:moveTo>
                    <a:pt x="37668" y="0"/>
                  </a:moveTo>
                  <a:lnTo>
                    <a:pt x="0" y="75354"/>
                  </a:lnTo>
                  <a:lnTo>
                    <a:pt x="75336" y="75354"/>
                  </a:lnTo>
                  <a:lnTo>
                    <a:pt x="37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186027" y="1850135"/>
            <a:ext cx="7533640" cy="452120"/>
          </a:xfrm>
          <a:prstGeom prst="rect">
            <a:avLst/>
          </a:prstGeom>
          <a:solidFill>
            <a:srgbClr val="D4FEFF"/>
          </a:solidFill>
        </p:spPr>
        <p:txBody>
          <a:bodyPr vert="horz" wrap="square" lIns="0" tIns="4826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380"/>
              </a:spcBef>
            </a:pPr>
            <a:r>
              <a:rPr sz="2350" dirty="0">
                <a:solidFill>
                  <a:srgbClr val="FF0000"/>
                </a:solidFill>
                <a:latin typeface="Calibri"/>
                <a:cs typeface="Calibri"/>
              </a:rPr>
              <a:t>Bayesian networks </a:t>
            </a:r>
            <a:r>
              <a:rPr sz="2350" spc="-5" dirty="0">
                <a:solidFill>
                  <a:srgbClr val="FF0000"/>
                </a:solidFill>
                <a:latin typeface="Calibri"/>
                <a:cs typeface="Calibri"/>
              </a:rPr>
              <a:t>are </a:t>
            </a:r>
            <a:r>
              <a:rPr sz="2350" dirty="0">
                <a:solidFill>
                  <a:srgbClr val="FF0000"/>
                </a:solidFill>
                <a:latin typeface="Calibri"/>
                <a:cs typeface="Calibri"/>
              </a:rPr>
              <a:t>directed acyclic</a:t>
            </a:r>
            <a:r>
              <a:rPr sz="2350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50" dirty="0">
                <a:solidFill>
                  <a:srgbClr val="FF0000"/>
                </a:solidFill>
                <a:latin typeface="Calibri"/>
                <a:cs typeface="Calibri"/>
              </a:rPr>
              <a:t>graphs.</a:t>
            </a:r>
            <a:endParaRPr sz="2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2776" y="1076681"/>
            <a:ext cx="5392024" cy="49949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150" b="1" spc="-10" dirty="0">
                <a:latin typeface="Calibri"/>
                <a:cs typeface="Calibri"/>
              </a:rPr>
              <a:t>Bayesian </a:t>
            </a:r>
            <a:r>
              <a:rPr sz="3150" b="1" spc="-5" dirty="0">
                <a:latin typeface="Calibri"/>
                <a:cs typeface="Calibri"/>
              </a:rPr>
              <a:t>networks:</a:t>
            </a:r>
            <a:r>
              <a:rPr sz="3150" b="1" spc="-45" dirty="0">
                <a:latin typeface="Calibri"/>
                <a:cs typeface="Calibri"/>
              </a:rPr>
              <a:t> </a:t>
            </a:r>
            <a:r>
              <a:rPr sz="3150" b="1" spc="105" dirty="0">
                <a:latin typeface="Calibri"/>
                <a:cs typeface="Calibri"/>
              </a:rPr>
              <a:t>Nota</a:t>
            </a:r>
            <a:r>
              <a:rPr lang="en-US" sz="3150" b="1" spc="105" dirty="0">
                <a:latin typeface="Calibri"/>
                <a:cs typeface="Calibri"/>
              </a:rPr>
              <a:t>ti</a:t>
            </a:r>
            <a:r>
              <a:rPr sz="3150" b="1" spc="105" dirty="0">
                <a:latin typeface="Calibri"/>
                <a:cs typeface="Calibri"/>
              </a:rPr>
              <a:t>ons</a:t>
            </a:r>
            <a:endParaRPr sz="315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795896" y="4707283"/>
            <a:ext cx="2348230" cy="2122805"/>
            <a:chOff x="4795896" y="4707283"/>
            <a:chExt cx="2348230" cy="2122805"/>
          </a:xfrm>
        </p:grpSpPr>
        <p:sp>
          <p:nvSpPr>
            <p:cNvPr id="4" name="object 4"/>
            <p:cNvSpPr/>
            <p:nvPr/>
          </p:nvSpPr>
          <p:spPr>
            <a:xfrm>
              <a:off x="4802174" y="6295983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4">
                  <a:moveTo>
                    <a:pt x="263677" y="0"/>
                  </a:moveTo>
                  <a:lnTo>
                    <a:pt x="216281" y="4249"/>
                  </a:lnTo>
                  <a:lnTo>
                    <a:pt x="171671" y="16499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3"/>
                  </a:lnTo>
                  <a:lnTo>
                    <a:pt x="16496" y="171710"/>
                  </a:lnTo>
                  <a:lnTo>
                    <a:pt x="4248" y="216329"/>
                  </a:lnTo>
                  <a:lnTo>
                    <a:pt x="0" y="263736"/>
                  </a:lnTo>
                  <a:lnTo>
                    <a:pt x="4248" y="311143"/>
                  </a:lnTo>
                  <a:lnTo>
                    <a:pt x="16496" y="355762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3"/>
                  </a:lnTo>
                  <a:lnTo>
                    <a:pt x="216281" y="523223"/>
                  </a:lnTo>
                  <a:lnTo>
                    <a:pt x="263677" y="527473"/>
                  </a:lnTo>
                  <a:lnTo>
                    <a:pt x="311073" y="523223"/>
                  </a:lnTo>
                  <a:lnTo>
                    <a:pt x="355682" y="510973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2"/>
                  </a:lnTo>
                  <a:lnTo>
                    <a:pt x="523106" y="311143"/>
                  </a:lnTo>
                  <a:lnTo>
                    <a:pt x="527354" y="263736"/>
                  </a:lnTo>
                  <a:lnTo>
                    <a:pt x="523106" y="216329"/>
                  </a:lnTo>
                  <a:lnTo>
                    <a:pt x="510858" y="171710"/>
                  </a:lnTo>
                  <a:lnTo>
                    <a:pt x="491355" y="130623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2" y="16499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02174" y="6295982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4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81547" y="4713563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499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3"/>
                  </a:lnTo>
                  <a:lnTo>
                    <a:pt x="16496" y="171709"/>
                  </a:lnTo>
                  <a:lnTo>
                    <a:pt x="4248" y="216328"/>
                  </a:lnTo>
                  <a:lnTo>
                    <a:pt x="0" y="263735"/>
                  </a:lnTo>
                  <a:lnTo>
                    <a:pt x="4248" y="311143"/>
                  </a:lnTo>
                  <a:lnTo>
                    <a:pt x="16496" y="355762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1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3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2"/>
                  </a:lnTo>
                  <a:lnTo>
                    <a:pt x="523106" y="311143"/>
                  </a:lnTo>
                  <a:lnTo>
                    <a:pt x="527354" y="263735"/>
                  </a:lnTo>
                  <a:lnTo>
                    <a:pt x="523106" y="216328"/>
                  </a:lnTo>
                  <a:lnTo>
                    <a:pt x="510858" y="171709"/>
                  </a:lnTo>
                  <a:lnTo>
                    <a:pt x="491355" y="130623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3" y="16499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81547" y="4713562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178856" y="5241036"/>
              <a:ext cx="678180" cy="1055370"/>
            </a:xfrm>
            <a:custGeom>
              <a:avLst/>
              <a:gdLst/>
              <a:ahLst/>
              <a:cxnLst/>
              <a:rect l="l" t="t" r="r" b="b"/>
              <a:pathLst>
                <a:path w="678179" h="1055370">
                  <a:moveTo>
                    <a:pt x="678027" y="0"/>
                  </a:moveTo>
                  <a:lnTo>
                    <a:pt x="0" y="1054946"/>
                  </a:lnTo>
                </a:path>
              </a:pathLst>
            </a:custGeom>
            <a:ln w="376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58487" y="6118277"/>
              <a:ext cx="181610" cy="209550"/>
            </a:xfrm>
            <a:custGeom>
              <a:avLst/>
              <a:gdLst/>
              <a:ahLst/>
              <a:cxnLst/>
              <a:rect l="l" t="t" r="r" b="b"/>
              <a:pathLst>
                <a:path w="181610" h="209550">
                  <a:moveTo>
                    <a:pt x="22632" y="0"/>
                  </a:moveTo>
                  <a:lnTo>
                    <a:pt x="0" y="209398"/>
                  </a:lnTo>
                  <a:lnTo>
                    <a:pt x="181061" y="101869"/>
                  </a:lnTo>
                  <a:lnTo>
                    <a:pt x="226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58230" y="5241036"/>
              <a:ext cx="678180" cy="979805"/>
            </a:xfrm>
            <a:custGeom>
              <a:avLst/>
              <a:gdLst/>
              <a:ahLst/>
              <a:cxnLst/>
              <a:rect l="l" t="t" r="r" b="b"/>
              <a:pathLst>
                <a:path w="678179" h="979804">
                  <a:moveTo>
                    <a:pt x="0" y="0"/>
                  </a:moveTo>
                  <a:lnTo>
                    <a:pt x="678027" y="979593"/>
                  </a:lnTo>
                </a:path>
              </a:pathLst>
            </a:custGeom>
            <a:ln w="376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610248" y="6295983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4">
                  <a:moveTo>
                    <a:pt x="263677" y="0"/>
                  </a:moveTo>
                  <a:lnTo>
                    <a:pt x="216281" y="4249"/>
                  </a:lnTo>
                  <a:lnTo>
                    <a:pt x="171671" y="16499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3"/>
                  </a:lnTo>
                  <a:lnTo>
                    <a:pt x="16496" y="171710"/>
                  </a:lnTo>
                  <a:lnTo>
                    <a:pt x="4248" y="216329"/>
                  </a:lnTo>
                  <a:lnTo>
                    <a:pt x="0" y="263736"/>
                  </a:lnTo>
                  <a:lnTo>
                    <a:pt x="4248" y="311143"/>
                  </a:lnTo>
                  <a:lnTo>
                    <a:pt x="16496" y="355762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3"/>
                  </a:lnTo>
                  <a:lnTo>
                    <a:pt x="216281" y="523223"/>
                  </a:lnTo>
                  <a:lnTo>
                    <a:pt x="263677" y="527473"/>
                  </a:lnTo>
                  <a:lnTo>
                    <a:pt x="311073" y="523223"/>
                  </a:lnTo>
                  <a:lnTo>
                    <a:pt x="355683" y="510973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2"/>
                  </a:lnTo>
                  <a:lnTo>
                    <a:pt x="523106" y="311143"/>
                  </a:lnTo>
                  <a:lnTo>
                    <a:pt x="527354" y="263736"/>
                  </a:lnTo>
                  <a:lnTo>
                    <a:pt x="523106" y="216329"/>
                  </a:lnTo>
                  <a:lnTo>
                    <a:pt x="510858" y="171710"/>
                  </a:lnTo>
                  <a:lnTo>
                    <a:pt x="491355" y="130623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3" y="16499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610248" y="6295982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4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3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3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673067" y="6043104"/>
              <a:ext cx="184785" cy="208915"/>
            </a:xfrm>
            <a:custGeom>
              <a:avLst/>
              <a:gdLst/>
              <a:ahLst/>
              <a:cxnLst/>
              <a:rect l="l" t="t" r="r" b="b"/>
              <a:pathLst>
                <a:path w="184784" h="208914">
                  <a:moveTo>
                    <a:pt x="154852" y="0"/>
                  </a:moveTo>
                  <a:lnTo>
                    <a:pt x="0" y="107229"/>
                  </a:lnTo>
                  <a:lnTo>
                    <a:pt x="184631" y="208502"/>
                  </a:lnTo>
                  <a:lnTo>
                    <a:pt x="1548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859251" y="4821427"/>
            <a:ext cx="26670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10" dirty="0">
                <a:latin typeface="Calibri"/>
                <a:cs typeface="Calibri"/>
              </a:rPr>
              <a:t>Lo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55214" y="6403847"/>
            <a:ext cx="19367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5" dirty="0">
                <a:latin typeface="Calibri"/>
                <a:cs typeface="Calibri"/>
              </a:rPr>
              <a:t>Li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63288" y="6403847"/>
            <a:ext cx="14414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10" dirty="0">
                <a:latin typeface="Calibri"/>
                <a:cs typeface="Calibri"/>
              </a:rPr>
              <a:t>S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39067" y="2108709"/>
            <a:ext cx="6449060" cy="24066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3600"/>
              </a:lnSpc>
              <a:spcBef>
                <a:spcPts val="55"/>
              </a:spcBef>
            </a:pPr>
            <a:r>
              <a:rPr sz="1750" spc="10" dirty="0">
                <a:latin typeface="Calibri"/>
                <a:cs typeface="Calibri"/>
              </a:rPr>
              <a:t>The </a:t>
            </a:r>
            <a:r>
              <a:rPr sz="1750" spc="5" dirty="0">
                <a:latin typeface="Calibri"/>
                <a:cs typeface="Calibri"/>
              </a:rPr>
              <a:t>Bayesian network </a:t>
            </a:r>
            <a:r>
              <a:rPr sz="1750" spc="10" dirty="0">
                <a:latin typeface="Calibri"/>
                <a:cs typeface="Calibri"/>
              </a:rPr>
              <a:t>below </a:t>
            </a:r>
            <a:r>
              <a:rPr sz="1750" spc="5" dirty="0">
                <a:latin typeface="Calibri"/>
                <a:cs typeface="Calibri"/>
              </a:rPr>
              <a:t>represents </a:t>
            </a:r>
            <a:r>
              <a:rPr sz="1750" spc="10" dirty="0">
                <a:latin typeface="Calibri"/>
                <a:cs typeface="Calibri"/>
              </a:rPr>
              <a:t>the </a:t>
            </a:r>
            <a:r>
              <a:rPr sz="1750" spc="5" dirty="0">
                <a:latin typeface="Calibri"/>
                <a:cs typeface="Calibri"/>
              </a:rPr>
              <a:t>following joint probability  </a:t>
            </a:r>
            <a:r>
              <a:rPr sz="1750" spc="-5" dirty="0">
                <a:latin typeface="Calibri"/>
                <a:cs typeface="Calibri"/>
              </a:rPr>
              <a:t>distribu</a:t>
            </a:r>
            <a:r>
              <a:rPr lang="en-US" sz="1750" spc="-5" dirty="0">
                <a:latin typeface="Calibri"/>
                <a:cs typeface="Calibri"/>
              </a:rPr>
              <a:t>ti</a:t>
            </a:r>
            <a:r>
              <a:rPr sz="1750" spc="-5" dirty="0">
                <a:latin typeface="Calibri"/>
                <a:cs typeface="Calibri"/>
              </a:rPr>
              <a:t>on:</a:t>
            </a:r>
            <a:endParaRPr sz="1750" dirty="0">
              <a:latin typeface="Calibri"/>
              <a:cs typeface="Calibri"/>
            </a:endParaRPr>
          </a:p>
          <a:p>
            <a:pPr marL="224790" algn="ctr">
              <a:lnSpc>
                <a:spcPct val="100000"/>
              </a:lnSpc>
              <a:spcBef>
                <a:spcPts val="315"/>
              </a:spcBef>
            </a:pPr>
            <a:r>
              <a:rPr sz="2250" i="1" spc="-140" dirty="0">
                <a:latin typeface="Times New Roman"/>
                <a:cs typeface="Times New Roman"/>
              </a:rPr>
              <a:t>p</a:t>
            </a:r>
            <a:r>
              <a:rPr sz="2250" spc="-140" dirty="0">
                <a:latin typeface="Times New Roman"/>
                <a:cs typeface="Times New Roman"/>
              </a:rPr>
              <a:t>(</a:t>
            </a:r>
            <a:r>
              <a:rPr sz="2250" i="1" spc="-140" dirty="0">
                <a:latin typeface="Times New Roman"/>
                <a:cs typeface="Times New Roman"/>
              </a:rPr>
              <a:t>Lo</a:t>
            </a:r>
            <a:r>
              <a:rPr sz="2250" spc="-140" dirty="0">
                <a:latin typeface="Times New Roman"/>
                <a:cs typeface="Times New Roman"/>
              </a:rPr>
              <a:t>,</a:t>
            </a:r>
            <a:r>
              <a:rPr sz="2250" i="1" spc="-140" dirty="0">
                <a:latin typeface="Times New Roman"/>
                <a:cs typeface="Times New Roman"/>
              </a:rPr>
              <a:t>Li</a:t>
            </a:r>
            <a:r>
              <a:rPr sz="2250" spc="-140" dirty="0">
                <a:latin typeface="Times New Roman"/>
                <a:cs typeface="Times New Roman"/>
              </a:rPr>
              <a:t>,</a:t>
            </a:r>
            <a:r>
              <a:rPr sz="2250" i="1" spc="-140" dirty="0">
                <a:latin typeface="Times New Roman"/>
                <a:cs typeface="Times New Roman"/>
              </a:rPr>
              <a:t>S</a:t>
            </a:r>
            <a:r>
              <a:rPr sz="2250" spc="-140" dirty="0">
                <a:latin typeface="Times New Roman"/>
                <a:cs typeface="Times New Roman"/>
              </a:rPr>
              <a:t>) </a:t>
            </a:r>
            <a:r>
              <a:rPr sz="2250" spc="-225" dirty="0">
                <a:latin typeface="Symbol"/>
                <a:cs typeface="Symbol"/>
              </a:rPr>
              <a:t></a:t>
            </a:r>
            <a:r>
              <a:rPr sz="2250" spc="-225" dirty="0">
                <a:latin typeface="Times New Roman"/>
                <a:cs typeface="Times New Roman"/>
              </a:rPr>
              <a:t> </a:t>
            </a:r>
            <a:r>
              <a:rPr sz="2250" i="1" spc="-145" dirty="0">
                <a:latin typeface="Times New Roman"/>
                <a:cs typeface="Times New Roman"/>
              </a:rPr>
              <a:t>P</a:t>
            </a:r>
            <a:r>
              <a:rPr sz="2250" spc="-145" dirty="0">
                <a:latin typeface="Times New Roman"/>
                <a:cs typeface="Times New Roman"/>
              </a:rPr>
              <a:t>(</a:t>
            </a:r>
            <a:r>
              <a:rPr sz="2250" i="1" spc="-145" dirty="0">
                <a:latin typeface="Times New Roman"/>
                <a:cs typeface="Times New Roman"/>
              </a:rPr>
              <a:t>Lo</a:t>
            </a:r>
            <a:r>
              <a:rPr sz="2250" spc="-145" dirty="0">
                <a:latin typeface="Times New Roman"/>
                <a:cs typeface="Times New Roman"/>
              </a:rPr>
              <a:t>)</a:t>
            </a:r>
            <a:r>
              <a:rPr sz="2250" i="1" spc="-145" dirty="0">
                <a:latin typeface="Times New Roman"/>
                <a:cs typeface="Times New Roman"/>
              </a:rPr>
              <a:t>P</a:t>
            </a:r>
            <a:r>
              <a:rPr sz="2250" spc="-145" dirty="0">
                <a:latin typeface="Times New Roman"/>
                <a:cs typeface="Times New Roman"/>
              </a:rPr>
              <a:t>(</a:t>
            </a:r>
            <a:r>
              <a:rPr sz="2250" i="1" spc="-145" dirty="0">
                <a:latin typeface="Times New Roman"/>
                <a:cs typeface="Times New Roman"/>
              </a:rPr>
              <a:t>Li </a:t>
            </a:r>
            <a:r>
              <a:rPr sz="2250" spc="-85" dirty="0">
                <a:latin typeface="Times New Roman"/>
                <a:cs typeface="Times New Roman"/>
              </a:rPr>
              <a:t>| </a:t>
            </a:r>
            <a:r>
              <a:rPr sz="2250" i="1" spc="-160" dirty="0">
                <a:latin typeface="Times New Roman"/>
                <a:cs typeface="Times New Roman"/>
              </a:rPr>
              <a:t>Lo</a:t>
            </a:r>
            <a:r>
              <a:rPr sz="2250" spc="-160" dirty="0">
                <a:latin typeface="Times New Roman"/>
                <a:cs typeface="Times New Roman"/>
              </a:rPr>
              <a:t>)</a:t>
            </a:r>
            <a:r>
              <a:rPr sz="2250" i="1" spc="-160" dirty="0">
                <a:latin typeface="Times New Roman"/>
                <a:cs typeface="Times New Roman"/>
              </a:rPr>
              <a:t>P</a:t>
            </a:r>
            <a:r>
              <a:rPr sz="2250" spc="-160" dirty="0">
                <a:latin typeface="Times New Roman"/>
                <a:cs typeface="Times New Roman"/>
              </a:rPr>
              <a:t>(</a:t>
            </a:r>
            <a:r>
              <a:rPr sz="2250" i="1" spc="-160" dirty="0">
                <a:latin typeface="Times New Roman"/>
                <a:cs typeface="Times New Roman"/>
              </a:rPr>
              <a:t>S </a:t>
            </a:r>
            <a:r>
              <a:rPr sz="2250" spc="-85" dirty="0">
                <a:latin typeface="Times New Roman"/>
                <a:cs typeface="Times New Roman"/>
              </a:rPr>
              <a:t>|</a:t>
            </a:r>
            <a:r>
              <a:rPr sz="2250" spc="-215" dirty="0">
                <a:latin typeface="Times New Roman"/>
                <a:cs typeface="Times New Roman"/>
              </a:rPr>
              <a:t> </a:t>
            </a:r>
            <a:r>
              <a:rPr sz="2250" i="1" spc="-190" dirty="0">
                <a:latin typeface="Times New Roman"/>
                <a:cs typeface="Times New Roman"/>
              </a:rPr>
              <a:t>Lo</a:t>
            </a:r>
            <a:r>
              <a:rPr sz="2250" spc="-190" dirty="0">
                <a:latin typeface="Times New Roman"/>
                <a:cs typeface="Times New Roman"/>
              </a:rPr>
              <a:t>)</a:t>
            </a:r>
            <a:endParaRPr sz="2250" dirty="0">
              <a:latin typeface="Times New Roman"/>
              <a:cs typeface="Times New Roman"/>
            </a:endParaRPr>
          </a:p>
          <a:p>
            <a:pPr marL="87630" marR="628015">
              <a:lnSpc>
                <a:spcPct val="103600"/>
              </a:lnSpc>
              <a:spcBef>
                <a:spcPts val="1530"/>
              </a:spcBef>
            </a:pPr>
            <a:r>
              <a:rPr sz="1750" spc="10" dirty="0">
                <a:latin typeface="Calibri"/>
                <a:cs typeface="Calibri"/>
              </a:rPr>
              <a:t>More </a:t>
            </a:r>
            <a:r>
              <a:rPr sz="1750" spc="5" dirty="0">
                <a:latin typeface="Calibri"/>
                <a:cs typeface="Calibri"/>
              </a:rPr>
              <a:t>generally Bayesian network represent </a:t>
            </a:r>
            <a:r>
              <a:rPr sz="1750" spc="10" dirty="0">
                <a:latin typeface="Calibri"/>
                <a:cs typeface="Calibri"/>
              </a:rPr>
              <a:t>the </a:t>
            </a:r>
            <a:r>
              <a:rPr sz="1750" spc="5" dirty="0">
                <a:latin typeface="Calibri"/>
                <a:cs typeface="Calibri"/>
              </a:rPr>
              <a:t>following joint  probability </a:t>
            </a:r>
            <a:r>
              <a:rPr sz="1750" spc="-5" dirty="0">
                <a:latin typeface="Calibri"/>
                <a:cs typeface="Calibri"/>
              </a:rPr>
              <a:t>distribu</a:t>
            </a:r>
            <a:r>
              <a:rPr lang="en-US" sz="1750" spc="-5" dirty="0">
                <a:latin typeface="Calibri"/>
                <a:cs typeface="Calibri"/>
              </a:rPr>
              <a:t>ti</a:t>
            </a:r>
            <a:r>
              <a:rPr sz="1750" spc="-5" dirty="0">
                <a:latin typeface="Calibri"/>
                <a:cs typeface="Calibri"/>
              </a:rPr>
              <a:t>on:</a:t>
            </a:r>
            <a:endParaRPr sz="17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800" dirty="0">
              <a:latin typeface="Calibri"/>
              <a:cs typeface="Calibri"/>
            </a:endParaRPr>
          </a:p>
          <a:p>
            <a:pPr marL="3930015">
              <a:lnSpc>
                <a:spcPct val="100000"/>
              </a:lnSpc>
            </a:pPr>
            <a:r>
              <a:rPr sz="1750" spc="10" dirty="0">
                <a:latin typeface="Calibri"/>
                <a:cs typeface="Calibri"/>
              </a:rPr>
              <a:t>P(Lo) =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0.5</a:t>
            </a:r>
            <a:endParaRPr sz="175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70459" y="6112480"/>
            <a:ext cx="1508760" cy="849630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1750" spc="10" dirty="0">
                <a:latin typeface="Calibri"/>
                <a:cs typeface="Calibri"/>
              </a:rPr>
              <a:t>P(Li | Lo) =</a:t>
            </a:r>
            <a:r>
              <a:rPr sz="1750" spc="-50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0.4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750" spc="10" dirty="0">
                <a:latin typeface="Calibri"/>
                <a:cs typeface="Calibri"/>
              </a:rPr>
              <a:t>P(Li | </a:t>
            </a:r>
            <a:r>
              <a:rPr sz="1750" spc="10" dirty="0">
                <a:latin typeface="Symbol"/>
                <a:cs typeface="Symbol"/>
              </a:rPr>
              <a:t></a:t>
            </a:r>
            <a:r>
              <a:rPr sz="1750" spc="10" dirty="0">
                <a:latin typeface="Calibri"/>
                <a:cs typeface="Calibri"/>
              </a:rPr>
              <a:t>Lo) =</a:t>
            </a:r>
            <a:r>
              <a:rPr sz="1750" spc="-75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0.7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90641" y="6037128"/>
            <a:ext cx="1465580" cy="8496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54500"/>
              </a:lnSpc>
              <a:spcBef>
                <a:spcPts val="90"/>
              </a:spcBef>
            </a:pPr>
            <a:r>
              <a:rPr sz="1750" spc="10" dirty="0">
                <a:latin typeface="Calibri"/>
                <a:cs typeface="Calibri"/>
              </a:rPr>
              <a:t>P(S | Lo) = </a:t>
            </a:r>
            <a:r>
              <a:rPr sz="1750" spc="5" dirty="0">
                <a:latin typeface="Calibri"/>
                <a:cs typeface="Calibri"/>
              </a:rPr>
              <a:t>0.6  </a:t>
            </a:r>
            <a:r>
              <a:rPr sz="1750" spc="10" dirty="0">
                <a:latin typeface="Calibri"/>
                <a:cs typeface="Calibri"/>
              </a:rPr>
              <a:t>P(S | </a:t>
            </a:r>
            <a:r>
              <a:rPr sz="1750" spc="10" dirty="0">
                <a:latin typeface="Symbol"/>
                <a:cs typeface="Symbol"/>
              </a:rPr>
              <a:t></a:t>
            </a:r>
            <a:r>
              <a:rPr sz="1750" spc="10" dirty="0">
                <a:latin typeface="Calibri"/>
                <a:cs typeface="Calibri"/>
              </a:rPr>
              <a:t>Lo) =</a:t>
            </a:r>
            <a:r>
              <a:rPr sz="1750" spc="-75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0.2</a:t>
            </a:r>
            <a:endParaRPr sz="17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613659" y="4003156"/>
            <a:ext cx="474345" cy="270510"/>
            <a:chOff x="1613659" y="4003156"/>
            <a:chExt cx="474345" cy="27051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3659" y="4003156"/>
              <a:ext cx="249626" cy="25822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0610" y="4069991"/>
              <a:ext cx="197347" cy="203544"/>
            </a:xfrm>
            <a:prstGeom prst="rect">
              <a:avLst/>
            </a:prstGeom>
          </p:spPr>
        </p:pic>
      </p:grpSp>
      <p:sp>
        <p:nvSpPr>
          <p:cNvPr id="23" name="object 23"/>
          <p:cNvSpPr/>
          <p:nvPr/>
        </p:nvSpPr>
        <p:spPr>
          <a:xfrm>
            <a:off x="2155939" y="4167207"/>
            <a:ext cx="226695" cy="33655"/>
          </a:xfrm>
          <a:custGeom>
            <a:avLst/>
            <a:gdLst/>
            <a:ahLst/>
            <a:cxnLst/>
            <a:rect l="l" t="t" r="r" b="b"/>
            <a:pathLst>
              <a:path w="226694" h="33654">
                <a:moveTo>
                  <a:pt x="215880" y="0"/>
                </a:moveTo>
                <a:lnTo>
                  <a:pt x="205000" y="0"/>
                </a:lnTo>
                <a:lnTo>
                  <a:pt x="200914" y="1739"/>
                </a:lnTo>
                <a:lnTo>
                  <a:pt x="195441" y="8702"/>
                </a:lnTo>
                <a:lnTo>
                  <a:pt x="194073" y="12531"/>
                </a:lnTo>
                <a:lnTo>
                  <a:pt x="194073" y="20885"/>
                </a:lnTo>
                <a:lnTo>
                  <a:pt x="195441" y="24715"/>
                </a:lnTo>
                <a:lnTo>
                  <a:pt x="200914" y="31676"/>
                </a:lnTo>
                <a:lnTo>
                  <a:pt x="205000" y="33417"/>
                </a:lnTo>
                <a:lnTo>
                  <a:pt x="215880" y="33417"/>
                </a:lnTo>
                <a:lnTo>
                  <a:pt x="219905" y="31676"/>
                </a:lnTo>
                <a:lnTo>
                  <a:pt x="225122" y="24715"/>
                </a:lnTo>
                <a:lnTo>
                  <a:pt x="226428" y="20885"/>
                </a:lnTo>
                <a:lnTo>
                  <a:pt x="226428" y="12531"/>
                </a:lnTo>
                <a:lnTo>
                  <a:pt x="225122" y="8702"/>
                </a:lnTo>
                <a:lnTo>
                  <a:pt x="219905" y="1739"/>
                </a:lnTo>
                <a:lnTo>
                  <a:pt x="215880" y="0"/>
                </a:lnTo>
                <a:close/>
              </a:path>
              <a:path w="226694" h="33654">
                <a:moveTo>
                  <a:pt x="118819" y="0"/>
                </a:moveTo>
                <a:lnTo>
                  <a:pt x="107939" y="0"/>
                </a:lnTo>
                <a:lnTo>
                  <a:pt x="103860" y="1739"/>
                </a:lnTo>
                <a:lnTo>
                  <a:pt x="98421" y="8702"/>
                </a:lnTo>
                <a:lnTo>
                  <a:pt x="97061" y="12531"/>
                </a:lnTo>
                <a:lnTo>
                  <a:pt x="97061" y="20885"/>
                </a:lnTo>
                <a:lnTo>
                  <a:pt x="98421" y="24715"/>
                </a:lnTo>
                <a:lnTo>
                  <a:pt x="103860" y="31676"/>
                </a:lnTo>
                <a:lnTo>
                  <a:pt x="107939" y="33417"/>
                </a:lnTo>
                <a:lnTo>
                  <a:pt x="118819" y="33417"/>
                </a:lnTo>
                <a:lnTo>
                  <a:pt x="122852" y="31676"/>
                </a:lnTo>
                <a:lnTo>
                  <a:pt x="128102" y="24715"/>
                </a:lnTo>
                <a:lnTo>
                  <a:pt x="129414" y="20885"/>
                </a:lnTo>
                <a:lnTo>
                  <a:pt x="129414" y="12531"/>
                </a:lnTo>
                <a:lnTo>
                  <a:pt x="128102" y="8702"/>
                </a:lnTo>
                <a:lnTo>
                  <a:pt x="122852" y="1739"/>
                </a:lnTo>
                <a:lnTo>
                  <a:pt x="118819" y="0"/>
                </a:lnTo>
                <a:close/>
              </a:path>
              <a:path w="226694" h="33654">
                <a:moveTo>
                  <a:pt x="21758" y="0"/>
                </a:moveTo>
                <a:lnTo>
                  <a:pt x="10878" y="0"/>
                </a:lnTo>
                <a:lnTo>
                  <a:pt x="6799" y="1739"/>
                </a:lnTo>
                <a:lnTo>
                  <a:pt x="1360" y="8702"/>
                </a:lnTo>
                <a:lnTo>
                  <a:pt x="0" y="12531"/>
                </a:lnTo>
                <a:lnTo>
                  <a:pt x="0" y="20885"/>
                </a:lnTo>
                <a:lnTo>
                  <a:pt x="1360" y="24715"/>
                </a:lnTo>
                <a:lnTo>
                  <a:pt x="6799" y="31676"/>
                </a:lnTo>
                <a:lnTo>
                  <a:pt x="10878" y="33417"/>
                </a:lnTo>
                <a:lnTo>
                  <a:pt x="21758" y="33417"/>
                </a:lnTo>
                <a:lnTo>
                  <a:pt x="25791" y="31676"/>
                </a:lnTo>
                <a:lnTo>
                  <a:pt x="31041" y="24715"/>
                </a:lnTo>
                <a:lnTo>
                  <a:pt x="32353" y="20885"/>
                </a:lnTo>
                <a:lnTo>
                  <a:pt x="32353" y="12531"/>
                </a:lnTo>
                <a:lnTo>
                  <a:pt x="31041" y="8702"/>
                </a:lnTo>
                <a:lnTo>
                  <a:pt x="25791" y="1739"/>
                </a:lnTo>
                <a:lnTo>
                  <a:pt x="217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880385" y="4103420"/>
            <a:ext cx="137160" cy="60960"/>
          </a:xfrm>
          <a:custGeom>
            <a:avLst/>
            <a:gdLst/>
            <a:ahLst/>
            <a:cxnLst/>
            <a:rect l="l" t="t" r="r" b="b"/>
            <a:pathLst>
              <a:path w="137160" h="60960">
                <a:moveTo>
                  <a:pt x="136626" y="39484"/>
                </a:moveTo>
                <a:lnTo>
                  <a:pt x="0" y="39484"/>
                </a:lnTo>
                <a:lnTo>
                  <a:pt x="0" y="60756"/>
                </a:lnTo>
                <a:lnTo>
                  <a:pt x="136626" y="60756"/>
                </a:lnTo>
                <a:lnTo>
                  <a:pt x="136626" y="39484"/>
                </a:lnTo>
                <a:close/>
              </a:path>
              <a:path w="137160" h="60960">
                <a:moveTo>
                  <a:pt x="136626" y="0"/>
                </a:moveTo>
                <a:lnTo>
                  <a:pt x="0" y="0"/>
                </a:lnTo>
                <a:lnTo>
                  <a:pt x="0" y="21259"/>
                </a:lnTo>
                <a:lnTo>
                  <a:pt x="136626" y="21259"/>
                </a:lnTo>
                <a:lnTo>
                  <a:pt x="1366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061436" y="4000119"/>
            <a:ext cx="15240" cy="200660"/>
          </a:xfrm>
          <a:custGeom>
            <a:avLst/>
            <a:gdLst/>
            <a:ahLst/>
            <a:cxnLst/>
            <a:rect l="l" t="t" r="r" b="b"/>
            <a:pathLst>
              <a:path w="15239" h="200660">
                <a:moveTo>
                  <a:pt x="15180" y="0"/>
                </a:moveTo>
                <a:lnTo>
                  <a:pt x="0" y="0"/>
                </a:lnTo>
                <a:lnTo>
                  <a:pt x="0" y="200506"/>
                </a:lnTo>
                <a:lnTo>
                  <a:pt x="15180" y="200506"/>
                </a:lnTo>
                <a:lnTo>
                  <a:pt x="151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object 26"/>
          <p:cNvGrpSpPr/>
          <p:nvPr/>
        </p:nvGrpSpPr>
        <p:grpSpPr>
          <a:xfrm>
            <a:off x="1261363" y="3917950"/>
            <a:ext cx="3729354" cy="1505585"/>
            <a:chOff x="1261363" y="3917950"/>
            <a:chExt cx="3729354" cy="1505585"/>
          </a:xfrm>
        </p:grpSpPr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37112" y="4069991"/>
              <a:ext cx="236818" cy="20354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19471" y="4003156"/>
              <a:ext cx="72867" cy="24911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77837" y="4069991"/>
              <a:ext cx="158541" cy="19139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57633" y="4003156"/>
              <a:ext cx="72867" cy="24911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54789" y="4069991"/>
              <a:ext cx="139660" cy="133671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919156" y="4009237"/>
              <a:ext cx="551180" cy="264795"/>
            </a:xfrm>
            <a:custGeom>
              <a:avLst/>
              <a:gdLst/>
              <a:ahLst/>
              <a:cxnLst/>
              <a:rect l="l" t="t" r="r" b="b"/>
              <a:pathLst>
                <a:path w="551179" h="264795">
                  <a:moveTo>
                    <a:pt x="32969" y="243992"/>
                  </a:moveTo>
                  <a:lnTo>
                    <a:pt x="31407" y="242138"/>
                  </a:lnTo>
                  <a:lnTo>
                    <a:pt x="28435" y="245706"/>
                  </a:lnTo>
                  <a:lnTo>
                    <a:pt x="25920" y="248450"/>
                  </a:lnTo>
                  <a:lnTo>
                    <a:pt x="20320" y="253593"/>
                  </a:lnTo>
                  <a:lnTo>
                    <a:pt x="17538" y="255193"/>
                  </a:lnTo>
                  <a:lnTo>
                    <a:pt x="14224" y="255193"/>
                  </a:lnTo>
                  <a:lnTo>
                    <a:pt x="13474" y="254863"/>
                  </a:lnTo>
                  <a:lnTo>
                    <a:pt x="13195" y="254190"/>
                  </a:lnTo>
                  <a:lnTo>
                    <a:pt x="12877" y="253593"/>
                  </a:lnTo>
                  <a:lnTo>
                    <a:pt x="12839" y="253415"/>
                  </a:lnTo>
                  <a:lnTo>
                    <a:pt x="12776" y="251193"/>
                  </a:lnTo>
                  <a:lnTo>
                    <a:pt x="13093" y="249605"/>
                  </a:lnTo>
                  <a:lnTo>
                    <a:pt x="13855" y="246507"/>
                  </a:lnTo>
                  <a:lnTo>
                    <a:pt x="29705" y="189268"/>
                  </a:lnTo>
                  <a:lnTo>
                    <a:pt x="29641" y="188836"/>
                  </a:lnTo>
                  <a:lnTo>
                    <a:pt x="29044" y="188455"/>
                  </a:lnTo>
                  <a:lnTo>
                    <a:pt x="27736" y="188531"/>
                  </a:lnTo>
                  <a:lnTo>
                    <a:pt x="23126" y="189268"/>
                  </a:lnTo>
                  <a:lnTo>
                    <a:pt x="20688" y="189611"/>
                  </a:lnTo>
                  <a:lnTo>
                    <a:pt x="18122" y="189915"/>
                  </a:lnTo>
                  <a:lnTo>
                    <a:pt x="16129" y="190144"/>
                  </a:lnTo>
                  <a:lnTo>
                    <a:pt x="10274" y="190728"/>
                  </a:lnTo>
                  <a:lnTo>
                    <a:pt x="2616" y="191389"/>
                  </a:lnTo>
                  <a:lnTo>
                    <a:pt x="2616" y="194437"/>
                  </a:lnTo>
                  <a:lnTo>
                    <a:pt x="7289" y="194437"/>
                  </a:lnTo>
                  <a:lnTo>
                    <a:pt x="10414" y="194665"/>
                  </a:lnTo>
                  <a:lnTo>
                    <a:pt x="13550" y="195580"/>
                  </a:lnTo>
                  <a:lnTo>
                    <a:pt x="14325" y="196786"/>
                  </a:lnTo>
                  <a:lnTo>
                    <a:pt x="14274" y="199821"/>
                  </a:lnTo>
                  <a:lnTo>
                    <a:pt x="13766" y="202171"/>
                  </a:lnTo>
                  <a:lnTo>
                    <a:pt x="914" y="248450"/>
                  </a:lnTo>
                  <a:lnTo>
                    <a:pt x="558" y="249910"/>
                  </a:lnTo>
                  <a:lnTo>
                    <a:pt x="114" y="252120"/>
                  </a:lnTo>
                  <a:lnTo>
                    <a:pt x="0" y="257441"/>
                  </a:lnTo>
                  <a:lnTo>
                    <a:pt x="812" y="259638"/>
                  </a:lnTo>
                  <a:lnTo>
                    <a:pt x="4038" y="263372"/>
                  </a:lnTo>
                  <a:lnTo>
                    <a:pt x="6070" y="264299"/>
                  </a:lnTo>
                  <a:lnTo>
                    <a:pt x="12712" y="264299"/>
                  </a:lnTo>
                  <a:lnTo>
                    <a:pt x="17018" y="262242"/>
                  </a:lnTo>
                  <a:lnTo>
                    <a:pt x="24257" y="255511"/>
                  </a:lnTo>
                  <a:lnTo>
                    <a:pt x="24523" y="255193"/>
                  </a:lnTo>
                  <a:lnTo>
                    <a:pt x="27813" y="251193"/>
                  </a:lnTo>
                  <a:lnTo>
                    <a:pt x="32969" y="243992"/>
                  </a:lnTo>
                  <a:close/>
                </a:path>
                <a:path w="551179" h="264795">
                  <a:moveTo>
                    <a:pt x="36004" y="160464"/>
                  </a:moveTo>
                  <a:lnTo>
                    <a:pt x="35255" y="158661"/>
                  </a:lnTo>
                  <a:lnTo>
                    <a:pt x="32258" y="155676"/>
                  </a:lnTo>
                  <a:lnTo>
                    <a:pt x="30454" y="154940"/>
                  </a:lnTo>
                  <a:lnTo>
                    <a:pt x="26289" y="154940"/>
                  </a:lnTo>
                  <a:lnTo>
                    <a:pt x="24511" y="155676"/>
                  </a:lnTo>
                  <a:lnTo>
                    <a:pt x="21564" y="158661"/>
                  </a:lnTo>
                  <a:lnTo>
                    <a:pt x="20828" y="160464"/>
                  </a:lnTo>
                  <a:lnTo>
                    <a:pt x="20853" y="164706"/>
                  </a:lnTo>
                  <a:lnTo>
                    <a:pt x="21564" y="166408"/>
                  </a:lnTo>
                  <a:lnTo>
                    <a:pt x="24511" y="169379"/>
                  </a:lnTo>
                  <a:lnTo>
                    <a:pt x="26289" y="170129"/>
                  </a:lnTo>
                  <a:lnTo>
                    <a:pt x="30454" y="170129"/>
                  </a:lnTo>
                  <a:lnTo>
                    <a:pt x="32270" y="169379"/>
                  </a:lnTo>
                  <a:lnTo>
                    <a:pt x="35255" y="166484"/>
                  </a:lnTo>
                  <a:lnTo>
                    <a:pt x="36004" y="164706"/>
                  </a:lnTo>
                  <a:lnTo>
                    <a:pt x="36004" y="160464"/>
                  </a:lnTo>
                  <a:close/>
                </a:path>
                <a:path w="551179" h="264795">
                  <a:moveTo>
                    <a:pt x="409448" y="44005"/>
                  </a:moveTo>
                  <a:lnTo>
                    <a:pt x="407847" y="31026"/>
                  </a:lnTo>
                  <a:lnTo>
                    <a:pt x="403047" y="20281"/>
                  </a:lnTo>
                  <a:lnTo>
                    <a:pt x="395046" y="11772"/>
                  </a:lnTo>
                  <a:lnTo>
                    <a:pt x="390283" y="9118"/>
                  </a:lnTo>
                  <a:lnTo>
                    <a:pt x="383832" y="5511"/>
                  </a:lnTo>
                  <a:lnTo>
                    <a:pt x="382130" y="4953"/>
                  </a:lnTo>
                  <a:lnTo>
                    <a:pt x="382130" y="42811"/>
                  </a:lnTo>
                  <a:lnTo>
                    <a:pt x="380669" y="57124"/>
                  </a:lnTo>
                  <a:lnTo>
                    <a:pt x="351993" y="87744"/>
                  </a:lnTo>
                  <a:lnTo>
                    <a:pt x="324256" y="91135"/>
                  </a:lnTo>
                  <a:lnTo>
                    <a:pt x="319976" y="91135"/>
                  </a:lnTo>
                  <a:lnTo>
                    <a:pt x="316509" y="90995"/>
                  </a:lnTo>
                  <a:lnTo>
                    <a:pt x="311162" y="90424"/>
                  </a:lnTo>
                  <a:lnTo>
                    <a:pt x="308914" y="90093"/>
                  </a:lnTo>
                  <a:lnTo>
                    <a:pt x="307073" y="89712"/>
                  </a:lnTo>
                  <a:lnTo>
                    <a:pt x="326720" y="17043"/>
                  </a:lnTo>
                  <a:lnTo>
                    <a:pt x="327825" y="13500"/>
                  </a:lnTo>
                  <a:lnTo>
                    <a:pt x="329590" y="11290"/>
                  </a:lnTo>
                  <a:lnTo>
                    <a:pt x="334429" y="9550"/>
                  </a:lnTo>
                  <a:lnTo>
                    <a:pt x="338023" y="9118"/>
                  </a:lnTo>
                  <a:lnTo>
                    <a:pt x="342798" y="9118"/>
                  </a:lnTo>
                  <a:lnTo>
                    <a:pt x="379450" y="27038"/>
                  </a:lnTo>
                  <a:lnTo>
                    <a:pt x="382130" y="42811"/>
                  </a:lnTo>
                  <a:lnTo>
                    <a:pt x="382130" y="4953"/>
                  </a:lnTo>
                  <a:lnTo>
                    <a:pt x="376516" y="3098"/>
                  </a:lnTo>
                  <a:lnTo>
                    <a:pt x="368109" y="1384"/>
                  </a:lnTo>
                  <a:lnTo>
                    <a:pt x="358622" y="342"/>
                  </a:lnTo>
                  <a:lnTo>
                    <a:pt x="348068" y="0"/>
                  </a:lnTo>
                  <a:lnTo>
                    <a:pt x="276390" y="0"/>
                  </a:lnTo>
                  <a:lnTo>
                    <a:pt x="276390" y="3035"/>
                  </a:lnTo>
                  <a:lnTo>
                    <a:pt x="283972" y="3543"/>
                  </a:lnTo>
                  <a:lnTo>
                    <a:pt x="289331" y="4711"/>
                  </a:lnTo>
                  <a:lnTo>
                    <a:pt x="295605" y="8343"/>
                  </a:lnTo>
                  <a:lnTo>
                    <a:pt x="296976" y="11290"/>
                  </a:lnTo>
                  <a:lnTo>
                    <a:pt x="297091" y="18478"/>
                  </a:lnTo>
                  <a:lnTo>
                    <a:pt x="296748" y="21196"/>
                  </a:lnTo>
                  <a:lnTo>
                    <a:pt x="296595" y="22123"/>
                  </a:lnTo>
                  <a:lnTo>
                    <a:pt x="296316" y="23545"/>
                  </a:lnTo>
                  <a:lnTo>
                    <a:pt x="293611" y="35369"/>
                  </a:lnTo>
                  <a:lnTo>
                    <a:pt x="258737" y="164579"/>
                  </a:lnTo>
                  <a:lnTo>
                    <a:pt x="256171" y="174536"/>
                  </a:lnTo>
                  <a:lnTo>
                    <a:pt x="252907" y="181114"/>
                  </a:lnTo>
                  <a:lnTo>
                    <a:pt x="248920" y="184277"/>
                  </a:lnTo>
                  <a:lnTo>
                    <a:pt x="246354" y="186359"/>
                  </a:lnTo>
                  <a:lnTo>
                    <a:pt x="241655" y="187718"/>
                  </a:lnTo>
                  <a:lnTo>
                    <a:pt x="234823" y="188353"/>
                  </a:lnTo>
                  <a:lnTo>
                    <a:pt x="234823" y="191389"/>
                  </a:lnTo>
                  <a:lnTo>
                    <a:pt x="305841" y="191389"/>
                  </a:lnTo>
                  <a:lnTo>
                    <a:pt x="305841" y="188353"/>
                  </a:lnTo>
                  <a:lnTo>
                    <a:pt x="298348" y="187947"/>
                  </a:lnTo>
                  <a:lnTo>
                    <a:pt x="293154" y="186753"/>
                  </a:lnTo>
                  <a:lnTo>
                    <a:pt x="287362" y="182791"/>
                  </a:lnTo>
                  <a:lnTo>
                    <a:pt x="285915" y="179209"/>
                  </a:lnTo>
                  <a:lnTo>
                    <a:pt x="285915" y="171742"/>
                  </a:lnTo>
                  <a:lnTo>
                    <a:pt x="286346" y="168516"/>
                  </a:lnTo>
                  <a:lnTo>
                    <a:pt x="287680" y="161963"/>
                  </a:lnTo>
                  <a:lnTo>
                    <a:pt x="288290" y="159372"/>
                  </a:lnTo>
                  <a:lnTo>
                    <a:pt x="304711" y="98450"/>
                  </a:lnTo>
                  <a:lnTo>
                    <a:pt x="308470" y="99085"/>
                  </a:lnTo>
                  <a:lnTo>
                    <a:pt x="312394" y="99542"/>
                  </a:lnTo>
                  <a:lnTo>
                    <a:pt x="320548" y="100114"/>
                  </a:lnTo>
                  <a:lnTo>
                    <a:pt x="324650" y="100253"/>
                  </a:lnTo>
                  <a:lnTo>
                    <a:pt x="328764" y="100253"/>
                  </a:lnTo>
                  <a:lnTo>
                    <a:pt x="352285" y="98640"/>
                  </a:lnTo>
                  <a:lnTo>
                    <a:pt x="353060" y="98450"/>
                  </a:lnTo>
                  <a:lnTo>
                    <a:pt x="371894" y="93802"/>
                  </a:lnTo>
                  <a:lnTo>
                    <a:pt x="377050" y="91135"/>
                  </a:lnTo>
                  <a:lnTo>
                    <a:pt x="387565" y="85725"/>
                  </a:lnTo>
                  <a:lnTo>
                    <a:pt x="399300" y="74434"/>
                  </a:lnTo>
                  <a:lnTo>
                    <a:pt x="403745" y="67564"/>
                  </a:lnTo>
                  <a:lnTo>
                    <a:pt x="406908" y="60198"/>
                  </a:lnTo>
                  <a:lnTo>
                    <a:pt x="408813" y="52349"/>
                  </a:lnTo>
                  <a:lnTo>
                    <a:pt x="409448" y="44005"/>
                  </a:lnTo>
                  <a:close/>
                </a:path>
                <a:path w="551179" h="264795">
                  <a:moveTo>
                    <a:pt x="551065" y="164045"/>
                  </a:moveTo>
                  <a:lnTo>
                    <a:pt x="548017" y="161010"/>
                  </a:lnTo>
                  <a:lnTo>
                    <a:pt x="539102" y="169227"/>
                  </a:lnTo>
                  <a:lnTo>
                    <a:pt x="536587" y="171437"/>
                  </a:lnTo>
                  <a:lnTo>
                    <a:pt x="524967" y="179247"/>
                  </a:lnTo>
                  <a:lnTo>
                    <a:pt x="523074" y="179247"/>
                  </a:lnTo>
                  <a:lnTo>
                    <a:pt x="522185" y="178917"/>
                  </a:lnTo>
                  <a:lnTo>
                    <a:pt x="520827" y="177711"/>
                  </a:lnTo>
                  <a:lnTo>
                    <a:pt x="520712" y="177495"/>
                  </a:lnTo>
                  <a:lnTo>
                    <a:pt x="520407" y="176644"/>
                  </a:lnTo>
                  <a:lnTo>
                    <a:pt x="520522" y="174358"/>
                  </a:lnTo>
                  <a:lnTo>
                    <a:pt x="531126" y="128473"/>
                  </a:lnTo>
                  <a:lnTo>
                    <a:pt x="544982" y="76568"/>
                  </a:lnTo>
                  <a:lnTo>
                    <a:pt x="546976" y="69062"/>
                  </a:lnTo>
                  <a:lnTo>
                    <a:pt x="547687" y="66713"/>
                  </a:lnTo>
                  <a:lnTo>
                    <a:pt x="548068" y="65290"/>
                  </a:lnTo>
                  <a:lnTo>
                    <a:pt x="548779" y="63042"/>
                  </a:lnTo>
                  <a:lnTo>
                    <a:pt x="548881" y="62611"/>
                  </a:lnTo>
                  <a:lnTo>
                    <a:pt x="548995" y="61595"/>
                  </a:lnTo>
                  <a:lnTo>
                    <a:pt x="548716" y="60921"/>
                  </a:lnTo>
                  <a:lnTo>
                    <a:pt x="548182" y="60756"/>
                  </a:lnTo>
                  <a:lnTo>
                    <a:pt x="547268" y="60756"/>
                  </a:lnTo>
                  <a:lnTo>
                    <a:pt x="529856" y="62611"/>
                  </a:lnTo>
                  <a:lnTo>
                    <a:pt x="528713" y="62712"/>
                  </a:lnTo>
                  <a:lnTo>
                    <a:pt x="527989" y="62953"/>
                  </a:lnTo>
                  <a:lnTo>
                    <a:pt x="527354" y="63779"/>
                  </a:lnTo>
                  <a:lnTo>
                    <a:pt x="526986" y="64604"/>
                  </a:lnTo>
                  <a:lnTo>
                    <a:pt x="523214" y="76568"/>
                  </a:lnTo>
                  <a:lnTo>
                    <a:pt x="522503" y="74625"/>
                  </a:lnTo>
                  <a:lnTo>
                    <a:pt x="521233" y="71272"/>
                  </a:lnTo>
                  <a:lnTo>
                    <a:pt x="519493" y="68567"/>
                  </a:lnTo>
                  <a:lnTo>
                    <a:pt x="517753" y="66954"/>
                  </a:lnTo>
                  <a:lnTo>
                    <a:pt x="517753" y="87045"/>
                  </a:lnTo>
                  <a:lnTo>
                    <a:pt x="516597" y="100126"/>
                  </a:lnTo>
                  <a:lnTo>
                    <a:pt x="499300" y="144310"/>
                  </a:lnTo>
                  <a:lnTo>
                    <a:pt x="467436" y="177063"/>
                  </a:lnTo>
                  <a:lnTo>
                    <a:pt x="456412" y="179247"/>
                  </a:lnTo>
                  <a:lnTo>
                    <a:pt x="451383" y="179247"/>
                  </a:lnTo>
                  <a:lnTo>
                    <a:pt x="447179" y="177495"/>
                  </a:lnTo>
                  <a:lnTo>
                    <a:pt x="440410" y="170497"/>
                  </a:lnTo>
                  <a:lnTo>
                    <a:pt x="438721" y="164922"/>
                  </a:lnTo>
                  <a:lnTo>
                    <a:pt x="438772" y="156768"/>
                  </a:lnTo>
                  <a:lnTo>
                    <a:pt x="448856" y="118033"/>
                  </a:lnTo>
                  <a:lnTo>
                    <a:pt x="478129" y="75819"/>
                  </a:lnTo>
                  <a:lnTo>
                    <a:pt x="501205" y="66840"/>
                  </a:lnTo>
                  <a:lnTo>
                    <a:pt x="505790" y="66840"/>
                  </a:lnTo>
                  <a:lnTo>
                    <a:pt x="509689" y="68465"/>
                  </a:lnTo>
                  <a:lnTo>
                    <a:pt x="516140" y="74980"/>
                  </a:lnTo>
                  <a:lnTo>
                    <a:pt x="517715" y="79933"/>
                  </a:lnTo>
                  <a:lnTo>
                    <a:pt x="517753" y="87045"/>
                  </a:lnTo>
                  <a:lnTo>
                    <a:pt x="517753" y="66954"/>
                  </a:lnTo>
                  <a:lnTo>
                    <a:pt x="513143" y="62674"/>
                  </a:lnTo>
                  <a:lnTo>
                    <a:pt x="507276" y="60756"/>
                  </a:lnTo>
                  <a:lnTo>
                    <a:pt x="499681" y="60756"/>
                  </a:lnTo>
                  <a:lnTo>
                    <a:pt x="455714" y="79933"/>
                  </a:lnTo>
                  <a:lnTo>
                    <a:pt x="429691" y="111061"/>
                  </a:lnTo>
                  <a:lnTo>
                    <a:pt x="414553" y="156768"/>
                  </a:lnTo>
                  <a:lnTo>
                    <a:pt x="414553" y="159461"/>
                  </a:lnTo>
                  <a:lnTo>
                    <a:pt x="437413" y="194437"/>
                  </a:lnTo>
                  <a:lnTo>
                    <a:pt x="449834" y="194437"/>
                  </a:lnTo>
                  <a:lnTo>
                    <a:pt x="479044" y="179247"/>
                  </a:lnTo>
                  <a:lnTo>
                    <a:pt x="485851" y="173266"/>
                  </a:lnTo>
                  <a:lnTo>
                    <a:pt x="490867" y="167868"/>
                  </a:lnTo>
                  <a:lnTo>
                    <a:pt x="499059" y="156768"/>
                  </a:lnTo>
                  <a:lnTo>
                    <a:pt x="501980" y="152527"/>
                  </a:lnTo>
                  <a:lnTo>
                    <a:pt x="503720" y="149618"/>
                  </a:lnTo>
                  <a:lnTo>
                    <a:pt x="502475" y="154089"/>
                  </a:lnTo>
                  <a:lnTo>
                    <a:pt x="501230" y="159588"/>
                  </a:lnTo>
                  <a:lnTo>
                    <a:pt x="498665" y="172694"/>
                  </a:lnTo>
                  <a:lnTo>
                    <a:pt x="498106" y="177063"/>
                  </a:lnTo>
                  <a:lnTo>
                    <a:pt x="498017" y="184988"/>
                  </a:lnTo>
                  <a:lnTo>
                    <a:pt x="498995" y="188137"/>
                  </a:lnTo>
                  <a:lnTo>
                    <a:pt x="502881" y="193167"/>
                  </a:lnTo>
                  <a:lnTo>
                    <a:pt x="505663" y="194437"/>
                  </a:lnTo>
                  <a:lnTo>
                    <a:pt x="514794" y="194437"/>
                  </a:lnTo>
                  <a:lnTo>
                    <a:pt x="520623" y="192316"/>
                  </a:lnTo>
                  <a:lnTo>
                    <a:pt x="526745" y="188099"/>
                  </a:lnTo>
                  <a:lnTo>
                    <a:pt x="531710" y="184213"/>
                  </a:lnTo>
                  <a:lnTo>
                    <a:pt x="537057" y="179247"/>
                  </a:lnTo>
                  <a:lnTo>
                    <a:pt x="537413" y="178917"/>
                  </a:lnTo>
                  <a:lnTo>
                    <a:pt x="543864" y="172199"/>
                  </a:lnTo>
                  <a:lnTo>
                    <a:pt x="551065" y="1640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86493" y="4003156"/>
              <a:ext cx="72867" cy="24911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86686" y="4069991"/>
              <a:ext cx="139660" cy="133671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751063" y="4164169"/>
              <a:ext cx="36195" cy="109855"/>
            </a:xfrm>
            <a:custGeom>
              <a:avLst/>
              <a:gdLst/>
              <a:ahLst/>
              <a:cxnLst/>
              <a:rect l="l" t="t" r="r" b="b"/>
              <a:pathLst>
                <a:path w="36195" h="109854">
                  <a:moveTo>
                    <a:pt x="30455" y="0"/>
                  </a:moveTo>
                  <a:lnTo>
                    <a:pt x="26280" y="0"/>
                  </a:lnTo>
                  <a:lnTo>
                    <a:pt x="24502" y="742"/>
                  </a:lnTo>
                  <a:lnTo>
                    <a:pt x="21560" y="3717"/>
                  </a:lnTo>
                  <a:lnTo>
                    <a:pt x="20825" y="5521"/>
                  </a:lnTo>
                  <a:lnTo>
                    <a:pt x="20851" y="9762"/>
                  </a:lnTo>
                  <a:lnTo>
                    <a:pt x="21560" y="11470"/>
                  </a:lnTo>
                  <a:lnTo>
                    <a:pt x="24502" y="14446"/>
                  </a:lnTo>
                  <a:lnTo>
                    <a:pt x="26280" y="15189"/>
                  </a:lnTo>
                  <a:lnTo>
                    <a:pt x="30455" y="15189"/>
                  </a:lnTo>
                  <a:lnTo>
                    <a:pt x="32266" y="14446"/>
                  </a:lnTo>
                  <a:lnTo>
                    <a:pt x="35253" y="11550"/>
                  </a:lnTo>
                  <a:lnTo>
                    <a:pt x="36005" y="9762"/>
                  </a:lnTo>
                  <a:lnTo>
                    <a:pt x="36005" y="5521"/>
                  </a:lnTo>
                  <a:lnTo>
                    <a:pt x="35253" y="3717"/>
                  </a:lnTo>
                  <a:lnTo>
                    <a:pt x="32250" y="742"/>
                  </a:lnTo>
                  <a:lnTo>
                    <a:pt x="30455" y="0"/>
                  </a:lnTo>
                  <a:close/>
                </a:path>
                <a:path w="36195" h="109854">
                  <a:moveTo>
                    <a:pt x="29039" y="33512"/>
                  </a:moveTo>
                  <a:lnTo>
                    <a:pt x="27735" y="33599"/>
                  </a:lnTo>
                  <a:lnTo>
                    <a:pt x="23117" y="34326"/>
                  </a:lnTo>
                  <a:lnTo>
                    <a:pt x="20683" y="34667"/>
                  </a:lnTo>
                  <a:lnTo>
                    <a:pt x="18121" y="34983"/>
                  </a:lnTo>
                  <a:lnTo>
                    <a:pt x="16129" y="35205"/>
                  </a:lnTo>
                  <a:lnTo>
                    <a:pt x="10269" y="35791"/>
                  </a:lnTo>
                  <a:lnTo>
                    <a:pt x="2608" y="36455"/>
                  </a:lnTo>
                  <a:lnTo>
                    <a:pt x="2608" y="39493"/>
                  </a:lnTo>
                  <a:lnTo>
                    <a:pt x="7289" y="39493"/>
                  </a:lnTo>
                  <a:lnTo>
                    <a:pt x="10412" y="39723"/>
                  </a:lnTo>
                  <a:lnTo>
                    <a:pt x="13544" y="40639"/>
                  </a:lnTo>
                  <a:lnTo>
                    <a:pt x="14326" y="41850"/>
                  </a:lnTo>
                  <a:lnTo>
                    <a:pt x="14270" y="44888"/>
                  </a:lnTo>
                  <a:lnTo>
                    <a:pt x="13757" y="47230"/>
                  </a:lnTo>
                  <a:lnTo>
                    <a:pt x="917" y="93511"/>
                  </a:lnTo>
                  <a:lnTo>
                    <a:pt x="552" y="94968"/>
                  </a:lnTo>
                  <a:lnTo>
                    <a:pt x="110" y="97182"/>
                  </a:lnTo>
                  <a:lnTo>
                    <a:pt x="0" y="102499"/>
                  </a:lnTo>
                  <a:lnTo>
                    <a:pt x="806" y="104698"/>
                  </a:lnTo>
                  <a:lnTo>
                    <a:pt x="4032" y="108432"/>
                  </a:lnTo>
                  <a:lnTo>
                    <a:pt x="6071" y="109366"/>
                  </a:lnTo>
                  <a:lnTo>
                    <a:pt x="12713" y="109366"/>
                  </a:lnTo>
                  <a:lnTo>
                    <a:pt x="17014" y="107309"/>
                  </a:lnTo>
                  <a:lnTo>
                    <a:pt x="24257" y="100568"/>
                  </a:lnTo>
                  <a:lnTo>
                    <a:pt x="24517" y="100252"/>
                  </a:lnTo>
                  <a:lnTo>
                    <a:pt x="14216" y="100252"/>
                  </a:lnTo>
                  <a:lnTo>
                    <a:pt x="13472" y="99921"/>
                  </a:lnTo>
                  <a:lnTo>
                    <a:pt x="13186" y="99255"/>
                  </a:lnTo>
                  <a:lnTo>
                    <a:pt x="12871" y="98654"/>
                  </a:lnTo>
                  <a:lnTo>
                    <a:pt x="12832" y="98480"/>
                  </a:lnTo>
                  <a:lnTo>
                    <a:pt x="12768" y="96249"/>
                  </a:lnTo>
                  <a:lnTo>
                    <a:pt x="13092" y="94667"/>
                  </a:lnTo>
                  <a:lnTo>
                    <a:pt x="13851" y="91565"/>
                  </a:lnTo>
                  <a:lnTo>
                    <a:pt x="29700" y="34326"/>
                  </a:lnTo>
                  <a:lnTo>
                    <a:pt x="29641" y="33892"/>
                  </a:lnTo>
                  <a:lnTo>
                    <a:pt x="29039" y="33512"/>
                  </a:lnTo>
                  <a:close/>
                </a:path>
                <a:path w="36195" h="109854">
                  <a:moveTo>
                    <a:pt x="31404" y="87198"/>
                  </a:moveTo>
                  <a:lnTo>
                    <a:pt x="28431" y="90774"/>
                  </a:lnTo>
                  <a:lnTo>
                    <a:pt x="25916" y="93511"/>
                  </a:lnTo>
                  <a:lnTo>
                    <a:pt x="20321" y="98654"/>
                  </a:lnTo>
                  <a:lnTo>
                    <a:pt x="17536" y="100252"/>
                  </a:lnTo>
                  <a:lnTo>
                    <a:pt x="24517" y="100252"/>
                  </a:lnTo>
                  <a:lnTo>
                    <a:pt x="27814" y="96249"/>
                  </a:lnTo>
                  <a:lnTo>
                    <a:pt x="32970" y="89049"/>
                  </a:lnTo>
                  <a:lnTo>
                    <a:pt x="31404" y="871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20466" y="4003156"/>
              <a:ext cx="169928" cy="249114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098977" y="3917949"/>
              <a:ext cx="337185" cy="593090"/>
            </a:xfrm>
            <a:custGeom>
              <a:avLst/>
              <a:gdLst/>
              <a:ahLst/>
              <a:cxnLst/>
              <a:rect l="l" t="t" r="r" b="b"/>
              <a:pathLst>
                <a:path w="337185" h="593089">
                  <a:moveTo>
                    <a:pt x="188239" y="572236"/>
                  </a:moveTo>
                  <a:lnTo>
                    <a:pt x="186677" y="570382"/>
                  </a:lnTo>
                  <a:lnTo>
                    <a:pt x="183705" y="573963"/>
                  </a:lnTo>
                  <a:lnTo>
                    <a:pt x="181190" y="576694"/>
                  </a:lnTo>
                  <a:lnTo>
                    <a:pt x="175602" y="581837"/>
                  </a:lnTo>
                  <a:lnTo>
                    <a:pt x="172808" y="583438"/>
                  </a:lnTo>
                  <a:lnTo>
                    <a:pt x="169494" y="583438"/>
                  </a:lnTo>
                  <a:lnTo>
                    <a:pt x="168744" y="583107"/>
                  </a:lnTo>
                  <a:lnTo>
                    <a:pt x="168465" y="582447"/>
                  </a:lnTo>
                  <a:lnTo>
                    <a:pt x="168148" y="581837"/>
                  </a:lnTo>
                  <a:lnTo>
                    <a:pt x="168109" y="581672"/>
                  </a:lnTo>
                  <a:lnTo>
                    <a:pt x="168046" y="579437"/>
                  </a:lnTo>
                  <a:lnTo>
                    <a:pt x="168363" y="577850"/>
                  </a:lnTo>
                  <a:lnTo>
                    <a:pt x="169125" y="574751"/>
                  </a:lnTo>
                  <a:lnTo>
                    <a:pt x="184975" y="517512"/>
                  </a:lnTo>
                  <a:lnTo>
                    <a:pt x="184912" y="517080"/>
                  </a:lnTo>
                  <a:lnTo>
                    <a:pt x="184315" y="516699"/>
                  </a:lnTo>
                  <a:lnTo>
                    <a:pt x="183007" y="516788"/>
                  </a:lnTo>
                  <a:lnTo>
                    <a:pt x="178384" y="517512"/>
                  </a:lnTo>
                  <a:lnTo>
                    <a:pt x="175958" y="517855"/>
                  </a:lnTo>
                  <a:lnTo>
                    <a:pt x="173393" y="518172"/>
                  </a:lnTo>
                  <a:lnTo>
                    <a:pt x="171399" y="518388"/>
                  </a:lnTo>
                  <a:lnTo>
                    <a:pt x="165544" y="518972"/>
                  </a:lnTo>
                  <a:lnTo>
                    <a:pt x="157886" y="519645"/>
                  </a:lnTo>
                  <a:lnTo>
                    <a:pt x="157886" y="522681"/>
                  </a:lnTo>
                  <a:lnTo>
                    <a:pt x="162560" y="522681"/>
                  </a:lnTo>
                  <a:lnTo>
                    <a:pt x="165684" y="522909"/>
                  </a:lnTo>
                  <a:lnTo>
                    <a:pt x="168821" y="523824"/>
                  </a:lnTo>
                  <a:lnTo>
                    <a:pt x="169595" y="525043"/>
                  </a:lnTo>
                  <a:lnTo>
                    <a:pt x="169545" y="528078"/>
                  </a:lnTo>
                  <a:lnTo>
                    <a:pt x="169024" y="530415"/>
                  </a:lnTo>
                  <a:lnTo>
                    <a:pt x="156184" y="576694"/>
                  </a:lnTo>
                  <a:lnTo>
                    <a:pt x="155829" y="578154"/>
                  </a:lnTo>
                  <a:lnTo>
                    <a:pt x="155384" y="580364"/>
                  </a:lnTo>
                  <a:lnTo>
                    <a:pt x="155270" y="585685"/>
                  </a:lnTo>
                  <a:lnTo>
                    <a:pt x="156083" y="587883"/>
                  </a:lnTo>
                  <a:lnTo>
                    <a:pt x="159308" y="591616"/>
                  </a:lnTo>
                  <a:lnTo>
                    <a:pt x="161340" y="592556"/>
                  </a:lnTo>
                  <a:lnTo>
                    <a:pt x="167982" y="592556"/>
                  </a:lnTo>
                  <a:lnTo>
                    <a:pt x="172288" y="590499"/>
                  </a:lnTo>
                  <a:lnTo>
                    <a:pt x="179527" y="583755"/>
                  </a:lnTo>
                  <a:lnTo>
                    <a:pt x="179793" y="583438"/>
                  </a:lnTo>
                  <a:lnTo>
                    <a:pt x="183083" y="579437"/>
                  </a:lnTo>
                  <a:lnTo>
                    <a:pt x="188239" y="572236"/>
                  </a:lnTo>
                  <a:close/>
                </a:path>
                <a:path w="337185" h="593089">
                  <a:moveTo>
                    <a:pt x="191274" y="488708"/>
                  </a:moveTo>
                  <a:lnTo>
                    <a:pt x="190525" y="486905"/>
                  </a:lnTo>
                  <a:lnTo>
                    <a:pt x="187515" y="483933"/>
                  </a:lnTo>
                  <a:lnTo>
                    <a:pt x="185724" y="483184"/>
                  </a:lnTo>
                  <a:lnTo>
                    <a:pt x="181559" y="483184"/>
                  </a:lnTo>
                  <a:lnTo>
                    <a:pt x="179781" y="483933"/>
                  </a:lnTo>
                  <a:lnTo>
                    <a:pt x="176834" y="486905"/>
                  </a:lnTo>
                  <a:lnTo>
                    <a:pt x="176098" y="488708"/>
                  </a:lnTo>
                  <a:lnTo>
                    <a:pt x="176123" y="492950"/>
                  </a:lnTo>
                  <a:lnTo>
                    <a:pt x="176834" y="494652"/>
                  </a:lnTo>
                  <a:lnTo>
                    <a:pt x="179781" y="497636"/>
                  </a:lnTo>
                  <a:lnTo>
                    <a:pt x="181559" y="498373"/>
                  </a:lnTo>
                  <a:lnTo>
                    <a:pt x="185724" y="498373"/>
                  </a:lnTo>
                  <a:lnTo>
                    <a:pt x="187540" y="497636"/>
                  </a:lnTo>
                  <a:lnTo>
                    <a:pt x="190525" y="494741"/>
                  </a:lnTo>
                  <a:lnTo>
                    <a:pt x="191274" y="492950"/>
                  </a:lnTo>
                  <a:lnTo>
                    <a:pt x="191274" y="488708"/>
                  </a:lnTo>
                  <a:close/>
                </a:path>
                <a:path w="337185" h="593089">
                  <a:moveTo>
                    <a:pt x="337007" y="0"/>
                  </a:moveTo>
                  <a:lnTo>
                    <a:pt x="0" y="0"/>
                  </a:lnTo>
                  <a:lnTo>
                    <a:pt x="0" y="17780"/>
                  </a:lnTo>
                  <a:lnTo>
                    <a:pt x="39471" y="17780"/>
                  </a:lnTo>
                  <a:lnTo>
                    <a:pt x="39471" y="401320"/>
                  </a:lnTo>
                  <a:lnTo>
                    <a:pt x="0" y="401320"/>
                  </a:lnTo>
                  <a:lnTo>
                    <a:pt x="0" y="419100"/>
                  </a:lnTo>
                  <a:lnTo>
                    <a:pt x="115379" y="419100"/>
                  </a:lnTo>
                  <a:lnTo>
                    <a:pt x="115379" y="401320"/>
                  </a:lnTo>
                  <a:lnTo>
                    <a:pt x="78943" y="401320"/>
                  </a:lnTo>
                  <a:lnTo>
                    <a:pt x="78943" y="17780"/>
                  </a:lnTo>
                  <a:lnTo>
                    <a:pt x="258076" y="17780"/>
                  </a:lnTo>
                  <a:lnTo>
                    <a:pt x="258076" y="401320"/>
                  </a:lnTo>
                  <a:lnTo>
                    <a:pt x="221640" y="401320"/>
                  </a:lnTo>
                  <a:lnTo>
                    <a:pt x="221640" y="419100"/>
                  </a:lnTo>
                  <a:lnTo>
                    <a:pt x="337007" y="419100"/>
                  </a:lnTo>
                  <a:lnTo>
                    <a:pt x="337007" y="401320"/>
                  </a:lnTo>
                  <a:lnTo>
                    <a:pt x="297548" y="401320"/>
                  </a:lnTo>
                  <a:lnTo>
                    <a:pt x="297548" y="17780"/>
                  </a:lnTo>
                  <a:lnTo>
                    <a:pt x="337007" y="17780"/>
                  </a:lnTo>
                  <a:lnTo>
                    <a:pt x="3370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261363" y="4788916"/>
              <a:ext cx="2486660" cy="634365"/>
            </a:xfrm>
            <a:custGeom>
              <a:avLst/>
              <a:gdLst/>
              <a:ahLst/>
              <a:cxnLst/>
              <a:rect l="l" t="t" r="r" b="b"/>
              <a:pathLst>
                <a:path w="2486660" h="634364">
                  <a:moveTo>
                    <a:pt x="2486101" y="0"/>
                  </a:moveTo>
                  <a:lnTo>
                    <a:pt x="0" y="0"/>
                  </a:lnTo>
                  <a:lnTo>
                    <a:pt x="0" y="634224"/>
                  </a:lnTo>
                  <a:lnTo>
                    <a:pt x="2486101" y="634224"/>
                  </a:lnTo>
                  <a:lnTo>
                    <a:pt x="2486101" y="0"/>
                  </a:lnTo>
                  <a:close/>
                </a:path>
              </a:pathLst>
            </a:custGeom>
            <a:solidFill>
              <a:srgbClr val="D4F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313667" y="4821428"/>
            <a:ext cx="2374900" cy="57340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3600"/>
              </a:lnSpc>
              <a:spcBef>
                <a:spcPts val="55"/>
              </a:spcBef>
            </a:pPr>
            <a:r>
              <a:rPr sz="1750" spc="10" dirty="0">
                <a:latin typeface="Calibri"/>
                <a:cs typeface="Calibri"/>
              </a:rPr>
              <a:t>The </a:t>
            </a:r>
            <a:r>
              <a:rPr sz="1750" spc="5" dirty="0">
                <a:latin typeface="Calibri"/>
                <a:cs typeface="Calibri"/>
              </a:rPr>
              <a:t>set of parents of </a:t>
            </a:r>
            <a:r>
              <a:rPr sz="1750" spc="10" dirty="0">
                <a:latin typeface="Calibri"/>
                <a:cs typeface="Calibri"/>
              </a:rPr>
              <a:t>x</a:t>
            </a:r>
            <a:r>
              <a:rPr sz="1725" spc="15" baseline="-21739" dirty="0">
                <a:latin typeface="Calibri"/>
                <a:cs typeface="Calibri"/>
              </a:rPr>
              <a:t>i </a:t>
            </a:r>
            <a:r>
              <a:rPr sz="1750" spc="5" dirty="0">
                <a:latin typeface="Calibri"/>
                <a:cs typeface="Calibri"/>
              </a:rPr>
              <a:t>in  </a:t>
            </a:r>
            <a:r>
              <a:rPr sz="1750" spc="10" dirty="0">
                <a:latin typeface="Calibri"/>
                <a:cs typeface="Calibri"/>
              </a:rPr>
              <a:t>the</a:t>
            </a:r>
            <a:r>
              <a:rPr sz="1750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graph</a:t>
            </a:r>
            <a:endParaRPr sz="175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385130" y="4240869"/>
            <a:ext cx="1913889" cy="629920"/>
            <a:chOff x="2385130" y="4240869"/>
            <a:chExt cx="1913889" cy="629920"/>
          </a:xfrm>
        </p:grpSpPr>
        <p:sp>
          <p:nvSpPr>
            <p:cNvPr id="41" name="object 41"/>
            <p:cNvSpPr/>
            <p:nvPr/>
          </p:nvSpPr>
          <p:spPr>
            <a:xfrm>
              <a:off x="2391410" y="4261442"/>
              <a:ext cx="1883410" cy="603250"/>
            </a:xfrm>
            <a:custGeom>
              <a:avLst/>
              <a:gdLst/>
              <a:ahLst/>
              <a:cxnLst/>
              <a:rect l="l" t="t" r="r" b="b"/>
              <a:pathLst>
                <a:path w="1883410" h="603250">
                  <a:moveTo>
                    <a:pt x="0" y="602826"/>
                  </a:moveTo>
                  <a:lnTo>
                    <a:pt x="1883410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215504" y="4240869"/>
              <a:ext cx="83820" cy="72390"/>
            </a:xfrm>
            <a:custGeom>
              <a:avLst/>
              <a:gdLst/>
              <a:ahLst/>
              <a:cxnLst/>
              <a:rect l="l" t="t" r="r" b="b"/>
              <a:pathLst>
                <a:path w="83820" h="72389">
                  <a:moveTo>
                    <a:pt x="0" y="0"/>
                  </a:moveTo>
                  <a:lnTo>
                    <a:pt x="22961" y="71768"/>
                  </a:lnTo>
                  <a:lnTo>
                    <a:pt x="83233" y="129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7012" y="1016398"/>
            <a:ext cx="7079788" cy="62132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spc="90" dirty="0">
                <a:latin typeface="Calibri"/>
                <a:cs typeface="Calibri"/>
              </a:rPr>
              <a:t>Construc</a:t>
            </a:r>
            <a:r>
              <a:rPr lang="en-US" sz="3950" b="1" spc="90" dirty="0">
                <a:latin typeface="Calibri"/>
                <a:cs typeface="Calibri"/>
              </a:rPr>
              <a:t>ti</a:t>
            </a:r>
            <a:r>
              <a:rPr sz="3950" b="1" spc="90" dirty="0">
                <a:latin typeface="Calibri"/>
                <a:cs typeface="Calibri"/>
              </a:rPr>
              <a:t>ng </a:t>
            </a:r>
            <a:r>
              <a:rPr sz="3950" b="1" dirty="0">
                <a:latin typeface="Calibri"/>
                <a:cs typeface="Calibri"/>
              </a:rPr>
              <a:t>a </a:t>
            </a:r>
            <a:r>
              <a:rPr sz="3950" b="1" spc="-15" dirty="0">
                <a:latin typeface="Calibri"/>
                <a:cs typeface="Calibri"/>
              </a:rPr>
              <a:t>Bayesian</a:t>
            </a:r>
            <a:r>
              <a:rPr sz="3950" b="1" spc="-120" dirty="0">
                <a:latin typeface="Calibri"/>
                <a:cs typeface="Calibri"/>
              </a:rPr>
              <a:t> </a:t>
            </a:r>
            <a:r>
              <a:rPr sz="3950" b="1" spc="-10" dirty="0">
                <a:latin typeface="Calibri"/>
                <a:cs typeface="Calibri"/>
              </a:rPr>
              <a:t>network</a:t>
            </a:r>
            <a:endParaRPr sz="395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7722" y="2108709"/>
            <a:ext cx="7392034" cy="2054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1155" marR="5080" indent="-339090">
              <a:lnSpc>
                <a:spcPct val="101699"/>
              </a:lnSpc>
              <a:spcBef>
                <a:spcPts val="75"/>
              </a:spcBef>
              <a:buFont typeface="Arial"/>
              <a:buChar char="•"/>
              <a:tabLst>
                <a:tab pos="351155" algn="l"/>
                <a:tab pos="351790" algn="l"/>
              </a:tabLst>
            </a:pPr>
            <a:r>
              <a:rPr sz="2350" spc="5" dirty="0">
                <a:latin typeface="Calibri"/>
                <a:cs typeface="Calibri"/>
              </a:rPr>
              <a:t>How </a:t>
            </a:r>
            <a:r>
              <a:rPr sz="2350" spc="10" dirty="0">
                <a:latin typeface="Calibri"/>
                <a:cs typeface="Calibri"/>
              </a:rPr>
              <a:t>do </a:t>
            </a:r>
            <a:r>
              <a:rPr sz="2350" dirty="0">
                <a:latin typeface="Calibri"/>
                <a:cs typeface="Calibri"/>
              </a:rPr>
              <a:t>we go </a:t>
            </a:r>
            <a:r>
              <a:rPr sz="2350" spc="5" dirty="0">
                <a:latin typeface="Calibri"/>
                <a:cs typeface="Calibri"/>
              </a:rPr>
              <a:t>about </a:t>
            </a:r>
            <a:r>
              <a:rPr sz="2350" spc="-10" dirty="0">
                <a:latin typeface="Calibri"/>
                <a:cs typeface="Calibri"/>
              </a:rPr>
              <a:t>construc</a:t>
            </a:r>
            <a:r>
              <a:rPr lang="en-US" sz="2350" spc="-10" dirty="0">
                <a:latin typeface="Calibri"/>
                <a:cs typeface="Calibri"/>
              </a:rPr>
              <a:t>ti</a:t>
            </a:r>
            <a:r>
              <a:rPr sz="2350" spc="-10" dirty="0">
                <a:latin typeface="Calibri"/>
                <a:cs typeface="Calibri"/>
              </a:rPr>
              <a:t>ng </a:t>
            </a:r>
            <a:r>
              <a:rPr sz="2350" spc="10" dirty="0">
                <a:latin typeface="Calibri"/>
                <a:cs typeface="Calibri"/>
              </a:rPr>
              <a:t>a </a:t>
            </a:r>
            <a:r>
              <a:rPr sz="2350" dirty="0">
                <a:latin typeface="Calibri"/>
                <a:cs typeface="Calibri"/>
              </a:rPr>
              <a:t>network </a:t>
            </a:r>
            <a:r>
              <a:rPr sz="2350" spc="-10" dirty="0">
                <a:latin typeface="Calibri"/>
                <a:cs typeface="Calibri"/>
              </a:rPr>
              <a:t>for </a:t>
            </a:r>
            <a:r>
              <a:rPr sz="2350" spc="10" dirty="0">
                <a:latin typeface="Calibri"/>
                <a:cs typeface="Calibri"/>
              </a:rPr>
              <a:t>a </a:t>
            </a:r>
            <a:r>
              <a:rPr sz="2350" spc="5" dirty="0">
                <a:latin typeface="Calibri"/>
                <a:cs typeface="Calibri"/>
              </a:rPr>
              <a:t>speciﬁc  </a:t>
            </a:r>
            <a:r>
              <a:rPr sz="2350" dirty="0">
                <a:latin typeface="Calibri"/>
                <a:cs typeface="Calibri"/>
              </a:rPr>
              <a:t>problem?</a:t>
            </a:r>
          </a:p>
          <a:p>
            <a:pPr marL="464184">
              <a:lnSpc>
                <a:spcPct val="100000"/>
              </a:lnSpc>
              <a:spcBef>
                <a:spcPts val="615"/>
              </a:spcBef>
            </a:pPr>
            <a:r>
              <a:rPr sz="2350" dirty="0">
                <a:latin typeface="Calibri"/>
                <a:cs typeface="Calibri"/>
              </a:rPr>
              <a:t>Step </a:t>
            </a:r>
            <a:r>
              <a:rPr sz="2350" spc="5" dirty="0">
                <a:latin typeface="Calibri"/>
                <a:cs typeface="Calibri"/>
              </a:rPr>
              <a:t>1: </a:t>
            </a:r>
            <a:r>
              <a:rPr sz="2350" spc="-15" dirty="0">
                <a:latin typeface="Calibri"/>
                <a:cs typeface="Calibri"/>
              </a:rPr>
              <a:t>Iden</a:t>
            </a:r>
            <a:r>
              <a:rPr lang="en-US" sz="2350" spc="-15" dirty="0">
                <a:latin typeface="Calibri"/>
                <a:cs typeface="Calibri"/>
              </a:rPr>
              <a:t>ti</a:t>
            </a:r>
            <a:r>
              <a:rPr sz="2350" spc="-15" dirty="0">
                <a:latin typeface="Calibri"/>
                <a:cs typeface="Calibri"/>
              </a:rPr>
              <a:t>fy </a:t>
            </a:r>
            <a:r>
              <a:rPr sz="2350" spc="10" dirty="0">
                <a:latin typeface="Calibri"/>
                <a:cs typeface="Calibri"/>
              </a:rPr>
              <a:t>the </a:t>
            </a:r>
            <a:r>
              <a:rPr sz="2350" dirty="0">
                <a:latin typeface="Calibri"/>
                <a:cs typeface="Calibri"/>
              </a:rPr>
              <a:t>random</a:t>
            </a:r>
            <a:r>
              <a:rPr sz="2350" spc="2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variables</a:t>
            </a:r>
          </a:p>
          <a:p>
            <a:pPr marL="487680" marR="989330">
              <a:lnSpc>
                <a:spcPts val="3460"/>
              </a:lnSpc>
              <a:spcBef>
                <a:spcPts val="125"/>
              </a:spcBef>
            </a:pPr>
            <a:r>
              <a:rPr sz="2350" dirty="0">
                <a:latin typeface="Calibri"/>
                <a:cs typeface="Calibri"/>
              </a:rPr>
              <a:t>Step </a:t>
            </a:r>
            <a:r>
              <a:rPr sz="2350" spc="5" dirty="0">
                <a:latin typeface="Calibri"/>
                <a:cs typeface="Calibri"/>
              </a:rPr>
              <a:t>2: </a:t>
            </a:r>
            <a:r>
              <a:rPr sz="2350" dirty="0">
                <a:latin typeface="Calibri"/>
                <a:cs typeface="Calibri"/>
              </a:rPr>
              <a:t>Determine </a:t>
            </a:r>
            <a:r>
              <a:rPr sz="2350" spc="10" dirty="0">
                <a:latin typeface="Calibri"/>
                <a:cs typeface="Calibri"/>
              </a:rPr>
              <a:t>the </a:t>
            </a:r>
            <a:r>
              <a:rPr sz="2350" spc="-10" dirty="0">
                <a:latin typeface="Calibri"/>
                <a:cs typeface="Calibri"/>
              </a:rPr>
              <a:t>condi</a:t>
            </a:r>
            <a:r>
              <a:rPr lang="en-US" sz="2350" spc="-10" dirty="0">
                <a:latin typeface="Calibri"/>
                <a:cs typeface="Calibri"/>
              </a:rPr>
              <a:t>ti</a:t>
            </a:r>
            <a:r>
              <a:rPr sz="2350" spc="-10" dirty="0">
                <a:latin typeface="Calibri"/>
                <a:cs typeface="Calibri"/>
              </a:rPr>
              <a:t>onal </a:t>
            </a:r>
            <a:r>
              <a:rPr sz="2350" spc="10" dirty="0">
                <a:latin typeface="Calibri"/>
                <a:cs typeface="Calibri"/>
              </a:rPr>
              <a:t>dependencies  </a:t>
            </a:r>
            <a:r>
              <a:rPr sz="2350" dirty="0">
                <a:latin typeface="Calibri"/>
                <a:cs typeface="Calibri"/>
              </a:rPr>
              <a:t>Step </a:t>
            </a:r>
            <a:r>
              <a:rPr sz="2350" spc="5" dirty="0">
                <a:latin typeface="Calibri"/>
                <a:cs typeface="Calibri"/>
              </a:rPr>
              <a:t>3: </a:t>
            </a:r>
            <a:r>
              <a:rPr sz="2350" spc="-5" dirty="0">
                <a:latin typeface="Calibri"/>
                <a:cs typeface="Calibri"/>
              </a:rPr>
              <a:t>Populate </a:t>
            </a:r>
            <a:r>
              <a:rPr sz="2350" spc="10" dirty="0">
                <a:latin typeface="Calibri"/>
                <a:cs typeface="Calibri"/>
              </a:rPr>
              <a:t>the</a:t>
            </a:r>
            <a:r>
              <a:rPr sz="2350" spc="5" dirty="0">
                <a:latin typeface="Calibri"/>
                <a:cs typeface="Calibri"/>
              </a:rPr>
              <a:t> </a:t>
            </a:r>
            <a:r>
              <a:rPr sz="2350" spc="-40" dirty="0">
                <a:latin typeface="Calibri"/>
                <a:cs typeface="Calibri"/>
              </a:rPr>
              <a:t>CPTs</a:t>
            </a:r>
            <a:endParaRPr sz="235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21455" y="3338152"/>
            <a:ext cx="4615180" cy="1889125"/>
            <a:chOff x="3521455" y="3338152"/>
            <a:chExt cx="4615180" cy="1889125"/>
          </a:xfrm>
        </p:grpSpPr>
        <p:sp>
          <p:nvSpPr>
            <p:cNvPr id="5" name="object 5"/>
            <p:cNvSpPr/>
            <p:nvPr/>
          </p:nvSpPr>
          <p:spPr>
            <a:xfrm>
              <a:off x="7664958" y="3357202"/>
              <a:ext cx="452120" cy="829310"/>
            </a:xfrm>
            <a:custGeom>
              <a:avLst/>
              <a:gdLst/>
              <a:ahLst/>
              <a:cxnLst/>
              <a:rect l="l" t="t" r="r" b="b"/>
              <a:pathLst>
                <a:path w="452120" h="829310">
                  <a:moveTo>
                    <a:pt x="0" y="0"/>
                  </a:moveTo>
                  <a:lnTo>
                    <a:pt x="71436" y="3521"/>
                  </a:lnTo>
                  <a:lnTo>
                    <a:pt x="133477" y="13327"/>
                  </a:lnTo>
                  <a:lnTo>
                    <a:pt x="182402" y="28279"/>
                  </a:lnTo>
                  <a:lnTo>
                    <a:pt x="214487" y="47241"/>
                  </a:lnTo>
                  <a:lnTo>
                    <a:pt x="226009" y="69074"/>
                  </a:lnTo>
                  <a:lnTo>
                    <a:pt x="226009" y="345368"/>
                  </a:lnTo>
                  <a:lnTo>
                    <a:pt x="237531" y="367201"/>
                  </a:lnTo>
                  <a:lnTo>
                    <a:pt x="269615" y="386163"/>
                  </a:lnTo>
                  <a:lnTo>
                    <a:pt x="318540" y="401115"/>
                  </a:lnTo>
                  <a:lnTo>
                    <a:pt x="380582" y="410921"/>
                  </a:lnTo>
                  <a:lnTo>
                    <a:pt x="452018" y="414443"/>
                  </a:lnTo>
                  <a:lnTo>
                    <a:pt x="380582" y="417964"/>
                  </a:lnTo>
                  <a:lnTo>
                    <a:pt x="318540" y="427770"/>
                  </a:lnTo>
                  <a:lnTo>
                    <a:pt x="269615" y="442723"/>
                  </a:lnTo>
                  <a:lnTo>
                    <a:pt x="237531" y="461685"/>
                  </a:lnTo>
                  <a:lnTo>
                    <a:pt x="226009" y="483518"/>
                  </a:lnTo>
                  <a:lnTo>
                    <a:pt x="226009" y="759811"/>
                  </a:lnTo>
                  <a:lnTo>
                    <a:pt x="182402" y="800606"/>
                  </a:lnTo>
                  <a:lnTo>
                    <a:pt x="133477" y="815559"/>
                  </a:lnTo>
                  <a:lnTo>
                    <a:pt x="71436" y="825365"/>
                  </a:lnTo>
                  <a:lnTo>
                    <a:pt x="0" y="828886"/>
                  </a:lnTo>
                </a:path>
              </a:pathLst>
            </a:custGeom>
            <a:ln w="37670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21455" y="4864270"/>
              <a:ext cx="4068445" cy="363220"/>
            </a:xfrm>
            <a:custGeom>
              <a:avLst/>
              <a:gdLst/>
              <a:ahLst/>
              <a:cxnLst/>
              <a:rect l="l" t="t" r="r" b="b"/>
              <a:pathLst>
                <a:path w="4068445" h="363220">
                  <a:moveTo>
                    <a:pt x="4068165" y="0"/>
                  </a:moveTo>
                  <a:lnTo>
                    <a:pt x="0" y="0"/>
                  </a:lnTo>
                  <a:lnTo>
                    <a:pt x="0" y="362638"/>
                  </a:lnTo>
                  <a:lnTo>
                    <a:pt x="4068165" y="362638"/>
                  </a:lnTo>
                  <a:lnTo>
                    <a:pt x="4068165" y="0"/>
                  </a:lnTo>
                  <a:close/>
                </a:path>
              </a:pathLst>
            </a:custGeom>
            <a:solidFill>
              <a:srgbClr val="D4F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599159" y="4896782"/>
            <a:ext cx="357441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15" dirty="0">
                <a:solidFill>
                  <a:srgbClr val="FF0000"/>
                </a:solidFill>
                <a:latin typeface="Calibri"/>
                <a:cs typeface="Calibri"/>
              </a:rPr>
              <a:t>Can be </a:t>
            </a:r>
            <a:r>
              <a:rPr sz="1750" spc="10" dirty="0">
                <a:solidFill>
                  <a:srgbClr val="FF0000"/>
                </a:solidFill>
                <a:latin typeface="Calibri"/>
                <a:cs typeface="Calibri"/>
              </a:rPr>
              <a:t>learned </a:t>
            </a:r>
            <a:r>
              <a:rPr sz="1750" spc="5" dirty="0">
                <a:solidFill>
                  <a:srgbClr val="FF0000"/>
                </a:solidFill>
                <a:latin typeface="Calibri"/>
                <a:cs typeface="Calibri"/>
              </a:rPr>
              <a:t>from </a:t>
            </a:r>
            <a:r>
              <a:rPr sz="1750" spc="-5" dirty="0">
                <a:solidFill>
                  <a:srgbClr val="FF0000"/>
                </a:solidFill>
                <a:latin typeface="Calibri"/>
                <a:cs typeface="Calibri"/>
              </a:rPr>
              <a:t>observa</a:t>
            </a:r>
            <a:r>
              <a:rPr lang="en-US" sz="1750" spc="-5" dirty="0">
                <a:solidFill>
                  <a:srgbClr val="FF0000"/>
                </a:solidFill>
                <a:latin typeface="Calibri"/>
                <a:cs typeface="Calibri"/>
              </a:rPr>
              <a:t>ti</a:t>
            </a:r>
            <a:r>
              <a:rPr sz="1750" spc="-5" dirty="0">
                <a:solidFill>
                  <a:srgbClr val="FF0000"/>
                </a:solidFill>
                <a:latin typeface="Calibri"/>
                <a:cs typeface="Calibri"/>
              </a:rPr>
              <a:t>on</a:t>
            </a:r>
            <a:r>
              <a:rPr sz="175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FF0000"/>
                </a:solidFill>
                <a:latin typeface="Calibri"/>
                <a:cs typeface="Calibri"/>
              </a:rPr>
              <a:t>data!</a:t>
            </a:r>
            <a:endParaRPr sz="1750" dirty="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227287" y="3794252"/>
            <a:ext cx="1533525" cy="1151890"/>
            <a:chOff x="6227287" y="3794252"/>
            <a:chExt cx="1533525" cy="1151890"/>
          </a:xfrm>
        </p:grpSpPr>
        <p:sp>
          <p:nvSpPr>
            <p:cNvPr id="9" name="object 9"/>
            <p:cNvSpPr/>
            <p:nvPr/>
          </p:nvSpPr>
          <p:spPr>
            <a:xfrm>
              <a:off x="6233566" y="3809322"/>
              <a:ext cx="1506855" cy="1130300"/>
            </a:xfrm>
            <a:custGeom>
              <a:avLst/>
              <a:gdLst/>
              <a:ahLst/>
              <a:cxnLst/>
              <a:rect l="l" t="t" r="r" b="b"/>
              <a:pathLst>
                <a:path w="1506854" h="1130300">
                  <a:moveTo>
                    <a:pt x="0" y="1130300"/>
                  </a:moveTo>
                  <a:lnTo>
                    <a:pt x="1506728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77513" y="3794252"/>
              <a:ext cx="83185" cy="75565"/>
            </a:xfrm>
            <a:custGeom>
              <a:avLst/>
              <a:gdLst/>
              <a:ahLst/>
              <a:cxnLst/>
              <a:rect l="l" t="t" r="r" b="b"/>
              <a:pathLst>
                <a:path w="83184" h="75564">
                  <a:moveTo>
                    <a:pt x="82870" y="0"/>
                  </a:moveTo>
                  <a:lnTo>
                    <a:pt x="0" y="15071"/>
                  </a:lnTo>
                  <a:lnTo>
                    <a:pt x="45201" y="75354"/>
                  </a:lnTo>
                  <a:lnTo>
                    <a:pt x="828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0906" y="1076681"/>
            <a:ext cx="3279775" cy="5080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150" b="1" spc="5" dirty="0">
                <a:latin typeface="Calibri"/>
                <a:cs typeface="Calibri"/>
              </a:rPr>
              <a:t>A </a:t>
            </a:r>
            <a:r>
              <a:rPr sz="3150" b="1" spc="-10" dirty="0">
                <a:latin typeface="Calibri"/>
                <a:cs typeface="Calibri"/>
              </a:rPr>
              <a:t>example</a:t>
            </a:r>
            <a:r>
              <a:rPr sz="3150" b="1" spc="-55" dirty="0">
                <a:latin typeface="Calibri"/>
                <a:cs typeface="Calibri"/>
              </a:rPr>
              <a:t> </a:t>
            </a:r>
            <a:r>
              <a:rPr sz="3150" b="1" spc="-5" dirty="0">
                <a:latin typeface="Calibri"/>
                <a:cs typeface="Calibri"/>
              </a:rPr>
              <a:t>problem</a:t>
            </a:r>
            <a:endParaRPr sz="31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7722" y="2033859"/>
            <a:ext cx="6952615" cy="349821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51155" indent="-339090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351155" algn="l"/>
                <a:tab pos="351790" algn="l"/>
              </a:tabLst>
            </a:pPr>
            <a:r>
              <a:rPr sz="2350" spc="10" dirty="0">
                <a:latin typeface="Calibri"/>
                <a:cs typeface="Calibri"/>
              </a:rPr>
              <a:t>An </a:t>
            </a:r>
            <a:r>
              <a:rPr sz="2350" spc="5" dirty="0">
                <a:latin typeface="Calibri"/>
                <a:cs typeface="Calibri"/>
              </a:rPr>
              <a:t>alarm</a:t>
            </a:r>
            <a:r>
              <a:rPr sz="2350" spc="-5" dirty="0">
                <a:latin typeface="Calibri"/>
                <a:cs typeface="Calibri"/>
              </a:rPr>
              <a:t> </a:t>
            </a:r>
            <a:r>
              <a:rPr sz="2350" spc="-15" dirty="0">
                <a:latin typeface="Calibri"/>
                <a:cs typeface="Calibri"/>
              </a:rPr>
              <a:t>system</a:t>
            </a:r>
            <a:endParaRPr sz="2350" dirty="0">
              <a:latin typeface="Calibri"/>
              <a:cs typeface="Calibri"/>
            </a:endParaRPr>
          </a:p>
          <a:p>
            <a:pPr marL="285115">
              <a:lnSpc>
                <a:spcPct val="100000"/>
              </a:lnSpc>
              <a:spcBef>
                <a:spcPts val="620"/>
              </a:spcBef>
            </a:pPr>
            <a:r>
              <a:rPr sz="2350" spc="10" dirty="0">
                <a:latin typeface="Calibri"/>
                <a:cs typeface="Calibri"/>
              </a:rPr>
              <a:t>B – </a:t>
            </a:r>
            <a:r>
              <a:rPr sz="2350" spc="5" dirty="0">
                <a:latin typeface="Calibri"/>
                <a:cs typeface="Calibri"/>
              </a:rPr>
              <a:t>Did </a:t>
            </a:r>
            <a:r>
              <a:rPr sz="2350" spc="10" dirty="0">
                <a:latin typeface="Calibri"/>
                <a:cs typeface="Calibri"/>
              </a:rPr>
              <a:t>a </a:t>
            </a:r>
            <a:r>
              <a:rPr sz="2350" spc="5" dirty="0">
                <a:latin typeface="Calibri"/>
                <a:cs typeface="Calibri"/>
              </a:rPr>
              <a:t>burglary</a:t>
            </a:r>
            <a:r>
              <a:rPr sz="2350" spc="-65" dirty="0">
                <a:latin typeface="Calibri"/>
                <a:cs typeface="Calibri"/>
              </a:rPr>
              <a:t> </a:t>
            </a:r>
            <a:r>
              <a:rPr sz="2350" spc="5" dirty="0">
                <a:latin typeface="Calibri"/>
                <a:cs typeface="Calibri"/>
              </a:rPr>
              <a:t>occur?</a:t>
            </a:r>
            <a:endParaRPr sz="2350" dirty="0">
              <a:latin typeface="Calibri"/>
              <a:cs typeface="Calibri"/>
            </a:endParaRPr>
          </a:p>
          <a:p>
            <a:pPr marL="285115" marR="3092450">
              <a:lnSpc>
                <a:spcPts val="3460"/>
              </a:lnSpc>
              <a:spcBef>
                <a:spcPts val="125"/>
              </a:spcBef>
            </a:pPr>
            <a:r>
              <a:rPr sz="2350" spc="10" dirty="0">
                <a:latin typeface="Calibri"/>
                <a:cs typeface="Calibri"/>
              </a:rPr>
              <a:t>E – </a:t>
            </a:r>
            <a:r>
              <a:rPr sz="2350" spc="5" dirty="0">
                <a:latin typeface="Calibri"/>
                <a:cs typeface="Calibri"/>
              </a:rPr>
              <a:t>Did </a:t>
            </a:r>
            <a:r>
              <a:rPr sz="2350" spc="10" dirty="0">
                <a:latin typeface="Calibri"/>
                <a:cs typeface="Calibri"/>
              </a:rPr>
              <a:t>an </a:t>
            </a:r>
            <a:r>
              <a:rPr sz="2350" dirty="0">
                <a:latin typeface="Calibri"/>
                <a:cs typeface="Calibri"/>
              </a:rPr>
              <a:t>earthquake</a:t>
            </a:r>
            <a:r>
              <a:rPr sz="2350" spc="-50" dirty="0">
                <a:latin typeface="Calibri"/>
                <a:cs typeface="Calibri"/>
              </a:rPr>
              <a:t> </a:t>
            </a:r>
            <a:r>
              <a:rPr sz="2350" spc="5" dirty="0">
                <a:latin typeface="Calibri"/>
                <a:cs typeface="Calibri"/>
              </a:rPr>
              <a:t>occur?  </a:t>
            </a:r>
            <a:r>
              <a:rPr sz="2350" spc="10" dirty="0">
                <a:latin typeface="Calibri"/>
                <a:cs typeface="Calibri"/>
              </a:rPr>
              <a:t>A – </a:t>
            </a:r>
            <a:r>
              <a:rPr sz="2350" spc="5" dirty="0">
                <a:latin typeface="Calibri"/>
                <a:cs typeface="Calibri"/>
              </a:rPr>
              <a:t>Did </a:t>
            </a:r>
            <a:r>
              <a:rPr sz="2350" spc="10" dirty="0">
                <a:latin typeface="Calibri"/>
                <a:cs typeface="Calibri"/>
              </a:rPr>
              <a:t>the </a:t>
            </a:r>
            <a:r>
              <a:rPr sz="2350" spc="5" dirty="0">
                <a:latin typeface="Calibri"/>
                <a:cs typeface="Calibri"/>
              </a:rPr>
              <a:t>alarm </a:t>
            </a:r>
            <a:r>
              <a:rPr sz="2350" dirty="0">
                <a:latin typeface="Calibri"/>
                <a:cs typeface="Calibri"/>
              </a:rPr>
              <a:t>go</a:t>
            </a:r>
            <a:r>
              <a:rPr sz="2350" spc="-35" dirty="0">
                <a:latin typeface="Calibri"/>
                <a:cs typeface="Calibri"/>
              </a:rPr>
              <a:t> </a:t>
            </a:r>
            <a:r>
              <a:rPr sz="2350" spc="10" dirty="0">
                <a:latin typeface="Calibri"/>
                <a:cs typeface="Calibri"/>
              </a:rPr>
              <a:t>oﬀ?</a:t>
            </a:r>
            <a:endParaRPr sz="2350" dirty="0">
              <a:latin typeface="Calibri"/>
              <a:cs typeface="Calibri"/>
            </a:endParaRPr>
          </a:p>
          <a:p>
            <a:pPr marL="285115">
              <a:lnSpc>
                <a:spcPct val="100000"/>
              </a:lnSpc>
              <a:spcBef>
                <a:spcPts val="320"/>
              </a:spcBef>
            </a:pPr>
            <a:r>
              <a:rPr sz="2350" spc="15" dirty="0">
                <a:latin typeface="Calibri"/>
                <a:cs typeface="Calibri"/>
              </a:rPr>
              <a:t>M </a:t>
            </a:r>
            <a:r>
              <a:rPr sz="2350" spc="10" dirty="0">
                <a:latin typeface="Calibri"/>
                <a:cs typeface="Calibri"/>
              </a:rPr>
              <a:t>– Mary</a:t>
            </a:r>
            <a:r>
              <a:rPr sz="2350" spc="-1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calls</a:t>
            </a:r>
          </a:p>
          <a:p>
            <a:pPr marL="285115">
              <a:lnSpc>
                <a:spcPct val="100000"/>
              </a:lnSpc>
              <a:spcBef>
                <a:spcPts val="640"/>
              </a:spcBef>
            </a:pPr>
            <a:r>
              <a:rPr sz="2350" spc="5" dirty="0">
                <a:latin typeface="Calibri"/>
                <a:cs typeface="Calibri"/>
              </a:rPr>
              <a:t>J </a:t>
            </a:r>
            <a:r>
              <a:rPr sz="2350" spc="10" dirty="0">
                <a:latin typeface="Calibri"/>
                <a:cs typeface="Calibri"/>
              </a:rPr>
              <a:t>– </a:t>
            </a:r>
            <a:r>
              <a:rPr sz="2350" spc="5" dirty="0">
                <a:latin typeface="Calibri"/>
                <a:cs typeface="Calibri"/>
              </a:rPr>
              <a:t>John</a:t>
            </a:r>
            <a:r>
              <a:rPr sz="2350" spc="-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calls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250" dirty="0">
              <a:latin typeface="Calibri"/>
              <a:cs typeface="Calibri"/>
            </a:endParaRPr>
          </a:p>
          <a:p>
            <a:pPr marL="351155" indent="-339090">
              <a:lnSpc>
                <a:spcPct val="100000"/>
              </a:lnSpc>
              <a:buFont typeface="Arial"/>
              <a:buChar char="•"/>
              <a:tabLst>
                <a:tab pos="351155" algn="l"/>
                <a:tab pos="351790" algn="l"/>
              </a:tabLst>
            </a:pPr>
            <a:r>
              <a:rPr sz="2350" spc="5" dirty="0">
                <a:latin typeface="Calibri"/>
                <a:cs typeface="Calibri"/>
              </a:rPr>
              <a:t>How </a:t>
            </a:r>
            <a:r>
              <a:rPr sz="2350" spc="10" dirty="0">
                <a:latin typeface="Calibri"/>
                <a:cs typeface="Calibri"/>
              </a:rPr>
              <a:t>do </a:t>
            </a:r>
            <a:r>
              <a:rPr sz="2350" dirty="0">
                <a:latin typeface="Calibri"/>
                <a:cs typeface="Calibri"/>
              </a:rPr>
              <a:t>we reconstruct </a:t>
            </a:r>
            <a:r>
              <a:rPr sz="2350" spc="10" dirty="0">
                <a:latin typeface="Calibri"/>
                <a:cs typeface="Calibri"/>
              </a:rPr>
              <a:t>the </a:t>
            </a:r>
            <a:r>
              <a:rPr sz="2350" dirty="0">
                <a:latin typeface="Calibri"/>
                <a:cs typeface="Calibri"/>
              </a:rPr>
              <a:t>network </a:t>
            </a:r>
            <a:r>
              <a:rPr sz="2350" spc="-10" dirty="0">
                <a:latin typeface="Calibri"/>
                <a:cs typeface="Calibri"/>
              </a:rPr>
              <a:t>for </a:t>
            </a:r>
            <a:r>
              <a:rPr sz="2350" spc="5" dirty="0">
                <a:latin typeface="Calibri"/>
                <a:cs typeface="Calibri"/>
              </a:rPr>
              <a:t>this</a:t>
            </a:r>
            <a:r>
              <a:rPr sz="2350" spc="3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problem?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8861" y="1076681"/>
            <a:ext cx="4901139" cy="49949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150" b="1" spc="-10" dirty="0">
                <a:latin typeface="Calibri"/>
                <a:cs typeface="Calibri"/>
              </a:rPr>
              <a:t>Factoring </a:t>
            </a:r>
            <a:r>
              <a:rPr sz="3150" b="1" spc="-5" dirty="0">
                <a:latin typeface="Calibri"/>
                <a:cs typeface="Calibri"/>
              </a:rPr>
              <a:t>joint</a:t>
            </a:r>
            <a:r>
              <a:rPr sz="3150" b="1" spc="-25" dirty="0">
                <a:latin typeface="Calibri"/>
                <a:cs typeface="Calibri"/>
              </a:rPr>
              <a:t> </a:t>
            </a:r>
            <a:r>
              <a:rPr sz="3150" b="1" spc="70" dirty="0">
                <a:latin typeface="Calibri"/>
                <a:cs typeface="Calibri"/>
              </a:rPr>
              <a:t>distribu</a:t>
            </a:r>
            <a:r>
              <a:rPr lang="en-US" sz="3150" b="1" spc="70" dirty="0">
                <a:latin typeface="Calibri"/>
                <a:cs typeface="Calibri"/>
              </a:rPr>
              <a:t>ti</a:t>
            </a:r>
            <a:r>
              <a:rPr sz="3150" b="1" spc="70" dirty="0">
                <a:latin typeface="Calibri"/>
                <a:cs typeface="Calibri"/>
              </a:rPr>
              <a:t>ons</a:t>
            </a:r>
            <a:endParaRPr sz="315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7722" y="2108709"/>
            <a:ext cx="7722234" cy="415480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1155" marR="5080" indent="-339090">
              <a:lnSpc>
                <a:spcPct val="101699"/>
              </a:lnSpc>
              <a:spcBef>
                <a:spcPts val="75"/>
              </a:spcBef>
              <a:buFont typeface="Arial"/>
              <a:buChar char="•"/>
              <a:tabLst>
                <a:tab pos="351155" algn="l"/>
                <a:tab pos="351790" algn="l"/>
              </a:tabLst>
            </a:pPr>
            <a:r>
              <a:rPr sz="2350" spc="10" dirty="0">
                <a:latin typeface="Calibri"/>
                <a:cs typeface="Calibri"/>
              </a:rPr>
              <a:t>Using the </a:t>
            </a:r>
            <a:r>
              <a:rPr sz="2350" spc="5" dirty="0">
                <a:latin typeface="Calibri"/>
                <a:cs typeface="Calibri"/>
              </a:rPr>
              <a:t>chain rule </a:t>
            </a:r>
            <a:r>
              <a:rPr sz="2350" dirty="0">
                <a:latin typeface="Calibri"/>
                <a:cs typeface="Calibri"/>
              </a:rPr>
              <a:t>we can </a:t>
            </a:r>
            <a:r>
              <a:rPr sz="2350" spc="-10" dirty="0">
                <a:latin typeface="Calibri"/>
                <a:cs typeface="Calibri"/>
              </a:rPr>
              <a:t>always </a:t>
            </a:r>
            <a:r>
              <a:rPr sz="2350" spc="-5" dirty="0">
                <a:latin typeface="Calibri"/>
                <a:cs typeface="Calibri"/>
              </a:rPr>
              <a:t>factor </a:t>
            </a:r>
            <a:r>
              <a:rPr sz="2350" spc="10" dirty="0">
                <a:latin typeface="Calibri"/>
                <a:cs typeface="Calibri"/>
              </a:rPr>
              <a:t>a </a:t>
            </a:r>
            <a:r>
              <a:rPr sz="2350" dirty="0">
                <a:latin typeface="Calibri"/>
                <a:cs typeface="Calibri"/>
              </a:rPr>
              <a:t>joint </a:t>
            </a:r>
            <a:r>
              <a:rPr sz="2350" spc="-10" dirty="0">
                <a:latin typeface="Calibri"/>
                <a:cs typeface="Calibri"/>
              </a:rPr>
              <a:t>distribu</a:t>
            </a:r>
            <a:r>
              <a:rPr lang="en-US" sz="2350" spc="-10" dirty="0">
                <a:latin typeface="Calibri"/>
                <a:cs typeface="Calibri"/>
              </a:rPr>
              <a:t>ti</a:t>
            </a:r>
            <a:r>
              <a:rPr sz="2350" spc="-10" dirty="0">
                <a:latin typeface="Calibri"/>
                <a:cs typeface="Calibri"/>
              </a:rPr>
              <a:t>on  </a:t>
            </a:r>
            <a:r>
              <a:rPr sz="2350" spc="5" dirty="0">
                <a:latin typeface="Calibri"/>
                <a:cs typeface="Calibri"/>
              </a:rPr>
              <a:t>as</a:t>
            </a:r>
            <a:r>
              <a:rPr sz="2350" dirty="0">
                <a:latin typeface="Calibri"/>
                <a:cs typeface="Calibri"/>
              </a:rPr>
              <a:t> </a:t>
            </a:r>
            <a:r>
              <a:rPr sz="2350" spc="-5" dirty="0">
                <a:latin typeface="Calibri"/>
                <a:cs typeface="Calibri"/>
              </a:rPr>
              <a:t>follows:</a:t>
            </a:r>
            <a:endParaRPr sz="2350" dirty="0">
              <a:latin typeface="Calibri"/>
              <a:cs typeface="Calibri"/>
            </a:endParaRPr>
          </a:p>
          <a:p>
            <a:pPr marL="285115">
              <a:lnSpc>
                <a:spcPct val="100000"/>
              </a:lnSpc>
              <a:spcBef>
                <a:spcPts val="615"/>
              </a:spcBef>
            </a:pPr>
            <a:r>
              <a:rPr sz="2350" spc="5" dirty="0">
                <a:latin typeface="Calibri"/>
                <a:cs typeface="Calibri"/>
              </a:rPr>
              <a:t>P(M,J,A,B,E)</a:t>
            </a:r>
            <a:r>
              <a:rPr sz="2350" dirty="0">
                <a:latin typeface="Calibri"/>
                <a:cs typeface="Calibri"/>
              </a:rPr>
              <a:t> </a:t>
            </a:r>
            <a:r>
              <a:rPr sz="2350" spc="10" dirty="0">
                <a:latin typeface="Calibri"/>
                <a:cs typeface="Calibri"/>
              </a:rPr>
              <a:t>=</a:t>
            </a:r>
            <a:endParaRPr sz="2350" dirty="0">
              <a:latin typeface="Calibri"/>
              <a:cs typeface="Calibri"/>
            </a:endParaRPr>
          </a:p>
          <a:p>
            <a:pPr marL="829944">
              <a:lnSpc>
                <a:spcPct val="100000"/>
              </a:lnSpc>
              <a:spcBef>
                <a:spcPts val="545"/>
              </a:spcBef>
            </a:pPr>
            <a:r>
              <a:rPr sz="2350" spc="10" dirty="0">
                <a:latin typeface="Calibri"/>
                <a:cs typeface="Calibri"/>
              </a:rPr>
              <a:t>P(M </a:t>
            </a:r>
            <a:r>
              <a:rPr sz="2350" dirty="0">
                <a:latin typeface="Calibri"/>
                <a:cs typeface="Calibri"/>
              </a:rPr>
              <a:t>|J,A,B,E) P(J,A,B,E) </a:t>
            </a:r>
            <a:r>
              <a:rPr sz="2350" spc="10" dirty="0">
                <a:latin typeface="Calibri"/>
                <a:cs typeface="Calibri"/>
              </a:rPr>
              <a:t>=</a:t>
            </a:r>
            <a:endParaRPr sz="2350" dirty="0">
              <a:latin typeface="Calibri"/>
              <a:cs typeface="Calibri"/>
            </a:endParaRPr>
          </a:p>
          <a:p>
            <a:pPr marL="829944">
              <a:lnSpc>
                <a:spcPct val="100000"/>
              </a:lnSpc>
              <a:spcBef>
                <a:spcPts val="640"/>
              </a:spcBef>
            </a:pPr>
            <a:r>
              <a:rPr sz="2350" spc="10" dirty="0">
                <a:latin typeface="Calibri"/>
                <a:cs typeface="Calibri"/>
              </a:rPr>
              <a:t>P(M | </a:t>
            </a:r>
            <a:r>
              <a:rPr sz="2350" dirty="0">
                <a:latin typeface="Calibri"/>
                <a:cs typeface="Calibri"/>
              </a:rPr>
              <a:t>J,A,B,E) </a:t>
            </a:r>
            <a:r>
              <a:rPr sz="2350" spc="5" dirty="0">
                <a:latin typeface="Calibri"/>
                <a:cs typeface="Calibri"/>
              </a:rPr>
              <a:t>P(J </a:t>
            </a:r>
            <a:r>
              <a:rPr sz="2350" spc="10" dirty="0">
                <a:latin typeface="Calibri"/>
                <a:cs typeface="Calibri"/>
              </a:rPr>
              <a:t>| </a:t>
            </a:r>
            <a:r>
              <a:rPr sz="2350" spc="5" dirty="0">
                <a:latin typeface="Calibri"/>
                <a:cs typeface="Calibri"/>
              </a:rPr>
              <a:t>A,B,E) P(A| </a:t>
            </a:r>
            <a:r>
              <a:rPr sz="2350" dirty="0">
                <a:latin typeface="Calibri"/>
                <a:cs typeface="Calibri"/>
              </a:rPr>
              <a:t>B,E)</a:t>
            </a:r>
            <a:r>
              <a:rPr sz="2350" spc="-15" dirty="0">
                <a:latin typeface="Calibri"/>
                <a:cs typeface="Calibri"/>
              </a:rPr>
              <a:t> </a:t>
            </a:r>
            <a:r>
              <a:rPr sz="2350" spc="10" dirty="0">
                <a:latin typeface="Calibri"/>
                <a:cs typeface="Calibri"/>
              </a:rPr>
              <a:t>=</a:t>
            </a:r>
            <a:endParaRPr sz="2350" dirty="0">
              <a:latin typeface="Calibri"/>
              <a:cs typeface="Calibri"/>
            </a:endParaRPr>
          </a:p>
          <a:p>
            <a:pPr marL="829944">
              <a:lnSpc>
                <a:spcPct val="100000"/>
              </a:lnSpc>
              <a:spcBef>
                <a:spcPts val="540"/>
              </a:spcBef>
            </a:pPr>
            <a:r>
              <a:rPr sz="2350" spc="10" dirty="0">
                <a:latin typeface="Calibri"/>
                <a:cs typeface="Calibri"/>
              </a:rPr>
              <a:t>P(M | </a:t>
            </a:r>
            <a:r>
              <a:rPr sz="2350" dirty="0">
                <a:latin typeface="Calibri"/>
                <a:cs typeface="Calibri"/>
              </a:rPr>
              <a:t>J,A,B,E) </a:t>
            </a:r>
            <a:r>
              <a:rPr sz="2350" spc="5" dirty="0">
                <a:latin typeface="Calibri"/>
                <a:cs typeface="Calibri"/>
              </a:rPr>
              <a:t>P(J </a:t>
            </a:r>
            <a:r>
              <a:rPr sz="2350" spc="10" dirty="0">
                <a:latin typeface="Calibri"/>
                <a:cs typeface="Calibri"/>
              </a:rPr>
              <a:t>| </a:t>
            </a:r>
            <a:r>
              <a:rPr sz="2350" spc="5" dirty="0">
                <a:latin typeface="Calibri"/>
                <a:cs typeface="Calibri"/>
              </a:rPr>
              <a:t>A,B,E) P(A </a:t>
            </a:r>
            <a:r>
              <a:rPr sz="2350" spc="10" dirty="0">
                <a:latin typeface="Calibri"/>
                <a:cs typeface="Calibri"/>
              </a:rPr>
              <a:t>| </a:t>
            </a:r>
            <a:r>
              <a:rPr sz="2350" dirty="0">
                <a:latin typeface="Calibri"/>
                <a:cs typeface="Calibri"/>
              </a:rPr>
              <a:t>B,E)</a:t>
            </a:r>
            <a:r>
              <a:rPr sz="2350" spc="-2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P(B,E)</a:t>
            </a:r>
          </a:p>
          <a:p>
            <a:pPr marL="829944">
              <a:lnSpc>
                <a:spcPct val="100000"/>
              </a:lnSpc>
              <a:spcBef>
                <a:spcPts val="645"/>
              </a:spcBef>
            </a:pPr>
            <a:r>
              <a:rPr sz="2350" spc="10" dirty="0">
                <a:latin typeface="Calibri"/>
                <a:cs typeface="Calibri"/>
              </a:rPr>
              <a:t>P(M | </a:t>
            </a:r>
            <a:r>
              <a:rPr sz="2350" dirty="0">
                <a:latin typeface="Calibri"/>
                <a:cs typeface="Calibri"/>
              </a:rPr>
              <a:t>J,A,B,E) </a:t>
            </a:r>
            <a:r>
              <a:rPr sz="2350" spc="5" dirty="0">
                <a:latin typeface="Calibri"/>
                <a:cs typeface="Calibri"/>
              </a:rPr>
              <a:t>P(J </a:t>
            </a:r>
            <a:r>
              <a:rPr sz="2350" spc="10" dirty="0">
                <a:latin typeface="Calibri"/>
                <a:cs typeface="Calibri"/>
              </a:rPr>
              <a:t>| </a:t>
            </a:r>
            <a:r>
              <a:rPr sz="2350" spc="5" dirty="0">
                <a:latin typeface="Calibri"/>
                <a:cs typeface="Calibri"/>
              </a:rPr>
              <a:t>A,B,E) P(A </a:t>
            </a:r>
            <a:r>
              <a:rPr sz="2350" spc="10" dirty="0">
                <a:latin typeface="Calibri"/>
                <a:cs typeface="Calibri"/>
              </a:rPr>
              <a:t>| </a:t>
            </a:r>
            <a:r>
              <a:rPr sz="2350" dirty="0">
                <a:latin typeface="Calibri"/>
                <a:cs typeface="Calibri"/>
              </a:rPr>
              <a:t>B,E)P(B </a:t>
            </a:r>
            <a:r>
              <a:rPr sz="2350" spc="10" dirty="0">
                <a:latin typeface="Calibri"/>
                <a:cs typeface="Calibri"/>
              </a:rPr>
              <a:t>|</a:t>
            </a:r>
            <a:r>
              <a:rPr sz="2350" spc="-10" dirty="0">
                <a:latin typeface="Calibri"/>
                <a:cs typeface="Calibri"/>
              </a:rPr>
              <a:t> </a:t>
            </a:r>
            <a:r>
              <a:rPr sz="2350" spc="5" dirty="0">
                <a:latin typeface="Calibri"/>
                <a:cs typeface="Calibri"/>
              </a:rPr>
              <a:t>E)P(E)</a:t>
            </a:r>
            <a:endParaRPr sz="23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200" dirty="0">
              <a:latin typeface="Calibri"/>
              <a:cs typeface="Calibri"/>
            </a:endParaRPr>
          </a:p>
          <a:p>
            <a:pPr marL="351155" marR="1296035" indent="-339090">
              <a:lnSpc>
                <a:spcPct val="102499"/>
              </a:lnSpc>
              <a:buFont typeface="Arial"/>
              <a:buChar char="•"/>
              <a:tabLst>
                <a:tab pos="351155" algn="l"/>
                <a:tab pos="351790" algn="l"/>
              </a:tabLst>
            </a:pPr>
            <a:r>
              <a:rPr sz="2350" spc="5" dirty="0">
                <a:latin typeface="Calibri"/>
                <a:cs typeface="Calibri"/>
              </a:rPr>
              <a:t>This type of </a:t>
            </a:r>
            <a:r>
              <a:rPr sz="2350" spc="-10" dirty="0">
                <a:latin typeface="Calibri"/>
                <a:cs typeface="Calibri"/>
              </a:rPr>
              <a:t>condi</a:t>
            </a:r>
            <a:r>
              <a:rPr lang="en-US" sz="2350" spc="-10" dirty="0">
                <a:latin typeface="Calibri"/>
                <a:cs typeface="Calibri"/>
              </a:rPr>
              <a:t>ti</a:t>
            </a:r>
            <a:r>
              <a:rPr sz="2350" spc="-10" dirty="0">
                <a:latin typeface="Calibri"/>
                <a:cs typeface="Calibri"/>
              </a:rPr>
              <a:t>onal </a:t>
            </a:r>
            <a:r>
              <a:rPr sz="2350" spc="10" dirty="0">
                <a:latin typeface="Calibri"/>
                <a:cs typeface="Calibri"/>
              </a:rPr>
              <a:t>dependencies </a:t>
            </a:r>
            <a:r>
              <a:rPr sz="2350" dirty="0">
                <a:latin typeface="Calibri"/>
                <a:cs typeface="Calibri"/>
              </a:rPr>
              <a:t>can </a:t>
            </a:r>
            <a:r>
              <a:rPr sz="2350" spc="5" dirty="0">
                <a:latin typeface="Calibri"/>
                <a:cs typeface="Calibri"/>
              </a:rPr>
              <a:t>also </a:t>
            </a:r>
            <a:r>
              <a:rPr sz="2350" spc="10" dirty="0">
                <a:latin typeface="Calibri"/>
                <a:cs typeface="Calibri"/>
              </a:rPr>
              <a:t>be  </a:t>
            </a:r>
            <a:r>
              <a:rPr sz="2350" spc="-5" dirty="0">
                <a:latin typeface="Calibri"/>
                <a:cs typeface="Calibri"/>
              </a:rPr>
              <a:t>represented</a:t>
            </a:r>
            <a:r>
              <a:rPr sz="2350" spc="5" dirty="0">
                <a:latin typeface="Calibri"/>
                <a:cs typeface="Calibri"/>
              </a:rPr>
              <a:t> </a:t>
            </a:r>
            <a:r>
              <a:rPr sz="2350" spc="-15" dirty="0">
                <a:latin typeface="Calibri"/>
                <a:cs typeface="Calibri"/>
              </a:rPr>
              <a:t>graphically.</a:t>
            </a:r>
            <a:endParaRPr sz="23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5694" y="1076681"/>
            <a:ext cx="3330575" cy="5080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150" b="1" spc="5" dirty="0">
                <a:latin typeface="Calibri"/>
                <a:cs typeface="Calibri"/>
              </a:rPr>
              <a:t>A </a:t>
            </a:r>
            <a:r>
              <a:rPr sz="3150" b="1" spc="-10" dirty="0">
                <a:latin typeface="Calibri"/>
                <a:cs typeface="Calibri"/>
              </a:rPr>
              <a:t>Bayesian</a:t>
            </a:r>
            <a:r>
              <a:rPr sz="3150" b="1" spc="-60" dirty="0">
                <a:latin typeface="Calibri"/>
                <a:cs typeface="Calibri"/>
              </a:rPr>
              <a:t> </a:t>
            </a:r>
            <a:r>
              <a:rPr sz="3150" b="1" spc="-5" dirty="0">
                <a:latin typeface="Calibri"/>
                <a:cs typeface="Calibri"/>
              </a:rPr>
              <a:t>network</a:t>
            </a:r>
            <a:endParaRPr sz="315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473852" y="4481152"/>
            <a:ext cx="3704590" cy="2198370"/>
            <a:chOff x="5473852" y="4481152"/>
            <a:chExt cx="3704590" cy="2198370"/>
          </a:xfrm>
        </p:grpSpPr>
        <p:sp>
          <p:nvSpPr>
            <p:cNvPr id="4" name="object 4"/>
            <p:cNvSpPr/>
            <p:nvPr/>
          </p:nvSpPr>
          <p:spPr>
            <a:xfrm>
              <a:off x="5480202" y="614527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4">
                  <a:moveTo>
                    <a:pt x="263677" y="0"/>
                  </a:moveTo>
                  <a:lnTo>
                    <a:pt x="216281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4"/>
                  </a:lnTo>
                  <a:lnTo>
                    <a:pt x="16496" y="171710"/>
                  </a:lnTo>
                  <a:lnTo>
                    <a:pt x="4248" y="216330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49"/>
                  </a:lnTo>
                  <a:lnTo>
                    <a:pt x="62013" y="433659"/>
                  </a:lnTo>
                  <a:lnTo>
                    <a:pt x="93793" y="465446"/>
                  </a:lnTo>
                  <a:lnTo>
                    <a:pt x="130594" y="491465"/>
                  </a:lnTo>
                  <a:lnTo>
                    <a:pt x="171671" y="510973"/>
                  </a:lnTo>
                  <a:lnTo>
                    <a:pt x="216281" y="523224"/>
                  </a:lnTo>
                  <a:lnTo>
                    <a:pt x="263677" y="527473"/>
                  </a:lnTo>
                  <a:lnTo>
                    <a:pt x="311073" y="523224"/>
                  </a:lnTo>
                  <a:lnTo>
                    <a:pt x="355682" y="510973"/>
                  </a:lnTo>
                  <a:lnTo>
                    <a:pt x="396760" y="491465"/>
                  </a:lnTo>
                  <a:lnTo>
                    <a:pt x="433561" y="465446"/>
                  </a:lnTo>
                  <a:lnTo>
                    <a:pt x="465341" y="433659"/>
                  </a:lnTo>
                  <a:lnTo>
                    <a:pt x="491355" y="396849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30"/>
                  </a:lnTo>
                  <a:lnTo>
                    <a:pt x="510858" y="171710"/>
                  </a:lnTo>
                  <a:lnTo>
                    <a:pt x="491355" y="130624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2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0202" y="614527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4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88275" y="614527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4">
                  <a:moveTo>
                    <a:pt x="263677" y="0"/>
                  </a:moveTo>
                  <a:lnTo>
                    <a:pt x="216281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4"/>
                  </a:lnTo>
                  <a:lnTo>
                    <a:pt x="16496" y="171710"/>
                  </a:lnTo>
                  <a:lnTo>
                    <a:pt x="4248" y="216330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49"/>
                  </a:lnTo>
                  <a:lnTo>
                    <a:pt x="62013" y="433659"/>
                  </a:lnTo>
                  <a:lnTo>
                    <a:pt x="93793" y="465446"/>
                  </a:lnTo>
                  <a:lnTo>
                    <a:pt x="130594" y="491465"/>
                  </a:lnTo>
                  <a:lnTo>
                    <a:pt x="171671" y="510973"/>
                  </a:lnTo>
                  <a:lnTo>
                    <a:pt x="216281" y="523224"/>
                  </a:lnTo>
                  <a:lnTo>
                    <a:pt x="263677" y="527473"/>
                  </a:lnTo>
                  <a:lnTo>
                    <a:pt x="311073" y="523224"/>
                  </a:lnTo>
                  <a:lnTo>
                    <a:pt x="355683" y="510973"/>
                  </a:lnTo>
                  <a:lnTo>
                    <a:pt x="396760" y="491465"/>
                  </a:lnTo>
                  <a:lnTo>
                    <a:pt x="433561" y="465446"/>
                  </a:lnTo>
                  <a:lnTo>
                    <a:pt x="465341" y="433659"/>
                  </a:lnTo>
                  <a:lnTo>
                    <a:pt x="491355" y="396849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30"/>
                  </a:lnTo>
                  <a:lnTo>
                    <a:pt x="510858" y="171710"/>
                  </a:lnTo>
                  <a:lnTo>
                    <a:pt x="491355" y="130624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3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88275" y="614527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4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3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3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644331" y="4487503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499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3"/>
                  </a:lnTo>
                  <a:lnTo>
                    <a:pt x="16496" y="171709"/>
                  </a:lnTo>
                  <a:lnTo>
                    <a:pt x="4248" y="216328"/>
                  </a:lnTo>
                  <a:lnTo>
                    <a:pt x="0" y="263735"/>
                  </a:lnTo>
                  <a:lnTo>
                    <a:pt x="4248" y="311143"/>
                  </a:lnTo>
                  <a:lnTo>
                    <a:pt x="16496" y="355762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1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2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2"/>
                  </a:lnTo>
                  <a:lnTo>
                    <a:pt x="523106" y="311143"/>
                  </a:lnTo>
                  <a:lnTo>
                    <a:pt x="527354" y="263735"/>
                  </a:lnTo>
                  <a:lnTo>
                    <a:pt x="523106" y="216328"/>
                  </a:lnTo>
                  <a:lnTo>
                    <a:pt x="510858" y="171709"/>
                  </a:lnTo>
                  <a:lnTo>
                    <a:pt x="491355" y="130623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2" y="16499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44331" y="4487502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722035" y="4595367"/>
            <a:ext cx="14795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10" dirty="0">
                <a:latin typeface="Calibri"/>
                <a:cs typeface="Calibri"/>
              </a:rPr>
              <a:t>E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33242" y="6253140"/>
            <a:ext cx="10858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5" dirty="0">
                <a:latin typeface="Calibri"/>
                <a:cs typeface="Calibri"/>
              </a:rPr>
              <a:t>J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41316" y="6253140"/>
            <a:ext cx="24511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20" dirty="0">
                <a:latin typeface="Calibri"/>
                <a:cs typeface="Calibri"/>
              </a:rPr>
              <a:t>M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398516" y="2898732"/>
            <a:ext cx="2348230" cy="540385"/>
            <a:chOff x="5398516" y="2898732"/>
            <a:chExt cx="2348230" cy="540385"/>
          </a:xfrm>
        </p:grpSpPr>
        <p:sp>
          <p:nvSpPr>
            <p:cNvPr id="14" name="object 14"/>
            <p:cNvSpPr/>
            <p:nvPr/>
          </p:nvSpPr>
          <p:spPr>
            <a:xfrm>
              <a:off x="5404866" y="2905083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3"/>
                  </a:lnTo>
                  <a:lnTo>
                    <a:pt x="16496" y="171710"/>
                  </a:lnTo>
                  <a:lnTo>
                    <a:pt x="4248" y="216329"/>
                  </a:lnTo>
                  <a:lnTo>
                    <a:pt x="0" y="263735"/>
                  </a:lnTo>
                  <a:lnTo>
                    <a:pt x="4248" y="311143"/>
                  </a:lnTo>
                  <a:lnTo>
                    <a:pt x="16496" y="355762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1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3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2"/>
                  </a:lnTo>
                  <a:lnTo>
                    <a:pt x="523106" y="311143"/>
                  </a:lnTo>
                  <a:lnTo>
                    <a:pt x="527354" y="263735"/>
                  </a:lnTo>
                  <a:lnTo>
                    <a:pt x="523106" y="216329"/>
                  </a:lnTo>
                  <a:lnTo>
                    <a:pt x="510858" y="171710"/>
                  </a:lnTo>
                  <a:lnTo>
                    <a:pt x="491355" y="130623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3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04866" y="2905082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12939" y="2905083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3"/>
                  </a:lnTo>
                  <a:lnTo>
                    <a:pt x="16496" y="171710"/>
                  </a:lnTo>
                  <a:lnTo>
                    <a:pt x="4248" y="216329"/>
                  </a:lnTo>
                  <a:lnTo>
                    <a:pt x="0" y="263735"/>
                  </a:lnTo>
                  <a:lnTo>
                    <a:pt x="4248" y="311143"/>
                  </a:lnTo>
                  <a:lnTo>
                    <a:pt x="16496" y="355762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1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3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2"/>
                  </a:lnTo>
                  <a:lnTo>
                    <a:pt x="523106" y="311143"/>
                  </a:lnTo>
                  <a:lnTo>
                    <a:pt x="527354" y="263735"/>
                  </a:lnTo>
                  <a:lnTo>
                    <a:pt x="523106" y="216329"/>
                  </a:lnTo>
                  <a:lnTo>
                    <a:pt x="510858" y="171710"/>
                  </a:lnTo>
                  <a:lnTo>
                    <a:pt x="491355" y="130623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3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12939" y="2905082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557906" y="3012947"/>
            <a:ext cx="17780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15" dirty="0">
                <a:latin typeface="Calibri"/>
                <a:cs typeface="Calibri"/>
              </a:rPr>
              <a:t>A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65979" y="3012947"/>
            <a:ext cx="16637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15" dirty="0">
                <a:latin typeface="Calibri"/>
                <a:cs typeface="Calibri"/>
              </a:rPr>
              <a:t>B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549260" y="3080302"/>
            <a:ext cx="3252470" cy="3447415"/>
            <a:chOff x="5549260" y="3080302"/>
            <a:chExt cx="3252470" cy="3447415"/>
          </a:xfrm>
        </p:grpSpPr>
        <p:sp>
          <p:nvSpPr>
            <p:cNvPr id="21" name="object 21"/>
            <p:cNvSpPr/>
            <p:nvPr/>
          </p:nvSpPr>
          <p:spPr>
            <a:xfrm>
              <a:off x="6007557" y="3116070"/>
              <a:ext cx="1205865" cy="45720"/>
            </a:xfrm>
            <a:custGeom>
              <a:avLst/>
              <a:gdLst/>
              <a:ahLst/>
              <a:cxnLst/>
              <a:rect l="l" t="t" r="r" b="b"/>
              <a:pathLst>
                <a:path w="1205865" h="45719">
                  <a:moveTo>
                    <a:pt x="1205382" y="45211"/>
                  </a:moveTo>
                  <a:lnTo>
                    <a:pt x="0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982463" y="3080302"/>
              <a:ext cx="76835" cy="75565"/>
            </a:xfrm>
            <a:custGeom>
              <a:avLst/>
              <a:gdLst/>
              <a:ahLst/>
              <a:cxnLst/>
              <a:rect l="l" t="t" r="r" b="b"/>
              <a:pathLst>
                <a:path w="76835" h="75564">
                  <a:moveTo>
                    <a:pt x="76694" y="0"/>
                  </a:moveTo>
                  <a:lnTo>
                    <a:pt x="0" y="34825"/>
                  </a:lnTo>
                  <a:lnTo>
                    <a:pt x="73872" y="75300"/>
                  </a:lnTo>
                  <a:lnTo>
                    <a:pt x="766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932220" y="3372900"/>
              <a:ext cx="2712720" cy="1341120"/>
            </a:xfrm>
            <a:custGeom>
              <a:avLst/>
              <a:gdLst/>
              <a:ahLst/>
              <a:cxnLst/>
              <a:rect l="l" t="t" r="r" b="b"/>
              <a:pathLst>
                <a:path w="2712720" h="1341120">
                  <a:moveTo>
                    <a:pt x="2712110" y="1340662"/>
                  </a:moveTo>
                  <a:lnTo>
                    <a:pt x="0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909707" y="3361381"/>
              <a:ext cx="84455" cy="67945"/>
            </a:xfrm>
            <a:custGeom>
              <a:avLst/>
              <a:gdLst/>
              <a:ahLst/>
              <a:cxnLst/>
              <a:rect l="l" t="t" r="r" b="b"/>
              <a:pathLst>
                <a:path w="84454" h="67945">
                  <a:moveTo>
                    <a:pt x="84227" y="0"/>
                  </a:moveTo>
                  <a:lnTo>
                    <a:pt x="0" y="389"/>
                  </a:lnTo>
                  <a:lnTo>
                    <a:pt x="50849" y="67552"/>
                  </a:lnTo>
                  <a:lnTo>
                    <a:pt x="842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781548" y="3372901"/>
              <a:ext cx="1506855" cy="2847975"/>
            </a:xfrm>
            <a:custGeom>
              <a:avLst/>
              <a:gdLst/>
              <a:ahLst/>
              <a:cxnLst/>
              <a:rect l="l" t="t" r="r" b="b"/>
              <a:pathLst>
                <a:path w="1506854" h="2847975">
                  <a:moveTo>
                    <a:pt x="0" y="0"/>
                  </a:moveTo>
                  <a:lnTo>
                    <a:pt x="1506728" y="2847728"/>
                  </a:lnTo>
                </a:path>
              </a:pathLst>
            </a:custGeom>
            <a:ln w="12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231490" y="6158604"/>
              <a:ext cx="68580" cy="84455"/>
            </a:xfrm>
            <a:custGeom>
              <a:avLst/>
              <a:gdLst/>
              <a:ahLst/>
              <a:cxnLst/>
              <a:rect l="l" t="t" r="r" b="b"/>
              <a:pathLst>
                <a:path w="68579" h="84454">
                  <a:moveTo>
                    <a:pt x="66586" y="0"/>
                  </a:moveTo>
                  <a:lnTo>
                    <a:pt x="0" y="35247"/>
                  </a:lnTo>
                  <a:lnTo>
                    <a:pt x="68531" y="84225"/>
                  </a:lnTo>
                  <a:lnTo>
                    <a:pt x="665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555538" y="3432556"/>
              <a:ext cx="75565" cy="2712720"/>
            </a:xfrm>
            <a:custGeom>
              <a:avLst/>
              <a:gdLst/>
              <a:ahLst/>
              <a:cxnLst/>
              <a:rect l="l" t="t" r="r" b="b"/>
              <a:pathLst>
                <a:path w="75564" h="2712720">
                  <a:moveTo>
                    <a:pt x="0" y="0"/>
                  </a:moveTo>
                  <a:lnTo>
                    <a:pt x="75336" y="2712720"/>
                  </a:lnTo>
                </a:path>
              </a:pathLst>
            </a:custGeom>
            <a:ln w="12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591826" y="6094013"/>
              <a:ext cx="75565" cy="76835"/>
            </a:xfrm>
            <a:custGeom>
              <a:avLst/>
              <a:gdLst/>
              <a:ahLst/>
              <a:cxnLst/>
              <a:rect l="l" t="t" r="r" b="b"/>
              <a:pathLst>
                <a:path w="75564" h="76835">
                  <a:moveTo>
                    <a:pt x="75307" y="0"/>
                  </a:moveTo>
                  <a:lnTo>
                    <a:pt x="0" y="2092"/>
                  </a:lnTo>
                  <a:lnTo>
                    <a:pt x="39745" y="76370"/>
                  </a:lnTo>
                  <a:lnTo>
                    <a:pt x="753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664958" y="3432556"/>
              <a:ext cx="1130300" cy="1055370"/>
            </a:xfrm>
            <a:custGeom>
              <a:avLst/>
              <a:gdLst/>
              <a:ahLst/>
              <a:cxnLst/>
              <a:rect l="l" t="t" r="r" b="b"/>
              <a:pathLst>
                <a:path w="1130300" h="1055370">
                  <a:moveTo>
                    <a:pt x="1130046" y="1054946"/>
                  </a:moveTo>
                  <a:lnTo>
                    <a:pt x="0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646598" y="3415417"/>
              <a:ext cx="81280" cy="79375"/>
            </a:xfrm>
            <a:custGeom>
              <a:avLst/>
              <a:gdLst/>
              <a:ahLst/>
              <a:cxnLst/>
              <a:rect l="l" t="t" r="r" b="b"/>
              <a:pathLst>
                <a:path w="81279" h="79375">
                  <a:moveTo>
                    <a:pt x="0" y="0"/>
                  </a:moveTo>
                  <a:lnTo>
                    <a:pt x="29373" y="78958"/>
                  </a:lnTo>
                  <a:lnTo>
                    <a:pt x="80777" y="238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514285" y="3432556"/>
              <a:ext cx="45720" cy="2712720"/>
            </a:xfrm>
            <a:custGeom>
              <a:avLst/>
              <a:gdLst/>
              <a:ahLst/>
              <a:cxnLst/>
              <a:rect l="l" t="t" r="r" b="b"/>
              <a:pathLst>
                <a:path w="45720" h="2712720">
                  <a:moveTo>
                    <a:pt x="0" y="0"/>
                  </a:moveTo>
                  <a:lnTo>
                    <a:pt x="45199" y="2712720"/>
                  </a:lnTo>
                </a:path>
              </a:pathLst>
            </a:custGeom>
            <a:ln w="12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520985" y="6094420"/>
              <a:ext cx="75565" cy="76200"/>
            </a:xfrm>
            <a:custGeom>
              <a:avLst/>
              <a:gdLst/>
              <a:ahLst/>
              <a:cxnLst/>
              <a:rect l="l" t="t" r="r" b="b"/>
              <a:pathLst>
                <a:path w="75565" h="76200">
                  <a:moveTo>
                    <a:pt x="75326" y="0"/>
                  </a:moveTo>
                  <a:lnTo>
                    <a:pt x="0" y="1256"/>
                  </a:lnTo>
                  <a:lnTo>
                    <a:pt x="38919" y="75970"/>
                  </a:lnTo>
                  <a:lnTo>
                    <a:pt x="753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856884" y="3372901"/>
              <a:ext cx="1431925" cy="2772410"/>
            </a:xfrm>
            <a:custGeom>
              <a:avLst/>
              <a:gdLst/>
              <a:ahLst/>
              <a:cxnLst/>
              <a:rect l="l" t="t" r="r" b="b"/>
              <a:pathLst>
                <a:path w="1431925" h="2772410">
                  <a:moveTo>
                    <a:pt x="1431391" y="0"/>
                  </a:moveTo>
                  <a:lnTo>
                    <a:pt x="0" y="2772374"/>
                  </a:lnTo>
                </a:path>
              </a:pathLst>
            </a:custGeom>
            <a:ln w="12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845361" y="6083353"/>
              <a:ext cx="68580" cy="84455"/>
            </a:xfrm>
            <a:custGeom>
              <a:avLst/>
              <a:gdLst/>
              <a:ahLst/>
              <a:cxnLst/>
              <a:rect l="l" t="t" r="r" b="b"/>
              <a:pathLst>
                <a:path w="68579" h="84454">
                  <a:moveTo>
                    <a:pt x="1099" y="0"/>
                  </a:moveTo>
                  <a:lnTo>
                    <a:pt x="0" y="84240"/>
                  </a:lnTo>
                  <a:lnTo>
                    <a:pt x="68036" y="34575"/>
                  </a:lnTo>
                  <a:lnTo>
                    <a:pt x="10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007557" y="4955321"/>
              <a:ext cx="2637155" cy="1265555"/>
            </a:xfrm>
            <a:custGeom>
              <a:avLst/>
              <a:gdLst/>
              <a:ahLst/>
              <a:cxnLst/>
              <a:rect l="l" t="t" r="r" b="b"/>
              <a:pathLst>
                <a:path w="2637154" h="1265554">
                  <a:moveTo>
                    <a:pt x="2636774" y="0"/>
                  </a:moveTo>
                  <a:lnTo>
                    <a:pt x="0" y="1265308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984915" y="6164930"/>
              <a:ext cx="84455" cy="67945"/>
            </a:xfrm>
            <a:custGeom>
              <a:avLst/>
              <a:gdLst/>
              <a:ahLst/>
              <a:cxnLst/>
              <a:rect l="l" t="t" r="r" b="b"/>
              <a:pathLst>
                <a:path w="84454" h="67945">
                  <a:moveTo>
                    <a:pt x="51630" y="0"/>
                  </a:moveTo>
                  <a:lnTo>
                    <a:pt x="0" y="66563"/>
                  </a:lnTo>
                  <a:lnTo>
                    <a:pt x="84217" y="67938"/>
                  </a:lnTo>
                  <a:lnTo>
                    <a:pt x="516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815630" y="5014977"/>
              <a:ext cx="979805" cy="1130300"/>
            </a:xfrm>
            <a:custGeom>
              <a:avLst/>
              <a:gdLst/>
              <a:ahLst/>
              <a:cxnLst/>
              <a:rect l="l" t="t" r="r" b="b"/>
              <a:pathLst>
                <a:path w="979804" h="1130300">
                  <a:moveTo>
                    <a:pt x="979373" y="0"/>
                  </a:moveTo>
                  <a:lnTo>
                    <a:pt x="0" y="1130299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799183" y="6082638"/>
              <a:ext cx="78105" cy="81915"/>
            </a:xfrm>
            <a:custGeom>
              <a:avLst/>
              <a:gdLst/>
              <a:ahLst/>
              <a:cxnLst/>
              <a:rect l="l" t="t" r="r" b="b"/>
              <a:pathLst>
                <a:path w="78104" h="81914">
                  <a:moveTo>
                    <a:pt x="20874" y="0"/>
                  </a:moveTo>
                  <a:lnTo>
                    <a:pt x="0" y="81619"/>
                  </a:lnTo>
                  <a:lnTo>
                    <a:pt x="77806" y="49350"/>
                  </a:lnTo>
                  <a:lnTo>
                    <a:pt x="208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007557" y="6446689"/>
              <a:ext cx="1205865" cy="45720"/>
            </a:xfrm>
            <a:custGeom>
              <a:avLst/>
              <a:gdLst/>
              <a:ahLst/>
              <a:cxnLst/>
              <a:rect l="l" t="t" r="r" b="b"/>
              <a:pathLst>
                <a:path w="1205865" h="45720">
                  <a:moveTo>
                    <a:pt x="0" y="0"/>
                  </a:moveTo>
                  <a:lnTo>
                    <a:pt x="1205382" y="45211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161338" y="6452368"/>
              <a:ext cx="76835" cy="75565"/>
            </a:xfrm>
            <a:custGeom>
              <a:avLst/>
              <a:gdLst/>
              <a:ahLst/>
              <a:cxnLst/>
              <a:rect l="l" t="t" r="r" b="b"/>
              <a:pathLst>
                <a:path w="76834" h="75565">
                  <a:moveTo>
                    <a:pt x="2823" y="0"/>
                  </a:moveTo>
                  <a:lnTo>
                    <a:pt x="0" y="75299"/>
                  </a:lnTo>
                  <a:lnTo>
                    <a:pt x="76696" y="40473"/>
                  </a:lnTo>
                  <a:lnTo>
                    <a:pt x="28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811712" y="3399761"/>
            <a:ext cx="2181860" cy="24695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54500"/>
              </a:lnSpc>
              <a:spcBef>
                <a:spcPts val="90"/>
              </a:spcBef>
            </a:pPr>
            <a:r>
              <a:rPr sz="1750" spc="15" dirty="0">
                <a:latin typeface="Calibri"/>
                <a:cs typeface="Calibri"/>
              </a:rPr>
              <a:t>Number </a:t>
            </a:r>
            <a:r>
              <a:rPr sz="1750" spc="5" dirty="0">
                <a:latin typeface="Calibri"/>
                <a:cs typeface="Calibri"/>
              </a:rPr>
              <a:t>of</a:t>
            </a:r>
            <a:r>
              <a:rPr sz="1750" spc="-5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parameters:  </a:t>
            </a:r>
            <a:r>
              <a:rPr sz="1750" spc="15" dirty="0">
                <a:latin typeface="Calibri"/>
                <a:cs typeface="Calibri"/>
              </a:rPr>
              <a:t>M:</a:t>
            </a:r>
            <a:r>
              <a:rPr sz="1750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2^4</a:t>
            </a:r>
            <a:endParaRPr sz="1750">
              <a:latin typeface="Calibri"/>
              <a:cs typeface="Calibri"/>
            </a:endParaRPr>
          </a:p>
          <a:p>
            <a:pPr marL="12700" marR="1635760">
              <a:lnSpc>
                <a:spcPct val="150700"/>
              </a:lnSpc>
            </a:pPr>
            <a:r>
              <a:rPr sz="1750" spc="5" dirty="0">
                <a:latin typeface="Calibri"/>
                <a:cs typeface="Calibri"/>
              </a:rPr>
              <a:t>J:</a:t>
            </a:r>
            <a:r>
              <a:rPr sz="1750" spc="-75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2^3  </a:t>
            </a:r>
            <a:r>
              <a:rPr sz="1750" spc="10" dirty="0">
                <a:latin typeface="Calibri"/>
                <a:cs typeface="Calibri"/>
              </a:rPr>
              <a:t>A:</a:t>
            </a:r>
            <a:r>
              <a:rPr sz="1750" spc="-20" dirty="0">
                <a:latin typeface="Calibri"/>
                <a:cs typeface="Calibri"/>
              </a:rPr>
              <a:t> </a:t>
            </a:r>
            <a:r>
              <a:rPr sz="1750" spc="15" dirty="0">
                <a:latin typeface="Calibri"/>
                <a:cs typeface="Calibri"/>
              </a:rPr>
              <a:t>4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1750" spc="10" dirty="0">
                <a:latin typeface="Calibri"/>
                <a:cs typeface="Calibri"/>
              </a:rPr>
              <a:t>B:</a:t>
            </a:r>
            <a:r>
              <a:rPr sz="1750" spc="-95" dirty="0">
                <a:latin typeface="Calibri"/>
                <a:cs typeface="Calibri"/>
              </a:rPr>
              <a:t> </a:t>
            </a:r>
            <a:r>
              <a:rPr sz="1750" spc="15" dirty="0">
                <a:latin typeface="Calibri"/>
                <a:cs typeface="Calibri"/>
              </a:rPr>
              <a:t>2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750" spc="10" dirty="0">
                <a:latin typeface="Calibri"/>
                <a:cs typeface="Calibri"/>
              </a:rPr>
              <a:t>E:</a:t>
            </a:r>
            <a:r>
              <a:rPr sz="1750" spc="-95" dirty="0">
                <a:latin typeface="Calibri"/>
                <a:cs typeface="Calibri"/>
              </a:rPr>
              <a:t> </a:t>
            </a:r>
            <a:r>
              <a:rPr sz="1750" spc="15" dirty="0">
                <a:latin typeface="Calibri"/>
                <a:cs typeface="Calibri"/>
              </a:rPr>
              <a:t>1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11712" y="6388776"/>
            <a:ext cx="225425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15" dirty="0">
                <a:solidFill>
                  <a:srgbClr val="FF0000"/>
                </a:solidFill>
                <a:latin typeface="Calibri"/>
                <a:cs typeface="Calibri"/>
              </a:rPr>
              <a:t>A </a:t>
            </a:r>
            <a:r>
              <a:rPr sz="1750" dirty="0">
                <a:solidFill>
                  <a:srgbClr val="FF0000"/>
                </a:solidFill>
                <a:latin typeface="Calibri"/>
                <a:cs typeface="Calibri"/>
              </a:rPr>
              <a:t>total </a:t>
            </a:r>
            <a:r>
              <a:rPr sz="1750" spc="5" dirty="0">
                <a:solidFill>
                  <a:srgbClr val="FF0000"/>
                </a:solidFill>
                <a:latin typeface="Calibri"/>
                <a:cs typeface="Calibri"/>
              </a:rPr>
              <a:t>of </a:t>
            </a:r>
            <a:r>
              <a:rPr sz="1750" spc="10" dirty="0">
                <a:solidFill>
                  <a:srgbClr val="FF0000"/>
                </a:solidFill>
                <a:latin typeface="Calibri"/>
                <a:cs typeface="Calibri"/>
              </a:rPr>
              <a:t>31</a:t>
            </a:r>
            <a:r>
              <a:rPr sz="175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FF0000"/>
                </a:solidFill>
                <a:latin typeface="Calibri"/>
                <a:cs typeface="Calibri"/>
              </a:rPr>
              <a:t>parameters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515659" y="2033355"/>
            <a:ext cx="480441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15" dirty="0">
                <a:latin typeface="Calibri"/>
                <a:cs typeface="Calibri"/>
              </a:rPr>
              <a:t>P(M </a:t>
            </a:r>
            <a:r>
              <a:rPr sz="1950" spc="10" dirty="0">
                <a:latin typeface="Calibri"/>
                <a:cs typeface="Calibri"/>
              </a:rPr>
              <a:t>| </a:t>
            </a:r>
            <a:r>
              <a:rPr sz="1950" spc="5" dirty="0">
                <a:latin typeface="Calibri"/>
                <a:cs typeface="Calibri"/>
              </a:rPr>
              <a:t>J,A,B,E) </a:t>
            </a:r>
            <a:r>
              <a:rPr sz="1950" spc="10" dirty="0">
                <a:latin typeface="Calibri"/>
                <a:cs typeface="Calibri"/>
              </a:rPr>
              <a:t>P(J | </a:t>
            </a:r>
            <a:r>
              <a:rPr sz="1950" spc="5" dirty="0">
                <a:latin typeface="Calibri"/>
                <a:cs typeface="Calibri"/>
              </a:rPr>
              <a:t>A,B,E) </a:t>
            </a:r>
            <a:r>
              <a:rPr sz="1950" spc="10" dirty="0">
                <a:latin typeface="Calibri"/>
                <a:cs typeface="Calibri"/>
              </a:rPr>
              <a:t>P(A | </a:t>
            </a:r>
            <a:r>
              <a:rPr sz="1950" spc="5" dirty="0">
                <a:latin typeface="Calibri"/>
                <a:cs typeface="Calibri"/>
              </a:rPr>
              <a:t>B,E)P(B </a:t>
            </a:r>
            <a:r>
              <a:rPr sz="1950" spc="10" dirty="0">
                <a:latin typeface="Calibri"/>
                <a:cs typeface="Calibri"/>
              </a:rPr>
              <a:t>|</a:t>
            </a:r>
            <a:r>
              <a:rPr sz="1950" spc="-6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E)P(E)</a:t>
            </a:r>
            <a:endParaRPr sz="1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9304" y="1076681"/>
            <a:ext cx="3501095" cy="49949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150" b="1" spc="5" dirty="0">
                <a:latin typeface="Calibri"/>
                <a:cs typeface="Calibri"/>
              </a:rPr>
              <a:t>A </a:t>
            </a:r>
            <a:r>
              <a:rPr sz="3150" b="1" spc="150" dirty="0">
                <a:latin typeface="Calibri"/>
                <a:cs typeface="Calibri"/>
              </a:rPr>
              <a:t>be</a:t>
            </a:r>
            <a:r>
              <a:rPr lang="en-US" sz="3150" b="1" spc="150" dirty="0">
                <a:latin typeface="Calibri"/>
                <a:cs typeface="Calibri"/>
              </a:rPr>
              <a:t>tt</a:t>
            </a:r>
            <a:r>
              <a:rPr sz="3150" b="1" spc="150" dirty="0">
                <a:latin typeface="Calibri"/>
                <a:cs typeface="Calibri"/>
              </a:rPr>
              <a:t>er</a:t>
            </a:r>
            <a:r>
              <a:rPr sz="3150" b="1" spc="-90" dirty="0">
                <a:latin typeface="Calibri"/>
                <a:cs typeface="Calibri"/>
              </a:rPr>
              <a:t> </a:t>
            </a:r>
            <a:r>
              <a:rPr sz="3150" b="1" dirty="0">
                <a:latin typeface="Calibri"/>
                <a:cs typeface="Calibri"/>
              </a:rPr>
              <a:t>approach</a:t>
            </a:r>
            <a:endParaRPr sz="315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7722" y="2033859"/>
            <a:ext cx="5206365" cy="349821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51155" indent="-339090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351155" algn="l"/>
                <a:tab pos="351790" algn="l"/>
              </a:tabLst>
            </a:pPr>
            <a:r>
              <a:rPr sz="2350" spc="10" dirty="0">
                <a:latin typeface="Calibri"/>
                <a:cs typeface="Calibri"/>
              </a:rPr>
              <a:t>An </a:t>
            </a:r>
            <a:r>
              <a:rPr sz="2350" spc="5" dirty="0">
                <a:latin typeface="Calibri"/>
                <a:cs typeface="Calibri"/>
              </a:rPr>
              <a:t>alarm</a:t>
            </a:r>
            <a:r>
              <a:rPr sz="2350" spc="-5" dirty="0">
                <a:latin typeface="Calibri"/>
                <a:cs typeface="Calibri"/>
              </a:rPr>
              <a:t> </a:t>
            </a:r>
            <a:r>
              <a:rPr sz="2350" spc="-15" dirty="0">
                <a:latin typeface="Calibri"/>
                <a:cs typeface="Calibri"/>
              </a:rPr>
              <a:t>system</a:t>
            </a:r>
            <a:endParaRPr sz="2350">
              <a:latin typeface="Calibri"/>
              <a:cs typeface="Calibri"/>
            </a:endParaRPr>
          </a:p>
          <a:p>
            <a:pPr marL="285115">
              <a:lnSpc>
                <a:spcPct val="100000"/>
              </a:lnSpc>
              <a:spcBef>
                <a:spcPts val="620"/>
              </a:spcBef>
            </a:pPr>
            <a:r>
              <a:rPr sz="2350" spc="10" dirty="0">
                <a:latin typeface="Calibri"/>
                <a:cs typeface="Calibri"/>
              </a:rPr>
              <a:t>B – </a:t>
            </a:r>
            <a:r>
              <a:rPr sz="2350" spc="5" dirty="0">
                <a:latin typeface="Calibri"/>
                <a:cs typeface="Calibri"/>
              </a:rPr>
              <a:t>Did </a:t>
            </a:r>
            <a:r>
              <a:rPr sz="2350" spc="10" dirty="0">
                <a:latin typeface="Calibri"/>
                <a:cs typeface="Calibri"/>
              </a:rPr>
              <a:t>a </a:t>
            </a:r>
            <a:r>
              <a:rPr sz="2350" spc="5" dirty="0">
                <a:latin typeface="Calibri"/>
                <a:cs typeface="Calibri"/>
              </a:rPr>
              <a:t>burglary</a:t>
            </a:r>
            <a:r>
              <a:rPr sz="2350" spc="-65" dirty="0">
                <a:latin typeface="Calibri"/>
                <a:cs typeface="Calibri"/>
              </a:rPr>
              <a:t> </a:t>
            </a:r>
            <a:r>
              <a:rPr sz="2350" spc="5" dirty="0">
                <a:latin typeface="Calibri"/>
                <a:cs typeface="Calibri"/>
              </a:rPr>
              <a:t>occur?</a:t>
            </a:r>
            <a:endParaRPr sz="2350">
              <a:latin typeface="Calibri"/>
              <a:cs typeface="Calibri"/>
            </a:endParaRPr>
          </a:p>
          <a:p>
            <a:pPr marL="285115" marR="1346200">
              <a:lnSpc>
                <a:spcPts val="3460"/>
              </a:lnSpc>
              <a:spcBef>
                <a:spcPts val="125"/>
              </a:spcBef>
            </a:pPr>
            <a:r>
              <a:rPr sz="2350" spc="10" dirty="0">
                <a:latin typeface="Calibri"/>
                <a:cs typeface="Calibri"/>
              </a:rPr>
              <a:t>E – </a:t>
            </a:r>
            <a:r>
              <a:rPr sz="2350" spc="5" dirty="0">
                <a:latin typeface="Calibri"/>
                <a:cs typeface="Calibri"/>
              </a:rPr>
              <a:t>Did </a:t>
            </a:r>
            <a:r>
              <a:rPr sz="2350" spc="10" dirty="0">
                <a:latin typeface="Calibri"/>
                <a:cs typeface="Calibri"/>
              </a:rPr>
              <a:t>an </a:t>
            </a:r>
            <a:r>
              <a:rPr sz="2350" dirty="0">
                <a:latin typeface="Calibri"/>
                <a:cs typeface="Calibri"/>
              </a:rPr>
              <a:t>earthquake</a:t>
            </a:r>
            <a:r>
              <a:rPr sz="2350" spc="-50" dirty="0">
                <a:latin typeface="Calibri"/>
                <a:cs typeface="Calibri"/>
              </a:rPr>
              <a:t> </a:t>
            </a:r>
            <a:r>
              <a:rPr sz="2350" spc="5" dirty="0">
                <a:latin typeface="Calibri"/>
                <a:cs typeface="Calibri"/>
              </a:rPr>
              <a:t>occur?  </a:t>
            </a:r>
            <a:r>
              <a:rPr sz="2350" spc="10" dirty="0">
                <a:latin typeface="Calibri"/>
                <a:cs typeface="Calibri"/>
              </a:rPr>
              <a:t>A – </a:t>
            </a:r>
            <a:r>
              <a:rPr sz="2350" spc="5" dirty="0">
                <a:latin typeface="Calibri"/>
                <a:cs typeface="Calibri"/>
              </a:rPr>
              <a:t>Did </a:t>
            </a:r>
            <a:r>
              <a:rPr sz="2350" spc="10" dirty="0">
                <a:latin typeface="Calibri"/>
                <a:cs typeface="Calibri"/>
              </a:rPr>
              <a:t>the </a:t>
            </a:r>
            <a:r>
              <a:rPr sz="2350" spc="5" dirty="0">
                <a:latin typeface="Calibri"/>
                <a:cs typeface="Calibri"/>
              </a:rPr>
              <a:t>alarm </a:t>
            </a:r>
            <a:r>
              <a:rPr sz="2350" dirty="0">
                <a:latin typeface="Calibri"/>
                <a:cs typeface="Calibri"/>
              </a:rPr>
              <a:t>go</a:t>
            </a:r>
            <a:r>
              <a:rPr sz="2350" spc="-35" dirty="0">
                <a:latin typeface="Calibri"/>
                <a:cs typeface="Calibri"/>
              </a:rPr>
              <a:t> </a:t>
            </a:r>
            <a:r>
              <a:rPr sz="2350" spc="10" dirty="0">
                <a:latin typeface="Calibri"/>
                <a:cs typeface="Calibri"/>
              </a:rPr>
              <a:t>oﬀ?</a:t>
            </a:r>
            <a:endParaRPr sz="2350">
              <a:latin typeface="Calibri"/>
              <a:cs typeface="Calibri"/>
            </a:endParaRPr>
          </a:p>
          <a:p>
            <a:pPr marL="285115">
              <a:lnSpc>
                <a:spcPct val="100000"/>
              </a:lnSpc>
              <a:spcBef>
                <a:spcPts val="320"/>
              </a:spcBef>
            </a:pPr>
            <a:r>
              <a:rPr sz="2350" spc="15" dirty="0">
                <a:latin typeface="Calibri"/>
                <a:cs typeface="Calibri"/>
              </a:rPr>
              <a:t>M </a:t>
            </a:r>
            <a:r>
              <a:rPr sz="2350" spc="10" dirty="0">
                <a:latin typeface="Calibri"/>
                <a:cs typeface="Calibri"/>
              </a:rPr>
              <a:t>– Mary</a:t>
            </a:r>
            <a:r>
              <a:rPr sz="2350" spc="-1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calls</a:t>
            </a:r>
            <a:endParaRPr sz="2350">
              <a:latin typeface="Calibri"/>
              <a:cs typeface="Calibri"/>
            </a:endParaRPr>
          </a:p>
          <a:p>
            <a:pPr marL="285115">
              <a:lnSpc>
                <a:spcPct val="100000"/>
              </a:lnSpc>
              <a:spcBef>
                <a:spcPts val="640"/>
              </a:spcBef>
            </a:pPr>
            <a:r>
              <a:rPr sz="2350" spc="5" dirty="0">
                <a:latin typeface="Calibri"/>
                <a:cs typeface="Calibri"/>
              </a:rPr>
              <a:t>J </a:t>
            </a:r>
            <a:r>
              <a:rPr sz="2350" spc="10" dirty="0">
                <a:latin typeface="Calibri"/>
                <a:cs typeface="Calibri"/>
              </a:rPr>
              <a:t>– </a:t>
            </a:r>
            <a:r>
              <a:rPr sz="2350" spc="5" dirty="0">
                <a:latin typeface="Calibri"/>
                <a:cs typeface="Calibri"/>
              </a:rPr>
              <a:t>John</a:t>
            </a:r>
            <a:r>
              <a:rPr sz="2350" spc="-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calls</a:t>
            </a:r>
            <a:endParaRPr sz="2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250">
              <a:latin typeface="Calibri"/>
              <a:cs typeface="Calibri"/>
            </a:endParaRPr>
          </a:p>
          <a:p>
            <a:pPr marL="351155" indent="-339090">
              <a:lnSpc>
                <a:spcPct val="100000"/>
              </a:lnSpc>
              <a:buFont typeface="Arial"/>
              <a:buChar char="•"/>
              <a:tabLst>
                <a:tab pos="351155" algn="l"/>
                <a:tab pos="351790" algn="l"/>
              </a:tabLst>
            </a:pPr>
            <a:r>
              <a:rPr sz="2350" spc="-10" dirty="0">
                <a:latin typeface="Calibri"/>
                <a:cs typeface="Calibri"/>
              </a:rPr>
              <a:t>Let’s </a:t>
            </a:r>
            <a:r>
              <a:rPr sz="2350" spc="10" dirty="0">
                <a:latin typeface="Calibri"/>
                <a:cs typeface="Calibri"/>
              </a:rPr>
              <a:t>use </a:t>
            </a:r>
            <a:r>
              <a:rPr sz="2350" spc="5" dirty="0">
                <a:latin typeface="Calibri"/>
                <a:cs typeface="Calibri"/>
              </a:rPr>
              <a:t>our knowledge of </a:t>
            </a:r>
            <a:r>
              <a:rPr sz="2350" spc="10" dirty="0">
                <a:latin typeface="Calibri"/>
                <a:cs typeface="Calibri"/>
              </a:rPr>
              <a:t>the</a:t>
            </a:r>
            <a:r>
              <a:rPr sz="2350" dirty="0">
                <a:latin typeface="Calibri"/>
                <a:cs typeface="Calibri"/>
              </a:rPr>
              <a:t> </a:t>
            </a:r>
            <a:r>
              <a:rPr sz="2350" spc="5" dirty="0">
                <a:latin typeface="Calibri"/>
                <a:cs typeface="Calibri"/>
              </a:rPr>
              <a:t>domain!</a:t>
            </a:r>
            <a:endParaRPr sz="2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5229" y="1076681"/>
            <a:ext cx="4704042" cy="49949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150" b="1" spc="60" dirty="0">
                <a:latin typeface="Calibri"/>
                <a:cs typeface="Calibri"/>
              </a:rPr>
              <a:t>Reconstruc</a:t>
            </a:r>
            <a:r>
              <a:rPr lang="en-US" sz="3150" b="1" spc="60" dirty="0">
                <a:latin typeface="Calibri"/>
                <a:cs typeface="Calibri"/>
              </a:rPr>
              <a:t>ti</a:t>
            </a:r>
            <a:r>
              <a:rPr sz="3150" b="1" spc="60" dirty="0">
                <a:latin typeface="Calibri"/>
                <a:cs typeface="Calibri"/>
              </a:rPr>
              <a:t>ng </a:t>
            </a:r>
            <a:r>
              <a:rPr sz="3150" b="1" spc="5" dirty="0">
                <a:latin typeface="Calibri"/>
                <a:cs typeface="Calibri"/>
              </a:rPr>
              <a:t>a</a:t>
            </a:r>
            <a:r>
              <a:rPr sz="3150" b="1" spc="-100" dirty="0">
                <a:latin typeface="Calibri"/>
                <a:cs typeface="Calibri"/>
              </a:rPr>
              <a:t> </a:t>
            </a:r>
            <a:r>
              <a:rPr sz="3150" b="1" spc="-5" dirty="0">
                <a:latin typeface="Calibri"/>
                <a:cs typeface="Calibri"/>
              </a:rPr>
              <a:t>network</a:t>
            </a:r>
            <a:endParaRPr sz="315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775269" y="5008697"/>
            <a:ext cx="540385" cy="540385"/>
            <a:chOff x="5775269" y="5008697"/>
            <a:chExt cx="540385" cy="540385"/>
          </a:xfrm>
        </p:grpSpPr>
        <p:sp>
          <p:nvSpPr>
            <p:cNvPr id="4" name="object 4"/>
            <p:cNvSpPr/>
            <p:nvPr/>
          </p:nvSpPr>
          <p:spPr>
            <a:xfrm>
              <a:off x="5781547" y="501497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4"/>
                  </a:lnTo>
                  <a:lnTo>
                    <a:pt x="16496" y="171710"/>
                  </a:lnTo>
                  <a:lnTo>
                    <a:pt x="4248" y="216330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1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3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30"/>
                  </a:lnTo>
                  <a:lnTo>
                    <a:pt x="510858" y="171710"/>
                  </a:lnTo>
                  <a:lnTo>
                    <a:pt x="491355" y="130624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3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81547" y="501497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528561" y="3652266"/>
            <a:ext cx="1595120" cy="1896745"/>
            <a:chOff x="6528561" y="3652266"/>
            <a:chExt cx="1595120" cy="1896745"/>
          </a:xfrm>
        </p:grpSpPr>
        <p:sp>
          <p:nvSpPr>
            <p:cNvPr id="7" name="object 7"/>
            <p:cNvSpPr/>
            <p:nvPr/>
          </p:nvSpPr>
          <p:spPr>
            <a:xfrm>
              <a:off x="7589621" y="501497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263677" y="0"/>
                  </a:moveTo>
                  <a:lnTo>
                    <a:pt x="216280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4"/>
                  </a:lnTo>
                  <a:lnTo>
                    <a:pt x="16496" y="171710"/>
                  </a:lnTo>
                  <a:lnTo>
                    <a:pt x="4248" y="216330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0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2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30"/>
                  </a:lnTo>
                  <a:lnTo>
                    <a:pt x="510858" y="171710"/>
                  </a:lnTo>
                  <a:lnTo>
                    <a:pt x="491355" y="130624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2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89621" y="501497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0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0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34911" y="365861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4"/>
                  </a:lnTo>
                  <a:lnTo>
                    <a:pt x="16496" y="171710"/>
                  </a:lnTo>
                  <a:lnTo>
                    <a:pt x="4248" y="216330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1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3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30"/>
                  </a:lnTo>
                  <a:lnTo>
                    <a:pt x="510858" y="171710"/>
                  </a:lnTo>
                  <a:lnTo>
                    <a:pt x="491355" y="130624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3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534911" y="365861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687952" y="3766482"/>
            <a:ext cx="17780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15" dirty="0">
                <a:latin typeface="Calibri"/>
                <a:cs typeface="Calibri"/>
              </a:rPr>
              <a:t>A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34588" y="5122840"/>
            <a:ext cx="10858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5" dirty="0">
                <a:latin typeface="Calibri"/>
                <a:cs typeface="Calibri"/>
              </a:rPr>
              <a:t>J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42661" y="5122840"/>
            <a:ext cx="24511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20" dirty="0">
                <a:latin typeface="Calibri"/>
                <a:cs typeface="Calibri"/>
              </a:rPr>
              <a:t>M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473852" y="2295905"/>
            <a:ext cx="2348230" cy="540385"/>
            <a:chOff x="5473852" y="2295905"/>
            <a:chExt cx="2348230" cy="540385"/>
          </a:xfrm>
        </p:grpSpPr>
        <p:sp>
          <p:nvSpPr>
            <p:cNvPr id="15" name="object 15"/>
            <p:cNvSpPr/>
            <p:nvPr/>
          </p:nvSpPr>
          <p:spPr>
            <a:xfrm>
              <a:off x="5480202" y="2302255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499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3"/>
                  </a:lnTo>
                  <a:lnTo>
                    <a:pt x="16496" y="171710"/>
                  </a:lnTo>
                  <a:lnTo>
                    <a:pt x="4248" y="216329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50"/>
                  </a:lnTo>
                  <a:lnTo>
                    <a:pt x="62013" y="433659"/>
                  </a:lnTo>
                  <a:lnTo>
                    <a:pt x="93793" y="465446"/>
                  </a:lnTo>
                  <a:lnTo>
                    <a:pt x="130594" y="491466"/>
                  </a:lnTo>
                  <a:lnTo>
                    <a:pt x="171671" y="510974"/>
                  </a:lnTo>
                  <a:lnTo>
                    <a:pt x="216281" y="523225"/>
                  </a:lnTo>
                  <a:lnTo>
                    <a:pt x="263677" y="527474"/>
                  </a:lnTo>
                  <a:lnTo>
                    <a:pt x="311073" y="523225"/>
                  </a:lnTo>
                  <a:lnTo>
                    <a:pt x="355682" y="510974"/>
                  </a:lnTo>
                  <a:lnTo>
                    <a:pt x="396760" y="491466"/>
                  </a:lnTo>
                  <a:lnTo>
                    <a:pt x="433561" y="465446"/>
                  </a:lnTo>
                  <a:lnTo>
                    <a:pt x="465341" y="433659"/>
                  </a:lnTo>
                  <a:lnTo>
                    <a:pt x="491355" y="396850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29"/>
                  </a:lnTo>
                  <a:lnTo>
                    <a:pt x="510858" y="171710"/>
                  </a:lnTo>
                  <a:lnTo>
                    <a:pt x="491355" y="130623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2" y="16499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80202" y="2302255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499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499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88275" y="2302255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499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3"/>
                  </a:lnTo>
                  <a:lnTo>
                    <a:pt x="16496" y="171710"/>
                  </a:lnTo>
                  <a:lnTo>
                    <a:pt x="4248" y="216329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50"/>
                  </a:lnTo>
                  <a:lnTo>
                    <a:pt x="62013" y="433659"/>
                  </a:lnTo>
                  <a:lnTo>
                    <a:pt x="93793" y="465446"/>
                  </a:lnTo>
                  <a:lnTo>
                    <a:pt x="130594" y="491466"/>
                  </a:lnTo>
                  <a:lnTo>
                    <a:pt x="171671" y="510974"/>
                  </a:lnTo>
                  <a:lnTo>
                    <a:pt x="216281" y="523225"/>
                  </a:lnTo>
                  <a:lnTo>
                    <a:pt x="263677" y="527474"/>
                  </a:lnTo>
                  <a:lnTo>
                    <a:pt x="311073" y="523225"/>
                  </a:lnTo>
                  <a:lnTo>
                    <a:pt x="355683" y="510974"/>
                  </a:lnTo>
                  <a:lnTo>
                    <a:pt x="396760" y="491466"/>
                  </a:lnTo>
                  <a:lnTo>
                    <a:pt x="433561" y="465446"/>
                  </a:lnTo>
                  <a:lnTo>
                    <a:pt x="465341" y="433659"/>
                  </a:lnTo>
                  <a:lnTo>
                    <a:pt x="491355" y="396850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29"/>
                  </a:lnTo>
                  <a:lnTo>
                    <a:pt x="510858" y="171710"/>
                  </a:lnTo>
                  <a:lnTo>
                    <a:pt x="491355" y="130623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3" y="16499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88275" y="2302255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499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3" y="16499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3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633242" y="2410122"/>
            <a:ext cx="16637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15" dirty="0">
                <a:latin typeface="Calibri"/>
                <a:cs typeface="Calibri"/>
              </a:rPr>
              <a:t>B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41316" y="2410122"/>
            <a:ext cx="14795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10" dirty="0">
                <a:latin typeface="Calibri"/>
                <a:cs typeface="Calibri"/>
              </a:rPr>
              <a:t>E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850605" y="2823450"/>
            <a:ext cx="1907539" cy="2209800"/>
            <a:chOff x="5850605" y="2823450"/>
            <a:chExt cx="1907539" cy="2209800"/>
          </a:xfrm>
        </p:grpSpPr>
        <p:sp>
          <p:nvSpPr>
            <p:cNvPr id="22" name="object 22"/>
            <p:cNvSpPr/>
            <p:nvPr/>
          </p:nvSpPr>
          <p:spPr>
            <a:xfrm>
              <a:off x="5856884" y="2829729"/>
              <a:ext cx="753745" cy="829310"/>
            </a:xfrm>
            <a:custGeom>
              <a:avLst/>
              <a:gdLst/>
              <a:ahLst/>
              <a:cxnLst/>
              <a:rect l="l" t="t" r="r" b="b"/>
              <a:pathLst>
                <a:path w="753745" h="829310">
                  <a:moveTo>
                    <a:pt x="0" y="0"/>
                  </a:moveTo>
                  <a:lnTo>
                    <a:pt x="753364" y="828886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548591" y="3596101"/>
              <a:ext cx="78740" cy="81280"/>
            </a:xfrm>
            <a:custGeom>
              <a:avLst/>
              <a:gdLst/>
              <a:ahLst/>
              <a:cxnLst/>
              <a:rect l="l" t="t" r="r" b="b"/>
              <a:pathLst>
                <a:path w="78740" h="81279">
                  <a:moveTo>
                    <a:pt x="55745" y="0"/>
                  </a:moveTo>
                  <a:lnTo>
                    <a:pt x="0" y="50686"/>
                  </a:lnTo>
                  <a:lnTo>
                    <a:pt x="78549" y="81100"/>
                  </a:lnTo>
                  <a:lnTo>
                    <a:pt x="557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986930" y="2829729"/>
              <a:ext cx="527685" cy="829310"/>
            </a:xfrm>
            <a:custGeom>
              <a:avLst/>
              <a:gdLst/>
              <a:ahLst/>
              <a:cxnLst/>
              <a:rect l="l" t="t" r="r" b="b"/>
              <a:pathLst>
                <a:path w="527684" h="829310">
                  <a:moveTo>
                    <a:pt x="527354" y="0"/>
                  </a:moveTo>
                  <a:lnTo>
                    <a:pt x="0" y="828886"/>
                  </a:lnTo>
                </a:path>
              </a:pathLst>
            </a:custGeom>
            <a:ln w="12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73447" y="3596006"/>
              <a:ext cx="72390" cy="83820"/>
            </a:xfrm>
            <a:custGeom>
              <a:avLst/>
              <a:gdLst/>
              <a:ahLst/>
              <a:cxnLst/>
              <a:rect l="l" t="t" r="r" b="b"/>
              <a:pathLst>
                <a:path w="72390" h="83820">
                  <a:moveTo>
                    <a:pt x="8666" y="0"/>
                  </a:moveTo>
                  <a:lnTo>
                    <a:pt x="0" y="83800"/>
                  </a:lnTo>
                  <a:lnTo>
                    <a:pt x="72226" y="40455"/>
                  </a:lnTo>
                  <a:lnTo>
                    <a:pt x="86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911593" y="4186089"/>
              <a:ext cx="829310" cy="829310"/>
            </a:xfrm>
            <a:custGeom>
              <a:avLst/>
              <a:gdLst/>
              <a:ahLst/>
              <a:cxnLst/>
              <a:rect l="l" t="t" r="r" b="b"/>
              <a:pathLst>
                <a:path w="829309" h="829310">
                  <a:moveTo>
                    <a:pt x="0" y="0"/>
                  </a:moveTo>
                  <a:lnTo>
                    <a:pt x="828700" y="828886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678144" y="4952813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53271" y="0"/>
                  </a:moveTo>
                  <a:lnTo>
                    <a:pt x="0" y="53282"/>
                  </a:lnTo>
                  <a:lnTo>
                    <a:pt x="79907" y="79923"/>
                  </a:lnTo>
                  <a:lnTo>
                    <a:pt x="532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233566" y="4186089"/>
              <a:ext cx="377190" cy="753745"/>
            </a:xfrm>
            <a:custGeom>
              <a:avLst/>
              <a:gdLst/>
              <a:ahLst/>
              <a:cxnLst/>
              <a:rect l="l" t="t" r="r" b="b"/>
              <a:pathLst>
                <a:path w="377190" h="753745">
                  <a:moveTo>
                    <a:pt x="376682" y="0"/>
                  </a:moveTo>
                  <a:lnTo>
                    <a:pt x="0" y="753533"/>
                  </a:lnTo>
                </a:path>
              </a:pathLst>
            </a:custGeom>
            <a:ln w="12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222335" y="4877841"/>
              <a:ext cx="67945" cy="84455"/>
            </a:xfrm>
            <a:custGeom>
              <a:avLst/>
              <a:gdLst/>
              <a:ahLst/>
              <a:cxnLst/>
              <a:rect l="l" t="t" r="r" b="b"/>
              <a:pathLst>
                <a:path w="67945" h="84454">
                  <a:moveTo>
                    <a:pt x="0" y="0"/>
                  </a:moveTo>
                  <a:lnTo>
                    <a:pt x="0" y="84247"/>
                  </a:lnTo>
                  <a:lnTo>
                    <a:pt x="67382" y="33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242101" y="2532192"/>
            <a:ext cx="3020695" cy="184785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950" spc="10" dirty="0">
                <a:latin typeface="Calibri"/>
                <a:cs typeface="Calibri"/>
              </a:rPr>
              <a:t>B – Did a </a:t>
            </a:r>
            <a:r>
              <a:rPr sz="1950" spc="5" dirty="0">
                <a:latin typeface="Calibri"/>
                <a:cs typeface="Calibri"/>
              </a:rPr>
              <a:t>burglary</a:t>
            </a:r>
            <a:r>
              <a:rPr sz="1950" spc="-7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occur?</a:t>
            </a:r>
            <a:endParaRPr sz="1950">
              <a:latin typeface="Calibri"/>
              <a:cs typeface="Calibri"/>
            </a:endParaRPr>
          </a:p>
          <a:p>
            <a:pPr marL="34925" marR="5080">
              <a:lnSpc>
                <a:spcPct val="122600"/>
              </a:lnSpc>
              <a:spcBef>
                <a:spcPts val="5"/>
              </a:spcBef>
            </a:pPr>
            <a:r>
              <a:rPr sz="1950" spc="10" dirty="0">
                <a:latin typeface="Calibri"/>
                <a:cs typeface="Calibri"/>
              </a:rPr>
              <a:t>E – Did an </a:t>
            </a:r>
            <a:r>
              <a:rPr sz="1950" spc="5" dirty="0">
                <a:latin typeface="Calibri"/>
                <a:cs typeface="Calibri"/>
              </a:rPr>
              <a:t>earthquake</a:t>
            </a:r>
            <a:r>
              <a:rPr sz="1950" spc="-9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occur?  </a:t>
            </a:r>
            <a:r>
              <a:rPr sz="1950" spc="15" dirty="0">
                <a:latin typeface="Calibri"/>
                <a:cs typeface="Calibri"/>
              </a:rPr>
              <a:t>A </a:t>
            </a:r>
            <a:r>
              <a:rPr sz="1950" spc="10" dirty="0">
                <a:latin typeface="Calibri"/>
                <a:cs typeface="Calibri"/>
              </a:rPr>
              <a:t>– Did the alarm </a:t>
            </a:r>
            <a:r>
              <a:rPr sz="1950" spc="5" dirty="0">
                <a:latin typeface="Calibri"/>
                <a:cs typeface="Calibri"/>
              </a:rPr>
              <a:t>go</a:t>
            </a:r>
            <a:r>
              <a:rPr sz="1950" spc="-5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oﬀ?</a:t>
            </a:r>
            <a:endParaRPr sz="1950">
              <a:latin typeface="Calibri"/>
              <a:cs typeface="Calibri"/>
            </a:endParaRPr>
          </a:p>
          <a:p>
            <a:pPr marL="34925" marR="1491615">
              <a:lnSpc>
                <a:spcPts val="2870"/>
              </a:lnSpc>
              <a:spcBef>
                <a:spcPts val="180"/>
              </a:spcBef>
            </a:pPr>
            <a:r>
              <a:rPr sz="1950" spc="20" dirty="0">
                <a:latin typeface="Calibri"/>
                <a:cs typeface="Calibri"/>
              </a:rPr>
              <a:t>M </a:t>
            </a:r>
            <a:r>
              <a:rPr sz="1950" spc="10" dirty="0">
                <a:latin typeface="Calibri"/>
                <a:cs typeface="Calibri"/>
              </a:rPr>
              <a:t>– </a:t>
            </a:r>
            <a:r>
              <a:rPr sz="1950" spc="15" dirty="0">
                <a:latin typeface="Calibri"/>
                <a:cs typeface="Calibri"/>
              </a:rPr>
              <a:t>Mary</a:t>
            </a:r>
            <a:r>
              <a:rPr sz="1950" spc="-100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calls  J </a:t>
            </a:r>
            <a:r>
              <a:rPr sz="1950" spc="10" dirty="0">
                <a:latin typeface="Calibri"/>
                <a:cs typeface="Calibri"/>
              </a:rPr>
              <a:t>– John</a:t>
            </a:r>
            <a:r>
              <a:rPr sz="1950" spc="-45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calls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65076" y="6177788"/>
            <a:ext cx="278447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10" dirty="0">
                <a:latin typeface="Calibri"/>
                <a:cs typeface="Calibri"/>
              </a:rPr>
              <a:t>P(B)P(E)P(A|B,E)P(J|A)P(M|A)</a:t>
            </a:r>
            <a:endParaRPr sz="1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5229" y="1076681"/>
            <a:ext cx="4629386" cy="49949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150" b="1" spc="60" dirty="0">
                <a:latin typeface="Calibri"/>
                <a:cs typeface="Calibri"/>
              </a:rPr>
              <a:t>Reconstruc</a:t>
            </a:r>
            <a:r>
              <a:rPr lang="en-US" sz="3150" b="1" spc="60" dirty="0">
                <a:latin typeface="Calibri"/>
                <a:cs typeface="Calibri"/>
              </a:rPr>
              <a:t>ti</a:t>
            </a:r>
            <a:r>
              <a:rPr sz="3150" b="1" spc="60" dirty="0">
                <a:latin typeface="Calibri"/>
                <a:cs typeface="Calibri"/>
              </a:rPr>
              <a:t>ng </a:t>
            </a:r>
            <a:r>
              <a:rPr sz="3150" b="1" spc="5" dirty="0">
                <a:latin typeface="Calibri"/>
                <a:cs typeface="Calibri"/>
              </a:rPr>
              <a:t>a</a:t>
            </a:r>
            <a:r>
              <a:rPr sz="3150" b="1" spc="-100" dirty="0">
                <a:latin typeface="Calibri"/>
                <a:cs typeface="Calibri"/>
              </a:rPr>
              <a:t> </a:t>
            </a:r>
            <a:r>
              <a:rPr sz="3150" b="1" spc="-5" dirty="0">
                <a:latin typeface="Calibri"/>
                <a:cs typeface="Calibri"/>
              </a:rPr>
              <a:t>network</a:t>
            </a:r>
            <a:endParaRPr sz="315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775269" y="5008697"/>
            <a:ext cx="540385" cy="540385"/>
            <a:chOff x="5775269" y="5008697"/>
            <a:chExt cx="540385" cy="540385"/>
          </a:xfrm>
        </p:grpSpPr>
        <p:sp>
          <p:nvSpPr>
            <p:cNvPr id="4" name="object 4"/>
            <p:cNvSpPr/>
            <p:nvPr/>
          </p:nvSpPr>
          <p:spPr>
            <a:xfrm>
              <a:off x="5781547" y="501497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4"/>
                  </a:lnTo>
                  <a:lnTo>
                    <a:pt x="16496" y="171710"/>
                  </a:lnTo>
                  <a:lnTo>
                    <a:pt x="4248" y="216330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1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3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30"/>
                  </a:lnTo>
                  <a:lnTo>
                    <a:pt x="510858" y="171710"/>
                  </a:lnTo>
                  <a:lnTo>
                    <a:pt x="491355" y="130624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3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81547" y="501497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528561" y="3652266"/>
            <a:ext cx="1595120" cy="1896745"/>
            <a:chOff x="6528561" y="3652266"/>
            <a:chExt cx="1595120" cy="1896745"/>
          </a:xfrm>
        </p:grpSpPr>
        <p:sp>
          <p:nvSpPr>
            <p:cNvPr id="7" name="object 7"/>
            <p:cNvSpPr/>
            <p:nvPr/>
          </p:nvSpPr>
          <p:spPr>
            <a:xfrm>
              <a:off x="7589621" y="501497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263677" y="0"/>
                  </a:moveTo>
                  <a:lnTo>
                    <a:pt x="216280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4"/>
                  </a:lnTo>
                  <a:lnTo>
                    <a:pt x="16496" y="171710"/>
                  </a:lnTo>
                  <a:lnTo>
                    <a:pt x="4248" y="216330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0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2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30"/>
                  </a:lnTo>
                  <a:lnTo>
                    <a:pt x="510858" y="171710"/>
                  </a:lnTo>
                  <a:lnTo>
                    <a:pt x="491355" y="130624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2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89621" y="501497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0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0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34911" y="365861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4"/>
                  </a:lnTo>
                  <a:lnTo>
                    <a:pt x="16496" y="171710"/>
                  </a:lnTo>
                  <a:lnTo>
                    <a:pt x="4248" y="216330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1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3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30"/>
                  </a:lnTo>
                  <a:lnTo>
                    <a:pt x="510858" y="171710"/>
                  </a:lnTo>
                  <a:lnTo>
                    <a:pt x="491355" y="130624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3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534911" y="365861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687952" y="3766482"/>
            <a:ext cx="17780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15" dirty="0">
                <a:latin typeface="Calibri"/>
                <a:cs typeface="Calibri"/>
              </a:rPr>
              <a:t>A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34588" y="5122840"/>
            <a:ext cx="10858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5" dirty="0">
                <a:latin typeface="Calibri"/>
                <a:cs typeface="Calibri"/>
              </a:rPr>
              <a:t>J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42661" y="5122840"/>
            <a:ext cx="24511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20" dirty="0">
                <a:latin typeface="Calibri"/>
                <a:cs typeface="Calibri"/>
              </a:rPr>
              <a:t>M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473852" y="2295905"/>
            <a:ext cx="2348230" cy="540385"/>
            <a:chOff x="5473852" y="2295905"/>
            <a:chExt cx="2348230" cy="540385"/>
          </a:xfrm>
        </p:grpSpPr>
        <p:sp>
          <p:nvSpPr>
            <p:cNvPr id="15" name="object 15"/>
            <p:cNvSpPr/>
            <p:nvPr/>
          </p:nvSpPr>
          <p:spPr>
            <a:xfrm>
              <a:off x="5480202" y="2302255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499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3"/>
                  </a:lnTo>
                  <a:lnTo>
                    <a:pt x="16496" y="171710"/>
                  </a:lnTo>
                  <a:lnTo>
                    <a:pt x="4248" y="216329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50"/>
                  </a:lnTo>
                  <a:lnTo>
                    <a:pt x="62013" y="433659"/>
                  </a:lnTo>
                  <a:lnTo>
                    <a:pt x="93793" y="465446"/>
                  </a:lnTo>
                  <a:lnTo>
                    <a:pt x="130594" y="491466"/>
                  </a:lnTo>
                  <a:lnTo>
                    <a:pt x="171671" y="510974"/>
                  </a:lnTo>
                  <a:lnTo>
                    <a:pt x="216281" y="523225"/>
                  </a:lnTo>
                  <a:lnTo>
                    <a:pt x="263677" y="527474"/>
                  </a:lnTo>
                  <a:lnTo>
                    <a:pt x="311073" y="523225"/>
                  </a:lnTo>
                  <a:lnTo>
                    <a:pt x="355682" y="510974"/>
                  </a:lnTo>
                  <a:lnTo>
                    <a:pt x="396760" y="491466"/>
                  </a:lnTo>
                  <a:lnTo>
                    <a:pt x="433561" y="465446"/>
                  </a:lnTo>
                  <a:lnTo>
                    <a:pt x="465341" y="433659"/>
                  </a:lnTo>
                  <a:lnTo>
                    <a:pt x="491355" y="396850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29"/>
                  </a:lnTo>
                  <a:lnTo>
                    <a:pt x="510858" y="171710"/>
                  </a:lnTo>
                  <a:lnTo>
                    <a:pt x="491355" y="130623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2" y="16499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80202" y="2302255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499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499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88275" y="2302255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499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3"/>
                  </a:lnTo>
                  <a:lnTo>
                    <a:pt x="16496" y="171710"/>
                  </a:lnTo>
                  <a:lnTo>
                    <a:pt x="4248" y="216329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50"/>
                  </a:lnTo>
                  <a:lnTo>
                    <a:pt x="62013" y="433659"/>
                  </a:lnTo>
                  <a:lnTo>
                    <a:pt x="93793" y="465446"/>
                  </a:lnTo>
                  <a:lnTo>
                    <a:pt x="130594" y="491466"/>
                  </a:lnTo>
                  <a:lnTo>
                    <a:pt x="171671" y="510974"/>
                  </a:lnTo>
                  <a:lnTo>
                    <a:pt x="216281" y="523225"/>
                  </a:lnTo>
                  <a:lnTo>
                    <a:pt x="263677" y="527474"/>
                  </a:lnTo>
                  <a:lnTo>
                    <a:pt x="311073" y="523225"/>
                  </a:lnTo>
                  <a:lnTo>
                    <a:pt x="355683" y="510974"/>
                  </a:lnTo>
                  <a:lnTo>
                    <a:pt x="396760" y="491466"/>
                  </a:lnTo>
                  <a:lnTo>
                    <a:pt x="433561" y="465446"/>
                  </a:lnTo>
                  <a:lnTo>
                    <a:pt x="465341" y="433659"/>
                  </a:lnTo>
                  <a:lnTo>
                    <a:pt x="491355" y="396850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29"/>
                  </a:lnTo>
                  <a:lnTo>
                    <a:pt x="510858" y="171710"/>
                  </a:lnTo>
                  <a:lnTo>
                    <a:pt x="491355" y="130623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3" y="16499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88275" y="2302255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499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3" y="16499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3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633242" y="2410122"/>
            <a:ext cx="195643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820545" algn="l"/>
              </a:tabLst>
            </a:pPr>
            <a:r>
              <a:rPr sz="1950" b="1" spc="15" dirty="0">
                <a:latin typeface="Calibri"/>
                <a:cs typeface="Calibri"/>
              </a:rPr>
              <a:t>B	</a:t>
            </a:r>
            <a:r>
              <a:rPr sz="1950" b="1" spc="10" dirty="0">
                <a:latin typeface="Calibri"/>
                <a:cs typeface="Calibri"/>
              </a:rPr>
              <a:t>E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850605" y="2823450"/>
            <a:ext cx="1907539" cy="2209800"/>
            <a:chOff x="5850605" y="2823450"/>
            <a:chExt cx="1907539" cy="2209800"/>
          </a:xfrm>
        </p:grpSpPr>
        <p:sp>
          <p:nvSpPr>
            <p:cNvPr id="21" name="object 21"/>
            <p:cNvSpPr/>
            <p:nvPr/>
          </p:nvSpPr>
          <p:spPr>
            <a:xfrm>
              <a:off x="5856884" y="2829729"/>
              <a:ext cx="753745" cy="829310"/>
            </a:xfrm>
            <a:custGeom>
              <a:avLst/>
              <a:gdLst/>
              <a:ahLst/>
              <a:cxnLst/>
              <a:rect l="l" t="t" r="r" b="b"/>
              <a:pathLst>
                <a:path w="753745" h="829310">
                  <a:moveTo>
                    <a:pt x="0" y="0"/>
                  </a:moveTo>
                  <a:lnTo>
                    <a:pt x="753364" y="828886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548591" y="3596101"/>
              <a:ext cx="78740" cy="81280"/>
            </a:xfrm>
            <a:custGeom>
              <a:avLst/>
              <a:gdLst/>
              <a:ahLst/>
              <a:cxnLst/>
              <a:rect l="l" t="t" r="r" b="b"/>
              <a:pathLst>
                <a:path w="78740" h="81279">
                  <a:moveTo>
                    <a:pt x="55745" y="0"/>
                  </a:moveTo>
                  <a:lnTo>
                    <a:pt x="0" y="50686"/>
                  </a:lnTo>
                  <a:lnTo>
                    <a:pt x="78549" y="81100"/>
                  </a:lnTo>
                  <a:lnTo>
                    <a:pt x="557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986930" y="2829729"/>
              <a:ext cx="527685" cy="829310"/>
            </a:xfrm>
            <a:custGeom>
              <a:avLst/>
              <a:gdLst/>
              <a:ahLst/>
              <a:cxnLst/>
              <a:rect l="l" t="t" r="r" b="b"/>
              <a:pathLst>
                <a:path w="527684" h="829310">
                  <a:moveTo>
                    <a:pt x="527354" y="0"/>
                  </a:moveTo>
                  <a:lnTo>
                    <a:pt x="0" y="828886"/>
                  </a:lnTo>
                </a:path>
              </a:pathLst>
            </a:custGeom>
            <a:ln w="12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973447" y="3596006"/>
              <a:ext cx="72390" cy="83820"/>
            </a:xfrm>
            <a:custGeom>
              <a:avLst/>
              <a:gdLst/>
              <a:ahLst/>
              <a:cxnLst/>
              <a:rect l="l" t="t" r="r" b="b"/>
              <a:pathLst>
                <a:path w="72390" h="83820">
                  <a:moveTo>
                    <a:pt x="8666" y="0"/>
                  </a:moveTo>
                  <a:lnTo>
                    <a:pt x="0" y="83800"/>
                  </a:lnTo>
                  <a:lnTo>
                    <a:pt x="72226" y="40455"/>
                  </a:lnTo>
                  <a:lnTo>
                    <a:pt x="86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11593" y="4186089"/>
              <a:ext cx="829310" cy="829310"/>
            </a:xfrm>
            <a:custGeom>
              <a:avLst/>
              <a:gdLst/>
              <a:ahLst/>
              <a:cxnLst/>
              <a:rect l="l" t="t" r="r" b="b"/>
              <a:pathLst>
                <a:path w="829309" h="829310">
                  <a:moveTo>
                    <a:pt x="0" y="0"/>
                  </a:moveTo>
                  <a:lnTo>
                    <a:pt x="828700" y="828886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678144" y="4952813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53271" y="0"/>
                  </a:moveTo>
                  <a:lnTo>
                    <a:pt x="0" y="53282"/>
                  </a:lnTo>
                  <a:lnTo>
                    <a:pt x="79907" y="79923"/>
                  </a:lnTo>
                  <a:lnTo>
                    <a:pt x="532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233566" y="4186089"/>
              <a:ext cx="377190" cy="753745"/>
            </a:xfrm>
            <a:custGeom>
              <a:avLst/>
              <a:gdLst/>
              <a:ahLst/>
              <a:cxnLst/>
              <a:rect l="l" t="t" r="r" b="b"/>
              <a:pathLst>
                <a:path w="377190" h="753745">
                  <a:moveTo>
                    <a:pt x="376682" y="0"/>
                  </a:moveTo>
                  <a:lnTo>
                    <a:pt x="0" y="753533"/>
                  </a:lnTo>
                </a:path>
              </a:pathLst>
            </a:custGeom>
            <a:ln w="12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222335" y="4877841"/>
              <a:ext cx="67945" cy="84455"/>
            </a:xfrm>
            <a:custGeom>
              <a:avLst/>
              <a:gdLst/>
              <a:ahLst/>
              <a:cxnLst/>
              <a:rect l="l" t="t" r="r" b="b"/>
              <a:pathLst>
                <a:path w="67945" h="84454">
                  <a:moveTo>
                    <a:pt x="0" y="0"/>
                  </a:moveTo>
                  <a:lnTo>
                    <a:pt x="0" y="84247"/>
                  </a:lnTo>
                  <a:lnTo>
                    <a:pt x="67382" y="33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037722" y="2344814"/>
            <a:ext cx="2181860" cy="24695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54500"/>
              </a:lnSpc>
              <a:spcBef>
                <a:spcPts val="90"/>
              </a:spcBef>
            </a:pPr>
            <a:r>
              <a:rPr sz="1750" spc="15" dirty="0">
                <a:latin typeface="Calibri"/>
                <a:cs typeface="Calibri"/>
              </a:rPr>
              <a:t>Number </a:t>
            </a:r>
            <a:r>
              <a:rPr sz="1750" spc="5" dirty="0">
                <a:latin typeface="Calibri"/>
                <a:cs typeface="Calibri"/>
              </a:rPr>
              <a:t>of</a:t>
            </a:r>
            <a:r>
              <a:rPr sz="1750" spc="-5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parameters:  </a:t>
            </a:r>
            <a:r>
              <a:rPr sz="1750" spc="10" dirty="0">
                <a:latin typeface="Calibri"/>
                <a:cs typeface="Calibri"/>
              </a:rPr>
              <a:t>A:</a:t>
            </a:r>
            <a:r>
              <a:rPr sz="1750" dirty="0">
                <a:latin typeface="Calibri"/>
                <a:cs typeface="Calibri"/>
              </a:rPr>
              <a:t> </a:t>
            </a:r>
            <a:r>
              <a:rPr sz="1750" spc="15" dirty="0">
                <a:latin typeface="Calibri"/>
                <a:cs typeface="Calibri"/>
              </a:rPr>
              <a:t>4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750" spc="10" dirty="0">
                <a:latin typeface="Calibri"/>
                <a:cs typeface="Calibri"/>
              </a:rPr>
              <a:t>B:</a:t>
            </a:r>
            <a:r>
              <a:rPr sz="1750" spc="-95" dirty="0">
                <a:latin typeface="Calibri"/>
                <a:cs typeface="Calibri"/>
              </a:rPr>
              <a:t> </a:t>
            </a:r>
            <a:r>
              <a:rPr sz="1750" spc="15" dirty="0">
                <a:latin typeface="Calibri"/>
                <a:cs typeface="Calibri"/>
              </a:rPr>
              <a:t>1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750" spc="10" dirty="0">
                <a:latin typeface="Calibri"/>
                <a:cs typeface="Calibri"/>
              </a:rPr>
              <a:t>E:</a:t>
            </a:r>
            <a:r>
              <a:rPr sz="1750" spc="-95" dirty="0">
                <a:latin typeface="Calibri"/>
                <a:cs typeface="Calibri"/>
              </a:rPr>
              <a:t> </a:t>
            </a:r>
            <a:r>
              <a:rPr sz="1750" spc="15" dirty="0">
                <a:latin typeface="Calibri"/>
                <a:cs typeface="Calibri"/>
              </a:rPr>
              <a:t>1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1750" spc="5" dirty="0">
                <a:latin typeface="Calibri"/>
                <a:cs typeface="Calibri"/>
              </a:rPr>
              <a:t>J:</a:t>
            </a:r>
            <a:r>
              <a:rPr sz="1750" dirty="0">
                <a:latin typeface="Calibri"/>
                <a:cs typeface="Calibri"/>
              </a:rPr>
              <a:t> </a:t>
            </a:r>
            <a:r>
              <a:rPr sz="1750" spc="15" dirty="0">
                <a:latin typeface="Calibri"/>
                <a:cs typeface="Calibri"/>
              </a:rPr>
              <a:t>2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750" spc="15" dirty="0">
                <a:latin typeface="Calibri"/>
                <a:cs typeface="Calibri"/>
              </a:rPr>
              <a:t>M:</a:t>
            </a:r>
            <a:r>
              <a:rPr sz="1750" dirty="0">
                <a:latin typeface="Calibri"/>
                <a:cs typeface="Calibri"/>
              </a:rPr>
              <a:t> </a:t>
            </a:r>
            <a:r>
              <a:rPr sz="1750" spc="15" dirty="0">
                <a:latin typeface="Calibri"/>
                <a:cs typeface="Calibri"/>
              </a:rPr>
              <a:t>2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37722" y="5333831"/>
            <a:ext cx="225425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15" dirty="0">
                <a:solidFill>
                  <a:srgbClr val="FF0000"/>
                </a:solidFill>
                <a:latin typeface="Calibri"/>
                <a:cs typeface="Calibri"/>
              </a:rPr>
              <a:t>A </a:t>
            </a:r>
            <a:r>
              <a:rPr sz="1750" dirty="0">
                <a:solidFill>
                  <a:srgbClr val="FF0000"/>
                </a:solidFill>
                <a:latin typeface="Calibri"/>
                <a:cs typeface="Calibri"/>
              </a:rPr>
              <a:t>total </a:t>
            </a:r>
            <a:r>
              <a:rPr sz="1750" spc="5" dirty="0">
                <a:solidFill>
                  <a:srgbClr val="FF0000"/>
                </a:solidFill>
                <a:latin typeface="Calibri"/>
                <a:cs typeface="Calibri"/>
              </a:rPr>
              <a:t>of </a:t>
            </a:r>
            <a:r>
              <a:rPr sz="1750" spc="10" dirty="0">
                <a:solidFill>
                  <a:srgbClr val="FF0000"/>
                </a:solidFill>
                <a:latin typeface="Calibri"/>
                <a:cs typeface="Calibri"/>
              </a:rPr>
              <a:t>10</a:t>
            </a:r>
            <a:r>
              <a:rPr sz="175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FF0000"/>
                </a:solidFill>
                <a:latin typeface="Calibri"/>
                <a:cs typeface="Calibri"/>
              </a:rPr>
              <a:t>parameters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61363" y="5919215"/>
            <a:ext cx="5198745" cy="813435"/>
          </a:xfrm>
          <a:prstGeom prst="rect">
            <a:avLst/>
          </a:prstGeom>
          <a:solidFill>
            <a:srgbClr val="D4FEFF"/>
          </a:solidFill>
        </p:spPr>
        <p:txBody>
          <a:bodyPr vert="horz" wrap="square" lIns="0" tIns="41910" rIns="0" bIns="0" rtlCol="0">
            <a:spAutoFit/>
          </a:bodyPr>
          <a:lstStyle/>
          <a:p>
            <a:pPr marL="90170" marR="577850">
              <a:lnSpc>
                <a:spcPct val="101699"/>
              </a:lnSpc>
              <a:spcBef>
                <a:spcPts val="330"/>
              </a:spcBef>
            </a:pPr>
            <a:r>
              <a:rPr sz="2350" b="1" spc="-5" dirty="0">
                <a:solidFill>
                  <a:srgbClr val="FF0000"/>
                </a:solidFill>
                <a:latin typeface="Calibri"/>
                <a:cs typeface="Calibri"/>
              </a:rPr>
              <a:t>By </a:t>
            </a:r>
            <a:r>
              <a:rPr sz="2350" b="1" dirty="0">
                <a:solidFill>
                  <a:srgbClr val="FF0000"/>
                </a:solidFill>
                <a:latin typeface="Calibri"/>
                <a:cs typeface="Calibri"/>
              </a:rPr>
              <a:t>relying </a:t>
            </a:r>
            <a:r>
              <a:rPr sz="2350" b="1" spc="10" dirty="0">
                <a:solidFill>
                  <a:srgbClr val="FF0000"/>
                </a:solidFill>
                <a:latin typeface="Calibri"/>
                <a:cs typeface="Calibri"/>
              </a:rPr>
              <a:t>on domain </a:t>
            </a:r>
            <a:r>
              <a:rPr sz="2350" b="1" spc="5" dirty="0">
                <a:solidFill>
                  <a:srgbClr val="FF0000"/>
                </a:solidFill>
                <a:latin typeface="Calibri"/>
                <a:cs typeface="Calibri"/>
              </a:rPr>
              <a:t>knowledge </a:t>
            </a:r>
            <a:r>
              <a:rPr sz="2350" b="1" dirty="0">
                <a:solidFill>
                  <a:srgbClr val="FF0000"/>
                </a:solidFill>
                <a:latin typeface="Calibri"/>
                <a:cs typeface="Calibri"/>
              </a:rPr>
              <a:t>we  </a:t>
            </a:r>
            <a:r>
              <a:rPr sz="2350" b="1" spc="-5" dirty="0">
                <a:solidFill>
                  <a:srgbClr val="FF0000"/>
                </a:solidFill>
                <a:latin typeface="Calibri"/>
                <a:cs typeface="Calibri"/>
              </a:rPr>
              <a:t>saved </a:t>
            </a:r>
            <a:r>
              <a:rPr sz="2350" b="1" spc="10" dirty="0">
                <a:solidFill>
                  <a:srgbClr val="FF0000"/>
                </a:solidFill>
                <a:latin typeface="Calibri"/>
                <a:cs typeface="Calibri"/>
              </a:rPr>
              <a:t>21 </a:t>
            </a:r>
            <a:r>
              <a:rPr sz="2350" b="1" spc="-5" dirty="0">
                <a:solidFill>
                  <a:srgbClr val="FF0000"/>
                </a:solidFill>
                <a:latin typeface="Calibri"/>
                <a:cs typeface="Calibri"/>
              </a:rPr>
              <a:t>parameters!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407233" y="1731940"/>
            <a:ext cx="278447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10" dirty="0">
                <a:latin typeface="Calibri"/>
                <a:cs typeface="Calibri"/>
              </a:rPr>
              <a:t>P(B)P(E)P(A|B,E)P(J|A)P(M|A)</a:t>
            </a:r>
            <a:endParaRPr sz="1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5694" y="1076681"/>
            <a:ext cx="3330575" cy="5080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150" b="1" spc="5" dirty="0">
                <a:latin typeface="Calibri"/>
                <a:cs typeface="Calibri"/>
              </a:rPr>
              <a:t>A </a:t>
            </a:r>
            <a:r>
              <a:rPr sz="3150" b="1" spc="-10" dirty="0">
                <a:latin typeface="Calibri"/>
                <a:cs typeface="Calibri"/>
              </a:rPr>
              <a:t>Bayesian</a:t>
            </a:r>
            <a:r>
              <a:rPr sz="3150" b="1" spc="-60" dirty="0">
                <a:latin typeface="Calibri"/>
                <a:cs typeface="Calibri"/>
              </a:rPr>
              <a:t> </a:t>
            </a:r>
            <a:r>
              <a:rPr sz="3150" b="1" spc="-5" dirty="0">
                <a:latin typeface="Calibri"/>
                <a:cs typeface="Calibri"/>
              </a:rPr>
              <a:t>network</a:t>
            </a:r>
            <a:endParaRPr sz="315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53668" y="4481152"/>
            <a:ext cx="3704590" cy="2198370"/>
            <a:chOff x="953668" y="4481152"/>
            <a:chExt cx="3704590" cy="2198370"/>
          </a:xfrm>
        </p:grpSpPr>
        <p:sp>
          <p:nvSpPr>
            <p:cNvPr id="4" name="object 4"/>
            <p:cNvSpPr/>
            <p:nvPr/>
          </p:nvSpPr>
          <p:spPr>
            <a:xfrm>
              <a:off x="960018" y="614527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4">
                  <a:moveTo>
                    <a:pt x="263677" y="0"/>
                  </a:moveTo>
                  <a:lnTo>
                    <a:pt x="216281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4"/>
                  </a:lnTo>
                  <a:lnTo>
                    <a:pt x="16496" y="171710"/>
                  </a:lnTo>
                  <a:lnTo>
                    <a:pt x="4248" y="216330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49"/>
                  </a:lnTo>
                  <a:lnTo>
                    <a:pt x="62013" y="433659"/>
                  </a:lnTo>
                  <a:lnTo>
                    <a:pt x="93793" y="465446"/>
                  </a:lnTo>
                  <a:lnTo>
                    <a:pt x="130594" y="491465"/>
                  </a:lnTo>
                  <a:lnTo>
                    <a:pt x="171671" y="510973"/>
                  </a:lnTo>
                  <a:lnTo>
                    <a:pt x="216281" y="523224"/>
                  </a:lnTo>
                  <a:lnTo>
                    <a:pt x="263677" y="527473"/>
                  </a:lnTo>
                  <a:lnTo>
                    <a:pt x="311073" y="523224"/>
                  </a:lnTo>
                  <a:lnTo>
                    <a:pt x="355682" y="510973"/>
                  </a:lnTo>
                  <a:lnTo>
                    <a:pt x="396760" y="491465"/>
                  </a:lnTo>
                  <a:lnTo>
                    <a:pt x="433561" y="465446"/>
                  </a:lnTo>
                  <a:lnTo>
                    <a:pt x="465341" y="433659"/>
                  </a:lnTo>
                  <a:lnTo>
                    <a:pt x="491355" y="396849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30"/>
                  </a:lnTo>
                  <a:lnTo>
                    <a:pt x="510858" y="171710"/>
                  </a:lnTo>
                  <a:lnTo>
                    <a:pt x="491355" y="130624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2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0018" y="614527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4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3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3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68091" y="614527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4">
                  <a:moveTo>
                    <a:pt x="263677" y="0"/>
                  </a:moveTo>
                  <a:lnTo>
                    <a:pt x="216281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4"/>
                  </a:lnTo>
                  <a:lnTo>
                    <a:pt x="16496" y="171710"/>
                  </a:lnTo>
                  <a:lnTo>
                    <a:pt x="4248" y="216330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49"/>
                  </a:lnTo>
                  <a:lnTo>
                    <a:pt x="62013" y="433659"/>
                  </a:lnTo>
                  <a:lnTo>
                    <a:pt x="93793" y="465446"/>
                  </a:lnTo>
                  <a:lnTo>
                    <a:pt x="130594" y="491465"/>
                  </a:lnTo>
                  <a:lnTo>
                    <a:pt x="171671" y="510973"/>
                  </a:lnTo>
                  <a:lnTo>
                    <a:pt x="216281" y="523224"/>
                  </a:lnTo>
                  <a:lnTo>
                    <a:pt x="263677" y="527473"/>
                  </a:lnTo>
                  <a:lnTo>
                    <a:pt x="311073" y="523224"/>
                  </a:lnTo>
                  <a:lnTo>
                    <a:pt x="355682" y="510973"/>
                  </a:lnTo>
                  <a:lnTo>
                    <a:pt x="396760" y="491465"/>
                  </a:lnTo>
                  <a:lnTo>
                    <a:pt x="433561" y="465446"/>
                  </a:lnTo>
                  <a:lnTo>
                    <a:pt x="465341" y="433659"/>
                  </a:lnTo>
                  <a:lnTo>
                    <a:pt x="491355" y="396849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30"/>
                  </a:lnTo>
                  <a:lnTo>
                    <a:pt x="510858" y="171710"/>
                  </a:lnTo>
                  <a:lnTo>
                    <a:pt x="491355" y="130624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2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68091" y="614527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4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24147" y="4487503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499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3"/>
                  </a:lnTo>
                  <a:lnTo>
                    <a:pt x="16496" y="171709"/>
                  </a:lnTo>
                  <a:lnTo>
                    <a:pt x="4248" y="216328"/>
                  </a:lnTo>
                  <a:lnTo>
                    <a:pt x="0" y="263735"/>
                  </a:lnTo>
                  <a:lnTo>
                    <a:pt x="4248" y="311143"/>
                  </a:lnTo>
                  <a:lnTo>
                    <a:pt x="16496" y="355762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1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2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2"/>
                  </a:lnTo>
                  <a:lnTo>
                    <a:pt x="523106" y="311143"/>
                  </a:lnTo>
                  <a:lnTo>
                    <a:pt x="527354" y="263735"/>
                  </a:lnTo>
                  <a:lnTo>
                    <a:pt x="523106" y="216328"/>
                  </a:lnTo>
                  <a:lnTo>
                    <a:pt x="510858" y="171709"/>
                  </a:lnTo>
                  <a:lnTo>
                    <a:pt x="491355" y="130623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2" y="16499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24147" y="4487502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201850" y="4595367"/>
            <a:ext cx="14795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10" dirty="0">
                <a:latin typeface="Calibri"/>
                <a:cs typeface="Calibri"/>
              </a:rPr>
              <a:t>E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13058" y="6253140"/>
            <a:ext cx="10858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5" dirty="0">
                <a:latin typeface="Calibri"/>
                <a:cs typeface="Calibri"/>
              </a:rPr>
              <a:t>J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21132" y="6253140"/>
            <a:ext cx="24511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20" dirty="0">
                <a:latin typeface="Calibri"/>
                <a:cs typeface="Calibri"/>
              </a:rPr>
              <a:t>M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78332" y="2898732"/>
            <a:ext cx="2348230" cy="540385"/>
            <a:chOff x="878332" y="2898732"/>
            <a:chExt cx="2348230" cy="540385"/>
          </a:xfrm>
        </p:grpSpPr>
        <p:sp>
          <p:nvSpPr>
            <p:cNvPr id="14" name="object 14"/>
            <p:cNvSpPr/>
            <p:nvPr/>
          </p:nvSpPr>
          <p:spPr>
            <a:xfrm>
              <a:off x="884682" y="2905083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3"/>
                  </a:lnTo>
                  <a:lnTo>
                    <a:pt x="16496" y="171710"/>
                  </a:lnTo>
                  <a:lnTo>
                    <a:pt x="4248" y="216329"/>
                  </a:lnTo>
                  <a:lnTo>
                    <a:pt x="0" y="263735"/>
                  </a:lnTo>
                  <a:lnTo>
                    <a:pt x="4248" y="311143"/>
                  </a:lnTo>
                  <a:lnTo>
                    <a:pt x="16496" y="355762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1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2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2"/>
                  </a:lnTo>
                  <a:lnTo>
                    <a:pt x="523106" y="311143"/>
                  </a:lnTo>
                  <a:lnTo>
                    <a:pt x="527354" y="263735"/>
                  </a:lnTo>
                  <a:lnTo>
                    <a:pt x="523106" y="216329"/>
                  </a:lnTo>
                  <a:lnTo>
                    <a:pt x="510858" y="171710"/>
                  </a:lnTo>
                  <a:lnTo>
                    <a:pt x="491355" y="130623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2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84682" y="2905082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0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0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92755" y="2905083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3"/>
                  </a:lnTo>
                  <a:lnTo>
                    <a:pt x="16496" y="171710"/>
                  </a:lnTo>
                  <a:lnTo>
                    <a:pt x="4248" y="216329"/>
                  </a:lnTo>
                  <a:lnTo>
                    <a:pt x="0" y="263735"/>
                  </a:lnTo>
                  <a:lnTo>
                    <a:pt x="4248" y="311143"/>
                  </a:lnTo>
                  <a:lnTo>
                    <a:pt x="16496" y="355762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1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2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2"/>
                  </a:lnTo>
                  <a:lnTo>
                    <a:pt x="523106" y="311143"/>
                  </a:lnTo>
                  <a:lnTo>
                    <a:pt x="527354" y="263735"/>
                  </a:lnTo>
                  <a:lnTo>
                    <a:pt x="523106" y="216329"/>
                  </a:lnTo>
                  <a:lnTo>
                    <a:pt x="510858" y="171710"/>
                  </a:lnTo>
                  <a:lnTo>
                    <a:pt x="491355" y="130623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2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92755" y="2905082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037722" y="3012947"/>
            <a:ext cx="17780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15" dirty="0">
                <a:latin typeface="Calibri"/>
                <a:cs typeface="Calibri"/>
              </a:rPr>
              <a:t>A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45795" y="3012947"/>
            <a:ext cx="16637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15" dirty="0">
                <a:latin typeface="Calibri"/>
                <a:cs typeface="Calibri"/>
              </a:rPr>
              <a:t>B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029076" y="3080302"/>
            <a:ext cx="3252470" cy="3447415"/>
            <a:chOff x="1029076" y="3080302"/>
            <a:chExt cx="3252470" cy="3447415"/>
          </a:xfrm>
        </p:grpSpPr>
        <p:sp>
          <p:nvSpPr>
            <p:cNvPr id="21" name="object 21"/>
            <p:cNvSpPr/>
            <p:nvPr/>
          </p:nvSpPr>
          <p:spPr>
            <a:xfrm>
              <a:off x="1487373" y="3116070"/>
              <a:ext cx="1205865" cy="45720"/>
            </a:xfrm>
            <a:custGeom>
              <a:avLst/>
              <a:gdLst/>
              <a:ahLst/>
              <a:cxnLst/>
              <a:rect l="l" t="t" r="r" b="b"/>
              <a:pathLst>
                <a:path w="1205864" h="45719">
                  <a:moveTo>
                    <a:pt x="1205382" y="45211"/>
                  </a:moveTo>
                  <a:lnTo>
                    <a:pt x="0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62279" y="3080302"/>
              <a:ext cx="76835" cy="75565"/>
            </a:xfrm>
            <a:custGeom>
              <a:avLst/>
              <a:gdLst/>
              <a:ahLst/>
              <a:cxnLst/>
              <a:rect l="l" t="t" r="r" b="b"/>
              <a:pathLst>
                <a:path w="76834" h="75564">
                  <a:moveTo>
                    <a:pt x="76694" y="0"/>
                  </a:moveTo>
                  <a:lnTo>
                    <a:pt x="0" y="34825"/>
                  </a:lnTo>
                  <a:lnTo>
                    <a:pt x="73870" y="75300"/>
                  </a:lnTo>
                  <a:lnTo>
                    <a:pt x="766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12036" y="3372900"/>
              <a:ext cx="2712720" cy="1341120"/>
            </a:xfrm>
            <a:custGeom>
              <a:avLst/>
              <a:gdLst/>
              <a:ahLst/>
              <a:cxnLst/>
              <a:rect l="l" t="t" r="r" b="b"/>
              <a:pathLst>
                <a:path w="2712720" h="1341120">
                  <a:moveTo>
                    <a:pt x="2712110" y="1340662"/>
                  </a:moveTo>
                  <a:lnTo>
                    <a:pt x="0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389523" y="3361381"/>
              <a:ext cx="84455" cy="67945"/>
            </a:xfrm>
            <a:custGeom>
              <a:avLst/>
              <a:gdLst/>
              <a:ahLst/>
              <a:cxnLst/>
              <a:rect l="l" t="t" r="r" b="b"/>
              <a:pathLst>
                <a:path w="84455" h="67945">
                  <a:moveTo>
                    <a:pt x="84227" y="0"/>
                  </a:moveTo>
                  <a:lnTo>
                    <a:pt x="0" y="389"/>
                  </a:lnTo>
                  <a:lnTo>
                    <a:pt x="50849" y="67552"/>
                  </a:lnTo>
                  <a:lnTo>
                    <a:pt x="842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61364" y="3372901"/>
              <a:ext cx="1506855" cy="2847975"/>
            </a:xfrm>
            <a:custGeom>
              <a:avLst/>
              <a:gdLst/>
              <a:ahLst/>
              <a:cxnLst/>
              <a:rect l="l" t="t" r="r" b="b"/>
              <a:pathLst>
                <a:path w="1506855" h="2847975">
                  <a:moveTo>
                    <a:pt x="0" y="0"/>
                  </a:moveTo>
                  <a:lnTo>
                    <a:pt x="1506728" y="2847728"/>
                  </a:lnTo>
                </a:path>
              </a:pathLst>
            </a:custGeom>
            <a:ln w="12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11306" y="6158604"/>
              <a:ext cx="68580" cy="84455"/>
            </a:xfrm>
            <a:custGeom>
              <a:avLst/>
              <a:gdLst/>
              <a:ahLst/>
              <a:cxnLst/>
              <a:rect l="l" t="t" r="r" b="b"/>
              <a:pathLst>
                <a:path w="68580" h="84454">
                  <a:moveTo>
                    <a:pt x="66586" y="0"/>
                  </a:moveTo>
                  <a:lnTo>
                    <a:pt x="0" y="35247"/>
                  </a:lnTo>
                  <a:lnTo>
                    <a:pt x="68531" y="84225"/>
                  </a:lnTo>
                  <a:lnTo>
                    <a:pt x="665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35354" y="3432556"/>
              <a:ext cx="75565" cy="2712720"/>
            </a:xfrm>
            <a:custGeom>
              <a:avLst/>
              <a:gdLst/>
              <a:ahLst/>
              <a:cxnLst/>
              <a:rect l="l" t="t" r="r" b="b"/>
              <a:pathLst>
                <a:path w="75565" h="2712720">
                  <a:moveTo>
                    <a:pt x="0" y="0"/>
                  </a:moveTo>
                  <a:lnTo>
                    <a:pt x="75336" y="2712720"/>
                  </a:lnTo>
                </a:path>
              </a:pathLst>
            </a:custGeom>
            <a:ln w="12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71642" y="6094013"/>
              <a:ext cx="75565" cy="76835"/>
            </a:xfrm>
            <a:custGeom>
              <a:avLst/>
              <a:gdLst/>
              <a:ahLst/>
              <a:cxnLst/>
              <a:rect l="l" t="t" r="r" b="b"/>
              <a:pathLst>
                <a:path w="75565" h="76835">
                  <a:moveTo>
                    <a:pt x="75307" y="0"/>
                  </a:moveTo>
                  <a:lnTo>
                    <a:pt x="0" y="2092"/>
                  </a:lnTo>
                  <a:lnTo>
                    <a:pt x="39745" y="76370"/>
                  </a:lnTo>
                  <a:lnTo>
                    <a:pt x="753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144774" y="3432556"/>
              <a:ext cx="1130300" cy="1055370"/>
            </a:xfrm>
            <a:custGeom>
              <a:avLst/>
              <a:gdLst/>
              <a:ahLst/>
              <a:cxnLst/>
              <a:rect l="l" t="t" r="r" b="b"/>
              <a:pathLst>
                <a:path w="1130300" h="1055370">
                  <a:moveTo>
                    <a:pt x="1130046" y="1054946"/>
                  </a:moveTo>
                  <a:lnTo>
                    <a:pt x="0" y="0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126416" y="3415417"/>
              <a:ext cx="81280" cy="79375"/>
            </a:xfrm>
            <a:custGeom>
              <a:avLst/>
              <a:gdLst/>
              <a:ahLst/>
              <a:cxnLst/>
              <a:rect l="l" t="t" r="r" b="b"/>
              <a:pathLst>
                <a:path w="81280" h="79375">
                  <a:moveTo>
                    <a:pt x="0" y="0"/>
                  </a:moveTo>
                  <a:lnTo>
                    <a:pt x="29372" y="78958"/>
                  </a:lnTo>
                  <a:lnTo>
                    <a:pt x="80775" y="238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994101" y="3432556"/>
              <a:ext cx="45720" cy="2712720"/>
            </a:xfrm>
            <a:custGeom>
              <a:avLst/>
              <a:gdLst/>
              <a:ahLst/>
              <a:cxnLst/>
              <a:rect l="l" t="t" r="r" b="b"/>
              <a:pathLst>
                <a:path w="45719" h="2712720">
                  <a:moveTo>
                    <a:pt x="0" y="0"/>
                  </a:moveTo>
                  <a:lnTo>
                    <a:pt x="45200" y="2712720"/>
                  </a:lnTo>
                </a:path>
              </a:pathLst>
            </a:custGeom>
            <a:ln w="12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000801" y="6094420"/>
              <a:ext cx="75565" cy="76200"/>
            </a:xfrm>
            <a:custGeom>
              <a:avLst/>
              <a:gdLst/>
              <a:ahLst/>
              <a:cxnLst/>
              <a:rect l="l" t="t" r="r" b="b"/>
              <a:pathLst>
                <a:path w="75564" h="76200">
                  <a:moveTo>
                    <a:pt x="75326" y="0"/>
                  </a:moveTo>
                  <a:lnTo>
                    <a:pt x="0" y="1256"/>
                  </a:lnTo>
                  <a:lnTo>
                    <a:pt x="38919" y="75970"/>
                  </a:lnTo>
                  <a:lnTo>
                    <a:pt x="753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336700" y="3372901"/>
              <a:ext cx="1431925" cy="2772410"/>
            </a:xfrm>
            <a:custGeom>
              <a:avLst/>
              <a:gdLst/>
              <a:ahLst/>
              <a:cxnLst/>
              <a:rect l="l" t="t" r="r" b="b"/>
              <a:pathLst>
                <a:path w="1431925" h="2772410">
                  <a:moveTo>
                    <a:pt x="1431391" y="0"/>
                  </a:moveTo>
                  <a:lnTo>
                    <a:pt x="0" y="2772374"/>
                  </a:lnTo>
                </a:path>
              </a:pathLst>
            </a:custGeom>
            <a:ln w="12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325177" y="6083353"/>
              <a:ext cx="68580" cy="84455"/>
            </a:xfrm>
            <a:custGeom>
              <a:avLst/>
              <a:gdLst/>
              <a:ahLst/>
              <a:cxnLst/>
              <a:rect l="l" t="t" r="r" b="b"/>
              <a:pathLst>
                <a:path w="68580" h="84454">
                  <a:moveTo>
                    <a:pt x="1099" y="0"/>
                  </a:moveTo>
                  <a:lnTo>
                    <a:pt x="0" y="84240"/>
                  </a:lnTo>
                  <a:lnTo>
                    <a:pt x="68036" y="34575"/>
                  </a:lnTo>
                  <a:lnTo>
                    <a:pt x="10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487373" y="4955321"/>
              <a:ext cx="2637155" cy="1265555"/>
            </a:xfrm>
            <a:custGeom>
              <a:avLst/>
              <a:gdLst/>
              <a:ahLst/>
              <a:cxnLst/>
              <a:rect l="l" t="t" r="r" b="b"/>
              <a:pathLst>
                <a:path w="2637154" h="1265554">
                  <a:moveTo>
                    <a:pt x="2636774" y="0"/>
                  </a:moveTo>
                  <a:lnTo>
                    <a:pt x="0" y="1265308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464731" y="6164930"/>
              <a:ext cx="84455" cy="67945"/>
            </a:xfrm>
            <a:custGeom>
              <a:avLst/>
              <a:gdLst/>
              <a:ahLst/>
              <a:cxnLst/>
              <a:rect l="l" t="t" r="r" b="b"/>
              <a:pathLst>
                <a:path w="84455" h="67945">
                  <a:moveTo>
                    <a:pt x="51630" y="0"/>
                  </a:moveTo>
                  <a:lnTo>
                    <a:pt x="0" y="66563"/>
                  </a:lnTo>
                  <a:lnTo>
                    <a:pt x="84217" y="67938"/>
                  </a:lnTo>
                  <a:lnTo>
                    <a:pt x="516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295446" y="5014977"/>
              <a:ext cx="979805" cy="1130300"/>
            </a:xfrm>
            <a:custGeom>
              <a:avLst/>
              <a:gdLst/>
              <a:ahLst/>
              <a:cxnLst/>
              <a:rect l="l" t="t" r="r" b="b"/>
              <a:pathLst>
                <a:path w="979804" h="1130300">
                  <a:moveTo>
                    <a:pt x="979373" y="0"/>
                  </a:moveTo>
                  <a:lnTo>
                    <a:pt x="0" y="1130299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279000" y="6082638"/>
              <a:ext cx="78105" cy="81915"/>
            </a:xfrm>
            <a:custGeom>
              <a:avLst/>
              <a:gdLst/>
              <a:ahLst/>
              <a:cxnLst/>
              <a:rect l="l" t="t" r="r" b="b"/>
              <a:pathLst>
                <a:path w="78104" h="81914">
                  <a:moveTo>
                    <a:pt x="20874" y="0"/>
                  </a:moveTo>
                  <a:lnTo>
                    <a:pt x="0" y="81619"/>
                  </a:lnTo>
                  <a:lnTo>
                    <a:pt x="77805" y="49350"/>
                  </a:lnTo>
                  <a:lnTo>
                    <a:pt x="208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87373" y="6446689"/>
              <a:ext cx="1205865" cy="45720"/>
            </a:xfrm>
            <a:custGeom>
              <a:avLst/>
              <a:gdLst/>
              <a:ahLst/>
              <a:cxnLst/>
              <a:rect l="l" t="t" r="r" b="b"/>
              <a:pathLst>
                <a:path w="1205864" h="45720">
                  <a:moveTo>
                    <a:pt x="0" y="0"/>
                  </a:moveTo>
                  <a:lnTo>
                    <a:pt x="1205382" y="45211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641155" y="6452368"/>
              <a:ext cx="76835" cy="75565"/>
            </a:xfrm>
            <a:custGeom>
              <a:avLst/>
              <a:gdLst/>
              <a:ahLst/>
              <a:cxnLst/>
              <a:rect l="l" t="t" r="r" b="b"/>
              <a:pathLst>
                <a:path w="76835" h="75565">
                  <a:moveTo>
                    <a:pt x="2823" y="0"/>
                  </a:moveTo>
                  <a:lnTo>
                    <a:pt x="0" y="75299"/>
                  </a:lnTo>
                  <a:lnTo>
                    <a:pt x="76694" y="40473"/>
                  </a:lnTo>
                  <a:lnTo>
                    <a:pt x="28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5204967" y="4453128"/>
            <a:ext cx="1005840" cy="582295"/>
            <a:chOff x="5204967" y="4453128"/>
            <a:chExt cx="1005840" cy="582295"/>
          </a:xfrm>
        </p:grpSpPr>
        <p:pic>
          <p:nvPicPr>
            <p:cNvPr id="42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04967" y="4453128"/>
              <a:ext cx="1005839" cy="58216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4193" y="4487503"/>
              <a:ext cx="904036" cy="467818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5254193" y="4487502"/>
              <a:ext cx="904240" cy="467995"/>
            </a:xfrm>
            <a:custGeom>
              <a:avLst/>
              <a:gdLst/>
              <a:ahLst/>
              <a:cxnLst/>
              <a:rect l="l" t="t" r="r" b="b"/>
              <a:pathLst>
                <a:path w="904239" h="467995">
                  <a:moveTo>
                    <a:pt x="0" y="116954"/>
                  </a:moveTo>
                  <a:lnTo>
                    <a:pt x="670180" y="116954"/>
                  </a:lnTo>
                  <a:lnTo>
                    <a:pt x="670180" y="0"/>
                  </a:lnTo>
                  <a:lnTo>
                    <a:pt x="904036" y="233909"/>
                  </a:lnTo>
                  <a:lnTo>
                    <a:pt x="670180" y="467818"/>
                  </a:lnTo>
                  <a:lnTo>
                    <a:pt x="670180" y="350863"/>
                  </a:lnTo>
                  <a:lnTo>
                    <a:pt x="0" y="350863"/>
                  </a:lnTo>
                  <a:lnTo>
                    <a:pt x="0" y="116954"/>
                  </a:lnTo>
                  <a:close/>
                </a:path>
              </a:pathLst>
            </a:custGeom>
            <a:ln w="12558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/>
          <p:nvPr/>
        </p:nvSpPr>
        <p:spPr>
          <a:xfrm>
            <a:off x="2692755" y="1774782"/>
            <a:ext cx="1431925" cy="904240"/>
          </a:xfrm>
          <a:custGeom>
            <a:avLst/>
            <a:gdLst/>
            <a:ahLst/>
            <a:cxnLst/>
            <a:rect l="l" t="t" r="r" b="b"/>
            <a:pathLst>
              <a:path w="1431925" h="904239">
                <a:moveTo>
                  <a:pt x="0" y="0"/>
                </a:moveTo>
                <a:lnTo>
                  <a:pt x="1431391" y="0"/>
                </a:lnTo>
                <a:lnTo>
                  <a:pt x="1431391" y="904240"/>
                </a:lnTo>
                <a:lnTo>
                  <a:pt x="0" y="904240"/>
                </a:lnTo>
                <a:lnTo>
                  <a:pt x="0" y="0"/>
                </a:lnTo>
                <a:close/>
              </a:path>
            </a:pathLst>
          </a:custGeom>
          <a:ln w="12558">
            <a:solidFill>
              <a:srgbClr val="FF2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199483" y="1763244"/>
            <a:ext cx="1054735" cy="904240"/>
          </a:xfrm>
          <a:custGeom>
            <a:avLst/>
            <a:gdLst/>
            <a:ahLst/>
            <a:cxnLst/>
            <a:rect l="l" t="t" r="r" b="b"/>
            <a:pathLst>
              <a:path w="1054735" h="904239">
                <a:moveTo>
                  <a:pt x="0" y="0"/>
                </a:moveTo>
                <a:lnTo>
                  <a:pt x="1054709" y="0"/>
                </a:lnTo>
                <a:lnTo>
                  <a:pt x="1054709" y="904240"/>
                </a:lnTo>
                <a:lnTo>
                  <a:pt x="0" y="904240"/>
                </a:lnTo>
                <a:lnTo>
                  <a:pt x="0" y="0"/>
                </a:lnTo>
                <a:close/>
              </a:path>
            </a:pathLst>
          </a:custGeom>
          <a:ln w="12557">
            <a:solidFill>
              <a:srgbClr val="FF2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082893" y="1774782"/>
            <a:ext cx="753745" cy="904240"/>
          </a:xfrm>
          <a:custGeom>
            <a:avLst/>
            <a:gdLst/>
            <a:ahLst/>
            <a:cxnLst/>
            <a:rect l="l" t="t" r="r" b="b"/>
            <a:pathLst>
              <a:path w="753745" h="904239">
                <a:moveTo>
                  <a:pt x="0" y="0"/>
                </a:moveTo>
                <a:lnTo>
                  <a:pt x="753364" y="0"/>
                </a:lnTo>
                <a:lnTo>
                  <a:pt x="753364" y="904240"/>
                </a:lnTo>
                <a:lnTo>
                  <a:pt x="0" y="904240"/>
                </a:lnTo>
                <a:lnTo>
                  <a:pt x="0" y="0"/>
                </a:lnTo>
                <a:close/>
              </a:path>
            </a:pathLst>
          </a:custGeom>
          <a:ln w="12557">
            <a:solidFill>
              <a:srgbClr val="FF2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2867597" y="1807294"/>
            <a:ext cx="4436745" cy="83629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15" dirty="0">
                <a:latin typeface="Calibri"/>
                <a:cs typeface="Calibri"/>
              </a:rPr>
              <a:t>P(M </a:t>
            </a:r>
            <a:r>
              <a:rPr sz="1750" spc="10" dirty="0">
                <a:latin typeface="Calibri"/>
                <a:cs typeface="Calibri"/>
              </a:rPr>
              <a:t>| </a:t>
            </a:r>
            <a:r>
              <a:rPr sz="1750" spc="5" dirty="0">
                <a:latin typeface="Calibri"/>
                <a:cs typeface="Calibri"/>
              </a:rPr>
              <a:t>J,A,B,E) </a:t>
            </a:r>
            <a:r>
              <a:rPr sz="1750" spc="10" dirty="0">
                <a:latin typeface="Calibri"/>
                <a:cs typeface="Calibri"/>
              </a:rPr>
              <a:t>P(J | </a:t>
            </a:r>
            <a:r>
              <a:rPr sz="1750" spc="5" dirty="0">
                <a:latin typeface="Calibri"/>
                <a:cs typeface="Calibri"/>
              </a:rPr>
              <a:t>A,B,E) </a:t>
            </a:r>
            <a:r>
              <a:rPr sz="1750" spc="10" dirty="0">
                <a:latin typeface="Calibri"/>
                <a:cs typeface="Calibri"/>
              </a:rPr>
              <a:t>P(A | </a:t>
            </a:r>
            <a:r>
              <a:rPr sz="1750" spc="5" dirty="0">
                <a:latin typeface="Calibri"/>
                <a:cs typeface="Calibri"/>
              </a:rPr>
              <a:t>B,E)P(B </a:t>
            </a:r>
            <a:r>
              <a:rPr sz="1750" spc="10" dirty="0">
                <a:latin typeface="Calibri"/>
                <a:cs typeface="Calibri"/>
              </a:rPr>
              <a:t>|</a:t>
            </a:r>
            <a:r>
              <a:rPr sz="1750" spc="-20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E)P(E)</a:t>
            </a:r>
            <a:endParaRPr sz="17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50">
              <a:latin typeface="Calibri"/>
              <a:cs typeface="Calibri"/>
            </a:endParaRPr>
          </a:p>
          <a:p>
            <a:pPr marL="367030">
              <a:lnSpc>
                <a:spcPct val="100000"/>
              </a:lnSpc>
              <a:tabLst>
                <a:tab pos="1497330" algn="l"/>
                <a:tab pos="2476500" algn="l"/>
                <a:tab pos="3380740" algn="l"/>
                <a:tab pos="4058920" algn="l"/>
              </a:tabLst>
            </a:pPr>
            <a:r>
              <a:rPr sz="1750" spc="10" dirty="0">
                <a:latin typeface="Calibri"/>
                <a:cs typeface="Calibri"/>
              </a:rPr>
              <a:t>P(M|A)	P(</a:t>
            </a:r>
            <a:r>
              <a:rPr sz="1750" dirty="0">
                <a:latin typeface="Calibri"/>
                <a:cs typeface="Calibri"/>
              </a:rPr>
              <a:t>J</a:t>
            </a:r>
            <a:r>
              <a:rPr sz="1750" spc="10" dirty="0">
                <a:latin typeface="Calibri"/>
                <a:cs typeface="Calibri"/>
              </a:rPr>
              <a:t>|A)</a:t>
            </a:r>
            <a:r>
              <a:rPr sz="1750" dirty="0">
                <a:latin typeface="Calibri"/>
                <a:cs typeface="Calibri"/>
              </a:rPr>
              <a:t>	</a:t>
            </a:r>
            <a:r>
              <a:rPr sz="1750" spc="10" dirty="0">
                <a:latin typeface="Calibri"/>
                <a:cs typeface="Calibri"/>
              </a:rPr>
              <a:t>P(A|</a:t>
            </a:r>
            <a:r>
              <a:rPr sz="1750" spc="-10" dirty="0">
                <a:latin typeface="Calibri"/>
                <a:cs typeface="Calibri"/>
              </a:rPr>
              <a:t>B</a:t>
            </a:r>
            <a:r>
              <a:rPr sz="1750" spc="10" dirty="0">
                <a:latin typeface="Calibri"/>
                <a:cs typeface="Calibri"/>
              </a:rPr>
              <a:t>,E)</a:t>
            </a:r>
            <a:r>
              <a:rPr sz="1750" dirty="0">
                <a:latin typeface="Calibri"/>
                <a:cs typeface="Calibri"/>
              </a:rPr>
              <a:t>	</a:t>
            </a:r>
            <a:r>
              <a:rPr sz="2625" spc="15" baseline="3174" dirty="0">
                <a:latin typeface="Calibri"/>
                <a:cs typeface="Calibri"/>
              </a:rPr>
              <a:t>P(B</a:t>
            </a:r>
            <a:r>
              <a:rPr sz="2625" spc="7" baseline="3174" dirty="0">
                <a:latin typeface="Calibri"/>
                <a:cs typeface="Calibri"/>
              </a:rPr>
              <a:t>)</a:t>
            </a:r>
            <a:r>
              <a:rPr sz="2625" baseline="3174" dirty="0">
                <a:latin typeface="Calibri"/>
                <a:cs typeface="Calibri"/>
              </a:rPr>
              <a:t>	</a:t>
            </a:r>
            <a:r>
              <a:rPr sz="2625" spc="15" baseline="3174" dirty="0">
                <a:latin typeface="Calibri"/>
                <a:cs typeface="Calibri"/>
              </a:rPr>
              <a:t>P(E)</a:t>
            </a:r>
            <a:endParaRPr sz="2625" baseline="3174">
              <a:latin typeface="Calibri"/>
              <a:cs typeface="Calibr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6829979" y="5837583"/>
            <a:ext cx="540385" cy="540385"/>
            <a:chOff x="6829979" y="5837583"/>
            <a:chExt cx="540385" cy="540385"/>
          </a:xfrm>
        </p:grpSpPr>
        <p:sp>
          <p:nvSpPr>
            <p:cNvPr id="50" name="object 50"/>
            <p:cNvSpPr/>
            <p:nvPr/>
          </p:nvSpPr>
          <p:spPr>
            <a:xfrm>
              <a:off x="6836257" y="5843863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263677" y="0"/>
                  </a:moveTo>
                  <a:lnTo>
                    <a:pt x="216280" y="4249"/>
                  </a:lnTo>
                  <a:lnTo>
                    <a:pt x="171671" y="16499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3"/>
                  </a:lnTo>
                  <a:lnTo>
                    <a:pt x="16496" y="171709"/>
                  </a:lnTo>
                  <a:lnTo>
                    <a:pt x="4248" y="216328"/>
                  </a:lnTo>
                  <a:lnTo>
                    <a:pt x="0" y="263735"/>
                  </a:lnTo>
                  <a:lnTo>
                    <a:pt x="4248" y="311143"/>
                  </a:lnTo>
                  <a:lnTo>
                    <a:pt x="16496" y="355762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0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2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2"/>
                  </a:lnTo>
                  <a:lnTo>
                    <a:pt x="523106" y="311143"/>
                  </a:lnTo>
                  <a:lnTo>
                    <a:pt x="527354" y="263735"/>
                  </a:lnTo>
                  <a:lnTo>
                    <a:pt x="523106" y="216328"/>
                  </a:lnTo>
                  <a:lnTo>
                    <a:pt x="510858" y="171709"/>
                  </a:lnTo>
                  <a:lnTo>
                    <a:pt x="491355" y="130623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2" y="16499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836257" y="5843862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0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0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7583272" y="4481152"/>
            <a:ext cx="1595120" cy="1896745"/>
            <a:chOff x="7583272" y="4481152"/>
            <a:chExt cx="1595120" cy="1896745"/>
          </a:xfrm>
        </p:grpSpPr>
        <p:sp>
          <p:nvSpPr>
            <p:cNvPr id="53" name="object 53"/>
            <p:cNvSpPr/>
            <p:nvPr/>
          </p:nvSpPr>
          <p:spPr>
            <a:xfrm>
              <a:off x="8644331" y="5843863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499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3"/>
                  </a:lnTo>
                  <a:lnTo>
                    <a:pt x="16496" y="171709"/>
                  </a:lnTo>
                  <a:lnTo>
                    <a:pt x="4248" y="216328"/>
                  </a:lnTo>
                  <a:lnTo>
                    <a:pt x="0" y="263735"/>
                  </a:lnTo>
                  <a:lnTo>
                    <a:pt x="4248" y="311143"/>
                  </a:lnTo>
                  <a:lnTo>
                    <a:pt x="16496" y="355762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1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2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2"/>
                  </a:lnTo>
                  <a:lnTo>
                    <a:pt x="523106" y="311143"/>
                  </a:lnTo>
                  <a:lnTo>
                    <a:pt x="527354" y="263735"/>
                  </a:lnTo>
                  <a:lnTo>
                    <a:pt x="523106" y="216328"/>
                  </a:lnTo>
                  <a:lnTo>
                    <a:pt x="510858" y="171709"/>
                  </a:lnTo>
                  <a:lnTo>
                    <a:pt x="491355" y="130623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2" y="16499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644331" y="5843862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589621" y="4487503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263677" y="0"/>
                  </a:moveTo>
                  <a:lnTo>
                    <a:pt x="216280" y="4249"/>
                  </a:lnTo>
                  <a:lnTo>
                    <a:pt x="171671" y="16499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3"/>
                  </a:lnTo>
                  <a:lnTo>
                    <a:pt x="16496" y="171709"/>
                  </a:lnTo>
                  <a:lnTo>
                    <a:pt x="4248" y="216328"/>
                  </a:lnTo>
                  <a:lnTo>
                    <a:pt x="0" y="263735"/>
                  </a:lnTo>
                  <a:lnTo>
                    <a:pt x="4248" y="311143"/>
                  </a:lnTo>
                  <a:lnTo>
                    <a:pt x="16496" y="355762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0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2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2"/>
                  </a:lnTo>
                  <a:lnTo>
                    <a:pt x="523106" y="311143"/>
                  </a:lnTo>
                  <a:lnTo>
                    <a:pt x="527354" y="263735"/>
                  </a:lnTo>
                  <a:lnTo>
                    <a:pt x="523106" y="216328"/>
                  </a:lnTo>
                  <a:lnTo>
                    <a:pt x="510858" y="171709"/>
                  </a:lnTo>
                  <a:lnTo>
                    <a:pt x="491355" y="130623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2" y="16499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589622" y="4487502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0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0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7742661" y="4595367"/>
            <a:ext cx="17780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15" dirty="0">
                <a:latin typeface="Calibri"/>
                <a:cs typeface="Calibri"/>
              </a:rPr>
              <a:t>A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989297" y="5951728"/>
            <a:ext cx="10858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5" dirty="0">
                <a:latin typeface="Calibri"/>
                <a:cs typeface="Calibri"/>
              </a:rPr>
              <a:t>J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797371" y="5951728"/>
            <a:ext cx="24511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20" dirty="0">
                <a:latin typeface="Calibri"/>
                <a:cs typeface="Calibri"/>
              </a:rPr>
              <a:t>M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6528561" y="3124792"/>
            <a:ext cx="2348230" cy="540385"/>
            <a:chOff x="6528561" y="3124792"/>
            <a:chExt cx="2348230" cy="540385"/>
          </a:xfrm>
        </p:grpSpPr>
        <p:sp>
          <p:nvSpPr>
            <p:cNvPr id="61" name="object 61"/>
            <p:cNvSpPr/>
            <p:nvPr/>
          </p:nvSpPr>
          <p:spPr>
            <a:xfrm>
              <a:off x="6534911" y="3131143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499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3"/>
                  </a:lnTo>
                  <a:lnTo>
                    <a:pt x="16496" y="171710"/>
                  </a:lnTo>
                  <a:lnTo>
                    <a:pt x="4248" y="216329"/>
                  </a:lnTo>
                  <a:lnTo>
                    <a:pt x="0" y="263737"/>
                  </a:lnTo>
                  <a:lnTo>
                    <a:pt x="4248" y="311143"/>
                  </a:lnTo>
                  <a:lnTo>
                    <a:pt x="16496" y="355762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1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3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2"/>
                  </a:lnTo>
                  <a:lnTo>
                    <a:pt x="523106" y="311143"/>
                  </a:lnTo>
                  <a:lnTo>
                    <a:pt x="527354" y="263737"/>
                  </a:lnTo>
                  <a:lnTo>
                    <a:pt x="523106" y="216329"/>
                  </a:lnTo>
                  <a:lnTo>
                    <a:pt x="510858" y="171710"/>
                  </a:lnTo>
                  <a:lnTo>
                    <a:pt x="491355" y="130623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3" y="16499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534911" y="3131142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342985" y="3131143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263677" y="0"/>
                  </a:moveTo>
                  <a:lnTo>
                    <a:pt x="216280" y="4249"/>
                  </a:lnTo>
                  <a:lnTo>
                    <a:pt x="171671" y="16499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3"/>
                  </a:lnTo>
                  <a:lnTo>
                    <a:pt x="16496" y="171710"/>
                  </a:lnTo>
                  <a:lnTo>
                    <a:pt x="4248" y="216329"/>
                  </a:lnTo>
                  <a:lnTo>
                    <a:pt x="0" y="263737"/>
                  </a:lnTo>
                  <a:lnTo>
                    <a:pt x="4248" y="311143"/>
                  </a:lnTo>
                  <a:lnTo>
                    <a:pt x="16496" y="355762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0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3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2"/>
                  </a:lnTo>
                  <a:lnTo>
                    <a:pt x="523106" y="311143"/>
                  </a:lnTo>
                  <a:lnTo>
                    <a:pt x="527354" y="263737"/>
                  </a:lnTo>
                  <a:lnTo>
                    <a:pt x="523106" y="216329"/>
                  </a:lnTo>
                  <a:lnTo>
                    <a:pt x="510858" y="171710"/>
                  </a:lnTo>
                  <a:lnTo>
                    <a:pt x="491355" y="130623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3" y="16499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342985" y="3131142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6687952" y="3239008"/>
            <a:ext cx="16637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15" dirty="0">
                <a:latin typeface="Calibri"/>
                <a:cs typeface="Calibri"/>
              </a:rPr>
              <a:t>B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496025" y="3239008"/>
            <a:ext cx="14795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10" dirty="0">
                <a:latin typeface="Calibri"/>
                <a:cs typeface="Calibri"/>
              </a:rPr>
              <a:t>E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6905315" y="3652337"/>
            <a:ext cx="1907539" cy="2209800"/>
            <a:chOff x="6905315" y="3652337"/>
            <a:chExt cx="1907539" cy="2209800"/>
          </a:xfrm>
        </p:grpSpPr>
        <p:sp>
          <p:nvSpPr>
            <p:cNvPr id="68" name="object 68"/>
            <p:cNvSpPr/>
            <p:nvPr/>
          </p:nvSpPr>
          <p:spPr>
            <a:xfrm>
              <a:off x="6911594" y="3658616"/>
              <a:ext cx="753745" cy="829310"/>
            </a:xfrm>
            <a:custGeom>
              <a:avLst/>
              <a:gdLst/>
              <a:ahLst/>
              <a:cxnLst/>
              <a:rect l="l" t="t" r="r" b="b"/>
              <a:pathLst>
                <a:path w="753745" h="829310">
                  <a:moveTo>
                    <a:pt x="0" y="0"/>
                  </a:moveTo>
                  <a:lnTo>
                    <a:pt x="753364" y="828886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7603301" y="4424987"/>
              <a:ext cx="78740" cy="81280"/>
            </a:xfrm>
            <a:custGeom>
              <a:avLst/>
              <a:gdLst/>
              <a:ahLst/>
              <a:cxnLst/>
              <a:rect l="l" t="t" r="r" b="b"/>
              <a:pathLst>
                <a:path w="78740" h="81279">
                  <a:moveTo>
                    <a:pt x="55745" y="0"/>
                  </a:moveTo>
                  <a:lnTo>
                    <a:pt x="0" y="50688"/>
                  </a:lnTo>
                  <a:lnTo>
                    <a:pt x="78549" y="81100"/>
                  </a:lnTo>
                  <a:lnTo>
                    <a:pt x="557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041640" y="3658616"/>
              <a:ext cx="527685" cy="829310"/>
            </a:xfrm>
            <a:custGeom>
              <a:avLst/>
              <a:gdLst/>
              <a:ahLst/>
              <a:cxnLst/>
              <a:rect l="l" t="t" r="r" b="b"/>
              <a:pathLst>
                <a:path w="527684" h="829310">
                  <a:moveTo>
                    <a:pt x="527354" y="0"/>
                  </a:moveTo>
                  <a:lnTo>
                    <a:pt x="0" y="828886"/>
                  </a:lnTo>
                </a:path>
              </a:pathLst>
            </a:custGeom>
            <a:ln w="12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028158" y="4424893"/>
              <a:ext cx="72390" cy="83820"/>
            </a:xfrm>
            <a:custGeom>
              <a:avLst/>
              <a:gdLst/>
              <a:ahLst/>
              <a:cxnLst/>
              <a:rect l="l" t="t" r="r" b="b"/>
              <a:pathLst>
                <a:path w="72390" h="83820">
                  <a:moveTo>
                    <a:pt x="8667" y="0"/>
                  </a:moveTo>
                  <a:lnTo>
                    <a:pt x="0" y="83800"/>
                  </a:lnTo>
                  <a:lnTo>
                    <a:pt x="72226" y="40455"/>
                  </a:lnTo>
                  <a:lnTo>
                    <a:pt x="86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7966303" y="5014976"/>
              <a:ext cx="829310" cy="829310"/>
            </a:xfrm>
            <a:custGeom>
              <a:avLst/>
              <a:gdLst/>
              <a:ahLst/>
              <a:cxnLst/>
              <a:rect l="l" t="t" r="r" b="b"/>
              <a:pathLst>
                <a:path w="829309" h="829310">
                  <a:moveTo>
                    <a:pt x="0" y="0"/>
                  </a:moveTo>
                  <a:lnTo>
                    <a:pt x="828700" y="828886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732854" y="5781699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53271" y="0"/>
                  </a:moveTo>
                  <a:lnTo>
                    <a:pt x="0" y="53282"/>
                  </a:lnTo>
                  <a:lnTo>
                    <a:pt x="79907" y="79924"/>
                  </a:lnTo>
                  <a:lnTo>
                    <a:pt x="532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288276" y="5014976"/>
              <a:ext cx="377190" cy="753745"/>
            </a:xfrm>
            <a:custGeom>
              <a:avLst/>
              <a:gdLst/>
              <a:ahLst/>
              <a:cxnLst/>
              <a:rect l="l" t="t" r="r" b="b"/>
              <a:pathLst>
                <a:path w="377190" h="753745">
                  <a:moveTo>
                    <a:pt x="376682" y="0"/>
                  </a:moveTo>
                  <a:lnTo>
                    <a:pt x="0" y="753533"/>
                  </a:lnTo>
                </a:path>
              </a:pathLst>
            </a:custGeom>
            <a:ln w="12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277045" y="5706728"/>
              <a:ext cx="67945" cy="84455"/>
            </a:xfrm>
            <a:custGeom>
              <a:avLst/>
              <a:gdLst/>
              <a:ahLst/>
              <a:cxnLst/>
              <a:rect l="l" t="t" r="r" b="b"/>
              <a:pathLst>
                <a:path w="67945" h="84454">
                  <a:moveTo>
                    <a:pt x="0" y="0"/>
                  </a:moveTo>
                  <a:lnTo>
                    <a:pt x="0" y="84246"/>
                  </a:lnTo>
                  <a:lnTo>
                    <a:pt x="67383" y="336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5759" y="775267"/>
            <a:ext cx="6648772" cy="11080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289175" marR="5080" indent="-2277110">
              <a:lnSpc>
                <a:spcPct val="100000"/>
              </a:lnSpc>
              <a:spcBef>
                <a:spcPts val="110"/>
              </a:spcBef>
            </a:pPr>
            <a:r>
              <a:rPr sz="3550" b="1" spc="85" dirty="0">
                <a:latin typeface="Calibri"/>
                <a:cs typeface="Calibri"/>
              </a:rPr>
              <a:t>Construc</a:t>
            </a:r>
            <a:r>
              <a:rPr lang="en-US" sz="3550" b="1" spc="85" dirty="0">
                <a:latin typeface="Calibri"/>
                <a:cs typeface="Calibri"/>
              </a:rPr>
              <a:t>ti</a:t>
            </a:r>
            <a:r>
              <a:rPr sz="3550" b="1" spc="85" dirty="0">
                <a:latin typeface="Calibri"/>
                <a:cs typeface="Calibri"/>
              </a:rPr>
              <a:t>ng </a:t>
            </a:r>
            <a:r>
              <a:rPr sz="3550" b="1" dirty="0">
                <a:latin typeface="Calibri"/>
                <a:cs typeface="Calibri"/>
              </a:rPr>
              <a:t>a </a:t>
            </a:r>
            <a:r>
              <a:rPr sz="3550" b="1" spc="-15" dirty="0">
                <a:latin typeface="Calibri"/>
                <a:cs typeface="Calibri"/>
              </a:rPr>
              <a:t>Bayesian</a:t>
            </a:r>
            <a:r>
              <a:rPr sz="3550" b="1" spc="-110" dirty="0">
                <a:latin typeface="Calibri"/>
                <a:cs typeface="Calibri"/>
              </a:rPr>
              <a:t> </a:t>
            </a:r>
            <a:r>
              <a:rPr sz="3550" b="1" spc="-5" dirty="0">
                <a:latin typeface="Calibri"/>
                <a:cs typeface="Calibri"/>
              </a:rPr>
              <a:t>network:  </a:t>
            </a:r>
            <a:r>
              <a:rPr sz="3550" b="1" spc="-15" dirty="0">
                <a:latin typeface="Calibri"/>
                <a:cs typeface="Calibri"/>
              </a:rPr>
              <a:t>Revisited</a:t>
            </a:r>
            <a:endParaRPr sz="355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7722" y="2033859"/>
            <a:ext cx="7496809" cy="3513454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51155" indent="-339090" algn="just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351790" algn="l"/>
              </a:tabLst>
            </a:pPr>
            <a:r>
              <a:rPr sz="2350" dirty="0">
                <a:latin typeface="Calibri"/>
                <a:cs typeface="Calibri"/>
              </a:rPr>
              <a:t>Step </a:t>
            </a:r>
            <a:r>
              <a:rPr sz="2350" spc="5" dirty="0">
                <a:latin typeface="Calibri"/>
                <a:cs typeface="Calibri"/>
              </a:rPr>
              <a:t>1: </a:t>
            </a:r>
            <a:r>
              <a:rPr sz="2350" spc="-15" dirty="0">
                <a:latin typeface="Calibri"/>
                <a:cs typeface="Calibri"/>
              </a:rPr>
              <a:t>Iden</a:t>
            </a:r>
            <a:r>
              <a:rPr lang="en-US" sz="2350" spc="-15" dirty="0">
                <a:latin typeface="Calibri"/>
                <a:cs typeface="Calibri"/>
              </a:rPr>
              <a:t>ti</a:t>
            </a:r>
            <a:r>
              <a:rPr sz="2350" spc="-15" dirty="0">
                <a:latin typeface="Calibri"/>
                <a:cs typeface="Calibri"/>
              </a:rPr>
              <a:t>fy </a:t>
            </a:r>
            <a:r>
              <a:rPr sz="2350" spc="10" dirty="0">
                <a:latin typeface="Calibri"/>
                <a:cs typeface="Calibri"/>
              </a:rPr>
              <a:t>the </a:t>
            </a:r>
            <a:r>
              <a:rPr sz="2350" dirty="0">
                <a:latin typeface="Calibri"/>
                <a:cs typeface="Calibri"/>
              </a:rPr>
              <a:t>random</a:t>
            </a:r>
            <a:r>
              <a:rPr sz="2350" spc="2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variables</a:t>
            </a:r>
          </a:p>
          <a:p>
            <a:pPr marL="351155" indent="-339090" algn="just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351790" algn="l"/>
              </a:tabLst>
            </a:pPr>
            <a:r>
              <a:rPr sz="2350" dirty="0">
                <a:latin typeface="Calibri"/>
                <a:cs typeface="Calibri"/>
              </a:rPr>
              <a:t>Step </a:t>
            </a:r>
            <a:r>
              <a:rPr sz="2350" spc="5" dirty="0">
                <a:latin typeface="Calibri"/>
                <a:cs typeface="Calibri"/>
              </a:rPr>
              <a:t>2: </a:t>
            </a:r>
            <a:r>
              <a:rPr sz="2350" dirty="0">
                <a:latin typeface="Calibri"/>
                <a:cs typeface="Calibri"/>
              </a:rPr>
              <a:t>Determine </a:t>
            </a:r>
            <a:r>
              <a:rPr sz="2350" spc="10" dirty="0">
                <a:latin typeface="Calibri"/>
                <a:cs typeface="Calibri"/>
              </a:rPr>
              <a:t>the </a:t>
            </a:r>
            <a:r>
              <a:rPr sz="2350" spc="-10" dirty="0">
                <a:latin typeface="Calibri"/>
                <a:cs typeface="Calibri"/>
              </a:rPr>
              <a:t>condi</a:t>
            </a:r>
            <a:r>
              <a:rPr lang="en-US" sz="2350" spc="-10" dirty="0">
                <a:latin typeface="Calibri"/>
                <a:cs typeface="Calibri"/>
              </a:rPr>
              <a:t>ti</a:t>
            </a:r>
            <a:r>
              <a:rPr sz="2350" spc="-10" dirty="0">
                <a:latin typeface="Calibri"/>
                <a:cs typeface="Calibri"/>
              </a:rPr>
              <a:t>onal</a:t>
            </a:r>
            <a:r>
              <a:rPr sz="2350" spc="5" dirty="0">
                <a:latin typeface="Calibri"/>
                <a:cs typeface="Calibri"/>
              </a:rPr>
              <a:t> </a:t>
            </a:r>
            <a:r>
              <a:rPr sz="2350" spc="10" dirty="0">
                <a:latin typeface="Calibri"/>
                <a:cs typeface="Calibri"/>
              </a:rPr>
              <a:t>dependencies</a:t>
            </a:r>
            <a:endParaRPr sz="2350" dirty="0">
              <a:latin typeface="Calibri"/>
              <a:cs typeface="Calibri"/>
            </a:endParaRPr>
          </a:p>
          <a:p>
            <a:pPr marL="285115" algn="just">
              <a:lnSpc>
                <a:spcPct val="100000"/>
              </a:lnSpc>
              <a:spcBef>
                <a:spcPts val="940"/>
              </a:spcBef>
            </a:pPr>
            <a:r>
              <a:rPr sz="1950" spc="-400" dirty="0">
                <a:latin typeface="Calibri"/>
                <a:cs typeface="Calibri"/>
              </a:rPr>
              <a:t>-­‐ </a:t>
            </a:r>
            <a:r>
              <a:rPr sz="1950" spc="10" dirty="0">
                <a:latin typeface="Calibri"/>
                <a:cs typeface="Calibri"/>
              </a:rPr>
              <a:t>Select an </a:t>
            </a:r>
            <a:r>
              <a:rPr sz="1950" spc="5" dirty="0">
                <a:latin typeface="Calibri"/>
                <a:cs typeface="Calibri"/>
              </a:rPr>
              <a:t>ordering of </a:t>
            </a:r>
            <a:r>
              <a:rPr sz="1950" spc="10" dirty="0">
                <a:latin typeface="Calibri"/>
                <a:cs typeface="Calibri"/>
              </a:rPr>
              <a:t>the</a:t>
            </a:r>
            <a:r>
              <a:rPr sz="1950" spc="-15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variables</a:t>
            </a:r>
            <a:endParaRPr sz="1950" dirty="0">
              <a:latin typeface="Calibri"/>
              <a:cs typeface="Calibri"/>
            </a:endParaRPr>
          </a:p>
          <a:p>
            <a:pPr marL="296545" algn="just">
              <a:lnSpc>
                <a:spcPct val="100000"/>
              </a:lnSpc>
              <a:spcBef>
                <a:spcPts val="630"/>
              </a:spcBef>
            </a:pPr>
            <a:r>
              <a:rPr sz="1950" spc="-400" dirty="0">
                <a:latin typeface="Calibri"/>
                <a:cs typeface="Calibri"/>
              </a:rPr>
              <a:t>-­‐ </a:t>
            </a:r>
            <a:r>
              <a:rPr sz="1950" spc="10" dirty="0">
                <a:latin typeface="Calibri"/>
                <a:cs typeface="Calibri"/>
              </a:rPr>
              <a:t>Add them one </a:t>
            </a:r>
            <a:r>
              <a:rPr sz="1950" dirty="0">
                <a:latin typeface="Calibri"/>
                <a:cs typeface="Calibri"/>
              </a:rPr>
              <a:t>at </a:t>
            </a:r>
            <a:r>
              <a:rPr sz="1950" spc="10" dirty="0">
                <a:latin typeface="Calibri"/>
                <a:cs typeface="Calibri"/>
              </a:rPr>
              <a:t>a</a:t>
            </a:r>
            <a:r>
              <a:rPr sz="1950" spc="-15" dirty="0">
                <a:latin typeface="Calibri"/>
                <a:cs typeface="Calibri"/>
              </a:rPr>
              <a:t> </a:t>
            </a:r>
            <a:r>
              <a:rPr lang="en-US" sz="1950" spc="-30" dirty="0">
                <a:latin typeface="Calibri"/>
                <a:cs typeface="Calibri"/>
              </a:rPr>
              <a:t>ti</a:t>
            </a:r>
            <a:r>
              <a:rPr sz="1950" spc="-30" dirty="0">
                <a:latin typeface="Calibri"/>
                <a:cs typeface="Calibri"/>
              </a:rPr>
              <a:t>me</a:t>
            </a:r>
            <a:endParaRPr sz="1950" dirty="0">
              <a:latin typeface="Calibri"/>
              <a:cs typeface="Calibri"/>
            </a:endParaRPr>
          </a:p>
          <a:p>
            <a:pPr marL="351155" marR="5080" indent="-55244" algn="just">
              <a:lnSpc>
                <a:spcPct val="101800"/>
              </a:lnSpc>
              <a:spcBef>
                <a:spcPts val="484"/>
              </a:spcBef>
            </a:pPr>
            <a:r>
              <a:rPr sz="1950" spc="-400" dirty="0">
                <a:latin typeface="Calibri"/>
                <a:cs typeface="Calibri"/>
              </a:rPr>
              <a:t>-­‐ </a:t>
            </a:r>
            <a:r>
              <a:rPr sz="1950" dirty="0">
                <a:latin typeface="Calibri"/>
                <a:cs typeface="Calibri"/>
              </a:rPr>
              <a:t>For </a:t>
            </a:r>
            <a:r>
              <a:rPr sz="1950" spc="10" dirty="0">
                <a:latin typeface="Calibri"/>
                <a:cs typeface="Calibri"/>
              </a:rPr>
              <a:t>each new </a:t>
            </a:r>
            <a:r>
              <a:rPr sz="1950" spc="5" dirty="0">
                <a:latin typeface="Calibri"/>
                <a:cs typeface="Calibri"/>
              </a:rPr>
              <a:t>variable </a:t>
            </a:r>
            <a:r>
              <a:rPr sz="1950" spc="10" dirty="0">
                <a:latin typeface="Calibri"/>
                <a:cs typeface="Calibri"/>
              </a:rPr>
              <a:t>X added, select the minimal </a:t>
            </a:r>
            <a:r>
              <a:rPr sz="1950" spc="5" dirty="0">
                <a:latin typeface="Calibri"/>
                <a:cs typeface="Calibri"/>
              </a:rPr>
              <a:t>subset of </a:t>
            </a:r>
            <a:r>
              <a:rPr sz="1950" spc="10" dirty="0">
                <a:latin typeface="Calibri"/>
                <a:cs typeface="Calibri"/>
              </a:rPr>
              <a:t>nodes as  </a:t>
            </a:r>
            <a:r>
              <a:rPr sz="1950" spc="5" dirty="0">
                <a:latin typeface="Calibri"/>
                <a:cs typeface="Calibri"/>
              </a:rPr>
              <a:t>parents </a:t>
            </a:r>
            <a:r>
              <a:rPr sz="1950" spc="10" dirty="0">
                <a:latin typeface="Calibri"/>
                <a:cs typeface="Calibri"/>
              </a:rPr>
              <a:t>such </a:t>
            </a:r>
            <a:r>
              <a:rPr sz="1950" spc="5" dirty="0">
                <a:latin typeface="Calibri"/>
                <a:cs typeface="Calibri"/>
              </a:rPr>
              <a:t>that </a:t>
            </a:r>
            <a:r>
              <a:rPr sz="1950" spc="10" dirty="0">
                <a:latin typeface="Calibri"/>
                <a:cs typeface="Calibri"/>
              </a:rPr>
              <a:t>X </a:t>
            </a:r>
            <a:r>
              <a:rPr sz="1950" spc="5" dirty="0">
                <a:latin typeface="Calibri"/>
                <a:cs typeface="Calibri"/>
              </a:rPr>
              <a:t>is </a:t>
            </a:r>
            <a:r>
              <a:rPr sz="1950" spc="10" dirty="0">
                <a:latin typeface="Calibri"/>
                <a:cs typeface="Calibri"/>
              </a:rPr>
              <a:t>independent </a:t>
            </a:r>
            <a:r>
              <a:rPr sz="1950" dirty="0">
                <a:latin typeface="Calibri"/>
                <a:cs typeface="Calibri"/>
              </a:rPr>
              <a:t>from </a:t>
            </a:r>
            <a:r>
              <a:rPr sz="1950" spc="5" dirty="0">
                <a:latin typeface="Calibri"/>
                <a:cs typeface="Calibri"/>
              </a:rPr>
              <a:t>all </a:t>
            </a:r>
            <a:r>
              <a:rPr sz="1950" spc="10" dirty="0">
                <a:latin typeface="Calibri"/>
                <a:cs typeface="Calibri"/>
              </a:rPr>
              <a:t>other nodes in the </a:t>
            </a:r>
            <a:r>
              <a:rPr sz="1950" dirty="0">
                <a:latin typeface="Calibri"/>
                <a:cs typeface="Calibri"/>
              </a:rPr>
              <a:t>current  </a:t>
            </a:r>
            <a:r>
              <a:rPr sz="1950" spc="5" dirty="0">
                <a:latin typeface="Calibri"/>
                <a:cs typeface="Calibri"/>
              </a:rPr>
              <a:t>network given its</a:t>
            </a:r>
            <a:r>
              <a:rPr sz="1950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parents.</a:t>
            </a:r>
            <a:endParaRPr sz="1950" dirty="0">
              <a:latin typeface="Calibri"/>
              <a:cs typeface="Calibri"/>
            </a:endParaRPr>
          </a:p>
          <a:p>
            <a:pPr marL="351155" indent="-339090" algn="just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51790" algn="l"/>
              </a:tabLst>
            </a:pPr>
            <a:r>
              <a:rPr sz="2350" dirty="0">
                <a:latin typeface="Calibri"/>
                <a:cs typeface="Calibri"/>
              </a:rPr>
              <a:t>Step </a:t>
            </a:r>
            <a:r>
              <a:rPr sz="2350" spc="5" dirty="0">
                <a:latin typeface="Calibri"/>
                <a:cs typeface="Calibri"/>
              </a:rPr>
              <a:t>3: </a:t>
            </a:r>
            <a:r>
              <a:rPr sz="2350" spc="-5" dirty="0">
                <a:latin typeface="Calibri"/>
                <a:cs typeface="Calibri"/>
              </a:rPr>
              <a:t>Populate </a:t>
            </a:r>
            <a:r>
              <a:rPr sz="2350" spc="10" dirty="0">
                <a:latin typeface="Calibri"/>
                <a:cs typeface="Calibri"/>
              </a:rPr>
              <a:t>the </a:t>
            </a:r>
            <a:r>
              <a:rPr sz="2350" spc="-40" dirty="0">
                <a:latin typeface="Calibri"/>
                <a:cs typeface="Calibri"/>
              </a:rPr>
              <a:t>CPTs</a:t>
            </a:r>
            <a:endParaRPr sz="2350" dirty="0">
              <a:latin typeface="Calibri"/>
              <a:cs typeface="Calibri"/>
            </a:endParaRPr>
          </a:p>
          <a:p>
            <a:pPr marL="285115" algn="just">
              <a:lnSpc>
                <a:spcPct val="100000"/>
              </a:lnSpc>
              <a:spcBef>
                <a:spcPts val="945"/>
              </a:spcBef>
            </a:pPr>
            <a:r>
              <a:rPr sz="1950" spc="-400" dirty="0">
                <a:latin typeface="Calibri"/>
                <a:cs typeface="Calibri"/>
              </a:rPr>
              <a:t>-­‐ </a:t>
            </a:r>
            <a:r>
              <a:rPr sz="1950" dirty="0">
                <a:latin typeface="Calibri"/>
                <a:cs typeface="Calibri"/>
              </a:rPr>
              <a:t>From examples </a:t>
            </a:r>
            <a:r>
              <a:rPr sz="1950" spc="10" dirty="0">
                <a:latin typeface="Calibri"/>
                <a:cs typeface="Calibri"/>
              </a:rPr>
              <a:t>using density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spc="-20" dirty="0">
                <a:latin typeface="Calibri"/>
                <a:cs typeface="Calibri"/>
              </a:rPr>
              <a:t>es</a:t>
            </a:r>
            <a:r>
              <a:rPr lang="en-US" sz="1950" spc="-20" dirty="0">
                <a:latin typeface="Calibri"/>
                <a:cs typeface="Calibri"/>
              </a:rPr>
              <a:t>ti</a:t>
            </a:r>
            <a:r>
              <a:rPr sz="1950" spc="-20" dirty="0">
                <a:latin typeface="Calibri"/>
                <a:cs typeface="Calibri"/>
              </a:rPr>
              <a:t>ma</a:t>
            </a:r>
            <a:r>
              <a:rPr lang="en-US" sz="1950" spc="-20" dirty="0">
                <a:latin typeface="Calibri"/>
                <a:cs typeface="Calibri"/>
              </a:rPr>
              <a:t>ti</a:t>
            </a:r>
            <a:r>
              <a:rPr sz="1950" spc="-20" dirty="0">
                <a:latin typeface="Calibri"/>
                <a:cs typeface="Calibri"/>
              </a:rPr>
              <a:t>on</a:t>
            </a:r>
            <a:endParaRPr sz="19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7252" y="1076681"/>
            <a:ext cx="4766945" cy="5080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150" b="1" spc="-10" dirty="0">
                <a:latin typeface="Calibri"/>
                <a:cs typeface="Calibri"/>
              </a:rPr>
              <a:t>Bayesian </a:t>
            </a:r>
            <a:r>
              <a:rPr sz="3150" b="1" spc="-5" dirty="0">
                <a:latin typeface="Calibri"/>
                <a:cs typeface="Calibri"/>
              </a:rPr>
              <a:t>network:</a:t>
            </a:r>
            <a:r>
              <a:rPr sz="3150" b="1" spc="-30" dirty="0">
                <a:latin typeface="Calibri"/>
                <a:cs typeface="Calibri"/>
              </a:rPr>
              <a:t> </a:t>
            </a:r>
            <a:r>
              <a:rPr sz="3150" b="1" spc="-10" dirty="0">
                <a:latin typeface="Calibri"/>
                <a:cs typeface="Calibri"/>
              </a:rPr>
              <a:t>Inference</a:t>
            </a:r>
            <a:endParaRPr sz="31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7722" y="2108709"/>
            <a:ext cx="7630795" cy="234378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1155" marR="5080" indent="-339090">
              <a:lnSpc>
                <a:spcPct val="101699"/>
              </a:lnSpc>
              <a:spcBef>
                <a:spcPts val="75"/>
              </a:spcBef>
              <a:buFont typeface="Arial"/>
              <a:buChar char="•"/>
              <a:tabLst>
                <a:tab pos="351155" algn="l"/>
                <a:tab pos="351790" algn="l"/>
              </a:tabLst>
            </a:pPr>
            <a:r>
              <a:rPr sz="2350" spc="10" dirty="0">
                <a:latin typeface="Calibri"/>
                <a:cs typeface="Calibri"/>
              </a:rPr>
              <a:t>Once the </a:t>
            </a:r>
            <a:r>
              <a:rPr sz="2350" dirty="0">
                <a:latin typeface="Calibri"/>
                <a:cs typeface="Calibri"/>
              </a:rPr>
              <a:t>network </a:t>
            </a:r>
            <a:r>
              <a:rPr sz="2350" spc="5" dirty="0">
                <a:latin typeface="Calibri"/>
                <a:cs typeface="Calibri"/>
              </a:rPr>
              <a:t>is </a:t>
            </a:r>
            <a:r>
              <a:rPr sz="2350" dirty="0">
                <a:latin typeface="Calibri"/>
                <a:cs typeface="Calibri"/>
              </a:rPr>
              <a:t>constructed, we can </a:t>
            </a:r>
            <a:r>
              <a:rPr sz="2350" spc="10" dirty="0">
                <a:latin typeface="Calibri"/>
                <a:cs typeface="Calibri"/>
              </a:rPr>
              <a:t>use </a:t>
            </a:r>
            <a:r>
              <a:rPr sz="2350" spc="5" dirty="0">
                <a:latin typeface="Calibri"/>
                <a:cs typeface="Calibri"/>
              </a:rPr>
              <a:t>algorithms </a:t>
            </a:r>
            <a:r>
              <a:rPr sz="2350" spc="-10" dirty="0">
                <a:latin typeface="Calibri"/>
                <a:cs typeface="Calibri"/>
              </a:rPr>
              <a:t>for  </a:t>
            </a:r>
            <a:r>
              <a:rPr sz="2350" spc="-5" dirty="0">
                <a:latin typeface="Calibri"/>
                <a:cs typeface="Calibri"/>
              </a:rPr>
              <a:t>inferring </a:t>
            </a:r>
            <a:r>
              <a:rPr sz="2350" spc="10" dirty="0">
                <a:latin typeface="Calibri"/>
                <a:cs typeface="Calibri"/>
              </a:rPr>
              <a:t>the </a:t>
            </a:r>
            <a:r>
              <a:rPr sz="2350" dirty="0">
                <a:latin typeface="Calibri"/>
                <a:cs typeface="Calibri"/>
              </a:rPr>
              <a:t>values </a:t>
            </a:r>
            <a:r>
              <a:rPr sz="2350" spc="5" dirty="0">
                <a:latin typeface="Calibri"/>
                <a:cs typeface="Calibri"/>
              </a:rPr>
              <a:t>of unobserved</a:t>
            </a:r>
            <a:r>
              <a:rPr sz="2350" spc="2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variables.</a:t>
            </a:r>
          </a:p>
          <a:p>
            <a:pPr marL="351155" marR="189230" indent="-339090">
              <a:lnSpc>
                <a:spcPct val="100400"/>
              </a:lnSpc>
              <a:spcBef>
                <a:spcPts val="605"/>
              </a:spcBef>
              <a:buFont typeface="Arial"/>
              <a:buChar char="•"/>
              <a:tabLst>
                <a:tab pos="351155" algn="l"/>
                <a:tab pos="351790" algn="l"/>
              </a:tabLst>
            </a:pPr>
            <a:r>
              <a:rPr sz="2350" spc="-5" dirty="0">
                <a:latin typeface="Calibri"/>
                <a:cs typeface="Calibri"/>
              </a:rPr>
              <a:t>For example, </a:t>
            </a:r>
            <a:r>
              <a:rPr sz="2350" spc="5" dirty="0">
                <a:latin typeface="Calibri"/>
                <a:cs typeface="Calibri"/>
              </a:rPr>
              <a:t>in our </a:t>
            </a:r>
            <a:r>
              <a:rPr sz="2350" dirty="0">
                <a:latin typeface="Calibri"/>
                <a:cs typeface="Calibri"/>
              </a:rPr>
              <a:t>previous network </a:t>
            </a:r>
            <a:r>
              <a:rPr sz="2350" spc="10" dirty="0">
                <a:latin typeface="Calibri"/>
                <a:cs typeface="Calibri"/>
              </a:rPr>
              <a:t>the </a:t>
            </a:r>
            <a:r>
              <a:rPr sz="2350" spc="5" dirty="0">
                <a:latin typeface="Calibri"/>
                <a:cs typeface="Calibri"/>
              </a:rPr>
              <a:t>only observed  </a:t>
            </a:r>
            <a:r>
              <a:rPr sz="2350" dirty="0">
                <a:latin typeface="Calibri"/>
                <a:cs typeface="Calibri"/>
              </a:rPr>
              <a:t>variables </a:t>
            </a:r>
            <a:r>
              <a:rPr sz="2350" spc="-5" dirty="0">
                <a:latin typeface="Calibri"/>
                <a:cs typeface="Calibri"/>
              </a:rPr>
              <a:t>are </a:t>
            </a:r>
            <a:r>
              <a:rPr sz="2350" spc="10" dirty="0">
                <a:latin typeface="Calibri"/>
                <a:cs typeface="Calibri"/>
              </a:rPr>
              <a:t>the phone </a:t>
            </a:r>
            <a:r>
              <a:rPr sz="2350" dirty="0">
                <a:latin typeface="Calibri"/>
                <a:cs typeface="Calibri"/>
              </a:rPr>
              <a:t>calls. </a:t>
            </a:r>
            <a:r>
              <a:rPr sz="2350" spc="-25" dirty="0">
                <a:latin typeface="Calibri"/>
                <a:cs typeface="Calibri"/>
              </a:rPr>
              <a:t>However, </a:t>
            </a:r>
            <a:r>
              <a:rPr sz="2350" dirty="0">
                <a:latin typeface="Calibri"/>
                <a:cs typeface="Calibri"/>
              </a:rPr>
              <a:t>what we </a:t>
            </a:r>
            <a:r>
              <a:rPr sz="2350" spc="-5" dirty="0">
                <a:latin typeface="Calibri"/>
                <a:cs typeface="Calibri"/>
              </a:rPr>
              <a:t>are </a:t>
            </a:r>
            <a:r>
              <a:rPr sz="2350" dirty="0">
                <a:latin typeface="Calibri"/>
                <a:cs typeface="Calibri"/>
              </a:rPr>
              <a:t>really  </a:t>
            </a:r>
            <a:r>
              <a:rPr sz="2350" spc="-10" dirty="0">
                <a:latin typeface="Calibri"/>
                <a:cs typeface="Calibri"/>
              </a:rPr>
              <a:t>interested </a:t>
            </a:r>
            <a:r>
              <a:rPr sz="2350" spc="5" dirty="0">
                <a:latin typeface="Calibri"/>
                <a:cs typeface="Calibri"/>
              </a:rPr>
              <a:t>in is whether </a:t>
            </a:r>
            <a:r>
              <a:rPr sz="2350" dirty="0">
                <a:latin typeface="Calibri"/>
                <a:cs typeface="Calibri"/>
              </a:rPr>
              <a:t>there was </a:t>
            </a:r>
            <a:r>
              <a:rPr sz="2350" spc="10" dirty="0">
                <a:latin typeface="Calibri"/>
                <a:cs typeface="Calibri"/>
              </a:rPr>
              <a:t>a </a:t>
            </a:r>
            <a:r>
              <a:rPr sz="2350" spc="5" dirty="0">
                <a:latin typeface="Calibri"/>
                <a:cs typeface="Calibri"/>
              </a:rPr>
              <a:t>burglary or</a:t>
            </a:r>
            <a:r>
              <a:rPr sz="2350" spc="35" dirty="0">
                <a:latin typeface="Calibri"/>
                <a:cs typeface="Calibri"/>
              </a:rPr>
              <a:t> </a:t>
            </a:r>
            <a:r>
              <a:rPr sz="2350" spc="5" dirty="0">
                <a:latin typeface="Calibri"/>
                <a:cs typeface="Calibri"/>
              </a:rPr>
              <a:t>not.</a:t>
            </a:r>
            <a:endParaRPr sz="2350" dirty="0">
              <a:latin typeface="Calibri"/>
              <a:cs typeface="Calibri"/>
            </a:endParaRPr>
          </a:p>
          <a:p>
            <a:pPr marL="351155" indent="-339090">
              <a:lnSpc>
                <a:spcPct val="100000"/>
              </a:lnSpc>
              <a:spcBef>
                <a:spcPts val="615"/>
              </a:spcBef>
              <a:buFont typeface="Arial"/>
              <a:buChar char="•"/>
              <a:tabLst>
                <a:tab pos="351155" algn="l"/>
                <a:tab pos="351790" algn="l"/>
              </a:tabLst>
            </a:pPr>
            <a:r>
              <a:rPr sz="2350" spc="5" dirty="0">
                <a:latin typeface="Calibri"/>
                <a:cs typeface="Calibri"/>
              </a:rPr>
              <a:t>How </a:t>
            </a:r>
            <a:r>
              <a:rPr sz="2350" dirty="0">
                <a:latin typeface="Calibri"/>
                <a:cs typeface="Calibri"/>
              </a:rPr>
              <a:t>can we determine</a:t>
            </a:r>
            <a:r>
              <a:rPr sz="2350" spc="1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that?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3241" y="1076681"/>
            <a:ext cx="1595755" cy="5080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150" b="1" spc="-10" dirty="0">
                <a:latin typeface="Calibri"/>
                <a:cs typeface="Calibri"/>
              </a:rPr>
              <a:t>Inference</a:t>
            </a:r>
            <a:endParaRPr sz="31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7722" y="2033859"/>
            <a:ext cx="7725409" cy="219265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51155" indent="-339090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351155" algn="l"/>
                <a:tab pos="351790" algn="l"/>
              </a:tabLst>
            </a:pPr>
            <a:r>
              <a:rPr sz="2350" spc="-10" dirty="0">
                <a:latin typeface="Calibri"/>
                <a:cs typeface="Calibri"/>
              </a:rPr>
              <a:t>Let’s </a:t>
            </a:r>
            <a:r>
              <a:rPr sz="2350" spc="-5" dirty="0">
                <a:latin typeface="Calibri"/>
                <a:cs typeface="Calibri"/>
              </a:rPr>
              <a:t>start </a:t>
            </a:r>
            <a:r>
              <a:rPr sz="2350" spc="5" dirty="0">
                <a:latin typeface="Calibri"/>
                <a:cs typeface="Calibri"/>
              </a:rPr>
              <a:t>with </a:t>
            </a:r>
            <a:r>
              <a:rPr sz="2350" spc="10" dirty="0">
                <a:latin typeface="Calibri"/>
                <a:cs typeface="Calibri"/>
              </a:rPr>
              <a:t>a </a:t>
            </a:r>
            <a:r>
              <a:rPr sz="2350" spc="5" dirty="0">
                <a:latin typeface="Calibri"/>
                <a:cs typeface="Calibri"/>
              </a:rPr>
              <a:t>simpler</a:t>
            </a:r>
            <a:r>
              <a:rPr sz="2350" spc="20" dirty="0">
                <a:latin typeface="Calibri"/>
                <a:cs typeface="Calibri"/>
              </a:rPr>
              <a:t> </a:t>
            </a:r>
            <a:r>
              <a:rPr sz="2350" spc="30" dirty="0">
                <a:latin typeface="Calibri"/>
                <a:cs typeface="Calibri"/>
              </a:rPr>
              <a:t>ques</a:t>
            </a:r>
            <a:r>
              <a:rPr lang="en-US" sz="2350" spc="30" dirty="0">
                <a:latin typeface="Calibri"/>
                <a:cs typeface="Calibri"/>
              </a:rPr>
              <a:t>ti</a:t>
            </a:r>
            <a:r>
              <a:rPr sz="2350" spc="30" dirty="0">
                <a:latin typeface="Calibri"/>
                <a:cs typeface="Calibri"/>
              </a:rPr>
              <a:t>on</a:t>
            </a:r>
            <a:endParaRPr sz="2350" dirty="0">
              <a:latin typeface="Calibri"/>
              <a:cs typeface="Calibri"/>
            </a:endParaRPr>
          </a:p>
          <a:p>
            <a:pPr marL="216535">
              <a:lnSpc>
                <a:spcPct val="100000"/>
              </a:lnSpc>
              <a:spcBef>
                <a:spcPts val="620"/>
              </a:spcBef>
            </a:pPr>
            <a:r>
              <a:rPr sz="2350" spc="-480" dirty="0">
                <a:latin typeface="Calibri"/>
                <a:cs typeface="Calibri"/>
              </a:rPr>
              <a:t>-­‐ </a:t>
            </a:r>
            <a:r>
              <a:rPr lang="en-US" sz="2350" spc="-480" dirty="0">
                <a:latin typeface="Calibri"/>
                <a:cs typeface="Calibri"/>
              </a:rPr>
              <a:t>            </a:t>
            </a:r>
            <a:r>
              <a:rPr sz="2350" spc="5" dirty="0">
                <a:latin typeface="Calibri"/>
                <a:cs typeface="Calibri"/>
              </a:rPr>
              <a:t>How </a:t>
            </a:r>
            <a:r>
              <a:rPr sz="2350" dirty="0">
                <a:latin typeface="Calibri"/>
                <a:cs typeface="Calibri"/>
              </a:rPr>
              <a:t>can we compute </a:t>
            </a:r>
            <a:r>
              <a:rPr sz="2350" spc="10" dirty="0">
                <a:latin typeface="Calibri"/>
                <a:cs typeface="Calibri"/>
              </a:rPr>
              <a:t>a </a:t>
            </a:r>
            <a:r>
              <a:rPr sz="2350" dirty="0">
                <a:latin typeface="Calibri"/>
                <a:cs typeface="Calibri"/>
              </a:rPr>
              <a:t>joint </a:t>
            </a:r>
            <a:r>
              <a:rPr sz="2350" spc="20" dirty="0">
                <a:latin typeface="Calibri"/>
                <a:cs typeface="Calibri"/>
              </a:rPr>
              <a:t>distribu</a:t>
            </a:r>
            <a:r>
              <a:rPr lang="en-US" sz="2350" spc="20" dirty="0">
                <a:latin typeface="Calibri"/>
                <a:cs typeface="Calibri"/>
              </a:rPr>
              <a:t>ti</a:t>
            </a:r>
            <a:r>
              <a:rPr sz="2350" spc="20" dirty="0">
                <a:latin typeface="Calibri"/>
                <a:cs typeface="Calibri"/>
              </a:rPr>
              <a:t>on </a:t>
            </a:r>
            <a:r>
              <a:rPr sz="2350" dirty="0">
                <a:latin typeface="Calibri"/>
                <a:cs typeface="Calibri"/>
              </a:rPr>
              <a:t>from </a:t>
            </a:r>
            <a:r>
              <a:rPr sz="2350" spc="10" dirty="0">
                <a:latin typeface="Calibri"/>
                <a:cs typeface="Calibri"/>
              </a:rPr>
              <a:t>the</a:t>
            </a:r>
            <a:r>
              <a:rPr sz="2350" spc="-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network?</a:t>
            </a:r>
          </a:p>
          <a:p>
            <a:pPr marL="216535">
              <a:lnSpc>
                <a:spcPct val="100000"/>
              </a:lnSpc>
              <a:spcBef>
                <a:spcPts val="540"/>
              </a:spcBef>
            </a:pPr>
            <a:r>
              <a:rPr sz="2350" spc="-480" dirty="0">
                <a:latin typeface="Calibri"/>
                <a:cs typeface="Calibri"/>
              </a:rPr>
              <a:t>-­‐ </a:t>
            </a:r>
            <a:r>
              <a:rPr lang="en-US" sz="2350" spc="-480" dirty="0">
                <a:latin typeface="Calibri"/>
                <a:cs typeface="Calibri"/>
              </a:rPr>
              <a:t>                </a:t>
            </a:r>
            <a:r>
              <a:rPr sz="2350" spc="-5" dirty="0">
                <a:latin typeface="Calibri"/>
                <a:cs typeface="Calibri"/>
              </a:rPr>
              <a:t>For example, </a:t>
            </a:r>
            <a:r>
              <a:rPr sz="2350" spc="5" dirty="0">
                <a:latin typeface="Calibri"/>
                <a:cs typeface="Calibri"/>
              </a:rPr>
              <a:t>P(B,</a:t>
            </a:r>
            <a:r>
              <a:rPr sz="2350" spc="5" dirty="0">
                <a:latin typeface="Symbol"/>
                <a:cs typeface="Symbol"/>
              </a:rPr>
              <a:t></a:t>
            </a:r>
            <a:r>
              <a:rPr sz="2350" spc="5" dirty="0">
                <a:latin typeface="Calibri"/>
                <a:cs typeface="Calibri"/>
              </a:rPr>
              <a:t>E,A,J,</a:t>
            </a:r>
            <a:r>
              <a:rPr sz="2350" spc="-5" dirty="0">
                <a:latin typeface="Calibri"/>
                <a:cs typeface="Calibri"/>
              </a:rPr>
              <a:t> </a:t>
            </a:r>
            <a:r>
              <a:rPr sz="2350" spc="10" dirty="0">
                <a:latin typeface="Symbol"/>
                <a:cs typeface="Symbol"/>
              </a:rPr>
              <a:t></a:t>
            </a:r>
            <a:r>
              <a:rPr sz="2350" spc="10" dirty="0">
                <a:latin typeface="Calibri"/>
                <a:cs typeface="Calibri"/>
              </a:rPr>
              <a:t>M)?</a:t>
            </a:r>
            <a:endParaRPr sz="2350" dirty="0">
              <a:latin typeface="Calibri"/>
              <a:cs typeface="Calibri"/>
            </a:endParaRPr>
          </a:p>
          <a:p>
            <a:pPr marL="351155" indent="-33909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351155" algn="l"/>
                <a:tab pos="351790" algn="l"/>
              </a:tabLst>
            </a:pPr>
            <a:r>
              <a:rPr sz="2350" spc="5" dirty="0">
                <a:latin typeface="Calibri"/>
                <a:cs typeface="Calibri"/>
              </a:rPr>
              <a:t>Answer:</a:t>
            </a:r>
            <a:endParaRPr sz="2350" dirty="0">
              <a:latin typeface="Calibri"/>
              <a:cs typeface="Calibri"/>
            </a:endParaRPr>
          </a:p>
          <a:p>
            <a:pPr marL="216535">
              <a:lnSpc>
                <a:spcPct val="100000"/>
              </a:lnSpc>
              <a:spcBef>
                <a:spcPts val="545"/>
              </a:spcBef>
            </a:pPr>
            <a:r>
              <a:rPr sz="2350" spc="-480" dirty="0">
                <a:latin typeface="Calibri"/>
                <a:cs typeface="Calibri"/>
              </a:rPr>
              <a:t>-­‐ </a:t>
            </a:r>
            <a:r>
              <a:rPr lang="en-US" sz="2350" spc="-480" dirty="0">
                <a:latin typeface="Calibri"/>
                <a:cs typeface="Calibri"/>
              </a:rPr>
              <a:t>         </a:t>
            </a:r>
            <a:r>
              <a:rPr sz="2350" spc="-10" dirty="0">
                <a:latin typeface="Calibri"/>
                <a:cs typeface="Calibri"/>
              </a:rPr>
              <a:t>That’s </a:t>
            </a:r>
            <a:r>
              <a:rPr sz="2350" spc="-35" dirty="0">
                <a:latin typeface="Calibri"/>
                <a:cs typeface="Calibri"/>
              </a:rPr>
              <a:t>easy, </a:t>
            </a:r>
            <a:r>
              <a:rPr sz="2350" spc="-10" dirty="0">
                <a:latin typeface="Calibri"/>
                <a:cs typeface="Calibri"/>
              </a:rPr>
              <a:t>let’s </a:t>
            </a:r>
            <a:r>
              <a:rPr sz="2350" spc="10" dirty="0">
                <a:latin typeface="Calibri"/>
                <a:cs typeface="Calibri"/>
              </a:rPr>
              <a:t>use the</a:t>
            </a:r>
            <a:r>
              <a:rPr sz="2350" spc="4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network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2157" y="1076681"/>
            <a:ext cx="5088746" cy="49949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150" b="1" spc="110" dirty="0">
                <a:latin typeface="Calibri"/>
                <a:cs typeface="Calibri"/>
              </a:rPr>
              <a:t>Compu</a:t>
            </a:r>
            <a:r>
              <a:rPr lang="en-US" sz="3150" b="1" spc="110" dirty="0">
                <a:latin typeface="Calibri"/>
                <a:cs typeface="Calibri"/>
              </a:rPr>
              <a:t>ti</a:t>
            </a:r>
            <a:r>
              <a:rPr sz="3150" b="1" spc="110" dirty="0">
                <a:latin typeface="Calibri"/>
                <a:cs typeface="Calibri"/>
              </a:rPr>
              <a:t>ng: </a:t>
            </a:r>
            <a:r>
              <a:rPr sz="3150" b="1" spc="10" dirty="0">
                <a:latin typeface="Calibri"/>
                <a:cs typeface="Calibri"/>
              </a:rPr>
              <a:t>P(B,</a:t>
            </a:r>
            <a:r>
              <a:rPr sz="3150" b="1" spc="10" dirty="0">
                <a:latin typeface="Symbol"/>
                <a:cs typeface="Symbol"/>
              </a:rPr>
              <a:t></a:t>
            </a:r>
            <a:r>
              <a:rPr sz="3150" b="1" spc="10" dirty="0">
                <a:latin typeface="Calibri"/>
                <a:cs typeface="Calibri"/>
              </a:rPr>
              <a:t>E,A,J,</a:t>
            </a:r>
            <a:r>
              <a:rPr sz="3150" b="1" spc="-145" dirty="0">
                <a:latin typeface="Calibri"/>
                <a:cs typeface="Calibri"/>
              </a:rPr>
              <a:t> </a:t>
            </a:r>
            <a:r>
              <a:rPr sz="3150" b="1" dirty="0">
                <a:latin typeface="Symbol"/>
                <a:cs typeface="Symbol"/>
              </a:rPr>
              <a:t></a:t>
            </a:r>
            <a:r>
              <a:rPr sz="3150" b="1" dirty="0">
                <a:latin typeface="Calibri"/>
                <a:cs typeface="Calibri"/>
              </a:rPr>
              <a:t>M)</a:t>
            </a:r>
            <a:endParaRPr sz="315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775269" y="5008697"/>
            <a:ext cx="540385" cy="540385"/>
            <a:chOff x="5775269" y="5008697"/>
            <a:chExt cx="540385" cy="540385"/>
          </a:xfrm>
        </p:grpSpPr>
        <p:sp>
          <p:nvSpPr>
            <p:cNvPr id="4" name="object 4"/>
            <p:cNvSpPr/>
            <p:nvPr/>
          </p:nvSpPr>
          <p:spPr>
            <a:xfrm>
              <a:off x="5781547" y="501497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4"/>
                  </a:lnTo>
                  <a:lnTo>
                    <a:pt x="16496" y="171710"/>
                  </a:lnTo>
                  <a:lnTo>
                    <a:pt x="4248" y="216330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1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3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30"/>
                  </a:lnTo>
                  <a:lnTo>
                    <a:pt x="510858" y="171710"/>
                  </a:lnTo>
                  <a:lnTo>
                    <a:pt x="491355" y="130624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3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81547" y="501497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528561" y="3652266"/>
            <a:ext cx="1595120" cy="1896745"/>
            <a:chOff x="6528561" y="3652266"/>
            <a:chExt cx="1595120" cy="1896745"/>
          </a:xfrm>
        </p:grpSpPr>
        <p:sp>
          <p:nvSpPr>
            <p:cNvPr id="7" name="object 7"/>
            <p:cNvSpPr/>
            <p:nvPr/>
          </p:nvSpPr>
          <p:spPr>
            <a:xfrm>
              <a:off x="7589621" y="501497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263677" y="0"/>
                  </a:moveTo>
                  <a:lnTo>
                    <a:pt x="216280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4"/>
                  </a:lnTo>
                  <a:lnTo>
                    <a:pt x="16496" y="171710"/>
                  </a:lnTo>
                  <a:lnTo>
                    <a:pt x="4248" y="216330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0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2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30"/>
                  </a:lnTo>
                  <a:lnTo>
                    <a:pt x="510858" y="171710"/>
                  </a:lnTo>
                  <a:lnTo>
                    <a:pt x="491355" y="130624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2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89621" y="501497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0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0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34911" y="365861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4"/>
                  </a:lnTo>
                  <a:lnTo>
                    <a:pt x="16496" y="171710"/>
                  </a:lnTo>
                  <a:lnTo>
                    <a:pt x="4248" y="216330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1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3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30"/>
                  </a:lnTo>
                  <a:lnTo>
                    <a:pt x="510858" y="171710"/>
                  </a:lnTo>
                  <a:lnTo>
                    <a:pt x="491355" y="130624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3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534911" y="365861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687952" y="3766482"/>
            <a:ext cx="17780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15" dirty="0">
                <a:latin typeface="Calibri"/>
                <a:cs typeface="Calibri"/>
              </a:rPr>
              <a:t>A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34588" y="5122840"/>
            <a:ext cx="10858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5" dirty="0">
                <a:latin typeface="Calibri"/>
                <a:cs typeface="Calibri"/>
              </a:rPr>
              <a:t>J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473852" y="2295905"/>
            <a:ext cx="2348230" cy="540385"/>
            <a:chOff x="5473852" y="2295905"/>
            <a:chExt cx="2348230" cy="540385"/>
          </a:xfrm>
        </p:grpSpPr>
        <p:sp>
          <p:nvSpPr>
            <p:cNvPr id="14" name="object 14"/>
            <p:cNvSpPr/>
            <p:nvPr/>
          </p:nvSpPr>
          <p:spPr>
            <a:xfrm>
              <a:off x="5480202" y="2302255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499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3"/>
                  </a:lnTo>
                  <a:lnTo>
                    <a:pt x="16496" y="171710"/>
                  </a:lnTo>
                  <a:lnTo>
                    <a:pt x="4248" y="216329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50"/>
                  </a:lnTo>
                  <a:lnTo>
                    <a:pt x="62013" y="433659"/>
                  </a:lnTo>
                  <a:lnTo>
                    <a:pt x="93793" y="465446"/>
                  </a:lnTo>
                  <a:lnTo>
                    <a:pt x="130594" y="491466"/>
                  </a:lnTo>
                  <a:lnTo>
                    <a:pt x="171671" y="510974"/>
                  </a:lnTo>
                  <a:lnTo>
                    <a:pt x="216281" y="523225"/>
                  </a:lnTo>
                  <a:lnTo>
                    <a:pt x="263677" y="527474"/>
                  </a:lnTo>
                  <a:lnTo>
                    <a:pt x="311073" y="523225"/>
                  </a:lnTo>
                  <a:lnTo>
                    <a:pt x="355682" y="510974"/>
                  </a:lnTo>
                  <a:lnTo>
                    <a:pt x="396760" y="491466"/>
                  </a:lnTo>
                  <a:lnTo>
                    <a:pt x="433561" y="465446"/>
                  </a:lnTo>
                  <a:lnTo>
                    <a:pt x="465341" y="433659"/>
                  </a:lnTo>
                  <a:lnTo>
                    <a:pt x="491355" y="396850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29"/>
                  </a:lnTo>
                  <a:lnTo>
                    <a:pt x="510858" y="171710"/>
                  </a:lnTo>
                  <a:lnTo>
                    <a:pt x="491355" y="130623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2" y="16499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80202" y="2302255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499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499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88275" y="2302255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499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3"/>
                  </a:lnTo>
                  <a:lnTo>
                    <a:pt x="16496" y="171710"/>
                  </a:lnTo>
                  <a:lnTo>
                    <a:pt x="4248" y="216329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50"/>
                  </a:lnTo>
                  <a:lnTo>
                    <a:pt x="62013" y="433659"/>
                  </a:lnTo>
                  <a:lnTo>
                    <a:pt x="93793" y="465446"/>
                  </a:lnTo>
                  <a:lnTo>
                    <a:pt x="130594" y="491466"/>
                  </a:lnTo>
                  <a:lnTo>
                    <a:pt x="171671" y="510974"/>
                  </a:lnTo>
                  <a:lnTo>
                    <a:pt x="216281" y="523225"/>
                  </a:lnTo>
                  <a:lnTo>
                    <a:pt x="263677" y="527474"/>
                  </a:lnTo>
                  <a:lnTo>
                    <a:pt x="311073" y="523225"/>
                  </a:lnTo>
                  <a:lnTo>
                    <a:pt x="355683" y="510974"/>
                  </a:lnTo>
                  <a:lnTo>
                    <a:pt x="396760" y="491466"/>
                  </a:lnTo>
                  <a:lnTo>
                    <a:pt x="433561" y="465446"/>
                  </a:lnTo>
                  <a:lnTo>
                    <a:pt x="465341" y="433659"/>
                  </a:lnTo>
                  <a:lnTo>
                    <a:pt x="491355" y="396850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29"/>
                  </a:lnTo>
                  <a:lnTo>
                    <a:pt x="510858" y="171710"/>
                  </a:lnTo>
                  <a:lnTo>
                    <a:pt x="491355" y="130623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3" y="16499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88275" y="2302255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499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3" y="16499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3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633242" y="2410122"/>
            <a:ext cx="16637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15" dirty="0">
                <a:latin typeface="Calibri"/>
                <a:cs typeface="Calibri"/>
              </a:rPr>
              <a:t>B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41316" y="2410122"/>
            <a:ext cx="14795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10" dirty="0">
                <a:latin typeface="Calibri"/>
                <a:cs typeface="Calibri"/>
              </a:rPr>
              <a:t>E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850605" y="2823450"/>
            <a:ext cx="1907539" cy="2209800"/>
            <a:chOff x="5850605" y="2823450"/>
            <a:chExt cx="1907539" cy="2209800"/>
          </a:xfrm>
        </p:grpSpPr>
        <p:sp>
          <p:nvSpPr>
            <p:cNvPr id="21" name="object 21"/>
            <p:cNvSpPr/>
            <p:nvPr/>
          </p:nvSpPr>
          <p:spPr>
            <a:xfrm>
              <a:off x="5856884" y="2829729"/>
              <a:ext cx="753745" cy="829310"/>
            </a:xfrm>
            <a:custGeom>
              <a:avLst/>
              <a:gdLst/>
              <a:ahLst/>
              <a:cxnLst/>
              <a:rect l="l" t="t" r="r" b="b"/>
              <a:pathLst>
                <a:path w="753745" h="829310">
                  <a:moveTo>
                    <a:pt x="0" y="0"/>
                  </a:moveTo>
                  <a:lnTo>
                    <a:pt x="753364" y="828886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548591" y="3596101"/>
              <a:ext cx="78740" cy="81280"/>
            </a:xfrm>
            <a:custGeom>
              <a:avLst/>
              <a:gdLst/>
              <a:ahLst/>
              <a:cxnLst/>
              <a:rect l="l" t="t" r="r" b="b"/>
              <a:pathLst>
                <a:path w="78740" h="81279">
                  <a:moveTo>
                    <a:pt x="55745" y="0"/>
                  </a:moveTo>
                  <a:lnTo>
                    <a:pt x="0" y="50686"/>
                  </a:lnTo>
                  <a:lnTo>
                    <a:pt x="78549" y="81100"/>
                  </a:lnTo>
                  <a:lnTo>
                    <a:pt x="557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986930" y="2829729"/>
              <a:ext cx="527685" cy="829310"/>
            </a:xfrm>
            <a:custGeom>
              <a:avLst/>
              <a:gdLst/>
              <a:ahLst/>
              <a:cxnLst/>
              <a:rect l="l" t="t" r="r" b="b"/>
              <a:pathLst>
                <a:path w="527684" h="829310">
                  <a:moveTo>
                    <a:pt x="527354" y="0"/>
                  </a:moveTo>
                  <a:lnTo>
                    <a:pt x="0" y="828886"/>
                  </a:lnTo>
                </a:path>
              </a:pathLst>
            </a:custGeom>
            <a:ln w="12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973447" y="3596006"/>
              <a:ext cx="72390" cy="83820"/>
            </a:xfrm>
            <a:custGeom>
              <a:avLst/>
              <a:gdLst/>
              <a:ahLst/>
              <a:cxnLst/>
              <a:rect l="l" t="t" r="r" b="b"/>
              <a:pathLst>
                <a:path w="72390" h="83820">
                  <a:moveTo>
                    <a:pt x="8666" y="0"/>
                  </a:moveTo>
                  <a:lnTo>
                    <a:pt x="0" y="83800"/>
                  </a:lnTo>
                  <a:lnTo>
                    <a:pt x="72226" y="40455"/>
                  </a:lnTo>
                  <a:lnTo>
                    <a:pt x="86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11593" y="4186089"/>
              <a:ext cx="829310" cy="829310"/>
            </a:xfrm>
            <a:custGeom>
              <a:avLst/>
              <a:gdLst/>
              <a:ahLst/>
              <a:cxnLst/>
              <a:rect l="l" t="t" r="r" b="b"/>
              <a:pathLst>
                <a:path w="829309" h="829310">
                  <a:moveTo>
                    <a:pt x="0" y="0"/>
                  </a:moveTo>
                  <a:lnTo>
                    <a:pt x="828700" y="828886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678144" y="4952813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53271" y="0"/>
                  </a:moveTo>
                  <a:lnTo>
                    <a:pt x="0" y="53282"/>
                  </a:lnTo>
                  <a:lnTo>
                    <a:pt x="79907" y="79923"/>
                  </a:lnTo>
                  <a:lnTo>
                    <a:pt x="532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233566" y="4186089"/>
              <a:ext cx="377190" cy="753745"/>
            </a:xfrm>
            <a:custGeom>
              <a:avLst/>
              <a:gdLst/>
              <a:ahLst/>
              <a:cxnLst/>
              <a:rect l="l" t="t" r="r" b="b"/>
              <a:pathLst>
                <a:path w="377190" h="753745">
                  <a:moveTo>
                    <a:pt x="376682" y="0"/>
                  </a:moveTo>
                  <a:lnTo>
                    <a:pt x="0" y="753533"/>
                  </a:lnTo>
                </a:path>
              </a:pathLst>
            </a:custGeom>
            <a:ln w="12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222335" y="4877841"/>
              <a:ext cx="67945" cy="84455"/>
            </a:xfrm>
            <a:custGeom>
              <a:avLst/>
              <a:gdLst/>
              <a:ahLst/>
              <a:cxnLst/>
              <a:rect l="l" t="t" r="r" b="b"/>
              <a:pathLst>
                <a:path w="67945" h="84454">
                  <a:moveTo>
                    <a:pt x="0" y="0"/>
                  </a:moveTo>
                  <a:lnTo>
                    <a:pt x="0" y="84247"/>
                  </a:lnTo>
                  <a:lnTo>
                    <a:pt x="67382" y="33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427859" y="2108709"/>
            <a:ext cx="80137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10" dirty="0">
                <a:latin typeface="Calibri"/>
                <a:cs typeface="Calibri"/>
              </a:rPr>
              <a:t>P(B</a:t>
            </a:r>
            <a:r>
              <a:rPr sz="1750" spc="5" dirty="0">
                <a:latin typeface="Calibri"/>
                <a:cs typeface="Calibri"/>
              </a:rPr>
              <a:t>)=.</a:t>
            </a:r>
            <a:r>
              <a:rPr sz="1750" spc="10" dirty="0">
                <a:latin typeface="Calibri"/>
                <a:cs typeface="Calibri"/>
              </a:rPr>
              <a:t>0</a:t>
            </a:r>
            <a:r>
              <a:rPr sz="1750" spc="15" dirty="0">
                <a:latin typeface="Calibri"/>
                <a:cs typeface="Calibri"/>
              </a:rPr>
              <a:t>5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044007" y="2259414"/>
            <a:ext cx="67437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10" dirty="0">
                <a:latin typeface="Calibri"/>
                <a:cs typeface="Calibri"/>
              </a:rPr>
              <a:t>P(E)</a:t>
            </a:r>
            <a:r>
              <a:rPr sz="1750" spc="5" dirty="0">
                <a:latin typeface="Calibri"/>
                <a:cs typeface="Calibri"/>
              </a:rPr>
              <a:t>=</a:t>
            </a:r>
            <a:r>
              <a:rPr sz="1750" spc="10" dirty="0">
                <a:latin typeface="Calibri"/>
                <a:cs typeface="Calibri"/>
              </a:rPr>
              <a:t>.1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051177" y="3314362"/>
            <a:ext cx="1828164" cy="11131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5" dirty="0">
                <a:latin typeface="Calibri"/>
                <a:cs typeface="Calibri"/>
              </a:rPr>
              <a:t>P(A|B,E)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=.95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ts val="2090"/>
              </a:lnSpc>
              <a:spcBef>
                <a:spcPts val="75"/>
              </a:spcBef>
            </a:pPr>
            <a:r>
              <a:rPr sz="1750" spc="10" dirty="0">
                <a:latin typeface="Calibri"/>
                <a:cs typeface="Calibri"/>
              </a:rPr>
              <a:t>P(A|B,</a:t>
            </a:r>
            <a:r>
              <a:rPr sz="1750" spc="10" dirty="0">
                <a:latin typeface="Symbol"/>
                <a:cs typeface="Symbol"/>
              </a:rPr>
              <a:t></a:t>
            </a:r>
            <a:r>
              <a:rPr sz="1750" spc="10" dirty="0">
                <a:latin typeface="Calibri"/>
                <a:cs typeface="Calibri"/>
              </a:rPr>
              <a:t>E) =</a:t>
            </a:r>
            <a:r>
              <a:rPr sz="1750" spc="-20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.85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ts val="2090"/>
              </a:lnSpc>
            </a:pPr>
            <a:r>
              <a:rPr sz="1750" spc="10" dirty="0">
                <a:latin typeface="Calibri"/>
                <a:cs typeface="Calibri"/>
              </a:rPr>
              <a:t>P(A| </a:t>
            </a:r>
            <a:r>
              <a:rPr sz="1750" spc="20" dirty="0">
                <a:latin typeface="Symbol"/>
                <a:cs typeface="Symbol"/>
              </a:rPr>
              <a:t></a:t>
            </a:r>
            <a:r>
              <a:rPr sz="1750" spc="20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Calibri"/>
                <a:cs typeface="Calibri"/>
              </a:rPr>
              <a:t>B,E)</a:t>
            </a:r>
            <a:r>
              <a:rPr sz="1750" spc="-90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=.5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750" spc="10" dirty="0">
                <a:latin typeface="Calibri"/>
                <a:cs typeface="Calibri"/>
              </a:rPr>
              <a:t>P(A| </a:t>
            </a:r>
            <a:r>
              <a:rPr sz="1750" spc="20" dirty="0">
                <a:latin typeface="Symbol"/>
                <a:cs typeface="Symbol"/>
              </a:rPr>
              <a:t></a:t>
            </a:r>
            <a:r>
              <a:rPr sz="1750" spc="20" dirty="0">
                <a:latin typeface="Times New Roman"/>
                <a:cs typeface="Times New Roman"/>
              </a:rPr>
              <a:t> </a:t>
            </a:r>
            <a:r>
              <a:rPr sz="1750" spc="-5" dirty="0">
                <a:latin typeface="Calibri"/>
                <a:cs typeface="Calibri"/>
              </a:rPr>
              <a:t>B, </a:t>
            </a:r>
            <a:r>
              <a:rPr sz="1750" spc="20" dirty="0">
                <a:latin typeface="Symbol"/>
                <a:cs typeface="Symbol"/>
              </a:rPr>
              <a:t></a:t>
            </a:r>
            <a:r>
              <a:rPr sz="1750" spc="2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Calibri"/>
                <a:cs typeface="Calibri"/>
              </a:rPr>
              <a:t>E) =</a:t>
            </a:r>
            <a:r>
              <a:rPr sz="1750" spc="-175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.05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27859" y="5122840"/>
            <a:ext cx="1248410" cy="5734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10" dirty="0">
                <a:latin typeface="Calibri"/>
                <a:cs typeface="Calibri"/>
              </a:rPr>
              <a:t>P(J|A)</a:t>
            </a:r>
            <a:r>
              <a:rPr sz="1750" spc="-10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)=.7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750" spc="10" dirty="0">
                <a:latin typeface="Calibri"/>
                <a:cs typeface="Calibri"/>
              </a:rPr>
              <a:t>P(J|</a:t>
            </a:r>
            <a:r>
              <a:rPr sz="1750" spc="10" dirty="0">
                <a:latin typeface="Symbol"/>
                <a:cs typeface="Symbol"/>
              </a:rPr>
              <a:t></a:t>
            </a:r>
            <a:r>
              <a:rPr sz="1750" spc="10" dirty="0">
                <a:latin typeface="Calibri"/>
                <a:cs typeface="Calibri"/>
              </a:rPr>
              <a:t>A) =</a:t>
            </a:r>
            <a:r>
              <a:rPr sz="1750" spc="-60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.05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441316" y="5122840"/>
            <a:ext cx="1369695" cy="11004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13690">
              <a:lnSpc>
                <a:spcPct val="100000"/>
              </a:lnSpc>
              <a:spcBef>
                <a:spcPts val="125"/>
              </a:spcBef>
            </a:pPr>
            <a:r>
              <a:rPr sz="1950" b="1" spc="20" dirty="0">
                <a:latin typeface="Calibri"/>
                <a:cs typeface="Calibri"/>
              </a:rPr>
              <a:t>M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14"/>
              </a:spcBef>
            </a:pPr>
            <a:r>
              <a:rPr sz="1750" spc="10" dirty="0">
                <a:latin typeface="Calibri"/>
                <a:cs typeface="Calibri"/>
              </a:rPr>
              <a:t>P(M|A)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=.8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750" spc="15" dirty="0">
                <a:latin typeface="Calibri"/>
                <a:cs typeface="Calibri"/>
              </a:rPr>
              <a:t>P(M|</a:t>
            </a:r>
            <a:r>
              <a:rPr sz="1750" spc="15" dirty="0">
                <a:latin typeface="Symbol"/>
                <a:cs typeface="Symbol"/>
              </a:rPr>
              <a:t></a:t>
            </a:r>
            <a:r>
              <a:rPr sz="1750" spc="15" dirty="0">
                <a:latin typeface="Calibri"/>
                <a:cs typeface="Calibri"/>
              </a:rPr>
              <a:t>A) </a:t>
            </a:r>
            <a:r>
              <a:rPr sz="1750" spc="10" dirty="0">
                <a:latin typeface="Calibri"/>
                <a:cs typeface="Calibri"/>
              </a:rPr>
              <a:t>=</a:t>
            </a:r>
            <a:r>
              <a:rPr sz="1750" spc="-75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.15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85703" y="1892696"/>
            <a:ext cx="3676650" cy="1251585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1750" spc="10" dirty="0">
                <a:latin typeface="Calibri"/>
                <a:cs typeface="Calibri"/>
              </a:rPr>
              <a:t>P(B,</a:t>
            </a:r>
            <a:r>
              <a:rPr sz="1750" spc="10" dirty="0">
                <a:latin typeface="Symbol"/>
                <a:cs typeface="Symbol"/>
              </a:rPr>
              <a:t></a:t>
            </a:r>
            <a:r>
              <a:rPr sz="1750" spc="10" dirty="0">
                <a:latin typeface="Calibri"/>
                <a:cs typeface="Calibri"/>
              </a:rPr>
              <a:t>E,A,J, </a:t>
            </a:r>
            <a:r>
              <a:rPr sz="1750" spc="15" dirty="0">
                <a:latin typeface="Symbol"/>
                <a:cs typeface="Symbol"/>
              </a:rPr>
              <a:t></a:t>
            </a:r>
            <a:r>
              <a:rPr sz="1750" spc="15" dirty="0">
                <a:latin typeface="Calibri"/>
                <a:cs typeface="Calibri"/>
              </a:rPr>
              <a:t>M)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=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750" spc="10" dirty="0">
                <a:latin typeface="Calibri"/>
                <a:cs typeface="Calibri"/>
              </a:rPr>
              <a:t>P(B)P(</a:t>
            </a:r>
            <a:r>
              <a:rPr sz="1750" spc="10" dirty="0">
                <a:latin typeface="Symbol"/>
                <a:cs typeface="Symbol"/>
              </a:rPr>
              <a:t></a:t>
            </a:r>
            <a:r>
              <a:rPr sz="1750" spc="10" dirty="0">
                <a:latin typeface="Calibri"/>
                <a:cs typeface="Calibri"/>
              </a:rPr>
              <a:t>E)P(A | </a:t>
            </a:r>
            <a:r>
              <a:rPr sz="1750" spc="-5" dirty="0">
                <a:latin typeface="Calibri"/>
                <a:cs typeface="Calibri"/>
              </a:rPr>
              <a:t>B, </a:t>
            </a:r>
            <a:r>
              <a:rPr sz="1750" spc="10" dirty="0">
                <a:latin typeface="Symbol"/>
                <a:cs typeface="Symbol"/>
              </a:rPr>
              <a:t></a:t>
            </a:r>
            <a:r>
              <a:rPr sz="1750" spc="10" dirty="0">
                <a:latin typeface="Calibri"/>
                <a:cs typeface="Calibri"/>
              </a:rPr>
              <a:t>E) </a:t>
            </a:r>
            <a:r>
              <a:rPr sz="1750" spc="5" dirty="0">
                <a:latin typeface="Calibri"/>
                <a:cs typeface="Calibri"/>
              </a:rPr>
              <a:t>P(J </a:t>
            </a:r>
            <a:r>
              <a:rPr sz="1750" spc="10" dirty="0">
                <a:latin typeface="Calibri"/>
                <a:cs typeface="Calibri"/>
              </a:rPr>
              <a:t>| A)P(</a:t>
            </a:r>
            <a:r>
              <a:rPr sz="1750" spc="10" dirty="0">
                <a:latin typeface="Symbol"/>
                <a:cs typeface="Symbol"/>
              </a:rPr>
              <a:t></a:t>
            </a:r>
            <a:r>
              <a:rPr sz="1750" spc="10" dirty="0">
                <a:latin typeface="Calibri"/>
                <a:cs typeface="Calibri"/>
              </a:rPr>
              <a:t>M |</a:t>
            </a:r>
            <a:r>
              <a:rPr sz="1750" spc="-10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A)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750" spc="10" dirty="0">
                <a:latin typeface="Calibri"/>
                <a:cs typeface="Calibri"/>
              </a:rPr>
              <a:t>=</a:t>
            </a:r>
            <a:r>
              <a:rPr sz="1750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0.05*0.9*.85*.7*.2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85703" y="3249054"/>
            <a:ext cx="104838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10" dirty="0">
                <a:latin typeface="Calibri"/>
                <a:cs typeface="Calibri"/>
              </a:rPr>
              <a:t>=</a:t>
            </a:r>
            <a:r>
              <a:rPr sz="1750" spc="-40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0.005355</a:t>
            </a:r>
            <a:endParaRPr sz="1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2156" y="1076681"/>
            <a:ext cx="5025987" cy="49949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150" b="1" spc="110" dirty="0">
                <a:latin typeface="Calibri"/>
                <a:cs typeface="Calibri"/>
              </a:rPr>
              <a:t>Compu</a:t>
            </a:r>
            <a:r>
              <a:rPr lang="en-US" sz="3150" b="1" spc="110" dirty="0">
                <a:latin typeface="Calibri"/>
                <a:cs typeface="Calibri"/>
              </a:rPr>
              <a:t>ti</a:t>
            </a:r>
            <a:r>
              <a:rPr sz="3150" b="1" spc="110" dirty="0">
                <a:latin typeface="Calibri"/>
                <a:cs typeface="Calibri"/>
              </a:rPr>
              <a:t>ng: </a:t>
            </a:r>
            <a:r>
              <a:rPr sz="3150" b="1" spc="10" dirty="0">
                <a:latin typeface="Calibri"/>
                <a:cs typeface="Calibri"/>
              </a:rPr>
              <a:t>P(B,</a:t>
            </a:r>
            <a:r>
              <a:rPr sz="3150" b="1" spc="10" dirty="0">
                <a:latin typeface="Symbol"/>
                <a:cs typeface="Symbol"/>
              </a:rPr>
              <a:t></a:t>
            </a:r>
            <a:r>
              <a:rPr sz="3150" b="1" spc="10" dirty="0">
                <a:latin typeface="Calibri"/>
                <a:cs typeface="Calibri"/>
              </a:rPr>
              <a:t>E,A,J,</a:t>
            </a:r>
            <a:r>
              <a:rPr sz="3150" b="1" spc="-145" dirty="0">
                <a:latin typeface="Calibri"/>
                <a:cs typeface="Calibri"/>
              </a:rPr>
              <a:t> </a:t>
            </a:r>
            <a:r>
              <a:rPr sz="3150" b="1" dirty="0">
                <a:latin typeface="Symbol"/>
                <a:cs typeface="Symbol"/>
              </a:rPr>
              <a:t></a:t>
            </a:r>
            <a:r>
              <a:rPr sz="3150" b="1" dirty="0">
                <a:latin typeface="Calibri"/>
                <a:cs typeface="Calibri"/>
              </a:rPr>
              <a:t>M)</a:t>
            </a:r>
            <a:endParaRPr sz="315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775269" y="5008697"/>
            <a:ext cx="540385" cy="540385"/>
            <a:chOff x="5775269" y="5008697"/>
            <a:chExt cx="540385" cy="540385"/>
          </a:xfrm>
        </p:grpSpPr>
        <p:sp>
          <p:nvSpPr>
            <p:cNvPr id="4" name="object 4"/>
            <p:cNvSpPr/>
            <p:nvPr/>
          </p:nvSpPr>
          <p:spPr>
            <a:xfrm>
              <a:off x="5781547" y="501497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4"/>
                  </a:lnTo>
                  <a:lnTo>
                    <a:pt x="16496" y="171710"/>
                  </a:lnTo>
                  <a:lnTo>
                    <a:pt x="4248" y="216330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1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3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30"/>
                  </a:lnTo>
                  <a:lnTo>
                    <a:pt x="510858" y="171710"/>
                  </a:lnTo>
                  <a:lnTo>
                    <a:pt x="491355" y="130624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3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81547" y="501497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528561" y="3652266"/>
            <a:ext cx="1595120" cy="1896745"/>
            <a:chOff x="6528561" y="3652266"/>
            <a:chExt cx="1595120" cy="1896745"/>
          </a:xfrm>
        </p:grpSpPr>
        <p:sp>
          <p:nvSpPr>
            <p:cNvPr id="7" name="object 7"/>
            <p:cNvSpPr/>
            <p:nvPr/>
          </p:nvSpPr>
          <p:spPr>
            <a:xfrm>
              <a:off x="7589621" y="501497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263677" y="0"/>
                  </a:moveTo>
                  <a:lnTo>
                    <a:pt x="216280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4"/>
                  </a:lnTo>
                  <a:lnTo>
                    <a:pt x="16496" y="171710"/>
                  </a:lnTo>
                  <a:lnTo>
                    <a:pt x="4248" y="216330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0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2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30"/>
                  </a:lnTo>
                  <a:lnTo>
                    <a:pt x="510858" y="171710"/>
                  </a:lnTo>
                  <a:lnTo>
                    <a:pt x="491355" y="130624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2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89621" y="501497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0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0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34911" y="365861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4"/>
                  </a:lnTo>
                  <a:lnTo>
                    <a:pt x="16496" y="171710"/>
                  </a:lnTo>
                  <a:lnTo>
                    <a:pt x="4248" y="216330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1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3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30"/>
                  </a:lnTo>
                  <a:lnTo>
                    <a:pt x="510858" y="171710"/>
                  </a:lnTo>
                  <a:lnTo>
                    <a:pt x="491355" y="130624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3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534911" y="365861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687952" y="3766482"/>
            <a:ext cx="17780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15" dirty="0">
                <a:latin typeface="Calibri"/>
                <a:cs typeface="Calibri"/>
              </a:rPr>
              <a:t>A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34588" y="5122840"/>
            <a:ext cx="10858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5" dirty="0">
                <a:latin typeface="Calibri"/>
                <a:cs typeface="Calibri"/>
              </a:rPr>
              <a:t>J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473852" y="2295905"/>
            <a:ext cx="2348230" cy="540385"/>
            <a:chOff x="5473852" y="2295905"/>
            <a:chExt cx="2348230" cy="540385"/>
          </a:xfrm>
        </p:grpSpPr>
        <p:sp>
          <p:nvSpPr>
            <p:cNvPr id="14" name="object 14"/>
            <p:cNvSpPr/>
            <p:nvPr/>
          </p:nvSpPr>
          <p:spPr>
            <a:xfrm>
              <a:off x="5480202" y="2302255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499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3"/>
                  </a:lnTo>
                  <a:lnTo>
                    <a:pt x="16496" y="171710"/>
                  </a:lnTo>
                  <a:lnTo>
                    <a:pt x="4248" y="216329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50"/>
                  </a:lnTo>
                  <a:lnTo>
                    <a:pt x="62013" y="433659"/>
                  </a:lnTo>
                  <a:lnTo>
                    <a:pt x="93793" y="465446"/>
                  </a:lnTo>
                  <a:lnTo>
                    <a:pt x="130594" y="491466"/>
                  </a:lnTo>
                  <a:lnTo>
                    <a:pt x="171671" y="510974"/>
                  </a:lnTo>
                  <a:lnTo>
                    <a:pt x="216281" y="523225"/>
                  </a:lnTo>
                  <a:lnTo>
                    <a:pt x="263677" y="527474"/>
                  </a:lnTo>
                  <a:lnTo>
                    <a:pt x="311073" y="523225"/>
                  </a:lnTo>
                  <a:lnTo>
                    <a:pt x="355682" y="510974"/>
                  </a:lnTo>
                  <a:lnTo>
                    <a:pt x="396760" y="491466"/>
                  </a:lnTo>
                  <a:lnTo>
                    <a:pt x="433561" y="465446"/>
                  </a:lnTo>
                  <a:lnTo>
                    <a:pt x="465341" y="433659"/>
                  </a:lnTo>
                  <a:lnTo>
                    <a:pt x="491355" y="396850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29"/>
                  </a:lnTo>
                  <a:lnTo>
                    <a:pt x="510858" y="171710"/>
                  </a:lnTo>
                  <a:lnTo>
                    <a:pt x="491355" y="130623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2" y="16499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80202" y="2302255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499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499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88275" y="2302255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499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3"/>
                  </a:lnTo>
                  <a:lnTo>
                    <a:pt x="16496" y="171710"/>
                  </a:lnTo>
                  <a:lnTo>
                    <a:pt x="4248" y="216329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50"/>
                  </a:lnTo>
                  <a:lnTo>
                    <a:pt x="62013" y="433659"/>
                  </a:lnTo>
                  <a:lnTo>
                    <a:pt x="93793" y="465446"/>
                  </a:lnTo>
                  <a:lnTo>
                    <a:pt x="130594" y="491466"/>
                  </a:lnTo>
                  <a:lnTo>
                    <a:pt x="171671" y="510974"/>
                  </a:lnTo>
                  <a:lnTo>
                    <a:pt x="216281" y="523225"/>
                  </a:lnTo>
                  <a:lnTo>
                    <a:pt x="263677" y="527474"/>
                  </a:lnTo>
                  <a:lnTo>
                    <a:pt x="311073" y="523225"/>
                  </a:lnTo>
                  <a:lnTo>
                    <a:pt x="355683" y="510974"/>
                  </a:lnTo>
                  <a:lnTo>
                    <a:pt x="396760" y="491466"/>
                  </a:lnTo>
                  <a:lnTo>
                    <a:pt x="433561" y="465446"/>
                  </a:lnTo>
                  <a:lnTo>
                    <a:pt x="465341" y="433659"/>
                  </a:lnTo>
                  <a:lnTo>
                    <a:pt x="491355" y="396850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29"/>
                  </a:lnTo>
                  <a:lnTo>
                    <a:pt x="510858" y="171710"/>
                  </a:lnTo>
                  <a:lnTo>
                    <a:pt x="491355" y="130623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3" y="16499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88275" y="2302255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499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3" y="16499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3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633242" y="2410122"/>
            <a:ext cx="16637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15" dirty="0">
                <a:latin typeface="Calibri"/>
                <a:cs typeface="Calibri"/>
              </a:rPr>
              <a:t>B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41316" y="2410122"/>
            <a:ext cx="14795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10" dirty="0">
                <a:latin typeface="Calibri"/>
                <a:cs typeface="Calibri"/>
              </a:rPr>
              <a:t>E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850605" y="2823450"/>
            <a:ext cx="1907539" cy="2209800"/>
            <a:chOff x="5850605" y="2823450"/>
            <a:chExt cx="1907539" cy="2209800"/>
          </a:xfrm>
        </p:grpSpPr>
        <p:sp>
          <p:nvSpPr>
            <p:cNvPr id="21" name="object 21"/>
            <p:cNvSpPr/>
            <p:nvPr/>
          </p:nvSpPr>
          <p:spPr>
            <a:xfrm>
              <a:off x="5856884" y="2829729"/>
              <a:ext cx="753745" cy="829310"/>
            </a:xfrm>
            <a:custGeom>
              <a:avLst/>
              <a:gdLst/>
              <a:ahLst/>
              <a:cxnLst/>
              <a:rect l="l" t="t" r="r" b="b"/>
              <a:pathLst>
                <a:path w="753745" h="829310">
                  <a:moveTo>
                    <a:pt x="0" y="0"/>
                  </a:moveTo>
                  <a:lnTo>
                    <a:pt x="753364" y="828886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548591" y="3596101"/>
              <a:ext cx="78740" cy="81280"/>
            </a:xfrm>
            <a:custGeom>
              <a:avLst/>
              <a:gdLst/>
              <a:ahLst/>
              <a:cxnLst/>
              <a:rect l="l" t="t" r="r" b="b"/>
              <a:pathLst>
                <a:path w="78740" h="81279">
                  <a:moveTo>
                    <a:pt x="55745" y="0"/>
                  </a:moveTo>
                  <a:lnTo>
                    <a:pt x="0" y="50686"/>
                  </a:lnTo>
                  <a:lnTo>
                    <a:pt x="78549" y="81100"/>
                  </a:lnTo>
                  <a:lnTo>
                    <a:pt x="557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986930" y="2829729"/>
              <a:ext cx="527685" cy="829310"/>
            </a:xfrm>
            <a:custGeom>
              <a:avLst/>
              <a:gdLst/>
              <a:ahLst/>
              <a:cxnLst/>
              <a:rect l="l" t="t" r="r" b="b"/>
              <a:pathLst>
                <a:path w="527684" h="829310">
                  <a:moveTo>
                    <a:pt x="527354" y="0"/>
                  </a:moveTo>
                  <a:lnTo>
                    <a:pt x="0" y="828886"/>
                  </a:lnTo>
                </a:path>
              </a:pathLst>
            </a:custGeom>
            <a:ln w="12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973447" y="3596006"/>
              <a:ext cx="72390" cy="83820"/>
            </a:xfrm>
            <a:custGeom>
              <a:avLst/>
              <a:gdLst/>
              <a:ahLst/>
              <a:cxnLst/>
              <a:rect l="l" t="t" r="r" b="b"/>
              <a:pathLst>
                <a:path w="72390" h="83820">
                  <a:moveTo>
                    <a:pt x="8666" y="0"/>
                  </a:moveTo>
                  <a:lnTo>
                    <a:pt x="0" y="83800"/>
                  </a:lnTo>
                  <a:lnTo>
                    <a:pt x="72226" y="40455"/>
                  </a:lnTo>
                  <a:lnTo>
                    <a:pt x="86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11593" y="4186089"/>
              <a:ext cx="829310" cy="829310"/>
            </a:xfrm>
            <a:custGeom>
              <a:avLst/>
              <a:gdLst/>
              <a:ahLst/>
              <a:cxnLst/>
              <a:rect l="l" t="t" r="r" b="b"/>
              <a:pathLst>
                <a:path w="829309" h="829310">
                  <a:moveTo>
                    <a:pt x="0" y="0"/>
                  </a:moveTo>
                  <a:lnTo>
                    <a:pt x="828700" y="828886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678144" y="4952813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53271" y="0"/>
                  </a:moveTo>
                  <a:lnTo>
                    <a:pt x="0" y="53282"/>
                  </a:lnTo>
                  <a:lnTo>
                    <a:pt x="79907" y="79923"/>
                  </a:lnTo>
                  <a:lnTo>
                    <a:pt x="532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233566" y="4186089"/>
              <a:ext cx="377190" cy="753745"/>
            </a:xfrm>
            <a:custGeom>
              <a:avLst/>
              <a:gdLst/>
              <a:ahLst/>
              <a:cxnLst/>
              <a:rect l="l" t="t" r="r" b="b"/>
              <a:pathLst>
                <a:path w="377190" h="753745">
                  <a:moveTo>
                    <a:pt x="376682" y="0"/>
                  </a:moveTo>
                  <a:lnTo>
                    <a:pt x="0" y="753533"/>
                  </a:lnTo>
                </a:path>
              </a:pathLst>
            </a:custGeom>
            <a:ln w="12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222335" y="4877841"/>
              <a:ext cx="67945" cy="84455"/>
            </a:xfrm>
            <a:custGeom>
              <a:avLst/>
              <a:gdLst/>
              <a:ahLst/>
              <a:cxnLst/>
              <a:rect l="l" t="t" r="r" b="b"/>
              <a:pathLst>
                <a:path w="67945" h="84454">
                  <a:moveTo>
                    <a:pt x="0" y="0"/>
                  </a:moveTo>
                  <a:lnTo>
                    <a:pt x="0" y="84247"/>
                  </a:lnTo>
                  <a:lnTo>
                    <a:pt x="67382" y="33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427859" y="2108709"/>
            <a:ext cx="80137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10" dirty="0">
                <a:latin typeface="Calibri"/>
                <a:cs typeface="Calibri"/>
              </a:rPr>
              <a:t>P(B</a:t>
            </a:r>
            <a:r>
              <a:rPr sz="1750" spc="5" dirty="0">
                <a:latin typeface="Calibri"/>
                <a:cs typeface="Calibri"/>
              </a:rPr>
              <a:t>)=.</a:t>
            </a:r>
            <a:r>
              <a:rPr sz="1750" spc="10" dirty="0">
                <a:latin typeface="Calibri"/>
                <a:cs typeface="Calibri"/>
              </a:rPr>
              <a:t>0</a:t>
            </a:r>
            <a:r>
              <a:rPr sz="1750" spc="15" dirty="0">
                <a:latin typeface="Calibri"/>
                <a:cs typeface="Calibri"/>
              </a:rPr>
              <a:t>5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044007" y="2259414"/>
            <a:ext cx="67437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10" dirty="0">
                <a:latin typeface="Calibri"/>
                <a:cs typeface="Calibri"/>
              </a:rPr>
              <a:t>P(E)</a:t>
            </a:r>
            <a:r>
              <a:rPr sz="1750" spc="5" dirty="0">
                <a:latin typeface="Calibri"/>
                <a:cs typeface="Calibri"/>
              </a:rPr>
              <a:t>=</a:t>
            </a:r>
            <a:r>
              <a:rPr sz="1750" spc="10" dirty="0">
                <a:latin typeface="Calibri"/>
                <a:cs typeface="Calibri"/>
              </a:rPr>
              <a:t>.1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063877" y="3337879"/>
            <a:ext cx="1802764" cy="1099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750" spc="5" dirty="0">
                <a:latin typeface="Calibri"/>
                <a:cs typeface="Calibri"/>
              </a:rPr>
              <a:t>P(A|B,E)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)=.95</a:t>
            </a:r>
            <a:endParaRPr sz="1750">
              <a:latin typeface="Calibri"/>
              <a:cs typeface="Calibri"/>
            </a:endParaRPr>
          </a:p>
          <a:p>
            <a:pPr>
              <a:lnSpc>
                <a:spcPts val="2090"/>
              </a:lnSpc>
              <a:spcBef>
                <a:spcPts val="75"/>
              </a:spcBef>
            </a:pPr>
            <a:r>
              <a:rPr sz="1750" spc="10" dirty="0">
                <a:latin typeface="Calibri"/>
                <a:cs typeface="Calibri"/>
              </a:rPr>
              <a:t>P(A|B,</a:t>
            </a:r>
            <a:r>
              <a:rPr sz="1750" spc="10" dirty="0">
                <a:latin typeface="Symbol"/>
                <a:cs typeface="Symbol"/>
              </a:rPr>
              <a:t></a:t>
            </a:r>
            <a:r>
              <a:rPr sz="1750" spc="10" dirty="0">
                <a:latin typeface="Calibri"/>
                <a:cs typeface="Calibri"/>
              </a:rPr>
              <a:t>E) =</a:t>
            </a:r>
            <a:r>
              <a:rPr sz="1750" spc="-75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.85</a:t>
            </a:r>
            <a:endParaRPr sz="1750">
              <a:latin typeface="Calibri"/>
              <a:cs typeface="Calibri"/>
            </a:endParaRPr>
          </a:p>
          <a:p>
            <a:pPr>
              <a:lnSpc>
                <a:spcPts val="2090"/>
              </a:lnSpc>
            </a:pPr>
            <a:r>
              <a:rPr sz="1750" spc="10" dirty="0">
                <a:latin typeface="Calibri"/>
                <a:cs typeface="Calibri"/>
              </a:rPr>
              <a:t>P(A| </a:t>
            </a:r>
            <a:r>
              <a:rPr sz="1750" spc="25" dirty="0">
                <a:latin typeface="Symbol"/>
                <a:cs typeface="Symbol"/>
              </a:rPr>
              <a:t></a:t>
            </a:r>
            <a:r>
              <a:rPr sz="1750" spc="25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Calibri"/>
                <a:cs typeface="Calibri"/>
              </a:rPr>
              <a:t>B,E)</a:t>
            </a:r>
            <a:r>
              <a:rPr sz="1750" spc="-150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)=.5</a:t>
            </a:r>
            <a:endParaRPr sz="17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r>
              <a:rPr sz="1750" spc="10" dirty="0">
                <a:latin typeface="Calibri"/>
                <a:cs typeface="Calibri"/>
              </a:rPr>
              <a:t>P(A| </a:t>
            </a:r>
            <a:r>
              <a:rPr sz="1750" spc="25" dirty="0">
                <a:latin typeface="Symbol"/>
                <a:cs typeface="Symbol"/>
              </a:rPr>
              <a:t></a:t>
            </a:r>
            <a:r>
              <a:rPr sz="1750" spc="25" dirty="0">
                <a:latin typeface="Times New Roman"/>
                <a:cs typeface="Times New Roman"/>
              </a:rPr>
              <a:t> </a:t>
            </a:r>
            <a:r>
              <a:rPr sz="1750" spc="-5" dirty="0">
                <a:latin typeface="Calibri"/>
                <a:cs typeface="Calibri"/>
              </a:rPr>
              <a:t>B, </a:t>
            </a:r>
            <a:r>
              <a:rPr sz="1750" spc="25" dirty="0">
                <a:latin typeface="Symbol"/>
                <a:cs typeface="Symbol"/>
              </a:rPr>
              <a:t></a:t>
            </a:r>
            <a:r>
              <a:rPr sz="1750" spc="25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Calibri"/>
                <a:cs typeface="Calibri"/>
              </a:rPr>
              <a:t>E) =</a:t>
            </a:r>
            <a:r>
              <a:rPr sz="1750" spc="-170" dirty="0">
                <a:latin typeface="Calibri"/>
                <a:cs typeface="Calibri"/>
              </a:rPr>
              <a:t> </a:t>
            </a:r>
            <a:r>
              <a:rPr sz="1750" spc="-345" dirty="0">
                <a:latin typeface="Calibri"/>
                <a:cs typeface="Calibri"/>
              </a:rPr>
              <a:t>.05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27859" y="5122840"/>
            <a:ext cx="1248410" cy="5734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10" dirty="0">
                <a:latin typeface="Calibri"/>
                <a:cs typeface="Calibri"/>
              </a:rPr>
              <a:t>P(J|A)</a:t>
            </a:r>
            <a:r>
              <a:rPr sz="1750" spc="-10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)=.7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750" spc="10" dirty="0">
                <a:latin typeface="Calibri"/>
                <a:cs typeface="Calibri"/>
              </a:rPr>
              <a:t>P(J|</a:t>
            </a:r>
            <a:r>
              <a:rPr sz="1750" spc="10" dirty="0">
                <a:latin typeface="Symbol"/>
                <a:cs typeface="Symbol"/>
              </a:rPr>
              <a:t></a:t>
            </a:r>
            <a:r>
              <a:rPr sz="1750" spc="10" dirty="0">
                <a:latin typeface="Calibri"/>
                <a:cs typeface="Calibri"/>
              </a:rPr>
              <a:t>A) =</a:t>
            </a:r>
            <a:r>
              <a:rPr sz="1750" spc="-60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.05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441316" y="5122840"/>
            <a:ext cx="1369695" cy="11004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13690">
              <a:lnSpc>
                <a:spcPct val="100000"/>
              </a:lnSpc>
              <a:spcBef>
                <a:spcPts val="125"/>
              </a:spcBef>
            </a:pPr>
            <a:r>
              <a:rPr sz="1950" b="1" spc="20" dirty="0">
                <a:latin typeface="Calibri"/>
                <a:cs typeface="Calibri"/>
              </a:rPr>
              <a:t>M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14"/>
              </a:spcBef>
            </a:pPr>
            <a:r>
              <a:rPr sz="1750" spc="10" dirty="0">
                <a:latin typeface="Calibri"/>
                <a:cs typeface="Calibri"/>
              </a:rPr>
              <a:t>P(M|A)</a:t>
            </a:r>
            <a:r>
              <a:rPr sz="1750" spc="-10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)=.8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750" spc="15" dirty="0">
                <a:latin typeface="Calibri"/>
                <a:cs typeface="Calibri"/>
              </a:rPr>
              <a:t>P(M|</a:t>
            </a:r>
            <a:r>
              <a:rPr sz="1750" spc="15" dirty="0">
                <a:latin typeface="Symbol"/>
                <a:cs typeface="Symbol"/>
              </a:rPr>
              <a:t></a:t>
            </a:r>
            <a:r>
              <a:rPr sz="1750" spc="15" dirty="0">
                <a:latin typeface="Calibri"/>
                <a:cs typeface="Calibri"/>
              </a:rPr>
              <a:t>A) </a:t>
            </a:r>
            <a:r>
              <a:rPr sz="1750" spc="10" dirty="0">
                <a:latin typeface="Calibri"/>
                <a:cs typeface="Calibri"/>
              </a:rPr>
              <a:t>=</a:t>
            </a:r>
            <a:r>
              <a:rPr sz="1750" spc="-75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.15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85703" y="1892696"/>
            <a:ext cx="3676650" cy="1251585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1750" spc="10" dirty="0">
                <a:latin typeface="Calibri"/>
                <a:cs typeface="Calibri"/>
              </a:rPr>
              <a:t>P(B,</a:t>
            </a:r>
            <a:r>
              <a:rPr sz="1750" spc="10" dirty="0">
                <a:latin typeface="Symbol"/>
                <a:cs typeface="Symbol"/>
              </a:rPr>
              <a:t></a:t>
            </a:r>
            <a:r>
              <a:rPr sz="1750" spc="10" dirty="0">
                <a:latin typeface="Calibri"/>
                <a:cs typeface="Calibri"/>
              </a:rPr>
              <a:t>E,A,J, </a:t>
            </a:r>
            <a:r>
              <a:rPr sz="1750" spc="15" dirty="0">
                <a:latin typeface="Symbol"/>
                <a:cs typeface="Symbol"/>
              </a:rPr>
              <a:t></a:t>
            </a:r>
            <a:r>
              <a:rPr sz="1750" spc="15" dirty="0">
                <a:latin typeface="Calibri"/>
                <a:cs typeface="Calibri"/>
              </a:rPr>
              <a:t>M)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=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750" spc="10" dirty="0">
                <a:latin typeface="Calibri"/>
                <a:cs typeface="Calibri"/>
              </a:rPr>
              <a:t>P(B)P(</a:t>
            </a:r>
            <a:r>
              <a:rPr sz="1750" spc="10" dirty="0">
                <a:latin typeface="Symbol"/>
                <a:cs typeface="Symbol"/>
              </a:rPr>
              <a:t></a:t>
            </a:r>
            <a:r>
              <a:rPr sz="1750" spc="10" dirty="0">
                <a:latin typeface="Calibri"/>
                <a:cs typeface="Calibri"/>
              </a:rPr>
              <a:t>E)P(A | </a:t>
            </a:r>
            <a:r>
              <a:rPr sz="1750" spc="-5" dirty="0">
                <a:latin typeface="Calibri"/>
                <a:cs typeface="Calibri"/>
              </a:rPr>
              <a:t>B, </a:t>
            </a:r>
            <a:r>
              <a:rPr sz="1750" spc="10" dirty="0">
                <a:latin typeface="Symbol"/>
                <a:cs typeface="Symbol"/>
              </a:rPr>
              <a:t></a:t>
            </a:r>
            <a:r>
              <a:rPr sz="1750" spc="10" dirty="0">
                <a:latin typeface="Calibri"/>
                <a:cs typeface="Calibri"/>
              </a:rPr>
              <a:t>E) </a:t>
            </a:r>
            <a:r>
              <a:rPr sz="1750" spc="5" dirty="0">
                <a:latin typeface="Calibri"/>
                <a:cs typeface="Calibri"/>
              </a:rPr>
              <a:t>P(J </a:t>
            </a:r>
            <a:r>
              <a:rPr sz="1750" spc="10" dirty="0">
                <a:latin typeface="Calibri"/>
                <a:cs typeface="Calibri"/>
              </a:rPr>
              <a:t>| A)P(</a:t>
            </a:r>
            <a:r>
              <a:rPr sz="1750" spc="10" dirty="0">
                <a:latin typeface="Symbol"/>
                <a:cs typeface="Symbol"/>
              </a:rPr>
              <a:t></a:t>
            </a:r>
            <a:r>
              <a:rPr sz="1750" spc="10" dirty="0">
                <a:latin typeface="Calibri"/>
                <a:cs typeface="Calibri"/>
              </a:rPr>
              <a:t>M |</a:t>
            </a:r>
            <a:r>
              <a:rPr sz="1750" spc="-10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A)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750" spc="10" dirty="0">
                <a:latin typeface="Calibri"/>
                <a:cs typeface="Calibri"/>
              </a:rPr>
              <a:t>=</a:t>
            </a:r>
            <a:r>
              <a:rPr sz="1750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0.05*0.9*.85*.7*.2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85703" y="3249054"/>
            <a:ext cx="104838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10" dirty="0">
                <a:latin typeface="Calibri"/>
                <a:cs typeface="Calibri"/>
              </a:rPr>
              <a:t>=</a:t>
            </a:r>
            <a:r>
              <a:rPr sz="1750" spc="-40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0.005355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617419" y="3281848"/>
            <a:ext cx="3842385" cy="1896745"/>
          </a:xfrm>
          <a:prstGeom prst="rect">
            <a:avLst/>
          </a:prstGeom>
          <a:solidFill>
            <a:srgbClr val="D4FEFF"/>
          </a:solidFill>
        </p:spPr>
        <p:txBody>
          <a:bodyPr vert="horz" wrap="square" lIns="0" tIns="45085" rIns="0" bIns="0" rtlCol="0">
            <a:spAutoFit/>
          </a:bodyPr>
          <a:lstStyle/>
          <a:p>
            <a:pPr marL="90170" marR="408305">
              <a:lnSpc>
                <a:spcPct val="100800"/>
              </a:lnSpc>
              <a:spcBef>
                <a:spcPts val="355"/>
              </a:spcBef>
              <a:tabLst>
                <a:tab pos="1902460" algn="l"/>
              </a:tabLst>
            </a:pPr>
            <a:r>
              <a:rPr sz="2350" spc="-30" dirty="0">
                <a:solidFill>
                  <a:srgbClr val="FF0000"/>
                </a:solidFill>
                <a:latin typeface="Calibri"/>
                <a:cs typeface="Calibri"/>
              </a:rPr>
              <a:t>We </a:t>
            </a:r>
            <a:r>
              <a:rPr sz="2350" dirty="0">
                <a:solidFill>
                  <a:srgbClr val="FF0000"/>
                </a:solidFill>
                <a:latin typeface="Calibri"/>
                <a:cs typeface="Calibri"/>
              </a:rPr>
              <a:t>can </a:t>
            </a:r>
            <a:r>
              <a:rPr sz="2350" spc="5" dirty="0">
                <a:solidFill>
                  <a:srgbClr val="FF0000"/>
                </a:solidFill>
                <a:latin typeface="Calibri"/>
                <a:cs typeface="Calibri"/>
              </a:rPr>
              <a:t>easily </a:t>
            </a:r>
            <a:r>
              <a:rPr sz="2350" dirty="0">
                <a:solidFill>
                  <a:srgbClr val="FF0000"/>
                </a:solidFill>
                <a:latin typeface="Calibri"/>
                <a:cs typeface="Calibri"/>
              </a:rPr>
              <a:t>compute </a:t>
            </a:r>
            <a:r>
              <a:rPr sz="2350" spc="10" dirty="0">
                <a:solidFill>
                  <a:srgbClr val="FF0000"/>
                </a:solidFill>
                <a:latin typeface="Calibri"/>
                <a:cs typeface="Calibri"/>
              </a:rPr>
              <a:t>a  </a:t>
            </a:r>
            <a:r>
              <a:rPr sz="2350" dirty="0">
                <a:solidFill>
                  <a:srgbClr val="FF0000"/>
                </a:solidFill>
                <a:latin typeface="Calibri"/>
                <a:cs typeface="Calibri"/>
              </a:rPr>
              <a:t>complete joint </a:t>
            </a:r>
            <a:r>
              <a:rPr sz="2350" spc="15" dirty="0">
                <a:solidFill>
                  <a:srgbClr val="FF0000"/>
                </a:solidFill>
                <a:latin typeface="Calibri"/>
                <a:cs typeface="Calibri"/>
              </a:rPr>
              <a:t>distribu</a:t>
            </a:r>
            <a:r>
              <a:rPr lang="en-US" sz="2350" spc="15" dirty="0">
                <a:solidFill>
                  <a:srgbClr val="FF0000"/>
                </a:solidFill>
                <a:latin typeface="Calibri"/>
                <a:cs typeface="Calibri"/>
              </a:rPr>
              <a:t>ti</a:t>
            </a:r>
            <a:r>
              <a:rPr sz="2350" spc="15" dirty="0">
                <a:solidFill>
                  <a:srgbClr val="FF0000"/>
                </a:solidFill>
                <a:latin typeface="Calibri"/>
                <a:cs typeface="Calibri"/>
              </a:rPr>
              <a:t>on.  </a:t>
            </a:r>
            <a:r>
              <a:rPr sz="2350" spc="5" dirty="0">
                <a:solidFill>
                  <a:srgbClr val="FF0000"/>
                </a:solidFill>
                <a:latin typeface="Calibri"/>
                <a:cs typeface="Calibri"/>
              </a:rPr>
              <a:t>What about </a:t>
            </a:r>
            <a:r>
              <a:rPr sz="2350" spc="35" dirty="0">
                <a:solidFill>
                  <a:srgbClr val="FF0000"/>
                </a:solidFill>
                <a:latin typeface="Calibri"/>
                <a:cs typeface="Calibri"/>
              </a:rPr>
              <a:t>par</a:t>
            </a:r>
            <a:r>
              <a:rPr lang="en-US" sz="2350" spc="35" dirty="0">
                <a:solidFill>
                  <a:srgbClr val="FF0000"/>
                </a:solidFill>
                <a:latin typeface="Calibri"/>
                <a:cs typeface="Calibri"/>
              </a:rPr>
              <a:t>ti</a:t>
            </a:r>
            <a:r>
              <a:rPr sz="2350" spc="35" dirty="0">
                <a:solidFill>
                  <a:srgbClr val="FF0000"/>
                </a:solidFill>
                <a:latin typeface="Calibri"/>
                <a:cs typeface="Calibri"/>
              </a:rPr>
              <a:t>al  </a:t>
            </a:r>
            <a:r>
              <a:rPr sz="2350" spc="15" dirty="0">
                <a:solidFill>
                  <a:srgbClr val="FF0000"/>
                </a:solidFill>
                <a:latin typeface="Calibri"/>
                <a:cs typeface="Calibri"/>
              </a:rPr>
              <a:t>distribu</a:t>
            </a:r>
            <a:r>
              <a:rPr lang="en-US" sz="2350" spc="15" dirty="0">
                <a:solidFill>
                  <a:srgbClr val="FF0000"/>
                </a:solidFill>
                <a:latin typeface="Calibri"/>
                <a:cs typeface="Calibri"/>
              </a:rPr>
              <a:t>ti</a:t>
            </a:r>
            <a:r>
              <a:rPr sz="2350" spc="15" dirty="0">
                <a:solidFill>
                  <a:srgbClr val="FF0000"/>
                </a:solidFill>
                <a:latin typeface="Calibri"/>
                <a:cs typeface="Calibri"/>
              </a:rPr>
              <a:t>ons?	</a:t>
            </a:r>
            <a:r>
              <a:rPr sz="2350" spc="25" dirty="0">
                <a:solidFill>
                  <a:srgbClr val="FF0000"/>
                </a:solidFill>
                <a:latin typeface="Calibri"/>
                <a:cs typeface="Calibri"/>
              </a:rPr>
              <a:t>Condi</a:t>
            </a:r>
            <a:r>
              <a:rPr lang="en-US" sz="2350" spc="25" dirty="0">
                <a:solidFill>
                  <a:srgbClr val="FF0000"/>
                </a:solidFill>
                <a:latin typeface="Calibri"/>
                <a:cs typeface="Calibri"/>
              </a:rPr>
              <a:t>ti</a:t>
            </a:r>
            <a:r>
              <a:rPr sz="2350" spc="25" dirty="0">
                <a:solidFill>
                  <a:srgbClr val="FF0000"/>
                </a:solidFill>
                <a:latin typeface="Calibri"/>
                <a:cs typeface="Calibri"/>
              </a:rPr>
              <a:t>onal  </a:t>
            </a:r>
            <a:r>
              <a:rPr sz="2350" spc="15" dirty="0">
                <a:solidFill>
                  <a:srgbClr val="FF0000"/>
                </a:solidFill>
                <a:latin typeface="Calibri"/>
                <a:cs typeface="Calibri"/>
              </a:rPr>
              <a:t>distribu</a:t>
            </a:r>
            <a:r>
              <a:rPr lang="en-US" sz="2350" spc="15" dirty="0">
                <a:solidFill>
                  <a:srgbClr val="FF0000"/>
                </a:solidFill>
                <a:latin typeface="Calibri"/>
                <a:cs typeface="Calibri"/>
              </a:rPr>
              <a:t>ti</a:t>
            </a:r>
            <a:r>
              <a:rPr sz="2350" spc="15" dirty="0">
                <a:solidFill>
                  <a:srgbClr val="FF0000"/>
                </a:solidFill>
                <a:latin typeface="Calibri"/>
                <a:cs typeface="Calibri"/>
              </a:rPr>
              <a:t>ons?</a:t>
            </a:r>
            <a:endParaRPr sz="23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3241" y="1076681"/>
            <a:ext cx="1595755" cy="5080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150" b="1" spc="-10" dirty="0">
                <a:latin typeface="Calibri"/>
                <a:cs typeface="Calibri"/>
              </a:rPr>
              <a:t>Inference</a:t>
            </a:r>
            <a:endParaRPr sz="31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1712" y="2033859"/>
            <a:ext cx="5354955" cy="1325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115" marR="5080" indent="-273050">
              <a:lnSpc>
                <a:spcPct val="121900"/>
              </a:lnSpc>
              <a:spcBef>
                <a:spcPts val="95"/>
              </a:spcBef>
              <a:buFont typeface="Arial"/>
              <a:buChar char="•"/>
              <a:tabLst>
                <a:tab pos="351155" algn="l"/>
                <a:tab pos="351790" algn="l"/>
              </a:tabLst>
            </a:pPr>
            <a:r>
              <a:rPr dirty="0"/>
              <a:t>	</a:t>
            </a:r>
            <a:r>
              <a:rPr sz="2350" spc="-30" dirty="0">
                <a:latin typeface="Calibri"/>
                <a:cs typeface="Calibri"/>
              </a:rPr>
              <a:t>We </a:t>
            </a:r>
            <a:r>
              <a:rPr sz="2350" spc="-5" dirty="0">
                <a:latin typeface="Calibri"/>
                <a:cs typeface="Calibri"/>
              </a:rPr>
              <a:t>are </a:t>
            </a:r>
            <a:r>
              <a:rPr sz="2350" spc="-10" dirty="0">
                <a:latin typeface="Calibri"/>
                <a:cs typeface="Calibri"/>
              </a:rPr>
              <a:t>interested </a:t>
            </a:r>
            <a:r>
              <a:rPr sz="2350" spc="5" dirty="0">
                <a:latin typeface="Calibri"/>
                <a:cs typeface="Calibri"/>
              </a:rPr>
              <a:t>in queries of </a:t>
            </a:r>
            <a:r>
              <a:rPr sz="2350" spc="10" dirty="0">
                <a:latin typeface="Calibri"/>
                <a:cs typeface="Calibri"/>
              </a:rPr>
              <a:t>the </a:t>
            </a:r>
            <a:r>
              <a:rPr sz="2350" spc="-5" dirty="0">
                <a:latin typeface="Calibri"/>
                <a:cs typeface="Calibri"/>
              </a:rPr>
              <a:t>form:  </a:t>
            </a:r>
            <a:r>
              <a:rPr sz="2350" spc="5" dirty="0">
                <a:latin typeface="Calibri"/>
                <a:cs typeface="Calibri"/>
              </a:rPr>
              <a:t>P(B </a:t>
            </a:r>
            <a:r>
              <a:rPr sz="2350" spc="10" dirty="0">
                <a:latin typeface="Calibri"/>
                <a:cs typeface="Calibri"/>
              </a:rPr>
              <a:t>|</a:t>
            </a:r>
            <a:r>
              <a:rPr sz="2350" spc="-1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J,</a:t>
            </a:r>
            <a:r>
              <a:rPr sz="2350" dirty="0">
                <a:latin typeface="Symbol"/>
                <a:cs typeface="Symbol"/>
              </a:rPr>
              <a:t></a:t>
            </a:r>
            <a:r>
              <a:rPr sz="2350" dirty="0">
                <a:latin typeface="Calibri"/>
                <a:cs typeface="Calibri"/>
              </a:rPr>
              <a:t>M)</a:t>
            </a:r>
          </a:p>
          <a:p>
            <a:pPr marL="351155" indent="-339090">
              <a:lnSpc>
                <a:spcPct val="100000"/>
              </a:lnSpc>
              <a:spcBef>
                <a:spcPts val="540"/>
              </a:spcBef>
              <a:buFont typeface="Arial"/>
              <a:buChar char="•"/>
              <a:tabLst>
                <a:tab pos="351155" algn="l"/>
                <a:tab pos="351790" algn="l"/>
              </a:tabLst>
            </a:pPr>
            <a:r>
              <a:rPr sz="2350" spc="5" dirty="0">
                <a:latin typeface="Calibri"/>
                <a:cs typeface="Calibri"/>
              </a:rPr>
              <a:t>This </a:t>
            </a:r>
            <a:r>
              <a:rPr sz="2350" dirty="0">
                <a:latin typeface="Calibri"/>
                <a:cs typeface="Calibri"/>
              </a:rPr>
              <a:t>can </a:t>
            </a:r>
            <a:r>
              <a:rPr sz="2350" spc="5" dirty="0">
                <a:latin typeface="Calibri"/>
                <a:cs typeface="Calibri"/>
              </a:rPr>
              <a:t>also </a:t>
            </a:r>
            <a:r>
              <a:rPr sz="2350" spc="10" dirty="0">
                <a:latin typeface="Calibri"/>
                <a:cs typeface="Calibri"/>
              </a:rPr>
              <a:t>be </a:t>
            </a:r>
            <a:r>
              <a:rPr sz="2350" spc="90" dirty="0">
                <a:latin typeface="Calibri"/>
                <a:cs typeface="Calibri"/>
              </a:rPr>
              <a:t>wri</a:t>
            </a:r>
            <a:r>
              <a:rPr lang="en-US" sz="2350" spc="90" dirty="0">
                <a:latin typeface="Calibri"/>
                <a:cs typeface="Calibri"/>
              </a:rPr>
              <a:t>tt</a:t>
            </a:r>
            <a:r>
              <a:rPr sz="2350" spc="90" dirty="0">
                <a:latin typeface="Calibri"/>
                <a:cs typeface="Calibri"/>
              </a:rPr>
              <a:t>en</a:t>
            </a:r>
            <a:r>
              <a:rPr sz="2350" dirty="0">
                <a:latin typeface="Calibri"/>
                <a:cs typeface="Calibri"/>
              </a:rPr>
              <a:t> </a:t>
            </a:r>
            <a:r>
              <a:rPr sz="2350" spc="5" dirty="0">
                <a:latin typeface="Calibri"/>
                <a:cs typeface="Calibri"/>
              </a:rPr>
              <a:t>as:</a:t>
            </a:r>
            <a:endParaRPr sz="235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1712" y="5144945"/>
            <a:ext cx="4731385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51155" indent="-339090">
              <a:lnSpc>
                <a:spcPct val="100000"/>
              </a:lnSpc>
              <a:spcBef>
                <a:spcPts val="120"/>
              </a:spcBef>
              <a:buFont typeface="Arial"/>
              <a:buChar char="•"/>
              <a:tabLst>
                <a:tab pos="351155" algn="l"/>
                <a:tab pos="351790" algn="l"/>
              </a:tabLst>
            </a:pPr>
            <a:r>
              <a:rPr sz="2350" spc="5" dirty="0">
                <a:latin typeface="Calibri"/>
                <a:cs typeface="Calibri"/>
              </a:rPr>
              <a:t>How </a:t>
            </a:r>
            <a:r>
              <a:rPr sz="2350" spc="10" dirty="0">
                <a:latin typeface="Calibri"/>
                <a:cs typeface="Calibri"/>
              </a:rPr>
              <a:t>do </a:t>
            </a:r>
            <a:r>
              <a:rPr sz="2350" dirty="0">
                <a:latin typeface="Calibri"/>
                <a:cs typeface="Calibri"/>
              </a:rPr>
              <a:t>we compute </a:t>
            </a:r>
            <a:r>
              <a:rPr sz="2350" spc="10" dirty="0">
                <a:latin typeface="Calibri"/>
                <a:cs typeface="Calibri"/>
              </a:rPr>
              <a:t>the </a:t>
            </a:r>
            <a:r>
              <a:rPr sz="2350" spc="5" dirty="0">
                <a:latin typeface="Calibri"/>
                <a:cs typeface="Calibri"/>
              </a:rPr>
              <a:t>new</a:t>
            </a:r>
            <a:r>
              <a:rPr sz="2350" spc="-2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joint?</a:t>
            </a:r>
          </a:p>
        </p:txBody>
      </p:sp>
      <p:sp>
        <p:nvSpPr>
          <p:cNvPr id="5" name="object 5"/>
          <p:cNvSpPr/>
          <p:nvPr/>
        </p:nvSpPr>
        <p:spPr>
          <a:xfrm>
            <a:off x="3185029" y="3936433"/>
            <a:ext cx="3813810" cy="0"/>
          </a:xfrm>
          <a:custGeom>
            <a:avLst/>
            <a:gdLst/>
            <a:ahLst/>
            <a:cxnLst/>
            <a:rect l="l" t="t" r="r" b="b"/>
            <a:pathLst>
              <a:path w="3813809">
                <a:moveTo>
                  <a:pt x="0" y="0"/>
                </a:moveTo>
                <a:lnTo>
                  <a:pt x="3813565" y="0"/>
                </a:lnTo>
              </a:path>
            </a:pathLst>
          </a:custGeom>
          <a:ln w="133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56133" y="4045241"/>
            <a:ext cx="415925" cy="291465"/>
          </a:xfrm>
          <a:custGeom>
            <a:avLst/>
            <a:gdLst/>
            <a:ahLst/>
            <a:cxnLst/>
            <a:rect l="l" t="t" r="r" b="b"/>
            <a:pathLst>
              <a:path w="415925" h="291464">
                <a:moveTo>
                  <a:pt x="308813" y="9207"/>
                </a:moveTo>
                <a:lnTo>
                  <a:pt x="259295" y="9207"/>
                </a:lnTo>
                <a:lnTo>
                  <a:pt x="133184" y="182740"/>
                </a:lnTo>
                <a:lnTo>
                  <a:pt x="111988" y="9207"/>
                </a:lnTo>
                <a:lnTo>
                  <a:pt x="58724" y="9207"/>
                </a:lnTo>
                <a:lnTo>
                  <a:pt x="57150" y="15062"/>
                </a:lnTo>
                <a:lnTo>
                  <a:pt x="65633" y="16065"/>
                </a:lnTo>
                <a:lnTo>
                  <a:pt x="71450" y="17437"/>
                </a:lnTo>
                <a:lnTo>
                  <a:pt x="77736" y="20891"/>
                </a:lnTo>
                <a:lnTo>
                  <a:pt x="81026" y="24193"/>
                </a:lnTo>
                <a:lnTo>
                  <a:pt x="84493" y="29070"/>
                </a:lnTo>
                <a:lnTo>
                  <a:pt x="38963" y="187934"/>
                </a:lnTo>
                <a:lnTo>
                  <a:pt x="35293" y="199136"/>
                </a:lnTo>
                <a:lnTo>
                  <a:pt x="31788" y="206413"/>
                </a:lnTo>
                <a:lnTo>
                  <a:pt x="23825" y="214439"/>
                </a:lnTo>
                <a:lnTo>
                  <a:pt x="16344" y="216776"/>
                </a:lnTo>
                <a:lnTo>
                  <a:pt x="1727" y="216776"/>
                </a:lnTo>
                <a:lnTo>
                  <a:pt x="0" y="222631"/>
                </a:lnTo>
                <a:lnTo>
                  <a:pt x="70408" y="222631"/>
                </a:lnTo>
                <a:lnTo>
                  <a:pt x="72136" y="216776"/>
                </a:lnTo>
                <a:lnTo>
                  <a:pt x="61239" y="216039"/>
                </a:lnTo>
                <a:lnTo>
                  <a:pt x="54381" y="214655"/>
                </a:lnTo>
                <a:lnTo>
                  <a:pt x="48729" y="210591"/>
                </a:lnTo>
                <a:lnTo>
                  <a:pt x="47307" y="207632"/>
                </a:lnTo>
                <a:lnTo>
                  <a:pt x="47307" y="199898"/>
                </a:lnTo>
                <a:lnTo>
                  <a:pt x="48933" y="192379"/>
                </a:lnTo>
                <a:lnTo>
                  <a:pt x="89928" y="49542"/>
                </a:lnTo>
                <a:lnTo>
                  <a:pt x="111048" y="222631"/>
                </a:lnTo>
                <a:lnTo>
                  <a:pt x="117436" y="222631"/>
                </a:lnTo>
                <a:lnTo>
                  <a:pt x="243230" y="49542"/>
                </a:lnTo>
                <a:lnTo>
                  <a:pt x="204609" y="183819"/>
                </a:lnTo>
                <a:lnTo>
                  <a:pt x="201726" y="192620"/>
                </a:lnTo>
                <a:lnTo>
                  <a:pt x="165938" y="216776"/>
                </a:lnTo>
                <a:lnTo>
                  <a:pt x="164363" y="222631"/>
                </a:lnTo>
                <a:lnTo>
                  <a:pt x="253238" y="222631"/>
                </a:lnTo>
                <a:lnTo>
                  <a:pt x="254647" y="216776"/>
                </a:lnTo>
                <a:lnTo>
                  <a:pt x="242290" y="216776"/>
                </a:lnTo>
                <a:lnTo>
                  <a:pt x="236004" y="215455"/>
                </a:lnTo>
                <a:lnTo>
                  <a:pt x="229196" y="210972"/>
                </a:lnTo>
                <a:lnTo>
                  <a:pt x="227787" y="208280"/>
                </a:lnTo>
                <a:lnTo>
                  <a:pt x="227787" y="200787"/>
                </a:lnTo>
                <a:lnTo>
                  <a:pt x="228942" y="195389"/>
                </a:lnTo>
                <a:lnTo>
                  <a:pt x="231241" y="188544"/>
                </a:lnTo>
                <a:lnTo>
                  <a:pt x="272491" y="44272"/>
                </a:lnTo>
                <a:lnTo>
                  <a:pt x="308813" y="15062"/>
                </a:lnTo>
                <a:lnTo>
                  <a:pt x="308813" y="9207"/>
                </a:lnTo>
                <a:close/>
              </a:path>
              <a:path w="415925" h="291464">
                <a:moveTo>
                  <a:pt x="415645" y="145478"/>
                </a:moveTo>
                <a:lnTo>
                  <a:pt x="408724" y="96901"/>
                </a:lnTo>
                <a:lnTo>
                  <a:pt x="388454" y="52565"/>
                </a:lnTo>
                <a:lnTo>
                  <a:pt x="359981" y="19989"/>
                </a:lnTo>
                <a:lnTo>
                  <a:pt x="328523" y="0"/>
                </a:lnTo>
                <a:lnTo>
                  <a:pt x="328523" y="5867"/>
                </a:lnTo>
                <a:lnTo>
                  <a:pt x="336219" y="11430"/>
                </a:lnTo>
                <a:lnTo>
                  <a:pt x="343115" y="17119"/>
                </a:lnTo>
                <a:lnTo>
                  <a:pt x="367118" y="47599"/>
                </a:lnTo>
                <a:lnTo>
                  <a:pt x="380250" y="88734"/>
                </a:lnTo>
                <a:lnTo>
                  <a:pt x="385165" y="133438"/>
                </a:lnTo>
                <a:lnTo>
                  <a:pt x="385483" y="149796"/>
                </a:lnTo>
                <a:lnTo>
                  <a:pt x="385102" y="165100"/>
                </a:lnTo>
                <a:lnTo>
                  <a:pt x="379374" y="209207"/>
                </a:lnTo>
                <a:lnTo>
                  <a:pt x="366560" y="246278"/>
                </a:lnTo>
                <a:lnTo>
                  <a:pt x="337845" y="279514"/>
                </a:lnTo>
                <a:lnTo>
                  <a:pt x="328523" y="285407"/>
                </a:lnTo>
                <a:lnTo>
                  <a:pt x="328523" y="291261"/>
                </a:lnTo>
                <a:lnTo>
                  <a:pt x="363778" y="268351"/>
                </a:lnTo>
                <a:lnTo>
                  <a:pt x="391579" y="234035"/>
                </a:lnTo>
                <a:lnTo>
                  <a:pt x="409625" y="191884"/>
                </a:lnTo>
                <a:lnTo>
                  <a:pt x="414147" y="169214"/>
                </a:lnTo>
                <a:lnTo>
                  <a:pt x="415645" y="1454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6015880" y="4054445"/>
            <a:ext cx="257810" cy="266700"/>
            <a:chOff x="6015880" y="4054445"/>
            <a:chExt cx="257810" cy="266700"/>
          </a:xfrm>
        </p:grpSpPr>
        <p:sp>
          <p:nvSpPr>
            <p:cNvPr id="8" name="object 8"/>
            <p:cNvSpPr/>
            <p:nvPr/>
          </p:nvSpPr>
          <p:spPr>
            <a:xfrm>
              <a:off x="6225326" y="4236903"/>
              <a:ext cx="48260" cy="83820"/>
            </a:xfrm>
            <a:custGeom>
              <a:avLst/>
              <a:gdLst/>
              <a:ahLst/>
              <a:cxnLst/>
              <a:rect l="l" t="t" r="r" b="b"/>
              <a:pathLst>
                <a:path w="48260" h="83820">
                  <a:moveTo>
                    <a:pt x="27721" y="0"/>
                  </a:moveTo>
                  <a:lnTo>
                    <a:pt x="14900" y="0"/>
                  </a:lnTo>
                  <a:lnTo>
                    <a:pt x="10013" y="1798"/>
                  </a:lnTo>
                  <a:lnTo>
                    <a:pt x="2002" y="8991"/>
                  </a:lnTo>
                  <a:lnTo>
                    <a:pt x="0" y="13309"/>
                  </a:lnTo>
                  <a:lnTo>
                    <a:pt x="0" y="23587"/>
                  </a:lnTo>
                  <a:lnTo>
                    <a:pt x="1572" y="27698"/>
                  </a:lnTo>
                  <a:lnTo>
                    <a:pt x="7866" y="33662"/>
                  </a:lnTo>
                  <a:lnTo>
                    <a:pt x="12100" y="35153"/>
                  </a:lnTo>
                  <a:lnTo>
                    <a:pt x="19594" y="35153"/>
                  </a:lnTo>
                  <a:lnTo>
                    <a:pt x="21659" y="34691"/>
                  </a:lnTo>
                  <a:lnTo>
                    <a:pt x="27627" y="31718"/>
                  </a:lnTo>
                  <a:lnTo>
                    <a:pt x="30234" y="30693"/>
                  </a:lnTo>
                  <a:lnTo>
                    <a:pt x="32188" y="30693"/>
                  </a:lnTo>
                  <a:lnTo>
                    <a:pt x="32952" y="31160"/>
                  </a:lnTo>
                  <a:lnTo>
                    <a:pt x="34696" y="33435"/>
                  </a:lnTo>
                  <a:lnTo>
                    <a:pt x="35185" y="35087"/>
                  </a:lnTo>
                  <a:lnTo>
                    <a:pt x="35185" y="45314"/>
                  </a:lnTo>
                  <a:lnTo>
                    <a:pt x="7917" y="73885"/>
                  </a:lnTo>
                  <a:lnTo>
                    <a:pt x="0" y="76883"/>
                  </a:lnTo>
                  <a:lnTo>
                    <a:pt x="0" y="83696"/>
                  </a:lnTo>
                  <a:lnTo>
                    <a:pt x="36291" y="62118"/>
                  </a:lnTo>
                  <a:lnTo>
                    <a:pt x="47751" y="32485"/>
                  </a:lnTo>
                  <a:lnTo>
                    <a:pt x="47751" y="22686"/>
                  </a:lnTo>
                  <a:lnTo>
                    <a:pt x="45002" y="14822"/>
                  </a:lnTo>
                  <a:lnTo>
                    <a:pt x="33997" y="2965"/>
                  </a:lnTo>
                  <a:lnTo>
                    <a:pt x="277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5880" y="4054445"/>
              <a:ext cx="186157" cy="218447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5492269" y="4054445"/>
            <a:ext cx="464184" cy="266700"/>
            <a:chOff x="5492269" y="4054445"/>
            <a:chExt cx="464184" cy="266700"/>
          </a:xfrm>
        </p:grpSpPr>
        <p:sp>
          <p:nvSpPr>
            <p:cNvPr id="11" name="object 11"/>
            <p:cNvSpPr/>
            <p:nvPr/>
          </p:nvSpPr>
          <p:spPr>
            <a:xfrm>
              <a:off x="5908645" y="4236903"/>
              <a:ext cx="48260" cy="83820"/>
            </a:xfrm>
            <a:custGeom>
              <a:avLst/>
              <a:gdLst/>
              <a:ahLst/>
              <a:cxnLst/>
              <a:rect l="l" t="t" r="r" b="b"/>
              <a:pathLst>
                <a:path w="48260" h="83820">
                  <a:moveTo>
                    <a:pt x="27721" y="0"/>
                  </a:moveTo>
                  <a:lnTo>
                    <a:pt x="14902" y="0"/>
                  </a:lnTo>
                  <a:lnTo>
                    <a:pt x="10015" y="1798"/>
                  </a:lnTo>
                  <a:lnTo>
                    <a:pt x="2004" y="8991"/>
                  </a:lnTo>
                  <a:lnTo>
                    <a:pt x="0" y="13309"/>
                  </a:lnTo>
                  <a:lnTo>
                    <a:pt x="0" y="23587"/>
                  </a:lnTo>
                  <a:lnTo>
                    <a:pt x="1573" y="27698"/>
                  </a:lnTo>
                  <a:lnTo>
                    <a:pt x="7865" y="33662"/>
                  </a:lnTo>
                  <a:lnTo>
                    <a:pt x="12099" y="35153"/>
                  </a:lnTo>
                  <a:lnTo>
                    <a:pt x="19596" y="35153"/>
                  </a:lnTo>
                  <a:lnTo>
                    <a:pt x="21659" y="34691"/>
                  </a:lnTo>
                  <a:lnTo>
                    <a:pt x="27628" y="31718"/>
                  </a:lnTo>
                  <a:lnTo>
                    <a:pt x="30234" y="30693"/>
                  </a:lnTo>
                  <a:lnTo>
                    <a:pt x="32189" y="30693"/>
                  </a:lnTo>
                  <a:lnTo>
                    <a:pt x="32953" y="31160"/>
                  </a:lnTo>
                  <a:lnTo>
                    <a:pt x="34697" y="33435"/>
                  </a:lnTo>
                  <a:lnTo>
                    <a:pt x="35187" y="35087"/>
                  </a:lnTo>
                  <a:lnTo>
                    <a:pt x="35187" y="45314"/>
                  </a:lnTo>
                  <a:lnTo>
                    <a:pt x="7916" y="73885"/>
                  </a:lnTo>
                  <a:lnTo>
                    <a:pt x="0" y="76883"/>
                  </a:lnTo>
                  <a:lnTo>
                    <a:pt x="0" y="83696"/>
                  </a:lnTo>
                  <a:lnTo>
                    <a:pt x="36292" y="62118"/>
                  </a:lnTo>
                  <a:lnTo>
                    <a:pt x="47753" y="32485"/>
                  </a:lnTo>
                  <a:lnTo>
                    <a:pt x="47753" y="22686"/>
                  </a:lnTo>
                  <a:lnTo>
                    <a:pt x="45002" y="14822"/>
                  </a:lnTo>
                  <a:lnTo>
                    <a:pt x="33997" y="2965"/>
                  </a:lnTo>
                  <a:lnTo>
                    <a:pt x="277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82774" y="4054445"/>
              <a:ext cx="197387" cy="21342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492267" y="4157979"/>
              <a:ext cx="149225" cy="67310"/>
            </a:xfrm>
            <a:custGeom>
              <a:avLst/>
              <a:gdLst/>
              <a:ahLst/>
              <a:cxnLst/>
              <a:rect l="l" t="t" r="r" b="b"/>
              <a:pathLst>
                <a:path w="149225" h="67310">
                  <a:moveTo>
                    <a:pt x="149123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27342" y="21590"/>
                  </a:lnTo>
                  <a:lnTo>
                    <a:pt x="127342" y="67310"/>
                  </a:lnTo>
                  <a:lnTo>
                    <a:pt x="149123" y="67310"/>
                  </a:lnTo>
                  <a:lnTo>
                    <a:pt x="149123" y="21590"/>
                  </a:lnTo>
                  <a:lnTo>
                    <a:pt x="1491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5134657" y="4045239"/>
            <a:ext cx="312420" cy="291465"/>
            <a:chOff x="5134657" y="4045239"/>
            <a:chExt cx="312420" cy="291465"/>
          </a:xfrm>
        </p:grpSpPr>
        <p:sp>
          <p:nvSpPr>
            <p:cNvPr id="15" name="object 15"/>
            <p:cNvSpPr/>
            <p:nvPr/>
          </p:nvSpPr>
          <p:spPr>
            <a:xfrm>
              <a:off x="5359901" y="4045239"/>
              <a:ext cx="87630" cy="291465"/>
            </a:xfrm>
            <a:custGeom>
              <a:avLst/>
              <a:gdLst/>
              <a:ahLst/>
              <a:cxnLst/>
              <a:rect l="l" t="t" r="r" b="b"/>
              <a:pathLst>
                <a:path w="87629" h="291464">
                  <a:moveTo>
                    <a:pt x="87129" y="0"/>
                  </a:moveTo>
                  <a:lnTo>
                    <a:pt x="51971" y="22920"/>
                  </a:lnTo>
                  <a:lnTo>
                    <a:pt x="24151" y="57233"/>
                  </a:lnTo>
                  <a:lnTo>
                    <a:pt x="6037" y="99377"/>
                  </a:lnTo>
                  <a:lnTo>
                    <a:pt x="0" y="145788"/>
                  </a:lnTo>
                  <a:lnTo>
                    <a:pt x="769" y="162242"/>
                  </a:lnTo>
                  <a:lnTo>
                    <a:pt x="12311" y="209835"/>
                  </a:lnTo>
                  <a:lnTo>
                    <a:pt x="36635" y="251528"/>
                  </a:lnTo>
                  <a:lnTo>
                    <a:pt x="65264" y="278345"/>
                  </a:lnTo>
                  <a:lnTo>
                    <a:pt x="87129" y="291261"/>
                  </a:lnTo>
                  <a:lnTo>
                    <a:pt x="87129" y="285403"/>
                  </a:lnTo>
                  <a:lnTo>
                    <a:pt x="79498" y="279841"/>
                  </a:lnTo>
                  <a:lnTo>
                    <a:pt x="72631" y="274142"/>
                  </a:lnTo>
                  <a:lnTo>
                    <a:pt x="48579" y="243623"/>
                  </a:lnTo>
                  <a:lnTo>
                    <a:pt x="35394" y="202374"/>
                  </a:lnTo>
                  <a:lnTo>
                    <a:pt x="30487" y="157725"/>
                  </a:lnTo>
                  <a:lnTo>
                    <a:pt x="30159" y="141315"/>
                  </a:lnTo>
                  <a:lnTo>
                    <a:pt x="30546" y="126009"/>
                  </a:lnTo>
                  <a:lnTo>
                    <a:pt x="36352" y="81982"/>
                  </a:lnTo>
                  <a:lnTo>
                    <a:pt x="49206" y="44934"/>
                  </a:lnTo>
                  <a:lnTo>
                    <a:pt x="77806" y="11685"/>
                  </a:lnTo>
                  <a:lnTo>
                    <a:pt x="87129" y="5858"/>
                  </a:lnTo>
                  <a:lnTo>
                    <a:pt x="871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4657" y="4054445"/>
              <a:ext cx="207651" cy="213426"/>
            </a:xfrm>
            <a:prstGeom prst="rect">
              <a:avLst/>
            </a:prstGeom>
          </p:spPr>
        </p:pic>
      </p:grpSp>
      <p:sp>
        <p:nvSpPr>
          <p:cNvPr id="17" name="object 17"/>
          <p:cNvSpPr/>
          <p:nvPr/>
        </p:nvSpPr>
        <p:spPr>
          <a:xfrm>
            <a:off x="4414774" y="4045241"/>
            <a:ext cx="415925" cy="291465"/>
          </a:xfrm>
          <a:custGeom>
            <a:avLst/>
            <a:gdLst/>
            <a:ahLst/>
            <a:cxnLst/>
            <a:rect l="l" t="t" r="r" b="b"/>
            <a:pathLst>
              <a:path w="415925" h="291464">
                <a:moveTo>
                  <a:pt x="308813" y="9207"/>
                </a:moveTo>
                <a:lnTo>
                  <a:pt x="259295" y="9207"/>
                </a:lnTo>
                <a:lnTo>
                  <a:pt x="133184" y="182740"/>
                </a:lnTo>
                <a:lnTo>
                  <a:pt x="111988" y="9207"/>
                </a:lnTo>
                <a:lnTo>
                  <a:pt x="58724" y="9207"/>
                </a:lnTo>
                <a:lnTo>
                  <a:pt x="57150" y="15062"/>
                </a:lnTo>
                <a:lnTo>
                  <a:pt x="65633" y="16065"/>
                </a:lnTo>
                <a:lnTo>
                  <a:pt x="71450" y="17437"/>
                </a:lnTo>
                <a:lnTo>
                  <a:pt x="77736" y="20891"/>
                </a:lnTo>
                <a:lnTo>
                  <a:pt x="81026" y="24193"/>
                </a:lnTo>
                <a:lnTo>
                  <a:pt x="84493" y="29070"/>
                </a:lnTo>
                <a:lnTo>
                  <a:pt x="38963" y="187934"/>
                </a:lnTo>
                <a:lnTo>
                  <a:pt x="35293" y="199136"/>
                </a:lnTo>
                <a:lnTo>
                  <a:pt x="31788" y="206413"/>
                </a:lnTo>
                <a:lnTo>
                  <a:pt x="23825" y="214439"/>
                </a:lnTo>
                <a:lnTo>
                  <a:pt x="16344" y="216776"/>
                </a:lnTo>
                <a:lnTo>
                  <a:pt x="1727" y="216776"/>
                </a:lnTo>
                <a:lnTo>
                  <a:pt x="0" y="222631"/>
                </a:lnTo>
                <a:lnTo>
                  <a:pt x="70408" y="222631"/>
                </a:lnTo>
                <a:lnTo>
                  <a:pt x="72136" y="216776"/>
                </a:lnTo>
                <a:lnTo>
                  <a:pt x="61239" y="216039"/>
                </a:lnTo>
                <a:lnTo>
                  <a:pt x="54381" y="214655"/>
                </a:lnTo>
                <a:lnTo>
                  <a:pt x="48729" y="210591"/>
                </a:lnTo>
                <a:lnTo>
                  <a:pt x="47307" y="207632"/>
                </a:lnTo>
                <a:lnTo>
                  <a:pt x="47307" y="199898"/>
                </a:lnTo>
                <a:lnTo>
                  <a:pt x="48933" y="192379"/>
                </a:lnTo>
                <a:lnTo>
                  <a:pt x="89916" y="49542"/>
                </a:lnTo>
                <a:lnTo>
                  <a:pt x="111048" y="222631"/>
                </a:lnTo>
                <a:lnTo>
                  <a:pt x="117436" y="222631"/>
                </a:lnTo>
                <a:lnTo>
                  <a:pt x="243230" y="49542"/>
                </a:lnTo>
                <a:lnTo>
                  <a:pt x="204609" y="183819"/>
                </a:lnTo>
                <a:lnTo>
                  <a:pt x="201726" y="192620"/>
                </a:lnTo>
                <a:lnTo>
                  <a:pt x="165938" y="216776"/>
                </a:lnTo>
                <a:lnTo>
                  <a:pt x="164363" y="222631"/>
                </a:lnTo>
                <a:lnTo>
                  <a:pt x="253238" y="222631"/>
                </a:lnTo>
                <a:lnTo>
                  <a:pt x="254647" y="216776"/>
                </a:lnTo>
                <a:lnTo>
                  <a:pt x="242290" y="216776"/>
                </a:lnTo>
                <a:lnTo>
                  <a:pt x="236004" y="215455"/>
                </a:lnTo>
                <a:lnTo>
                  <a:pt x="229196" y="210972"/>
                </a:lnTo>
                <a:lnTo>
                  <a:pt x="227787" y="208280"/>
                </a:lnTo>
                <a:lnTo>
                  <a:pt x="227787" y="200787"/>
                </a:lnTo>
                <a:lnTo>
                  <a:pt x="228942" y="195389"/>
                </a:lnTo>
                <a:lnTo>
                  <a:pt x="231241" y="188544"/>
                </a:lnTo>
                <a:lnTo>
                  <a:pt x="272491" y="44272"/>
                </a:lnTo>
                <a:lnTo>
                  <a:pt x="308813" y="15062"/>
                </a:lnTo>
                <a:lnTo>
                  <a:pt x="308813" y="9207"/>
                </a:lnTo>
                <a:close/>
              </a:path>
              <a:path w="415925" h="291464">
                <a:moveTo>
                  <a:pt x="415645" y="145478"/>
                </a:moveTo>
                <a:lnTo>
                  <a:pt x="408724" y="96901"/>
                </a:lnTo>
                <a:lnTo>
                  <a:pt x="388454" y="52565"/>
                </a:lnTo>
                <a:lnTo>
                  <a:pt x="359981" y="19989"/>
                </a:lnTo>
                <a:lnTo>
                  <a:pt x="328510" y="0"/>
                </a:lnTo>
                <a:lnTo>
                  <a:pt x="328510" y="5867"/>
                </a:lnTo>
                <a:lnTo>
                  <a:pt x="336219" y="11430"/>
                </a:lnTo>
                <a:lnTo>
                  <a:pt x="343115" y="17119"/>
                </a:lnTo>
                <a:lnTo>
                  <a:pt x="367118" y="47599"/>
                </a:lnTo>
                <a:lnTo>
                  <a:pt x="380250" y="88734"/>
                </a:lnTo>
                <a:lnTo>
                  <a:pt x="385165" y="133438"/>
                </a:lnTo>
                <a:lnTo>
                  <a:pt x="385483" y="149796"/>
                </a:lnTo>
                <a:lnTo>
                  <a:pt x="385102" y="165100"/>
                </a:lnTo>
                <a:lnTo>
                  <a:pt x="379374" y="209207"/>
                </a:lnTo>
                <a:lnTo>
                  <a:pt x="366560" y="246278"/>
                </a:lnTo>
                <a:lnTo>
                  <a:pt x="337845" y="279514"/>
                </a:lnTo>
                <a:lnTo>
                  <a:pt x="328510" y="285407"/>
                </a:lnTo>
                <a:lnTo>
                  <a:pt x="328510" y="291261"/>
                </a:lnTo>
                <a:lnTo>
                  <a:pt x="363766" y="268351"/>
                </a:lnTo>
                <a:lnTo>
                  <a:pt x="391566" y="234035"/>
                </a:lnTo>
                <a:lnTo>
                  <a:pt x="409625" y="191884"/>
                </a:lnTo>
                <a:lnTo>
                  <a:pt x="414147" y="169214"/>
                </a:lnTo>
                <a:lnTo>
                  <a:pt x="415645" y="1454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3874521" y="4054445"/>
            <a:ext cx="257810" cy="266700"/>
            <a:chOff x="3874521" y="4054445"/>
            <a:chExt cx="257810" cy="266700"/>
          </a:xfrm>
        </p:grpSpPr>
        <p:sp>
          <p:nvSpPr>
            <p:cNvPr id="19" name="object 19"/>
            <p:cNvSpPr/>
            <p:nvPr/>
          </p:nvSpPr>
          <p:spPr>
            <a:xfrm>
              <a:off x="4083965" y="4236903"/>
              <a:ext cx="48260" cy="83820"/>
            </a:xfrm>
            <a:custGeom>
              <a:avLst/>
              <a:gdLst/>
              <a:ahLst/>
              <a:cxnLst/>
              <a:rect l="l" t="t" r="r" b="b"/>
              <a:pathLst>
                <a:path w="48260" h="83820">
                  <a:moveTo>
                    <a:pt x="27721" y="0"/>
                  </a:moveTo>
                  <a:lnTo>
                    <a:pt x="14900" y="0"/>
                  </a:lnTo>
                  <a:lnTo>
                    <a:pt x="10013" y="1798"/>
                  </a:lnTo>
                  <a:lnTo>
                    <a:pt x="2002" y="8991"/>
                  </a:lnTo>
                  <a:lnTo>
                    <a:pt x="0" y="13309"/>
                  </a:lnTo>
                  <a:lnTo>
                    <a:pt x="0" y="23587"/>
                  </a:lnTo>
                  <a:lnTo>
                    <a:pt x="1572" y="27698"/>
                  </a:lnTo>
                  <a:lnTo>
                    <a:pt x="7863" y="33662"/>
                  </a:lnTo>
                  <a:lnTo>
                    <a:pt x="12100" y="35153"/>
                  </a:lnTo>
                  <a:lnTo>
                    <a:pt x="19596" y="35153"/>
                  </a:lnTo>
                  <a:lnTo>
                    <a:pt x="21659" y="34691"/>
                  </a:lnTo>
                  <a:lnTo>
                    <a:pt x="27628" y="31718"/>
                  </a:lnTo>
                  <a:lnTo>
                    <a:pt x="30234" y="30693"/>
                  </a:lnTo>
                  <a:lnTo>
                    <a:pt x="32189" y="30693"/>
                  </a:lnTo>
                  <a:lnTo>
                    <a:pt x="32952" y="31160"/>
                  </a:lnTo>
                  <a:lnTo>
                    <a:pt x="34698" y="33435"/>
                  </a:lnTo>
                  <a:lnTo>
                    <a:pt x="35186" y="35087"/>
                  </a:lnTo>
                  <a:lnTo>
                    <a:pt x="35186" y="45314"/>
                  </a:lnTo>
                  <a:lnTo>
                    <a:pt x="7916" y="73885"/>
                  </a:lnTo>
                  <a:lnTo>
                    <a:pt x="0" y="76883"/>
                  </a:lnTo>
                  <a:lnTo>
                    <a:pt x="0" y="83696"/>
                  </a:lnTo>
                  <a:lnTo>
                    <a:pt x="36291" y="62118"/>
                  </a:lnTo>
                  <a:lnTo>
                    <a:pt x="47752" y="32485"/>
                  </a:lnTo>
                  <a:lnTo>
                    <a:pt x="47752" y="22686"/>
                  </a:lnTo>
                  <a:lnTo>
                    <a:pt x="45002" y="14822"/>
                  </a:lnTo>
                  <a:lnTo>
                    <a:pt x="33997" y="2965"/>
                  </a:lnTo>
                  <a:lnTo>
                    <a:pt x="277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74521" y="4054445"/>
              <a:ext cx="186156" cy="218447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3209442" y="4045239"/>
            <a:ext cx="605790" cy="291465"/>
            <a:chOff x="3209442" y="4045239"/>
            <a:chExt cx="605790" cy="291465"/>
          </a:xfrm>
        </p:grpSpPr>
        <p:sp>
          <p:nvSpPr>
            <p:cNvPr id="22" name="object 22"/>
            <p:cNvSpPr/>
            <p:nvPr/>
          </p:nvSpPr>
          <p:spPr>
            <a:xfrm>
              <a:off x="3434677" y="4045241"/>
              <a:ext cx="380365" cy="291465"/>
            </a:xfrm>
            <a:custGeom>
              <a:avLst/>
              <a:gdLst/>
              <a:ahLst/>
              <a:cxnLst/>
              <a:rect l="l" t="t" r="r" b="b"/>
              <a:pathLst>
                <a:path w="380364" h="291464">
                  <a:moveTo>
                    <a:pt x="87134" y="0"/>
                  </a:moveTo>
                  <a:lnTo>
                    <a:pt x="51981" y="22923"/>
                  </a:lnTo>
                  <a:lnTo>
                    <a:pt x="24155" y="57238"/>
                  </a:lnTo>
                  <a:lnTo>
                    <a:pt x="6045" y="99377"/>
                  </a:lnTo>
                  <a:lnTo>
                    <a:pt x="0" y="145796"/>
                  </a:lnTo>
                  <a:lnTo>
                    <a:pt x="774" y="162242"/>
                  </a:lnTo>
                  <a:lnTo>
                    <a:pt x="12319" y="209842"/>
                  </a:lnTo>
                  <a:lnTo>
                    <a:pt x="36639" y="251536"/>
                  </a:lnTo>
                  <a:lnTo>
                    <a:pt x="65265" y="278345"/>
                  </a:lnTo>
                  <a:lnTo>
                    <a:pt x="87134" y="291261"/>
                  </a:lnTo>
                  <a:lnTo>
                    <a:pt x="87134" y="285407"/>
                  </a:lnTo>
                  <a:lnTo>
                    <a:pt x="79502" y="279844"/>
                  </a:lnTo>
                  <a:lnTo>
                    <a:pt x="72631" y="274142"/>
                  </a:lnTo>
                  <a:lnTo>
                    <a:pt x="48577" y="243624"/>
                  </a:lnTo>
                  <a:lnTo>
                    <a:pt x="35407" y="202374"/>
                  </a:lnTo>
                  <a:lnTo>
                    <a:pt x="30492" y="157734"/>
                  </a:lnTo>
                  <a:lnTo>
                    <a:pt x="30162" y="141312"/>
                  </a:lnTo>
                  <a:lnTo>
                    <a:pt x="30556" y="126009"/>
                  </a:lnTo>
                  <a:lnTo>
                    <a:pt x="36360" y="81991"/>
                  </a:lnTo>
                  <a:lnTo>
                    <a:pt x="49212" y="44932"/>
                  </a:lnTo>
                  <a:lnTo>
                    <a:pt x="77812" y="11684"/>
                  </a:lnTo>
                  <a:lnTo>
                    <a:pt x="87134" y="5867"/>
                  </a:lnTo>
                  <a:lnTo>
                    <a:pt x="87134" y="0"/>
                  </a:lnTo>
                  <a:close/>
                </a:path>
                <a:path w="380364" h="291464">
                  <a:moveTo>
                    <a:pt x="380352" y="214350"/>
                  </a:moveTo>
                  <a:lnTo>
                    <a:pt x="377609" y="206489"/>
                  </a:lnTo>
                  <a:lnTo>
                    <a:pt x="366598" y="194627"/>
                  </a:lnTo>
                  <a:lnTo>
                    <a:pt x="360324" y="191668"/>
                  </a:lnTo>
                  <a:lnTo>
                    <a:pt x="347510" y="191668"/>
                  </a:lnTo>
                  <a:lnTo>
                    <a:pt x="342620" y="193459"/>
                  </a:lnTo>
                  <a:lnTo>
                    <a:pt x="334606" y="200660"/>
                  </a:lnTo>
                  <a:lnTo>
                    <a:pt x="332600" y="204978"/>
                  </a:lnTo>
                  <a:lnTo>
                    <a:pt x="332600" y="215252"/>
                  </a:lnTo>
                  <a:lnTo>
                    <a:pt x="334175" y="219367"/>
                  </a:lnTo>
                  <a:lnTo>
                    <a:pt x="340474" y="225323"/>
                  </a:lnTo>
                  <a:lnTo>
                    <a:pt x="344703" y="226822"/>
                  </a:lnTo>
                  <a:lnTo>
                    <a:pt x="352196" y="226822"/>
                  </a:lnTo>
                  <a:lnTo>
                    <a:pt x="354266" y="226352"/>
                  </a:lnTo>
                  <a:lnTo>
                    <a:pt x="360235" y="223380"/>
                  </a:lnTo>
                  <a:lnTo>
                    <a:pt x="362839" y="222364"/>
                  </a:lnTo>
                  <a:lnTo>
                    <a:pt x="364794" y="222364"/>
                  </a:lnTo>
                  <a:lnTo>
                    <a:pt x="365556" y="222821"/>
                  </a:lnTo>
                  <a:lnTo>
                    <a:pt x="367296" y="225107"/>
                  </a:lnTo>
                  <a:lnTo>
                    <a:pt x="367792" y="226758"/>
                  </a:lnTo>
                  <a:lnTo>
                    <a:pt x="367792" y="236982"/>
                  </a:lnTo>
                  <a:lnTo>
                    <a:pt x="340512" y="265557"/>
                  </a:lnTo>
                  <a:lnTo>
                    <a:pt x="332600" y="268554"/>
                  </a:lnTo>
                  <a:lnTo>
                    <a:pt x="332600" y="275361"/>
                  </a:lnTo>
                  <a:lnTo>
                    <a:pt x="368896" y="253784"/>
                  </a:lnTo>
                  <a:lnTo>
                    <a:pt x="380352" y="224155"/>
                  </a:lnTo>
                  <a:lnTo>
                    <a:pt x="380352" y="214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41412" y="4054445"/>
              <a:ext cx="197388" cy="21342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09442" y="4054445"/>
              <a:ext cx="207651" cy="213426"/>
            </a:xfrm>
            <a:prstGeom prst="rect">
              <a:avLst/>
            </a:prstGeom>
          </p:spPr>
        </p:pic>
      </p:grpSp>
      <p:sp>
        <p:nvSpPr>
          <p:cNvPr id="25" name="object 25"/>
          <p:cNvSpPr/>
          <p:nvPr/>
        </p:nvSpPr>
        <p:spPr>
          <a:xfrm>
            <a:off x="5485460" y="3591610"/>
            <a:ext cx="415925" cy="291465"/>
          </a:xfrm>
          <a:custGeom>
            <a:avLst/>
            <a:gdLst/>
            <a:ahLst/>
            <a:cxnLst/>
            <a:rect l="l" t="t" r="r" b="b"/>
            <a:pathLst>
              <a:path w="415925" h="291464">
                <a:moveTo>
                  <a:pt x="308813" y="9207"/>
                </a:moveTo>
                <a:lnTo>
                  <a:pt x="259295" y="9207"/>
                </a:lnTo>
                <a:lnTo>
                  <a:pt x="133172" y="182727"/>
                </a:lnTo>
                <a:lnTo>
                  <a:pt x="111988" y="9207"/>
                </a:lnTo>
                <a:lnTo>
                  <a:pt x="58724" y="9207"/>
                </a:lnTo>
                <a:lnTo>
                  <a:pt x="57150" y="15062"/>
                </a:lnTo>
                <a:lnTo>
                  <a:pt x="65633" y="16065"/>
                </a:lnTo>
                <a:lnTo>
                  <a:pt x="71450" y="17437"/>
                </a:lnTo>
                <a:lnTo>
                  <a:pt x="77724" y="20891"/>
                </a:lnTo>
                <a:lnTo>
                  <a:pt x="81026" y="24193"/>
                </a:lnTo>
                <a:lnTo>
                  <a:pt x="84480" y="29070"/>
                </a:lnTo>
                <a:lnTo>
                  <a:pt x="38950" y="187934"/>
                </a:lnTo>
                <a:lnTo>
                  <a:pt x="35293" y="199136"/>
                </a:lnTo>
                <a:lnTo>
                  <a:pt x="31775" y="206413"/>
                </a:lnTo>
                <a:lnTo>
                  <a:pt x="23825" y="214439"/>
                </a:lnTo>
                <a:lnTo>
                  <a:pt x="16332" y="216776"/>
                </a:lnTo>
                <a:lnTo>
                  <a:pt x="1727" y="216776"/>
                </a:lnTo>
                <a:lnTo>
                  <a:pt x="0" y="222631"/>
                </a:lnTo>
                <a:lnTo>
                  <a:pt x="70396" y="222631"/>
                </a:lnTo>
                <a:lnTo>
                  <a:pt x="72123" y="216776"/>
                </a:lnTo>
                <a:lnTo>
                  <a:pt x="61239" y="216039"/>
                </a:lnTo>
                <a:lnTo>
                  <a:pt x="54381" y="214655"/>
                </a:lnTo>
                <a:lnTo>
                  <a:pt x="48717" y="210591"/>
                </a:lnTo>
                <a:lnTo>
                  <a:pt x="47307" y="207632"/>
                </a:lnTo>
                <a:lnTo>
                  <a:pt x="47307" y="199898"/>
                </a:lnTo>
                <a:lnTo>
                  <a:pt x="48933" y="192379"/>
                </a:lnTo>
                <a:lnTo>
                  <a:pt x="89916" y="49542"/>
                </a:lnTo>
                <a:lnTo>
                  <a:pt x="111048" y="222631"/>
                </a:lnTo>
                <a:lnTo>
                  <a:pt x="117424" y="222631"/>
                </a:lnTo>
                <a:lnTo>
                  <a:pt x="243230" y="49542"/>
                </a:lnTo>
                <a:lnTo>
                  <a:pt x="204609" y="183819"/>
                </a:lnTo>
                <a:lnTo>
                  <a:pt x="201726" y="192620"/>
                </a:lnTo>
                <a:lnTo>
                  <a:pt x="165925" y="216776"/>
                </a:lnTo>
                <a:lnTo>
                  <a:pt x="164363" y="222631"/>
                </a:lnTo>
                <a:lnTo>
                  <a:pt x="253225" y="222631"/>
                </a:lnTo>
                <a:lnTo>
                  <a:pt x="254647" y="216776"/>
                </a:lnTo>
                <a:lnTo>
                  <a:pt x="242290" y="216776"/>
                </a:lnTo>
                <a:lnTo>
                  <a:pt x="236004" y="215442"/>
                </a:lnTo>
                <a:lnTo>
                  <a:pt x="229196" y="210972"/>
                </a:lnTo>
                <a:lnTo>
                  <a:pt x="227787" y="208267"/>
                </a:lnTo>
                <a:lnTo>
                  <a:pt x="227787" y="200787"/>
                </a:lnTo>
                <a:lnTo>
                  <a:pt x="228930" y="195389"/>
                </a:lnTo>
                <a:lnTo>
                  <a:pt x="231241" y="188544"/>
                </a:lnTo>
                <a:lnTo>
                  <a:pt x="272478" y="44272"/>
                </a:lnTo>
                <a:lnTo>
                  <a:pt x="308813" y="15062"/>
                </a:lnTo>
                <a:lnTo>
                  <a:pt x="308813" y="9207"/>
                </a:lnTo>
                <a:close/>
              </a:path>
              <a:path w="415925" h="291464">
                <a:moveTo>
                  <a:pt x="415645" y="145478"/>
                </a:moveTo>
                <a:lnTo>
                  <a:pt x="408711" y="96901"/>
                </a:lnTo>
                <a:lnTo>
                  <a:pt x="388454" y="52565"/>
                </a:lnTo>
                <a:lnTo>
                  <a:pt x="359968" y="19989"/>
                </a:lnTo>
                <a:lnTo>
                  <a:pt x="328510" y="0"/>
                </a:lnTo>
                <a:lnTo>
                  <a:pt x="328510" y="5854"/>
                </a:lnTo>
                <a:lnTo>
                  <a:pt x="336207" y="11417"/>
                </a:lnTo>
                <a:lnTo>
                  <a:pt x="343115" y="17119"/>
                </a:lnTo>
                <a:lnTo>
                  <a:pt x="367106" y="47599"/>
                </a:lnTo>
                <a:lnTo>
                  <a:pt x="380238" y="88734"/>
                </a:lnTo>
                <a:lnTo>
                  <a:pt x="385152" y="133438"/>
                </a:lnTo>
                <a:lnTo>
                  <a:pt x="385483" y="149796"/>
                </a:lnTo>
                <a:lnTo>
                  <a:pt x="385102" y="165100"/>
                </a:lnTo>
                <a:lnTo>
                  <a:pt x="379374" y="209207"/>
                </a:lnTo>
                <a:lnTo>
                  <a:pt x="366547" y="246278"/>
                </a:lnTo>
                <a:lnTo>
                  <a:pt x="337832" y="279514"/>
                </a:lnTo>
                <a:lnTo>
                  <a:pt x="328510" y="285407"/>
                </a:lnTo>
                <a:lnTo>
                  <a:pt x="328510" y="291261"/>
                </a:lnTo>
                <a:lnTo>
                  <a:pt x="363766" y="268338"/>
                </a:lnTo>
                <a:lnTo>
                  <a:pt x="391566" y="234035"/>
                </a:lnTo>
                <a:lnTo>
                  <a:pt x="409625" y="191884"/>
                </a:lnTo>
                <a:lnTo>
                  <a:pt x="414134" y="169214"/>
                </a:lnTo>
                <a:lnTo>
                  <a:pt x="415645" y="1454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object 26"/>
          <p:cNvGrpSpPr/>
          <p:nvPr/>
        </p:nvGrpSpPr>
        <p:grpSpPr>
          <a:xfrm>
            <a:off x="4945202" y="3600811"/>
            <a:ext cx="257810" cy="266700"/>
            <a:chOff x="4945202" y="3600811"/>
            <a:chExt cx="257810" cy="266700"/>
          </a:xfrm>
        </p:grpSpPr>
        <p:sp>
          <p:nvSpPr>
            <p:cNvPr id="27" name="object 27"/>
            <p:cNvSpPr/>
            <p:nvPr/>
          </p:nvSpPr>
          <p:spPr>
            <a:xfrm>
              <a:off x="5154645" y="3783270"/>
              <a:ext cx="48260" cy="83820"/>
            </a:xfrm>
            <a:custGeom>
              <a:avLst/>
              <a:gdLst/>
              <a:ahLst/>
              <a:cxnLst/>
              <a:rect l="l" t="t" r="r" b="b"/>
              <a:pathLst>
                <a:path w="48260" h="83820">
                  <a:moveTo>
                    <a:pt x="27721" y="0"/>
                  </a:moveTo>
                  <a:lnTo>
                    <a:pt x="14902" y="0"/>
                  </a:lnTo>
                  <a:lnTo>
                    <a:pt x="10015" y="1798"/>
                  </a:lnTo>
                  <a:lnTo>
                    <a:pt x="2004" y="8990"/>
                  </a:lnTo>
                  <a:lnTo>
                    <a:pt x="0" y="13308"/>
                  </a:lnTo>
                  <a:lnTo>
                    <a:pt x="0" y="23587"/>
                  </a:lnTo>
                  <a:lnTo>
                    <a:pt x="1573" y="27697"/>
                  </a:lnTo>
                  <a:lnTo>
                    <a:pt x="7865" y="33661"/>
                  </a:lnTo>
                  <a:lnTo>
                    <a:pt x="12100" y="35152"/>
                  </a:lnTo>
                  <a:lnTo>
                    <a:pt x="19597" y="35152"/>
                  </a:lnTo>
                  <a:lnTo>
                    <a:pt x="21659" y="34690"/>
                  </a:lnTo>
                  <a:lnTo>
                    <a:pt x="27630" y="31716"/>
                  </a:lnTo>
                  <a:lnTo>
                    <a:pt x="30233" y="30692"/>
                  </a:lnTo>
                  <a:lnTo>
                    <a:pt x="32190" y="30692"/>
                  </a:lnTo>
                  <a:lnTo>
                    <a:pt x="32953" y="31159"/>
                  </a:lnTo>
                  <a:lnTo>
                    <a:pt x="34697" y="33434"/>
                  </a:lnTo>
                  <a:lnTo>
                    <a:pt x="35187" y="35087"/>
                  </a:lnTo>
                  <a:lnTo>
                    <a:pt x="35187" y="45313"/>
                  </a:lnTo>
                  <a:lnTo>
                    <a:pt x="7917" y="73883"/>
                  </a:lnTo>
                  <a:lnTo>
                    <a:pt x="0" y="76881"/>
                  </a:lnTo>
                  <a:lnTo>
                    <a:pt x="0" y="83695"/>
                  </a:lnTo>
                  <a:lnTo>
                    <a:pt x="36294" y="62118"/>
                  </a:lnTo>
                  <a:lnTo>
                    <a:pt x="47754" y="32484"/>
                  </a:lnTo>
                  <a:lnTo>
                    <a:pt x="47754" y="22684"/>
                  </a:lnTo>
                  <a:lnTo>
                    <a:pt x="45002" y="14820"/>
                  </a:lnTo>
                  <a:lnTo>
                    <a:pt x="33996" y="2964"/>
                  </a:lnTo>
                  <a:lnTo>
                    <a:pt x="277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45202" y="3600811"/>
              <a:ext cx="186156" cy="218447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4280123" y="3591605"/>
            <a:ext cx="605790" cy="291465"/>
            <a:chOff x="4280123" y="3591605"/>
            <a:chExt cx="605790" cy="291465"/>
          </a:xfrm>
        </p:grpSpPr>
        <p:sp>
          <p:nvSpPr>
            <p:cNvPr id="30" name="object 30"/>
            <p:cNvSpPr/>
            <p:nvPr/>
          </p:nvSpPr>
          <p:spPr>
            <a:xfrm>
              <a:off x="4505363" y="3591610"/>
              <a:ext cx="380365" cy="291465"/>
            </a:xfrm>
            <a:custGeom>
              <a:avLst/>
              <a:gdLst/>
              <a:ahLst/>
              <a:cxnLst/>
              <a:rect l="l" t="t" r="r" b="b"/>
              <a:pathLst>
                <a:path w="380364" h="291464">
                  <a:moveTo>
                    <a:pt x="87134" y="0"/>
                  </a:moveTo>
                  <a:lnTo>
                    <a:pt x="51968" y="22923"/>
                  </a:lnTo>
                  <a:lnTo>
                    <a:pt x="24155" y="57238"/>
                  </a:lnTo>
                  <a:lnTo>
                    <a:pt x="6032" y="99377"/>
                  </a:lnTo>
                  <a:lnTo>
                    <a:pt x="0" y="145783"/>
                  </a:lnTo>
                  <a:lnTo>
                    <a:pt x="762" y="162242"/>
                  </a:lnTo>
                  <a:lnTo>
                    <a:pt x="12306" y="209842"/>
                  </a:lnTo>
                  <a:lnTo>
                    <a:pt x="36639" y="251536"/>
                  </a:lnTo>
                  <a:lnTo>
                    <a:pt x="65265" y="278345"/>
                  </a:lnTo>
                  <a:lnTo>
                    <a:pt x="87134" y="291261"/>
                  </a:lnTo>
                  <a:lnTo>
                    <a:pt x="87134" y="285407"/>
                  </a:lnTo>
                  <a:lnTo>
                    <a:pt x="79502" y="279844"/>
                  </a:lnTo>
                  <a:lnTo>
                    <a:pt x="72631" y="274142"/>
                  </a:lnTo>
                  <a:lnTo>
                    <a:pt x="48577" y="243624"/>
                  </a:lnTo>
                  <a:lnTo>
                    <a:pt x="35394" y="202374"/>
                  </a:lnTo>
                  <a:lnTo>
                    <a:pt x="30480" y="157721"/>
                  </a:lnTo>
                  <a:lnTo>
                    <a:pt x="30162" y="141312"/>
                  </a:lnTo>
                  <a:lnTo>
                    <a:pt x="30543" y="126009"/>
                  </a:lnTo>
                  <a:lnTo>
                    <a:pt x="36347" y="81978"/>
                  </a:lnTo>
                  <a:lnTo>
                    <a:pt x="49199" y="44932"/>
                  </a:lnTo>
                  <a:lnTo>
                    <a:pt x="77800" y="11684"/>
                  </a:lnTo>
                  <a:lnTo>
                    <a:pt x="87134" y="5854"/>
                  </a:lnTo>
                  <a:lnTo>
                    <a:pt x="87134" y="0"/>
                  </a:lnTo>
                  <a:close/>
                </a:path>
                <a:path w="380364" h="291464">
                  <a:moveTo>
                    <a:pt x="380352" y="214350"/>
                  </a:moveTo>
                  <a:lnTo>
                    <a:pt x="377596" y="206489"/>
                  </a:lnTo>
                  <a:lnTo>
                    <a:pt x="366598" y="194627"/>
                  </a:lnTo>
                  <a:lnTo>
                    <a:pt x="360324" y="191668"/>
                  </a:lnTo>
                  <a:lnTo>
                    <a:pt x="347497" y="191668"/>
                  </a:lnTo>
                  <a:lnTo>
                    <a:pt x="342607" y="193459"/>
                  </a:lnTo>
                  <a:lnTo>
                    <a:pt x="334594" y="200660"/>
                  </a:lnTo>
                  <a:lnTo>
                    <a:pt x="332600" y="204978"/>
                  </a:lnTo>
                  <a:lnTo>
                    <a:pt x="332600" y="215252"/>
                  </a:lnTo>
                  <a:lnTo>
                    <a:pt x="334175" y="219367"/>
                  </a:lnTo>
                  <a:lnTo>
                    <a:pt x="340461" y="225323"/>
                  </a:lnTo>
                  <a:lnTo>
                    <a:pt x="344703" y="226822"/>
                  </a:lnTo>
                  <a:lnTo>
                    <a:pt x="352196" y="226822"/>
                  </a:lnTo>
                  <a:lnTo>
                    <a:pt x="354253" y="226352"/>
                  </a:lnTo>
                  <a:lnTo>
                    <a:pt x="360222" y="223380"/>
                  </a:lnTo>
                  <a:lnTo>
                    <a:pt x="362826" y="222351"/>
                  </a:lnTo>
                  <a:lnTo>
                    <a:pt x="364782" y="222351"/>
                  </a:lnTo>
                  <a:lnTo>
                    <a:pt x="365544" y="222821"/>
                  </a:lnTo>
                  <a:lnTo>
                    <a:pt x="367296" y="225094"/>
                  </a:lnTo>
                  <a:lnTo>
                    <a:pt x="367779" y="226758"/>
                  </a:lnTo>
                  <a:lnTo>
                    <a:pt x="367779" y="236982"/>
                  </a:lnTo>
                  <a:lnTo>
                    <a:pt x="340512" y="265544"/>
                  </a:lnTo>
                  <a:lnTo>
                    <a:pt x="332600" y="268541"/>
                  </a:lnTo>
                  <a:lnTo>
                    <a:pt x="332600" y="275361"/>
                  </a:lnTo>
                  <a:lnTo>
                    <a:pt x="368884" y="253784"/>
                  </a:lnTo>
                  <a:lnTo>
                    <a:pt x="380352" y="224155"/>
                  </a:lnTo>
                  <a:lnTo>
                    <a:pt x="380352" y="214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12092" y="3600811"/>
              <a:ext cx="197387" cy="21342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80123" y="3600811"/>
              <a:ext cx="207651" cy="213424"/>
            </a:xfrm>
            <a:prstGeom prst="rect">
              <a:avLst/>
            </a:prstGeom>
          </p:spPr>
        </p:pic>
      </p:grpSp>
      <p:sp>
        <p:nvSpPr>
          <p:cNvPr id="33" name="object 33"/>
          <p:cNvSpPr/>
          <p:nvPr/>
        </p:nvSpPr>
        <p:spPr>
          <a:xfrm>
            <a:off x="2427566" y="3794150"/>
            <a:ext cx="415925" cy="291465"/>
          </a:xfrm>
          <a:custGeom>
            <a:avLst/>
            <a:gdLst/>
            <a:ahLst/>
            <a:cxnLst/>
            <a:rect l="l" t="t" r="r" b="b"/>
            <a:pathLst>
              <a:path w="415925" h="291464">
                <a:moveTo>
                  <a:pt x="308813" y="9207"/>
                </a:moveTo>
                <a:lnTo>
                  <a:pt x="259295" y="9207"/>
                </a:lnTo>
                <a:lnTo>
                  <a:pt x="133184" y="182740"/>
                </a:lnTo>
                <a:lnTo>
                  <a:pt x="111988" y="9207"/>
                </a:lnTo>
                <a:lnTo>
                  <a:pt x="58724" y="9207"/>
                </a:lnTo>
                <a:lnTo>
                  <a:pt x="57150" y="15074"/>
                </a:lnTo>
                <a:lnTo>
                  <a:pt x="65633" y="16078"/>
                </a:lnTo>
                <a:lnTo>
                  <a:pt x="71450" y="17437"/>
                </a:lnTo>
                <a:lnTo>
                  <a:pt x="77736" y="20891"/>
                </a:lnTo>
                <a:lnTo>
                  <a:pt x="81026" y="24193"/>
                </a:lnTo>
                <a:lnTo>
                  <a:pt x="84480" y="29083"/>
                </a:lnTo>
                <a:lnTo>
                  <a:pt x="38963" y="187947"/>
                </a:lnTo>
                <a:lnTo>
                  <a:pt x="35293" y="199136"/>
                </a:lnTo>
                <a:lnTo>
                  <a:pt x="31788" y="206413"/>
                </a:lnTo>
                <a:lnTo>
                  <a:pt x="23825" y="214452"/>
                </a:lnTo>
                <a:lnTo>
                  <a:pt x="16332" y="216776"/>
                </a:lnTo>
                <a:lnTo>
                  <a:pt x="1727" y="216776"/>
                </a:lnTo>
                <a:lnTo>
                  <a:pt x="0" y="222643"/>
                </a:lnTo>
                <a:lnTo>
                  <a:pt x="70396" y="222643"/>
                </a:lnTo>
                <a:lnTo>
                  <a:pt x="72123" y="216776"/>
                </a:lnTo>
                <a:lnTo>
                  <a:pt x="61239" y="216052"/>
                </a:lnTo>
                <a:lnTo>
                  <a:pt x="54381" y="214668"/>
                </a:lnTo>
                <a:lnTo>
                  <a:pt x="48717" y="210591"/>
                </a:lnTo>
                <a:lnTo>
                  <a:pt x="47307" y="207632"/>
                </a:lnTo>
                <a:lnTo>
                  <a:pt x="47307" y="199910"/>
                </a:lnTo>
                <a:lnTo>
                  <a:pt x="48933" y="192379"/>
                </a:lnTo>
                <a:lnTo>
                  <a:pt x="89916" y="49542"/>
                </a:lnTo>
                <a:lnTo>
                  <a:pt x="111048" y="222643"/>
                </a:lnTo>
                <a:lnTo>
                  <a:pt x="117436" y="222643"/>
                </a:lnTo>
                <a:lnTo>
                  <a:pt x="243230" y="49542"/>
                </a:lnTo>
                <a:lnTo>
                  <a:pt x="204609" y="183819"/>
                </a:lnTo>
                <a:lnTo>
                  <a:pt x="201726" y="192620"/>
                </a:lnTo>
                <a:lnTo>
                  <a:pt x="165938" y="216776"/>
                </a:lnTo>
                <a:lnTo>
                  <a:pt x="164363" y="222643"/>
                </a:lnTo>
                <a:lnTo>
                  <a:pt x="253238" y="222643"/>
                </a:lnTo>
                <a:lnTo>
                  <a:pt x="254647" y="216776"/>
                </a:lnTo>
                <a:lnTo>
                  <a:pt x="242290" y="216776"/>
                </a:lnTo>
                <a:lnTo>
                  <a:pt x="236004" y="215455"/>
                </a:lnTo>
                <a:lnTo>
                  <a:pt x="229196" y="210972"/>
                </a:lnTo>
                <a:lnTo>
                  <a:pt x="227787" y="208280"/>
                </a:lnTo>
                <a:lnTo>
                  <a:pt x="227787" y="200787"/>
                </a:lnTo>
                <a:lnTo>
                  <a:pt x="228942" y="195402"/>
                </a:lnTo>
                <a:lnTo>
                  <a:pt x="231241" y="188544"/>
                </a:lnTo>
                <a:lnTo>
                  <a:pt x="272478" y="44284"/>
                </a:lnTo>
                <a:lnTo>
                  <a:pt x="308813" y="15074"/>
                </a:lnTo>
                <a:lnTo>
                  <a:pt x="308813" y="9207"/>
                </a:lnTo>
                <a:close/>
              </a:path>
              <a:path w="415925" h="291464">
                <a:moveTo>
                  <a:pt x="415645" y="145478"/>
                </a:moveTo>
                <a:lnTo>
                  <a:pt x="408724" y="96913"/>
                </a:lnTo>
                <a:lnTo>
                  <a:pt x="388454" y="52565"/>
                </a:lnTo>
                <a:lnTo>
                  <a:pt x="359981" y="20002"/>
                </a:lnTo>
                <a:lnTo>
                  <a:pt x="328510" y="0"/>
                </a:lnTo>
                <a:lnTo>
                  <a:pt x="328510" y="5867"/>
                </a:lnTo>
                <a:lnTo>
                  <a:pt x="336207" y="11430"/>
                </a:lnTo>
                <a:lnTo>
                  <a:pt x="343115" y="17132"/>
                </a:lnTo>
                <a:lnTo>
                  <a:pt x="367118" y="47599"/>
                </a:lnTo>
                <a:lnTo>
                  <a:pt x="380250" y="88734"/>
                </a:lnTo>
                <a:lnTo>
                  <a:pt x="385152" y="133438"/>
                </a:lnTo>
                <a:lnTo>
                  <a:pt x="385483" y="149796"/>
                </a:lnTo>
                <a:lnTo>
                  <a:pt x="385102" y="165112"/>
                </a:lnTo>
                <a:lnTo>
                  <a:pt x="379374" y="209207"/>
                </a:lnTo>
                <a:lnTo>
                  <a:pt x="366547" y="246291"/>
                </a:lnTo>
                <a:lnTo>
                  <a:pt x="337845" y="279527"/>
                </a:lnTo>
                <a:lnTo>
                  <a:pt x="328510" y="285407"/>
                </a:lnTo>
                <a:lnTo>
                  <a:pt x="328510" y="291274"/>
                </a:lnTo>
                <a:lnTo>
                  <a:pt x="363766" y="268351"/>
                </a:lnTo>
                <a:lnTo>
                  <a:pt x="391566" y="234035"/>
                </a:lnTo>
                <a:lnTo>
                  <a:pt x="409625" y="191897"/>
                </a:lnTo>
                <a:lnTo>
                  <a:pt x="414134" y="169214"/>
                </a:lnTo>
                <a:lnTo>
                  <a:pt x="415645" y="1454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4" name="object 34"/>
          <p:cNvGrpSpPr/>
          <p:nvPr/>
        </p:nvGrpSpPr>
        <p:grpSpPr>
          <a:xfrm>
            <a:off x="1887311" y="3803356"/>
            <a:ext cx="257810" cy="266700"/>
            <a:chOff x="1887311" y="3803356"/>
            <a:chExt cx="257810" cy="266700"/>
          </a:xfrm>
        </p:grpSpPr>
        <p:sp>
          <p:nvSpPr>
            <p:cNvPr id="35" name="object 35"/>
            <p:cNvSpPr/>
            <p:nvPr/>
          </p:nvSpPr>
          <p:spPr>
            <a:xfrm>
              <a:off x="2096755" y="3985814"/>
              <a:ext cx="48260" cy="83820"/>
            </a:xfrm>
            <a:custGeom>
              <a:avLst/>
              <a:gdLst/>
              <a:ahLst/>
              <a:cxnLst/>
              <a:rect l="l" t="t" r="r" b="b"/>
              <a:pathLst>
                <a:path w="48260" h="83820">
                  <a:moveTo>
                    <a:pt x="27720" y="0"/>
                  </a:moveTo>
                  <a:lnTo>
                    <a:pt x="14900" y="0"/>
                  </a:lnTo>
                  <a:lnTo>
                    <a:pt x="10013" y="1798"/>
                  </a:lnTo>
                  <a:lnTo>
                    <a:pt x="2002" y="8990"/>
                  </a:lnTo>
                  <a:lnTo>
                    <a:pt x="0" y="13308"/>
                  </a:lnTo>
                  <a:lnTo>
                    <a:pt x="0" y="23587"/>
                  </a:lnTo>
                  <a:lnTo>
                    <a:pt x="1572" y="27698"/>
                  </a:lnTo>
                  <a:lnTo>
                    <a:pt x="7865" y="33661"/>
                  </a:lnTo>
                  <a:lnTo>
                    <a:pt x="12099" y="35152"/>
                  </a:lnTo>
                  <a:lnTo>
                    <a:pt x="19596" y="35152"/>
                  </a:lnTo>
                  <a:lnTo>
                    <a:pt x="21659" y="34690"/>
                  </a:lnTo>
                  <a:lnTo>
                    <a:pt x="27628" y="31716"/>
                  </a:lnTo>
                  <a:lnTo>
                    <a:pt x="30233" y="30693"/>
                  </a:lnTo>
                  <a:lnTo>
                    <a:pt x="32189" y="30693"/>
                  </a:lnTo>
                  <a:lnTo>
                    <a:pt x="32952" y="31159"/>
                  </a:lnTo>
                  <a:lnTo>
                    <a:pt x="34697" y="33434"/>
                  </a:lnTo>
                  <a:lnTo>
                    <a:pt x="35186" y="35086"/>
                  </a:lnTo>
                  <a:lnTo>
                    <a:pt x="35186" y="45313"/>
                  </a:lnTo>
                  <a:lnTo>
                    <a:pt x="7916" y="73884"/>
                  </a:lnTo>
                  <a:lnTo>
                    <a:pt x="0" y="76883"/>
                  </a:lnTo>
                  <a:lnTo>
                    <a:pt x="0" y="83695"/>
                  </a:lnTo>
                  <a:lnTo>
                    <a:pt x="36292" y="62118"/>
                  </a:lnTo>
                  <a:lnTo>
                    <a:pt x="47753" y="32485"/>
                  </a:lnTo>
                  <a:lnTo>
                    <a:pt x="47753" y="22684"/>
                  </a:lnTo>
                  <a:lnTo>
                    <a:pt x="45002" y="14820"/>
                  </a:lnTo>
                  <a:lnTo>
                    <a:pt x="33997" y="2964"/>
                  </a:lnTo>
                  <a:lnTo>
                    <a:pt x="277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87311" y="3803356"/>
              <a:ext cx="186156" cy="218447"/>
            </a:xfrm>
            <a:prstGeom prst="rect">
              <a:avLst/>
            </a:prstGeom>
          </p:spPr>
        </p:pic>
      </p:grpSp>
      <p:sp>
        <p:nvSpPr>
          <p:cNvPr id="37" name="object 37"/>
          <p:cNvSpPr/>
          <p:nvPr/>
        </p:nvSpPr>
        <p:spPr>
          <a:xfrm>
            <a:off x="1782588" y="3793313"/>
            <a:ext cx="12700" cy="293370"/>
          </a:xfrm>
          <a:custGeom>
            <a:avLst/>
            <a:gdLst/>
            <a:ahLst/>
            <a:cxnLst/>
            <a:rect l="l" t="t" r="r" b="b"/>
            <a:pathLst>
              <a:path w="12700" h="293370">
                <a:moveTo>
                  <a:pt x="12567" y="0"/>
                </a:moveTo>
                <a:lnTo>
                  <a:pt x="0" y="0"/>
                </a:lnTo>
                <a:lnTo>
                  <a:pt x="0" y="292936"/>
                </a:lnTo>
                <a:lnTo>
                  <a:pt x="12567" y="292936"/>
                </a:lnTo>
                <a:lnTo>
                  <a:pt x="125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8" name="object 38"/>
          <p:cNvGrpSpPr/>
          <p:nvPr/>
        </p:nvGrpSpPr>
        <p:grpSpPr>
          <a:xfrm>
            <a:off x="1161913" y="3794150"/>
            <a:ext cx="529590" cy="291465"/>
            <a:chOff x="1161913" y="3794150"/>
            <a:chExt cx="529590" cy="291465"/>
          </a:xfrm>
        </p:grpSpPr>
        <p:sp>
          <p:nvSpPr>
            <p:cNvPr id="39" name="object 39"/>
            <p:cNvSpPr/>
            <p:nvPr/>
          </p:nvSpPr>
          <p:spPr>
            <a:xfrm>
              <a:off x="1387157" y="3794150"/>
              <a:ext cx="87630" cy="291465"/>
            </a:xfrm>
            <a:custGeom>
              <a:avLst/>
              <a:gdLst/>
              <a:ahLst/>
              <a:cxnLst/>
              <a:rect l="l" t="t" r="r" b="b"/>
              <a:pathLst>
                <a:path w="87630" h="291464">
                  <a:moveTo>
                    <a:pt x="87129" y="0"/>
                  </a:moveTo>
                  <a:lnTo>
                    <a:pt x="51972" y="22920"/>
                  </a:lnTo>
                  <a:lnTo>
                    <a:pt x="24151" y="57233"/>
                  </a:lnTo>
                  <a:lnTo>
                    <a:pt x="6037" y="99377"/>
                  </a:lnTo>
                  <a:lnTo>
                    <a:pt x="0" y="145788"/>
                  </a:lnTo>
                  <a:lnTo>
                    <a:pt x="769" y="162242"/>
                  </a:lnTo>
                  <a:lnTo>
                    <a:pt x="12311" y="209835"/>
                  </a:lnTo>
                  <a:lnTo>
                    <a:pt x="36636" y="251529"/>
                  </a:lnTo>
                  <a:lnTo>
                    <a:pt x="65265" y="278346"/>
                  </a:lnTo>
                  <a:lnTo>
                    <a:pt x="87129" y="291263"/>
                  </a:lnTo>
                  <a:lnTo>
                    <a:pt x="87129" y="285404"/>
                  </a:lnTo>
                  <a:lnTo>
                    <a:pt x="79499" y="279842"/>
                  </a:lnTo>
                  <a:lnTo>
                    <a:pt x="72631" y="274142"/>
                  </a:lnTo>
                  <a:lnTo>
                    <a:pt x="48579" y="243623"/>
                  </a:lnTo>
                  <a:lnTo>
                    <a:pt x="35396" y="202374"/>
                  </a:lnTo>
                  <a:lnTo>
                    <a:pt x="30487" y="157726"/>
                  </a:lnTo>
                  <a:lnTo>
                    <a:pt x="30159" y="141315"/>
                  </a:lnTo>
                  <a:lnTo>
                    <a:pt x="30547" y="126009"/>
                  </a:lnTo>
                  <a:lnTo>
                    <a:pt x="36352" y="81983"/>
                  </a:lnTo>
                  <a:lnTo>
                    <a:pt x="49207" y="44934"/>
                  </a:lnTo>
                  <a:lnTo>
                    <a:pt x="77806" y="11685"/>
                  </a:lnTo>
                  <a:lnTo>
                    <a:pt x="87129" y="5858"/>
                  </a:lnTo>
                  <a:lnTo>
                    <a:pt x="871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93883" y="3803356"/>
              <a:ext cx="197388" cy="21342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61913" y="3803356"/>
              <a:ext cx="207650" cy="213426"/>
            </a:xfrm>
            <a:prstGeom prst="rect">
              <a:avLst/>
            </a:prstGeom>
          </p:spPr>
        </p:pic>
      </p:grpSp>
      <p:sp>
        <p:nvSpPr>
          <p:cNvPr id="42" name="object 42"/>
          <p:cNvSpPr/>
          <p:nvPr/>
        </p:nvSpPr>
        <p:spPr>
          <a:xfrm>
            <a:off x="6356845" y="4157979"/>
            <a:ext cx="149225" cy="67310"/>
          </a:xfrm>
          <a:custGeom>
            <a:avLst/>
            <a:gdLst/>
            <a:ahLst/>
            <a:cxnLst/>
            <a:rect l="l" t="t" r="r" b="b"/>
            <a:pathLst>
              <a:path w="149225" h="67310">
                <a:moveTo>
                  <a:pt x="149123" y="0"/>
                </a:moveTo>
                <a:lnTo>
                  <a:pt x="0" y="0"/>
                </a:lnTo>
                <a:lnTo>
                  <a:pt x="0" y="21590"/>
                </a:lnTo>
                <a:lnTo>
                  <a:pt x="127355" y="21590"/>
                </a:lnTo>
                <a:lnTo>
                  <a:pt x="127355" y="67310"/>
                </a:lnTo>
                <a:lnTo>
                  <a:pt x="149123" y="67310"/>
                </a:lnTo>
                <a:lnTo>
                  <a:pt x="149123" y="21590"/>
                </a:lnTo>
                <a:lnTo>
                  <a:pt x="1491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910010" y="4116069"/>
            <a:ext cx="149225" cy="152400"/>
          </a:xfrm>
          <a:custGeom>
            <a:avLst/>
            <a:gdLst/>
            <a:ahLst/>
            <a:cxnLst/>
            <a:rect l="l" t="t" r="r" b="b"/>
            <a:pathLst>
              <a:path w="149225" h="152400">
                <a:moveTo>
                  <a:pt x="149123" y="64770"/>
                </a:moveTo>
                <a:lnTo>
                  <a:pt x="85445" y="64770"/>
                </a:lnTo>
                <a:lnTo>
                  <a:pt x="85445" y="0"/>
                </a:lnTo>
                <a:lnTo>
                  <a:pt x="63665" y="0"/>
                </a:lnTo>
                <a:lnTo>
                  <a:pt x="63665" y="64770"/>
                </a:lnTo>
                <a:lnTo>
                  <a:pt x="0" y="64770"/>
                </a:lnTo>
                <a:lnTo>
                  <a:pt x="0" y="86360"/>
                </a:lnTo>
                <a:lnTo>
                  <a:pt x="63665" y="86360"/>
                </a:lnTo>
                <a:lnTo>
                  <a:pt x="63665" y="152400"/>
                </a:lnTo>
                <a:lnTo>
                  <a:pt x="85445" y="152400"/>
                </a:lnTo>
                <a:lnTo>
                  <a:pt x="85445" y="86360"/>
                </a:lnTo>
                <a:lnTo>
                  <a:pt x="149123" y="86360"/>
                </a:lnTo>
                <a:lnTo>
                  <a:pt x="149123" y="647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215485" y="4157979"/>
            <a:ext cx="149225" cy="67310"/>
          </a:xfrm>
          <a:custGeom>
            <a:avLst/>
            <a:gdLst/>
            <a:ahLst/>
            <a:cxnLst/>
            <a:rect l="l" t="t" r="r" b="b"/>
            <a:pathLst>
              <a:path w="149225" h="67310">
                <a:moveTo>
                  <a:pt x="149136" y="0"/>
                </a:moveTo>
                <a:lnTo>
                  <a:pt x="0" y="0"/>
                </a:lnTo>
                <a:lnTo>
                  <a:pt x="0" y="21590"/>
                </a:lnTo>
                <a:lnTo>
                  <a:pt x="127342" y="21590"/>
                </a:lnTo>
                <a:lnTo>
                  <a:pt x="127342" y="67310"/>
                </a:lnTo>
                <a:lnTo>
                  <a:pt x="149136" y="67310"/>
                </a:lnTo>
                <a:lnTo>
                  <a:pt x="149136" y="21590"/>
                </a:lnTo>
                <a:lnTo>
                  <a:pt x="1491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286171" y="3704589"/>
            <a:ext cx="149225" cy="67310"/>
          </a:xfrm>
          <a:custGeom>
            <a:avLst/>
            <a:gdLst/>
            <a:ahLst/>
            <a:cxnLst/>
            <a:rect l="l" t="t" r="r" b="b"/>
            <a:pathLst>
              <a:path w="149225" h="67310">
                <a:moveTo>
                  <a:pt x="149123" y="0"/>
                </a:moveTo>
                <a:lnTo>
                  <a:pt x="0" y="0"/>
                </a:lnTo>
                <a:lnTo>
                  <a:pt x="0" y="21590"/>
                </a:lnTo>
                <a:lnTo>
                  <a:pt x="127342" y="21590"/>
                </a:lnTo>
                <a:lnTo>
                  <a:pt x="127342" y="67310"/>
                </a:lnTo>
                <a:lnTo>
                  <a:pt x="149123" y="67310"/>
                </a:lnTo>
                <a:lnTo>
                  <a:pt x="149123" y="21590"/>
                </a:lnTo>
                <a:lnTo>
                  <a:pt x="1491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942907" y="3908818"/>
            <a:ext cx="149225" cy="64769"/>
          </a:xfrm>
          <a:custGeom>
            <a:avLst/>
            <a:gdLst/>
            <a:ahLst/>
            <a:cxnLst/>
            <a:rect l="l" t="t" r="r" b="b"/>
            <a:pathLst>
              <a:path w="149225" h="64770">
                <a:moveTo>
                  <a:pt x="149123" y="42684"/>
                </a:moveTo>
                <a:lnTo>
                  <a:pt x="0" y="42684"/>
                </a:lnTo>
                <a:lnTo>
                  <a:pt x="0" y="64452"/>
                </a:lnTo>
                <a:lnTo>
                  <a:pt x="149123" y="64452"/>
                </a:lnTo>
                <a:lnTo>
                  <a:pt x="149123" y="42684"/>
                </a:lnTo>
                <a:close/>
              </a:path>
              <a:path w="149225" h="64770">
                <a:moveTo>
                  <a:pt x="149123" y="0"/>
                </a:moveTo>
                <a:lnTo>
                  <a:pt x="0" y="0"/>
                </a:lnTo>
                <a:lnTo>
                  <a:pt x="0" y="21767"/>
                </a:lnTo>
                <a:lnTo>
                  <a:pt x="149123" y="21767"/>
                </a:lnTo>
                <a:lnTo>
                  <a:pt x="1491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228278" y="3906519"/>
            <a:ext cx="149225" cy="67310"/>
          </a:xfrm>
          <a:custGeom>
            <a:avLst/>
            <a:gdLst/>
            <a:ahLst/>
            <a:cxnLst/>
            <a:rect l="l" t="t" r="r" b="b"/>
            <a:pathLst>
              <a:path w="149225" h="67310">
                <a:moveTo>
                  <a:pt x="149123" y="0"/>
                </a:moveTo>
                <a:lnTo>
                  <a:pt x="0" y="0"/>
                </a:lnTo>
                <a:lnTo>
                  <a:pt x="0" y="22860"/>
                </a:lnTo>
                <a:lnTo>
                  <a:pt x="127342" y="22860"/>
                </a:lnTo>
                <a:lnTo>
                  <a:pt x="127342" y="67310"/>
                </a:lnTo>
                <a:lnTo>
                  <a:pt x="149123" y="67310"/>
                </a:lnTo>
                <a:lnTo>
                  <a:pt x="149123" y="22860"/>
                </a:lnTo>
                <a:lnTo>
                  <a:pt x="1491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8" name="object 48"/>
          <p:cNvGrpSpPr/>
          <p:nvPr/>
        </p:nvGrpSpPr>
        <p:grpSpPr>
          <a:xfrm>
            <a:off x="7055987" y="5686877"/>
            <a:ext cx="540385" cy="540385"/>
            <a:chOff x="7055987" y="5686877"/>
            <a:chExt cx="540385" cy="540385"/>
          </a:xfrm>
        </p:grpSpPr>
        <p:sp>
          <p:nvSpPr>
            <p:cNvPr id="49" name="object 49"/>
            <p:cNvSpPr/>
            <p:nvPr/>
          </p:nvSpPr>
          <p:spPr>
            <a:xfrm>
              <a:off x="7062266" y="5693155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4"/>
                  </a:lnTo>
                  <a:lnTo>
                    <a:pt x="16496" y="171710"/>
                  </a:lnTo>
                  <a:lnTo>
                    <a:pt x="4248" y="216330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1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3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30"/>
                  </a:lnTo>
                  <a:lnTo>
                    <a:pt x="510858" y="171710"/>
                  </a:lnTo>
                  <a:lnTo>
                    <a:pt x="491355" y="130624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3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062266" y="569315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7809280" y="4330446"/>
            <a:ext cx="1595120" cy="1896745"/>
            <a:chOff x="7809280" y="4330446"/>
            <a:chExt cx="1595120" cy="1896745"/>
          </a:xfrm>
        </p:grpSpPr>
        <p:sp>
          <p:nvSpPr>
            <p:cNvPr id="52" name="object 52"/>
            <p:cNvSpPr/>
            <p:nvPr/>
          </p:nvSpPr>
          <p:spPr>
            <a:xfrm>
              <a:off x="8870340" y="569315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4"/>
                  </a:lnTo>
                  <a:lnTo>
                    <a:pt x="16496" y="171710"/>
                  </a:lnTo>
                  <a:lnTo>
                    <a:pt x="4248" y="216330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1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2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30"/>
                  </a:lnTo>
                  <a:lnTo>
                    <a:pt x="510858" y="171710"/>
                  </a:lnTo>
                  <a:lnTo>
                    <a:pt x="491355" y="130624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2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870340" y="569315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815630" y="433679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4"/>
                  </a:lnTo>
                  <a:lnTo>
                    <a:pt x="16496" y="171710"/>
                  </a:lnTo>
                  <a:lnTo>
                    <a:pt x="4248" y="216330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50"/>
                  </a:lnTo>
                  <a:lnTo>
                    <a:pt x="62013" y="433659"/>
                  </a:lnTo>
                  <a:lnTo>
                    <a:pt x="93793" y="465446"/>
                  </a:lnTo>
                  <a:lnTo>
                    <a:pt x="130594" y="491466"/>
                  </a:lnTo>
                  <a:lnTo>
                    <a:pt x="171671" y="510974"/>
                  </a:lnTo>
                  <a:lnTo>
                    <a:pt x="216281" y="523225"/>
                  </a:lnTo>
                  <a:lnTo>
                    <a:pt x="263677" y="527474"/>
                  </a:lnTo>
                  <a:lnTo>
                    <a:pt x="311073" y="523225"/>
                  </a:lnTo>
                  <a:lnTo>
                    <a:pt x="355683" y="510974"/>
                  </a:lnTo>
                  <a:lnTo>
                    <a:pt x="396760" y="491466"/>
                  </a:lnTo>
                  <a:lnTo>
                    <a:pt x="433561" y="465446"/>
                  </a:lnTo>
                  <a:lnTo>
                    <a:pt x="465341" y="433659"/>
                  </a:lnTo>
                  <a:lnTo>
                    <a:pt x="491355" y="396850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30"/>
                  </a:lnTo>
                  <a:lnTo>
                    <a:pt x="510858" y="171710"/>
                  </a:lnTo>
                  <a:lnTo>
                    <a:pt x="491355" y="130624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3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815630" y="433679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7968669" y="4444662"/>
            <a:ext cx="17780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15" dirty="0">
                <a:latin typeface="Calibri"/>
                <a:cs typeface="Calibri"/>
              </a:rPr>
              <a:t>A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215306" y="5801022"/>
            <a:ext cx="10858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5" dirty="0">
                <a:latin typeface="Calibri"/>
                <a:cs typeface="Calibri"/>
              </a:rPr>
              <a:t>J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9023380" y="5801022"/>
            <a:ext cx="24511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20" dirty="0">
                <a:latin typeface="Calibri"/>
                <a:cs typeface="Calibri"/>
              </a:rPr>
              <a:t>M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6754571" y="2974086"/>
            <a:ext cx="2348230" cy="540385"/>
            <a:chOff x="6754571" y="2974086"/>
            <a:chExt cx="2348230" cy="540385"/>
          </a:xfrm>
        </p:grpSpPr>
        <p:sp>
          <p:nvSpPr>
            <p:cNvPr id="60" name="object 60"/>
            <p:cNvSpPr/>
            <p:nvPr/>
          </p:nvSpPr>
          <p:spPr>
            <a:xfrm>
              <a:off x="6760921" y="298043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263677" y="0"/>
                  </a:moveTo>
                  <a:lnTo>
                    <a:pt x="216280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4"/>
                  </a:lnTo>
                  <a:lnTo>
                    <a:pt x="16496" y="171710"/>
                  </a:lnTo>
                  <a:lnTo>
                    <a:pt x="4248" y="216330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0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2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30"/>
                  </a:lnTo>
                  <a:lnTo>
                    <a:pt x="510858" y="171710"/>
                  </a:lnTo>
                  <a:lnTo>
                    <a:pt x="491355" y="130624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2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760921" y="298043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0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0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568994" y="298043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4"/>
                  </a:lnTo>
                  <a:lnTo>
                    <a:pt x="16496" y="171710"/>
                  </a:lnTo>
                  <a:lnTo>
                    <a:pt x="4248" y="216330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1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2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30"/>
                  </a:lnTo>
                  <a:lnTo>
                    <a:pt x="510858" y="171710"/>
                  </a:lnTo>
                  <a:lnTo>
                    <a:pt x="491355" y="130624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2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568994" y="298043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6913960" y="3088302"/>
            <a:ext cx="16637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15" dirty="0">
                <a:latin typeface="Calibri"/>
                <a:cs typeface="Calibri"/>
              </a:rPr>
              <a:t>B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722035" y="3088302"/>
            <a:ext cx="14795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10" dirty="0">
                <a:latin typeface="Calibri"/>
                <a:cs typeface="Calibri"/>
              </a:rPr>
              <a:t>E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7131324" y="3501630"/>
            <a:ext cx="1907539" cy="2209800"/>
            <a:chOff x="7131324" y="3501630"/>
            <a:chExt cx="1907539" cy="2209800"/>
          </a:xfrm>
        </p:grpSpPr>
        <p:sp>
          <p:nvSpPr>
            <p:cNvPr id="67" name="object 67"/>
            <p:cNvSpPr/>
            <p:nvPr/>
          </p:nvSpPr>
          <p:spPr>
            <a:xfrm>
              <a:off x="7137603" y="3507909"/>
              <a:ext cx="753745" cy="829310"/>
            </a:xfrm>
            <a:custGeom>
              <a:avLst/>
              <a:gdLst/>
              <a:ahLst/>
              <a:cxnLst/>
              <a:rect l="l" t="t" r="r" b="b"/>
              <a:pathLst>
                <a:path w="753745" h="829310">
                  <a:moveTo>
                    <a:pt x="0" y="0"/>
                  </a:moveTo>
                  <a:lnTo>
                    <a:pt x="753364" y="828886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829309" y="4274281"/>
              <a:ext cx="78740" cy="81280"/>
            </a:xfrm>
            <a:custGeom>
              <a:avLst/>
              <a:gdLst/>
              <a:ahLst/>
              <a:cxnLst/>
              <a:rect l="l" t="t" r="r" b="b"/>
              <a:pathLst>
                <a:path w="78740" h="81279">
                  <a:moveTo>
                    <a:pt x="55745" y="0"/>
                  </a:moveTo>
                  <a:lnTo>
                    <a:pt x="0" y="50686"/>
                  </a:lnTo>
                  <a:lnTo>
                    <a:pt x="78549" y="81100"/>
                  </a:lnTo>
                  <a:lnTo>
                    <a:pt x="557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267649" y="3507909"/>
              <a:ext cx="527685" cy="829310"/>
            </a:xfrm>
            <a:custGeom>
              <a:avLst/>
              <a:gdLst/>
              <a:ahLst/>
              <a:cxnLst/>
              <a:rect l="l" t="t" r="r" b="b"/>
              <a:pathLst>
                <a:path w="527684" h="829310">
                  <a:moveTo>
                    <a:pt x="527354" y="0"/>
                  </a:moveTo>
                  <a:lnTo>
                    <a:pt x="0" y="828886"/>
                  </a:lnTo>
                </a:path>
              </a:pathLst>
            </a:custGeom>
            <a:ln w="12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254166" y="4274186"/>
              <a:ext cx="72390" cy="83820"/>
            </a:xfrm>
            <a:custGeom>
              <a:avLst/>
              <a:gdLst/>
              <a:ahLst/>
              <a:cxnLst/>
              <a:rect l="l" t="t" r="r" b="b"/>
              <a:pathLst>
                <a:path w="72390" h="83820">
                  <a:moveTo>
                    <a:pt x="8667" y="0"/>
                  </a:moveTo>
                  <a:lnTo>
                    <a:pt x="0" y="83800"/>
                  </a:lnTo>
                  <a:lnTo>
                    <a:pt x="72226" y="40455"/>
                  </a:lnTo>
                  <a:lnTo>
                    <a:pt x="86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192312" y="4864269"/>
              <a:ext cx="829310" cy="829310"/>
            </a:xfrm>
            <a:custGeom>
              <a:avLst/>
              <a:gdLst/>
              <a:ahLst/>
              <a:cxnLst/>
              <a:rect l="l" t="t" r="r" b="b"/>
              <a:pathLst>
                <a:path w="829309" h="829310">
                  <a:moveTo>
                    <a:pt x="0" y="0"/>
                  </a:moveTo>
                  <a:lnTo>
                    <a:pt x="828700" y="828886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958863" y="5630993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53271" y="0"/>
                  </a:moveTo>
                  <a:lnTo>
                    <a:pt x="0" y="53282"/>
                  </a:lnTo>
                  <a:lnTo>
                    <a:pt x="79907" y="79923"/>
                  </a:lnTo>
                  <a:lnTo>
                    <a:pt x="532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514285" y="4864269"/>
              <a:ext cx="377190" cy="753745"/>
            </a:xfrm>
            <a:custGeom>
              <a:avLst/>
              <a:gdLst/>
              <a:ahLst/>
              <a:cxnLst/>
              <a:rect l="l" t="t" r="r" b="b"/>
              <a:pathLst>
                <a:path w="377190" h="753745">
                  <a:moveTo>
                    <a:pt x="376682" y="0"/>
                  </a:moveTo>
                  <a:lnTo>
                    <a:pt x="0" y="753533"/>
                  </a:lnTo>
                </a:path>
              </a:pathLst>
            </a:custGeom>
            <a:ln w="12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503054" y="5556021"/>
              <a:ext cx="67945" cy="84455"/>
            </a:xfrm>
            <a:custGeom>
              <a:avLst/>
              <a:gdLst/>
              <a:ahLst/>
              <a:cxnLst/>
              <a:rect l="l" t="t" r="r" b="b"/>
              <a:pathLst>
                <a:path w="67945" h="84454">
                  <a:moveTo>
                    <a:pt x="0" y="0"/>
                  </a:moveTo>
                  <a:lnTo>
                    <a:pt x="0" y="84247"/>
                  </a:lnTo>
                  <a:lnTo>
                    <a:pt x="67383" y="33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1637" y="1076681"/>
            <a:ext cx="5220970" cy="5080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150" b="1" spc="-10" dirty="0">
                <a:latin typeface="Calibri"/>
                <a:cs typeface="Calibri"/>
              </a:rPr>
              <a:t>Inference </a:t>
            </a:r>
            <a:r>
              <a:rPr sz="3150" b="1" spc="5" dirty="0">
                <a:latin typeface="Calibri"/>
                <a:cs typeface="Calibri"/>
              </a:rPr>
              <a:t>in </a:t>
            </a:r>
            <a:r>
              <a:rPr sz="3150" b="1" spc="-10" dirty="0">
                <a:latin typeface="Calibri"/>
                <a:cs typeface="Calibri"/>
              </a:rPr>
              <a:t>Bayesian</a:t>
            </a:r>
            <a:r>
              <a:rPr sz="3150" b="1" spc="-35" dirty="0">
                <a:latin typeface="Calibri"/>
                <a:cs typeface="Calibri"/>
              </a:rPr>
              <a:t> </a:t>
            </a:r>
            <a:r>
              <a:rPr sz="3150" b="1" spc="-5" dirty="0">
                <a:latin typeface="Calibri"/>
                <a:cs typeface="Calibri"/>
              </a:rPr>
              <a:t>networks</a:t>
            </a:r>
            <a:endParaRPr sz="31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0378" y="2036821"/>
            <a:ext cx="5066665" cy="175958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451484" indent="-452120">
              <a:lnSpc>
                <a:spcPct val="100000"/>
              </a:lnSpc>
              <a:spcBef>
                <a:spcPts val="690"/>
              </a:spcBef>
              <a:buFont typeface="Arial"/>
              <a:buChar char="•"/>
              <a:tabLst>
                <a:tab pos="451484" algn="l"/>
                <a:tab pos="452120" algn="l"/>
              </a:tabLst>
            </a:pPr>
            <a:r>
              <a:rPr sz="2350" spc="-75" dirty="0">
                <a:latin typeface="Palatino Linotype"/>
                <a:cs typeface="Palatino Linotype"/>
              </a:rPr>
              <a:t>Three </a:t>
            </a:r>
            <a:r>
              <a:rPr sz="2350" spc="-70" dirty="0">
                <a:latin typeface="Palatino Linotype"/>
                <a:cs typeface="Palatino Linotype"/>
              </a:rPr>
              <a:t>major</a:t>
            </a:r>
            <a:r>
              <a:rPr sz="2350" spc="-30" dirty="0">
                <a:latin typeface="Palatino Linotype"/>
                <a:cs typeface="Palatino Linotype"/>
              </a:rPr>
              <a:t> </a:t>
            </a:r>
            <a:r>
              <a:rPr sz="2350" spc="-105" dirty="0">
                <a:latin typeface="Palatino Linotype"/>
                <a:cs typeface="Palatino Linotype"/>
              </a:rPr>
              <a:t>approaches:</a:t>
            </a:r>
            <a:endParaRPr sz="2350" dirty="0">
              <a:latin typeface="Palatino Linotype"/>
              <a:cs typeface="Palatino Linotype"/>
            </a:endParaRPr>
          </a:p>
          <a:p>
            <a:pPr marL="448309" indent="-436880">
              <a:lnSpc>
                <a:spcPct val="100000"/>
              </a:lnSpc>
              <a:spcBef>
                <a:spcPts val="590"/>
              </a:spcBef>
              <a:buFont typeface="Palatino Linotype"/>
              <a:buAutoNum type="arabicPeriod"/>
              <a:tabLst>
                <a:tab pos="448309" algn="l"/>
                <a:tab pos="448945" algn="l"/>
              </a:tabLst>
            </a:pPr>
            <a:r>
              <a:rPr sz="2350" spc="20" dirty="0">
                <a:latin typeface="Calibri"/>
                <a:cs typeface="Calibri"/>
              </a:rPr>
              <a:t>Enumera</a:t>
            </a:r>
            <a:r>
              <a:rPr lang="en-US" sz="2350" spc="20" dirty="0">
                <a:latin typeface="Calibri"/>
                <a:cs typeface="Calibri"/>
              </a:rPr>
              <a:t>ti</a:t>
            </a:r>
            <a:r>
              <a:rPr sz="2350" spc="20" dirty="0">
                <a:latin typeface="Calibri"/>
                <a:cs typeface="Calibri"/>
              </a:rPr>
              <a:t>on </a:t>
            </a:r>
            <a:r>
              <a:rPr sz="2350" spc="-105" dirty="0">
                <a:latin typeface="Palatino Linotype"/>
                <a:cs typeface="Palatino Linotype"/>
              </a:rPr>
              <a:t>(Covered </a:t>
            </a:r>
            <a:r>
              <a:rPr sz="2350" spc="-60" dirty="0">
                <a:latin typeface="Palatino Linotype"/>
                <a:cs typeface="Palatino Linotype"/>
              </a:rPr>
              <a:t>in </a:t>
            </a:r>
            <a:r>
              <a:rPr sz="2350" spc="-80" dirty="0">
                <a:latin typeface="Palatino Linotype"/>
                <a:cs typeface="Palatino Linotype"/>
              </a:rPr>
              <a:t>this</a:t>
            </a:r>
            <a:r>
              <a:rPr sz="2350" spc="5" dirty="0">
                <a:latin typeface="Palatino Linotype"/>
                <a:cs typeface="Palatino Linotype"/>
              </a:rPr>
              <a:t> </a:t>
            </a:r>
            <a:r>
              <a:rPr sz="2350" spc="-75" dirty="0">
                <a:latin typeface="Palatino Linotype"/>
                <a:cs typeface="Palatino Linotype"/>
              </a:rPr>
              <a:t>lecture)</a:t>
            </a:r>
            <a:endParaRPr sz="2350" dirty="0">
              <a:latin typeface="Palatino Linotype"/>
              <a:cs typeface="Palatino Linotype"/>
            </a:endParaRPr>
          </a:p>
          <a:p>
            <a:pPr marL="448309" indent="-436880">
              <a:lnSpc>
                <a:spcPct val="100000"/>
              </a:lnSpc>
              <a:spcBef>
                <a:spcPts val="545"/>
              </a:spcBef>
              <a:buFont typeface="Palatino Linotype"/>
              <a:buAutoNum type="arabicPeriod"/>
              <a:tabLst>
                <a:tab pos="448309" algn="l"/>
                <a:tab pos="448945" algn="l"/>
              </a:tabLst>
            </a:pPr>
            <a:r>
              <a:rPr sz="2350" spc="-10" dirty="0">
                <a:latin typeface="Calibri"/>
                <a:cs typeface="Calibri"/>
              </a:rPr>
              <a:t>Variable</a:t>
            </a:r>
            <a:r>
              <a:rPr sz="2350" spc="-60" dirty="0">
                <a:latin typeface="Calibri"/>
                <a:cs typeface="Calibri"/>
              </a:rPr>
              <a:t> </a:t>
            </a:r>
            <a:r>
              <a:rPr sz="2350" spc="25" dirty="0">
                <a:latin typeface="Calibri"/>
                <a:cs typeface="Calibri"/>
              </a:rPr>
              <a:t>elimina</a:t>
            </a:r>
            <a:r>
              <a:rPr lang="en-US" sz="2350" spc="25" dirty="0">
                <a:latin typeface="Calibri"/>
                <a:cs typeface="Calibri"/>
              </a:rPr>
              <a:t>ti</a:t>
            </a:r>
            <a:r>
              <a:rPr sz="2350" spc="25" dirty="0">
                <a:latin typeface="Calibri"/>
                <a:cs typeface="Calibri"/>
              </a:rPr>
              <a:t>on</a:t>
            </a:r>
            <a:endParaRPr sz="2350" dirty="0">
              <a:latin typeface="Calibri"/>
              <a:cs typeface="Calibri"/>
            </a:endParaRPr>
          </a:p>
          <a:p>
            <a:pPr marL="448309" indent="-436880">
              <a:lnSpc>
                <a:spcPct val="100000"/>
              </a:lnSpc>
              <a:spcBef>
                <a:spcPts val="640"/>
              </a:spcBef>
              <a:buFont typeface="Palatino Linotype"/>
              <a:buAutoNum type="arabicPeriod"/>
              <a:tabLst>
                <a:tab pos="448309" algn="l"/>
                <a:tab pos="448945" algn="l"/>
              </a:tabLst>
            </a:pPr>
            <a:r>
              <a:rPr sz="2350" spc="20" dirty="0">
                <a:latin typeface="Calibri"/>
                <a:cs typeface="Calibri"/>
              </a:rPr>
              <a:t>Stochas</a:t>
            </a:r>
            <a:r>
              <a:rPr lang="en-US" sz="2350" spc="20" dirty="0">
                <a:latin typeface="Calibri"/>
                <a:cs typeface="Calibri"/>
              </a:rPr>
              <a:t>ti</a:t>
            </a:r>
            <a:r>
              <a:rPr sz="2350" spc="20" dirty="0">
                <a:latin typeface="Calibri"/>
                <a:cs typeface="Calibri"/>
              </a:rPr>
              <a:t>c</a:t>
            </a:r>
            <a:r>
              <a:rPr sz="2350" spc="-2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inference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089751" y="1076681"/>
            <a:ext cx="5365148" cy="49949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115"/>
              </a:spcBef>
            </a:pPr>
            <a:r>
              <a:rPr spc="125" dirty="0"/>
              <a:t>Compu</a:t>
            </a:r>
            <a:r>
              <a:rPr lang="en-US" spc="125" dirty="0"/>
              <a:t>ti</a:t>
            </a:r>
            <a:r>
              <a:rPr spc="125" dirty="0"/>
              <a:t>ng </a:t>
            </a:r>
            <a:r>
              <a:rPr spc="160" dirty="0"/>
              <a:t>par</a:t>
            </a:r>
            <a:r>
              <a:rPr lang="en-US" spc="160" dirty="0"/>
              <a:t>ti</a:t>
            </a:r>
            <a:r>
              <a:rPr spc="160" dirty="0"/>
              <a:t>al</a:t>
            </a:r>
            <a:r>
              <a:rPr spc="-175" dirty="0"/>
              <a:t> </a:t>
            </a:r>
            <a:r>
              <a:rPr spc="-5" dirty="0"/>
              <a:t>joints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938393" y="2310598"/>
            <a:ext cx="3813810" cy="1367155"/>
            <a:chOff x="3938393" y="2310598"/>
            <a:chExt cx="3813810" cy="1367155"/>
          </a:xfrm>
        </p:grpSpPr>
        <p:sp>
          <p:nvSpPr>
            <p:cNvPr id="4" name="object 4"/>
            <p:cNvSpPr/>
            <p:nvPr/>
          </p:nvSpPr>
          <p:spPr>
            <a:xfrm>
              <a:off x="3938393" y="2655426"/>
              <a:ext cx="3813810" cy="0"/>
            </a:xfrm>
            <a:custGeom>
              <a:avLst/>
              <a:gdLst/>
              <a:ahLst/>
              <a:cxnLst/>
              <a:rect l="l" t="t" r="r" b="b"/>
              <a:pathLst>
                <a:path w="3813809">
                  <a:moveTo>
                    <a:pt x="0" y="0"/>
                  </a:moveTo>
                  <a:lnTo>
                    <a:pt x="3813565" y="0"/>
                  </a:lnTo>
                </a:path>
              </a:pathLst>
            </a:custGeom>
            <a:ln w="13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13265" y="2764232"/>
              <a:ext cx="87630" cy="291465"/>
            </a:xfrm>
            <a:custGeom>
              <a:avLst/>
              <a:gdLst/>
              <a:ahLst/>
              <a:cxnLst/>
              <a:rect l="l" t="t" r="r" b="b"/>
              <a:pathLst>
                <a:path w="87629" h="291464">
                  <a:moveTo>
                    <a:pt x="87129" y="0"/>
                  </a:moveTo>
                  <a:lnTo>
                    <a:pt x="51972" y="22920"/>
                  </a:lnTo>
                  <a:lnTo>
                    <a:pt x="24151" y="57233"/>
                  </a:lnTo>
                  <a:lnTo>
                    <a:pt x="6037" y="99377"/>
                  </a:lnTo>
                  <a:lnTo>
                    <a:pt x="0" y="145788"/>
                  </a:lnTo>
                  <a:lnTo>
                    <a:pt x="769" y="162242"/>
                  </a:lnTo>
                  <a:lnTo>
                    <a:pt x="12311" y="209835"/>
                  </a:lnTo>
                  <a:lnTo>
                    <a:pt x="36635" y="251528"/>
                  </a:lnTo>
                  <a:lnTo>
                    <a:pt x="65264" y="278345"/>
                  </a:lnTo>
                  <a:lnTo>
                    <a:pt x="87129" y="291261"/>
                  </a:lnTo>
                  <a:lnTo>
                    <a:pt x="87129" y="285403"/>
                  </a:lnTo>
                  <a:lnTo>
                    <a:pt x="79498" y="279841"/>
                  </a:lnTo>
                  <a:lnTo>
                    <a:pt x="72631" y="274142"/>
                  </a:lnTo>
                  <a:lnTo>
                    <a:pt x="48579" y="243623"/>
                  </a:lnTo>
                  <a:lnTo>
                    <a:pt x="35394" y="202374"/>
                  </a:lnTo>
                  <a:lnTo>
                    <a:pt x="30487" y="157725"/>
                  </a:lnTo>
                  <a:lnTo>
                    <a:pt x="30159" y="141315"/>
                  </a:lnTo>
                  <a:lnTo>
                    <a:pt x="30546" y="126009"/>
                  </a:lnTo>
                  <a:lnTo>
                    <a:pt x="36352" y="81983"/>
                  </a:lnTo>
                  <a:lnTo>
                    <a:pt x="49205" y="44934"/>
                  </a:lnTo>
                  <a:lnTo>
                    <a:pt x="77806" y="11685"/>
                  </a:lnTo>
                  <a:lnTo>
                    <a:pt x="87129" y="5858"/>
                  </a:lnTo>
                  <a:lnTo>
                    <a:pt x="871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88020" y="2773438"/>
              <a:ext cx="207651" cy="21342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663374" y="2834639"/>
              <a:ext cx="149225" cy="152400"/>
            </a:xfrm>
            <a:custGeom>
              <a:avLst/>
              <a:gdLst/>
              <a:ahLst/>
              <a:cxnLst/>
              <a:rect l="l" t="t" r="r" b="b"/>
              <a:pathLst>
                <a:path w="149225" h="152400">
                  <a:moveTo>
                    <a:pt x="149123" y="64770"/>
                  </a:moveTo>
                  <a:lnTo>
                    <a:pt x="85445" y="64770"/>
                  </a:lnTo>
                  <a:lnTo>
                    <a:pt x="85445" y="0"/>
                  </a:lnTo>
                  <a:lnTo>
                    <a:pt x="63665" y="0"/>
                  </a:lnTo>
                  <a:lnTo>
                    <a:pt x="63665" y="64770"/>
                  </a:lnTo>
                  <a:lnTo>
                    <a:pt x="0" y="64770"/>
                  </a:lnTo>
                  <a:lnTo>
                    <a:pt x="0" y="86360"/>
                  </a:lnTo>
                  <a:lnTo>
                    <a:pt x="63665" y="86360"/>
                  </a:lnTo>
                  <a:lnTo>
                    <a:pt x="63665" y="152400"/>
                  </a:lnTo>
                  <a:lnTo>
                    <a:pt x="85445" y="152400"/>
                  </a:lnTo>
                  <a:lnTo>
                    <a:pt x="85445" y="86360"/>
                  </a:lnTo>
                  <a:lnTo>
                    <a:pt x="149123" y="86360"/>
                  </a:lnTo>
                  <a:lnTo>
                    <a:pt x="149123" y="647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62806" y="2310598"/>
              <a:ext cx="1992957" cy="1366853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7309498" y="2764243"/>
            <a:ext cx="415925" cy="291465"/>
          </a:xfrm>
          <a:custGeom>
            <a:avLst/>
            <a:gdLst/>
            <a:ahLst/>
            <a:cxnLst/>
            <a:rect l="l" t="t" r="r" b="b"/>
            <a:pathLst>
              <a:path w="415925" h="291464">
                <a:moveTo>
                  <a:pt x="308813" y="9194"/>
                </a:moveTo>
                <a:lnTo>
                  <a:pt x="259295" y="9194"/>
                </a:lnTo>
                <a:lnTo>
                  <a:pt x="133184" y="182727"/>
                </a:lnTo>
                <a:lnTo>
                  <a:pt x="111988" y="9194"/>
                </a:lnTo>
                <a:lnTo>
                  <a:pt x="58724" y="9194"/>
                </a:lnTo>
                <a:lnTo>
                  <a:pt x="57150" y="15062"/>
                </a:lnTo>
                <a:lnTo>
                  <a:pt x="65633" y="16065"/>
                </a:lnTo>
                <a:lnTo>
                  <a:pt x="71450" y="17424"/>
                </a:lnTo>
                <a:lnTo>
                  <a:pt x="77736" y="20878"/>
                </a:lnTo>
                <a:lnTo>
                  <a:pt x="81026" y="24180"/>
                </a:lnTo>
                <a:lnTo>
                  <a:pt x="84493" y="29070"/>
                </a:lnTo>
                <a:lnTo>
                  <a:pt x="38963" y="187934"/>
                </a:lnTo>
                <a:lnTo>
                  <a:pt x="35293" y="199123"/>
                </a:lnTo>
                <a:lnTo>
                  <a:pt x="31788" y="206400"/>
                </a:lnTo>
                <a:lnTo>
                  <a:pt x="23825" y="214439"/>
                </a:lnTo>
                <a:lnTo>
                  <a:pt x="16344" y="216763"/>
                </a:lnTo>
                <a:lnTo>
                  <a:pt x="1727" y="216763"/>
                </a:lnTo>
                <a:lnTo>
                  <a:pt x="0" y="222631"/>
                </a:lnTo>
                <a:lnTo>
                  <a:pt x="70408" y="222631"/>
                </a:lnTo>
                <a:lnTo>
                  <a:pt x="72136" y="216763"/>
                </a:lnTo>
                <a:lnTo>
                  <a:pt x="61239" y="216039"/>
                </a:lnTo>
                <a:lnTo>
                  <a:pt x="54381" y="214655"/>
                </a:lnTo>
                <a:lnTo>
                  <a:pt x="48729" y="210578"/>
                </a:lnTo>
                <a:lnTo>
                  <a:pt x="47307" y="207632"/>
                </a:lnTo>
                <a:lnTo>
                  <a:pt x="47307" y="199898"/>
                </a:lnTo>
                <a:lnTo>
                  <a:pt x="48933" y="192366"/>
                </a:lnTo>
                <a:lnTo>
                  <a:pt x="89928" y="49530"/>
                </a:lnTo>
                <a:lnTo>
                  <a:pt x="111048" y="222631"/>
                </a:lnTo>
                <a:lnTo>
                  <a:pt x="117436" y="222631"/>
                </a:lnTo>
                <a:lnTo>
                  <a:pt x="243230" y="49530"/>
                </a:lnTo>
                <a:lnTo>
                  <a:pt x="204609" y="183807"/>
                </a:lnTo>
                <a:lnTo>
                  <a:pt x="201726" y="192608"/>
                </a:lnTo>
                <a:lnTo>
                  <a:pt x="165938" y="216763"/>
                </a:lnTo>
                <a:lnTo>
                  <a:pt x="164363" y="222631"/>
                </a:lnTo>
                <a:lnTo>
                  <a:pt x="253238" y="222631"/>
                </a:lnTo>
                <a:lnTo>
                  <a:pt x="254647" y="216763"/>
                </a:lnTo>
                <a:lnTo>
                  <a:pt x="242290" y="216763"/>
                </a:lnTo>
                <a:lnTo>
                  <a:pt x="236004" y="215442"/>
                </a:lnTo>
                <a:lnTo>
                  <a:pt x="229196" y="210959"/>
                </a:lnTo>
                <a:lnTo>
                  <a:pt x="227787" y="208267"/>
                </a:lnTo>
                <a:lnTo>
                  <a:pt x="227787" y="200774"/>
                </a:lnTo>
                <a:lnTo>
                  <a:pt x="228942" y="195389"/>
                </a:lnTo>
                <a:lnTo>
                  <a:pt x="231241" y="188531"/>
                </a:lnTo>
                <a:lnTo>
                  <a:pt x="272491" y="44272"/>
                </a:lnTo>
                <a:lnTo>
                  <a:pt x="308813" y="15062"/>
                </a:lnTo>
                <a:lnTo>
                  <a:pt x="308813" y="9194"/>
                </a:lnTo>
                <a:close/>
              </a:path>
              <a:path w="415925" h="291464">
                <a:moveTo>
                  <a:pt x="415645" y="145465"/>
                </a:moveTo>
                <a:lnTo>
                  <a:pt x="408724" y="96901"/>
                </a:lnTo>
                <a:lnTo>
                  <a:pt x="388454" y="52552"/>
                </a:lnTo>
                <a:lnTo>
                  <a:pt x="359981" y="19989"/>
                </a:lnTo>
                <a:lnTo>
                  <a:pt x="328510" y="0"/>
                </a:lnTo>
                <a:lnTo>
                  <a:pt x="328510" y="5854"/>
                </a:lnTo>
                <a:lnTo>
                  <a:pt x="336219" y="11417"/>
                </a:lnTo>
                <a:lnTo>
                  <a:pt x="343115" y="17119"/>
                </a:lnTo>
                <a:lnTo>
                  <a:pt x="367118" y="47586"/>
                </a:lnTo>
                <a:lnTo>
                  <a:pt x="380250" y="88722"/>
                </a:lnTo>
                <a:lnTo>
                  <a:pt x="385165" y="133438"/>
                </a:lnTo>
                <a:lnTo>
                  <a:pt x="385483" y="149783"/>
                </a:lnTo>
                <a:lnTo>
                  <a:pt x="385102" y="165100"/>
                </a:lnTo>
                <a:lnTo>
                  <a:pt x="379374" y="209194"/>
                </a:lnTo>
                <a:lnTo>
                  <a:pt x="366560" y="246278"/>
                </a:lnTo>
                <a:lnTo>
                  <a:pt x="337845" y="279514"/>
                </a:lnTo>
                <a:lnTo>
                  <a:pt x="328510" y="285394"/>
                </a:lnTo>
                <a:lnTo>
                  <a:pt x="328510" y="291261"/>
                </a:lnTo>
                <a:lnTo>
                  <a:pt x="363778" y="268338"/>
                </a:lnTo>
                <a:lnTo>
                  <a:pt x="391579" y="234022"/>
                </a:lnTo>
                <a:lnTo>
                  <a:pt x="409625" y="191884"/>
                </a:lnTo>
                <a:lnTo>
                  <a:pt x="414147" y="169202"/>
                </a:lnTo>
                <a:lnTo>
                  <a:pt x="415645" y="1454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6769245" y="2773438"/>
            <a:ext cx="257810" cy="266700"/>
            <a:chOff x="6769245" y="2773438"/>
            <a:chExt cx="257810" cy="266700"/>
          </a:xfrm>
        </p:grpSpPr>
        <p:sp>
          <p:nvSpPr>
            <p:cNvPr id="11" name="object 11"/>
            <p:cNvSpPr/>
            <p:nvPr/>
          </p:nvSpPr>
          <p:spPr>
            <a:xfrm>
              <a:off x="6978690" y="2955895"/>
              <a:ext cx="48260" cy="83820"/>
            </a:xfrm>
            <a:custGeom>
              <a:avLst/>
              <a:gdLst/>
              <a:ahLst/>
              <a:cxnLst/>
              <a:rect l="l" t="t" r="r" b="b"/>
              <a:pathLst>
                <a:path w="48259" h="83819">
                  <a:moveTo>
                    <a:pt x="27721" y="0"/>
                  </a:moveTo>
                  <a:lnTo>
                    <a:pt x="14900" y="0"/>
                  </a:lnTo>
                  <a:lnTo>
                    <a:pt x="10013" y="1798"/>
                  </a:lnTo>
                  <a:lnTo>
                    <a:pt x="2001" y="8991"/>
                  </a:lnTo>
                  <a:lnTo>
                    <a:pt x="0" y="13309"/>
                  </a:lnTo>
                  <a:lnTo>
                    <a:pt x="0" y="23587"/>
                  </a:lnTo>
                  <a:lnTo>
                    <a:pt x="1572" y="27698"/>
                  </a:lnTo>
                  <a:lnTo>
                    <a:pt x="7866" y="33662"/>
                  </a:lnTo>
                  <a:lnTo>
                    <a:pt x="12099" y="35153"/>
                  </a:lnTo>
                  <a:lnTo>
                    <a:pt x="19594" y="35153"/>
                  </a:lnTo>
                  <a:lnTo>
                    <a:pt x="21659" y="34691"/>
                  </a:lnTo>
                  <a:lnTo>
                    <a:pt x="27627" y="31718"/>
                  </a:lnTo>
                  <a:lnTo>
                    <a:pt x="30234" y="30693"/>
                  </a:lnTo>
                  <a:lnTo>
                    <a:pt x="32188" y="30693"/>
                  </a:lnTo>
                  <a:lnTo>
                    <a:pt x="32951" y="31160"/>
                  </a:lnTo>
                  <a:lnTo>
                    <a:pt x="34696" y="33435"/>
                  </a:lnTo>
                  <a:lnTo>
                    <a:pt x="35185" y="35087"/>
                  </a:lnTo>
                  <a:lnTo>
                    <a:pt x="35185" y="45314"/>
                  </a:lnTo>
                  <a:lnTo>
                    <a:pt x="7917" y="73885"/>
                  </a:lnTo>
                  <a:lnTo>
                    <a:pt x="0" y="76883"/>
                  </a:lnTo>
                  <a:lnTo>
                    <a:pt x="0" y="83696"/>
                  </a:lnTo>
                  <a:lnTo>
                    <a:pt x="36291" y="62118"/>
                  </a:lnTo>
                  <a:lnTo>
                    <a:pt x="47751" y="32485"/>
                  </a:lnTo>
                  <a:lnTo>
                    <a:pt x="47751" y="22686"/>
                  </a:lnTo>
                  <a:lnTo>
                    <a:pt x="45002" y="14822"/>
                  </a:lnTo>
                  <a:lnTo>
                    <a:pt x="33997" y="2965"/>
                  </a:lnTo>
                  <a:lnTo>
                    <a:pt x="277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69245" y="2773438"/>
              <a:ext cx="186156" cy="218447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6245633" y="2773438"/>
            <a:ext cx="464184" cy="266700"/>
            <a:chOff x="6245633" y="2773438"/>
            <a:chExt cx="464184" cy="266700"/>
          </a:xfrm>
        </p:grpSpPr>
        <p:sp>
          <p:nvSpPr>
            <p:cNvPr id="14" name="object 14"/>
            <p:cNvSpPr/>
            <p:nvPr/>
          </p:nvSpPr>
          <p:spPr>
            <a:xfrm>
              <a:off x="6662008" y="2955895"/>
              <a:ext cx="48260" cy="83820"/>
            </a:xfrm>
            <a:custGeom>
              <a:avLst/>
              <a:gdLst/>
              <a:ahLst/>
              <a:cxnLst/>
              <a:rect l="l" t="t" r="r" b="b"/>
              <a:pathLst>
                <a:path w="48259" h="83819">
                  <a:moveTo>
                    <a:pt x="27721" y="0"/>
                  </a:moveTo>
                  <a:lnTo>
                    <a:pt x="14902" y="0"/>
                  </a:lnTo>
                  <a:lnTo>
                    <a:pt x="10016" y="1798"/>
                  </a:lnTo>
                  <a:lnTo>
                    <a:pt x="2005" y="8991"/>
                  </a:lnTo>
                  <a:lnTo>
                    <a:pt x="0" y="13309"/>
                  </a:lnTo>
                  <a:lnTo>
                    <a:pt x="0" y="23587"/>
                  </a:lnTo>
                  <a:lnTo>
                    <a:pt x="1574" y="27698"/>
                  </a:lnTo>
                  <a:lnTo>
                    <a:pt x="7866" y="33662"/>
                  </a:lnTo>
                  <a:lnTo>
                    <a:pt x="12100" y="35153"/>
                  </a:lnTo>
                  <a:lnTo>
                    <a:pt x="19597" y="35153"/>
                  </a:lnTo>
                  <a:lnTo>
                    <a:pt x="21661" y="34691"/>
                  </a:lnTo>
                  <a:lnTo>
                    <a:pt x="27631" y="31718"/>
                  </a:lnTo>
                  <a:lnTo>
                    <a:pt x="30236" y="30693"/>
                  </a:lnTo>
                  <a:lnTo>
                    <a:pt x="32191" y="30693"/>
                  </a:lnTo>
                  <a:lnTo>
                    <a:pt x="32955" y="31160"/>
                  </a:lnTo>
                  <a:lnTo>
                    <a:pt x="34698" y="33435"/>
                  </a:lnTo>
                  <a:lnTo>
                    <a:pt x="35189" y="35087"/>
                  </a:lnTo>
                  <a:lnTo>
                    <a:pt x="35189" y="45314"/>
                  </a:lnTo>
                  <a:lnTo>
                    <a:pt x="7918" y="73885"/>
                  </a:lnTo>
                  <a:lnTo>
                    <a:pt x="0" y="76883"/>
                  </a:lnTo>
                  <a:lnTo>
                    <a:pt x="0" y="83696"/>
                  </a:lnTo>
                  <a:lnTo>
                    <a:pt x="36294" y="62118"/>
                  </a:lnTo>
                  <a:lnTo>
                    <a:pt x="47754" y="32485"/>
                  </a:lnTo>
                  <a:lnTo>
                    <a:pt x="47754" y="22686"/>
                  </a:lnTo>
                  <a:lnTo>
                    <a:pt x="45002" y="14822"/>
                  </a:lnTo>
                  <a:lnTo>
                    <a:pt x="34000" y="2965"/>
                  </a:lnTo>
                  <a:lnTo>
                    <a:pt x="277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36137" y="2773438"/>
              <a:ext cx="197388" cy="21342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245631" y="2877819"/>
              <a:ext cx="149225" cy="66040"/>
            </a:xfrm>
            <a:custGeom>
              <a:avLst/>
              <a:gdLst/>
              <a:ahLst/>
              <a:cxnLst/>
              <a:rect l="l" t="t" r="r" b="b"/>
              <a:pathLst>
                <a:path w="149225" h="66039">
                  <a:moveTo>
                    <a:pt x="149123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27342" y="21590"/>
                  </a:lnTo>
                  <a:lnTo>
                    <a:pt x="127342" y="66040"/>
                  </a:lnTo>
                  <a:lnTo>
                    <a:pt x="149123" y="66040"/>
                  </a:lnTo>
                  <a:lnTo>
                    <a:pt x="149123" y="21590"/>
                  </a:lnTo>
                  <a:lnTo>
                    <a:pt x="1491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6238824" y="2310599"/>
            <a:ext cx="415925" cy="291465"/>
          </a:xfrm>
          <a:custGeom>
            <a:avLst/>
            <a:gdLst/>
            <a:ahLst/>
            <a:cxnLst/>
            <a:rect l="l" t="t" r="r" b="b"/>
            <a:pathLst>
              <a:path w="415925" h="291464">
                <a:moveTo>
                  <a:pt x="308813" y="9207"/>
                </a:moveTo>
                <a:lnTo>
                  <a:pt x="259295" y="9207"/>
                </a:lnTo>
                <a:lnTo>
                  <a:pt x="133172" y="182740"/>
                </a:lnTo>
                <a:lnTo>
                  <a:pt x="111988" y="9207"/>
                </a:lnTo>
                <a:lnTo>
                  <a:pt x="58724" y="9207"/>
                </a:lnTo>
                <a:lnTo>
                  <a:pt x="57150" y="15074"/>
                </a:lnTo>
                <a:lnTo>
                  <a:pt x="65633" y="16078"/>
                </a:lnTo>
                <a:lnTo>
                  <a:pt x="71450" y="17437"/>
                </a:lnTo>
                <a:lnTo>
                  <a:pt x="77724" y="20891"/>
                </a:lnTo>
                <a:lnTo>
                  <a:pt x="81026" y="24193"/>
                </a:lnTo>
                <a:lnTo>
                  <a:pt x="84480" y="29070"/>
                </a:lnTo>
                <a:lnTo>
                  <a:pt x="38950" y="187947"/>
                </a:lnTo>
                <a:lnTo>
                  <a:pt x="35293" y="199136"/>
                </a:lnTo>
                <a:lnTo>
                  <a:pt x="31775" y="206413"/>
                </a:lnTo>
                <a:lnTo>
                  <a:pt x="23825" y="214439"/>
                </a:lnTo>
                <a:lnTo>
                  <a:pt x="16332" y="216776"/>
                </a:lnTo>
                <a:lnTo>
                  <a:pt x="1727" y="216776"/>
                </a:lnTo>
                <a:lnTo>
                  <a:pt x="0" y="222631"/>
                </a:lnTo>
                <a:lnTo>
                  <a:pt x="70396" y="222631"/>
                </a:lnTo>
                <a:lnTo>
                  <a:pt x="72123" y="216776"/>
                </a:lnTo>
                <a:lnTo>
                  <a:pt x="61239" y="216039"/>
                </a:lnTo>
                <a:lnTo>
                  <a:pt x="54381" y="214655"/>
                </a:lnTo>
                <a:lnTo>
                  <a:pt x="48717" y="210591"/>
                </a:lnTo>
                <a:lnTo>
                  <a:pt x="47307" y="207632"/>
                </a:lnTo>
                <a:lnTo>
                  <a:pt x="47307" y="199898"/>
                </a:lnTo>
                <a:lnTo>
                  <a:pt x="48933" y="192379"/>
                </a:lnTo>
                <a:lnTo>
                  <a:pt x="89916" y="49542"/>
                </a:lnTo>
                <a:lnTo>
                  <a:pt x="111036" y="222631"/>
                </a:lnTo>
                <a:lnTo>
                  <a:pt x="117424" y="222631"/>
                </a:lnTo>
                <a:lnTo>
                  <a:pt x="243230" y="49542"/>
                </a:lnTo>
                <a:lnTo>
                  <a:pt x="204609" y="183819"/>
                </a:lnTo>
                <a:lnTo>
                  <a:pt x="201726" y="192620"/>
                </a:lnTo>
                <a:lnTo>
                  <a:pt x="165925" y="216776"/>
                </a:lnTo>
                <a:lnTo>
                  <a:pt x="164363" y="222631"/>
                </a:lnTo>
                <a:lnTo>
                  <a:pt x="253225" y="222631"/>
                </a:lnTo>
                <a:lnTo>
                  <a:pt x="254647" y="216776"/>
                </a:lnTo>
                <a:lnTo>
                  <a:pt x="242290" y="216776"/>
                </a:lnTo>
                <a:lnTo>
                  <a:pt x="236004" y="215455"/>
                </a:lnTo>
                <a:lnTo>
                  <a:pt x="229196" y="210972"/>
                </a:lnTo>
                <a:lnTo>
                  <a:pt x="227787" y="208280"/>
                </a:lnTo>
                <a:lnTo>
                  <a:pt x="227787" y="200787"/>
                </a:lnTo>
                <a:lnTo>
                  <a:pt x="228930" y="195402"/>
                </a:lnTo>
                <a:lnTo>
                  <a:pt x="231241" y="188544"/>
                </a:lnTo>
                <a:lnTo>
                  <a:pt x="272478" y="44284"/>
                </a:lnTo>
                <a:lnTo>
                  <a:pt x="308813" y="15074"/>
                </a:lnTo>
                <a:lnTo>
                  <a:pt x="308813" y="9207"/>
                </a:lnTo>
                <a:close/>
              </a:path>
              <a:path w="415925" h="291464">
                <a:moveTo>
                  <a:pt x="415632" y="145478"/>
                </a:moveTo>
                <a:lnTo>
                  <a:pt x="408711" y="96901"/>
                </a:lnTo>
                <a:lnTo>
                  <a:pt x="388454" y="52565"/>
                </a:lnTo>
                <a:lnTo>
                  <a:pt x="359968" y="20002"/>
                </a:lnTo>
                <a:lnTo>
                  <a:pt x="328510" y="0"/>
                </a:lnTo>
                <a:lnTo>
                  <a:pt x="328510" y="5867"/>
                </a:lnTo>
                <a:lnTo>
                  <a:pt x="336207" y="11430"/>
                </a:lnTo>
                <a:lnTo>
                  <a:pt x="343115" y="17119"/>
                </a:lnTo>
                <a:lnTo>
                  <a:pt x="367106" y="47599"/>
                </a:lnTo>
                <a:lnTo>
                  <a:pt x="380238" y="88734"/>
                </a:lnTo>
                <a:lnTo>
                  <a:pt x="385152" y="133438"/>
                </a:lnTo>
                <a:lnTo>
                  <a:pt x="385483" y="149796"/>
                </a:lnTo>
                <a:lnTo>
                  <a:pt x="385102" y="165112"/>
                </a:lnTo>
                <a:lnTo>
                  <a:pt x="379374" y="209207"/>
                </a:lnTo>
                <a:lnTo>
                  <a:pt x="366547" y="246278"/>
                </a:lnTo>
                <a:lnTo>
                  <a:pt x="337832" y="279514"/>
                </a:lnTo>
                <a:lnTo>
                  <a:pt x="328510" y="285407"/>
                </a:lnTo>
                <a:lnTo>
                  <a:pt x="328510" y="291261"/>
                </a:lnTo>
                <a:lnTo>
                  <a:pt x="363766" y="268351"/>
                </a:lnTo>
                <a:lnTo>
                  <a:pt x="391566" y="234035"/>
                </a:lnTo>
                <a:lnTo>
                  <a:pt x="409625" y="191884"/>
                </a:lnTo>
                <a:lnTo>
                  <a:pt x="414134" y="169214"/>
                </a:lnTo>
                <a:lnTo>
                  <a:pt x="415632" y="1454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180931" y="2513152"/>
            <a:ext cx="415925" cy="291465"/>
          </a:xfrm>
          <a:custGeom>
            <a:avLst/>
            <a:gdLst/>
            <a:ahLst/>
            <a:cxnLst/>
            <a:rect l="l" t="t" r="r" b="b"/>
            <a:pathLst>
              <a:path w="415925" h="291464">
                <a:moveTo>
                  <a:pt x="308813" y="9207"/>
                </a:moveTo>
                <a:lnTo>
                  <a:pt x="259295" y="9207"/>
                </a:lnTo>
                <a:lnTo>
                  <a:pt x="133184" y="182727"/>
                </a:lnTo>
                <a:lnTo>
                  <a:pt x="111988" y="9207"/>
                </a:lnTo>
                <a:lnTo>
                  <a:pt x="58724" y="9207"/>
                </a:lnTo>
                <a:lnTo>
                  <a:pt x="57150" y="15062"/>
                </a:lnTo>
                <a:lnTo>
                  <a:pt x="65633" y="16065"/>
                </a:lnTo>
                <a:lnTo>
                  <a:pt x="71450" y="17424"/>
                </a:lnTo>
                <a:lnTo>
                  <a:pt x="77736" y="20878"/>
                </a:lnTo>
                <a:lnTo>
                  <a:pt x="81026" y="24180"/>
                </a:lnTo>
                <a:lnTo>
                  <a:pt x="84480" y="29070"/>
                </a:lnTo>
                <a:lnTo>
                  <a:pt x="38963" y="187934"/>
                </a:lnTo>
                <a:lnTo>
                  <a:pt x="35293" y="199123"/>
                </a:lnTo>
                <a:lnTo>
                  <a:pt x="31788" y="206413"/>
                </a:lnTo>
                <a:lnTo>
                  <a:pt x="23825" y="214439"/>
                </a:lnTo>
                <a:lnTo>
                  <a:pt x="16332" y="216776"/>
                </a:lnTo>
                <a:lnTo>
                  <a:pt x="1727" y="216776"/>
                </a:lnTo>
                <a:lnTo>
                  <a:pt x="0" y="222631"/>
                </a:lnTo>
                <a:lnTo>
                  <a:pt x="70396" y="222631"/>
                </a:lnTo>
                <a:lnTo>
                  <a:pt x="72123" y="216776"/>
                </a:lnTo>
                <a:lnTo>
                  <a:pt x="61239" y="216039"/>
                </a:lnTo>
                <a:lnTo>
                  <a:pt x="54381" y="214655"/>
                </a:lnTo>
                <a:lnTo>
                  <a:pt x="48717" y="210578"/>
                </a:lnTo>
                <a:lnTo>
                  <a:pt x="47307" y="207632"/>
                </a:lnTo>
                <a:lnTo>
                  <a:pt x="47307" y="199898"/>
                </a:lnTo>
                <a:lnTo>
                  <a:pt x="48933" y="192379"/>
                </a:lnTo>
                <a:lnTo>
                  <a:pt x="89916" y="49530"/>
                </a:lnTo>
                <a:lnTo>
                  <a:pt x="111048" y="222631"/>
                </a:lnTo>
                <a:lnTo>
                  <a:pt x="117436" y="222631"/>
                </a:lnTo>
                <a:lnTo>
                  <a:pt x="243230" y="49530"/>
                </a:lnTo>
                <a:lnTo>
                  <a:pt x="204609" y="183807"/>
                </a:lnTo>
                <a:lnTo>
                  <a:pt x="201726" y="192620"/>
                </a:lnTo>
                <a:lnTo>
                  <a:pt x="165938" y="216776"/>
                </a:lnTo>
                <a:lnTo>
                  <a:pt x="164363" y="222631"/>
                </a:lnTo>
                <a:lnTo>
                  <a:pt x="253238" y="222631"/>
                </a:lnTo>
                <a:lnTo>
                  <a:pt x="254647" y="216776"/>
                </a:lnTo>
                <a:lnTo>
                  <a:pt x="242290" y="216776"/>
                </a:lnTo>
                <a:lnTo>
                  <a:pt x="236004" y="215442"/>
                </a:lnTo>
                <a:lnTo>
                  <a:pt x="229196" y="210959"/>
                </a:lnTo>
                <a:lnTo>
                  <a:pt x="227787" y="208267"/>
                </a:lnTo>
                <a:lnTo>
                  <a:pt x="227787" y="200787"/>
                </a:lnTo>
                <a:lnTo>
                  <a:pt x="228942" y="195389"/>
                </a:lnTo>
                <a:lnTo>
                  <a:pt x="231241" y="188531"/>
                </a:lnTo>
                <a:lnTo>
                  <a:pt x="272478" y="44272"/>
                </a:lnTo>
                <a:lnTo>
                  <a:pt x="308813" y="15062"/>
                </a:lnTo>
                <a:lnTo>
                  <a:pt x="308813" y="9207"/>
                </a:lnTo>
                <a:close/>
              </a:path>
              <a:path w="415925" h="291464">
                <a:moveTo>
                  <a:pt x="415645" y="145465"/>
                </a:moveTo>
                <a:lnTo>
                  <a:pt x="408724" y="96901"/>
                </a:lnTo>
                <a:lnTo>
                  <a:pt x="388454" y="52552"/>
                </a:lnTo>
                <a:lnTo>
                  <a:pt x="359981" y="19989"/>
                </a:lnTo>
                <a:lnTo>
                  <a:pt x="328510" y="0"/>
                </a:lnTo>
                <a:lnTo>
                  <a:pt x="328510" y="5854"/>
                </a:lnTo>
                <a:lnTo>
                  <a:pt x="336207" y="11417"/>
                </a:lnTo>
                <a:lnTo>
                  <a:pt x="343115" y="17119"/>
                </a:lnTo>
                <a:lnTo>
                  <a:pt x="367118" y="47586"/>
                </a:lnTo>
                <a:lnTo>
                  <a:pt x="380250" y="88722"/>
                </a:lnTo>
                <a:lnTo>
                  <a:pt x="385152" y="133438"/>
                </a:lnTo>
                <a:lnTo>
                  <a:pt x="385483" y="149783"/>
                </a:lnTo>
                <a:lnTo>
                  <a:pt x="385102" y="165100"/>
                </a:lnTo>
                <a:lnTo>
                  <a:pt x="379374" y="209194"/>
                </a:lnTo>
                <a:lnTo>
                  <a:pt x="366547" y="246278"/>
                </a:lnTo>
                <a:lnTo>
                  <a:pt x="337845" y="279514"/>
                </a:lnTo>
                <a:lnTo>
                  <a:pt x="328510" y="285407"/>
                </a:lnTo>
                <a:lnTo>
                  <a:pt x="328510" y="291261"/>
                </a:lnTo>
                <a:lnTo>
                  <a:pt x="363766" y="268338"/>
                </a:lnTo>
                <a:lnTo>
                  <a:pt x="391566" y="234022"/>
                </a:lnTo>
                <a:lnTo>
                  <a:pt x="409625" y="191884"/>
                </a:lnTo>
                <a:lnTo>
                  <a:pt x="414134" y="169214"/>
                </a:lnTo>
                <a:lnTo>
                  <a:pt x="415645" y="1454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2640675" y="2522349"/>
            <a:ext cx="257810" cy="266700"/>
            <a:chOff x="2640675" y="2522349"/>
            <a:chExt cx="257810" cy="266700"/>
          </a:xfrm>
        </p:grpSpPr>
        <p:sp>
          <p:nvSpPr>
            <p:cNvPr id="20" name="object 20"/>
            <p:cNvSpPr/>
            <p:nvPr/>
          </p:nvSpPr>
          <p:spPr>
            <a:xfrm>
              <a:off x="2850120" y="2704807"/>
              <a:ext cx="48260" cy="83820"/>
            </a:xfrm>
            <a:custGeom>
              <a:avLst/>
              <a:gdLst/>
              <a:ahLst/>
              <a:cxnLst/>
              <a:rect l="l" t="t" r="r" b="b"/>
              <a:pathLst>
                <a:path w="48260" h="83819">
                  <a:moveTo>
                    <a:pt x="27720" y="0"/>
                  </a:moveTo>
                  <a:lnTo>
                    <a:pt x="14900" y="0"/>
                  </a:lnTo>
                  <a:lnTo>
                    <a:pt x="10013" y="1798"/>
                  </a:lnTo>
                  <a:lnTo>
                    <a:pt x="2002" y="8990"/>
                  </a:lnTo>
                  <a:lnTo>
                    <a:pt x="0" y="13308"/>
                  </a:lnTo>
                  <a:lnTo>
                    <a:pt x="0" y="23587"/>
                  </a:lnTo>
                  <a:lnTo>
                    <a:pt x="1573" y="27698"/>
                  </a:lnTo>
                  <a:lnTo>
                    <a:pt x="7865" y="33661"/>
                  </a:lnTo>
                  <a:lnTo>
                    <a:pt x="12099" y="35152"/>
                  </a:lnTo>
                  <a:lnTo>
                    <a:pt x="19596" y="35152"/>
                  </a:lnTo>
                  <a:lnTo>
                    <a:pt x="21659" y="34690"/>
                  </a:lnTo>
                  <a:lnTo>
                    <a:pt x="27628" y="31716"/>
                  </a:lnTo>
                  <a:lnTo>
                    <a:pt x="30233" y="30693"/>
                  </a:lnTo>
                  <a:lnTo>
                    <a:pt x="32189" y="30693"/>
                  </a:lnTo>
                  <a:lnTo>
                    <a:pt x="32952" y="31159"/>
                  </a:lnTo>
                  <a:lnTo>
                    <a:pt x="34697" y="33434"/>
                  </a:lnTo>
                  <a:lnTo>
                    <a:pt x="35186" y="35086"/>
                  </a:lnTo>
                  <a:lnTo>
                    <a:pt x="35186" y="45313"/>
                  </a:lnTo>
                  <a:lnTo>
                    <a:pt x="7916" y="73884"/>
                  </a:lnTo>
                  <a:lnTo>
                    <a:pt x="0" y="76883"/>
                  </a:lnTo>
                  <a:lnTo>
                    <a:pt x="0" y="83695"/>
                  </a:lnTo>
                  <a:lnTo>
                    <a:pt x="36292" y="62118"/>
                  </a:lnTo>
                  <a:lnTo>
                    <a:pt x="47753" y="32485"/>
                  </a:lnTo>
                  <a:lnTo>
                    <a:pt x="47753" y="22684"/>
                  </a:lnTo>
                  <a:lnTo>
                    <a:pt x="45002" y="14820"/>
                  </a:lnTo>
                  <a:lnTo>
                    <a:pt x="33997" y="2964"/>
                  </a:lnTo>
                  <a:lnTo>
                    <a:pt x="277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40675" y="2522349"/>
              <a:ext cx="186156" cy="218447"/>
            </a:xfrm>
            <a:prstGeom prst="rect">
              <a:avLst/>
            </a:prstGeom>
          </p:spPr>
        </p:pic>
      </p:grpSp>
      <p:sp>
        <p:nvSpPr>
          <p:cNvPr id="22" name="object 22"/>
          <p:cNvSpPr/>
          <p:nvPr/>
        </p:nvSpPr>
        <p:spPr>
          <a:xfrm>
            <a:off x="2535953" y="2512306"/>
            <a:ext cx="12700" cy="293370"/>
          </a:xfrm>
          <a:custGeom>
            <a:avLst/>
            <a:gdLst/>
            <a:ahLst/>
            <a:cxnLst/>
            <a:rect l="l" t="t" r="r" b="b"/>
            <a:pathLst>
              <a:path w="12700" h="293369">
                <a:moveTo>
                  <a:pt x="12566" y="0"/>
                </a:moveTo>
                <a:lnTo>
                  <a:pt x="0" y="0"/>
                </a:lnTo>
                <a:lnTo>
                  <a:pt x="0" y="292936"/>
                </a:lnTo>
                <a:lnTo>
                  <a:pt x="12566" y="292936"/>
                </a:lnTo>
                <a:lnTo>
                  <a:pt x="125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1915276" y="2513143"/>
            <a:ext cx="529590" cy="291465"/>
            <a:chOff x="1915276" y="2513143"/>
            <a:chExt cx="529590" cy="291465"/>
          </a:xfrm>
        </p:grpSpPr>
        <p:sp>
          <p:nvSpPr>
            <p:cNvPr id="24" name="object 24"/>
            <p:cNvSpPr/>
            <p:nvPr/>
          </p:nvSpPr>
          <p:spPr>
            <a:xfrm>
              <a:off x="2140521" y="2513143"/>
              <a:ext cx="87630" cy="291465"/>
            </a:xfrm>
            <a:custGeom>
              <a:avLst/>
              <a:gdLst/>
              <a:ahLst/>
              <a:cxnLst/>
              <a:rect l="l" t="t" r="r" b="b"/>
              <a:pathLst>
                <a:path w="87630" h="291464">
                  <a:moveTo>
                    <a:pt x="87129" y="0"/>
                  </a:moveTo>
                  <a:lnTo>
                    <a:pt x="51972" y="22920"/>
                  </a:lnTo>
                  <a:lnTo>
                    <a:pt x="24151" y="57233"/>
                  </a:lnTo>
                  <a:lnTo>
                    <a:pt x="6037" y="99377"/>
                  </a:lnTo>
                  <a:lnTo>
                    <a:pt x="0" y="145788"/>
                  </a:lnTo>
                  <a:lnTo>
                    <a:pt x="769" y="162242"/>
                  </a:lnTo>
                  <a:lnTo>
                    <a:pt x="12311" y="209835"/>
                  </a:lnTo>
                  <a:lnTo>
                    <a:pt x="36636" y="251529"/>
                  </a:lnTo>
                  <a:lnTo>
                    <a:pt x="65265" y="278346"/>
                  </a:lnTo>
                  <a:lnTo>
                    <a:pt x="87129" y="291263"/>
                  </a:lnTo>
                  <a:lnTo>
                    <a:pt x="87129" y="285404"/>
                  </a:lnTo>
                  <a:lnTo>
                    <a:pt x="79499" y="279842"/>
                  </a:lnTo>
                  <a:lnTo>
                    <a:pt x="72631" y="274142"/>
                  </a:lnTo>
                  <a:lnTo>
                    <a:pt x="48579" y="243623"/>
                  </a:lnTo>
                  <a:lnTo>
                    <a:pt x="35396" y="202374"/>
                  </a:lnTo>
                  <a:lnTo>
                    <a:pt x="30487" y="157726"/>
                  </a:lnTo>
                  <a:lnTo>
                    <a:pt x="30159" y="141315"/>
                  </a:lnTo>
                  <a:lnTo>
                    <a:pt x="30547" y="126009"/>
                  </a:lnTo>
                  <a:lnTo>
                    <a:pt x="36352" y="81983"/>
                  </a:lnTo>
                  <a:lnTo>
                    <a:pt x="49207" y="44934"/>
                  </a:lnTo>
                  <a:lnTo>
                    <a:pt x="77806" y="11685"/>
                  </a:lnTo>
                  <a:lnTo>
                    <a:pt x="87129" y="5858"/>
                  </a:lnTo>
                  <a:lnTo>
                    <a:pt x="871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47247" y="2522349"/>
              <a:ext cx="197388" cy="21342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15276" y="2522349"/>
              <a:ext cx="207651" cy="213426"/>
            </a:xfrm>
            <a:prstGeom prst="rect">
              <a:avLst/>
            </a:prstGeom>
          </p:spPr>
        </p:pic>
      </p:grpSp>
      <p:sp>
        <p:nvSpPr>
          <p:cNvPr id="27" name="object 27"/>
          <p:cNvSpPr/>
          <p:nvPr/>
        </p:nvSpPr>
        <p:spPr>
          <a:xfrm>
            <a:off x="7110209" y="2877819"/>
            <a:ext cx="149225" cy="66040"/>
          </a:xfrm>
          <a:custGeom>
            <a:avLst/>
            <a:gdLst/>
            <a:ahLst/>
            <a:cxnLst/>
            <a:rect l="l" t="t" r="r" b="b"/>
            <a:pathLst>
              <a:path w="149225" h="66039">
                <a:moveTo>
                  <a:pt x="149123" y="0"/>
                </a:moveTo>
                <a:lnTo>
                  <a:pt x="0" y="0"/>
                </a:lnTo>
                <a:lnTo>
                  <a:pt x="0" y="21590"/>
                </a:lnTo>
                <a:lnTo>
                  <a:pt x="127355" y="21590"/>
                </a:lnTo>
                <a:lnTo>
                  <a:pt x="127355" y="66040"/>
                </a:lnTo>
                <a:lnTo>
                  <a:pt x="149123" y="66040"/>
                </a:lnTo>
                <a:lnTo>
                  <a:pt x="149123" y="21590"/>
                </a:lnTo>
                <a:lnTo>
                  <a:pt x="1491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039536" y="2423159"/>
            <a:ext cx="149225" cy="67310"/>
          </a:xfrm>
          <a:custGeom>
            <a:avLst/>
            <a:gdLst/>
            <a:ahLst/>
            <a:cxnLst/>
            <a:rect l="l" t="t" r="r" b="b"/>
            <a:pathLst>
              <a:path w="149225" h="67310">
                <a:moveTo>
                  <a:pt x="149123" y="0"/>
                </a:moveTo>
                <a:lnTo>
                  <a:pt x="0" y="0"/>
                </a:lnTo>
                <a:lnTo>
                  <a:pt x="0" y="21590"/>
                </a:lnTo>
                <a:lnTo>
                  <a:pt x="127342" y="21590"/>
                </a:lnTo>
                <a:lnTo>
                  <a:pt x="127342" y="67310"/>
                </a:lnTo>
                <a:lnTo>
                  <a:pt x="149123" y="67310"/>
                </a:lnTo>
                <a:lnTo>
                  <a:pt x="149123" y="21590"/>
                </a:lnTo>
                <a:lnTo>
                  <a:pt x="1491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696271" y="2627807"/>
            <a:ext cx="149225" cy="64769"/>
          </a:xfrm>
          <a:custGeom>
            <a:avLst/>
            <a:gdLst/>
            <a:ahLst/>
            <a:cxnLst/>
            <a:rect l="l" t="t" r="r" b="b"/>
            <a:pathLst>
              <a:path w="149225" h="64769">
                <a:moveTo>
                  <a:pt x="149123" y="42684"/>
                </a:moveTo>
                <a:lnTo>
                  <a:pt x="0" y="42684"/>
                </a:lnTo>
                <a:lnTo>
                  <a:pt x="0" y="64452"/>
                </a:lnTo>
                <a:lnTo>
                  <a:pt x="149123" y="64452"/>
                </a:lnTo>
                <a:lnTo>
                  <a:pt x="149123" y="42684"/>
                </a:lnTo>
                <a:close/>
              </a:path>
              <a:path w="149225" h="64769">
                <a:moveTo>
                  <a:pt x="149123" y="0"/>
                </a:moveTo>
                <a:lnTo>
                  <a:pt x="0" y="0"/>
                </a:lnTo>
                <a:lnTo>
                  <a:pt x="0" y="21767"/>
                </a:lnTo>
                <a:lnTo>
                  <a:pt x="149123" y="21767"/>
                </a:lnTo>
                <a:lnTo>
                  <a:pt x="1491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981642" y="2626359"/>
            <a:ext cx="149225" cy="67310"/>
          </a:xfrm>
          <a:custGeom>
            <a:avLst/>
            <a:gdLst/>
            <a:ahLst/>
            <a:cxnLst/>
            <a:rect l="l" t="t" r="r" b="b"/>
            <a:pathLst>
              <a:path w="149225" h="67310">
                <a:moveTo>
                  <a:pt x="149123" y="0"/>
                </a:moveTo>
                <a:lnTo>
                  <a:pt x="0" y="0"/>
                </a:lnTo>
                <a:lnTo>
                  <a:pt x="0" y="21590"/>
                </a:lnTo>
                <a:lnTo>
                  <a:pt x="127342" y="21590"/>
                </a:lnTo>
                <a:lnTo>
                  <a:pt x="127342" y="67310"/>
                </a:lnTo>
                <a:lnTo>
                  <a:pt x="149123" y="67310"/>
                </a:lnTo>
                <a:lnTo>
                  <a:pt x="149123" y="21590"/>
                </a:lnTo>
                <a:lnTo>
                  <a:pt x="1491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113058" y="3691127"/>
            <a:ext cx="5897880" cy="11156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sz="2350" spc="10" dirty="0">
                <a:latin typeface="Calibri"/>
                <a:cs typeface="Calibri"/>
              </a:rPr>
              <a:t>Sum </a:t>
            </a:r>
            <a:r>
              <a:rPr sz="2350" spc="5" dirty="0">
                <a:latin typeface="Calibri"/>
                <a:cs typeface="Calibri"/>
              </a:rPr>
              <a:t>all </a:t>
            </a:r>
            <a:r>
              <a:rPr sz="2350" dirty="0">
                <a:latin typeface="Calibri"/>
                <a:cs typeface="Calibri"/>
              </a:rPr>
              <a:t>instances </a:t>
            </a:r>
            <a:r>
              <a:rPr sz="2350" spc="5" dirty="0">
                <a:latin typeface="Calibri"/>
                <a:cs typeface="Calibri"/>
              </a:rPr>
              <a:t>with </a:t>
            </a:r>
            <a:r>
              <a:rPr sz="2350" spc="10" dirty="0">
                <a:latin typeface="Calibri"/>
                <a:cs typeface="Calibri"/>
              </a:rPr>
              <a:t>these </a:t>
            </a:r>
            <a:r>
              <a:rPr sz="2350" spc="150" dirty="0">
                <a:latin typeface="Calibri"/>
                <a:cs typeface="Calibri"/>
              </a:rPr>
              <a:t>se</a:t>
            </a:r>
            <a:r>
              <a:rPr lang="en-US" sz="2350" spc="150" dirty="0">
                <a:latin typeface="Calibri"/>
                <a:cs typeface="Calibri"/>
              </a:rPr>
              <a:t>tti</a:t>
            </a:r>
            <a:r>
              <a:rPr sz="2350" spc="150" dirty="0">
                <a:latin typeface="Calibri"/>
                <a:cs typeface="Calibri"/>
              </a:rPr>
              <a:t>ngs </a:t>
            </a:r>
            <a:r>
              <a:rPr sz="2350" spc="5" dirty="0">
                <a:latin typeface="Calibri"/>
                <a:cs typeface="Calibri"/>
              </a:rPr>
              <a:t>(the </a:t>
            </a:r>
            <a:r>
              <a:rPr sz="2350" spc="10" dirty="0">
                <a:latin typeface="Calibri"/>
                <a:cs typeface="Calibri"/>
              </a:rPr>
              <a:t>sum</a:t>
            </a:r>
            <a:r>
              <a:rPr sz="2350" spc="-145" dirty="0">
                <a:latin typeface="Calibri"/>
                <a:cs typeface="Calibri"/>
              </a:rPr>
              <a:t> </a:t>
            </a:r>
            <a:r>
              <a:rPr sz="2350" spc="5" dirty="0">
                <a:latin typeface="Calibri"/>
                <a:cs typeface="Calibri"/>
              </a:rPr>
              <a:t>is  </a:t>
            </a:r>
            <a:r>
              <a:rPr sz="2350" dirty="0">
                <a:latin typeface="Calibri"/>
                <a:cs typeface="Calibri"/>
              </a:rPr>
              <a:t>over </a:t>
            </a:r>
            <a:r>
              <a:rPr sz="2350" spc="10" dirty="0">
                <a:latin typeface="Calibri"/>
                <a:cs typeface="Calibri"/>
              </a:rPr>
              <a:t>the </a:t>
            </a:r>
            <a:r>
              <a:rPr sz="2350" spc="5" dirty="0">
                <a:latin typeface="Calibri"/>
                <a:cs typeface="Calibri"/>
              </a:rPr>
              <a:t>possible assignments </a:t>
            </a:r>
            <a:r>
              <a:rPr sz="2350" spc="-5" dirty="0">
                <a:latin typeface="Calibri"/>
                <a:cs typeface="Calibri"/>
              </a:rPr>
              <a:t>to </a:t>
            </a:r>
            <a:r>
              <a:rPr sz="2350" spc="10" dirty="0">
                <a:latin typeface="Calibri"/>
                <a:cs typeface="Calibri"/>
              </a:rPr>
              <a:t>the </a:t>
            </a:r>
            <a:r>
              <a:rPr sz="2350" spc="5" dirty="0">
                <a:latin typeface="Calibri"/>
                <a:cs typeface="Calibri"/>
              </a:rPr>
              <a:t>other </a:t>
            </a:r>
            <a:r>
              <a:rPr sz="2350" dirty="0">
                <a:latin typeface="Calibri"/>
                <a:cs typeface="Calibri"/>
              </a:rPr>
              <a:t>two  variables, </a:t>
            </a:r>
            <a:r>
              <a:rPr sz="2350" spc="10" dirty="0">
                <a:latin typeface="Calibri"/>
                <a:cs typeface="Calibri"/>
              </a:rPr>
              <a:t>E and</a:t>
            </a:r>
            <a:r>
              <a:rPr sz="2350" dirty="0">
                <a:latin typeface="Calibri"/>
                <a:cs typeface="Calibri"/>
              </a:rPr>
              <a:t> </a:t>
            </a:r>
            <a:r>
              <a:rPr sz="2350" spc="10" dirty="0">
                <a:latin typeface="Calibri"/>
                <a:cs typeface="Calibri"/>
              </a:rPr>
              <a:t>A)</a:t>
            </a:r>
            <a:endParaRPr sz="23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4089" y="1076681"/>
            <a:ext cx="4091796" cy="49949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150" b="1" spc="110" dirty="0">
                <a:latin typeface="Calibri"/>
                <a:cs typeface="Calibri"/>
              </a:rPr>
              <a:t>Compu</a:t>
            </a:r>
            <a:r>
              <a:rPr lang="en-US" sz="3150" b="1" spc="110" dirty="0">
                <a:latin typeface="Calibri"/>
                <a:cs typeface="Calibri"/>
              </a:rPr>
              <a:t>ti</a:t>
            </a:r>
            <a:r>
              <a:rPr sz="3150" b="1" spc="110" dirty="0">
                <a:latin typeface="Calibri"/>
                <a:cs typeface="Calibri"/>
              </a:rPr>
              <a:t>ng: </a:t>
            </a:r>
            <a:r>
              <a:rPr sz="3150" b="1" dirty="0">
                <a:latin typeface="Calibri"/>
                <a:cs typeface="Calibri"/>
              </a:rPr>
              <a:t>P(B,J,</a:t>
            </a:r>
            <a:r>
              <a:rPr sz="3150" b="1" spc="-135" dirty="0">
                <a:latin typeface="Calibri"/>
                <a:cs typeface="Calibri"/>
              </a:rPr>
              <a:t> </a:t>
            </a:r>
            <a:r>
              <a:rPr sz="3150" b="1" dirty="0">
                <a:latin typeface="Symbol"/>
                <a:cs typeface="Symbol"/>
              </a:rPr>
              <a:t></a:t>
            </a:r>
            <a:r>
              <a:rPr sz="3150" b="1" dirty="0">
                <a:latin typeface="Calibri"/>
                <a:cs typeface="Calibri"/>
              </a:rPr>
              <a:t>M)</a:t>
            </a:r>
            <a:endParaRPr sz="315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775269" y="5008697"/>
            <a:ext cx="540385" cy="540385"/>
            <a:chOff x="5775269" y="5008697"/>
            <a:chExt cx="540385" cy="540385"/>
          </a:xfrm>
        </p:grpSpPr>
        <p:sp>
          <p:nvSpPr>
            <p:cNvPr id="4" name="object 4"/>
            <p:cNvSpPr/>
            <p:nvPr/>
          </p:nvSpPr>
          <p:spPr>
            <a:xfrm>
              <a:off x="5781547" y="501497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4"/>
                  </a:lnTo>
                  <a:lnTo>
                    <a:pt x="16496" y="171710"/>
                  </a:lnTo>
                  <a:lnTo>
                    <a:pt x="4248" y="216330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1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3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30"/>
                  </a:lnTo>
                  <a:lnTo>
                    <a:pt x="510858" y="171710"/>
                  </a:lnTo>
                  <a:lnTo>
                    <a:pt x="491355" y="130624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3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81547" y="501497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528561" y="3652266"/>
            <a:ext cx="1595120" cy="1896745"/>
            <a:chOff x="6528561" y="3652266"/>
            <a:chExt cx="1595120" cy="1896745"/>
          </a:xfrm>
        </p:grpSpPr>
        <p:sp>
          <p:nvSpPr>
            <p:cNvPr id="7" name="object 7"/>
            <p:cNvSpPr/>
            <p:nvPr/>
          </p:nvSpPr>
          <p:spPr>
            <a:xfrm>
              <a:off x="7589621" y="501497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263677" y="0"/>
                  </a:moveTo>
                  <a:lnTo>
                    <a:pt x="216280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4"/>
                  </a:lnTo>
                  <a:lnTo>
                    <a:pt x="16496" y="171710"/>
                  </a:lnTo>
                  <a:lnTo>
                    <a:pt x="4248" y="216330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0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2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30"/>
                  </a:lnTo>
                  <a:lnTo>
                    <a:pt x="510858" y="171710"/>
                  </a:lnTo>
                  <a:lnTo>
                    <a:pt x="491355" y="130624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2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89621" y="501497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0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0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34911" y="365861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500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4"/>
                  </a:lnTo>
                  <a:lnTo>
                    <a:pt x="16496" y="171710"/>
                  </a:lnTo>
                  <a:lnTo>
                    <a:pt x="4248" y="216330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49"/>
                  </a:lnTo>
                  <a:lnTo>
                    <a:pt x="62013" y="433658"/>
                  </a:lnTo>
                  <a:lnTo>
                    <a:pt x="93793" y="465445"/>
                  </a:lnTo>
                  <a:lnTo>
                    <a:pt x="130594" y="491465"/>
                  </a:lnTo>
                  <a:lnTo>
                    <a:pt x="171671" y="510972"/>
                  </a:lnTo>
                  <a:lnTo>
                    <a:pt x="216281" y="523223"/>
                  </a:lnTo>
                  <a:lnTo>
                    <a:pt x="263677" y="527472"/>
                  </a:lnTo>
                  <a:lnTo>
                    <a:pt x="311073" y="523223"/>
                  </a:lnTo>
                  <a:lnTo>
                    <a:pt x="355683" y="510972"/>
                  </a:lnTo>
                  <a:lnTo>
                    <a:pt x="396760" y="491465"/>
                  </a:lnTo>
                  <a:lnTo>
                    <a:pt x="433561" y="465445"/>
                  </a:lnTo>
                  <a:lnTo>
                    <a:pt x="465341" y="433658"/>
                  </a:lnTo>
                  <a:lnTo>
                    <a:pt x="491355" y="396849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30"/>
                  </a:lnTo>
                  <a:lnTo>
                    <a:pt x="510858" y="171710"/>
                  </a:lnTo>
                  <a:lnTo>
                    <a:pt x="491355" y="130624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3" y="16500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534911" y="3658616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500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500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687952" y="3766482"/>
            <a:ext cx="17780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15" dirty="0">
                <a:latin typeface="Calibri"/>
                <a:cs typeface="Calibri"/>
              </a:rPr>
              <a:t>A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34588" y="5122840"/>
            <a:ext cx="10858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5" dirty="0">
                <a:latin typeface="Calibri"/>
                <a:cs typeface="Calibri"/>
              </a:rPr>
              <a:t>J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473852" y="2295905"/>
            <a:ext cx="2348230" cy="540385"/>
            <a:chOff x="5473852" y="2295905"/>
            <a:chExt cx="2348230" cy="540385"/>
          </a:xfrm>
        </p:grpSpPr>
        <p:sp>
          <p:nvSpPr>
            <p:cNvPr id="14" name="object 14"/>
            <p:cNvSpPr/>
            <p:nvPr/>
          </p:nvSpPr>
          <p:spPr>
            <a:xfrm>
              <a:off x="5480202" y="2302255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499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3"/>
                  </a:lnTo>
                  <a:lnTo>
                    <a:pt x="16496" y="171710"/>
                  </a:lnTo>
                  <a:lnTo>
                    <a:pt x="4248" y="216329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50"/>
                  </a:lnTo>
                  <a:lnTo>
                    <a:pt x="62013" y="433659"/>
                  </a:lnTo>
                  <a:lnTo>
                    <a:pt x="93793" y="465446"/>
                  </a:lnTo>
                  <a:lnTo>
                    <a:pt x="130594" y="491466"/>
                  </a:lnTo>
                  <a:lnTo>
                    <a:pt x="171671" y="510974"/>
                  </a:lnTo>
                  <a:lnTo>
                    <a:pt x="216281" y="523225"/>
                  </a:lnTo>
                  <a:lnTo>
                    <a:pt x="263677" y="527474"/>
                  </a:lnTo>
                  <a:lnTo>
                    <a:pt x="311073" y="523225"/>
                  </a:lnTo>
                  <a:lnTo>
                    <a:pt x="355682" y="510974"/>
                  </a:lnTo>
                  <a:lnTo>
                    <a:pt x="396760" y="491466"/>
                  </a:lnTo>
                  <a:lnTo>
                    <a:pt x="433561" y="465446"/>
                  </a:lnTo>
                  <a:lnTo>
                    <a:pt x="465341" y="433659"/>
                  </a:lnTo>
                  <a:lnTo>
                    <a:pt x="491355" y="396850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29"/>
                  </a:lnTo>
                  <a:lnTo>
                    <a:pt x="510858" y="171710"/>
                  </a:lnTo>
                  <a:lnTo>
                    <a:pt x="491355" y="130623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2" y="16499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80202" y="2302255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499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2" y="16499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2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88275" y="2302255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263677" y="0"/>
                  </a:moveTo>
                  <a:lnTo>
                    <a:pt x="216281" y="4249"/>
                  </a:lnTo>
                  <a:lnTo>
                    <a:pt x="171671" y="16499"/>
                  </a:lnTo>
                  <a:lnTo>
                    <a:pt x="130594" y="36007"/>
                  </a:lnTo>
                  <a:lnTo>
                    <a:pt x="93793" y="62027"/>
                  </a:lnTo>
                  <a:lnTo>
                    <a:pt x="62013" y="93814"/>
                  </a:lnTo>
                  <a:lnTo>
                    <a:pt x="35999" y="130623"/>
                  </a:lnTo>
                  <a:lnTo>
                    <a:pt x="16496" y="171710"/>
                  </a:lnTo>
                  <a:lnTo>
                    <a:pt x="4248" y="216329"/>
                  </a:lnTo>
                  <a:lnTo>
                    <a:pt x="0" y="263737"/>
                  </a:lnTo>
                  <a:lnTo>
                    <a:pt x="4248" y="311144"/>
                  </a:lnTo>
                  <a:lnTo>
                    <a:pt x="16496" y="355763"/>
                  </a:lnTo>
                  <a:lnTo>
                    <a:pt x="35999" y="396850"/>
                  </a:lnTo>
                  <a:lnTo>
                    <a:pt x="62013" y="433659"/>
                  </a:lnTo>
                  <a:lnTo>
                    <a:pt x="93793" y="465446"/>
                  </a:lnTo>
                  <a:lnTo>
                    <a:pt x="130594" y="491466"/>
                  </a:lnTo>
                  <a:lnTo>
                    <a:pt x="171671" y="510974"/>
                  </a:lnTo>
                  <a:lnTo>
                    <a:pt x="216281" y="523225"/>
                  </a:lnTo>
                  <a:lnTo>
                    <a:pt x="263677" y="527474"/>
                  </a:lnTo>
                  <a:lnTo>
                    <a:pt x="311073" y="523225"/>
                  </a:lnTo>
                  <a:lnTo>
                    <a:pt x="355683" y="510974"/>
                  </a:lnTo>
                  <a:lnTo>
                    <a:pt x="396760" y="491466"/>
                  </a:lnTo>
                  <a:lnTo>
                    <a:pt x="433561" y="465446"/>
                  </a:lnTo>
                  <a:lnTo>
                    <a:pt x="465341" y="433659"/>
                  </a:lnTo>
                  <a:lnTo>
                    <a:pt x="491355" y="396850"/>
                  </a:lnTo>
                  <a:lnTo>
                    <a:pt x="510858" y="355763"/>
                  </a:lnTo>
                  <a:lnTo>
                    <a:pt x="523106" y="311144"/>
                  </a:lnTo>
                  <a:lnTo>
                    <a:pt x="527354" y="263737"/>
                  </a:lnTo>
                  <a:lnTo>
                    <a:pt x="523106" y="216329"/>
                  </a:lnTo>
                  <a:lnTo>
                    <a:pt x="510858" y="171710"/>
                  </a:lnTo>
                  <a:lnTo>
                    <a:pt x="491355" y="130623"/>
                  </a:lnTo>
                  <a:lnTo>
                    <a:pt x="465341" y="93814"/>
                  </a:lnTo>
                  <a:lnTo>
                    <a:pt x="433561" y="62027"/>
                  </a:lnTo>
                  <a:lnTo>
                    <a:pt x="396760" y="36007"/>
                  </a:lnTo>
                  <a:lnTo>
                    <a:pt x="355683" y="16499"/>
                  </a:lnTo>
                  <a:lnTo>
                    <a:pt x="311073" y="4249"/>
                  </a:lnTo>
                  <a:lnTo>
                    <a:pt x="263677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88275" y="2302255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4" h="527685">
                  <a:moveTo>
                    <a:pt x="0" y="263736"/>
                  </a:moveTo>
                  <a:lnTo>
                    <a:pt x="4248" y="216329"/>
                  </a:lnTo>
                  <a:lnTo>
                    <a:pt x="16496" y="171710"/>
                  </a:lnTo>
                  <a:lnTo>
                    <a:pt x="35999" y="130623"/>
                  </a:lnTo>
                  <a:lnTo>
                    <a:pt x="62013" y="93814"/>
                  </a:lnTo>
                  <a:lnTo>
                    <a:pt x="93793" y="62027"/>
                  </a:lnTo>
                  <a:lnTo>
                    <a:pt x="130594" y="36007"/>
                  </a:lnTo>
                  <a:lnTo>
                    <a:pt x="171671" y="16499"/>
                  </a:lnTo>
                  <a:lnTo>
                    <a:pt x="216281" y="4249"/>
                  </a:lnTo>
                  <a:lnTo>
                    <a:pt x="263677" y="0"/>
                  </a:lnTo>
                  <a:lnTo>
                    <a:pt x="311073" y="4249"/>
                  </a:lnTo>
                  <a:lnTo>
                    <a:pt x="355683" y="16499"/>
                  </a:lnTo>
                  <a:lnTo>
                    <a:pt x="396760" y="36007"/>
                  </a:lnTo>
                  <a:lnTo>
                    <a:pt x="433561" y="62027"/>
                  </a:lnTo>
                  <a:lnTo>
                    <a:pt x="465341" y="93814"/>
                  </a:lnTo>
                  <a:lnTo>
                    <a:pt x="491355" y="130623"/>
                  </a:lnTo>
                  <a:lnTo>
                    <a:pt x="510858" y="171710"/>
                  </a:lnTo>
                  <a:lnTo>
                    <a:pt x="523106" y="216329"/>
                  </a:lnTo>
                  <a:lnTo>
                    <a:pt x="527354" y="263736"/>
                  </a:lnTo>
                  <a:lnTo>
                    <a:pt x="523106" y="311143"/>
                  </a:lnTo>
                  <a:lnTo>
                    <a:pt x="510858" y="355762"/>
                  </a:lnTo>
                  <a:lnTo>
                    <a:pt x="491355" y="396849"/>
                  </a:lnTo>
                  <a:lnTo>
                    <a:pt x="465341" y="433658"/>
                  </a:lnTo>
                  <a:lnTo>
                    <a:pt x="433561" y="465445"/>
                  </a:lnTo>
                  <a:lnTo>
                    <a:pt x="396760" y="491465"/>
                  </a:lnTo>
                  <a:lnTo>
                    <a:pt x="355683" y="510973"/>
                  </a:lnTo>
                  <a:lnTo>
                    <a:pt x="311073" y="523224"/>
                  </a:lnTo>
                  <a:lnTo>
                    <a:pt x="263677" y="527473"/>
                  </a:lnTo>
                  <a:lnTo>
                    <a:pt x="216281" y="523224"/>
                  </a:lnTo>
                  <a:lnTo>
                    <a:pt x="171671" y="510973"/>
                  </a:lnTo>
                  <a:lnTo>
                    <a:pt x="130594" y="491465"/>
                  </a:lnTo>
                  <a:lnTo>
                    <a:pt x="93793" y="465445"/>
                  </a:lnTo>
                  <a:lnTo>
                    <a:pt x="62013" y="433658"/>
                  </a:lnTo>
                  <a:lnTo>
                    <a:pt x="35999" y="396849"/>
                  </a:lnTo>
                  <a:lnTo>
                    <a:pt x="16496" y="355762"/>
                  </a:lnTo>
                  <a:lnTo>
                    <a:pt x="4248" y="311143"/>
                  </a:lnTo>
                  <a:lnTo>
                    <a:pt x="0" y="263736"/>
                  </a:lnTo>
                  <a:close/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633242" y="2410122"/>
            <a:ext cx="16637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15" dirty="0">
                <a:latin typeface="Calibri"/>
                <a:cs typeface="Calibri"/>
              </a:rPr>
              <a:t>B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41316" y="2410122"/>
            <a:ext cx="14795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10" dirty="0">
                <a:latin typeface="Calibri"/>
                <a:cs typeface="Calibri"/>
              </a:rPr>
              <a:t>E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850605" y="2823450"/>
            <a:ext cx="1907539" cy="2209800"/>
            <a:chOff x="5850605" y="2823450"/>
            <a:chExt cx="1907539" cy="2209800"/>
          </a:xfrm>
        </p:grpSpPr>
        <p:sp>
          <p:nvSpPr>
            <p:cNvPr id="21" name="object 21"/>
            <p:cNvSpPr/>
            <p:nvPr/>
          </p:nvSpPr>
          <p:spPr>
            <a:xfrm>
              <a:off x="5856884" y="2829729"/>
              <a:ext cx="753745" cy="829310"/>
            </a:xfrm>
            <a:custGeom>
              <a:avLst/>
              <a:gdLst/>
              <a:ahLst/>
              <a:cxnLst/>
              <a:rect l="l" t="t" r="r" b="b"/>
              <a:pathLst>
                <a:path w="753745" h="829310">
                  <a:moveTo>
                    <a:pt x="0" y="0"/>
                  </a:moveTo>
                  <a:lnTo>
                    <a:pt x="753364" y="828886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548591" y="3596101"/>
              <a:ext cx="78740" cy="81280"/>
            </a:xfrm>
            <a:custGeom>
              <a:avLst/>
              <a:gdLst/>
              <a:ahLst/>
              <a:cxnLst/>
              <a:rect l="l" t="t" r="r" b="b"/>
              <a:pathLst>
                <a:path w="78740" h="81279">
                  <a:moveTo>
                    <a:pt x="55745" y="0"/>
                  </a:moveTo>
                  <a:lnTo>
                    <a:pt x="0" y="50686"/>
                  </a:lnTo>
                  <a:lnTo>
                    <a:pt x="78549" y="81100"/>
                  </a:lnTo>
                  <a:lnTo>
                    <a:pt x="557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986930" y="2829729"/>
              <a:ext cx="527685" cy="829310"/>
            </a:xfrm>
            <a:custGeom>
              <a:avLst/>
              <a:gdLst/>
              <a:ahLst/>
              <a:cxnLst/>
              <a:rect l="l" t="t" r="r" b="b"/>
              <a:pathLst>
                <a:path w="527684" h="829310">
                  <a:moveTo>
                    <a:pt x="527354" y="0"/>
                  </a:moveTo>
                  <a:lnTo>
                    <a:pt x="0" y="828886"/>
                  </a:lnTo>
                </a:path>
              </a:pathLst>
            </a:custGeom>
            <a:ln w="12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973447" y="3596006"/>
              <a:ext cx="72390" cy="83820"/>
            </a:xfrm>
            <a:custGeom>
              <a:avLst/>
              <a:gdLst/>
              <a:ahLst/>
              <a:cxnLst/>
              <a:rect l="l" t="t" r="r" b="b"/>
              <a:pathLst>
                <a:path w="72390" h="83820">
                  <a:moveTo>
                    <a:pt x="8666" y="0"/>
                  </a:moveTo>
                  <a:lnTo>
                    <a:pt x="0" y="83800"/>
                  </a:lnTo>
                  <a:lnTo>
                    <a:pt x="72226" y="40455"/>
                  </a:lnTo>
                  <a:lnTo>
                    <a:pt x="86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11593" y="4186089"/>
              <a:ext cx="829310" cy="829310"/>
            </a:xfrm>
            <a:custGeom>
              <a:avLst/>
              <a:gdLst/>
              <a:ahLst/>
              <a:cxnLst/>
              <a:rect l="l" t="t" r="r" b="b"/>
              <a:pathLst>
                <a:path w="829309" h="829310">
                  <a:moveTo>
                    <a:pt x="0" y="0"/>
                  </a:moveTo>
                  <a:lnTo>
                    <a:pt x="828700" y="828886"/>
                  </a:lnTo>
                </a:path>
              </a:pathLst>
            </a:custGeom>
            <a:ln w="12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678144" y="4952813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53271" y="0"/>
                  </a:moveTo>
                  <a:lnTo>
                    <a:pt x="0" y="53282"/>
                  </a:lnTo>
                  <a:lnTo>
                    <a:pt x="79907" y="79923"/>
                  </a:lnTo>
                  <a:lnTo>
                    <a:pt x="532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233566" y="4186089"/>
              <a:ext cx="377190" cy="753745"/>
            </a:xfrm>
            <a:custGeom>
              <a:avLst/>
              <a:gdLst/>
              <a:ahLst/>
              <a:cxnLst/>
              <a:rect l="l" t="t" r="r" b="b"/>
              <a:pathLst>
                <a:path w="377190" h="753745">
                  <a:moveTo>
                    <a:pt x="376682" y="0"/>
                  </a:moveTo>
                  <a:lnTo>
                    <a:pt x="0" y="753533"/>
                  </a:lnTo>
                </a:path>
              </a:pathLst>
            </a:custGeom>
            <a:ln w="12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222335" y="4877841"/>
              <a:ext cx="67945" cy="84455"/>
            </a:xfrm>
            <a:custGeom>
              <a:avLst/>
              <a:gdLst/>
              <a:ahLst/>
              <a:cxnLst/>
              <a:rect l="l" t="t" r="r" b="b"/>
              <a:pathLst>
                <a:path w="67945" h="84454">
                  <a:moveTo>
                    <a:pt x="0" y="0"/>
                  </a:moveTo>
                  <a:lnTo>
                    <a:pt x="0" y="84247"/>
                  </a:lnTo>
                  <a:lnTo>
                    <a:pt x="67382" y="33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427859" y="2108709"/>
            <a:ext cx="80137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10" dirty="0">
                <a:latin typeface="Calibri"/>
                <a:cs typeface="Calibri"/>
              </a:rPr>
              <a:t>P(B</a:t>
            </a:r>
            <a:r>
              <a:rPr sz="1750" spc="5" dirty="0">
                <a:latin typeface="Calibri"/>
                <a:cs typeface="Calibri"/>
              </a:rPr>
              <a:t>)=.</a:t>
            </a:r>
            <a:r>
              <a:rPr sz="1750" spc="10" dirty="0">
                <a:latin typeface="Calibri"/>
                <a:cs typeface="Calibri"/>
              </a:rPr>
              <a:t>0</a:t>
            </a:r>
            <a:r>
              <a:rPr sz="1750" spc="15" dirty="0">
                <a:latin typeface="Calibri"/>
                <a:cs typeface="Calibri"/>
              </a:rPr>
              <a:t>5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044007" y="2259414"/>
            <a:ext cx="67437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10" dirty="0">
                <a:latin typeface="Calibri"/>
                <a:cs typeface="Calibri"/>
              </a:rPr>
              <a:t>P(E)</a:t>
            </a:r>
            <a:r>
              <a:rPr sz="1750" spc="5" dirty="0">
                <a:latin typeface="Calibri"/>
                <a:cs typeface="Calibri"/>
              </a:rPr>
              <a:t>=</a:t>
            </a:r>
            <a:r>
              <a:rPr sz="1750" spc="10" dirty="0">
                <a:latin typeface="Calibri"/>
                <a:cs typeface="Calibri"/>
              </a:rPr>
              <a:t>.1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051177" y="3314362"/>
            <a:ext cx="1828164" cy="11131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5" dirty="0">
                <a:latin typeface="Calibri"/>
                <a:cs typeface="Calibri"/>
              </a:rPr>
              <a:t>P(A|B,E)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)=.95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ts val="2090"/>
              </a:lnSpc>
              <a:spcBef>
                <a:spcPts val="75"/>
              </a:spcBef>
            </a:pPr>
            <a:r>
              <a:rPr sz="1750" spc="10" dirty="0">
                <a:latin typeface="Calibri"/>
                <a:cs typeface="Calibri"/>
              </a:rPr>
              <a:t>P(A|B,</a:t>
            </a:r>
            <a:r>
              <a:rPr sz="1750" spc="10" dirty="0">
                <a:latin typeface="Symbol"/>
                <a:cs typeface="Symbol"/>
              </a:rPr>
              <a:t></a:t>
            </a:r>
            <a:r>
              <a:rPr sz="1750" spc="10" dirty="0">
                <a:latin typeface="Calibri"/>
                <a:cs typeface="Calibri"/>
              </a:rPr>
              <a:t>E) =</a:t>
            </a:r>
            <a:r>
              <a:rPr sz="1750" spc="-80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.85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ts val="2090"/>
              </a:lnSpc>
            </a:pPr>
            <a:r>
              <a:rPr sz="1750" spc="10" dirty="0">
                <a:latin typeface="Calibri"/>
                <a:cs typeface="Calibri"/>
              </a:rPr>
              <a:t>P(A| </a:t>
            </a:r>
            <a:r>
              <a:rPr sz="1750" spc="20" dirty="0">
                <a:latin typeface="Symbol"/>
                <a:cs typeface="Symbol"/>
              </a:rPr>
              <a:t></a:t>
            </a:r>
            <a:r>
              <a:rPr sz="1750" spc="20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Calibri"/>
                <a:cs typeface="Calibri"/>
              </a:rPr>
              <a:t>B,E)</a:t>
            </a:r>
            <a:r>
              <a:rPr sz="1750" spc="-150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)=.5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750" spc="10" dirty="0">
                <a:latin typeface="Calibri"/>
                <a:cs typeface="Calibri"/>
              </a:rPr>
              <a:t>P(A| </a:t>
            </a:r>
            <a:r>
              <a:rPr sz="1750" spc="20" dirty="0">
                <a:latin typeface="Symbol"/>
                <a:cs typeface="Symbol"/>
              </a:rPr>
              <a:t></a:t>
            </a:r>
            <a:r>
              <a:rPr sz="1750" spc="20" dirty="0">
                <a:latin typeface="Times New Roman"/>
                <a:cs typeface="Times New Roman"/>
              </a:rPr>
              <a:t> </a:t>
            </a:r>
            <a:r>
              <a:rPr sz="1750" spc="-5" dirty="0">
                <a:latin typeface="Calibri"/>
                <a:cs typeface="Calibri"/>
              </a:rPr>
              <a:t>B, </a:t>
            </a:r>
            <a:r>
              <a:rPr sz="1750" spc="20" dirty="0">
                <a:latin typeface="Symbol"/>
                <a:cs typeface="Symbol"/>
              </a:rPr>
              <a:t></a:t>
            </a:r>
            <a:r>
              <a:rPr sz="1750" spc="2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Calibri"/>
                <a:cs typeface="Calibri"/>
              </a:rPr>
              <a:t>E) =</a:t>
            </a:r>
            <a:r>
              <a:rPr sz="1750" spc="-175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.05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27859" y="5122840"/>
            <a:ext cx="1248410" cy="5734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10" dirty="0">
                <a:latin typeface="Calibri"/>
                <a:cs typeface="Calibri"/>
              </a:rPr>
              <a:t>P(J|A)</a:t>
            </a:r>
            <a:r>
              <a:rPr sz="1750" spc="-10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)=.7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750" spc="10" dirty="0">
                <a:latin typeface="Calibri"/>
                <a:cs typeface="Calibri"/>
              </a:rPr>
              <a:t>P(J|</a:t>
            </a:r>
            <a:r>
              <a:rPr sz="1750" spc="10" dirty="0">
                <a:latin typeface="Symbol"/>
                <a:cs typeface="Symbol"/>
              </a:rPr>
              <a:t></a:t>
            </a:r>
            <a:r>
              <a:rPr sz="1750" spc="10" dirty="0">
                <a:latin typeface="Calibri"/>
                <a:cs typeface="Calibri"/>
              </a:rPr>
              <a:t>A) =</a:t>
            </a:r>
            <a:r>
              <a:rPr sz="1750" spc="-60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.05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441316" y="5122840"/>
            <a:ext cx="1369695" cy="11004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13690">
              <a:lnSpc>
                <a:spcPct val="100000"/>
              </a:lnSpc>
              <a:spcBef>
                <a:spcPts val="125"/>
              </a:spcBef>
            </a:pPr>
            <a:r>
              <a:rPr sz="1950" b="1" spc="20" dirty="0">
                <a:latin typeface="Calibri"/>
                <a:cs typeface="Calibri"/>
              </a:rPr>
              <a:t>M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14"/>
              </a:spcBef>
            </a:pPr>
            <a:r>
              <a:rPr sz="1750" spc="10" dirty="0">
                <a:latin typeface="Calibri"/>
                <a:cs typeface="Calibri"/>
              </a:rPr>
              <a:t>P(M|A)</a:t>
            </a:r>
            <a:r>
              <a:rPr sz="1750" spc="-10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)=.8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750" spc="15" dirty="0">
                <a:latin typeface="Calibri"/>
                <a:cs typeface="Calibri"/>
              </a:rPr>
              <a:t>P(M|</a:t>
            </a:r>
            <a:r>
              <a:rPr sz="1750" spc="15" dirty="0">
                <a:latin typeface="Symbol"/>
                <a:cs typeface="Symbol"/>
              </a:rPr>
              <a:t></a:t>
            </a:r>
            <a:r>
              <a:rPr sz="1750" spc="15" dirty="0">
                <a:latin typeface="Calibri"/>
                <a:cs typeface="Calibri"/>
              </a:rPr>
              <a:t>A) </a:t>
            </a:r>
            <a:r>
              <a:rPr sz="1750" spc="10" dirty="0">
                <a:latin typeface="Calibri"/>
                <a:cs typeface="Calibri"/>
              </a:rPr>
              <a:t>=</a:t>
            </a:r>
            <a:r>
              <a:rPr sz="1750" spc="-75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.15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11712" y="1892696"/>
            <a:ext cx="3046095" cy="27482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540510">
              <a:lnSpc>
                <a:spcPct val="154500"/>
              </a:lnSpc>
              <a:spcBef>
                <a:spcPts val="90"/>
              </a:spcBef>
            </a:pPr>
            <a:r>
              <a:rPr sz="1750" dirty="0">
                <a:latin typeface="Calibri"/>
                <a:cs typeface="Calibri"/>
              </a:rPr>
              <a:t>P(B,J, </a:t>
            </a:r>
            <a:r>
              <a:rPr sz="1750" spc="15" dirty="0">
                <a:latin typeface="Symbol"/>
                <a:cs typeface="Symbol"/>
              </a:rPr>
              <a:t></a:t>
            </a:r>
            <a:r>
              <a:rPr sz="1750" spc="15" dirty="0">
                <a:latin typeface="Calibri"/>
                <a:cs typeface="Calibri"/>
              </a:rPr>
              <a:t>M) </a:t>
            </a:r>
            <a:r>
              <a:rPr sz="1750" spc="10" dirty="0">
                <a:latin typeface="Calibri"/>
                <a:cs typeface="Calibri"/>
              </a:rPr>
              <a:t>=  </a:t>
            </a:r>
            <a:r>
              <a:rPr sz="1750" dirty="0">
                <a:latin typeface="Calibri"/>
                <a:cs typeface="Calibri"/>
              </a:rPr>
              <a:t>P(B,J, </a:t>
            </a:r>
            <a:r>
              <a:rPr sz="1750" spc="15" dirty="0">
                <a:latin typeface="Symbol"/>
                <a:cs typeface="Symbol"/>
              </a:rPr>
              <a:t></a:t>
            </a:r>
            <a:r>
              <a:rPr sz="1750" spc="15" dirty="0">
                <a:latin typeface="Calibri"/>
                <a:cs typeface="Calibri"/>
              </a:rPr>
              <a:t>M,A,E)</a:t>
            </a:r>
            <a:r>
              <a:rPr sz="1750" spc="-45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+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750" dirty="0">
                <a:latin typeface="Calibri"/>
                <a:cs typeface="Calibri"/>
              </a:rPr>
              <a:t>P(B,J, </a:t>
            </a:r>
            <a:r>
              <a:rPr sz="1750" spc="15" dirty="0">
                <a:latin typeface="Symbol"/>
                <a:cs typeface="Symbol"/>
              </a:rPr>
              <a:t></a:t>
            </a:r>
            <a:r>
              <a:rPr sz="1750" spc="15" dirty="0">
                <a:latin typeface="Calibri"/>
                <a:cs typeface="Calibri"/>
              </a:rPr>
              <a:t>M, </a:t>
            </a:r>
            <a:r>
              <a:rPr sz="1750" spc="20" dirty="0">
                <a:latin typeface="Symbol"/>
                <a:cs typeface="Symbol"/>
              </a:rPr>
              <a:t></a:t>
            </a:r>
            <a:r>
              <a:rPr sz="1750" spc="2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Calibri"/>
                <a:cs typeface="Calibri"/>
              </a:rPr>
              <a:t>A,E)</a:t>
            </a:r>
            <a:r>
              <a:rPr sz="1750" spc="-105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+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750" dirty="0">
                <a:latin typeface="Calibri"/>
                <a:cs typeface="Calibri"/>
              </a:rPr>
              <a:t>P(B,J, </a:t>
            </a:r>
            <a:r>
              <a:rPr sz="1750" spc="15" dirty="0">
                <a:latin typeface="Symbol"/>
                <a:cs typeface="Symbol"/>
              </a:rPr>
              <a:t></a:t>
            </a:r>
            <a:r>
              <a:rPr sz="1750" spc="15" dirty="0">
                <a:latin typeface="Calibri"/>
                <a:cs typeface="Calibri"/>
              </a:rPr>
              <a:t>M,A, </a:t>
            </a:r>
            <a:r>
              <a:rPr sz="1750" spc="20" dirty="0">
                <a:latin typeface="Symbol"/>
                <a:cs typeface="Symbol"/>
              </a:rPr>
              <a:t></a:t>
            </a:r>
            <a:r>
              <a:rPr sz="1750" spc="2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Calibri"/>
                <a:cs typeface="Calibri"/>
              </a:rPr>
              <a:t>E)</a:t>
            </a:r>
            <a:r>
              <a:rPr sz="1750" spc="-105" dirty="0">
                <a:latin typeface="Calibri"/>
                <a:cs typeface="Calibri"/>
              </a:rPr>
              <a:t> </a:t>
            </a:r>
            <a:r>
              <a:rPr sz="1750" spc="10" dirty="0">
                <a:latin typeface="Calibri"/>
                <a:cs typeface="Calibri"/>
              </a:rPr>
              <a:t>+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1750" dirty="0">
                <a:latin typeface="Calibri"/>
                <a:cs typeface="Calibri"/>
              </a:rPr>
              <a:t>P(B,J, </a:t>
            </a:r>
            <a:r>
              <a:rPr sz="1750" spc="15" dirty="0">
                <a:latin typeface="Symbol"/>
                <a:cs typeface="Symbol"/>
              </a:rPr>
              <a:t></a:t>
            </a:r>
            <a:r>
              <a:rPr sz="1750" spc="15" dirty="0">
                <a:latin typeface="Calibri"/>
                <a:cs typeface="Calibri"/>
              </a:rPr>
              <a:t>M, </a:t>
            </a:r>
            <a:r>
              <a:rPr sz="1750" spc="20" dirty="0">
                <a:latin typeface="Symbol"/>
                <a:cs typeface="Symbol"/>
              </a:rPr>
              <a:t></a:t>
            </a:r>
            <a:r>
              <a:rPr sz="1750" spc="20" dirty="0">
                <a:latin typeface="Times New Roman"/>
                <a:cs typeface="Times New Roman"/>
              </a:rPr>
              <a:t> </a:t>
            </a:r>
            <a:r>
              <a:rPr sz="1750" spc="15" dirty="0">
                <a:latin typeface="Calibri"/>
                <a:cs typeface="Calibri"/>
              </a:rPr>
              <a:t>A, </a:t>
            </a:r>
            <a:r>
              <a:rPr sz="1750" spc="20" dirty="0">
                <a:latin typeface="Symbol"/>
                <a:cs typeface="Symbol"/>
              </a:rPr>
              <a:t></a:t>
            </a:r>
            <a:r>
              <a:rPr sz="1750" spc="-130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Calibri"/>
                <a:cs typeface="Calibri"/>
              </a:rPr>
              <a:t>E)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750" spc="10" dirty="0">
                <a:latin typeface="Calibri"/>
                <a:cs typeface="Calibri"/>
              </a:rPr>
              <a:t>= </a:t>
            </a:r>
            <a:r>
              <a:rPr sz="1750" spc="5" dirty="0">
                <a:latin typeface="Calibri"/>
                <a:cs typeface="Calibri"/>
              </a:rPr>
              <a:t>0.0007+0.00001+0.005+0.0003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50" spc="10" dirty="0">
                <a:latin typeface="Calibri"/>
                <a:cs typeface="Calibri"/>
              </a:rPr>
              <a:t>=</a:t>
            </a:r>
            <a:r>
              <a:rPr sz="1750" dirty="0">
                <a:latin typeface="Calibri"/>
                <a:cs typeface="Calibri"/>
              </a:rPr>
              <a:t> </a:t>
            </a:r>
            <a:r>
              <a:rPr sz="1750" spc="5" dirty="0">
                <a:latin typeface="Calibri"/>
                <a:cs typeface="Calibri"/>
              </a:rPr>
              <a:t>0.00601</a:t>
            </a:r>
            <a:endParaRPr sz="1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4636" y="1076681"/>
            <a:ext cx="4609612" cy="49949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150" b="1" spc="125" dirty="0">
                <a:latin typeface="Calibri"/>
                <a:cs typeface="Calibri"/>
              </a:rPr>
              <a:t>Compu</a:t>
            </a:r>
            <a:r>
              <a:rPr lang="en-US" sz="3150" b="1" spc="125" dirty="0">
                <a:latin typeface="Calibri"/>
                <a:cs typeface="Calibri"/>
              </a:rPr>
              <a:t>ti</a:t>
            </a:r>
            <a:r>
              <a:rPr sz="3150" b="1" spc="125" dirty="0">
                <a:latin typeface="Calibri"/>
                <a:cs typeface="Calibri"/>
              </a:rPr>
              <a:t>ng </a:t>
            </a:r>
            <a:r>
              <a:rPr sz="3150" b="1" spc="160" dirty="0">
                <a:latin typeface="Calibri"/>
                <a:cs typeface="Calibri"/>
              </a:rPr>
              <a:t>par</a:t>
            </a:r>
            <a:r>
              <a:rPr lang="en-US" sz="3150" b="1" spc="160" dirty="0">
                <a:latin typeface="Calibri"/>
                <a:cs typeface="Calibri"/>
              </a:rPr>
              <a:t>ti</a:t>
            </a:r>
            <a:r>
              <a:rPr sz="3150" b="1" spc="160" dirty="0">
                <a:latin typeface="Calibri"/>
                <a:cs typeface="Calibri"/>
              </a:rPr>
              <a:t>al</a:t>
            </a:r>
            <a:r>
              <a:rPr sz="3150" b="1" spc="-175" dirty="0">
                <a:latin typeface="Calibri"/>
                <a:cs typeface="Calibri"/>
              </a:rPr>
              <a:t> </a:t>
            </a:r>
            <a:r>
              <a:rPr sz="3150" b="1" spc="-5" dirty="0">
                <a:latin typeface="Calibri"/>
                <a:cs typeface="Calibri"/>
              </a:rPr>
              <a:t>joints</a:t>
            </a:r>
            <a:endParaRPr sz="315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938393" y="2354013"/>
            <a:ext cx="3813810" cy="0"/>
          </a:xfrm>
          <a:custGeom>
            <a:avLst/>
            <a:gdLst/>
            <a:ahLst/>
            <a:cxnLst/>
            <a:rect l="l" t="t" r="r" b="b"/>
            <a:pathLst>
              <a:path w="3813809">
                <a:moveTo>
                  <a:pt x="0" y="0"/>
                </a:moveTo>
                <a:lnTo>
                  <a:pt x="3813565" y="0"/>
                </a:lnTo>
              </a:path>
            </a:pathLst>
          </a:custGeom>
          <a:ln w="133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309498" y="2462821"/>
            <a:ext cx="415925" cy="291465"/>
          </a:xfrm>
          <a:custGeom>
            <a:avLst/>
            <a:gdLst/>
            <a:ahLst/>
            <a:cxnLst/>
            <a:rect l="l" t="t" r="r" b="b"/>
            <a:pathLst>
              <a:path w="415925" h="291464">
                <a:moveTo>
                  <a:pt x="308813" y="9207"/>
                </a:moveTo>
                <a:lnTo>
                  <a:pt x="259295" y="9207"/>
                </a:lnTo>
                <a:lnTo>
                  <a:pt x="133184" y="182740"/>
                </a:lnTo>
                <a:lnTo>
                  <a:pt x="111988" y="9207"/>
                </a:lnTo>
                <a:lnTo>
                  <a:pt x="58724" y="9207"/>
                </a:lnTo>
                <a:lnTo>
                  <a:pt x="57150" y="15062"/>
                </a:lnTo>
                <a:lnTo>
                  <a:pt x="65633" y="16065"/>
                </a:lnTo>
                <a:lnTo>
                  <a:pt x="71450" y="17437"/>
                </a:lnTo>
                <a:lnTo>
                  <a:pt x="77736" y="20891"/>
                </a:lnTo>
                <a:lnTo>
                  <a:pt x="81026" y="24193"/>
                </a:lnTo>
                <a:lnTo>
                  <a:pt x="84493" y="29070"/>
                </a:lnTo>
                <a:lnTo>
                  <a:pt x="38963" y="187934"/>
                </a:lnTo>
                <a:lnTo>
                  <a:pt x="35293" y="199136"/>
                </a:lnTo>
                <a:lnTo>
                  <a:pt x="31788" y="206413"/>
                </a:lnTo>
                <a:lnTo>
                  <a:pt x="23825" y="214439"/>
                </a:lnTo>
                <a:lnTo>
                  <a:pt x="16344" y="216776"/>
                </a:lnTo>
                <a:lnTo>
                  <a:pt x="1727" y="216776"/>
                </a:lnTo>
                <a:lnTo>
                  <a:pt x="0" y="222631"/>
                </a:lnTo>
                <a:lnTo>
                  <a:pt x="70408" y="222631"/>
                </a:lnTo>
                <a:lnTo>
                  <a:pt x="72136" y="216776"/>
                </a:lnTo>
                <a:lnTo>
                  <a:pt x="61239" y="216039"/>
                </a:lnTo>
                <a:lnTo>
                  <a:pt x="54381" y="214655"/>
                </a:lnTo>
                <a:lnTo>
                  <a:pt x="48729" y="210591"/>
                </a:lnTo>
                <a:lnTo>
                  <a:pt x="47307" y="207632"/>
                </a:lnTo>
                <a:lnTo>
                  <a:pt x="47307" y="199898"/>
                </a:lnTo>
                <a:lnTo>
                  <a:pt x="48933" y="192379"/>
                </a:lnTo>
                <a:lnTo>
                  <a:pt x="89928" y="49542"/>
                </a:lnTo>
                <a:lnTo>
                  <a:pt x="111048" y="222631"/>
                </a:lnTo>
                <a:lnTo>
                  <a:pt x="117436" y="222631"/>
                </a:lnTo>
                <a:lnTo>
                  <a:pt x="243230" y="49542"/>
                </a:lnTo>
                <a:lnTo>
                  <a:pt x="204609" y="183819"/>
                </a:lnTo>
                <a:lnTo>
                  <a:pt x="201726" y="192620"/>
                </a:lnTo>
                <a:lnTo>
                  <a:pt x="165938" y="216776"/>
                </a:lnTo>
                <a:lnTo>
                  <a:pt x="164363" y="222631"/>
                </a:lnTo>
                <a:lnTo>
                  <a:pt x="253238" y="222631"/>
                </a:lnTo>
                <a:lnTo>
                  <a:pt x="254647" y="216776"/>
                </a:lnTo>
                <a:lnTo>
                  <a:pt x="242290" y="216776"/>
                </a:lnTo>
                <a:lnTo>
                  <a:pt x="236004" y="215455"/>
                </a:lnTo>
                <a:lnTo>
                  <a:pt x="229196" y="210972"/>
                </a:lnTo>
                <a:lnTo>
                  <a:pt x="227787" y="208280"/>
                </a:lnTo>
                <a:lnTo>
                  <a:pt x="227787" y="200787"/>
                </a:lnTo>
                <a:lnTo>
                  <a:pt x="228942" y="195389"/>
                </a:lnTo>
                <a:lnTo>
                  <a:pt x="231241" y="188544"/>
                </a:lnTo>
                <a:lnTo>
                  <a:pt x="272491" y="44272"/>
                </a:lnTo>
                <a:lnTo>
                  <a:pt x="308813" y="15062"/>
                </a:lnTo>
                <a:lnTo>
                  <a:pt x="308813" y="9207"/>
                </a:lnTo>
                <a:close/>
              </a:path>
              <a:path w="415925" h="291464">
                <a:moveTo>
                  <a:pt x="415645" y="145478"/>
                </a:moveTo>
                <a:lnTo>
                  <a:pt x="408724" y="96901"/>
                </a:lnTo>
                <a:lnTo>
                  <a:pt x="388454" y="52565"/>
                </a:lnTo>
                <a:lnTo>
                  <a:pt x="359981" y="19989"/>
                </a:lnTo>
                <a:lnTo>
                  <a:pt x="328510" y="0"/>
                </a:lnTo>
                <a:lnTo>
                  <a:pt x="328510" y="5867"/>
                </a:lnTo>
                <a:lnTo>
                  <a:pt x="336219" y="11430"/>
                </a:lnTo>
                <a:lnTo>
                  <a:pt x="343115" y="17119"/>
                </a:lnTo>
                <a:lnTo>
                  <a:pt x="367118" y="47599"/>
                </a:lnTo>
                <a:lnTo>
                  <a:pt x="380250" y="88734"/>
                </a:lnTo>
                <a:lnTo>
                  <a:pt x="385165" y="133438"/>
                </a:lnTo>
                <a:lnTo>
                  <a:pt x="385483" y="149796"/>
                </a:lnTo>
                <a:lnTo>
                  <a:pt x="385102" y="165100"/>
                </a:lnTo>
                <a:lnTo>
                  <a:pt x="379374" y="209207"/>
                </a:lnTo>
                <a:lnTo>
                  <a:pt x="366560" y="246278"/>
                </a:lnTo>
                <a:lnTo>
                  <a:pt x="337845" y="279514"/>
                </a:lnTo>
                <a:lnTo>
                  <a:pt x="328510" y="285407"/>
                </a:lnTo>
                <a:lnTo>
                  <a:pt x="328510" y="291261"/>
                </a:lnTo>
                <a:lnTo>
                  <a:pt x="363778" y="268351"/>
                </a:lnTo>
                <a:lnTo>
                  <a:pt x="391579" y="234035"/>
                </a:lnTo>
                <a:lnTo>
                  <a:pt x="409625" y="191884"/>
                </a:lnTo>
                <a:lnTo>
                  <a:pt x="414147" y="169214"/>
                </a:lnTo>
                <a:lnTo>
                  <a:pt x="415645" y="1454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6769245" y="2472025"/>
            <a:ext cx="257810" cy="266700"/>
            <a:chOff x="6769245" y="2472025"/>
            <a:chExt cx="257810" cy="266700"/>
          </a:xfrm>
        </p:grpSpPr>
        <p:sp>
          <p:nvSpPr>
            <p:cNvPr id="6" name="object 6"/>
            <p:cNvSpPr/>
            <p:nvPr/>
          </p:nvSpPr>
          <p:spPr>
            <a:xfrm>
              <a:off x="6978690" y="2654482"/>
              <a:ext cx="48260" cy="83820"/>
            </a:xfrm>
            <a:custGeom>
              <a:avLst/>
              <a:gdLst/>
              <a:ahLst/>
              <a:cxnLst/>
              <a:rect l="l" t="t" r="r" b="b"/>
              <a:pathLst>
                <a:path w="48259" h="83819">
                  <a:moveTo>
                    <a:pt x="27721" y="0"/>
                  </a:moveTo>
                  <a:lnTo>
                    <a:pt x="14900" y="0"/>
                  </a:lnTo>
                  <a:lnTo>
                    <a:pt x="10013" y="1798"/>
                  </a:lnTo>
                  <a:lnTo>
                    <a:pt x="2001" y="8991"/>
                  </a:lnTo>
                  <a:lnTo>
                    <a:pt x="0" y="13309"/>
                  </a:lnTo>
                  <a:lnTo>
                    <a:pt x="0" y="23587"/>
                  </a:lnTo>
                  <a:lnTo>
                    <a:pt x="1572" y="27698"/>
                  </a:lnTo>
                  <a:lnTo>
                    <a:pt x="7866" y="33662"/>
                  </a:lnTo>
                  <a:lnTo>
                    <a:pt x="12099" y="35152"/>
                  </a:lnTo>
                  <a:lnTo>
                    <a:pt x="19594" y="35152"/>
                  </a:lnTo>
                  <a:lnTo>
                    <a:pt x="21659" y="34691"/>
                  </a:lnTo>
                  <a:lnTo>
                    <a:pt x="27627" y="31718"/>
                  </a:lnTo>
                  <a:lnTo>
                    <a:pt x="30234" y="30693"/>
                  </a:lnTo>
                  <a:lnTo>
                    <a:pt x="32188" y="30693"/>
                  </a:lnTo>
                  <a:lnTo>
                    <a:pt x="32951" y="31160"/>
                  </a:lnTo>
                  <a:lnTo>
                    <a:pt x="34696" y="33435"/>
                  </a:lnTo>
                  <a:lnTo>
                    <a:pt x="35185" y="35087"/>
                  </a:lnTo>
                  <a:lnTo>
                    <a:pt x="35185" y="45314"/>
                  </a:lnTo>
                  <a:lnTo>
                    <a:pt x="7917" y="73885"/>
                  </a:lnTo>
                  <a:lnTo>
                    <a:pt x="0" y="76883"/>
                  </a:lnTo>
                  <a:lnTo>
                    <a:pt x="0" y="83696"/>
                  </a:lnTo>
                  <a:lnTo>
                    <a:pt x="36291" y="62118"/>
                  </a:lnTo>
                  <a:lnTo>
                    <a:pt x="47751" y="32485"/>
                  </a:lnTo>
                  <a:lnTo>
                    <a:pt x="47751" y="22686"/>
                  </a:lnTo>
                  <a:lnTo>
                    <a:pt x="45002" y="14822"/>
                  </a:lnTo>
                  <a:lnTo>
                    <a:pt x="33997" y="2965"/>
                  </a:lnTo>
                  <a:lnTo>
                    <a:pt x="277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9245" y="2472025"/>
              <a:ext cx="186156" cy="218447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6245633" y="2472025"/>
            <a:ext cx="464184" cy="266700"/>
            <a:chOff x="6245633" y="2472025"/>
            <a:chExt cx="464184" cy="266700"/>
          </a:xfrm>
        </p:grpSpPr>
        <p:sp>
          <p:nvSpPr>
            <p:cNvPr id="9" name="object 9"/>
            <p:cNvSpPr/>
            <p:nvPr/>
          </p:nvSpPr>
          <p:spPr>
            <a:xfrm>
              <a:off x="6662008" y="2654482"/>
              <a:ext cx="48260" cy="83820"/>
            </a:xfrm>
            <a:custGeom>
              <a:avLst/>
              <a:gdLst/>
              <a:ahLst/>
              <a:cxnLst/>
              <a:rect l="l" t="t" r="r" b="b"/>
              <a:pathLst>
                <a:path w="48259" h="83819">
                  <a:moveTo>
                    <a:pt x="27721" y="0"/>
                  </a:moveTo>
                  <a:lnTo>
                    <a:pt x="14902" y="0"/>
                  </a:lnTo>
                  <a:lnTo>
                    <a:pt x="10016" y="1798"/>
                  </a:lnTo>
                  <a:lnTo>
                    <a:pt x="2005" y="8991"/>
                  </a:lnTo>
                  <a:lnTo>
                    <a:pt x="0" y="13309"/>
                  </a:lnTo>
                  <a:lnTo>
                    <a:pt x="0" y="23587"/>
                  </a:lnTo>
                  <a:lnTo>
                    <a:pt x="1574" y="27698"/>
                  </a:lnTo>
                  <a:lnTo>
                    <a:pt x="7866" y="33662"/>
                  </a:lnTo>
                  <a:lnTo>
                    <a:pt x="12100" y="35152"/>
                  </a:lnTo>
                  <a:lnTo>
                    <a:pt x="19597" y="35152"/>
                  </a:lnTo>
                  <a:lnTo>
                    <a:pt x="21661" y="34691"/>
                  </a:lnTo>
                  <a:lnTo>
                    <a:pt x="27631" y="31718"/>
                  </a:lnTo>
                  <a:lnTo>
                    <a:pt x="30236" y="30693"/>
                  </a:lnTo>
                  <a:lnTo>
                    <a:pt x="32191" y="30693"/>
                  </a:lnTo>
                  <a:lnTo>
                    <a:pt x="32955" y="31160"/>
                  </a:lnTo>
                  <a:lnTo>
                    <a:pt x="34698" y="33435"/>
                  </a:lnTo>
                  <a:lnTo>
                    <a:pt x="35189" y="35087"/>
                  </a:lnTo>
                  <a:lnTo>
                    <a:pt x="35189" y="45314"/>
                  </a:lnTo>
                  <a:lnTo>
                    <a:pt x="7918" y="73885"/>
                  </a:lnTo>
                  <a:lnTo>
                    <a:pt x="0" y="76883"/>
                  </a:lnTo>
                  <a:lnTo>
                    <a:pt x="0" y="83696"/>
                  </a:lnTo>
                  <a:lnTo>
                    <a:pt x="36294" y="62118"/>
                  </a:lnTo>
                  <a:lnTo>
                    <a:pt x="47754" y="32485"/>
                  </a:lnTo>
                  <a:lnTo>
                    <a:pt x="47754" y="22686"/>
                  </a:lnTo>
                  <a:lnTo>
                    <a:pt x="45002" y="14822"/>
                  </a:lnTo>
                  <a:lnTo>
                    <a:pt x="34000" y="2965"/>
                  </a:lnTo>
                  <a:lnTo>
                    <a:pt x="277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36137" y="2472025"/>
              <a:ext cx="197388" cy="21342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245631" y="2575559"/>
              <a:ext cx="149225" cy="67310"/>
            </a:xfrm>
            <a:custGeom>
              <a:avLst/>
              <a:gdLst/>
              <a:ahLst/>
              <a:cxnLst/>
              <a:rect l="l" t="t" r="r" b="b"/>
              <a:pathLst>
                <a:path w="149225" h="67310">
                  <a:moveTo>
                    <a:pt x="149123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27342" y="21590"/>
                  </a:lnTo>
                  <a:lnTo>
                    <a:pt x="127342" y="67310"/>
                  </a:lnTo>
                  <a:lnTo>
                    <a:pt x="149123" y="67310"/>
                  </a:lnTo>
                  <a:lnTo>
                    <a:pt x="149123" y="21590"/>
                  </a:lnTo>
                  <a:lnTo>
                    <a:pt x="1491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5888020" y="2462819"/>
            <a:ext cx="312420" cy="291465"/>
            <a:chOff x="5888020" y="2462819"/>
            <a:chExt cx="312420" cy="291465"/>
          </a:xfrm>
        </p:grpSpPr>
        <p:sp>
          <p:nvSpPr>
            <p:cNvPr id="13" name="object 13"/>
            <p:cNvSpPr/>
            <p:nvPr/>
          </p:nvSpPr>
          <p:spPr>
            <a:xfrm>
              <a:off x="6113265" y="2462819"/>
              <a:ext cx="87630" cy="291465"/>
            </a:xfrm>
            <a:custGeom>
              <a:avLst/>
              <a:gdLst/>
              <a:ahLst/>
              <a:cxnLst/>
              <a:rect l="l" t="t" r="r" b="b"/>
              <a:pathLst>
                <a:path w="87629" h="291464">
                  <a:moveTo>
                    <a:pt x="87129" y="0"/>
                  </a:moveTo>
                  <a:lnTo>
                    <a:pt x="51972" y="22920"/>
                  </a:lnTo>
                  <a:lnTo>
                    <a:pt x="24151" y="57233"/>
                  </a:lnTo>
                  <a:lnTo>
                    <a:pt x="6037" y="99377"/>
                  </a:lnTo>
                  <a:lnTo>
                    <a:pt x="0" y="145788"/>
                  </a:lnTo>
                  <a:lnTo>
                    <a:pt x="769" y="162242"/>
                  </a:lnTo>
                  <a:lnTo>
                    <a:pt x="12311" y="209835"/>
                  </a:lnTo>
                  <a:lnTo>
                    <a:pt x="36635" y="251528"/>
                  </a:lnTo>
                  <a:lnTo>
                    <a:pt x="65264" y="278344"/>
                  </a:lnTo>
                  <a:lnTo>
                    <a:pt x="87129" y="291261"/>
                  </a:lnTo>
                  <a:lnTo>
                    <a:pt x="87129" y="285403"/>
                  </a:lnTo>
                  <a:lnTo>
                    <a:pt x="79498" y="279841"/>
                  </a:lnTo>
                  <a:lnTo>
                    <a:pt x="72631" y="274142"/>
                  </a:lnTo>
                  <a:lnTo>
                    <a:pt x="48579" y="243623"/>
                  </a:lnTo>
                  <a:lnTo>
                    <a:pt x="35394" y="202374"/>
                  </a:lnTo>
                  <a:lnTo>
                    <a:pt x="30487" y="157725"/>
                  </a:lnTo>
                  <a:lnTo>
                    <a:pt x="30159" y="141315"/>
                  </a:lnTo>
                  <a:lnTo>
                    <a:pt x="30546" y="126009"/>
                  </a:lnTo>
                  <a:lnTo>
                    <a:pt x="36352" y="81982"/>
                  </a:lnTo>
                  <a:lnTo>
                    <a:pt x="49205" y="44934"/>
                  </a:lnTo>
                  <a:lnTo>
                    <a:pt x="77806" y="11684"/>
                  </a:lnTo>
                  <a:lnTo>
                    <a:pt x="87129" y="5858"/>
                  </a:lnTo>
                  <a:lnTo>
                    <a:pt x="871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88020" y="2472025"/>
              <a:ext cx="207651" cy="213426"/>
            </a:xfrm>
            <a:prstGeom prst="rect">
              <a:avLst/>
            </a:prstGeom>
          </p:spPr>
        </p:pic>
      </p:grpSp>
      <p:sp>
        <p:nvSpPr>
          <p:cNvPr id="15" name="object 15"/>
          <p:cNvSpPr/>
          <p:nvPr/>
        </p:nvSpPr>
        <p:spPr>
          <a:xfrm>
            <a:off x="5168138" y="2462821"/>
            <a:ext cx="415925" cy="291465"/>
          </a:xfrm>
          <a:custGeom>
            <a:avLst/>
            <a:gdLst/>
            <a:ahLst/>
            <a:cxnLst/>
            <a:rect l="l" t="t" r="r" b="b"/>
            <a:pathLst>
              <a:path w="415925" h="291464">
                <a:moveTo>
                  <a:pt x="308813" y="9207"/>
                </a:moveTo>
                <a:lnTo>
                  <a:pt x="259295" y="9207"/>
                </a:lnTo>
                <a:lnTo>
                  <a:pt x="133184" y="182740"/>
                </a:lnTo>
                <a:lnTo>
                  <a:pt x="111988" y="9207"/>
                </a:lnTo>
                <a:lnTo>
                  <a:pt x="58724" y="9207"/>
                </a:lnTo>
                <a:lnTo>
                  <a:pt x="57150" y="15062"/>
                </a:lnTo>
                <a:lnTo>
                  <a:pt x="65633" y="16065"/>
                </a:lnTo>
                <a:lnTo>
                  <a:pt x="71450" y="17437"/>
                </a:lnTo>
                <a:lnTo>
                  <a:pt x="77736" y="20891"/>
                </a:lnTo>
                <a:lnTo>
                  <a:pt x="81026" y="24193"/>
                </a:lnTo>
                <a:lnTo>
                  <a:pt x="84493" y="29070"/>
                </a:lnTo>
                <a:lnTo>
                  <a:pt x="38963" y="187934"/>
                </a:lnTo>
                <a:lnTo>
                  <a:pt x="35293" y="199136"/>
                </a:lnTo>
                <a:lnTo>
                  <a:pt x="31788" y="206413"/>
                </a:lnTo>
                <a:lnTo>
                  <a:pt x="23825" y="214439"/>
                </a:lnTo>
                <a:lnTo>
                  <a:pt x="16344" y="216776"/>
                </a:lnTo>
                <a:lnTo>
                  <a:pt x="1727" y="216776"/>
                </a:lnTo>
                <a:lnTo>
                  <a:pt x="0" y="222631"/>
                </a:lnTo>
                <a:lnTo>
                  <a:pt x="70408" y="222631"/>
                </a:lnTo>
                <a:lnTo>
                  <a:pt x="72136" y="216776"/>
                </a:lnTo>
                <a:lnTo>
                  <a:pt x="61239" y="216039"/>
                </a:lnTo>
                <a:lnTo>
                  <a:pt x="54381" y="214655"/>
                </a:lnTo>
                <a:lnTo>
                  <a:pt x="48729" y="210591"/>
                </a:lnTo>
                <a:lnTo>
                  <a:pt x="47307" y="207632"/>
                </a:lnTo>
                <a:lnTo>
                  <a:pt x="47307" y="199898"/>
                </a:lnTo>
                <a:lnTo>
                  <a:pt x="48933" y="192379"/>
                </a:lnTo>
                <a:lnTo>
                  <a:pt x="89916" y="49542"/>
                </a:lnTo>
                <a:lnTo>
                  <a:pt x="111048" y="222631"/>
                </a:lnTo>
                <a:lnTo>
                  <a:pt x="117436" y="222631"/>
                </a:lnTo>
                <a:lnTo>
                  <a:pt x="243230" y="49542"/>
                </a:lnTo>
                <a:lnTo>
                  <a:pt x="204609" y="183819"/>
                </a:lnTo>
                <a:lnTo>
                  <a:pt x="201726" y="192620"/>
                </a:lnTo>
                <a:lnTo>
                  <a:pt x="165938" y="216776"/>
                </a:lnTo>
                <a:lnTo>
                  <a:pt x="164363" y="222631"/>
                </a:lnTo>
                <a:lnTo>
                  <a:pt x="253238" y="222631"/>
                </a:lnTo>
                <a:lnTo>
                  <a:pt x="254647" y="216776"/>
                </a:lnTo>
                <a:lnTo>
                  <a:pt x="242290" y="216776"/>
                </a:lnTo>
                <a:lnTo>
                  <a:pt x="236004" y="215455"/>
                </a:lnTo>
                <a:lnTo>
                  <a:pt x="229196" y="210972"/>
                </a:lnTo>
                <a:lnTo>
                  <a:pt x="227787" y="208280"/>
                </a:lnTo>
                <a:lnTo>
                  <a:pt x="227787" y="200787"/>
                </a:lnTo>
                <a:lnTo>
                  <a:pt x="228942" y="195389"/>
                </a:lnTo>
                <a:lnTo>
                  <a:pt x="231241" y="188544"/>
                </a:lnTo>
                <a:lnTo>
                  <a:pt x="272491" y="44272"/>
                </a:lnTo>
                <a:lnTo>
                  <a:pt x="308813" y="15062"/>
                </a:lnTo>
                <a:lnTo>
                  <a:pt x="308813" y="9207"/>
                </a:lnTo>
                <a:close/>
              </a:path>
              <a:path w="415925" h="291464">
                <a:moveTo>
                  <a:pt x="415645" y="145478"/>
                </a:moveTo>
                <a:lnTo>
                  <a:pt x="408724" y="96901"/>
                </a:lnTo>
                <a:lnTo>
                  <a:pt x="388454" y="52565"/>
                </a:lnTo>
                <a:lnTo>
                  <a:pt x="359981" y="19989"/>
                </a:lnTo>
                <a:lnTo>
                  <a:pt x="328510" y="0"/>
                </a:lnTo>
                <a:lnTo>
                  <a:pt x="328510" y="5867"/>
                </a:lnTo>
                <a:lnTo>
                  <a:pt x="336219" y="11430"/>
                </a:lnTo>
                <a:lnTo>
                  <a:pt x="343115" y="17119"/>
                </a:lnTo>
                <a:lnTo>
                  <a:pt x="367118" y="47599"/>
                </a:lnTo>
                <a:lnTo>
                  <a:pt x="380250" y="88734"/>
                </a:lnTo>
                <a:lnTo>
                  <a:pt x="385152" y="133438"/>
                </a:lnTo>
                <a:lnTo>
                  <a:pt x="385483" y="149796"/>
                </a:lnTo>
                <a:lnTo>
                  <a:pt x="385102" y="165100"/>
                </a:lnTo>
                <a:lnTo>
                  <a:pt x="379374" y="209207"/>
                </a:lnTo>
                <a:lnTo>
                  <a:pt x="366560" y="246278"/>
                </a:lnTo>
                <a:lnTo>
                  <a:pt x="337845" y="279514"/>
                </a:lnTo>
                <a:lnTo>
                  <a:pt x="328510" y="285407"/>
                </a:lnTo>
                <a:lnTo>
                  <a:pt x="328510" y="291261"/>
                </a:lnTo>
                <a:lnTo>
                  <a:pt x="363766" y="268351"/>
                </a:lnTo>
                <a:lnTo>
                  <a:pt x="391566" y="234035"/>
                </a:lnTo>
                <a:lnTo>
                  <a:pt x="409625" y="191884"/>
                </a:lnTo>
                <a:lnTo>
                  <a:pt x="414147" y="169214"/>
                </a:lnTo>
                <a:lnTo>
                  <a:pt x="415645" y="1454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4627883" y="2472025"/>
            <a:ext cx="257810" cy="266700"/>
            <a:chOff x="4627883" y="2472025"/>
            <a:chExt cx="257810" cy="266700"/>
          </a:xfrm>
        </p:grpSpPr>
        <p:sp>
          <p:nvSpPr>
            <p:cNvPr id="17" name="object 17"/>
            <p:cNvSpPr/>
            <p:nvPr/>
          </p:nvSpPr>
          <p:spPr>
            <a:xfrm>
              <a:off x="4837329" y="2654482"/>
              <a:ext cx="48260" cy="83820"/>
            </a:xfrm>
            <a:custGeom>
              <a:avLst/>
              <a:gdLst/>
              <a:ahLst/>
              <a:cxnLst/>
              <a:rect l="l" t="t" r="r" b="b"/>
              <a:pathLst>
                <a:path w="48260" h="83819">
                  <a:moveTo>
                    <a:pt x="27721" y="0"/>
                  </a:moveTo>
                  <a:lnTo>
                    <a:pt x="14900" y="0"/>
                  </a:lnTo>
                  <a:lnTo>
                    <a:pt x="10013" y="1798"/>
                  </a:lnTo>
                  <a:lnTo>
                    <a:pt x="2002" y="8991"/>
                  </a:lnTo>
                  <a:lnTo>
                    <a:pt x="0" y="13309"/>
                  </a:lnTo>
                  <a:lnTo>
                    <a:pt x="0" y="23587"/>
                  </a:lnTo>
                  <a:lnTo>
                    <a:pt x="1572" y="27698"/>
                  </a:lnTo>
                  <a:lnTo>
                    <a:pt x="7863" y="33662"/>
                  </a:lnTo>
                  <a:lnTo>
                    <a:pt x="12100" y="35152"/>
                  </a:lnTo>
                  <a:lnTo>
                    <a:pt x="19596" y="35152"/>
                  </a:lnTo>
                  <a:lnTo>
                    <a:pt x="21661" y="34691"/>
                  </a:lnTo>
                  <a:lnTo>
                    <a:pt x="27628" y="31718"/>
                  </a:lnTo>
                  <a:lnTo>
                    <a:pt x="30234" y="30693"/>
                  </a:lnTo>
                  <a:lnTo>
                    <a:pt x="32188" y="30693"/>
                  </a:lnTo>
                  <a:lnTo>
                    <a:pt x="32952" y="31160"/>
                  </a:lnTo>
                  <a:lnTo>
                    <a:pt x="34698" y="33435"/>
                  </a:lnTo>
                  <a:lnTo>
                    <a:pt x="35186" y="35087"/>
                  </a:lnTo>
                  <a:lnTo>
                    <a:pt x="35186" y="45314"/>
                  </a:lnTo>
                  <a:lnTo>
                    <a:pt x="7916" y="73885"/>
                  </a:lnTo>
                  <a:lnTo>
                    <a:pt x="0" y="76883"/>
                  </a:lnTo>
                  <a:lnTo>
                    <a:pt x="0" y="83696"/>
                  </a:lnTo>
                  <a:lnTo>
                    <a:pt x="36291" y="62118"/>
                  </a:lnTo>
                  <a:lnTo>
                    <a:pt x="47751" y="32485"/>
                  </a:lnTo>
                  <a:lnTo>
                    <a:pt x="47751" y="22686"/>
                  </a:lnTo>
                  <a:lnTo>
                    <a:pt x="45002" y="14822"/>
                  </a:lnTo>
                  <a:lnTo>
                    <a:pt x="33997" y="2965"/>
                  </a:lnTo>
                  <a:lnTo>
                    <a:pt x="277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27883" y="2472025"/>
              <a:ext cx="186157" cy="218447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3962806" y="2462819"/>
            <a:ext cx="605790" cy="291465"/>
            <a:chOff x="3962806" y="2462819"/>
            <a:chExt cx="605790" cy="291465"/>
          </a:xfrm>
        </p:grpSpPr>
        <p:sp>
          <p:nvSpPr>
            <p:cNvPr id="20" name="object 20"/>
            <p:cNvSpPr/>
            <p:nvPr/>
          </p:nvSpPr>
          <p:spPr>
            <a:xfrm>
              <a:off x="4188041" y="2462821"/>
              <a:ext cx="380365" cy="291465"/>
            </a:xfrm>
            <a:custGeom>
              <a:avLst/>
              <a:gdLst/>
              <a:ahLst/>
              <a:cxnLst/>
              <a:rect l="l" t="t" r="r" b="b"/>
              <a:pathLst>
                <a:path w="380364" h="291464">
                  <a:moveTo>
                    <a:pt x="87134" y="0"/>
                  </a:moveTo>
                  <a:lnTo>
                    <a:pt x="51981" y="22923"/>
                  </a:lnTo>
                  <a:lnTo>
                    <a:pt x="24155" y="57238"/>
                  </a:lnTo>
                  <a:lnTo>
                    <a:pt x="6045" y="99377"/>
                  </a:lnTo>
                  <a:lnTo>
                    <a:pt x="0" y="145796"/>
                  </a:lnTo>
                  <a:lnTo>
                    <a:pt x="774" y="162242"/>
                  </a:lnTo>
                  <a:lnTo>
                    <a:pt x="12319" y="209842"/>
                  </a:lnTo>
                  <a:lnTo>
                    <a:pt x="36639" y="251536"/>
                  </a:lnTo>
                  <a:lnTo>
                    <a:pt x="65265" y="278345"/>
                  </a:lnTo>
                  <a:lnTo>
                    <a:pt x="87134" y="291261"/>
                  </a:lnTo>
                  <a:lnTo>
                    <a:pt x="87134" y="285407"/>
                  </a:lnTo>
                  <a:lnTo>
                    <a:pt x="79502" y="279844"/>
                  </a:lnTo>
                  <a:lnTo>
                    <a:pt x="72631" y="274142"/>
                  </a:lnTo>
                  <a:lnTo>
                    <a:pt x="48577" y="243624"/>
                  </a:lnTo>
                  <a:lnTo>
                    <a:pt x="35407" y="202374"/>
                  </a:lnTo>
                  <a:lnTo>
                    <a:pt x="30492" y="157734"/>
                  </a:lnTo>
                  <a:lnTo>
                    <a:pt x="30162" y="141312"/>
                  </a:lnTo>
                  <a:lnTo>
                    <a:pt x="30556" y="126009"/>
                  </a:lnTo>
                  <a:lnTo>
                    <a:pt x="36360" y="81991"/>
                  </a:lnTo>
                  <a:lnTo>
                    <a:pt x="49212" y="44932"/>
                  </a:lnTo>
                  <a:lnTo>
                    <a:pt x="77812" y="11684"/>
                  </a:lnTo>
                  <a:lnTo>
                    <a:pt x="87134" y="5867"/>
                  </a:lnTo>
                  <a:lnTo>
                    <a:pt x="87134" y="0"/>
                  </a:lnTo>
                  <a:close/>
                </a:path>
                <a:path w="380364" h="291464">
                  <a:moveTo>
                    <a:pt x="380352" y="214350"/>
                  </a:moveTo>
                  <a:lnTo>
                    <a:pt x="377609" y="206489"/>
                  </a:lnTo>
                  <a:lnTo>
                    <a:pt x="366598" y="194627"/>
                  </a:lnTo>
                  <a:lnTo>
                    <a:pt x="360324" y="191668"/>
                  </a:lnTo>
                  <a:lnTo>
                    <a:pt x="347510" y="191668"/>
                  </a:lnTo>
                  <a:lnTo>
                    <a:pt x="342620" y="193459"/>
                  </a:lnTo>
                  <a:lnTo>
                    <a:pt x="334606" y="200660"/>
                  </a:lnTo>
                  <a:lnTo>
                    <a:pt x="332600" y="204978"/>
                  </a:lnTo>
                  <a:lnTo>
                    <a:pt x="332600" y="215252"/>
                  </a:lnTo>
                  <a:lnTo>
                    <a:pt x="334175" y="219367"/>
                  </a:lnTo>
                  <a:lnTo>
                    <a:pt x="340474" y="225323"/>
                  </a:lnTo>
                  <a:lnTo>
                    <a:pt x="344703" y="226822"/>
                  </a:lnTo>
                  <a:lnTo>
                    <a:pt x="352196" y="226822"/>
                  </a:lnTo>
                  <a:lnTo>
                    <a:pt x="354266" y="226352"/>
                  </a:lnTo>
                  <a:lnTo>
                    <a:pt x="360235" y="223380"/>
                  </a:lnTo>
                  <a:lnTo>
                    <a:pt x="362839" y="222364"/>
                  </a:lnTo>
                  <a:lnTo>
                    <a:pt x="364794" y="222364"/>
                  </a:lnTo>
                  <a:lnTo>
                    <a:pt x="365556" y="222821"/>
                  </a:lnTo>
                  <a:lnTo>
                    <a:pt x="367296" y="225107"/>
                  </a:lnTo>
                  <a:lnTo>
                    <a:pt x="367792" y="226758"/>
                  </a:lnTo>
                  <a:lnTo>
                    <a:pt x="367792" y="236982"/>
                  </a:lnTo>
                  <a:lnTo>
                    <a:pt x="340512" y="265557"/>
                  </a:lnTo>
                  <a:lnTo>
                    <a:pt x="332600" y="268554"/>
                  </a:lnTo>
                  <a:lnTo>
                    <a:pt x="332600" y="275361"/>
                  </a:lnTo>
                  <a:lnTo>
                    <a:pt x="368896" y="253784"/>
                  </a:lnTo>
                  <a:lnTo>
                    <a:pt x="380352" y="224155"/>
                  </a:lnTo>
                  <a:lnTo>
                    <a:pt x="380352" y="214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94776" y="2472025"/>
              <a:ext cx="197388" cy="21342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62806" y="2472025"/>
              <a:ext cx="207651" cy="213426"/>
            </a:xfrm>
            <a:prstGeom prst="rect">
              <a:avLst/>
            </a:prstGeom>
          </p:spPr>
        </p:pic>
      </p:grpSp>
      <p:sp>
        <p:nvSpPr>
          <p:cNvPr id="23" name="object 23"/>
          <p:cNvSpPr/>
          <p:nvPr/>
        </p:nvSpPr>
        <p:spPr>
          <a:xfrm>
            <a:off x="6238824" y="2009190"/>
            <a:ext cx="415925" cy="291465"/>
          </a:xfrm>
          <a:custGeom>
            <a:avLst/>
            <a:gdLst/>
            <a:ahLst/>
            <a:cxnLst/>
            <a:rect l="l" t="t" r="r" b="b"/>
            <a:pathLst>
              <a:path w="415925" h="291464">
                <a:moveTo>
                  <a:pt x="308813" y="9207"/>
                </a:moveTo>
                <a:lnTo>
                  <a:pt x="259295" y="9207"/>
                </a:lnTo>
                <a:lnTo>
                  <a:pt x="133172" y="182727"/>
                </a:lnTo>
                <a:lnTo>
                  <a:pt x="111988" y="9207"/>
                </a:lnTo>
                <a:lnTo>
                  <a:pt x="58724" y="9207"/>
                </a:lnTo>
                <a:lnTo>
                  <a:pt x="57150" y="15062"/>
                </a:lnTo>
                <a:lnTo>
                  <a:pt x="65633" y="16065"/>
                </a:lnTo>
                <a:lnTo>
                  <a:pt x="71450" y="17437"/>
                </a:lnTo>
                <a:lnTo>
                  <a:pt x="77724" y="20891"/>
                </a:lnTo>
                <a:lnTo>
                  <a:pt x="81026" y="24193"/>
                </a:lnTo>
                <a:lnTo>
                  <a:pt x="84480" y="29070"/>
                </a:lnTo>
                <a:lnTo>
                  <a:pt x="38950" y="187934"/>
                </a:lnTo>
                <a:lnTo>
                  <a:pt x="35293" y="199136"/>
                </a:lnTo>
                <a:lnTo>
                  <a:pt x="31775" y="206413"/>
                </a:lnTo>
                <a:lnTo>
                  <a:pt x="23825" y="214439"/>
                </a:lnTo>
                <a:lnTo>
                  <a:pt x="16332" y="216776"/>
                </a:lnTo>
                <a:lnTo>
                  <a:pt x="1727" y="216776"/>
                </a:lnTo>
                <a:lnTo>
                  <a:pt x="0" y="222631"/>
                </a:lnTo>
                <a:lnTo>
                  <a:pt x="70396" y="222631"/>
                </a:lnTo>
                <a:lnTo>
                  <a:pt x="72123" y="216776"/>
                </a:lnTo>
                <a:lnTo>
                  <a:pt x="61239" y="216039"/>
                </a:lnTo>
                <a:lnTo>
                  <a:pt x="54381" y="214655"/>
                </a:lnTo>
                <a:lnTo>
                  <a:pt x="48717" y="210591"/>
                </a:lnTo>
                <a:lnTo>
                  <a:pt x="47307" y="207632"/>
                </a:lnTo>
                <a:lnTo>
                  <a:pt x="47307" y="199898"/>
                </a:lnTo>
                <a:lnTo>
                  <a:pt x="48933" y="192379"/>
                </a:lnTo>
                <a:lnTo>
                  <a:pt x="89916" y="49542"/>
                </a:lnTo>
                <a:lnTo>
                  <a:pt x="111036" y="222631"/>
                </a:lnTo>
                <a:lnTo>
                  <a:pt x="117424" y="222631"/>
                </a:lnTo>
                <a:lnTo>
                  <a:pt x="243230" y="49542"/>
                </a:lnTo>
                <a:lnTo>
                  <a:pt x="204609" y="183819"/>
                </a:lnTo>
                <a:lnTo>
                  <a:pt x="201726" y="192620"/>
                </a:lnTo>
                <a:lnTo>
                  <a:pt x="165925" y="216776"/>
                </a:lnTo>
                <a:lnTo>
                  <a:pt x="164363" y="222631"/>
                </a:lnTo>
                <a:lnTo>
                  <a:pt x="253225" y="222631"/>
                </a:lnTo>
                <a:lnTo>
                  <a:pt x="254647" y="216776"/>
                </a:lnTo>
                <a:lnTo>
                  <a:pt x="242290" y="216776"/>
                </a:lnTo>
                <a:lnTo>
                  <a:pt x="236004" y="215442"/>
                </a:lnTo>
                <a:lnTo>
                  <a:pt x="229196" y="210972"/>
                </a:lnTo>
                <a:lnTo>
                  <a:pt x="227787" y="208267"/>
                </a:lnTo>
                <a:lnTo>
                  <a:pt x="227787" y="200787"/>
                </a:lnTo>
                <a:lnTo>
                  <a:pt x="228930" y="195389"/>
                </a:lnTo>
                <a:lnTo>
                  <a:pt x="231241" y="188544"/>
                </a:lnTo>
                <a:lnTo>
                  <a:pt x="272478" y="44272"/>
                </a:lnTo>
                <a:lnTo>
                  <a:pt x="308813" y="15062"/>
                </a:lnTo>
                <a:lnTo>
                  <a:pt x="308813" y="9207"/>
                </a:lnTo>
                <a:close/>
              </a:path>
              <a:path w="415925" h="291464">
                <a:moveTo>
                  <a:pt x="415632" y="145478"/>
                </a:moveTo>
                <a:lnTo>
                  <a:pt x="408711" y="96901"/>
                </a:lnTo>
                <a:lnTo>
                  <a:pt x="388454" y="52565"/>
                </a:lnTo>
                <a:lnTo>
                  <a:pt x="359968" y="19989"/>
                </a:lnTo>
                <a:lnTo>
                  <a:pt x="328510" y="0"/>
                </a:lnTo>
                <a:lnTo>
                  <a:pt x="328510" y="5854"/>
                </a:lnTo>
                <a:lnTo>
                  <a:pt x="336207" y="11417"/>
                </a:lnTo>
                <a:lnTo>
                  <a:pt x="343115" y="17119"/>
                </a:lnTo>
                <a:lnTo>
                  <a:pt x="367106" y="47599"/>
                </a:lnTo>
                <a:lnTo>
                  <a:pt x="380238" y="88734"/>
                </a:lnTo>
                <a:lnTo>
                  <a:pt x="385152" y="133438"/>
                </a:lnTo>
                <a:lnTo>
                  <a:pt x="385483" y="149796"/>
                </a:lnTo>
                <a:lnTo>
                  <a:pt x="385102" y="165100"/>
                </a:lnTo>
                <a:lnTo>
                  <a:pt x="379374" y="209207"/>
                </a:lnTo>
                <a:lnTo>
                  <a:pt x="366547" y="246278"/>
                </a:lnTo>
                <a:lnTo>
                  <a:pt x="337832" y="279514"/>
                </a:lnTo>
                <a:lnTo>
                  <a:pt x="328510" y="285407"/>
                </a:lnTo>
                <a:lnTo>
                  <a:pt x="328510" y="291261"/>
                </a:lnTo>
                <a:lnTo>
                  <a:pt x="363766" y="268338"/>
                </a:lnTo>
                <a:lnTo>
                  <a:pt x="391566" y="234035"/>
                </a:lnTo>
                <a:lnTo>
                  <a:pt x="409625" y="191884"/>
                </a:lnTo>
                <a:lnTo>
                  <a:pt x="414134" y="169214"/>
                </a:lnTo>
                <a:lnTo>
                  <a:pt x="415632" y="1454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5698566" y="2018391"/>
            <a:ext cx="257810" cy="266700"/>
            <a:chOff x="5698566" y="2018391"/>
            <a:chExt cx="257810" cy="266700"/>
          </a:xfrm>
        </p:grpSpPr>
        <p:sp>
          <p:nvSpPr>
            <p:cNvPr id="25" name="object 25"/>
            <p:cNvSpPr/>
            <p:nvPr/>
          </p:nvSpPr>
          <p:spPr>
            <a:xfrm>
              <a:off x="5908009" y="2200850"/>
              <a:ext cx="48260" cy="83820"/>
            </a:xfrm>
            <a:custGeom>
              <a:avLst/>
              <a:gdLst/>
              <a:ahLst/>
              <a:cxnLst/>
              <a:rect l="l" t="t" r="r" b="b"/>
              <a:pathLst>
                <a:path w="48260" h="83819">
                  <a:moveTo>
                    <a:pt x="27721" y="0"/>
                  </a:moveTo>
                  <a:lnTo>
                    <a:pt x="14902" y="0"/>
                  </a:lnTo>
                  <a:lnTo>
                    <a:pt x="10015" y="1798"/>
                  </a:lnTo>
                  <a:lnTo>
                    <a:pt x="2004" y="8990"/>
                  </a:lnTo>
                  <a:lnTo>
                    <a:pt x="0" y="13308"/>
                  </a:lnTo>
                  <a:lnTo>
                    <a:pt x="0" y="23587"/>
                  </a:lnTo>
                  <a:lnTo>
                    <a:pt x="1573" y="27697"/>
                  </a:lnTo>
                  <a:lnTo>
                    <a:pt x="7866" y="33661"/>
                  </a:lnTo>
                  <a:lnTo>
                    <a:pt x="12100" y="35152"/>
                  </a:lnTo>
                  <a:lnTo>
                    <a:pt x="19597" y="35152"/>
                  </a:lnTo>
                  <a:lnTo>
                    <a:pt x="21659" y="34690"/>
                  </a:lnTo>
                  <a:lnTo>
                    <a:pt x="27630" y="31716"/>
                  </a:lnTo>
                  <a:lnTo>
                    <a:pt x="30233" y="30692"/>
                  </a:lnTo>
                  <a:lnTo>
                    <a:pt x="32189" y="30692"/>
                  </a:lnTo>
                  <a:lnTo>
                    <a:pt x="32953" y="31159"/>
                  </a:lnTo>
                  <a:lnTo>
                    <a:pt x="34697" y="33434"/>
                  </a:lnTo>
                  <a:lnTo>
                    <a:pt x="35187" y="35086"/>
                  </a:lnTo>
                  <a:lnTo>
                    <a:pt x="35187" y="45313"/>
                  </a:lnTo>
                  <a:lnTo>
                    <a:pt x="7917" y="73883"/>
                  </a:lnTo>
                  <a:lnTo>
                    <a:pt x="0" y="76881"/>
                  </a:lnTo>
                  <a:lnTo>
                    <a:pt x="0" y="83695"/>
                  </a:lnTo>
                  <a:lnTo>
                    <a:pt x="36294" y="62118"/>
                  </a:lnTo>
                  <a:lnTo>
                    <a:pt x="47754" y="32484"/>
                  </a:lnTo>
                  <a:lnTo>
                    <a:pt x="47754" y="22684"/>
                  </a:lnTo>
                  <a:lnTo>
                    <a:pt x="45002" y="14820"/>
                  </a:lnTo>
                  <a:lnTo>
                    <a:pt x="33996" y="2964"/>
                  </a:lnTo>
                  <a:lnTo>
                    <a:pt x="277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98566" y="2018391"/>
              <a:ext cx="186156" cy="218447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5033487" y="2009185"/>
            <a:ext cx="605790" cy="291465"/>
            <a:chOff x="5033487" y="2009185"/>
            <a:chExt cx="605790" cy="291465"/>
          </a:xfrm>
        </p:grpSpPr>
        <p:sp>
          <p:nvSpPr>
            <p:cNvPr id="28" name="object 28"/>
            <p:cNvSpPr/>
            <p:nvPr/>
          </p:nvSpPr>
          <p:spPr>
            <a:xfrm>
              <a:off x="5258727" y="2009190"/>
              <a:ext cx="380365" cy="291465"/>
            </a:xfrm>
            <a:custGeom>
              <a:avLst/>
              <a:gdLst/>
              <a:ahLst/>
              <a:cxnLst/>
              <a:rect l="l" t="t" r="r" b="b"/>
              <a:pathLst>
                <a:path w="380364" h="291464">
                  <a:moveTo>
                    <a:pt x="87134" y="0"/>
                  </a:moveTo>
                  <a:lnTo>
                    <a:pt x="51968" y="22923"/>
                  </a:lnTo>
                  <a:lnTo>
                    <a:pt x="24155" y="57238"/>
                  </a:lnTo>
                  <a:lnTo>
                    <a:pt x="6032" y="99377"/>
                  </a:lnTo>
                  <a:lnTo>
                    <a:pt x="0" y="145783"/>
                  </a:lnTo>
                  <a:lnTo>
                    <a:pt x="762" y="162242"/>
                  </a:lnTo>
                  <a:lnTo>
                    <a:pt x="12306" y="209842"/>
                  </a:lnTo>
                  <a:lnTo>
                    <a:pt x="36639" y="251536"/>
                  </a:lnTo>
                  <a:lnTo>
                    <a:pt x="65265" y="278345"/>
                  </a:lnTo>
                  <a:lnTo>
                    <a:pt x="87134" y="291261"/>
                  </a:lnTo>
                  <a:lnTo>
                    <a:pt x="87134" y="285407"/>
                  </a:lnTo>
                  <a:lnTo>
                    <a:pt x="79502" y="279844"/>
                  </a:lnTo>
                  <a:lnTo>
                    <a:pt x="72631" y="274142"/>
                  </a:lnTo>
                  <a:lnTo>
                    <a:pt x="48577" y="243624"/>
                  </a:lnTo>
                  <a:lnTo>
                    <a:pt x="35394" y="202374"/>
                  </a:lnTo>
                  <a:lnTo>
                    <a:pt x="30480" y="157721"/>
                  </a:lnTo>
                  <a:lnTo>
                    <a:pt x="30162" y="141312"/>
                  </a:lnTo>
                  <a:lnTo>
                    <a:pt x="30543" y="126009"/>
                  </a:lnTo>
                  <a:lnTo>
                    <a:pt x="36347" y="81978"/>
                  </a:lnTo>
                  <a:lnTo>
                    <a:pt x="49199" y="44932"/>
                  </a:lnTo>
                  <a:lnTo>
                    <a:pt x="77800" y="11684"/>
                  </a:lnTo>
                  <a:lnTo>
                    <a:pt x="87134" y="5854"/>
                  </a:lnTo>
                  <a:lnTo>
                    <a:pt x="87134" y="0"/>
                  </a:lnTo>
                  <a:close/>
                </a:path>
                <a:path w="380364" h="291464">
                  <a:moveTo>
                    <a:pt x="380352" y="214350"/>
                  </a:moveTo>
                  <a:lnTo>
                    <a:pt x="377596" y="206489"/>
                  </a:lnTo>
                  <a:lnTo>
                    <a:pt x="366598" y="194627"/>
                  </a:lnTo>
                  <a:lnTo>
                    <a:pt x="360324" y="191668"/>
                  </a:lnTo>
                  <a:lnTo>
                    <a:pt x="347497" y="191668"/>
                  </a:lnTo>
                  <a:lnTo>
                    <a:pt x="342607" y="193459"/>
                  </a:lnTo>
                  <a:lnTo>
                    <a:pt x="334594" y="200660"/>
                  </a:lnTo>
                  <a:lnTo>
                    <a:pt x="332600" y="204978"/>
                  </a:lnTo>
                  <a:lnTo>
                    <a:pt x="332600" y="215252"/>
                  </a:lnTo>
                  <a:lnTo>
                    <a:pt x="334175" y="219367"/>
                  </a:lnTo>
                  <a:lnTo>
                    <a:pt x="340461" y="225323"/>
                  </a:lnTo>
                  <a:lnTo>
                    <a:pt x="344703" y="226822"/>
                  </a:lnTo>
                  <a:lnTo>
                    <a:pt x="352196" y="226822"/>
                  </a:lnTo>
                  <a:lnTo>
                    <a:pt x="354253" y="226352"/>
                  </a:lnTo>
                  <a:lnTo>
                    <a:pt x="360222" y="223380"/>
                  </a:lnTo>
                  <a:lnTo>
                    <a:pt x="362826" y="222351"/>
                  </a:lnTo>
                  <a:lnTo>
                    <a:pt x="364782" y="222351"/>
                  </a:lnTo>
                  <a:lnTo>
                    <a:pt x="365544" y="222821"/>
                  </a:lnTo>
                  <a:lnTo>
                    <a:pt x="367296" y="225094"/>
                  </a:lnTo>
                  <a:lnTo>
                    <a:pt x="367779" y="226745"/>
                  </a:lnTo>
                  <a:lnTo>
                    <a:pt x="367779" y="236982"/>
                  </a:lnTo>
                  <a:lnTo>
                    <a:pt x="340512" y="265544"/>
                  </a:lnTo>
                  <a:lnTo>
                    <a:pt x="332600" y="268541"/>
                  </a:lnTo>
                  <a:lnTo>
                    <a:pt x="332600" y="275361"/>
                  </a:lnTo>
                  <a:lnTo>
                    <a:pt x="368884" y="253784"/>
                  </a:lnTo>
                  <a:lnTo>
                    <a:pt x="380352" y="224155"/>
                  </a:lnTo>
                  <a:lnTo>
                    <a:pt x="380352" y="214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65456" y="2018391"/>
              <a:ext cx="197388" cy="21342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33487" y="2018391"/>
              <a:ext cx="207651" cy="213424"/>
            </a:xfrm>
            <a:prstGeom prst="rect">
              <a:avLst/>
            </a:prstGeom>
          </p:spPr>
        </p:pic>
      </p:grpSp>
      <p:sp>
        <p:nvSpPr>
          <p:cNvPr id="31" name="object 31"/>
          <p:cNvSpPr/>
          <p:nvPr/>
        </p:nvSpPr>
        <p:spPr>
          <a:xfrm>
            <a:off x="3180931" y="2211730"/>
            <a:ext cx="415925" cy="291465"/>
          </a:xfrm>
          <a:custGeom>
            <a:avLst/>
            <a:gdLst/>
            <a:ahLst/>
            <a:cxnLst/>
            <a:rect l="l" t="t" r="r" b="b"/>
            <a:pathLst>
              <a:path w="415925" h="291464">
                <a:moveTo>
                  <a:pt x="308813" y="9207"/>
                </a:moveTo>
                <a:lnTo>
                  <a:pt x="259295" y="9207"/>
                </a:lnTo>
                <a:lnTo>
                  <a:pt x="133184" y="182740"/>
                </a:lnTo>
                <a:lnTo>
                  <a:pt x="111988" y="9207"/>
                </a:lnTo>
                <a:lnTo>
                  <a:pt x="58724" y="9207"/>
                </a:lnTo>
                <a:lnTo>
                  <a:pt x="57150" y="15074"/>
                </a:lnTo>
                <a:lnTo>
                  <a:pt x="65633" y="16078"/>
                </a:lnTo>
                <a:lnTo>
                  <a:pt x="71450" y="17437"/>
                </a:lnTo>
                <a:lnTo>
                  <a:pt x="77736" y="20891"/>
                </a:lnTo>
                <a:lnTo>
                  <a:pt x="81026" y="24193"/>
                </a:lnTo>
                <a:lnTo>
                  <a:pt x="84480" y="29083"/>
                </a:lnTo>
                <a:lnTo>
                  <a:pt x="38963" y="187947"/>
                </a:lnTo>
                <a:lnTo>
                  <a:pt x="35293" y="199136"/>
                </a:lnTo>
                <a:lnTo>
                  <a:pt x="31788" y="206413"/>
                </a:lnTo>
                <a:lnTo>
                  <a:pt x="23825" y="214452"/>
                </a:lnTo>
                <a:lnTo>
                  <a:pt x="16332" y="216776"/>
                </a:lnTo>
                <a:lnTo>
                  <a:pt x="1727" y="216776"/>
                </a:lnTo>
                <a:lnTo>
                  <a:pt x="0" y="222643"/>
                </a:lnTo>
                <a:lnTo>
                  <a:pt x="70396" y="222643"/>
                </a:lnTo>
                <a:lnTo>
                  <a:pt x="72123" y="216776"/>
                </a:lnTo>
                <a:lnTo>
                  <a:pt x="61239" y="216052"/>
                </a:lnTo>
                <a:lnTo>
                  <a:pt x="54381" y="214668"/>
                </a:lnTo>
                <a:lnTo>
                  <a:pt x="48717" y="210591"/>
                </a:lnTo>
                <a:lnTo>
                  <a:pt x="47307" y="207632"/>
                </a:lnTo>
                <a:lnTo>
                  <a:pt x="47307" y="199910"/>
                </a:lnTo>
                <a:lnTo>
                  <a:pt x="48933" y="192379"/>
                </a:lnTo>
                <a:lnTo>
                  <a:pt x="89916" y="49542"/>
                </a:lnTo>
                <a:lnTo>
                  <a:pt x="111048" y="222643"/>
                </a:lnTo>
                <a:lnTo>
                  <a:pt x="117436" y="222643"/>
                </a:lnTo>
                <a:lnTo>
                  <a:pt x="243230" y="49542"/>
                </a:lnTo>
                <a:lnTo>
                  <a:pt x="204609" y="183819"/>
                </a:lnTo>
                <a:lnTo>
                  <a:pt x="201726" y="192620"/>
                </a:lnTo>
                <a:lnTo>
                  <a:pt x="165938" y="216776"/>
                </a:lnTo>
                <a:lnTo>
                  <a:pt x="164363" y="222643"/>
                </a:lnTo>
                <a:lnTo>
                  <a:pt x="253238" y="222643"/>
                </a:lnTo>
                <a:lnTo>
                  <a:pt x="254647" y="216776"/>
                </a:lnTo>
                <a:lnTo>
                  <a:pt x="242290" y="216776"/>
                </a:lnTo>
                <a:lnTo>
                  <a:pt x="236004" y="215455"/>
                </a:lnTo>
                <a:lnTo>
                  <a:pt x="229196" y="210972"/>
                </a:lnTo>
                <a:lnTo>
                  <a:pt x="227787" y="208280"/>
                </a:lnTo>
                <a:lnTo>
                  <a:pt x="227787" y="200787"/>
                </a:lnTo>
                <a:lnTo>
                  <a:pt x="228942" y="195402"/>
                </a:lnTo>
                <a:lnTo>
                  <a:pt x="231241" y="188544"/>
                </a:lnTo>
                <a:lnTo>
                  <a:pt x="272478" y="44284"/>
                </a:lnTo>
                <a:lnTo>
                  <a:pt x="308813" y="15074"/>
                </a:lnTo>
                <a:lnTo>
                  <a:pt x="308813" y="9207"/>
                </a:lnTo>
                <a:close/>
              </a:path>
              <a:path w="415925" h="291464">
                <a:moveTo>
                  <a:pt x="415645" y="145478"/>
                </a:moveTo>
                <a:lnTo>
                  <a:pt x="408724" y="96913"/>
                </a:lnTo>
                <a:lnTo>
                  <a:pt x="388454" y="52565"/>
                </a:lnTo>
                <a:lnTo>
                  <a:pt x="359981" y="20002"/>
                </a:lnTo>
                <a:lnTo>
                  <a:pt x="328510" y="0"/>
                </a:lnTo>
                <a:lnTo>
                  <a:pt x="328510" y="5867"/>
                </a:lnTo>
                <a:lnTo>
                  <a:pt x="336207" y="11430"/>
                </a:lnTo>
                <a:lnTo>
                  <a:pt x="343115" y="17132"/>
                </a:lnTo>
                <a:lnTo>
                  <a:pt x="367118" y="47599"/>
                </a:lnTo>
                <a:lnTo>
                  <a:pt x="380250" y="88734"/>
                </a:lnTo>
                <a:lnTo>
                  <a:pt x="385152" y="133438"/>
                </a:lnTo>
                <a:lnTo>
                  <a:pt x="385483" y="149796"/>
                </a:lnTo>
                <a:lnTo>
                  <a:pt x="385102" y="165112"/>
                </a:lnTo>
                <a:lnTo>
                  <a:pt x="379374" y="209207"/>
                </a:lnTo>
                <a:lnTo>
                  <a:pt x="366547" y="246291"/>
                </a:lnTo>
                <a:lnTo>
                  <a:pt x="337845" y="279527"/>
                </a:lnTo>
                <a:lnTo>
                  <a:pt x="328510" y="285407"/>
                </a:lnTo>
                <a:lnTo>
                  <a:pt x="328510" y="291274"/>
                </a:lnTo>
                <a:lnTo>
                  <a:pt x="363766" y="268351"/>
                </a:lnTo>
                <a:lnTo>
                  <a:pt x="391566" y="234035"/>
                </a:lnTo>
                <a:lnTo>
                  <a:pt x="409625" y="191897"/>
                </a:lnTo>
                <a:lnTo>
                  <a:pt x="414134" y="169214"/>
                </a:lnTo>
                <a:lnTo>
                  <a:pt x="415645" y="1454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2640675" y="2220936"/>
            <a:ext cx="257810" cy="266700"/>
            <a:chOff x="2640675" y="2220936"/>
            <a:chExt cx="257810" cy="266700"/>
          </a:xfrm>
        </p:grpSpPr>
        <p:sp>
          <p:nvSpPr>
            <p:cNvPr id="33" name="object 33"/>
            <p:cNvSpPr/>
            <p:nvPr/>
          </p:nvSpPr>
          <p:spPr>
            <a:xfrm>
              <a:off x="2850120" y="2403395"/>
              <a:ext cx="48260" cy="83820"/>
            </a:xfrm>
            <a:custGeom>
              <a:avLst/>
              <a:gdLst/>
              <a:ahLst/>
              <a:cxnLst/>
              <a:rect l="l" t="t" r="r" b="b"/>
              <a:pathLst>
                <a:path w="48260" h="83819">
                  <a:moveTo>
                    <a:pt x="27720" y="0"/>
                  </a:moveTo>
                  <a:lnTo>
                    <a:pt x="14900" y="0"/>
                  </a:lnTo>
                  <a:lnTo>
                    <a:pt x="10013" y="1798"/>
                  </a:lnTo>
                  <a:lnTo>
                    <a:pt x="2002" y="8990"/>
                  </a:lnTo>
                  <a:lnTo>
                    <a:pt x="0" y="13308"/>
                  </a:lnTo>
                  <a:lnTo>
                    <a:pt x="0" y="23587"/>
                  </a:lnTo>
                  <a:lnTo>
                    <a:pt x="1573" y="27698"/>
                  </a:lnTo>
                  <a:lnTo>
                    <a:pt x="7865" y="33661"/>
                  </a:lnTo>
                  <a:lnTo>
                    <a:pt x="12099" y="35152"/>
                  </a:lnTo>
                  <a:lnTo>
                    <a:pt x="19596" y="35152"/>
                  </a:lnTo>
                  <a:lnTo>
                    <a:pt x="21659" y="34690"/>
                  </a:lnTo>
                  <a:lnTo>
                    <a:pt x="27628" y="31716"/>
                  </a:lnTo>
                  <a:lnTo>
                    <a:pt x="30233" y="30693"/>
                  </a:lnTo>
                  <a:lnTo>
                    <a:pt x="32189" y="30693"/>
                  </a:lnTo>
                  <a:lnTo>
                    <a:pt x="32952" y="31159"/>
                  </a:lnTo>
                  <a:lnTo>
                    <a:pt x="34697" y="33434"/>
                  </a:lnTo>
                  <a:lnTo>
                    <a:pt x="35186" y="35086"/>
                  </a:lnTo>
                  <a:lnTo>
                    <a:pt x="35186" y="45313"/>
                  </a:lnTo>
                  <a:lnTo>
                    <a:pt x="7916" y="73884"/>
                  </a:lnTo>
                  <a:lnTo>
                    <a:pt x="0" y="76883"/>
                  </a:lnTo>
                  <a:lnTo>
                    <a:pt x="0" y="83695"/>
                  </a:lnTo>
                  <a:lnTo>
                    <a:pt x="36292" y="62118"/>
                  </a:lnTo>
                  <a:lnTo>
                    <a:pt x="47753" y="32484"/>
                  </a:lnTo>
                  <a:lnTo>
                    <a:pt x="47753" y="22684"/>
                  </a:lnTo>
                  <a:lnTo>
                    <a:pt x="45002" y="14820"/>
                  </a:lnTo>
                  <a:lnTo>
                    <a:pt x="33997" y="2964"/>
                  </a:lnTo>
                  <a:lnTo>
                    <a:pt x="277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40675" y="2220936"/>
              <a:ext cx="186156" cy="218447"/>
            </a:xfrm>
            <a:prstGeom prst="rect">
              <a:avLst/>
            </a:prstGeom>
          </p:spPr>
        </p:pic>
      </p:grpSp>
      <p:sp>
        <p:nvSpPr>
          <p:cNvPr id="35" name="object 35"/>
          <p:cNvSpPr/>
          <p:nvPr/>
        </p:nvSpPr>
        <p:spPr>
          <a:xfrm>
            <a:off x="2535953" y="2210893"/>
            <a:ext cx="12700" cy="293370"/>
          </a:xfrm>
          <a:custGeom>
            <a:avLst/>
            <a:gdLst/>
            <a:ahLst/>
            <a:cxnLst/>
            <a:rect l="l" t="t" r="r" b="b"/>
            <a:pathLst>
              <a:path w="12700" h="293369">
                <a:moveTo>
                  <a:pt x="12566" y="0"/>
                </a:moveTo>
                <a:lnTo>
                  <a:pt x="0" y="0"/>
                </a:lnTo>
                <a:lnTo>
                  <a:pt x="0" y="292936"/>
                </a:lnTo>
                <a:lnTo>
                  <a:pt x="12566" y="292936"/>
                </a:lnTo>
                <a:lnTo>
                  <a:pt x="125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6" name="object 36"/>
          <p:cNvGrpSpPr/>
          <p:nvPr/>
        </p:nvGrpSpPr>
        <p:grpSpPr>
          <a:xfrm>
            <a:off x="1915276" y="2211730"/>
            <a:ext cx="529590" cy="291465"/>
            <a:chOff x="1915276" y="2211730"/>
            <a:chExt cx="529590" cy="291465"/>
          </a:xfrm>
        </p:grpSpPr>
        <p:sp>
          <p:nvSpPr>
            <p:cNvPr id="37" name="object 37"/>
            <p:cNvSpPr/>
            <p:nvPr/>
          </p:nvSpPr>
          <p:spPr>
            <a:xfrm>
              <a:off x="2140521" y="2211730"/>
              <a:ext cx="87630" cy="291465"/>
            </a:xfrm>
            <a:custGeom>
              <a:avLst/>
              <a:gdLst/>
              <a:ahLst/>
              <a:cxnLst/>
              <a:rect l="l" t="t" r="r" b="b"/>
              <a:pathLst>
                <a:path w="87630" h="291464">
                  <a:moveTo>
                    <a:pt x="87129" y="0"/>
                  </a:moveTo>
                  <a:lnTo>
                    <a:pt x="51972" y="22920"/>
                  </a:lnTo>
                  <a:lnTo>
                    <a:pt x="24151" y="57233"/>
                  </a:lnTo>
                  <a:lnTo>
                    <a:pt x="6037" y="99377"/>
                  </a:lnTo>
                  <a:lnTo>
                    <a:pt x="0" y="145788"/>
                  </a:lnTo>
                  <a:lnTo>
                    <a:pt x="769" y="162242"/>
                  </a:lnTo>
                  <a:lnTo>
                    <a:pt x="12311" y="209835"/>
                  </a:lnTo>
                  <a:lnTo>
                    <a:pt x="36636" y="251529"/>
                  </a:lnTo>
                  <a:lnTo>
                    <a:pt x="65265" y="278345"/>
                  </a:lnTo>
                  <a:lnTo>
                    <a:pt x="87129" y="291263"/>
                  </a:lnTo>
                  <a:lnTo>
                    <a:pt x="87129" y="285404"/>
                  </a:lnTo>
                  <a:lnTo>
                    <a:pt x="79499" y="279842"/>
                  </a:lnTo>
                  <a:lnTo>
                    <a:pt x="72631" y="274142"/>
                  </a:lnTo>
                  <a:lnTo>
                    <a:pt x="48579" y="243623"/>
                  </a:lnTo>
                  <a:lnTo>
                    <a:pt x="35396" y="202374"/>
                  </a:lnTo>
                  <a:lnTo>
                    <a:pt x="30487" y="157725"/>
                  </a:lnTo>
                  <a:lnTo>
                    <a:pt x="30159" y="141315"/>
                  </a:lnTo>
                  <a:lnTo>
                    <a:pt x="30547" y="126009"/>
                  </a:lnTo>
                  <a:lnTo>
                    <a:pt x="36352" y="81983"/>
                  </a:lnTo>
                  <a:lnTo>
                    <a:pt x="49207" y="44934"/>
                  </a:lnTo>
                  <a:lnTo>
                    <a:pt x="77806" y="11685"/>
                  </a:lnTo>
                  <a:lnTo>
                    <a:pt x="87129" y="5858"/>
                  </a:lnTo>
                  <a:lnTo>
                    <a:pt x="871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47247" y="2220936"/>
              <a:ext cx="197388" cy="21342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15276" y="2220936"/>
              <a:ext cx="207651" cy="213426"/>
            </a:xfrm>
            <a:prstGeom prst="rect">
              <a:avLst/>
            </a:prstGeom>
          </p:spPr>
        </p:pic>
      </p:grpSp>
      <p:sp>
        <p:nvSpPr>
          <p:cNvPr id="40" name="object 40"/>
          <p:cNvSpPr/>
          <p:nvPr/>
        </p:nvSpPr>
        <p:spPr>
          <a:xfrm>
            <a:off x="7110209" y="2575559"/>
            <a:ext cx="149225" cy="67310"/>
          </a:xfrm>
          <a:custGeom>
            <a:avLst/>
            <a:gdLst/>
            <a:ahLst/>
            <a:cxnLst/>
            <a:rect l="l" t="t" r="r" b="b"/>
            <a:pathLst>
              <a:path w="149225" h="67310">
                <a:moveTo>
                  <a:pt x="149123" y="0"/>
                </a:moveTo>
                <a:lnTo>
                  <a:pt x="0" y="0"/>
                </a:lnTo>
                <a:lnTo>
                  <a:pt x="0" y="21590"/>
                </a:lnTo>
                <a:lnTo>
                  <a:pt x="127355" y="21590"/>
                </a:lnTo>
                <a:lnTo>
                  <a:pt x="127355" y="67310"/>
                </a:lnTo>
                <a:lnTo>
                  <a:pt x="149123" y="67310"/>
                </a:lnTo>
                <a:lnTo>
                  <a:pt x="149123" y="21590"/>
                </a:lnTo>
                <a:lnTo>
                  <a:pt x="1491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663374" y="2533649"/>
            <a:ext cx="149225" cy="152400"/>
          </a:xfrm>
          <a:custGeom>
            <a:avLst/>
            <a:gdLst/>
            <a:ahLst/>
            <a:cxnLst/>
            <a:rect l="l" t="t" r="r" b="b"/>
            <a:pathLst>
              <a:path w="149225" h="152400">
                <a:moveTo>
                  <a:pt x="149123" y="64770"/>
                </a:moveTo>
                <a:lnTo>
                  <a:pt x="85445" y="64770"/>
                </a:lnTo>
                <a:lnTo>
                  <a:pt x="85445" y="0"/>
                </a:lnTo>
                <a:lnTo>
                  <a:pt x="63665" y="0"/>
                </a:lnTo>
                <a:lnTo>
                  <a:pt x="63665" y="64770"/>
                </a:lnTo>
                <a:lnTo>
                  <a:pt x="0" y="64770"/>
                </a:lnTo>
                <a:lnTo>
                  <a:pt x="0" y="86360"/>
                </a:lnTo>
                <a:lnTo>
                  <a:pt x="63665" y="86360"/>
                </a:lnTo>
                <a:lnTo>
                  <a:pt x="63665" y="152400"/>
                </a:lnTo>
                <a:lnTo>
                  <a:pt x="85445" y="152400"/>
                </a:lnTo>
                <a:lnTo>
                  <a:pt x="85445" y="86360"/>
                </a:lnTo>
                <a:lnTo>
                  <a:pt x="149123" y="86360"/>
                </a:lnTo>
                <a:lnTo>
                  <a:pt x="149123" y="647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968849" y="2575559"/>
            <a:ext cx="149225" cy="67310"/>
          </a:xfrm>
          <a:custGeom>
            <a:avLst/>
            <a:gdLst/>
            <a:ahLst/>
            <a:cxnLst/>
            <a:rect l="l" t="t" r="r" b="b"/>
            <a:pathLst>
              <a:path w="149225" h="67310">
                <a:moveTo>
                  <a:pt x="149136" y="0"/>
                </a:moveTo>
                <a:lnTo>
                  <a:pt x="0" y="0"/>
                </a:lnTo>
                <a:lnTo>
                  <a:pt x="0" y="21590"/>
                </a:lnTo>
                <a:lnTo>
                  <a:pt x="127342" y="21590"/>
                </a:lnTo>
                <a:lnTo>
                  <a:pt x="127342" y="67310"/>
                </a:lnTo>
                <a:lnTo>
                  <a:pt x="149136" y="67310"/>
                </a:lnTo>
                <a:lnTo>
                  <a:pt x="149136" y="21590"/>
                </a:lnTo>
                <a:lnTo>
                  <a:pt x="1491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039536" y="2122169"/>
            <a:ext cx="149225" cy="67310"/>
          </a:xfrm>
          <a:custGeom>
            <a:avLst/>
            <a:gdLst/>
            <a:ahLst/>
            <a:cxnLst/>
            <a:rect l="l" t="t" r="r" b="b"/>
            <a:pathLst>
              <a:path w="149225" h="67310">
                <a:moveTo>
                  <a:pt x="149123" y="0"/>
                </a:moveTo>
                <a:lnTo>
                  <a:pt x="0" y="0"/>
                </a:lnTo>
                <a:lnTo>
                  <a:pt x="0" y="21590"/>
                </a:lnTo>
                <a:lnTo>
                  <a:pt x="127342" y="21590"/>
                </a:lnTo>
                <a:lnTo>
                  <a:pt x="127342" y="67310"/>
                </a:lnTo>
                <a:lnTo>
                  <a:pt x="149123" y="67310"/>
                </a:lnTo>
                <a:lnTo>
                  <a:pt x="149123" y="21590"/>
                </a:lnTo>
                <a:lnTo>
                  <a:pt x="1491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696271" y="2326398"/>
            <a:ext cx="149225" cy="64769"/>
          </a:xfrm>
          <a:custGeom>
            <a:avLst/>
            <a:gdLst/>
            <a:ahLst/>
            <a:cxnLst/>
            <a:rect l="l" t="t" r="r" b="b"/>
            <a:pathLst>
              <a:path w="149225" h="64769">
                <a:moveTo>
                  <a:pt x="149123" y="42684"/>
                </a:moveTo>
                <a:lnTo>
                  <a:pt x="0" y="42684"/>
                </a:lnTo>
                <a:lnTo>
                  <a:pt x="0" y="64452"/>
                </a:lnTo>
                <a:lnTo>
                  <a:pt x="149123" y="64452"/>
                </a:lnTo>
                <a:lnTo>
                  <a:pt x="149123" y="42684"/>
                </a:lnTo>
                <a:close/>
              </a:path>
              <a:path w="149225" h="64769">
                <a:moveTo>
                  <a:pt x="149123" y="0"/>
                </a:moveTo>
                <a:lnTo>
                  <a:pt x="0" y="0"/>
                </a:lnTo>
                <a:lnTo>
                  <a:pt x="0" y="21767"/>
                </a:lnTo>
                <a:lnTo>
                  <a:pt x="149123" y="21767"/>
                </a:lnTo>
                <a:lnTo>
                  <a:pt x="1491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981642" y="2324099"/>
            <a:ext cx="149225" cy="67310"/>
          </a:xfrm>
          <a:custGeom>
            <a:avLst/>
            <a:gdLst/>
            <a:ahLst/>
            <a:cxnLst/>
            <a:rect l="l" t="t" r="r" b="b"/>
            <a:pathLst>
              <a:path w="149225" h="67310">
                <a:moveTo>
                  <a:pt x="149123" y="0"/>
                </a:moveTo>
                <a:lnTo>
                  <a:pt x="0" y="0"/>
                </a:lnTo>
                <a:lnTo>
                  <a:pt x="0" y="22860"/>
                </a:lnTo>
                <a:lnTo>
                  <a:pt x="127342" y="22860"/>
                </a:lnTo>
                <a:lnTo>
                  <a:pt x="127342" y="67310"/>
                </a:lnTo>
                <a:lnTo>
                  <a:pt x="149123" y="67310"/>
                </a:lnTo>
                <a:lnTo>
                  <a:pt x="149123" y="22860"/>
                </a:lnTo>
                <a:lnTo>
                  <a:pt x="1491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1113058" y="3012947"/>
            <a:ext cx="7167342" cy="73475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sz="2350" spc="10" dirty="0">
                <a:latin typeface="Calibri"/>
                <a:cs typeface="Calibri"/>
              </a:rPr>
              <a:t>Sum </a:t>
            </a:r>
            <a:r>
              <a:rPr sz="2350" spc="5" dirty="0">
                <a:latin typeface="Calibri"/>
                <a:cs typeface="Calibri"/>
              </a:rPr>
              <a:t>all </a:t>
            </a:r>
            <a:r>
              <a:rPr sz="2350" dirty="0">
                <a:latin typeface="Calibri"/>
                <a:cs typeface="Calibri"/>
              </a:rPr>
              <a:t>instances </a:t>
            </a:r>
            <a:r>
              <a:rPr sz="2350" spc="5" dirty="0">
                <a:latin typeface="Calibri"/>
                <a:cs typeface="Calibri"/>
              </a:rPr>
              <a:t>with </a:t>
            </a:r>
            <a:r>
              <a:rPr sz="2350" spc="10" dirty="0">
                <a:latin typeface="Calibri"/>
                <a:cs typeface="Calibri"/>
              </a:rPr>
              <a:t>these </a:t>
            </a:r>
            <a:r>
              <a:rPr sz="2350" spc="150" dirty="0">
                <a:latin typeface="Calibri"/>
                <a:cs typeface="Calibri"/>
              </a:rPr>
              <a:t>se</a:t>
            </a:r>
            <a:r>
              <a:rPr lang="en-US" sz="2350" spc="150" dirty="0">
                <a:latin typeface="Calibri"/>
                <a:cs typeface="Calibri"/>
              </a:rPr>
              <a:t>tti</a:t>
            </a:r>
            <a:r>
              <a:rPr sz="2350" spc="150" dirty="0">
                <a:latin typeface="Calibri"/>
                <a:cs typeface="Calibri"/>
              </a:rPr>
              <a:t>ngs </a:t>
            </a:r>
            <a:r>
              <a:rPr sz="2350" spc="5" dirty="0">
                <a:latin typeface="Calibri"/>
                <a:cs typeface="Calibri"/>
              </a:rPr>
              <a:t>(the </a:t>
            </a:r>
            <a:r>
              <a:rPr sz="2350" spc="10" dirty="0">
                <a:latin typeface="Calibri"/>
                <a:cs typeface="Calibri"/>
              </a:rPr>
              <a:t>sum </a:t>
            </a:r>
            <a:r>
              <a:rPr sz="2350" spc="5" dirty="0">
                <a:latin typeface="Calibri"/>
                <a:cs typeface="Calibri"/>
              </a:rPr>
              <a:t>is </a:t>
            </a:r>
            <a:r>
              <a:rPr sz="2350" dirty="0">
                <a:latin typeface="Calibri"/>
                <a:cs typeface="Calibri"/>
              </a:rPr>
              <a:t>over </a:t>
            </a:r>
            <a:r>
              <a:rPr sz="2350" spc="10" dirty="0">
                <a:latin typeface="Calibri"/>
                <a:cs typeface="Calibri"/>
              </a:rPr>
              <a:t>the  </a:t>
            </a:r>
            <a:r>
              <a:rPr sz="2350" spc="5" dirty="0">
                <a:latin typeface="Calibri"/>
                <a:cs typeface="Calibri"/>
              </a:rPr>
              <a:t>possible assignments </a:t>
            </a:r>
            <a:r>
              <a:rPr sz="2350" spc="-5" dirty="0">
                <a:latin typeface="Calibri"/>
                <a:cs typeface="Calibri"/>
              </a:rPr>
              <a:t>to </a:t>
            </a:r>
            <a:r>
              <a:rPr sz="2350" spc="10" dirty="0">
                <a:latin typeface="Calibri"/>
                <a:cs typeface="Calibri"/>
              </a:rPr>
              <a:t>the </a:t>
            </a:r>
            <a:r>
              <a:rPr sz="2350" spc="5" dirty="0">
                <a:latin typeface="Calibri"/>
                <a:cs typeface="Calibri"/>
              </a:rPr>
              <a:t>other </a:t>
            </a:r>
            <a:r>
              <a:rPr sz="2350" dirty="0">
                <a:latin typeface="Calibri"/>
                <a:cs typeface="Calibri"/>
              </a:rPr>
              <a:t>two variables, </a:t>
            </a:r>
            <a:r>
              <a:rPr sz="2350" spc="10" dirty="0">
                <a:latin typeface="Calibri"/>
                <a:cs typeface="Calibri"/>
              </a:rPr>
              <a:t>E and</a:t>
            </a:r>
            <a:r>
              <a:rPr sz="2350" spc="65" dirty="0">
                <a:latin typeface="Calibri"/>
                <a:cs typeface="Calibri"/>
              </a:rPr>
              <a:t> </a:t>
            </a:r>
            <a:r>
              <a:rPr sz="2350" spc="10" dirty="0">
                <a:latin typeface="Calibri"/>
                <a:cs typeface="Calibri"/>
              </a:rPr>
              <a:t>A)</a:t>
            </a:r>
            <a:endParaRPr sz="2350" dirty="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84682" y="4035383"/>
            <a:ext cx="8437880" cy="2647950"/>
          </a:xfrm>
          <a:prstGeom prst="rect">
            <a:avLst/>
          </a:prstGeom>
          <a:solidFill>
            <a:srgbClr val="D4FEFF"/>
          </a:solidFill>
        </p:spPr>
        <p:txBody>
          <a:bodyPr vert="horz" wrap="square" lIns="0" tIns="41910" rIns="0" bIns="0" rtlCol="0">
            <a:spAutoFit/>
          </a:bodyPr>
          <a:lstStyle/>
          <a:p>
            <a:pPr marL="90170" marR="260350">
              <a:lnSpc>
                <a:spcPct val="101699"/>
              </a:lnSpc>
              <a:spcBef>
                <a:spcPts val="330"/>
              </a:spcBef>
              <a:buChar char="•"/>
              <a:tabLst>
                <a:tab pos="309245" algn="l"/>
              </a:tabLst>
            </a:pPr>
            <a:r>
              <a:rPr sz="2350" spc="5" dirty="0">
                <a:solidFill>
                  <a:srgbClr val="FF0000"/>
                </a:solidFill>
                <a:latin typeface="Calibri"/>
                <a:cs typeface="Calibri"/>
              </a:rPr>
              <a:t>This method </a:t>
            </a:r>
            <a:r>
              <a:rPr sz="2350" dirty="0">
                <a:solidFill>
                  <a:srgbClr val="FF0000"/>
                </a:solidFill>
                <a:latin typeface="Calibri"/>
                <a:cs typeface="Calibri"/>
              </a:rPr>
              <a:t>can </a:t>
            </a:r>
            <a:r>
              <a:rPr sz="2350" spc="10" dirty="0">
                <a:solidFill>
                  <a:srgbClr val="FF0000"/>
                </a:solidFill>
                <a:latin typeface="Calibri"/>
                <a:cs typeface="Calibri"/>
              </a:rPr>
              <a:t>be </a:t>
            </a:r>
            <a:r>
              <a:rPr sz="2350" dirty="0">
                <a:solidFill>
                  <a:srgbClr val="FF0000"/>
                </a:solidFill>
                <a:latin typeface="Calibri"/>
                <a:cs typeface="Calibri"/>
              </a:rPr>
              <a:t>improved by </a:t>
            </a:r>
            <a:r>
              <a:rPr sz="2350" spc="-140" dirty="0">
                <a:solidFill>
                  <a:srgbClr val="FF0000"/>
                </a:solidFill>
                <a:latin typeface="Calibri"/>
                <a:cs typeface="Calibri"/>
              </a:rPr>
              <a:t>re-­‐using </a:t>
            </a:r>
            <a:r>
              <a:rPr sz="2350" spc="20" dirty="0">
                <a:solidFill>
                  <a:srgbClr val="FF0000"/>
                </a:solidFill>
                <a:latin typeface="Calibri"/>
                <a:cs typeface="Calibri"/>
              </a:rPr>
              <a:t>calcula</a:t>
            </a:r>
            <a:r>
              <a:rPr lang="en-US" sz="2350" spc="20" dirty="0">
                <a:solidFill>
                  <a:srgbClr val="FF0000"/>
                </a:solidFill>
                <a:latin typeface="Calibri"/>
                <a:cs typeface="Calibri"/>
              </a:rPr>
              <a:t>ti</a:t>
            </a:r>
            <a:r>
              <a:rPr sz="2350" spc="20" dirty="0">
                <a:solidFill>
                  <a:srgbClr val="FF0000"/>
                </a:solidFill>
                <a:latin typeface="Calibri"/>
                <a:cs typeface="Calibri"/>
              </a:rPr>
              <a:t>ons </a:t>
            </a:r>
            <a:r>
              <a:rPr sz="2350" spc="5" dirty="0">
                <a:solidFill>
                  <a:srgbClr val="FF0000"/>
                </a:solidFill>
                <a:latin typeface="Calibri"/>
                <a:cs typeface="Calibri"/>
              </a:rPr>
              <a:t>(similar </a:t>
            </a:r>
            <a:r>
              <a:rPr sz="2350" spc="-5" dirty="0">
                <a:solidFill>
                  <a:srgbClr val="FF0000"/>
                </a:solidFill>
                <a:latin typeface="Calibri"/>
                <a:cs typeface="Calibri"/>
              </a:rPr>
              <a:t>to  </a:t>
            </a:r>
            <a:r>
              <a:rPr sz="2350" spc="5" dirty="0">
                <a:solidFill>
                  <a:srgbClr val="FF0000"/>
                </a:solidFill>
                <a:latin typeface="Calibri"/>
                <a:cs typeface="Calibri"/>
              </a:rPr>
              <a:t>dynamic</a:t>
            </a:r>
            <a:r>
              <a:rPr sz="2350" dirty="0">
                <a:solidFill>
                  <a:srgbClr val="FF0000"/>
                </a:solidFill>
                <a:latin typeface="Calibri"/>
                <a:cs typeface="Calibri"/>
              </a:rPr>
              <a:t> programming)</a:t>
            </a:r>
            <a:endParaRPr sz="2350" dirty="0">
              <a:latin typeface="Calibri"/>
              <a:cs typeface="Calibri"/>
            </a:endParaRPr>
          </a:p>
          <a:p>
            <a:pPr marL="90170" marR="577850">
              <a:lnSpc>
                <a:spcPct val="100000"/>
              </a:lnSpc>
              <a:spcBef>
                <a:spcPts val="1470"/>
              </a:spcBef>
              <a:buChar char="•"/>
              <a:tabLst>
                <a:tab pos="309245" algn="l"/>
              </a:tabLst>
            </a:pPr>
            <a:r>
              <a:rPr sz="2350" spc="35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lang="en-US" sz="2350" spc="35" dirty="0">
                <a:solidFill>
                  <a:srgbClr val="FF0000"/>
                </a:solidFill>
                <a:latin typeface="Calibri"/>
                <a:cs typeface="Calibri"/>
              </a:rPr>
              <a:t>ti</a:t>
            </a:r>
            <a:r>
              <a:rPr sz="2350" spc="35" dirty="0">
                <a:solidFill>
                  <a:srgbClr val="FF0000"/>
                </a:solidFill>
                <a:latin typeface="Calibri"/>
                <a:cs typeface="Calibri"/>
              </a:rPr>
              <a:t>ll, </a:t>
            </a:r>
            <a:r>
              <a:rPr sz="2350" spc="10" dirty="0">
                <a:solidFill>
                  <a:srgbClr val="FF0000"/>
                </a:solidFill>
                <a:latin typeface="Calibri"/>
                <a:cs typeface="Calibri"/>
              </a:rPr>
              <a:t>the number </a:t>
            </a:r>
            <a:r>
              <a:rPr sz="2350" spc="5" dirty="0">
                <a:solidFill>
                  <a:srgbClr val="FF0000"/>
                </a:solidFill>
                <a:latin typeface="Calibri"/>
                <a:cs typeface="Calibri"/>
              </a:rPr>
              <a:t>of possible assignments is </a:t>
            </a:r>
            <a:r>
              <a:rPr sz="2350" spc="20" dirty="0">
                <a:solidFill>
                  <a:srgbClr val="FF0000"/>
                </a:solidFill>
                <a:latin typeface="Calibri"/>
                <a:cs typeface="Calibri"/>
              </a:rPr>
              <a:t>exponen</a:t>
            </a:r>
            <a:r>
              <a:rPr lang="en-US" sz="2350" spc="20" dirty="0">
                <a:solidFill>
                  <a:srgbClr val="FF0000"/>
                </a:solidFill>
                <a:latin typeface="Calibri"/>
                <a:cs typeface="Calibri"/>
              </a:rPr>
              <a:t>ti</a:t>
            </a:r>
            <a:r>
              <a:rPr sz="2350" spc="20" dirty="0">
                <a:solidFill>
                  <a:srgbClr val="FF0000"/>
                </a:solidFill>
                <a:latin typeface="Calibri"/>
                <a:cs typeface="Calibri"/>
              </a:rPr>
              <a:t>al </a:t>
            </a:r>
            <a:r>
              <a:rPr sz="2350" spc="5" dirty="0">
                <a:solidFill>
                  <a:srgbClr val="FF0000"/>
                </a:solidFill>
                <a:latin typeface="Calibri"/>
                <a:cs typeface="Calibri"/>
              </a:rPr>
              <a:t>in </a:t>
            </a:r>
            <a:r>
              <a:rPr sz="2350" spc="10" dirty="0">
                <a:solidFill>
                  <a:srgbClr val="FF0000"/>
                </a:solidFill>
                <a:latin typeface="Calibri"/>
                <a:cs typeface="Calibri"/>
              </a:rPr>
              <a:t>the  number </a:t>
            </a:r>
            <a:r>
              <a:rPr sz="2350" spc="5" dirty="0">
                <a:solidFill>
                  <a:srgbClr val="FF0000"/>
                </a:solidFill>
                <a:latin typeface="Calibri"/>
                <a:cs typeface="Calibri"/>
              </a:rPr>
              <a:t>of unobserved</a:t>
            </a:r>
            <a:r>
              <a:rPr sz="235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50" spc="5" dirty="0">
                <a:solidFill>
                  <a:srgbClr val="FF0000"/>
                </a:solidFill>
                <a:latin typeface="Calibri"/>
                <a:cs typeface="Calibri"/>
              </a:rPr>
              <a:t>variables?</a:t>
            </a:r>
            <a:endParaRPr sz="2350" dirty="0">
              <a:latin typeface="Calibri"/>
              <a:cs typeface="Calibri"/>
            </a:endParaRPr>
          </a:p>
          <a:p>
            <a:pPr marL="90170" marR="492125">
              <a:lnSpc>
                <a:spcPct val="100000"/>
              </a:lnSpc>
              <a:spcBef>
                <a:spcPts val="1480"/>
              </a:spcBef>
              <a:buChar char="•"/>
              <a:tabLst>
                <a:tab pos="309245" algn="l"/>
              </a:tabLst>
            </a:pPr>
            <a:r>
              <a:rPr sz="2350" dirty="0">
                <a:solidFill>
                  <a:srgbClr val="FF0000"/>
                </a:solidFill>
                <a:latin typeface="Calibri"/>
                <a:cs typeface="Calibri"/>
              </a:rPr>
              <a:t>That </a:t>
            </a:r>
            <a:r>
              <a:rPr sz="2350" spc="5" dirty="0">
                <a:solidFill>
                  <a:srgbClr val="FF0000"/>
                </a:solidFill>
                <a:latin typeface="Calibri"/>
                <a:cs typeface="Calibri"/>
              </a:rPr>
              <a:t>is, </a:t>
            </a:r>
            <a:r>
              <a:rPr sz="2350" spc="-15" dirty="0">
                <a:solidFill>
                  <a:srgbClr val="FF0000"/>
                </a:solidFill>
                <a:latin typeface="Calibri"/>
                <a:cs typeface="Calibri"/>
              </a:rPr>
              <a:t>unfortunately, </a:t>
            </a:r>
            <a:r>
              <a:rPr sz="2350" spc="10" dirty="0">
                <a:solidFill>
                  <a:srgbClr val="FF0000"/>
                </a:solidFill>
                <a:latin typeface="Calibri"/>
                <a:cs typeface="Calibri"/>
              </a:rPr>
              <a:t>the </a:t>
            </a:r>
            <a:r>
              <a:rPr sz="2350" dirty="0">
                <a:solidFill>
                  <a:srgbClr val="FF0000"/>
                </a:solidFill>
                <a:latin typeface="Calibri"/>
                <a:cs typeface="Calibri"/>
              </a:rPr>
              <a:t>best we can </a:t>
            </a:r>
            <a:r>
              <a:rPr sz="2350" spc="5" dirty="0">
                <a:solidFill>
                  <a:srgbClr val="FF0000"/>
                </a:solidFill>
                <a:latin typeface="Calibri"/>
                <a:cs typeface="Calibri"/>
              </a:rPr>
              <a:t>do. </a:t>
            </a:r>
            <a:r>
              <a:rPr sz="2350" dirty="0">
                <a:solidFill>
                  <a:srgbClr val="FF0000"/>
                </a:solidFill>
                <a:latin typeface="Calibri"/>
                <a:cs typeface="Calibri"/>
              </a:rPr>
              <a:t>General </a:t>
            </a:r>
            <a:r>
              <a:rPr sz="2350" spc="10" dirty="0">
                <a:solidFill>
                  <a:srgbClr val="FF0000"/>
                </a:solidFill>
                <a:latin typeface="Calibri"/>
                <a:cs typeface="Calibri"/>
              </a:rPr>
              <a:t>querying </a:t>
            </a:r>
            <a:r>
              <a:rPr sz="2350" spc="5" dirty="0">
                <a:solidFill>
                  <a:srgbClr val="FF0000"/>
                </a:solidFill>
                <a:latin typeface="Calibri"/>
                <a:cs typeface="Calibri"/>
              </a:rPr>
              <a:t>of  </a:t>
            </a:r>
            <a:r>
              <a:rPr sz="2350" dirty="0">
                <a:solidFill>
                  <a:srgbClr val="FF0000"/>
                </a:solidFill>
                <a:latin typeface="Calibri"/>
                <a:cs typeface="Calibri"/>
              </a:rPr>
              <a:t>Bayesian networks </a:t>
            </a:r>
            <a:r>
              <a:rPr sz="2350" spc="5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35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50" spc="-114" dirty="0">
                <a:solidFill>
                  <a:srgbClr val="FF0000"/>
                </a:solidFill>
                <a:latin typeface="Calibri"/>
                <a:cs typeface="Calibri"/>
              </a:rPr>
              <a:t>NP-­‐complete</a:t>
            </a:r>
            <a:endParaRPr sz="23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2484915" y="-83027"/>
            <a:ext cx="7573486" cy="1259047"/>
          </a:xfrm>
        </p:spPr>
        <p:txBody>
          <a:bodyPr>
            <a:normAutofit/>
          </a:bodyPr>
          <a:lstStyle/>
          <a:p>
            <a:pPr lvl="0"/>
            <a:r>
              <a:rPr lang="en-US" sz="3960" dirty="0"/>
              <a:t>Multinomial naïve Bayes I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694508" y="1433218"/>
            <a:ext cx="8342087" cy="5611664"/>
          </a:xfrm>
        </p:spPr>
        <p:txBody>
          <a:bodyPr wrap="square">
            <a:spAutoFit/>
          </a:bodyPr>
          <a:lstStyle/>
          <a:p>
            <a:pPr lvl="0"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2640" dirty="0"/>
              <a:t>Version of naïve Bayes used for document classification using </a:t>
            </a:r>
            <a:r>
              <a:rPr lang="en-US" sz="2640" i="1" dirty="0"/>
              <a:t>bag of words </a:t>
            </a:r>
            <a:r>
              <a:rPr lang="en-US" sz="2640" dirty="0"/>
              <a:t>model</a:t>
            </a:r>
          </a:p>
          <a:p>
            <a:pPr lvl="0"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2640" i="1" dirty="0"/>
              <a:t>n</a:t>
            </a:r>
            <a:r>
              <a:rPr lang="en-US" sz="2640" i="1" baseline="-25000" dirty="0"/>
              <a:t>1</a:t>
            </a:r>
            <a:r>
              <a:rPr lang="en-US" sz="2640" i="1" dirty="0"/>
              <a:t>,n</a:t>
            </a:r>
            <a:r>
              <a:rPr lang="en-US" sz="2640" i="1" baseline="-25000" dirty="0"/>
              <a:t>2</a:t>
            </a:r>
            <a:r>
              <a:rPr lang="en-US" sz="2640" i="1" dirty="0"/>
              <a:t>, ... , </a:t>
            </a:r>
            <a:r>
              <a:rPr lang="en-US" sz="2640" i="1" dirty="0" err="1"/>
              <a:t>n</a:t>
            </a:r>
            <a:r>
              <a:rPr lang="en-US" sz="2640" i="1" baseline="-25000" dirty="0" err="1"/>
              <a:t>k</a:t>
            </a:r>
            <a:r>
              <a:rPr lang="en-US" sz="2640" dirty="0"/>
              <a:t>: number of times word </a:t>
            </a:r>
            <a:r>
              <a:rPr lang="en-US" sz="2640" i="1" dirty="0" err="1"/>
              <a:t>i</a:t>
            </a:r>
            <a:r>
              <a:rPr lang="en-US" sz="2640" dirty="0"/>
              <a:t> occurs in the document</a:t>
            </a:r>
          </a:p>
          <a:p>
            <a:pPr lvl="0"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2640" i="1" dirty="0"/>
              <a:t>P</a:t>
            </a:r>
            <a:r>
              <a:rPr lang="en-US" sz="2640" i="1" baseline="-25000" dirty="0"/>
              <a:t>1</a:t>
            </a:r>
            <a:r>
              <a:rPr lang="en-US" sz="2640" i="1" dirty="0"/>
              <a:t>,P</a:t>
            </a:r>
            <a:r>
              <a:rPr lang="en-US" sz="2640" i="1" baseline="-25000" dirty="0"/>
              <a:t>2</a:t>
            </a:r>
            <a:r>
              <a:rPr lang="en-US" sz="2640" i="1" dirty="0"/>
              <a:t>, ... , </a:t>
            </a:r>
            <a:r>
              <a:rPr lang="en-US" sz="2640" i="1" dirty="0" err="1"/>
              <a:t>P</a:t>
            </a:r>
            <a:r>
              <a:rPr lang="en-US" sz="2640" i="1" baseline="-25000" dirty="0" err="1"/>
              <a:t>k</a:t>
            </a:r>
            <a:r>
              <a:rPr lang="en-US" sz="2640" dirty="0"/>
              <a:t>: probability of obtaining word </a:t>
            </a:r>
            <a:r>
              <a:rPr lang="en-US" sz="2640" i="1" dirty="0" err="1"/>
              <a:t>i</a:t>
            </a:r>
            <a:r>
              <a:rPr lang="en-US" sz="2640" dirty="0"/>
              <a:t> when sampling from documents in class </a:t>
            </a:r>
            <a:r>
              <a:rPr lang="en-US" sz="2640" i="1" dirty="0"/>
              <a:t>H</a:t>
            </a:r>
          </a:p>
          <a:p>
            <a:pPr lvl="0"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2640" dirty="0"/>
              <a:t>Probability of observing a particular document </a:t>
            </a:r>
            <a:r>
              <a:rPr lang="en-US" sz="2640" i="1" dirty="0"/>
              <a:t>E </a:t>
            </a:r>
            <a:r>
              <a:rPr lang="en-US" sz="2640" dirty="0"/>
              <a:t>given probabilities class </a:t>
            </a:r>
            <a:r>
              <a:rPr lang="en-US" sz="2640" i="1" dirty="0"/>
              <a:t>H </a:t>
            </a:r>
            <a:r>
              <a:rPr lang="en-US" sz="2640" dirty="0"/>
              <a:t>(based on </a:t>
            </a:r>
            <a:r>
              <a:rPr lang="en-US" sz="2640" i="1" dirty="0"/>
              <a:t>multinomial distribution</a:t>
            </a:r>
            <a:r>
              <a:rPr lang="en-US" sz="2640" dirty="0"/>
              <a:t>):</a:t>
            </a:r>
            <a:br>
              <a:rPr lang="en-US" sz="2640" dirty="0"/>
            </a:br>
            <a:br>
              <a:rPr lang="en-US" sz="2640" dirty="0"/>
            </a:br>
            <a:br>
              <a:rPr lang="en-US" sz="2640" dirty="0"/>
            </a:br>
            <a:endParaRPr lang="en-US" sz="2640" dirty="0"/>
          </a:p>
          <a:p>
            <a:pPr lvl="0"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2640" dirty="0"/>
              <a:t>Note that this expression ignores the probability of generating a document of the right length </a:t>
            </a:r>
          </a:p>
          <a:p>
            <a:pPr lvl="1"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2200" dirty="0"/>
              <a:t>This probability is assumed to be constant for all classes</a:t>
            </a:r>
            <a:endParaRPr lang="en-US" sz="253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170" y="4840036"/>
            <a:ext cx="2780030" cy="838200"/>
          </a:xfrm>
          <a:prstGeom prst="rect">
            <a:avLst/>
          </a:prstGeom>
        </p:spPr>
      </p:pic>
      <p:sp>
        <p:nvSpPr>
          <p:cNvPr id="6" name="object 5">
            <a:extLst>
              <a:ext uri="{FF2B5EF4-FFF2-40B4-BE49-F238E27FC236}">
                <a16:creationId xmlns:a16="http://schemas.microsoft.com/office/drawing/2014/main" id="{09E85096-BE40-48DA-96AA-F0DCFD6BC22C}"/>
              </a:ext>
            </a:extLst>
          </p:cNvPr>
          <p:cNvSpPr txBox="1"/>
          <p:nvPr/>
        </p:nvSpPr>
        <p:spPr>
          <a:xfrm>
            <a:off x="383539" y="7346310"/>
            <a:ext cx="335026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[Source: </a:t>
            </a:r>
            <a:r>
              <a:rPr lang="en-US" sz="1200" spc="-10" dirty="0">
                <a:latin typeface="Calibri"/>
                <a:cs typeface="Calibri"/>
              </a:rPr>
              <a:t>Data Mining by Witten, Frank, Hall and Pal</a:t>
            </a:r>
            <a:r>
              <a:rPr sz="1200" spc="-20" dirty="0">
                <a:latin typeface="Calibri"/>
                <a:cs typeface="Calibri"/>
              </a:rPr>
              <a:t>]</a:t>
            </a:r>
            <a:endParaRPr sz="1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6678137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2484915" y="-83027"/>
            <a:ext cx="7573486" cy="1259047"/>
          </a:xfrm>
        </p:spPr>
        <p:txBody>
          <a:bodyPr>
            <a:normAutofit/>
          </a:bodyPr>
          <a:lstStyle/>
          <a:p>
            <a:pPr lvl="0"/>
            <a:r>
              <a:rPr lang="en-US" sz="3960" dirty="0"/>
              <a:t>Multinomial naïve Bayes II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555806" y="1415756"/>
            <a:ext cx="8959760" cy="5826467"/>
          </a:xfrm>
        </p:spPr>
        <p:txBody>
          <a:bodyPr wrap="square">
            <a:spAutoFit/>
          </a:bodyPr>
          <a:lstStyle/>
          <a:p>
            <a:pPr lvl="0"/>
            <a:r>
              <a:rPr lang="en-US" sz="2640" dirty="0"/>
              <a:t>Suppose dictionary has two words, </a:t>
            </a:r>
            <a:r>
              <a:rPr lang="en-US" sz="2640" i="1" dirty="0"/>
              <a:t>yellow </a:t>
            </a:r>
            <a:r>
              <a:rPr lang="en-US" sz="2640" dirty="0"/>
              <a:t>and </a:t>
            </a:r>
            <a:r>
              <a:rPr lang="en-US" sz="2640" i="1" dirty="0"/>
              <a:t>blue</a:t>
            </a:r>
          </a:p>
          <a:p>
            <a:pPr lvl="0"/>
            <a:r>
              <a:rPr lang="en-US" sz="2640" dirty="0"/>
              <a:t>Suppose P(</a:t>
            </a:r>
            <a:r>
              <a:rPr lang="en-US" sz="2640" i="1" dirty="0"/>
              <a:t>yellow</a:t>
            </a:r>
            <a:r>
              <a:rPr lang="en-US" sz="2640" dirty="0"/>
              <a:t> | </a:t>
            </a:r>
            <a:r>
              <a:rPr lang="en-US" sz="2640" i="1" dirty="0"/>
              <a:t>H</a:t>
            </a:r>
            <a:r>
              <a:rPr lang="en-US" sz="2640" dirty="0"/>
              <a:t>) = 75% and P(</a:t>
            </a:r>
            <a:r>
              <a:rPr lang="en-US" sz="2640" i="1" dirty="0"/>
              <a:t>blue</a:t>
            </a:r>
            <a:r>
              <a:rPr lang="en-US" sz="2640" dirty="0"/>
              <a:t> | </a:t>
            </a:r>
            <a:r>
              <a:rPr lang="en-US" sz="2640" i="1" dirty="0"/>
              <a:t>H</a:t>
            </a:r>
            <a:r>
              <a:rPr lang="en-US" sz="2640" dirty="0"/>
              <a:t>) = 25%</a:t>
            </a:r>
          </a:p>
          <a:p>
            <a:pPr lvl="0"/>
            <a:r>
              <a:rPr lang="en-US" sz="2640" dirty="0"/>
              <a:t>Suppose </a:t>
            </a:r>
            <a:r>
              <a:rPr lang="en-US" sz="2640" i="1" dirty="0"/>
              <a:t>E </a:t>
            </a:r>
            <a:r>
              <a:rPr lang="en-US" sz="2640" dirty="0"/>
              <a:t>is the document “</a:t>
            </a:r>
            <a:r>
              <a:rPr lang="en-US" sz="2640" i="1" dirty="0"/>
              <a:t>blue yellow blue”</a:t>
            </a:r>
          </a:p>
          <a:p>
            <a:pPr lvl="0"/>
            <a:r>
              <a:rPr lang="en-US" sz="2640" dirty="0"/>
              <a:t>Probability of observing document:</a:t>
            </a:r>
            <a:br>
              <a:rPr lang="en-US" sz="2640" dirty="0"/>
            </a:br>
            <a:br>
              <a:rPr lang="en-US" sz="2640" dirty="0"/>
            </a:br>
            <a:br>
              <a:rPr lang="en-US" sz="2640" dirty="0"/>
            </a:br>
            <a:r>
              <a:rPr lang="en-US" sz="2640" dirty="0"/>
              <a:t>Suppose there is another class </a:t>
            </a:r>
            <a:r>
              <a:rPr lang="en-US" sz="2640" i="1" dirty="0"/>
              <a:t>H</a:t>
            </a:r>
            <a:r>
              <a:rPr lang="en-US" sz="2640" dirty="0"/>
              <a:t>' that has</a:t>
            </a:r>
            <a:br>
              <a:rPr lang="en-US" sz="2640" dirty="0"/>
            </a:br>
            <a:r>
              <a:rPr lang="en-US" sz="2640" dirty="0"/>
              <a:t>P(</a:t>
            </a:r>
            <a:r>
              <a:rPr lang="en-US" sz="2640" i="1" dirty="0"/>
              <a:t>yellow</a:t>
            </a:r>
            <a:r>
              <a:rPr lang="en-US" sz="2640" dirty="0"/>
              <a:t> | </a:t>
            </a:r>
            <a:r>
              <a:rPr lang="en-US" sz="2640" i="1" dirty="0"/>
              <a:t>H’</a:t>
            </a:r>
            <a:r>
              <a:rPr lang="en-US" sz="2640" dirty="0"/>
              <a:t>) = 10% and P(</a:t>
            </a:r>
            <a:r>
              <a:rPr lang="en-US" sz="2640" i="1" dirty="0"/>
              <a:t>blue</a:t>
            </a:r>
            <a:r>
              <a:rPr lang="en-US" sz="2640" dirty="0"/>
              <a:t>| </a:t>
            </a:r>
            <a:r>
              <a:rPr lang="en-US" sz="2640" i="1" dirty="0"/>
              <a:t>H’</a:t>
            </a:r>
            <a:r>
              <a:rPr lang="en-US" sz="2640" dirty="0"/>
              <a:t>) = 90%:</a:t>
            </a:r>
            <a:br>
              <a:rPr lang="en-US" sz="2640" dirty="0"/>
            </a:br>
            <a:br>
              <a:rPr lang="en-US" sz="2640" dirty="0"/>
            </a:br>
            <a:endParaRPr lang="en-US" sz="2640" dirty="0"/>
          </a:p>
          <a:p>
            <a:pPr lvl="0"/>
            <a:r>
              <a:rPr lang="en-US" sz="2640" dirty="0"/>
              <a:t>Need to take prior probability of class into account to make the final classification using Bayes’ rule</a:t>
            </a:r>
          </a:p>
          <a:p>
            <a:pPr lvl="0"/>
            <a:r>
              <a:rPr lang="en-US" sz="2640" dirty="0"/>
              <a:t>Factorials do not actually need to be computed: they drop out</a:t>
            </a:r>
          </a:p>
          <a:p>
            <a:pPr lvl="0"/>
            <a:r>
              <a:rPr lang="en-US" sz="2640" dirty="0"/>
              <a:t>Underflows can be prevented by using logarithms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752983" y="3202019"/>
          <a:ext cx="5779194" cy="766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60700" imgH="406400" progId="Equation.3">
                  <p:embed/>
                </p:oleObj>
              </mc:Choice>
              <mc:Fallback>
                <p:oleObj name="Equation" r:id="rId3" imgW="3060700" imgH="406400" progId="Equation.3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52983" y="3202019"/>
                        <a:ext cx="5779194" cy="7669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742081" y="4650424"/>
          <a:ext cx="5713181" cy="7613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048000" imgH="406400" progId="Equation.3">
                  <p:embed/>
                </p:oleObj>
              </mc:Choice>
              <mc:Fallback>
                <p:oleObj name="Equation" r:id="rId5" imgW="3048000" imgH="406400" progId="Equation.3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42081" y="4650424"/>
                        <a:ext cx="5713181" cy="7613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object 5">
            <a:extLst>
              <a:ext uri="{FF2B5EF4-FFF2-40B4-BE49-F238E27FC236}">
                <a16:creationId xmlns:a16="http://schemas.microsoft.com/office/drawing/2014/main" id="{09E85096-BE40-48DA-96AA-F0DCFD6BC22C}"/>
              </a:ext>
            </a:extLst>
          </p:cNvPr>
          <p:cNvSpPr txBox="1"/>
          <p:nvPr/>
        </p:nvSpPr>
        <p:spPr>
          <a:xfrm>
            <a:off x="383539" y="7422510"/>
            <a:ext cx="335026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[Source: </a:t>
            </a:r>
            <a:r>
              <a:rPr lang="en-US" sz="1200" spc="-10" dirty="0">
                <a:latin typeface="Calibri"/>
                <a:cs typeface="Calibri"/>
              </a:rPr>
              <a:t>Data Mining by Witten, Frank, Hall and Pal</a:t>
            </a:r>
            <a:r>
              <a:rPr sz="1200" spc="-20" dirty="0">
                <a:latin typeface="Calibri"/>
                <a:cs typeface="Calibri"/>
              </a:rPr>
              <a:t>]</a:t>
            </a:r>
            <a:endParaRPr sz="1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8623481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0997" y="483234"/>
            <a:ext cx="53828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What you should</a:t>
            </a:r>
            <a:r>
              <a:rPr spc="-70" dirty="0"/>
              <a:t> </a:t>
            </a:r>
            <a:r>
              <a:rPr spc="-10" dirty="0"/>
              <a:t>know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01" y="1510296"/>
            <a:ext cx="6731000" cy="468185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15"/>
              </a:spcBef>
              <a:buFont typeface="Arial"/>
              <a:buChar char="•"/>
              <a:tabLst>
                <a:tab pos="354965" algn="l"/>
                <a:tab pos="356235" algn="l"/>
              </a:tabLst>
            </a:pPr>
            <a:r>
              <a:rPr sz="2800" spc="-50" dirty="0">
                <a:latin typeface="Book Antiqua"/>
                <a:cs typeface="Book Antiqua"/>
              </a:rPr>
              <a:t>The </a:t>
            </a:r>
            <a:r>
              <a:rPr sz="2800" spc="-145" dirty="0">
                <a:latin typeface="Book Antiqua"/>
                <a:cs typeface="Book Antiqua"/>
              </a:rPr>
              <a:t>Naïve </a:t>
            </a:r>
            <a:r>
              <a:rPr sz="2800" spc="-130" dirty="0">
                <a:latin typeface="Book Antiqua"/>
                <a:cs typeface="Book Antiqua"/>
              </a:rPr>
              <a:t>Bayes</a:t>
            </a:r>
            <a:r>
              <a:rPr sz="2800" spc="55" dirty="0">
                <a:latin typeface="Book Antiqua"/>
                <a:cs typeface="Book Antiqua"/>
              </a:rPr>
              <a:t> </a:t>
            </a:r>
            <a:r>
              <a:rPr sz="2800" spc="-85" dirty="0">
                <a:latin typeface="Book Antiqua"/>
                <a:cs typeface="Book Antiqua"/>
              </a:rPr>
              <a:t>classifier</a:t>
            </a:r>
            <a:endParaRPr sz="2800" dirty="0">
              <a:latin typeface="Book Antiqua"/>
              <a:cs typeface="Book Antiqua"/>
            </a:endParaRPr>
          </a:p>
          <a:p>
            <a:pPr marL="756285" lvl="1" indent="-287020">
              <a:lnSpc>
                <a:spcPct val="100000"/>
              </a:lnSpc>
              <a:spcBef>
                <a:spcPts val="62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60" dirty="0">
                <a:latin typeface="Book Antiqua"/>
                <a:cs typeface="Book Antiqua"/>
              </a:rPr>
              <a:t>Conditional </a:t>
            </a:r>
            <a:r>
              <a:rPr sz="2400" spc="-90" dirty="0">
                <a:latin typeface="Book Antiqua"/>
                <a:cs typeface="Book Antiqua"/>
              </a:rPr>
              <a:t>independence</a:t>
            </a:r>
            <a:r>
              <a:rPr sz="2400" spc="30" dirty="0">
                <a:latin typeface="Book Antiqua"/>
                <a:cs typeface="Book Antiqua"/>
              </a:rPr>
              <a:t> </a:t>
            </a:r>
            <a:r>
              <a:rPr sz="2400" spc="-90" dirty="0">
                <a:latin typeface="Book Antiqua"/>
                <a:cs typeface="Book Antiqua"/>
              </a:rPr>
              <a:t>assumption</a:t>
            </a:r>
            <a:endParaRPr sz="2400" dirty="0">
              <a:latin typeface="Book Antiqua"/>
              <a:cs typeface="Book Antiqua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5" dirty="0">
                <a:latin typeface="Book Antiqua"/>
                <a:cs typeface="Book Antiqua"/>
              </a:rPr>
              <a:t>How </a:t>
            </a:r>
            <a:r>
              <a:rPr sz="2400" spc="-35" dirty="0">
                <a:latin typeface="Book Antiqua"/>
                <a:cs typeface="Book Antiqua"/>
              </a:rPr>
              <a:t>to </a:t>
            </a:r>
            <a:r>
              <a:rPr sz="2400" spc="-50" dirty="0">
                <a:latin typeface="Book Antiqua"/>
                <a:cs typeface="Book Antiqua"/>
              </a:rPr>
              <a:t>train</a:t>
            </a:r>
            <a:r>
              <a:rPr sz="2400" spc="110" dirty="0">
                <a:latin typeface="Book Antiqua"/>
                <a:cs typeface="Book Antiqua"/>
              </a:rPr>
              <a:t> </a:t>
            </a:r>
            <a:r>
              <a:rPr sz="2400" spc="-65" dirty="0">
                <a:latin typeface="Book Antiqua"/>
                <a:cs typeface="Book Antiqua"/>
              </a:rPr>
              <a:t>it?</a:t>
            </a:r>
            <a:endParaRPr sz="2400" dirty="0">
              <a:latin typeface="Book Antiqua"/>
              <a:cs typeface="Book Antiqua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5" dirty="0">
                <a:latin typeface="Book Antiqua"/>
                <a:cs typeface="Book Antiqua"/>
              </a:rPr>
              <a:t>How </a:t>
            </a:r>
            <a:r>
              <a:rPr sz="2400" spc="-35" dirty="0">
                <a:latin typeface="Book Antiqua"/>
                <a:cs typeface="Book Antiqua"/>
              </a:rPr>
              <a:t>to </a:t>
            </a:r>
            <a:r>
              <a:rPr sz="2400" spc="-105" dirty="0">
                <a:latin typeface="Book Antiqua"/>
                <a:cs typeface="Book Antiqua"/>
              </a:rPr>
              <a:t>make</a:t>
            </a:r>
            <a:r>
              <a:rPr sz="2400" spc="90" dirty="0">
                <a:latin typeface="Book Antiqua"/>
                <a:cs typeface="Book Antiqua"/>
              </a:rPr>
              <a:t> </a:t>
            </a:r>
            <a:r>
              <a:rPr sz="2400" spc="-75" dirty="0">
                <a:latin typeface="Book Antiqua"/>
                <a:cs typeface="Book Antiqua"/>
              </a:rPr>
              <a:t>predictions?</a:t>
            </a:r>
            <a:endParaRPr sz="2400" dirty="0">
              <a:latin typeface="Book Antiqua"/>
              <a:cs typeface="Book Antiqua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0" dirty="0">
                <a:latin typeface="Book Antiqua"/>
                <a:cs typeface="Book Antiqua"/>
              </a:rPr>
              <a:t>How </a:t>
            </a:r>
            <a:r>
              <a:rPr sz="2400" spc="-105" dirty="0">
                <a:latin typeface="Book Antiqua"/>
                <a:cs typeface="Book Antiqua"/>
              </a:rPr>
              <a:t>does </a:t>
            </a:r>
            <a:r>
              <a:rPr sz="2400" spc="-30" dirty="0">
                <a:latin typeface="Book Antiqua"/>
                <a:cs typeface="Book Antiqua"/>
              </a:rPr>
              <a:t>it </a:t>
            </a:r>
            <a:r>
              <a:rPr sz="2400" spc="-75" dirty="0">
                <a:latin typeface="Book Antiqua"/>
                <a:cs typeface="Book Antiqua"/>
              </a:rPr>
              <a:t>relate </a:t>
            </a:r>
            <a:r>
              <a:rPr sz="2400" spc="-35" dirty="0">
                <a:latin typeface="Book Antiqua"/>
                <a:cs typeface="Book Antiqua"/>
              </a:rPr>
              <a:t>to </a:t>
            </a:r>
            <a:r>
              <a:rPr sz="2400" spc="-55" dirty="0">
                <a:latin typeface="Book Antiqua"/>
                <a:cs typeface="Book Antiqua"/>
              </a:rPr>
              <a:t>other </a:t>
            </a:r>
            <a:r>
              <a:rPr sz="2400" spc="-75" dirty="0">
                <a:latin typeface="Book Antiqua"/>
                <a:cs typeface="Book Antiqua"/>
              </a:rPr>
              <a:t>classifiers </a:t>
            </a:r>
            <a:r>
              <a:rPr sz="2400" spc="-210" dirty="0">
                <a:latin typeface="Book Antiqua"/>
                <a:cs typeface="Book Antiqua"/>
              </a:rPr>
              <a:t>we</a:t>
            </a:r>
            <a:r>
              <a:rPr sz="2400" spc="-135" dirty="0">
                <a:latin typeface="Book Antiqua"/>
                <a:cs typeface="Book Antiqua"/>
              </a:rPr>
              <a:t> </a:t>
            </a:r>
            <a:r>
              <a:rPr sz="2400" spc="-130" dirty="0">
                <a:latin typeface="Book Antiqua"/>
                <a:cs typeface="Book Antiqua"/>
              </a:rPr>
              <a:t>know?</a:t>
            </a:r>
            <a:endParaRPr sz="2400" dirty="0">
              <a:latin typeface="Book Antiqua"/>
              <a:cs typeface="Book Antiqua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SzPct val="116666"/>
              <a:buFont typeface="Arial"/>
              <a:buChar char="•"/>
              <a:tabLst>
                <a:tab pos="354965" algn="l"/>
                <a:tab pos="356235" algn="l"/>
              </a:tabLst>
            </a:pPr>
            <a:r>
              <a:rPr sz="2400" spc="-40" dirty="0">
                <a:latin typeface="Book Antiqua"/>
                <a:cs typeface="Book Antiqua"/>
              </a:rPr>
              <a:t>The </a:t>
            </a:r>
            <a:r>
              <a:rPr sz="2400" spc="-90" dirty="0">
                <a:latin typeface="Book Antiqua"/>
                <a:cs typeface="Book Antiqua"/>
              </a:rPr>
              <a:t>Bayesian</a:t>
            </a:r>
            <a:r>
              <a:rPr sz="2400" spc="-35" dirty="0">
                <a:latin typeface="Book Antiqua"/>
                <a:cs typeface="Book Antiqua"/>
              </a:rPr>
              <a:t> </a:t>
            </a:r>
            <a:r>
              <a:rPr sz="2400" spc="-110" dirty="0">
                <a:latin typeface="Book Antiqua"/>
                <a:cs typeface="Book Antiqua"/>
              </a:rPr>
              <a:t>Networks</a:t>
            </a:r>
            <a:endParaRPr sz="2400" dirty="0">
              <a:latin typeface="Book Antiqua"/>
              <a:cs typeface="Book Antiqua"/>
            </a:endParaRPr>
          </a:p>
          <a:p>
            <a:pPr marL="355600" indent="-343535">
              <a:lnSpc>
                <a:spcPct val="100000"/>
              </a:lnSpc>
              <a:spcBef>
                <a:spcPts val="1490"/>
              </a:spcBef>
              <a:buFont typeface="Arial"/>
              <a:buChar char="•"/>
              <a:tabLst>
                <a:tab pos="354965" algn="l"/>
                <a:tab pos="356235" algn="l"/>
              </a:tabLst>
            </a:pPr>
            <a:r>
              <a:rPr sz="2800" spc="-105" dirty="0">
                <a:latin typeface="Book Antiqua"/>
                <a:cs typeface="Book Antiqua"/>
              </a:rPr>
              <a:t>Fundamental </a:t>
            </a:r>
            <a:r>
              <a:rPr sz="2800" spc="-80" dirty="0">
                <a:latin typeface="Book Antiqua"/>
                <a:cs typeface="Book Antiqua"/>
              </a:rPr>
              <a:t>Machine </a:t>
            </a:r>
            <a:r>
              <a:rPr sz="2800" spc="-105" dirty="0">
                <a:latin typeface="Book Antiqua"/>
                <a:cs typeface="Book Antiqua"/>
              </a:rPr>
              <a:t>Learning</a:t>
            </a:r>
            <a:r>
              <a:rPr sz="2800" spc="65" dirty="0">
                <a:latin typeface="Book Antiqua"/>
                <a:cs typeface="Book Antiqua"/>
              </a:rPr>
              <a:t> </a:t>
            </a:r>
            <a:r>
              <a:rPr sz="2800" spc="-80" dirty="0">
                <a:latin typeface="Book Antiqua"/>
                <a:cs typeface="Book Antiqua"/>
              </a:rPr>
              <a:t>concepts</a:t>
            </a:r>
            <a:endParaRPr sz="2800" dirty="0">
              <a:latin typeface="Book Antiqua"/>
              <a:cs typeface="Book Antiqua"/>
            </a:endParaRPr>
          </a:p>
          <a:p>
            <a:pPr marL="756285" lvl="1" indent="-287020">
              <a:lnSpc>
                <a:spcPct val="100000"/>
              </a:lnSpc>
              <a:spcBef>
                <a:spcPts val="62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85" dirty="0">
                <a:latin typeface="Book Antiqua"/>
                <a:cs typeface="Book Antiqua"/>
              </a:rPr>
              <a:t>iid</a:t>
            </a:r>
            <a:r>
              <a:rPr sz="2400" spc="95" dirty="0">
                <a:latin typeface="Book Antiqua"/>
                <a:cs typeface="Book Antiqua"/>
              </a:rPr>
              <a:t> </a:t>
            </a:r>
            <a:r>
              <a:rPr sz="2400" spc="-85" dirty="0">
                <a:latin typeface="Book Antiqua"/>
                <a:cs typeface="Book Antiqua"/>
              </a:rPr>
              <a:t>assumption</a:t>
            </a:r>
            <a:endParaRPr sz="2400" dirty="0">
              <a:latin typeface="Book Antiqua"/>
              <a:cs typeface="Book Antiqua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10" dirty="0">
                <a:latin typeface="Book Antiqua"/>
                <a:cs typeface="Book Antiqua"/>
              </a:rPr>
              <a:t>Bayes </a:t>
            </a:r>
            <a:r>
              <a:rPr sz="2400" spc="-80" dirty="0">
                <a:latin typeface="Book Antiqua"/>
                <a:cs typeface="Book Antiqua"/>
              </a:rPr>
              <a:t>optimal</a:t>
            </a:r>
            <a:r>
              <a:rPr sz="2400" spc="50" dirty="0">
                <a:latin typeface="Book Antiqua"/>
                <a:cs typeface="Book Antiqua"/>
              </a:rPr>
              <a:t> </a:t>
            </a:r>
            <a:r>
              <a:rPr sz="2400" spc="-70" dirty="0">
                <a:latin typeface="Book Antiqua"/>
                <a:cs typeface="Book Antiqua"/>
              </a:rPr>
              <a:t>classifier</a:t>
            </a:r>
            <a:endParaRPr sz="2400" dirty="0">
              <a:latin typeface="Book Antiqua"/>
              <a:cs typeface="Book Antiqua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90" dirty="0">
                <a:latin typeface="Book Antiqua"/>
                <a:cs typeface="Book Antiqua"/>
              </a:rPr>
              <a:t>Maximum </a:t>
            </a:r>
            <a:r>
              <a:rPr sz="2400" spc="-85" dirty="0">
                <a:latin typeface="Book Antiqua"/>
                <a:cs typeface="Book Antiqua"/>
              </a:rPr>
              <a:t>Likelihood</a:t>
            </a:r>
            <a:r>
              <a:rPr sz="2400" spc="60" dirty="0">
                <a:latin typeface="Book Antiqua"/>
                <a:cs typeface="Book Antiqua"/>
              </a:rPr>
              <a:t> </a:t>
            </a:r>
            <a:r>
              <a:rPr sz="2400" spc="-65" dirty="0">
                <a:latin typeface="Book Antiqua"/>
                <a:cs typeface="Book Antiqua"/>
              </a:rPr>
              <a:t>estimation</a:t>
            </a:r>
            <a:endParaRPr sz="2400" dirty="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</TotalTime>
  <Words>4348</Words>
  <Application>Microsoft Office PowerPoint</Application>
  <PresentationFormat>Custom</PresentationFormat>
  <Paragraphs>572</Paragraphs>
  <Slides>69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83" baseType="lpstr">
      <vt:lpstr>Calibri</vt:lpstr>
      <vt:lpstr>Symbol</vt:lpstr>
      <vt:lpstr>Comic Sans MS</vt:lpstr>
      <vt:lpstr>Arial</vt:lpstr>
      <vt:lpstr>Cambria Math</vt:lpstr>
      <vt:lpstr>Calibri Light</vt:lpstr>
      <vt:lpstr>Book Antiqua</vt:lpstr>
      <vt:lpstr>Segoe UI</vt:lpstr>
      <vt:lpstr>Segoe UI Light</vt:lpstr>
      <vt:lpstr>Times New Roman</vt:lpstr>
      <vt:lpstr>Palatino Linotype</vt:lpstr>
      <vt:lpstr>Office Theme</vt:lpstr>
      <vt:lpstr>1_Office Theme</vt:lpstr>
      <vt:lpstr>Equation</vt:lpstr>
      <vt:lpstr>CSCI/ARTI 8950 Machine Learning</vt:lpstr>
      <vt:lpstr>New topics</vt:lpstr>
      <vt:lpstr>Bayes Rule</vt:lpstr>
      <vt:lpstr>Exercise: Applying Bayes Rule</vt:lpstr>
      <vt:lpstr>Answer</vt:lpstr>
      <vt:lpstr>Using a Joint Distribution</vt:lpstr>
      <vt:lpstr>Using a Joint Distribution</vt:lpstr>
      <vt:lpstr>Using a Joint Distribution</vt:lpstr>
      <vt:lpstr>Recall: Machine Learning  as Function Approximation</vt:lpstr>
      <vt:lpstr>Recall: Formal Definition of Binary  Classification (from CIML)</vt:lpstr>
      <vt:lpstr>The Bayes Optimal Classifier</vt:lpstr>
      <vt:lpstr>What does “training” mean in  probabilistic settings?</vt:lpstr>
      <vt:lpstr>Training assumption: training  examples are iid</vt:lpstr>
      <vt:lpstr>PowerPoint Presentation</vt:lpstr>
      <vt:lpstr>Maximum Likelihood Estimation</vt:lpstr>
      <vt:lpstr>Example</vt:lpstr>
      <vt:lpstr>Maximum Likelihood Estimates</vt:lpstr>
      <vt:lpstr>Example</vt:lpstr>
      <vt:lpstr>Maximum Likelihood Estimates</vt:lpstr>
      <vt:lpstr>What we know so far…</vt:lpstr>
      <vt:lpstr>Let’s learn a classifier  by learning P(Y|X)</vt:lpstr>
      <vt:lpstr>Parameters for P(X,Y) vs. P(Y|X)</vt:lpstr>
      <vt:lpstr>How many parameters  do we need to estimate?</vt:lpstr>
      <vt:lpstr>Naïve Bayes Assumption</vt:lpstr>
      <vt:lpstr>Conditional Independence</vt:lpstr>
      <vt:lpstr>Naïve Bayes classifier</vt:lpstr>
      <vt:lpstr>How many parameters do we  need to estimate?</vt:lpstr>
      <vt:lpstr>Training a Naïve Bayes classifier</vt:lpstr>
      <vt:lpstr>Naïve Bayes: Example</vt:lpstr>
      <vt:lpstr>Naïve Bayes: Example</vt:lpstr>
      <vt:lpstr>Naïve Bayes Wrap-up</vt:lpstr>
      <vt:lpstr>Avoiding Zero Probabilities</vt:lpstr>
      <vt:lpstr>What is the decision boundary of a Naïve  Bayes classifier?</vt:lpstr>
      <vt:lpstr>Naïve Bayes Properties</vt:lpstr>
      <vt:lpstr>Generative Stories</vt:lpstr>
      <vt:lpstr>From the Generative Story to the  Likelihood Function</vt:lpstr>
      <vt:lpstr>Probabilistic Graphical Models</vt:lpstr>
      <vt:lpstr>Naïve Bayes Classiﬁer Revisited</vt:lpstr>
      <vt:lpstr>Probabilistic Graphical Models</vt:lpstr>
      <vt:lpstr>PowerPoint Presentation</vt:lpstr>
      <vt:lpstr>Marginal Independence</vt:lpstr>
      <vt:lpstr>Conditional Independence</vt:lpstr>
      <vt:lpstr>Directed Acyclic Graph</vt:lpstr>
      <vt:lpstr>Bayesian Networks Deﬁnition</vt:lpstr>
      <vt:lpstr>Bayesian Networks Deﬁnition</vt:lpstr>
      <vt:lpstr>Bayesian networks</vt:lpstr>
      <vt:lpstr>Bayesian networks: Notations</vt:lpstr>
      <vt:lpstr>Bayesian networks: Notations</vt:lpstr>
      <vt:lpstr>Constructing a Bayesian network</vt:lpstr>
      <vt:lpstr>A example problem</vt:lpstr>
      <vt:lpstr>Factoring joint distributions</vt:lpstr>
      <vt:lpstr>A Bayesian network</vt:lpstr>
      <vt:lpstr>A better approach</vt:lpstr>
      <vt:lpstr>Reconstructing a network</vt:lpstr>
      <vt:lpstr>Reconstructing a network</vt:lpstr>
      <vt:lpstr>A Bayesian network</vt:lpstr>
      <vt:lpstr>Constructing a Bayesian network:  Revisited</vt:lpstr>
      <vt:lpstr>Bayesian network: Inference</vt:lpstr>
      <vt:lpstr>Inference</vt:lpstr>
      <vt:lpstr>Computing: P(B,E,A,J, M)</vt:lpstr>
      <vt:lpstr>Computing: P(B,E,A,J, M)</vt:lpstr>
      <vt:lpstr>Inference</vt:lpstr>
      <vt:lpstr>Inference in Bayesian networks</vt:lpstr>
      <vt:lpstr>Computing partial joints</vt:lpstr>
      <vt:lpstr>Computing: P(B,J, M)</vt:lpstr>
      <vt:lpstr>Computing partial joints</vt:lpstr>
      <vt:lpstr>Multinomial naïve Bayes I</vt:lpstr>
      <vt:lpstr>Multinomial naïve Bayes II</vt:lpstr>
      <vt:lpstr>What you should know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CSCI_8950_Lec12-13_Probabilistic Models</dc:title>
  <cp:lastModifiedBy>Khaled M Rasheed</cp:lastModifiedBy>
  <cp:revision>23</cp:revision>
  <dcterms:created xsi:type="dcterms:W3CDTF">2020-10-05T07:36:34Z</dcterms:created>
  <dcterms:modified xsi:type="dcterms:W3CDTF">2026-07-27T22:21:10Z</dcterms:modified>
</cp:coreProperties>
</file>