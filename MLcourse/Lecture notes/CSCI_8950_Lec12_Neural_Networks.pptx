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91" r:id="rId19"/>
    <p:sldId id="292" r:id="rId20"/>
    <p:sldId id="293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</p:sldIdLst>
  <p:sldSz cx="9144000" cy="6858000" type="screen4x3"/>
  <p:notesSz cx="9144000" cy="6858000"/>
  <p:embeddedFontLst>
    <p:embeddedFont>
      <p:font typeface="Cambria Math" panose="02040503050406030204" pitchFamily="18" charset="0"/>
      <p:regular r:id="rId36"/>
    </p:embeddedFont>
    <p:embeddedFont>
      <p:font typeface="Segoe UI" panose="020B0502040204020203" pitchFamily="34" charset="0"/>
      <p:regular r:id="rId37"/>
      <p:bold r:id="rId38"/>
      <p:italic r:id="rId39"/>
      <p:boldItalic r:id="rId40"/>
    </p:embeddedFont>
    <p:embeddedFont>
      <p:font typeface="Segoe UI Light" panose="020B0502040204020203" pitchFamily="34" charset="0"/>
      <p:regular r:id="rId41"/>
      <p: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3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34B0D-9CE9-4ED3-8BCA-4E42456EBC6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FA5D5-CF8C-405E-B24D-D815A715F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2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5095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2572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2457" y="147955"/>
            <a:ext cx="48793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68220" y="147955"/>
            <a:ext cx="5610225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1670" y="1509522"/>
            <a:ext cx="7264400" cy="3537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5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7532" y="2382012"/>
            <a:ext cx="5230495" cy="1851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Lecture</a:t>
            </a:r>
            <a:r>
              <a:rPr lang="en-US" sz="2800" b="1" spc="-5" dirty="0">
                <a:latin typeface="Calibri"/>
                <a:cs typeface="Calibri"/>
              </a:rPr>
              <a:t> Notes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</a:t>
            </a:r>
            <a:r>
              <a:rPr lang="en-US" sz="2800" b="1" dirty="0">
                <a:latin typeface="Calibri"/>
                <a:cs typeface="Calibri"/>
              </a:rPr>
              <a:t>2</a:t>
            </a:r>
            <a:r>
              <a:rPr sz="2800" b="1" dirty="0">
                <a:latin typeface="Calibri"/>
                <a:cs typeface="Calibri"/>
              </a:rPr>
              <a:t>: </a:t>
            </a:r>
            <a:r>
              <a:rPr sz="3200" b="1" spc="-15" dirty="0">
                <a:latin typeface="Calibri"/>
                <a:cs typeface="Calibri"/>
              </a:rPr>
              <a:t>Neural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Networks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55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 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Hal </a:t>
            </a:r>
            <a:r>
              <a:rPr sz="1400" spc="-5" dirty="0">
                <a:latin typeface="Calibri"/>
                <a:cs typeface="Calibri"/>
              </a:rPr>
              <a:t>Daumé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III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52A0EB5-B572-4C39-A4AF-D05108B343BC}"/>
              </a:ext>
            </a:extLst>
          </p:cNvPr>
          <p:cNvSpPr txBox="1">
            <a:spLocks/>
          </p:cNvSpPr>
          <p:nvPr/>
        </p:nvSpPr>
        <p:spPr>
          <a:xfrm>
            <a:off x="1143000" y="3662998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sz="240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041" y="483234"/>
            <a:ext cx="39204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Neural</a:t>
            </a:r>
            <a:r>
              <a:rPr spc="-70" dirty="0"/>
              <a:t> </a:t>
            </a:r>
            <a:r>
              <a:rPr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303134" cy="2688557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65" dirty="0">
                <a:latin typeface="Segoe UI"/>
                <a:cs typeface="Segoe UI"/>
              </a:rPr>
              <a:t>T</a:t>
            </a:r>
            <a:r>
              <a:rPr lang="en-US" sz="3200" spc="-65" dirty="0">
                <a:latin typeface="Segoe UI"/>
                <a:cs typeface="Segoe UI"/>
              </a:rPr>
              <a:t>opics</a:t>
            </a:r>
            <a:endParaRPr sz="32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What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10" dirty="0">
                <a:latin typeface="Segoe UI"/>
                <a:cs typeface="Segoe UI"/>
              </a:rPr>
              <a:t>Neural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Networks?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How </a:t>
            </a:r>
            <a:r>
              <a:rPr sz="2800" spc="-20" dirty="0">
                <a:latin typeface="Segoe UI"/>
                <a:cs typeface="Segoe UI"/>
              </a:rPr>
              <a:t>to </a:t>
            </a:r>
            <a:r>
              <a:rPr sz="2800" spc="-15" dirty="0">
                <a:latin typeface="Segoe UI"/>
                <a:cs typeface="Segoe UI"/>
              </a:rPr>
              <a:t>make </a:t>
            </a: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spc="-10" dirty="0">
                <a:latin typeface="Segoe UI"/>
                <a:cs typeface="Segoe UI"/>
              </a:rPr>
              <a:t>prediction </a:t>
            </a:r>
            <a:r>
              <a:rPr sz="2800" spc="-5" dirty="0">
                <a:latin typeface="Segoe UI"/>
                <a:cs typeface="Segoe UI"/>
              </a:rPr>
              <a:t>given </a:t>
            </a:r>
            <a:r>
              <a:rPr sz="2800" dirty="0">
                <a:latin typeface="Segoe UI"/>
                <a:cs typeface="Segoe UI"/>
              </a:rPr>
              <a:t>an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20" dirty="0">
                <a:latin typeface="Segoe UI"/>
                <a:cs typeface="Segoe UI"/>
              </a:rPr>
              <a:t>input?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Why </a:t>
            </a:r>
            <a:r>
              <a:rPr sz="2800" spc="-20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neural networks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dirty="0">
                <a:latin typeface="Segoe UI"/>
                <a:cs typeface="Segoe UI"/>
              </a:rPr>
              <a:t>powerful?</a:t>
            </a:r>
            <a:endParaRPr sz="32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how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train</a:t>
            </a:r>
            <a:r>
              <a:rPr sz="2800" spc="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them?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BACD5EF-82A1-44DC-9785-FA81A977F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7772400" cy="615553"/>
          </a:xfrm>
        </p:spPr>
        <p:txBody>
          <a:bodyPr/>
          <a:lstStyle/>
          <a:p>
            <a:r>
              <a:rPr lang="en-US" altLang="en-US" sz="4000" dirty="0"/>
              <a:t>Neural network example (1989)</a:t>
            </a:r>
          </a:p>
        </p:txBody>
      </p:sp>
      <p:pic>
        <p:nvPicPr>
          <p:cNvPr id="16387" name="Picture 3" descr="alvinn1">
            <a:extLst>
              <a:ext uri="{FF2B5EF4-FFF2-40B4-BE49-F238E27FC236}">
                <a16:creationId xmlns:a16="http://schemas.microsoft.com/office/drawing/2014/main" id="{A4E82B28-8ED4-4048-B4A3-C00340A6B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7" t="19090" r="9412" b="10001"/>
          <a:stretch>
            <a:fillRect/>
          </a:stretch>
        </p:blipFill>
        <p:spPr bwMode="auto">
          <a:xfrm>
            <a:off x="990600" y="1295400"/>
            <a:ext cx="4283075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 descr="alvinn2">
            <a:extLst>
              <a:ext uri="{FF2B5EF4-FFF2-40B4-BE49-F238E27FC236}">
                <a16:creationId xmlns:a16="http://schemas.microsoft.com/office/drawing/2014/main" id="{F3046394-9A18-47E9-BCFA-239F071E0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" t="21819" r="30588" b="22728"/>
          <a:stretch>
            <a:fillRect/>
          </a:stretch>
        </p:blipFill>
        <p:spPr bwMode="auto">
          <a:xfrm>
            <a:off x="5562600" y="3429000"/>
            <a:ext cx="289877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6" descr="nl5-interior-front-color">
            <a:extLst>
              <a:ext uri="{FF2B5EF4-FFF2-40B4-BE49-F238E27FC236}">
                <a16:creationId xmlns:a16="http://schemas.microsoft.com/office/drawing/2014/main" id="{CD673A55-CACE-49CB-96A4-6751D2A84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9" t="8182" r="52942" b="69090"/>
          <a:stretch>
            <a:fillRect/>
          </a:stretch>
        </p:blipFill>
        <p:spPr bwMode="auto">
          <a:xfrm>
            <a:off x="5410200" y="1066800"/>
            <a:ext cx="3108325" cy="228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8060" marR="5080" indent="-428625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Binary</a:t>
            </a:r>
            <a:r>
              <a:rPr spc="-80" dirty="0"/>
              <a:t> </a:t>
            </a:r>
            <a:r>
              <a:rPr spc="-5" dirty="0"/>
              <a:t>classification  via</a:t>
            </a:r>
            <a:r>
              <a:rPr spc="-20" dirty="0"/>
              <a:t> </a:t>
            </a:r>
            <a:r>
              <a:rPr spc="-5" dirty="0"/>
              <a:t>hyperplanes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6747" y="2237358"/>
            <a:ext cx="4313555" cy="211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800" spc="-25" dirty="0">
                <a:latin typeface="Segoe UI"/>
                <a:cs typeface="Segoe UI"/>
              </a:rPr>
              <a:t>At </a:t>
            </a:r>
            <a:r>
              <a:rPr sz="2800" spc="-10" dirty="0">
                <a:latin typeface="Segoe UI"/>
                <a:cs typeface="Segoe UI"/>
              </a:rPr>
              <a:t>test time, </a:t>
            </a:r>
            <a:r>
              <a:rPr sz="2800" spc="-15" dirty="0">
                <a:latin typeface="Segoe UI"/>
                <a:cs typeface="Segoe UI"/>
              </a:rPr>
              <a:t>we </a:t>
            </a:r>
            <a:r>
              <a:rPr sz="2800" spc="-5" dirty="0">
                <a:latin typeface="Segoe UI"/>
                <a:cs typeface="Segoe UI"/>
              </a:rPr>
              <a:t>check on  what </a:t>
            </a:r>
            <a:r>
              <a:rPr sz="2800" spc="-10" dirty="0">
                <a:latin typeface="Segoe UI"/>
                <a:cs typeface="Segoe UI"/>
              </a:rPr>
              <a:t>side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the  hyperplane examples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fall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Segoe UI"/>
              <a:cs typeface="Segoe UI"/>
            </a:endParaRPr>
          </a:p>
          <a:p>
            <a:pPr marL="849630">
              <a:lnSpc>
                <a:spcPct val="100000"/>
              </a:lnSpc>
            </a:pPr>
            <a:r>
              <a:rPr sz="2400" spc="-1019" dirty="0">
                <a:latin typeface="Cambria Math"/>
                <a:cs typeface="Cambria Math"/>
              </a:rPr>
              <a:t>𝑦</a:t>
            </a:r>
            <a:r>
              <a:rPr sz="2400" spc="116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 </a:t>
            </a:r>
            <a:r>
              <a:rPr sz="2400" spc="45" dirty="0">
                <a:latin typeface="Cambria Math"/>
                <a:cs typeface="Cambria Math"/>
              </a:rPr>
              <a:t>𝑠𝑖𝑔𝑛(𝑤</a:t>
            </a:r>
            <a:r>
              <a:rPr sz="2625" spc="67" baseline="28571" dirty="0">
                <a:latin typeface="Cambria Math"/>
                <a:cs typeface="Cambria Math"/>
              </a:rPr>
              <a:t>𝑇</a:t>
            </a:r>
            <a:r>
              <a:rPr sz="2400" spc="45" dirty="0">
                <a:latin typeface="Cambria Math"/>
                <a:cs typeface="Cambria Math"/>
              </a:rPr>
              <a:t>𝑥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𝑏)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048" y="2414574"/>
            <a:ext cx="2862702" cy="2887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6790" marR="5080" indent="-974725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</a:t>
            </a:r>
            <a:r>
              <a:rPr spc="-114" dirty="0"/>
              <a:t> </a:t>
            </a:r>
            <a:r>
              <a:rPr spc="-15" dirty="0"/>
              <a:t>Approximation  </a:t>
            </a:r>
            <a:r>
              <a:rPr dirty="0"/>
              <a:t>with</a:t>
            </a:r>
            <a:r>
              <a:rPr spc="-25" dirty="0"/>
              <a:t> </a:t>
            </a:r>
            <a:r>
              <a:rPr spc="-45" dirty="0"/>
              <a:t>Perceptron</a:t>
            </a:r>
          </a:p>
        </p:txBody>
      </p:sp>
      <p:sp>
        <p:nvSpPr>
          <p:cNvPr id="3" name="object 3"/>
          <p:cNvSpPr/>
          <p:nvPr/>
        </p:nvSpPr>
        <p:spPr>
          <a:xfrm>
            <a:off x="5144770" y="3720084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29" y="2667"/>
                </a:moveTo>
                <a:lnTo>
                  <a:pt x="382269" y="2667"/>
                </a:lnTo>
                <a:lnTo>
                  <a:pt x="382269" y="279654"/>
                </a:lnTo>
                <a:lnTo>
                  <a:pt x="405129" y="279654"/>
                </a:lnTo>
                <a:lnTo>
                  <a:pt x="405129" y="2667"/>
                </a:lnTo>
                <a:close/>
              </a:path>
              <a:path w="405129" h="283845">
                <a:moveTo>
                  <a:pt x="94868" y="0"/>
                </a:moveTo>
                <a:lnTo>
                  <a:pt x="91058" y="0"/>
                </a:lnTo>
                <a:lnTo>
                  <a:pt x="74650" y="1214"/>
                </a:lnTo>
                <a:lnTo>
                  <a:pt x="38734" y="16002"/>
                </a:lnTo>
                <a:lnTo>
                  <a:pt x="21661" y="59563"/>
                </a:lnTo>
                <a:lnTo>
                  <a:pt x="21558" y="65091"/>
                </a:lnTo>
                <a:lnTo>
                  <a:pt x="21677" y="68633"/>
                </a:lnTo>
                <a:lnTo>
                  <a:pt x="22320" y="75453"/>
                </a:lnTo>
                <a:lnTo>
                  <a:pt x="23391" y="82678"/>
                </a:lnTo>
                <a:lnTo>
                  <a:pt x="24891" y="90297"/>
                </a:lnTo>
                <a:lnTo>
                  <a:pt x="27177" y="100838"/>
                </a:lnTo>
                <a:lnTo>
                  <a:pt x="28447" y="107950"/>
                </a:lnTo>
                <a:lnTo>
                  <a:pt x="28447" y="118364"/>
                </a:lnTo>
                <a:lnTo>
                  <a:pt x="26034" y="123952"/>
                </a:lnTo>
                <a:lnTo>
                  <a:pt x="16637" y="132588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701"/>
                </a:lnTo>
                <a:lnTo>
                  <a:pt x="16637" y="149987"/>
                </a:lnTo>
                <a:lnTo>
                  <a:pt x="26034" y="158623"/>
                </a:lnTo>
                <a:lnTo>
                  <a:pt x="28447" y="164211"/>
                </a:lnTo>
                <a:lnTo>
                  <a:pt x="28447" y="174625"/>
                </a:lnTo>
                <a:lnTo>
                  <a:pt x="27177" y="181610"/>
                </a:lnTo>
                <a:lnTo>
                  <a:pt x="24891" y="192151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2" y="220345"/>
                </a:lnTo>
                <a:lnTo>
                  <a:pt x="22536" y="235321"/>
                </a:lnTo>
                <a:lnTo>
                  <a:pt x="48500" y="274629"/>
                </a:lnTo>
                <a:lnTo>
                  <a:pt x="91058" y="283845"/>
                </a:lnTo>
                <a:lnTo>
                  <a:pt x="94868" y="283845"/>
                </a:lnTo>
                <a:lnTo>
                  <a:pt x="94868" y="272542"/>
                </a:lnTo>
                <a:lnTo>
                  <a:pt x="92709" y="272542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5" y="223012"/>
                </a:lnTo>
                <a:lnTo>
                  <a:pt x="46924" y="217465"/>
                </a:lnTo>
                <a:lnTo>
                  <a:pt x="47482" y="211312"/>
                </a:lnTo>
                <a:lnTo>
                  <a:pt x="48396" y="204563"/>
                </a:lnTo>
                <a:lnTo>
                  <a:pt x="49656" y="197231"/>
                </a:lnTo>
                <a:lnTo>
                  <a:pt x="51688" y="186944"/>
                </a:lnTo>
                <a:lnTo>
                  <a:pt x="52704" y="179705"/>
                </a:lnTo>
                <a:lnTo>
                  <a:pt x="52704" y="166878"/>
                </a:lnTo>
                <a:lnTo>
                  <a:pt x="50164" y="160020"/>
                </a:lnTo>
                <a:lnTo>
                  <a:pt x="45212" y="154559"/>
                </a:lnTo>
                <a:lnTo>
                  <a:pt x="40258" y="149225"/>
                </a:lnTo>
                <a:lnTo>
                  <a:pt x="34289" y="145161"/>
                </a:lnTo>
                <a:lnTo>
                  <a:pt x="27558" y="142621"/>
                </a:lnTo>
                <a:lnTo>
                  <a:pt x="27558" y="139954"/>
                </a:lnTo>
                <a:lnTo>
                  <a:pt x="34289" y="137287"/>
                </a:lnTo>
                <a:lnTo>
                  <a:pt x="40258" y="133350"/>
                </a:lnTo>
                <a:lnTo>
                  <a:pt x="45212" y="127889"/>
                </a:lnTo>
                <a:lnTo>
                  <a:pt x="50164" y="122555"/>
                </a:lnTo>
                <a:lnTo>
                  <a:pt x="52704" y="115570"/>
                </a:lnTo>
                <a:lnTo>
                  <a:pt x="52704" y="102870"/>
                </a:lnTo>
                <a:lnTo>
                  <a:pt x="51688" y="95504"/>
                </a:lnTo>
                <a:lnTo>
                  <a:pt x="49656" y="85344"/>
                </a:lnTo>
                <a:lnTo>
                  <a:pt x="48396" y="77958"/>
                </a:lnTo>
                <a:lnTo>
                  <a:pt x="47482" y="71215"/>
                </a:lnTo>
                <a:lnTo>
                  <a:pt x="46924" y="65091"/>
                </a:lnTo>
                <a:lnTo>
                  <a:pt x="46735" y="59563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3"/>
                </a:lnTo>
                <a:lnTo>
                  <a:pt x="94868" y="11303"/>
                </a:lnTo>
                <a:lnTo>
                  <a:pt x="94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2400" spc="-10" dirty="0"/>
              <a:t>Problem</a:t>
            </a:r>
            <a:r>
              <a:rPr sz="2400" spc="5" dirty="0"/>
              <a:t> </a:t>
            </a:r>
            <a:r>
              <a:rPr sz="2400" spc="-5" dirty="0"/>
              <a:t>setting</a:t>
            </a:r>
            <a:endParaRPr sz="2400" dirty="0"/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400" spc="-5" dirty="0"/>
              <a:t>Set </a:t>
            </a:r>
            <a:r>
              <a:rPr sz="2400" spc="-30" dirty="0"/>
              <a:t>of </a:t>
            </a:r>
            <a:r>
              <a:rPr sz="2400" dirty="0"/>
              <a:t>possible </a:t>
            </a:r>
            <a:r>
              <a:rPr sz="2400" spc="-5" dirty="0"/>
              <a:t>instances</a:t>
            </a:r>
            <a:r>
              <a:rPr sz="2400" spc="65" dirty="0"/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  <a:tab pos="2620645" algn="l"/>
              </a:tabLst>
            </a:pP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Each</a:t>
            </a:r>
            <a:r>
              <a:rPr sz="2000" spc="5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instance</a:t>
            </a:r>
            <a:r>
              <a:rPr sz="2000" spc="1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	∈ 𝑋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a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feature vector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 = 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[𝑥</a:t>
            </a:r>
            <a:r>
              <a:rPr sz="2175" spc="15" baseline="-15325" dirty="0">
                <a:solidFill>
                  <a:srgbClr val="9F2936"/>
                </a:solidFill>
                <a:latin typeface="Cambria Math"/>
                <a:cs typeface="Cambria Math"/>
              </a:rPr>
              <a:t>1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,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… ,</a:t>
            </a:r>
            <a:r>
              <a:rPr sz="2000" spc="-250" dirty="0">
                <a:solidFill>
                  <a:srgbClr val="9F2936"/>
                </a:solidFill>
                <a:latin typeface="Cambria Math"/>
                <a:cs typeface="Cambria Math"/>
              </a:rPr>
              <a:t> 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𝑥</a:t>
            </a:r>
            <a:r>
              <a:rPr sz="2175" spc="67" baseline="-15325" dirty="0">
                <a:solidFill>
                  <a:srgbClr val="9F2936"/>
                </a:solidFill>
                <a:latin typeface="Cambria Math"/>
                <a:cs typeface="Cambria Math"/>
              </a:rPr>
              <a:t>𝐷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]</a:t>
            </a:r>
            <a:endParaRPr sz="2000" dirty="0">
              <a:latin typeface="Cambria Math"/>
              <a:cs typeface="Cambria Math"/>
            </a:endParaRP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  <a:tab pos="4480560" algn="l"/>
              </a:tabLst>
            </a:pPr>
            <a:r>
              <a:rPr sz="2400" spc="-5" dirty="0"/>
              <a:t>Unknown target function</a:t>
            </a:r>
            <a:r>
              <a:rPr sz="2400" spc="100" dirty="0"/>
              <a:t> </a:t>
            </a:r>
            <a:r>
              <a:rPr sz="2400" spc="35" dirty="0">
                <a:latin typeface="Cambria Math"/>
                <a:cs typeface="Cambria Math"/>
              </a:rPr>
              <a:t>𝑓: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</a:tabLst>
            </a:pP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𝑌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spc="10" dirty="0">
                <a:solidFill>
                  <a:srgbClr val="9F2936"/>
                </a:solidFill>
                <a:latin typeface="Segoe UI"/>
                <a:cs typeface="Segoe UI"/>
              </a:rPr>
              <a:t>binary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valued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{-1;</a:t>
            </a:r>
            <a:r>
              <a:rPr sz="2000" spc="125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+1}</a:t>
            </a:r>
            <a:endParaRPr sz="2000" dirty="0">
              <a:latin typeface="Segoe UI"/>
              <a:cs typeface="Segoe UI"/>
            </a:endParaRPr>
          </a:p>
          <a:p>
            <a:pPr marL="36830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67665" algn="l"/>
                <a:tab pos="368300" algn="l"/>
                <a:tab pos="4786630" algn="l"/>
                <a:tab pos="5191760" algn="l"/>
                <a:tab pos="5853430" algn="l"/>
              </a:tabLst>
            </a:pPr>
            <a:r>
              <a:rPr sz="2400" spc="-5" dirty="0"/>
              <a:t>Set </a:t>
            </a:r>
            <a:r>
              <a:rPr sz="2400" spc="-30" dirty="0"/>
              <a:t>of </a:t>
            </a:r>
            <a:r>
              <a:rPr sz="2400" spc="-5" dirty="0"/>
              <a:t>function </a:t>
            </a:r>
            <a:r>
              <a:rPr sz="2400" dirty="0"/>
              <a:t>hypotheses</a:t>
            </a:r>
            <a:r>
              <a:rPr sz="2400" spc="105" dirty="0"/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ℎ	</a:t>
            </a:r>
            <a:r>
              <a:rPr sz="2400" spc="25" dirty="0">
                <a:latin typeface="Cambria Math"/>
                <a:cs typeface="Cambria Math"/>
              </a:rPr>
              <a:t>ℎ: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25" dirty="0">
                <a:latin typeface="Cambria Math"/>
                <a:cs typeface="Cambria Math"/>
              </a:rPr>
              <a:t>𝑌}</a:t>
            </a:r>
            <a:endParaRPr sz="2400" dirty="0">
              <a:latin typeface="Cambria Math"/>
              <a:cs typeface="Cambria Math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</a:tabLst>
            </a:pP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Each hypothesis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ℎ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a hyperplane in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D-dimensional</a:t>
            </a:r>
            <a:r>
              <a:rPr sz="2000" spc="-29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space</a:t>
            </a:r>
            <a:endParaRPr sz="2000" dirty="0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  <a:spcBef>
                <a:spcPts val="2300"/>
              </a:spcBef>
            </a:pPr>
            <a:r>
              <a:rPr sz="2400" spc="-5" dirty="0"/>
              <a:t>Input</a:t>
            </a:r>
            <a:endParaRPr sz="2400" dirty="0"/>
          </a:p>
        </p:txBody>
      </p:sp>
      <p:sp>
        <p:nvSpPr>
          <p:cNvPr id="5" name="object 5"/>
          <p:cNvSpPr/>
          <p:nvPr/>
        </p:nvSpPr>
        <p:spPr>
          <a:xfrm>
            <a:off x="3470275" y="5170170"/>
            <a:ext cx="1348740" cy="374650"/>
          </a:xfrm>
          <a:custGeom>
            <a:avLst/>
            <a:gdLst/>
            <a:ahLst/>
            <a:cxnLst/>
            <a:rect l="l" t="t" r="r" b="b"/>
            <a:pathLst>
              <a:path w="1348739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86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90"/>
                </a:lnTo>
                <a:lnTo>
                  <a:pt x="100457" y="18415"/>
                </a:lnTo>
                <a:close/>
              </a:path>
              <a:path w="1348739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33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348739" h="374650">
                <a:moveTo>
                  <a:pt x="582549" y="103124"/>
                </a:moveTo>
                <a:lnTo>
                  <a:pt x="572947" y="50698"/>
                </a:lnTo>
                <a:lnTo>
                  <a:pt x="544804" y="13233"/>
                </a:lnTo>
                <a:lnTo>
                  <a:pt x="516763" y="0"/>
                </a:lnTo>
                <a:lnTo>
                  <a:pt x="513842" y="8382"/>
                </a:lnTo>
                <a:lnTo>
                  <a:pt x="525767" y="13576"/>
                </a:lnTo>
                <a:lnTo>
                  <a:pt x="536028" y="20751"/>
                </a:lnTo>
                <a:lnTo>
                  <a:pt x="556882" y="53924"/>
                </a:lnTo>
                <a:lnTo>
                  <a:pt x="563753" y="101981"/>
                </a:lnTo>
                <a:lnTo>
                  <a:pt x="562978" y="120180"/>
                </a:lnTo>
                <a:lnTo>
                  <a:pt x="551434" y="164719"/>
                </a:lnTo>
                <a:lnTo>
                  <a:pt x="514223" y="197739"/>
                </a:lnTo>
                <a:lnTo>
                  <a:pt x="516763" y="206121"/>
                </a:lnTo>
                <a:lnTo>
                  <a:pt x="556120" y="182676"/>
                </a:lnTo>
                <a:lnTo>
                  <a:pt x="578269" y="139496"/>
                </a:lnTo>
                <a:lnTo>
                  <a:pt x="581469" y="122034"/>
                </a:lnTo>
                <a:lnTo>
                  <a:pt x="582549" y="103124"/>
                </a:lnTo>
                <a:close/>
              </a:path>
              <a:path w="1348739" h="374650">
                <a:moveTo>
                  <a:pt x="1000252" y="8382"/>
                </a:moveTo>
                <a:lnTo>
                  <a:pt x="997331" y="0"/>
                </a:lnTo>
                <a:lnTo>
                  <a:pt x="982370" y="5410"/>
                </a:lnTo>
                <a:lnTo>
                  <a:pt x="969276" y="13233"/>
                </a:lnTo>
                <a:lnTo>
                  <a:pt x="941133" y="50698"/>
                </a:lnTo>
                <a:lnTo>
                  <a:pt x="931545" y="103124"/>
                </a:lnTo>
                <a:lnTo>
                  <a:pt x="932611" y="122034"/>
                </a:lnTo>
                <a:lnTo>
                  <a:pt x="948563" y="170053"/>
                </a:lnTo>
                <a:lnTo>
                  <a:pt x="982345" y="200723"/>
                </a:lnTo>
                <a:lnTo>
                  <a:pt x="997331" y="206121"/>
                </a:lnTo>
                <a:lnTo>
                  <a:pt x="999998" y="197739"/>
                </a:lnTo>
                <a:lnTo>
                  <a:pt x="988225" y="192532"/>
                </a:lnTo>
                <a:lnTo>
                  <a:pt x="978090" y="185280"/>
                </a:lnTo>
                <a:lnTo>
                  <a:pt x="957300" y="151523"/>
                </a:lnTo>
                <a:lnTo>
                  <a:pt x="950341" y="101981"/>
                </a:lnTo>
                <a:lnTo>
                  <a:pt x="951115" y="84442"/>
                </a:lnTo>
                <a:lnTo>
                  <a:pt x="962660" y="41033"/>
                </a:lnTo>
                <a:lnTo>
                  <a:pt x="988390" y="13576"/>
                </a:lnTo>
                <a:lnTo>
                  <a:pt x="1000252" y="8382"/>
                </a:lnTo>
                <a:close/>
              </a:path>
              <a:path w="1348739" h="374650">
                <a:moveTo>
                  <a:pt x="1205865" y="103124"/>
                </a:moveTo>
                <a:lnTo>
                  <a:pt x="1196263" y="50698"/>
                </a:lnTo>
                <a:lnTo>
                  <a:pt x="1168120" y="13233"/>
                </a:lnTo>
                <a:lnTo>
                  <a:pt x="1140079" y="0"/>
                </a:lnTo>
                <a:lnTo>
                  <a:pt x="1137158" y="8382"/>
                </a:lnTo>
                <a:lnTo>
                  <a:pt x="1149083" y="13576"/>
                </a:lnTo>
                <a:lnTo>
                  <a:pt x="1159344" y="20751"/>
                </a:lnTo>
                <a:lnTo>
                  <a:pt x="1180211" y="53924"/>
                </a:lnTo>
                <a:lnTo>
                  <a:pt x="1187069" y="101981"/>
                </a:lnTo>
                <a:lnTo>
                  <a:pt x="1186294" y="120180"/>
                </a:lnTo>
                <a:lnTo>
                  <a:pt x="1174750" y="164719"/>
                </a:lnTo>
                <a:lnTo>
                  <a:pt x="1137539" y="197739"/>
                </a:lnTo>
                <a:lnTo>
                  <a:pt x="1140079" y="206121"/>
                </a:lnTo>
                <a:lnTo>
                  <a:pt x="1179436" y="182676"/>
                </a:lnTo>
                <a:lnTo>
                  <a:pt x="1201585" y="139496"/>
                </a:lnTo>
                <a:lnTo>
                  <a:pt x="1204785" y="122034"/>
                </a:lnTo>
                <a:lnTo>
                  <a:pt x="1205865" y="103124"/>
                </a:lnTo>
                <a:close/>
              </a:path>
              <a:path w="1348739" h="374650">
                <a:moveTo>
                  <a:pt x="1348359" y="190373"/>
                </a:moveTo>
                <a:lnTo>
                  <a:pt x="1342072" y="125209"/>
                </a:lnTo>
                <a:lnTo>
                  <a:pt x="1323213" y="69469"/>
                </a:lnTo>
                <a:lnTo>
                  <a:pt x="1292733" y="28130"/>
                </a:lnTo>
                <a:lnTo>
                  <a:pt x="1251585" y="6223"/>
                </a:lnTo>
                <a:lnTo>
                  <a:pt x="1247902" y="18415"/>
                </a:lnTo>
                <a:lnTo>
                  <a:pt x="1264805" y="27178"/>
                </a:lnTo>
                <a:lnTo>
                  <a:pt x="1279525" y="39941"/>
                </a:lnTo>
                <a:lnTo>
                  <a:pt x="1302385" y="77470"/>
                </a:lnTo>
                <a:lnTo>
                  <a:pt x="1316266" y="128511"/>
                </a:lnTo>
                <a:lnTo>
                  <a:pt x="1320927" y="190500"/>
                </a:lnTo>
                <a:lnTo>
                  <a:pt x="1319758" y="222770"/>
                </a:lnTo>
                <a:lnTo>
                  <a:pt x="1310474" y="279158"/>
                </a:lnTo>
                <a:lnTo>
                  <a:pt x="1292047" y="323977"/>
                </a:lnTo>
                <a:lnTo>
                  <a:pt x="1264805" y="353453"/>
                </a:lnTo>
                <a:lnTo>
                  <a:pt x="1247902" y="362204"/>
                </a:lnTo>
                <a:lnTo>
                  <a:pt x="1251585" y="374396"/>
                </a:lnTo>
                <a:lnTo>
                  <a:pt x="1292733" y="352488"/>
                </a:lnTo>
                <a:lnTo>
                  <a:pt x="1323213" y="311150"/>
                </a:lnTo>
                <a:lnTo>
                  <a:pt x="1342059" y="255435"/>
                </a:lnTo>
                <a:lnTo>
                  <a:pt x="1346784" y="224078"/>
                </a:lnTo>
                <a:lnTo>
                  <a:pt x="1348359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64023" y="5170170"/>
            <a:ext cx="1438275" cy="374650"/>
          </a:xfrm>
          <a:custGeom>
            <a:avLst/>
            <a:gdLst/>
            <a:ahLst/>
            <a:cxnLst/>
            <a:rect l="l" t="t" r="r" b="b"/>
            <a:pathLst>
              <a:path w="1438275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73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90"/>
                </a:lnTo>
                <a:lnTo>
                  <a:pt x="100457" y="18415"/>
                </a:lnTo>
                <a:close/>
              </a:path>
              <a:path w="1438275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33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438275" h="374650">
                <a:moveTo>
                  <a:pt x="626745" y="103124"/>
                </a:moveTo>
                <a:lnTo>
                  <a:pt x="617143" y="50698"/>
                </a:lnTo>
                <a:lnTo>
                  <a:pt x="589000" y="13233"/>
                </a:lnTo>
                <a:lnTo>
                  <a:pt x="560959" y="0"/>
                </a:lnTo>
                <a:lnTo>
                  <a:pt x="558038" y="8382"/>
                </a:lnTo>
                <a:lnTo>
                  <a:pt x="569963" y="13576"/>
                </a:lnTo>
                <a:lnTo>
                  <a:pt x="580224" y="20751"/>
                </a:lnTo>
                <a:lnTo>
                  <a:pt x="601091" y="53924"/>
                </a:lnTo>
                <a:lnTo>
                  <a:pt x="607949" y="101981"/>
                </a:lnTo>
                <a:lnTo>
                  <a:pt x="607174" y="120180"/>
                </a:lnTo>
                <a:lnTo>
                  <a:pt x="595630" y="164719"/>
                </a:lnTo>
                <a:lnTo>
                  <a:pt x="558419" y="197739"/>
                </a:lnTo>
                <a:lnTo>
                  <a:pt x="560959" y="206121"/>
                </a:lnTo>
                <a:lnTo>
                  <a:pt x="600316" y="182676"/>
                </a:lnTo>
                <a:lnTo>
                  <a:pt x="622465" y="139496"/>
                </a:lnTo>
                <a:lnTo>
                  <a:pt x="625665" y="122034"/>
                </a:lnTo>
                <a:lnTo>
                  <a:pt x="626745" y="103124"/>
                </a:lnTo>
                <a:close/>
              </a:path>
              <a:path w="1438275" h="374650">
                <a:moveTo>
                  <a:pt x="1044448" y="8382"/>
                </a:moveTo>
                <a:lnTo>
                  <a:pt x="1041527" y="0"/>
                </a:lnTo>
                <a:lnTo>
                  <a:pt x="1026566" y="5410"/>
                </a:lnTo>
                <a:lnTo>
                  <a:pt x="1013472" y="13233"/>
                </a:lnTo>
                <a:lnTo>
                  <a:pt x="985329" y="50698"/>
                </a:lnTo>
                <a:lnTo>
                  <a:pt x="975741" y="103124"/>
                </a:lnTo>
                <a:lnTo>
                  <a:pt x="976807" y="122034"/>
                </a:lnTo>
                <a:lnTo>
                  <a:pt x="992759" y="170053"/>
                </a:lnTo>
                <a:lnTo>
                  <a:pt x="1026541" y="200723"/>
                </a:lnTo>
                <a:lnTo>
                  <a:pt x="1041527" y="206121"/>
                </a:lnTo>
                <a:lnTo>
                  <a:pt x="1044194" y="197739"/>
                </a:lnTo>
                <a:lnTo>
                  <a:pt x="1032421" y="192532"/>
                </a:lnTo>
                <a:lnTo>
                  <a:pt x="1022286" y="185280"/>
                </a:lnTo>
                <a:lnTo>
                  <a:pt x="1001496" y="151523"/>
                </a:lnTo>
                <a:lnTo>
                  <a:pt x="994537" y="101981"/>
                </a:lnTo>
                <a:lnTo>
                  <a:pt x="995311" y="84442"/>
                </a:lnTo>
                <a:lnTo>
                  <a:pt x="1006856" y="41033"/>
                </a:lnTo>
                <a:lnTo>
                  <a:pt x="1032586" y="13576"/>
                </a:lnTo>
                <a:lnTo>
                  <a:pt x="1044448" y="8382"/>
                </a:lnTo>
                <a:close/>
              </a:path>
              <a:path w="1438275" h="374650">
                <a:moveTo>
                  <a:pt x="1294257" y="103124"/>
                </a:moveTo>
                <a:lnTo>
                  <a:pt x="1284655" y="50698"/>
                </a:lnTo>
                <a:lnTo>
                  <a:pt x="1256512" y="13233"/>
                </a:lnTo>
                <a:lnTo>
                  <a:pt x="1228471" y="0"/>
                </a:lnTo>
                <a:lnTo>
                  <a:pt x="1225550" y="8382"/>
                </a:lnTo>
                <a:lnTo>
                  <a:pt x="1237475" y="13576"/>
                </a:lnTo>
                <a:lnTo>
                  <a:pt x="1247736" y="20751"/>
                </a:lnTo>
                <a:lnTo>
                  <a:pt x="1268603" y="53924"/>
                </a:lnTo>
                <a:lnTo>
                  <a:pt x="1275448" y="101981"/>
                </a:lnTo>
                <a:lnTo>
                  <a:pt x="1274686" y="120180"/>
                </a:lnTo>
                <a:lnTo>
                  <a:pt x="1263142" y="164719"/>
                </a:lnTo>
                <a:lnTo>
                  <a:pt x="1225931" y="197739"/>
                </a:lnTo>
                <a:lnTo>
                  <a:pt x="1228471" y="206121"/>
                </a:lnTo>
                <a:lnTo>
                  <a:pt x="1267828" y="182676"/>
                </a:lnTo>
                <a:lnTo>
                  <a:pt x="1289977" y="139496"/>
                </a:lnTo>
                <a:lnTo>
                  <a:pt x="1293177" y="122034"/>
                </a:lnTo>
                <a:lnTo>
                  <a:pt x="1294257" y="103124"/>
                </a:lnTo>
                <a:close/>
              </a:path>
              <a:path w="1438275" h="374650">
                <a:moveTo>
                  <a:pt x="1438275" y="190373"/>
                </a:moveTo>
                <a:lnTo>
                  <a:pt x="1431988" y="125209"/>
                </a:lnTo>
                <a:lnTo>
                  <a:pt x="1413129" y="69469"/>
                </a:lnTo>
                <a:lnTo>
                  <a:pt x="1382649" y="28130"/>
                </a:lnTo>
                <a:lnTo>
                  <a:pt x="1341501" y="6223"/>
                </a:lnTo>
                <a:lnTo>
                  <a:pt x="1337818" y="18415"/>
                </a:lnTo>
                <a:lnTo>
                  <a:pt x="1354721" y="27178"/>
                </a:lnTo>
                <a:lnTo>
                  <a:pt x="1369428" y="39941"/>
                </a:lnTo>
                <a:lnTo>
                  <a:pt x="1392301" y="77470"/>
                </a:lnTo>
                <a:lnTo>
                  <a:pt x="1406182" y="128511"/>
                </a:lnTo>
                <a:lnTo>
                  <a:pt x="1410843" y="190500"/>
                </a:lnTo>
                <a:lnTo>
                  <a:pt x="1409674" y="222770"/>
                </a:lnTo>
                <a:lnTo>
                  <a:pt x="1400390" y="279158"/>
                </a:lnTo>
                <a:lnTo>
                  <a:pt x="1381963" y="323977"/>
                </a:lnTo>
                <a:lnTo>
                  <a:pt x="1354721" y="353453"/>
                </a:lnTo>
                <a:lnTo>
                  <a:pt x="1337818" y="362204"/>
                </a:lnTo>
                <a:lnTo>
                  <a:pt x="1341501" y="374396"/>
                </a:lnTo>
                <a:lnTo>
                  <a:pt x="1382636" y="352488"/>
                </a:lnTo>
                <a:lnTo>
                  <a:pt x="1413129" y="311150"/>
                </a:lnTo>
                <a:lnTo>
                  <a:pt x="1431988" y="255435"/>
                </a:lnTo>
                <a:lnTo>
                  <a:pt x="1436700" y="224078"/>
                </a:lnTo>
                <a:lnTo>
                  <a:pt x="1438275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08220" y="5131053"/>
            <a:ext cx="3754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6420" algn="l"/>
                <a:tab pos="192151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 </a:t>
            </a:r>
            <a:r>
              <a:rPr sz="2625" spc="60" baseline="28571" dirty="0">
                <a:latin typeface="Cambria Math"/>
                <a:cs typeface="Cambria Math"/>
              </a:rPr>
              <a:t>𝑁 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3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625" spc="60" baseline="28571" dirty="0">
                <a:latin typeface="Cambria Math"/>
                <a:cs typeface="Cambria Math"/>
              </a:rPr>
              <a:t>𝑁	</a:t>
            </a:r>
            <a:r>
              <a:rPr sz="2400" dirty="0">
                <a:latin typeface="Cambria Math"/>
                <a:cs typeface="Cambria Math"/>
              </a:rPr>
              <a:t>} </a:t>
            </a:r>
            <a:r>
              <a:rPr sz="2400" spc="-30" dirty="0">
                <a:latin typeface="Segoe UI"/>
                <a:cs typeface="Segoe UI"/>
              </a:rPr>
              <a:t>of</a:t>
            </a:r>
            <a:r>
              <a:rPr sz="2400" spc="8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unknown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970" y="5103903"/>
            <a:ext cx="4194175" cy="12509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380365" algn="l"/>
                <a:tab pos="381000" algn="l"/>
                <a:tab pos="3131820" algn="l"/>
              </a:tabLst>
            </a:pPr>
            <a:r>
              <a:rPr sz="2400" spc="-30" dirty="0">
                <a:latin typeface="Segoe UI"/>
                <a:cs typeface="Segoe UI"/>
              </a:rPr>
              <a:t>Training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examples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625" spc="60" baseline="28571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𝑦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lang="en-US" sz="2400" spc="-135" dirty="0">
                <a:latin typeface="Cambria Math"/>
                <a:cs typeface="Cambria Math"/>
              </a:rPr>
              <a:t>   </a:t>
            </a:r>
            <a:r>
              <a:rPr sz="2625" spc="60" baseline="28571" dirty="0">
                <a:latin typeface="Cambria Math"/>
                <a:cs typeface="Cambria Math"/>
              </a:rPr>
              <a:t>1</a:t>
            </a:r>
            <a:endParaRPr sz="2625" baseline="28571" dirty="0">
              <a:latin typeface="Cambria Math"/>
              <a:cs typeface="Cambria Math"/>
            </a:endParaRPr>
          </a:p>
          <a:p>
            <a:pPr marL="381000">
              <a:lnSpc>
                <a:spcPct val="100000"/>
              </a:lnSpc>
              <a:spcBef>
                <a:spcPts val="220"/>
              </a:spcBef>
            </a:pP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Segoe UI"/>
                <a:cs typeface="Segoe UI"/>
              </a:rPr>
              <a:t>Output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4370" y="6402425"/>
            <a:ext cx="826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2254250" algn="l"/>
              </a:tabLst>
            </a:pPr>
            <a:r>
              <a:rPr sz="2400" spc="-5" dirty="0">
                <a:latin typeface="Segoe UI"/>
                <a:cs typeface="Segoe UI"/>
              </a:rPr>
              <a:t>Hypothesis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 𝐻 </a:t>
            </a:r>
            <a:r>
              <a:rPr sz="2400" dirty="0">
                <a:latin typeface="Segoe UI"/>
                <a:cs typeface="Segoe UI"/>
              </a:rPr>
              <a:t>that best </a:t>
            </a:r>
            <a:r>
              <a:rPr sz="2400" spc="-10" dirty="0">
                <a:latin typeface="Segoe UI"/>
                <a:cs typeface="Segoe UI"/>
              </a:rPr>
              <a:t>approximates </a:t>
            </a: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29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172" y="483234"/>
            <a:ext cx="6376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Aside: </a:t>
            </a:r>
            <a:r>
              <a:rPr spc="-5" dirty="0"/>
              <a:t>biological</a:t>
            </a:r>
            <a:r>
              <a:rPr spc="-114" dirty="0"/>
              <a:t> </a:t>
            </a:r>
            <a:r>
              <a:rPr spc="-5" dirty="0"/>
              <a:t>inspiration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447" y="2269167"/>
            <a:ext cx="3965231" cy="15984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4190" y="4584091"/>
            <a:ext cx="1782055" cy="12843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99709" y="4675123"/>
            <a:ext cx="255841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Segoe UI"/>
                <a:cs typeface="Segoe UI"/>
              </a:rPr>
              <a:t>Analogy:</a:t>
            </a:r>
            <a:r>
              <a:rPr sz="3600" spc="-9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the  </a:t>
            </a:r>
            <a:r>
              <a:rPr sz="3600" spc="-15" dirty="0">
                <a:latin typeface="Segoe UI"/>
                <a:cs typeface="Segoe UI"/>
              </a:rPr>
              <a:t>perceptron  </a:t>
            </a:r>
            <a:r>
              <a:rPr sz="3600" dirty="0">
                <a:latin typeface="Segoe UI"/>
                <a:cs typeface="Segoe UI"/>
              </a:rPr>
              <a:t>as a</a:t>
            </a:r>
            <a:r>
              <a:rPr sz="3600" spc="-50" dirty="0">
                <a:latin typeface="Segoe UI"/>
                <a:cs typeface="Segoe UI"/>
              </a:rPr>
              <a:t> </a:t>
            </a:r>
            <a:r>
              <a:rPr sz="3600" spc="-10" dirty="0">
                <a:latin typeface="Segoe UI"/>
                <a:cs typeface="Segoe UI"/>
              </a:rPr>
              <a:t>neuron</a:t>
            </a:r>
            <a:endParaRPr sz="3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041" y="483234"/>
            <a:ext cx="39204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Neural</a:t>
            </a:r>
            <a:r>
              <a:rPr spc="-70" dirty="0"/>
              <a:t> </a:t>
            </a:r>
            <a:r>
              <a:rPr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679690" cy="3709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5628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35" dirty="0">
                <a:latin typeface="Segoe UI"/>
                <a:cs typeface="Segoe UI"/>
              </a:rPr>
              <a:t>We </a:t>
            </a:r>
            <a:r>
              <a:rPr sz="3200" dirty="0">
                <a:latin typeface="Segoe UI"/>
                <a:cs typeface="Segoe UI"/>
              </a:rPr>
              <a:t>can think </a:t>
            </a:r>
            <a:r>
              <a:rPr sz="3200" spc="-30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neural networks as  combination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multiple </a:t>
            </a:r>
            <a:r>
              <a:rPr sz="3200" spc="-10" dirty="0">
                <a:latin typeface="Segoe UI"/>
                <a:cs typeface="Segoe UI"/>
              </a:rPr>
              <a:t>perceptrons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Multilayer </a:t>
            </a:r>
            <a:r>
              <a:rPr sz="2800" spc="-10" dirty="0">
                <a:latin typeface="Segoe UI"/>
                <a:cs typeface="Segoe UI"/>
              </a:rPr>
              <a:t>perceptron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–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Why would we </a:t>
            </a:r>
            <a:r>
              <a:rPr sz="3200" dirty="0">
                <a:latin typeface="Segoe UI"/>
                <a:cs typeface="Segoe UI"/>
              </a:rPr>
              <a:t>want </a:t>
            </a:r>
            <a:r>
              <a:rPr sz="3200" spc="-20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do</a:t>
            </a:r>
            <a:r>
              <a:rPr sz="3200" spc="25" dirty="0">
                <a:latin typeface="Segoe UI"/>
                <a:cs typeface="Segoe UI"/>
              </a:rPr>
              <a:t> </a:t>
            </a:r>
            <a:r>
              <a:rPr sz="3200" spc="-20" dirty="0">
                <a:latin typeface="Segoe UI"/>
                <a:cs typeface="Segoe UI"/>
              </a:rPr>
              <a:t>that?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Discover </a:t>
            </a:r>
            <a:r>
              <a:rPr sz="2800" spc="-15" dirty="0">
                <a:latin typeface="Segoe UI"/>
                <a:cs typeface="Segoe UI"/>
              </a:rPr>
              <a:t>more </a:t>
            </a:r>
            <a:r>
              <a:rPr sz="2800" spc="-5" dirty="0">
                <a:latin typeface="Segoe UI"/>
                <a:cs typeface="Segoe UI"/>
              </a:rPr>
              <a:t>complex decision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boundaries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Learn combinations </a:t>
            </a:r>
            <a:r>
              <a:rPr sz="2800" spc="-30" dirty="0">
                <a:latin typeface="Segoe UI"/>
                <a:cs typeface="Segoe UI"/>
              </a:rPr>
              <a:t>of</a:t>
            </a:r>
            <a:r>
              <a:rPr sz="2800" spc="-2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features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47955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755" marR="5080" indent="-9525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Example of </a:t>
            </a:r>
            <a:r>
              <a:rPr dirty="0"/>
              <a:t>a </a:t>
            </a:r>
            <a:r>
              <a:rPr spc="-10" dirty="0"/>
              <a:t>2-layer  </a:t>
            </a:r>
            <a:r>
              <a:rPr spc="-20" dirty="0"/>
              <a:t>perceptron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99440" y="4059569"/>
            <a:ext cx="3972560" cy="2493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Segoe UI"/>
                <a:cs typeface="Segoe UI"/>
              </a:rPr>
              <a:t>Key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concepts:</a:t>
            </a: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10" dirty="0">
                <a:latin typeface="Segoe UI"/>
                <a:cs typeface="Segoe UI"/>
              </a:rPr>
              <a:t>Input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5" dirty="0">
                <a:latin typeface="Segoe UI"/>
                <a:cs typeface="Segoe UI"/>
              </a:rPr>
              <a:t>dimensionality</a:t>
            </a:r>
            <a:endParaRPr sz="20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Segoe UI"/>
                <a:cs typeface="Segoe UI"/>
              </a:rPr>
              <a:t>Hidden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spc="-5" dirty="0">
                <a:latin typeface="Segoe UI"/>
                <a:cs typeface="Segoe UI"/>
              </a:rPr>
              <a:t>units</a:t>
            </a:r>
            <a:endParaRPr sz="20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Segoe UI"/>
                <a:cs typeface="Segoe UI"/>
              </a:rPr>
              <a:t>Hidden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layer</a:t>
            </a:r>
            <a:endParaRPr sz="20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Segoe UI"/>
                <a:cs typeface="Segoe UI"/>
              </a:rPr>
              <a:t>Output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layer</a:t>
            </a:r>
            <a:endParaRPr sz="20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10" dirty="0">
                <a:latin typeface="Segoe UI"/>
                <a:cs typeface="Segoe UI"/>
              </a:rPr>
              <a:t>Activation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5" dirty="0">
                <a:latin typeface="Segoe UI"/>
                <a:cs typeface="Segoe UI"/>
              </a:rPr>
              <a:t>functions</a:t>
            </a:r>
            <a:endParaRPr sz="2000" dirty="0">
              <a:latin typeface="Segoe UI"/>
              <a:cs typeface="Segoe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EB4DE-3F9D-49C3-B640-7C745DD15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3" y="1219200"/>
            <a:ext cx="7394713" cy="2613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47955"/>
            <a:ext cx="77724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6440" marR="5080" indent="-205740">
              <a:lnSpc>
                <a:spcPct val="100000"/>
              </a:lnSpc>
              <a:spcBef>
                <a:spcPts val="100"/>
              </a:spcBef>
            </a:pPr>
            <a:r>
              <a:rPr dirty="0"/>
              <a:t>Activation</a:t>
            </a:r>
            <a:r>
              <a:rPr spc="-105" dirty="0"/>
              <a:t> </a:t>
            </a:r>
            <a:r>
              <a:rPr dirty="0"/>
              <a:t>functions  </a:t>
            </a:r>
            <a:r>
              <a:rPr spc="-5" dirty="0"/>
              <a:t>(aka link</a:t>
            </a:r>
            <a:r>
              <a:rPr lang="en-US" spc="-5" dirty="0"/>
              <a:t> or transfer</a:t>
            </a:r>
            <a:r>
              <a:rPr spc="-85" dirty="0"/>
              <a:t> </a:t>
            </a:r>
            <a:r>
              <a:rPr spc="-5" dirty="0"/>
              <a:t>functions)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968615" cy="2901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Segoe UI"/>
                <a:cs typeface="Segoe UI"/>
              </a:rPr>
              <a:t>Activation </a:t>
            </a:r>
            <a:r>
              <a:rPr sz="3200" dirty="0">
                <a:latin typeface="Segoe UI"/>
                <a:cs typeface="Segoe UI"/>
              </a:rPr>
              <a:t>functions </a:t>
            </a:r>
            <a:r>
              <a:rPr sz="3200" spc="-10" dirty="0">
                <a:latin typeface="Segoe UI"/>
                <a:cs typeface="Segoe UI"/>
              </a:rPr>
              <a:t>are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b="1" spc="-5" dirty="0">
                <a:latin typeface="Segoe UI"/>
                <a:cs typeface="Segoe UI"/>
              </a:rPr>
              <a:t>non-linear</a:t>
            </a:r>
            <a:endParaRPr sz="32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Segoe UI"/>
                <a:cs typeface="Segoe UI"/>
              </a:rPr>
              <a:t>functions</a:t>
            </a: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sign </a:t>
            </a:r>
            <a:r>
              <a:rPr sz="2800" spc="-5" dirty="0">
                <a:latin typeface="Segoe UI"/>
                <a:cs typeface="Segoe UI"/>
              </a:rPr>
              <a:t>function as in the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perceptron</a:t>
            </a:r>
            <a:endParaRPr sz="2800" dirty="0">
              <a:latin typeface="Segoe UI"/>
              <a:cs typeface="Segoe UI"/>
            </a:endParaRPr>
          </a:p>
          <a:p>
            <a:pPr marL="756285" marR="1023619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hyperbolic tangent and </a:t>
            </a:r>
            <a:r>
              <a:rPr sz="2800" dirty="0">
                <a:latin typeface="Segoe UI"/>
                <a:cs typeface="Segoe UI"/>
              </a:rPr>
              <a:t>other </a:t>
            </a:r>
            <a:r>
              <a:rPr sz="2800" spc="-10" dirty="0">
                <a:latin typeface="Segoe UI"/>
                <a:cs typeface="Segoe UI"/>
              </a:rPr>
              <a:t>sigmoid  </a:t>
            </a:r>
            <a:r>
              <a:rPr sz="2800" spc="-5" dirty="0">
                <a:latin typeface="Segoe UI"/>
                <a:cs typeface="Segoe UI"/>
              </a:rPr>
              <a:t>functions that </a:t>
            </a:r>
            <a:r>
              <a:rPr sz="2800" spc="-15" dirty="0">
                <a:latin typeface="Segoe UI"/>
                <a:cs typeface="Segoe UI"/>
              </a:rPr>
              <a:t>approximate </a:t>
            </a:r>
            <a:r>
              <a:rPr sz="2800" spc="-10" dirty="0">
                <a:latin typeface="Segoe UI"/>
                <a:cs typeface="Segoe UI"/>
              </a:rPr>
              <a:t>sign </a:t>
            </a:r>
            <a:r>
              <a:rPr sz="2800" spc="-5" dirty="0">
                <a:latin typeface="Segoe UI"/>
                <a:cs typeface="Segoe UI"/>
              </a:rPr>
              <a:t>but </a:t>
            </a:r>
            <a:r>
              <a:rPr sz="2800" spc="-15" dirty="0">
                <a:latin typeface="Segoe UI"/>
                <a:cs typeface="Segoe UI"/>
              </a:rPr>
              <a:t>are  </a:t>
            </a:r>
            <a:r>
              <a:rPr sz="2800" spc="-5" dirty="0">
                <a:latin typeface="Segoe UI"/>
                <a:cs typeface="Segoe UI"/>
              </a:rPr>
              <a:t>differentiable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511" y="2563472"/>
            <a:ext cx="7832239" cy="16379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60056" y="909764"/>
            <a:ext cx="4498975" cy="1510665"/>
            <a:chOff x="960056" y="909764"/>
            <a:chExt cx="4498975" cy="1510665"/>
          </a:xfrm>
        </p:grpSpPr>
        <p:sp>
          <p:nvSpPr>
            <p:cNvPr id="4" name="object 4"/>
            <p:cNvSpPr/>
            <p:nvPr/>
          </p:nvSpPr>
          <p:spPr>
            <a:xfrm>
              <a:off x="973074" y="922782"/>
              <a:ext cx="4472940" cy="1484630"/>
            </a:xfrm>
            <a:custGeom>
              <a:avLst/>
              <a:gdLst/>
              <a:ahLst/>
              <a:cxnLst/>
              <a:rect l="l" t="t" r="r" b="b"/>
              <a:pathLst>
                <a:path w="4472940" h="1484630">
                  <a:moveTo>
                    <a:pt x="3054230" y="826769"/>
                  </a:moveTo>
                  <a:lnTo>
                    <a:pt x="2519172" y="826769"/>
                  </a:lnTo>
                  <a:lnTo>
                    <a:pt x="4472559" y="1484248"/>
                  </a:lnTo>
                  <a:lnTo>
                    <a:pt x="3054230" y="826769"/>
                  </a:lnTo>
                  <a:close/>
                </a:path>
                <a:path w="4472940" h="1484630">
                  <a:moveTo>
                    <a:pt x="2353817" y="0"/>
                  </a:moveTo>
                  <a:lnTo>
                    <a:pt x="165353" y="0"/>
                  </a:lnTo>
                  <a:lnTo>
                    <a:pt x="121395" y="5907"/>
                  </a:lnTo>
                  <a:lnTo>
                    <a:pt x="81895" y="22577"/>
                  </a:lnTo>
                  <a:lnTo>
                    <a:pt x="48429" y="48434"/>
                  </a:lnTo>
                  <a:lnTo>
                    <a:pt x="22574" y="81900"/>
                  </a:lnTo>
                  <a:lnTo>
                    <a:pt x="5906" y="121399"/>
                  </a:lnTo>
                  <a:lnTo>
                    <a:pt x="0" y="165353"/>
                  </a:lnTo>
                  <a:lnTo>
                    <a:pt x="0" y="826769"/>
                  </a:lnTo>
                  <a:lnTo>
                    <a:pt x="5906" y="870724"/>
                  </a:lnTo>
                  <a:lnTo>
                    <a:pt x="22574" y="910223"/>
                  </a:lnTo>
                  <a:lnTo>
                    <a:pt x="48429" y="943689"/>
                  </a:lnTo>
                  <a:lnTo>
                    <a:pt x="81895" y="969546"/>
                  </a:lnTo>
                  <a:lnTo>
                    <a:pt x="121395" y="986216"/>
                  </a:lnTo>
                  <a:lnTo>
                    <a:pt x="165353" y="992123"/>
                  </a:lnTo>
                  <a:lnTo>
                    <a:pt x="2353817" y="992123"/>
                  </a:lnTo>
                  <a:lnTo>
                    <a:pt x="2397772" y="986216"/>
                  </a:lnTo>
                  <a:lnTo>
                    <a:pt x="2437271" y="969546"/>
                  </a:lnTo>
                  <a:lnTo>
                    <a:pt x="2470737" y="943689"/>
                  </a:lnTo>
                  <a:lnTo>
                    <a:pt x="2496594" y="910223"/>
                  </a:lnTo>
                  <a:lnTo>
                    <a:pt x="2513264" y="870724"/>
                  </a:lnTo>
                  <a:lnTo>
                    <a:pt x="2519172" y="826769"/>
                  </a:lnTo>
                  <a:lnTo>
                    <a:pt x="3054230" y="826769"/>
                  </a:lnTo>
                  <a:lnTo>
                    <a:pt x="2519172" y="578738"/>
                  </a:lnTo>
                  <a:lnTo>
                    <a:pt x="2519172" y="165353"/>
                  </a:lnTo>
                  <a:lnTo>
                    <a:pt x="2513264" y="121399"/>
                  </a:lnTo>
                  <a:lnTo>
                    <a:pt x="2496594" y="81900"/>
                  </a:lnTo>
                  <a:lnTo>
                    <a:pt x="2470737" y="48434"/>
                  </a:lnTo>
                  <a:lnTo>
                    <a:pt x="2437271" y="22577"/>
                  </a:lnTo>
                  <a:lnTo>
                    <a:pt x="2397772" y="5907"/>
                  </a:lnTo>
                  <a:lnTo>
                    <a:pt x="2353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3074" y="922782"/>
              <a:ext cx="4472940" cy="1484630"/>
            </a:xfrm>
            <a:custGeom>
              <a:avLst/>
              <a:gdLst/>
              <a:ahLst/>
              <a:cxnLst/>
              <a:rect l="l" t="t" r="r" b="b"/>
              <a:pathLst>
                <a:path w="4472940" h="1484630">
                  <a:moveTo>
                    <a:pt x="0" y="165353"/>
                  </a:moveTo>
                  <a:lnTo>
                    <a:pt x="5906" y="121399"/>
                  </a:lnTo>
                  <a:lnTo>
                    <a:pt x="22574" y="81900"/>
                  </a:lnTo>
                  <a:lnTo>
                    <a:pt x="48429" y="48434"/>
                  </a:lnTo>
                  <a:lnTo>
                    <a:pt x="81895" y="22577"/>
                  </a:lnTo>
                  <a:lnTo>
                    <a:pt x="121395" y="5907"/>
                  </a:lnTo>
                  <a:lnTo>
                    <a:pt x="165353" y="0"/>
                  </a:lnTo>
                  <a:lnTo>
                    <a:pt x="1469517" y="0"/>
                  </a:lnTo>
                  <a:lnTo>
                    <a:pt x="2099310" y="0"/>
                  </a:lnTo>
                  <a:lnTo>
                    <a:pt x="2353817" y="0"/>
                  </a:lnTo>
                  <a:lnTo>
                    <a:pt x="2397772" y="5907"/>
                  </a:lnTo>
                  <a:lnTo>
                    <a:pt x="2437271" y="22577"/>
                  </a:lnTo>
                  <a:lnTo>
                    <a:pt x="2470737" y="48434"/>
                  </a:lnTo>
                  <a:lnTo>
                    <a:pt x="2496594" y="81900"/>
                  </a:lnTo>
                  <a:lnTo>
                    <a:pt x="2513264" y="121399"/>
                  </a:lnTo>
                  <a:lnTo>
                    <a:pt x="2519172" y="165353"/>
                  </a:lnTo>
                  <a:lnTo>
                    <a:pt x="2519172" y="578738"/>
                  </a:lnTo>
                  <a:lnTo>
                    <a:pt x="4472559" y="1484248"/>
                  </a:lnTo>
                  <a:lnTo>
                    <a:pt x="2519172" y="826769"/>
                  </a:lnTo>
                  <a:lnTo>
                    <a:pt x="2513264" y="870724"/>
                  </a:lnTo>
                  <a:lnTo>
                    <a:pt x="2496594" y="910223"/>
                  </a:lnTo>
                  <a:lnTo>
                    <a:pt x="2470737" y="943689"/>
                  </a:lnTo>
                  <a:lnTo>
                    <a:pt x="2437271" y="969546"/>
                  </a:lnTo>
                  <a:lnTo>
                    <a:pt x="2397772" y="986216"/>
                  </a:lnTo>
                  <a:lnTo>
                    <a:pt x="2353817" y="992123"/>
                  </a:lnTo>
                  <a:lnTo>
                    <a:pt x="2099310" y="992123"/>
                  </a:lnTo>
                  <a:lnTo>
                    <a:pt x="1469517" y="992123"/>
                  </a:lnTo>
                  <a:lnTo>
                    <a:pt x="165353" y="992123"/>
                  </a:lnTo>
                  <a:lnTo>
                    <a:pt x="121395" y="986216"/>
                  </a:lnTo>
                  <a:lnTo>
                    <a:pt x="81895" y="969546"/>
                  </a:lnTo>
                  <a:lnTo>
                    <a:pt x="48429" y="943689"/>
                  </a:lnTo>
                  <a:lnTo>
                    <a:pt x="22574" y="910223"/>
                  </a:lnTo>
                  <a:lnTo>
                    <a:pt x="5906" y="870724"/>
                  </a:lnTo>
                  <a:lnTo>
                    <a:pt x="0" y="826769"/>
                  </a:lnTo>
                  <a:lnTo>
                    <a:pt x="0" y="578738"/>
                  </a:lnTo>
                  <a:lnTo>
                    <a:pt x="0" y="165353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90650" y="1115695"/>
            <a:ext cx="20821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" marR="5080" indent="-49720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Matrix of hidden </a:t>
            </a:r>
            <a:r>
              <a:rPr sz="1800" spc="-15" dirty="0">
                <a:latin typeface="Calibri"/>
                <a:cs typeface="Calibri"/>
              </a:rPr>
              <a:t>layer  parameters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17364" y="109728"/>
            <a:ext cx="2545080" cy="2275205"/>
            <a:chOff x="4817364" y="109728"/>
            <a:chExt cx="2545080" cy="2275205"/>
          </a:xfrm>
        </p:grpSpPr>
        <p:sp>
          <p:nvSpPr>
            <p:cNvPr id="8" name="object 8"/>
            <p:cNvSpPr/>
            <p:nvPr/>
          </p:nvSpPr>
          <p:spPr>
            <a:xfrm>
              <a:off x="4830318" y="122682"/>
              <a:ext cx="2519680" cy="2249805"/>
            </a:xfrm>
            <a:custGeom>
              <a:avLst/>
              <a:gdLst/>
              <a:ahLst/>
              <a:cxnLst/>
              <a:rect l="l" t="t" r="r" b="b"/>
              <a:pathLst>
                <a:path w="2519679" h="2249805">
                  <a:moveTo>
                    <a:pt x="1049655" y="1792224"/>
                  </a:moveTo>
                  <a:lnTo>
                    <a:pt x="419862" y="1792224"/>
                  </a:lnTo>
                  <a:lnTo>
                    <a:pt x="1146683" y="2249297"/>
                  </a:lnTo>
                  <a:lnTo>
                    <a:pt x="1049655" y="1792224"/>
                  </a:lnTo>
                  <a:close/>
                </a:path>
                <a:path w="2519679" h="2249805">
                  <a:moveTo>
                    <a:pt x="2220467" y="0"/>
                  </a:moveTo>
                  <a:lnTo>
                    <a:pt x="298704" y="0"/>
                  </a:lnTo>
                  <a:lnTo>
                    <a:pt x="250251" y="3909"/>
                  </a:lnTo>
                  <a:lnTo>
                    <a:pt x="204289" y="15227"/>
                  </a:lnTo>
                  <a:lnTo>
                    <a:pt x="161430" y="33340"/>
                  </a:lnTo>
                  <a:lnTo>
                    <a:pt x="122291" y="57631"/>
                  </a:lnTo>
                  <a:lnTo>
                    <a:pt x="87487" y="87487"/>
                  </a:lnTo>
                  <a:lnTo>
                    <a:pt x="57631" y="122291"/>
                  </a:lnTo>
                  <a:lnTo>
                    <a:pt x="33340" y="161430"/>
                  </a:lnTo>
                  <a:lnTo>
                    <a:pt x="15227" y="204289"/>
                  </a:lnTo>
                  <a:lnTo>
                    <a:pt x="3909" y="250251"/>
                  </a:lnTo>
                  <a:lnTo>
                    <a:pt x="0" y="298704"/>
                  </a:lnTo>
                  <a:lnTo>
                    <a:pt x="0" y="1493520"/>
                  </a:lnTo>
                  <a:lnTo>
                    <a:pt x="3909" y="1541972"/>
                  </a:lnTo>
                  <a:lnTo>
                    <a:pt x="15227" y="1587934"/>
                  </a:lnTo>
                  <a:lnTo>
                    <a:pt x="33340" y="1630793"/>
                  </a:lnTo>
                  <a:lnTo>
                    <a:pt x="57631" y="1669932"/>
                  </a:lnTo>
                  <a:lnTo>
                    <a:pt x="87487" y="1704736"/>
                  </a:lnTo>
                  <a:lnTo>
                    <a:pt x="122291" y="1734592"/>
                  </a:lnTo>
                  <a:lnTo>
                    <a:pt x="161430" y="1758883"/>
                  </a:lnTo>
                  <a:lnTo>
                    <a:pt x="204289" y="1776996"/>
                  </a:lnTo>
                  <a:lnTo>
                    <a:pt x="250251" y="1788314"/>
                  </a:lnTo>
                  <a:lnTo>
                    <a:pt x="298704" y="1792224"/>
                  </a:lnTo>
                  <a:lnTo>
                    <a:pt x="2220467" y="1792224"/>
                  </a:lnTo>
                  <a:lnTo>
                    <a:pt x="2268920" y="1788314"/>
                  </a:lnTo>
                  <a:lnTo>
                    <a:pt x="2314882" y="1776996"/>
                  </a:lnTo>
                  <a:lnTo>
                    <a:pt x="2357741" y="1758883"/>
                  </a:lnTo>
                  <a:lnTo>
                    <a:pt x="2396880" y="1734592"/>
                  </a:lnTo>
                  <a:lnTo>
                    <a:pt x="2431684" y="1704736"/>
                  </a:lnTo>
                  <a:lnTo>
                    <a:pt x="2461540" y="1669932"/>
                  </a:lnTo>
                  <a:lnTo>
                    <a:pt x="2485831" y="1630793"/>
                  </a:lnTo>
                  <a:lnTo>
                    <a:pt x="2503944" y="1587934"/>
                  </a:lnTo>
                  <a:lnTo>
                    <a:pt x="2515262" y="1541972"/>
                  </a:lnTo>
                  <a:lnTo>
                    <a:pt x="2519172" y="1493520"/>
                  </a:lnTo>
                  <a:lnTo>
                    <a:pt x="2519172" y="298704"/>
                  </a:lnTo>
                  <a:lnTo>
                    <a:pt x="2515262" y="250251"/>
                  </a:lnTo>
                  <a:lnTo>
                    <a:pt x="2503944" y="204289"/>
                  </a:lnTo>
                  <a:lnTo>
                    <a:pt x="2485831" y="161430"/>
                  </a:lnTo>
                  <a:lnTo>
                    <a:pt x="2461540" y="122291"/>
                  </a:lnTo>
                  <a:lnTo>
                    <a:pt x="2431684" y="87487"/>
                  </a:lnTo>
                  <a:lnTo>
                    <a:pt x="2396880" y="57631"/>
                  </a:lnTo>
                  <a:lnTo>
                    <a:pt x="2357741" y="33340"/>
                  </a:lnTo>
                  <a:lnTo>
                    <a:pt x="2314882" y="15227"/>
                  </a:lnTo>
                  <a:lnTo>
                    <a:pt x="2268920" y="3909"/>
                  </a:lnTo>
                  <a:lnTo>
                    <a:pt x="22204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30318" y="122682"/>
              <a:ext cx="2519680" cy="2249805"/>
            </a:xfrm>
            <a:custGeom>
              <a:avLst/>
              <a:gdLst/>
              <a:ahLst/>
              <a:cxnLst/>
              <a:rect l="l" t="t" r="r" b="b"/>
              <a:pathLst>
                <a:path w="2519679" h="2249805">
                  <a:moveTo>
                    <a:pt x="0" y="298704"/>
                  </a:moveTo>
                  <a:lnTo>
                    <a:pt x="3909" y="250251"/>
                  </a:lnTo>
                  <a:lnTo>
                    <a:pt x="15227" y="204289"/>
                  </a:lnTo>
                  <a:lnTo>
                    <a:pt x="33340" y="161430"/>
                  </a:lnTo>
                  <a:lnTo>
                    <a:pt x="57631" y="122291"/>
                  </a:lnTo>
                  <a:lnTo>
                    <a:pt x="87487" y="87487"/>
                  </a:lnTo>
                  <a:lnTo>
                    <a:pt x="122291" y="57631"/>
                  </a:lnTo>
                  <a:lnTo>
                    <a:pt x="161430" y="33340"/>
                  </a:lnTo>
                  <a:lnTo>
                    <a:pt x="204289" y="15227"/>
                  </a:lnTo>
                  <a:lnTo>
                    <a:pt x="250251" y="3909"/>
                  </a:lnTo>
                  <a:lnTo>
                    <a:pt x="298704" y="0"/>
                  </a:lnTo>
                  <a:lnTo>
                    <a:pt x="419862" y="0"/>
                  </a:lnTo>
                  <a:lnTo>
                    <a:pt x="1049655" y="0"/>
                  </a:lnTo>
                  <a:lnTo>
                    <a:pt x="2220467" y="0"/>
                  </a:lnTo>
                  <a:lnTo>
                    <a:pt x="2268920" y="3909"/>
                  </a:lnTo>
                  <a:lnTo>
                    <a:pt x="2314882" y="15227"/>
                  </a:lnTo>
                  <a:lnTo>
                    <a:pt x="2357741" y="33340"/>
                  </a:lnTo>
                  <a:lnTo>
                    <a:pt x="2396880" y="57631"/>
                  </a:lnTo>
                  <a:lnTo>
                    <a:pt x="2431684" y="87487"/>
                  </a:lnTo>
                  <a:lnTo>
                    <a:pt x="2461540" y="122291"/>
                  </a:lnTo>
                  <a:lnTo>
                    <a:pt x="2485831" y="161430"/>
                  </a:lnTo>
                  <a:lnTo>
                    <a:pt x="2503944" y="204289"/>
                  </a:lnTo>
                  <a:lnTo>
                    <a:pt x="2515262" y="250251"/>
                  </a:lnTo>
                  <a:lnTo>
                    <a:pt x="2519172" y="298704"/>
                  </a:lnTo>
                  <a:lnTo>
                    <a:pt x="2519172" y="1045464"/>
                  </a:lnTo>
                  <a:lnTo>
                    <a:pt x="2519172" y="1493520"/>
                  </a:lnTo>
                  <a:lnTo>
                    <a:pt x="2515262" y="1541972"/>
                  </a:lnTo>
                  <a:lnTo>
                    <a:pt x="2503944" y="1587934"/>
                  </a:lnTo>
                  <a:lnTo>
                    <a:pt x="2485831" y="1630793"/>
                  </a:lnTo>
                  <a:lnTo>
                    <a:pt x="2461540" y="1669932"/>
                  </a:lnTo>
                  <a:lnTo>
                    <a:pt x="2431684" y="1704736"/>
                  </a:lnTo>
                  <a:lnTo>
                    <a:pt x="2396880" y="1734592"/>
                  </a:lnTo>
                  <a:lnTo>
                    <a:pt x="2357741" y="1758883"/>
                  </a:lnTo>
                  <a:lnTo>
                    <a:pt x="2314882" y="1776996"/>
                  </a:lnTo>
                  <a:lnTo>
                    <a:pt x="2268920" y="1788314"/>
                  </a:lnTo>
                  <a:lnTo>
                    <a:pt x="2220467" y="1792224"/>
                  </a:lnTo>
                  <a:lnTo>
                    <a:pt x="1049655" y="1792224"/>
                  </a:lnTo>
                  <a:lnTo>
                    <a:pt x="1146683" y="2249297"/>
                  </a:lnTo>
                  <a:lnTo>
                    <a:pt x="419862" y="1792224"/>
                  </a:lnTo>
                  <a:lnTo>
                    <a:pt x="298704" y="1792224"/>
                  </a:lnTo>
                  <a:lnTo>
                    <a:pt x="250251" y="1788314"/>
                  </a:lnTo>
                  <a:lnTo>
                    <a:pt x="204289" y="1776996"/>
                  </a:lnTo>
                  <a:lnTo>
                    <a:pt x="161430" y="1758883"/>
                  </a:lnTo>
                  <a:lnTo>
                    <a:pt x="122291" y="1734592"/>
                  </a:lnTo>
                  <a:lnTo>
                    <a:pt x="87487" y="1704736"/>
                  </a:lnTo>
                  <a:lnTo>
                    <a:pt x="57631" y="1669932"/>
                  </a:lnTo>
                  <a:lnTo>
                    <a:pt x="33340" y="1630793"/>
                  </a:lnTo>
                  <a:lnTo>
                    <a:pt x="15227" y="1587934"/>
                  </a:lnTo>
                  <a:lnTo>
                    <a:pt x="3909" y="1541972"/>
                  </a:lnTo>
                  <a:lnTo>
                    <a:pt x="0" y="1493520"/>
                  </a:lnTo>
                  <a:lnTo>
                    <a:pt x="0" y="1045464"/>
                  </a:lnTo>
                  <a:lnTo>
                    <a:pt x="0" y="298704"/>
                  </a:lnTo>
                  <a:close/>
                </a:path>
              </a:pathLst>
            </a:custGeom>
            <a:ln w="25907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0771" rIns="0" bIns="0" rtlCol="0">
            <a:spAutoFit/>
          </a:bodyPr>
          <a:lstStyle/>
          <a:p>
            <a:pPr marL="3790950" marR="5080" indent="-487680">
              <a:lnSpc>
                <a:spcPct val="100000"/>
              </a:lnSpc>
              <a:spcBef>
                <a:spcPts val="100"/>
              </a:spcBef>
            </a:pPr>
            <a:r>
              <a:rPr sz="1800" b="0" spc="-20" dirty="0">
                <a:latin typeface="Calibri"/>
                <a:cs typeface="Calibri"/>
              </a:rPr>
              <a:t>Vector </a:t>
            </a:r>
            <a:r>
              <a:rPr sz="1800" b="0" spc="-5" dirty="0">
                <a:latin typeface="Calibri"/>
                <a:cs typeface="Calibri"/>
              </a:rPr>
              <a:t>of output </a:t>
            </a:r>
            <a:r>
              <a:rPr sz="1800" b="0" spc="-15" dirty="0">
                <a:latin typeface="Calibri"/>
                <a:cs typeface="Calibri"/>
              </a:rPr>
              <a:t>layer  parameters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199" y="61417"/>
            <a:ext cx="838200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65860" marR="5080" indent="-115379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functions </a:t>
            </a:r>
            <a:r>
              <a:rPr dirty="0"/>
              <a:t>can we </a:t>
            </a:r>
            <a:r>
              <a:rPr spc="-20" dirty="0"/>
              <a:t>approximate  </a:t>
            </a:r>
            <a:r>
              <a:rPr dirty="0"/>
              <a:t>with a 2 </a:t>
            </a:r>
            <a:r>
              <a:rPr spc="-5" dirty="0"/>
              <a:t>layer</a:t>
            </a:r>
            <a:r>
              <a:rPr spc="-40" dirty="0"/>
              <a:t> </a:t>
            </a:r>
            <a:r>
              <a:rPr spc="-15" dirty="0"/>
              <a:t>perceptron?</a:t>
            </a:r>
          </a:p>
        </p:txBody>
      </p:sp>
      <p:sp>
        <p:nvSpPr>
          <p:cNvPr id="3" name="object 3"/>
          <p:cNvSpPr/>
          <p:nvPr/>
        </p:nvSpPr>
        <p:spPr>
          <a:xfrm>
            <a:off x="5393182" y="3720084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29" y="2667"/>
                </a:moveTo>
                <a:lnTo>
                  <a:pt x="382269" y="2667"/>
                </a:lnTo>
                <a:lnTo>
                  <a:pt x="382269" y="279654"/>
                </a:lnTo>
                <a:lnTo>
                  <a:pt x="405129" y="279654"/>
                </a:lnTo>
                <a:lnTo>
                  <a:pt x="405129" y="2667"/>
                </a:lnTo>
                <a:close/>
              </a:path>
              <a:path w="405129" h="283845">
                <a:moveTo>
                  <a:pt x="94868" y="0"/>
                </a:moveTo>
                <a:lnTo>
                  <a:pt x="91058" y="0"/>
                </a:lnTo>
                <a:lnTo>
                  <a:pt x="74650" y="1214"/>
                </a:lnTo>
                <a:lnTo>
                  <a:pt x="38734" y="16002"/>
                </a:lnTo>
                <a:lnTo>
                  <a:pt x="21661" y="59563"/>
                </a:lnTo>
                <a:lnTo>
                  <a:pt x="21558" y="65091"/>
                </a:lnTo>
                <a:lnTo>
                  <a:pt x="21677" y="68633"/>
                </a:lnTo>
                <a:lnTo>
                  <a:pt x="22320" y="75453"/>
                </a:lnTo>
                <a:lnTo>
                  <a:pt x="23391" y="82678"/>
                </a:lnTo>
                <a:lnTo>
                  <a:pt x="24891" y="90297"/>
                </a:lnTo>
                <a:lnTo>
                  <a:pt x="27177" y="100838"/>
                </a:lnTo>
                <a:lnTo>
                  <a:pt x="28447" y="107950"/>
                </a:lnTo>
                <a:lnTo>
                  <a:pt x="28447" y="118364"/>
                </a:lnTo>
                <a:lnTo>
                  <a:pt x="26034" y="123952"/>
                </a:lnTo>
                <a:lnTo>
                  <a:pt x="16637" y="132588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701"/>
                </a:lnTo>
                <a:lnTo>
                  <a:pt x="16637" y="149987"/>
                </a:lnTo>
                <a:lnTo>
                  <a:pt x="26034" y="158623"/>
                </a:lnTo>
                <a:lnTo>
                  <a:pt x="28447" y="164211"/>
                </a:lnTo>
                <a:lnTo>
                  <a:pt x="28447" y="174625"/>
                </a:lnTo>
                <a:lnTo>
                  <a:pt x="27177" y="181610"/>
                </a:lnTo>
                <a:lnTo>
                  <a:pt x="24891" y="192151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2" y="220345"/>
                </a:lnTo>
                <a:lnTo>
                  <a:pt x="22536" y="235321"/>
                </a:lnTo>
                <a:lnTo>
                  <a:pt x="48500" y="274629"/>
                </a:lnTo>
                <a:lnTo>
                  <a:pt x="91058" y="283845"/>
                </a:lnTo>
                <a:lnTo>
                  <a:pt x="94868" y="283845"/>
                </a:lnTo>
                <a:lnTo>
                  <a:pt x="94868" y="272542"/>
                </a:lnTo>
                <a:lnTo>
                  <a:pt x="92709" y="272542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5" y="223012"/>
                </a:lnTo>
                <a:lnTo>
                  <a:pt x="46924" y="217465"/>
                </a:lnTo>
                <a:lnTo>
                  <a:pt x="47482" y="211312"/>
                </a:lnTo>
                <a:lnTo>
                  <a:pt x="48396" y="204563"/>
                </a:lnTo>
                <a:lnTo>
                  <a:pt x="49656" y="197231"/>
                </a:lnTo>
                <a:lnTo>
                  <a:pt x="51688" y="186944"/>
                </a:lnTo>
                <a:lnTo>
                  <a:pt x="52704" y="179705"/>
                </a:lnTo>
                <a:lnTo>
                  <a:pt x="52704" y="166878"/>
                </a:lnTo>
                <a:lnTo>
                  <a:pt x="50164" y="160020"/>
                </a:lnTo>
                <a:lnTo>
                  <a:pt x="45212" y="154559"/>
                </a:lnTo>
                <a:lnTo>
                  <a:pt x="40258" y="149225"/>
                </a:lnTo>
                <a:lnTo>
                  <a:pt x="34289" y="145161"/>
                </a:lnTo>
                <a:lnTo>
                  <a:pt x="27558" y="142621"/>
                </a:lnTo>
                <a:lnTo>
                  <a:pt x="27558" y="139954"/>
                </a:lnTo>
                <a:lnTo>
                  <a:pt x="34289" y="137287"/>
                </a:lnTo>
                <a:lnTo>
                  <a:pt x="40258" y="133350"/>
                </a:lnTo>
                <a:lnTo>
                  <a:pt x="45212" y="127889"/>
                </a:lnTo>
                <a:lnTo>
                  <a:pt x="50164" y="122555"/>
                </a:lnTo>
                <a:lnTo>
                  <a:pt x="52704" y="115570"/>
                </a:lnTo>
                <a:lnTo>
                  <a:pt x="52704" y="102870"/>
                </a:lnTo>
                <a:lnTo>
                  <a:pt x="51688" y="95504"/>
                </a:lnTo>
                <a:lnTo>
                  <a:pt x="49656" y="85344"/>
                </a:lnTo>
                <a:lnTo>
                  <a:pt x="48396" y="77958"/>
                </a:lnTo>
                <a:lnTo>
                  <a:pt x="47482" y="71215"/>
                </a:lnTo>
                <a:lnTo>
                  <a:pt x="46924" y="65091"/>
                </a:lnTo>
                <a:lnTo>
                  <a:pt x="46735" y="59563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3"/>
                </a:lnTo>
                <a:lnTo>
                  <a:pt x="94868" y="11303"/>
                </a:lnTo>
                <a:lnTo>
                  <a:pt x="94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1670" y="1509522"/>
            <a:ext cx="6779895" cy="31718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2400" spc="-10" dirty="0">
                <a:latin typeface="Segoe UI"/>
                <a:cs typeface="Segoe UI"/>
              </a:rPr>
              <a:t>Problem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setting</a:t>
            </a:r>
            <a:endParaRPr sz="2400" dirty="0">
              <a:latin typeface="Segoe UI"/>
              <a:cs typeface="Segoe UI"/>
            </a:endParaRP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possible </a:t>
            </a:r>
            <a:r>
              <a:rPr sz="2400" spc="-5" dirty="0">
                <a:latin typeface="Segoe UI"/>
                <a:cs typeface="Segoe UI"/>
              </a:rPr>
              <a:t>instances</a:t>
            </a:r>
            <a:r>
              <a:rPr sz="2400" spc="6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  <a:tab pos="2620645" algn="l"/>
              </a:tabLst>
            </a:pP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Each</a:t>
            </a:r>
            <a:r>
              <a:rPr sz="2000" spc="5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instance</a:t>
            </a:r>
            <a:r>
              <a:rPr sz="2000" spc="1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	∈ 𝑋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a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feature vector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 = 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[𝑥</a:t>
            </a:r>
            <a:r>
              <a:rPr sz="2175" spc="15" baseline="-15325" dirty="0">
                <a:solidFill>
                  <a:srgbClr val="9F2936"/>
                </a:solidFill>
                <a:latin typeface="Cambria Math"/>
                <a:cs typeface="Cambria Math"/>
              </a:rPr>
              <a:t>1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,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… ,</a:t>
            </a:r>
            <a:r>
              <a:rPr sz="2000" spc="-260" dirty="0">
                <a:solidFill>
                  <a:srgbClr val="9F2936"/>
                </a:solidFill>
                <a:latin typeface="Cambria Math"/>
                <a:cs typeface="Cambria Math"/>
              </a:rPr>
              <a:t> 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𝑥</a:t>
            </a:r>
            <a:r>
              <a:rPr sz="2175" spc="67" baseline="-15325" dirty="0">
                <a:solidFill>
                  <a:srgbClr val="9F2936"/>
                </a:solidFill>
                <a:latin typeface="Cambria Math"/>
                <a:cs typeface="Cambria Math"/>
              </a:rPr>
              <a:t>𝐷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]</a:t>
            </a:r>
            <a:endParaRPr sz="2000" dirty="0">
              <a:latin typeface="Cambria Math"/>
              <a:cs typeface="Cambria Math"/>
            </a:endParaRP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  <a:tab pos="4480560" algn="l"/>
              </a:tabLst>
            </a:pPr>
            <a:r>
              <a:rPr sz="2400" spc="-5" dirty="0">
                <a:latin typeface="Segoe UI"/>
                <a:cs typeface="Segoe UI"/>
              </a:rPr>
              <a:t>Unknown target function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35" dirty="0">
                <a:latin typeface="Cambria Math"/>
                <a:cs typeface="Cambria Math"/>
              </a:rPr>
              <a:t>𝑓: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</a:tabLst>
            </a:pP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𝑌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spc="10" dirty="0">
                <a:solidFill>
                  <a:srgbClr val="9F2936"/>
                </a:solidFill>
                <a:latin typeface="Segoe UI"/>
                <a:cs typeface="Segoe UI"/>
              </a:rPr>
              <a:t>binary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valued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{-1;</a:t>
            </a:r>
            <a:r>
              <a:rPr sz="2000" spc="12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+1}</a:t>
            </a:r>
            <a:endParaRPr sz="2000" dirty="0">
              <a:latin typeface="Segoe UI"/>
              <a:cs typeface="Segoe UI"/>
            </a:endParaRPr>
          </a:p>
          <a:p>
            <a:pPr marL="36830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67665" algn="l"/>
                <a:tab pos="368300" algn="l"/>
                <a:tab pos="5034915" algn="l"/>
                <a:tab pos="5440680" algn="l"/>
                <a:tab pos="6103620" algn="l"/>
              </a:tabLst>
            </a:pPr>
            <a:r>
              <a:rPr sz="2400" b="1" dirty="0">
                <a:latin typeface="Segoe UI"/>
                <a:cs typeface="Segoe UI"/>
              </a:rPr>
              <a:t>Set </a:t>
            </a:r>
            <a:r>
              <a:rPr sz="2400" b="1" spc="-20" dirty="0">
                <a:latin typeface="Segoe UI"/>
                <a:cs typeface="Segoe UI"/>
              </a:rPr>
              <a:t>of </a:t>
            </a:r>
            <a:r>
              <a:rPr sz="2400" b="1" dirty="0">
                <a:latin typeface="Segoe UI"/>
                <a:cs typeface="Segoe UI"/>
              </a:rPr>
              <a:t>function </a:t>
            </a:r>
            <a:r>
              <a:rPr sz="2400" b="1" spc="-5" dirty="0">
                <a:latin typeface="Segoe UI"/>
                <a:cs typeface="Segoe UI"/>
              </a:rPr>
              <a:t>hypotheses</a:t>
            </a:r>
            <a:r>
              <a:rPr sz="2400" b="1" spc="3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0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ℎ	</a:t>
            </a:r>
            <a:r>
              <a:rPr sz="2400" spc="20" dirty="0">
                <a:latin typeface="Cambria Math"/>
                <a:cs typeface="Cambria Math"/>
              </a:rPr>
              <a:t>ℎ: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𝑌}</a:t>
            </a:r>
            <a:endParaRPr sz="2400" dirty="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2305"/>
              </a:spcBef>
            </a:pPr>
            <a:r>
              <a:rPr sz="2400" spc="-5" dirty="0">
                <a:latin typeface="Segoe UI"/>
                <a:cs typeface="Segoe UI"/>
              </a:rPr>
              <a:t>Input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70275" y="4804409"/>
            <a:ext cx="1348740" cy="374650"/>
          </a:xfrm>
          <a:custGeom>
            <a:avLst/>
            <a:gdLst/>
            <a:ahLst/>
            <a:cxnLst/>
            <a:rect l="l" t="t" r="r" b="b"/>
            <a:pathLst>
              <a:path w="1348739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43"/>
                </a:lnTo>
                <a:lnTo>
                  <a:pt x="25146" y="69469"/>
                </a:lnTo>
                <a:lnTo>
                  <a:pt x="6286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348739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348739" h="374650">
                <a:moveTo>
                  <a:pt x="582549" y="103124"/>
                </a:moveTo>
                <a:lnTo>
                  <a:pt x="572947" y="50698"/>
                </a:lnTo>
                <a:lnTo>
                  <a:pt x="544804" y="13233"/>
                </a:lnTo>
                <a:lnTo>
                  <a:pt x="516763" y="0"/>
                </a:lnTo>
                <a:lnTo>
                  <a:pt x="513842" y="8382"/>
                </a:lnTo>
                <a:lnTo>
                  <a:pt x="525767" y="13576"/>
                </a:lnTo>
                <a:lnTo>
                  <a:pt x="536028" y="20751"/>
                </a:lnTo>
                <a:lnTo>
                  <a:pt x="556882" y="53924"/>
                </a:lnTo>
                <a:lnTo>
                  <a:pt x="563753" y="101981"/>
                </a:lnTo>
                <a:lnTo>
                  <a:pt x="562978" y="120180"/>
                </a:lnTo>
                <a:lnTo>
                  <a:pt x="551434" y="164719"/>
                </a:lnTo>
                <a:lnTo>
                  <a:pt x="514223" y="197739"/>
                </a:lnTo>
                <a:lnTo>
                  <a:pt x="516763" y="206121"/>
                </a:lnTo>
                <a:lnTo>
                  <a:pt x="556120" y="182676"/>
                </a:lnTo>
                <a:lnTo>
                  <a:pt x="578269" y="139496"/>
                </a:lnTo>
                <a:lnTo>
                  <a:pt x="581469" y="122034"/>
                </a:lnTo>
                <a:lnTo>
                  <a:pt x="582549" y="103124"/>
                </a:lnTo>
                <a:close/>
              </a:path>
              <a:path w="1348739" h="374650">
                <a:moveTo>
                  <a:pt x="1000252" y="8382"/>
                </a:moveTo>
                <a:lnTo>
                  <a:pt x="997331" y="0"/>
                </a:lnTo>
                <a:lnTo>
                  <a:pt x="982370" y="5410"/>
                </a:lnTo>
                <a:lnTo>
                  <a:pt x="969276" y="13233"/>
                </a:lnTo>
                <a:lnTo>
                  <a:pt x="941133" y="50698"/>
                </a:lnTo>
                <a:lnTo>
                  <a:pt x="931545" y="103124"/>
                </a:lnTo>
                <a:lnTo>
                  <a:pt x="932611" y="122034"/>
                </a:lnTo>
                <a:lnTo>
                  <a:pt x="948563" y="170053"/>
                </a:lnTo>
                <a:lnTo>
                  <a:pt x="982345" y="200723"/>
                </a:lnTo>
                <a:lnTo>
                  <a:pt x="997331" y="206121"/>
                </a:lnTo>
                <a:lnTo>
                  <a:pt x="999998" y="197739"/>
                </a:lnTo>
                <a:lnTo>
                  <a:pt x="988225" y="192532"/>
                </a:lnTo>
                <a:lnTo>
                  <a:pt x="978090" y="185280"/>
                </a:lnTo>
                <a:lnTo>
                  <a:pt x="957300" y="151523"/>
                </a:lnTo>
                <a:lnTo>
                  <a:pt x="950341" y="101981"/>
                </a:lnTo>
                <a:lnTo>
                  <a:pt x="951115" y="84442"/>
                </a:lnTo>
                <a:lnTo>
                  <a:pt x="962660" y="41021"/>
                </a:lnTo>
                <a:lnTo>
                  <a:pt x="988390" y="13576"/>
                </a:lnTo>
                <a:lnTo>
                  <a:pt x="1000252" y="8382"/>
                </a:lnTo>
                <a:close/>
              </a:path>
              <a:path w="1348739" h="374650">
                <a:moveTo>
                  <a:pt x="1205865" y="103124"/>
                </a:moveTo>
                <a:lnTo>
                  <a:pt x="1196263" y="50698"/>
                </a:lnTo>
                <a:lnTo>
                  <a:pt x="1168120" y="13233"/>
                </a:lnTo>
                <a:lnTo>
                  <a:pt x="1140079" y="0"/>
                </a:lnTo>
                <a:lnTo>
                  <a:pt x="1137158" y="8382"/>
                </a:lnTo>
                <a:lnTo>
                  <a:pt x="1149083" y="13576"/>
                </a:lnTo>
                <a:lnTo>
                  <a:pt x="1159344" y="20751"/>
                </a:lnTo>
                <a:lnTo>
                  <a:pt x="1180211" y="53924"/>
                </a:lnTo>
                <a:lnTo>
                  <a:pt x="1187069" y="101981"/>
                </a:lnTo>
                <a:lnTo>
                  <a:pt x="1186294" y="120180"/>
                </a:lnTo>
                <a:lnTo>
                  <a:pt x="1174750" y="164719"/>
                </a:lnTo>
                <a:lnTo>
                  <a:pt x="1137539" y="197739"/>
                </a:lnTo>
                <a:lnTo>
                  <a:pt x="1140079" y="206121"/>
                </a:lnTo>
                <a:lnTo>
                  <a:pt x="1179436" y="182676"/>
                </a:lnTo>
                <a:lnTo>
                  <a:pt x="1201585" y="139496"/>
                </a:lnTo>
                <a:lnTo>
                  <a:pt x="1204785" y="122034"/>
                </a:lnTo>
                <a:lnTo>
                  <a:pt x="1205865" y="103124"/>
                </a:lnTo>
                <a:close/>
              </a:path>
              <a:path w="1348739" h="374650">
                <a:moveTo>
                  <a:pt x="1348359" y="190373"/>
                </a:moveTo>
                <a:lnTo>
                  <a:pt x="1342072" y="125209"/>
                </a:lnTo>
                <a:lnTo>
                  <a:pt x="1323213" y="69469"/>
                </a:lnTo>
                <a:lnTo>
                  <a:pt x="1292733" y="28143"/>
                </a:lnTo>
                <a:lnTo>
                  <a:pt x="1251585" y="6223"/>
                </a:lnTo>
                <a:lnTo>
                  <a:pt x="1247902" y="18415"/>
                </a:lnTo>
                <a:lnTo>
                  <a:pt x="1264805" y="27178"/>
                </a:lnTo>
                <a:lnTo>
                  <a:pt x="1279525" y="39941"/>
                </a:lnTo>
                <a:lnTo>
                  <a:pt x="1302385" y="77470"/>
                </a:lnTo>
                <a:lnTo>
                  <a:pt x="1316266" y="128511"/>
                </a:lnTo>
                <a:lnTo>
                  <a:pt x="1320927" y="190500"/>
                </a:lnTo>
                <a:lnTo>
                  <a:pt x="1319758" y="222770"/>
                </a:lnTo>
                <a:lnTo>
                  <a:pt x="1310474" y="279158"/>
                </a:lnTo>
                <a:lnTo>
                  <a:pt x="1292047" y="323977"/>
                </a:lnTo>
                <a:lnTo>
                  <a:pt x="1264805" y="353453"/>
                </a:lnTo>
                <a:lnTo>
                  <a:pt x="1247902" y="362204"/>
                </a:lnTo>
                <a:lnTo>
                  <a:pt x="1251585" y="374396"/>
                </a:lnTo>
                <a:lnTo>
                  <a:pt x="1292733" y="352488"/>
                </a:lnTo>
                <a:lnTo>
                  <a:pt x="1323213" y="311150"/>
                </a:lnTo>
                <a:lnTo>
                  <a:pt x="1342059" y="255435"/>
                </a:lnTo>
                <a:lnTo>
                  <a:pt x="1346784" y="224078"/>
                </a:lnTo>
                <a:lnTo>
                  <a:pt x="1348359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64023" y="4804409"/>
            <a:ext cx="1438275" cy="374650"/>
          </a:xfrm>
          <a:custGeom>
            <a:avLst/>
            <a:gdLst/>
            <a:ahLst/>
            <a:cxnLst/>
            <a:rect l="l" t="t" r="r" b="b"/>
            <a:pathLst>
              <a:path w="1438275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43"/>
                </a:lnTo>
                <a:lnTo>
                  <a:pt x="25146" y="69469"/>
                </a:lnTo>
                <a:lnTo>
                  <a:pt x="6273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438275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438275" h="374650">
                <a:moveTo>
                  <a:pt x="626745" y="103124"/>
                </a:moveTo>
                <a:lnTo>
                  <a:pt x="617143" y="50698"/>
                </a:lnTo>
                <a:lnTo>
                  <a:pt x="589000" y="13233"/>
                </a:lnTo>
                <a:lnTo>
                  <a:pt x="560959" y="0"/>
                </a:lnTo>
                <a:lnTo>
                  <a:pt x="558038" y="8382"/>
                </a:lnTo>
                <a:lnTo>
                  <a:pt x="569963" y="13576"/>
                </a:lnTo>
                <a:lnTo>
                  <a:pt x="580224" y="20751"/>
                </a:lnTo>
                <a:lnTo>
                  <a:pt x="601091" y="53924"/>
                </a:lnTo>
                <a:lnTo>
                  <a:pt x="607949" y="101981"/>
                </a:lnTo>
                <a:lnTo>
                  <a:pt x="607174" y="120180"/>
                </a:lnTo>
                <a:lnTo>
                  <a:pt x="595630" y="164719"/>
                </a:lnTo>
                <a:lnTo>
                  <a:pt x="558419" y="197739"/>
                </a:lnTo>
                <a:lnTo>
                  <a:pt x="560959" y="206121"/>
                </a:lnTo>
                <a:lnTo>
                  <a:pt x="600316" y="182676"/>
                </a:lnTo>
                <a:lnTo>
                  <a:pt x="622465" y="139496"/>
                </a:lnTo>
                <a:lnTo>
                  <a:pt x="625665" y="122034"/>
                </a:lnTo>
                <a:lnTo>
                  <a:pt x="626745" y="103124"/>
                </a:lnTo>
                <a:close/>
              </a:path>
              <a:path w="1438275" h="374650">
                <a:moveTo>
                  <a:pt x="1044448" y="8382"/>
                </a:moveTo>
                <a:lnTo>
                  <a:pt x="1041527" y="0"/>
                </a:lnTo>
                <a:lnTo>
                  <a:pt x="1026566" y="5410"/>
                </a:lnTo>
                <a:lnTo>
                  <a:pt x="1013472" y="13233"/>
                </a:lnTo>
                <a:lnTo>
                  <a:pt x="985329" y="50698"/>
                </a:lnTo>
                <a:lnTo>
                  <a:pt x="975741" y="103124"/>
                </a:lnTo>
                <a:lnTo>
                  <a:pt x="976807" y="122034"/>
                </a:lnTo>
                <a:lnTo>
                  <a:pt x="992759" y="170053"/>
                </a:lnTo>
                <a:lnTo>
                  <a:pt x="1026541" y="200723"/>
                </a:lnTo>
                <a:lnTo>
                  <a:pt x="1041527" y="206121"/>
                </a:lnTo>
                <a:lnTo>
                  <a:pt x="1044194" y="197739"/>
                </a:lnTo>
                <a:lnTo>
                  <a:pt x="1032421" y="192532"/>
                </a:lnTo>
                <a:lnTo>
                  <a:pt x="1022286" y="185280"/>
                </a:lnTo>
                <a:lnTo>
                  <a:pt x="1001496" y="151523"/>
                </a:lnTo>
                <a:lnTo>
                  <a:pt x="994537" y="101981"/>
                </a:lnTo>
                <a:lnTo>
                  <a:pt x="995311" y="84442"/>
                </a:lnTo>
                <a:lnTo>
                  <a:pt x="1006856" y="41021"/>
                </a:lnTo>
                <a:lnTo>
                  <a:pt x="1032586" y="13576"/>
                </a:lnTo>
                <a:lnTo>
                  <a:pt x="1044448" y="8382"/>
                </a:lnTo>
                <a:close/>
              </a:path>
              <a:path w="1438275" h="374650">
                <a:moveTo>
                  <a:pt x="1294257" y="103124"/>
                </a:moveTo>
                <a:lnTo>
                  <a:pt x="1284655" y="50698"/>
                </a:lnTo>
                <a:lnTo>
                  <a:pt x="1256512" y="13233"/>
                </a:lnTo>
                <a:lnTo>
                  <a:pt x="1228471" y="0"/>
                </a:lnTo>
                <a:lnTo>
                  <a:pt x="1225550" y="8382"/>
                </a:lnTo>
                <a:lnTo>
                  <a:pt x="1237475" y="13576"/>
                </a:lnTo>
                <a:lnTo>
                  <a:pt x="1247736" y="20751"/>
                </a:lnTo>
                <a:lnTo>
                  <a:pt x="1268603" y="53924"/>
                </a:lnTo>
                <a:lnTo>
                  <a:pt x="1275448" y="101981"/>
                </a:lnTo>
                <a:lnTo>
                  <a:pt x="1274686" y="120180"/>
                </a:lnTo>
                <a:lnTo>
                  <a:pt x="1263142" y="164719"/>
                </a:lnTo>
                <a:lnTo>
                  <a:pt x="1225931" y="197739"/>
                </a:lnTo>
                <a:lnTo>
                  <a:pt x="1228471" y="206121"/>
                </a:lnTo>
                <a:lnTo>
                  <a:pt x="1267828" y="182676"/>
                </a:lnTo>
                <a:lnTo>
                  <a:pt x="1289977" y="139496"/>
                </a:lnTo>
                <a:lnTo>
                  <a:pt x="1293177" y="122034"/>
                </a:lnTo>
                <a:lnTo>
                  <a:pt x="1294257" y="103124"/>
                </a:lnTo>
                <a:close/>
              </a:path>
              <a:path w="1438275" h="374650">
                <a:moveTo>
                  <a:pt x="1438275" y="190373"/>
                </a:moveTo>
                <a:lnTo>
                  <a:pt x="1431988" y="125209"/>
                </a:lnTo>
                <a:lnTo>
                  <a:pt x="1413129" y="69469"/>
                </a:lnTo>
                <a:lnTo>
                  <a:pt x="1382649" y="28143"/>
                </a:lnTo>
                <a:lnTo>
                  <a:pt x="1341501" y="6223"/>
                </a:lnTo>
                <a:lnTo>
                  <a:pt x="1337818" y="18415"/>
                </a:lnTo>
                <a:lnTo>
                  <a:pt x="1354721" y="27178"/>
                </a:lnTo>
                <a:lnTo>
                  <a:pt x="1369428" y="39941"/>
                </a:lnTo>
                <a:lnTo>
                  <a:pt x="1392301" y="77470"/>
                </a:lnTo>
                <a:lnTo>
                  <a:pt x="1406182" y="128511"/>
                </a:lnTo>
                <a:lnTo>
                  <a:pt x="1410843" y="190500"/>
                </a:lnTo>
                <a:lnTo>
                  <a:pt x="1409674" y="222770"/>
                </a:lnTo>
                <a:lnTo>
                  <a:pt x="1400390" y="279158"/>
                </a:lnTo>
                <a:lnTo>
                  <a:pt x="1381963" y="323977"/>
                </a:lnTo>
                <a:lnTo>
                  <a:pt x="1354721" y="353453"/>
                </a:lnTo>
                <a:lnTo>
                  <a:pt x="1337818" y="362204"/>
                </a:lnTo>
                <a:lnTo>
                  <a:pt x="1341501" y="374396"/>
                </a:lnTo>
                <a:lnTo>
                  <a:pt x="1382636" y="352488"/>
                </a:lnTo>
                <a:lnTo>
                  <a:pt x="1413129" y="311150"/>
                </a:lnTo>
                <a:lnTo>
                  <a:pt x="1431988" y="255435"/>
                </a:lnTo>
                <a:lnTo>
                  <a:pt x="1436700" y="224078"/>
                </a:lnTo>
                <a:lnTo>
                  <a:pt x="1438275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08220" y="4765294"/>
            <a:ext cx="3766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6420" algn="l"/>
                <a:tab pos="192151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 </a:t>
            </a:r>
            <a:r>
              <a:rPr sz="2625" spc="60" baseline="28571" dirty="0">
                <a:latin typeface="Cambria Math"/>
                <a:cs typeface="Cambria Math"/>
              </a:rPr>
              <a:t>𝑁 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3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625" spc="60" baseline="28571" dirty="0">
                <a:latin typeface="Cambria Math"/>
                <a:cs typeface="Cambria Math"/>
              </a:rPr>
              <a:t>𝑁	</a:t>
            </a:r>
            <a:r>
              <a:rPr sz="2400" dirty="0">
                <a:latin typeface="Cambria Math"/>
                <a:cs typeface="Cambria Math"/>
              </a:rPr>
              <a:t>} </a:t>
            </a:r>
            <a:r>
              <a:rPr sz="2400" spc="-30" dirty="0">
                <a:latin typeface="Segoe UI"/>
                <a:cs typeface="Segoe UI"/>
              </a:rPr>
              <a:t>of</a:t>
            </a:r>
            <a:r>
              <a:rPr sz="2400" spc="8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unknown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970" y="4737861"/>
            <a:ext cx="4194175" cy="12509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80365" algn="l"/>
                <a:tab pos="381000" algn="l"/>
                <a:tab pos="3131820" algn="l"/>
              </a:tabLst>
            </a:pPr>
            <a:r>
              <a:rPr sz="2400" spc="-30" dirty="0">
                <a:latin typeface="Segoe UI"/>
                <a:cs typeface="Segoe UI"/>
              </a:rPr>
              <a:t>Training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examples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625" spc="60" baseline="28571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𝑦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lang="en-US" sz="2400" spc="-135" dirty="0">
                <a:latin typeface="Cambria Math"/>
                <a:cs typeface="Cambria Math"/>
              </a:rPr>
              <a:t>   </a:t>
            </a:r>
            <a:r>
              <a:rPr sz="2625" spc="60" baseline="28571" dirty="0">
                <a:latin typeface="Cambria Math"/>
                <a:cs typeface="Cambria Math"/>
              </a:rPr>
              <a:t>1</a:t>
            </a:r>
            <a:endParaRPr sz="2625" baseline="28571" dirty="0">
              <a:latin typeface="Cambria Math"/>
              <a:cs typeface="Cambria Math"/>
            </a:endParaRPr>
          </a:p>
          <a:p>
            <a:pPr marL="38100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3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Segoe UI"/>
                <a:cs typeface="Segoe UI"/>
              </a:rPr>
              <a:t>Output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4370" y="6036665"/>
            <a:ext cx="826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2254250" algn="l"/>
              </a:tabLst>
            </a:pPr>
            <a:r>
              <a:rPr sz="2400" spc="-5" dirty="0">
                <a:latin typeface="Segoe UI"/>
                <a:cs typeface="Segoe UI"/>
              </a:rPr>
              <a:t>Hypothesis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 𝐻 </a:t>
            </a:r>
            <a:r>
              <a:rPr sz="2400" dirty="0">
                <a:latin typeface="Segoe UI"/>
                <a:cs typeface="Segoe UI"/>
              </a:rPr>
              <a:t>that best </a:t>
            </a:r>
            <a:r>
              <a:rPr sz="2400" spc="-10" dirty="0">
                <a:latin typeface="Segoe UI"/>
                <a:cs typeface="Segoe UI"/>
              </a:rPr>
              <a:t>approximates </a:t>
            </a: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29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486" y="147955"/>
            <a:ext cx="7861934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0426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Two-Layer </a:t>
            </a:r>
            <a:r>
              <a:rPr dirty="0"/>
              <a:t>Networks </a:t>
            </a:r>
            <a:r>
              <a:rPr spc="-35" dirty="0"/>
              <a:t>are  </a:t>
            </a:r>
            <a:r>
              <a:rPr dirty="0"/>
              <a:t>Universal Function</a:t>
            </a:r>
            <a:r>
              <a:rPr spc="-60" dirty="0"/>
              <a:t> </a:t>
            </a:r>
            <a:r>
              <a:rPr spc="-15" dirty="0"/>
              <a:t>Approximators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2107489"/>
            <a:ext cx="7868284" cy="252857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3200" spc="-5" dirty="0">
                <a:latin typeface="Segoe UI"/>
                <a:cs typeface="Segoe UI"/>
              </a:rPr>
              <a:t>Theorem </a:t>
            </a:r>
            <a:r>
              <a:rPr sz="3200" dirty="0">
                <a:latin typeface="Segoe UI"/>
                <a:cs typeface="Segoe UI"/>
              </a:rPr>
              <a:t>(Th 9 </a:t>
            </a:r>
            <a:r>
              <a:rPr sz="3200" spc="-5" dirty="0">
                <a:latin typeface="Segoe UI"/>
                <a:cs typeface="Segoe UI"/>
              </a:rPr>
              <a:t>in</a:t>
            </a:r>
            <a:r>
              <a:rPr sz="3200" spc="-5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CIML):</a:t>
            </a:r>
            <a:endParaRPr sz="3200">
              <a:latin typeface="Segoe UI"/>
              <a:cs typeface="Segoe UI"/>
            </a:endParaRPr>
          </a:p>
          <a:p>
            <a:pPr marL="38100" marR="30480">
              <a:lnSpc>
                <a:spcPct val="100600"/>
              </a:lnSpc>
              <a:spcBef>
                <a:spcPts val="580"/>
              </a:spcBef>
            </a:pPr>
            <a:r>
              <a:rPr sz="2400" dirty="0">
                <a:latin typeface="Segoe UI"/>
                <a:cs typeface="Segoe UI"/>
              </a:rPr>
              <a:t>Let F be a </a:t>
            </a:r>
            <a:r>
              <a:rPr sz="2400" spc="-5" dirty="0">
                <a:latin typeface="Segoe UI"/>
                <a:cs typeface="Segoe UI"/>
              </a:rPr>
              <a:t>continuous function </a:t>
            </a:r>
            <a:r>
              <a:rPr sz="2400" dirty="0">
                <a:latin typeface="Segoe UI"/>
                <a:cs typeface="Segoe UI"/>
              </a:rPr>
              <a:t>on a bounded subset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10" dirty="0">
                <a:latin typeface="Segoe UI"/>
                <a:cs typeface="Segoe UI"/>
              </a:rPr>
              <a:t>D-  </a:t>
            </a:r>
            <a:r>
              <a:rPr sz="2400" spc="-5" dirty="0">
                <a:latin typeface="Segoe UI"/>
                <a:cs typeface="Segoe UI"/>
              </a:rPr>
              <a:t>dimensional </a:t>
            </a:r>
            <a:r>
              <a:rPr sz="2400" spc="-10" dirty="0">
                <a:latin typeface="Segoe UI"/>
                <a:cs typeface="Segoe UI"/>
              </a:rPr>
              <a:t>space. </a:t>
            </a:r>
            <a:r>
              <a:rPr sz="2400" dirty="0">
                <a:latin typeface="Segoe UI"/>
                <a:cs typeface="Segoe UI"/>
              </a:rPr>
              <a:t>Then </a:t>
            </a:r>
            <a:r>
              <a:rPr sz="2400" spc="-10" dirty="0">
                <a:latin typeface="Segoe UI"/>
                <a:cs typeface="Segoe UI"/>
              </a:rPr>
              <a:t>there </a:t>
            </a:r>
            <a:r>
              <a:rPr sz="2400" dirty="0">
                <a:latin typeface="Segoe UI"/>
                <a:cs typeface="Segoe UI"/>
              </a:rPr>
              <a:t>exists a </a:t>
            </a:r>
            <a:r>
              <a:rPr sz="2400" spc="-5" dirty="0">
                <a:latin typeface="Segoe UI"/>
                <a:cs typeface="Segoe UI"/>
              </a:rPr>
              <a:t>two-layer </a:t>
            </a:r>
            <a:r>
              <a:rPr sz="2400" dirty="0">
                <a:latin typeface="Segoe UI"/>
                <a:cs typeface="Segoe UI"/>
              </a:rPr>
              <a:t>neural  </a:t>
            </a:r>
            <a:r>
              <a:rPr sz="2400" spc="-5" dirty="0">
                <a:latin typeface="Segoe UI"/>
                <a:cs typeface="Segoe UI"/>
              </a:rPr>
              <a:t>network </a:t>
            </a:r>
            <a:r>
              <a:rPr sz="2400" spc="-1025" dirty="0">
                <a:latin typeface="Cambria Math"/>
                <a:cs typeface="Cambria Math"/>
              </a:rPr>
              <a:t>𝐹</a:t>
            </a:r>
            <a:r>
              <a:rPr sz="3600" spc="1860" baseline="10416" dirty="0">
                <a:latin typeface="Cambria Math"/>
                <a:cs typeface="Cambria Math"/>
              </a:rPr>
              <a:t> </a:t>
            </a:r>
            <a:r>
              <a:rPr sz="2400" dirty="0">
                <a:latin typeface="Segoe UI"/>
                <a:cs typeface="Segoe UI"/>
              </a:rPr>
              <a:t>with a </a:t>
            </a:r>
            <a:r>
              <a:rPr sz="2400" spc="-5" dirty="0">
                <a:latin typeface="Segoe UI"/>
                <a:cs typeface="Segoe UI"/>
              </a:rPr>
              <a:t>finite number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hidden units </a:t>
            </a:r>
            <a:r>
              <a:rPr sz="2400" dirty="0">
                <a:latin typeface="Segoe UI"/>
                <a:cs typeface="Segoe UI"/>
              </a:rPr>
              <a:t>that  </a:t>
            </a:r>
            <a:r>
              <a:rPr sz="2400" spc="-10" dirty="0">
                <a:latin typeface="Segoe UI"/>
                <a:cs typeface="Segoe UI"/>
              </a:rPr>
              <a:t>approximates </a:t>
            </a:r>
            <a:r>
              <a:rPr sz="2400" dirty="0">
                <a:latin typeface="Segoe UI"/>
                <a:cs typeface="Segoe UI"/>
              </a:rPr>
              <a:t>F </a:t>
            </a:r>
            <a:r>
              <a:rPr sz="2400" spc="-5" dirty="0">
                <a:latin typeface="Segoe UI"/>
                <a:cs typeface="Segoe UI"/>
              </a:rPr>
              <a:t>arbitrarily well. </a:t>
            </a:r>
            <a:r>
              <a:rPr sz="2400" spc="-25" dirty="0">
                <a:latin typeface="Segoe UI"/>
                <a:cs typeface="Segoe UI"/>
              </a:rPr>
              <a:t>Namely, </a:t>
            </a:r>
            <a:r>
              <a:rPr sz="2400" dirty="0">
                <a:latin typeface="Segoe UI"/>
                <a:cs typeface="Segoe UI"/>
              </a:rPr>
              <a:t>for all x </a:t>
            </a:r>
            <a:r>
              <a:rPr sz="2400" spc="-5" dirty="0">
                <a:latin typeface="Segoe UI"/>
                <a:cs typeface="Segoe UI"/>
              </a:rPr>
              <a:t>in </a:t>
            </a:r>
            <a:r>
              <a:rPr sz="2400" dirty="0">
                <a:latin typeface="Segoe UI"/>
                <a:cs typeface="Segoe UI"/>
              </a:rPr>
              <a:t>the  domain </a:t>
            </a:r>
            <a:r>
              <a:rPr sz="2400" spc="-30" dirty="0">
                <a:latin typeface="Segoe UI"/>
                <a:cs typeface="Segoe UI"/>
              </a:rPr>
              <a:t>of</a:t>
            </a:r>
            <a:r>
              <a:rPr sz="2400" spc="25" dirty="0">
                <a:latin typeface="Segoe UI"/>
                <a:cs typeface="Segoe UI"/>
              </a:rPr>
              <a:t> </a:t>
            </a:r>
            <a:r>
              <a:rPr sz="2400" spc="-90" dirty="0">
                <a:latin typeface="Segoe UI"/>
                <a:cs typeface="Segoe UI"/>
              </a:rPr>
              <a:t>F,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6271" y="4293086"/>
            <a:ext cx="2004004" cy="3900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2362" y="147955"/>
            <a:ext cx="679958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9770" marR="5080" indent="-68770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 a </a:t>
            </a:r>
            <a:r>
              <a:rPr spc="-5" dirty="0"/>
              <a:t>neural network</a:t>
            </a:r>
            <a:r>
              <a:rPr spc="-90" dirty="0"/>
              <a:t> </a:t>
            </a:r>
            <a:r>
              <a:rPr dirty="0"/>
              <a:t>to  </a:t>
            </a:r>
            <a:r>
              <a:rPr spc="-5" dirty="0"/>
              <a:t>solve </a:t>
            </a:r>
            <a:r>
              <a:rPr dirty="0"/>
              <a:t>the </a:t>
            </a:r>
            <a:r>
              <a:rPr spc="-25" dirty="0"/>
              <a:t>XOR</a:t>
            </a:r>
            <a:r>
              <a:rPr spc="-75" dirty="0"/>
              <a:t> </a:t>
            </a:r>
            <a:r>
              <a:rPr spc="-1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495" y="4001465"/>
            <a:ext cx="25844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b="1" dirty="0">
                <a:solidFill>
                  <a:srgbClr val="008000"/>
                </a:solidFill>
                <a:latin typeface="Times New Roman"/>
                <a:cs typeface="Times New Roman"/>
              </a:rPr>
              <a:t>O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886" y="2695448"/>
            <a:ext cx="156527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9530" algn="l"/>
              </a:tabLst>
            </a:pPr>
            <a:r>
              <a:rPr sz="2350" b="1" dirty="0">
                <a:solidFill>
                  <a:srgbClr val="800000"/>
                </a:solidFill>
                <a:latin typeface="Times New Roman"/>
                <a:cs typeface="Times New Roman"/>
              </a:rPr>
              <a:t>X	</a:t>
            </a:r>
            <a:r>
              <a:rPr sz="2350" b="1" dirty="0">
                <a:solidFill>
                  <a:srgbClr val="008000"/>
                </a:solidFill>
                <a:latin typeface="Times New Roman"/>
                <a:cs typeface="Times New Roman"/>
              </a:rPr>
              <a:t>O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9817" y="4001465"/>
            <a:ext cx="24130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b="1" dirty="0">
                <a:solidFill>
                  <a:srgbClr val="800000"/>
                </a:solidFill>
                <a:latin typeface="Times New Roman"/>
                <a:cs typeface="Times New Roman"/>
              </a:rPr>
              <a:t>X</a:t>
            </a:r>
            <a:endParaRPr sz="23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8573" y="2794825"/>
            <a:ext cx="1668145" cy="1495425"/>
            <a:chOff x="778573" y="2794825"/>
            <a:chExt cx="1668145" cy="1495425"/>
          </a:xfrm>
        </p:grpSpPr>
        <p:sp>
          <p:nvSpPr>
            <p:cNvPr id="7" name="object 7"/>
            <p:cNvSpPr/>
            <p:nvPr/>
          </p:nvSpPr>
          <p:spPr>
            <a:xfrm>
              <a:off x="779526" y="2827782"/>
              <a:ext cx="1629410" cy="1450975"/>
            </a:xfrm>
            <a:custGeom>
              <a:avLst/>
              <a:gdLst/>
              <a:ahLst/>
              <a:cxnLst/>
              <a:rect l="l" t="t" r="r" b="b"/>
              <a:pathLst>
                <a:path w="1629410" h="1450975">
                  <a:moveTo>
                    <a:pt x="800099" y="0"/>
                  </a:moveTo>
                  <a:lnTo>
                    <a:pt x="800099" y="1450847"/>
                  </a:lnTo>
                </a:path>
                <a:path w="1629410" h="1450975">
                  <a:moveTo>
                    <a:pt x="0" y="723900"/>
                  </a:moveTo>
                  <a:lnTo>
                    <a:pt x="1629156" y="723900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08937" y="2795778"/>
              <a:ext cx="1036319" cy="1038225"/>
            </a:xfrm>
            <a:custGeom>
              <a:avLst/>
              <a:gdLst/>
              <a:ahLst/>
              <a:cxnLst/>
              <a:rect l="l" t="t" r="r" b="b"/>
              <a:pathLst>
                <a:path w="1036319" h="1038225">
                  <a:moveTo>
                    <a:pt x="0" y="0"/>
                  </a:moveTo>
                  <a:lnTo>
                    <a:pt x="1036319" y="1037844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3028" y="3068574"/>
              <a:ext cx="213232" cy="2117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0674" y="3252978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19" h="1036320">
                  <a:moveTo>
                    <a:pt x="1036319" y="10363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9644" y="3806316"/>
              <a:ext cx="211734" cy="21170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84073" y="2131568"/>
            <a:ext cx="32778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1950" baseline="-27777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{-1, 1} </a:t>
            </a:r>
            <a:r>
              <a:rPr sz="2000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1950" baseline="-27777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{1,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5777" y="4681854"/>
            <a:ext cx="180848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710689" algn="l"/>
              </a:tabLst>
            </a:pPr>
            <a:r>
              <a:rPr sz="1300" spc="15" dirty="0">
                <a:solidFill>
                  <a:srgbClr val="800080"/>
                </a:solidFill>
                <a:latin typeface="Times New Roman"/>
                <a:cs typeface="Times New Roman"/>
              </a:rPr>
              <a:t>0	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1433" y="4662042"/>
            <a:ext cx="180848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710689" algn="l"/>
              </a:tabLst>
            </a:pPr>
            <a:r>
              <a:rPr sz="1300" spc="15" dirty="0">
                <a:solidFill>
                  <a:srgbClr val="000080"/>
                </a:solidFill>
                <a:latin typeface="Times New Roman"/>
                <a:cs typeface="Times New Roman"/>
              </a:rPr>
              <a:t>3	4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9473" y="4515739"/>
            <a:ext cx="331152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" dirty="0">
                <a:solidFill>
                  <a:srgbClr val="800080"/>
                </a:solidFill>
                <a:latin typeface="Times New Roman"/>
                <a:cs typeface="Times New Roman"/>
              </a:rPr>
              <a:t>φ 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sz="2000" spc="-10" dirty="0">
                <a:solidFill>
                  <a:srgbClr val="000080"/>
                </a:solidFill>
                <a:latin typeface="Times New Roman"/>
                <a:cs typeface="Times New Roman"/>
              </a:rPr>
              <a:t>x </a:t>
            </a:r>
            <a:r>
              <a:rPr sz="2000" spc="-5" dirty="0">
                <a:latin typeface="Times New Roman"/>
                <a:cs typeface="Times New Roman"/>
              </a:rPr>
              <a:t>) = {-1, </a:t>
            </a:r>
            <a:r>
              <a:rPr sz="2000" spc="-10" dirty="0">
                <a:latin typeface="Times New Roman"/>
                <a:cs typeface="Times New Roman"/>
              </a:rPr>
              <a:t>-1} </a:t>
            </a:r>
            <a:r>
              <a:rPr sz="2000" spc="-5" dirty="0">
                <a:solidFill>
                  <a:srgbClr val="800080"/>
                </a:solidFill>
                <a:latin typeface="Times New Roman"/>
                <a:cs typeface="Times New Roman"/>
              </a:rPr>
              <a:t>φ 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sz="2000" spc="-1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lang="en-US" sz="2000" spc="-10" dirty="0">
                <a:solidFill>
                  <a:srgbClr val="000080"/>
                </a:solidFill>
                <a:latin typeface="Times New Roman"/>
                <a:cs typeface="Times New Roman"/>
              </a:rPr>
              <a:t>  </a:t>
            </a:r>
            <a:r>
              <a:rPr sz="2000" spc="-5" dirty="0">
                <a:latin typeface="Times New Roman"/>
                <a:cs typeface="Times New Roman"/>
              </a:rPr>
              <a:t>) = {1,</a:t>
            </a:r>
            <a:r>
              <a:rPr sz="2000" spc="-10" dirty="0">
                <a:latin typeface="Times New Roman"/>
                <a:cs typeface="Times New Roman"/>
              </a:rPr>
              <a:t>-1}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93235" y="5004815"/>
            <a:ext cx="414655" cy="829310"/>
          </a:xfrm>
          <a:prstGeom prst="rect">
            <a:avLst/>
          </a:prstGeom>
          <a:solidFill>
            <a:srgbClr val="E6E6E6"/>
          </a:solidFill>
          <a:ln w="18288">
            <a:solidFill>
              <a:srgbClr val="FF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ts val="1905"/>
              </a:lnSpc>
              <a:spcBef>
                <a:spcPts val="380"/>
              </a:spcBef>
            </a:pPr>
            <a:r>
              <a:rPr sz="1600" spc="15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880"/>
              </a:lnSpc>
            </a:pPr>
            <a:r>
              <a:rPr sz="1600" spc="15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895"/>
              </a:lnSpc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93235" y="5984747"/>
            <a:ext cx="414655" cy="829310"/>
          </a:xfrm>
          <a:prstGeom prst="rect">
            <a:avLst/>
          </a:prstGeom>
          <a:solidFill>
            <a:srgbClr val="E6E6E6"/>
          </a:solidFill>
          <a:ln w="18288">
            <a:solidFill>
              <a:srgbClr val="0000FF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20014">
              <a:lnSpc>
                <a:spcPts val="1900"/>
              </a:lnSpc>
              <a:spcBef>
                <a:spcPts val="380"/>
              </a:spcBef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  <a:p>
            <a:pPr marL="120014">
              <a:lnSpc>
                <a:spcPts val="1880"/>
              </a:lnSpc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  <a:p>
            <a:pPr marL="120014">
              <a:lnSpc>
                <a:spcPts val="1895"/>
              </a:lnSpc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29861" y="6374244"/>
            <a:ext cx="207263" cy="10340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526157" y="3367532"/>
            <a:ext cx="26479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latin typeface="Times New Roman"/>
                <a:cs typeface="Times New Roman"/>
              </a:rPr>
              <a:t>φ</a:t>
            </a:r>
            <a:r>
              <a:rPr sz="1650" baseline="-20202" dirty="0">
                <a:latin typeface="Times New Roman"/>
                <a:cs typeface="Times New Roman"/>
              </a:rPr>
              <a:t>1</a:t>
            </a:r>
            <a:endParaRPr sz="1650" baseline="-20202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71625" y="2583941"/>
            <a:ext cx="14541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15" dirty="0">
                <a:latin typeface="Times New Roman"/>
                <a:cs typeface="Times New Roman"/>
              </a:rPr>
              <a:t>φ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90497" y="2702813"/>
            <a:ext cx="9525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74209" y="6198819"/>
            <a:ext cx="6959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[1]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29861" y="5394325"/>
            <a:ext cx="207263" cy="10337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474209" y="5219191"/>
            <a:ext cx="6959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[0]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03797" y="2827782"/>
            <a:ext cx="1629410" cy="1450975"/>
          </a:xfrm>
          <a:custGeom>
            <a:avLst/>
            <a:gdLst/>
            <a:ahLst/>
            <a:cxnLst/>
            <a:rect l="l" t="t" r="r" b="b"/>
            <a:pathLst>
              <a:path w="1629409" h="1450975">
                <a:moveTo>
                  <a:pt x="800100" y="0"/>
                </a:moveTo>
                <a:lnTo>
                  <a:pt x="800100" y="1450847"/>
                </a:lnTo>
              </a:path>
              <a:path w="1629409" h="1450975">
                <a:moveTo>
                  <a:pt x="0" y="723900"/>
                </a:moveTo>
                <a:lnTo>
                  <a:pt x="1629155" y="72390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751318" y="3367532"/>
            <a:ext cx="50800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600" spc="10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1650" spc="15" baseline="-20202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1600" spc="10" dirty="0">
                <a:solidFill>
                  <a:srgbClr val="660066"/>
                </a:solidFill>
                <a:latin typeface="Times New Roman"/>
                <a:cs typeface="Times New Roman"/>
              </a:rPr>
              <a:t>[0]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71385" y="2453385"/>
            <a:ext cx="50800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600" spc="10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1650" spc="15" baseline="-27777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1600" spc="10" dirty="0">
                <a:solidFill>
                  <a:srgbClr val="660066"/>
                </a:solidFill>
                <a:latin typeface="Times New Roman"/>
                <a:cs typeface="Times New Roman"/>
              </a:rPr>
              <a:t>[1]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54270" y="3939777"/>
            <a:ext cx="1748155" cy="74231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076960">
              <a:lnSpc>
                <a:spcPct val="100000"/>
              </a:lnSpc>
              <a:spcBef>
                <a:spcPts val="334"/>
              </a:spcBef>
            </a:pPr>
            <a:r>
              <a:rPr sz="2350" b="1" dirty="0">
                <a:solidFill>
                  <a:srgbClr val="800000"/>
                </a:solidFill>
                <a:latin typeface="Times New Roman"/>
                <a:cs typeface="Times New Roman"/>
              </a:rPr>
              <a:t>X</a:t>
            </a:r>
            <a:endParaRPr sz="23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sz="2000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1950" baseline="-27777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{-1,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-1}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32675" y="2844545"/>
            <a:ext cx="6433185" cy="1458595"/>
          </a:xfrm>
          <a:custGeom>
            <a:avLst/>
            <a:gdLst/>
            <a:ahLst/>
            <a:cxnLst/>
            <a:rect l="l" t="t" r="r" b="b"/>
            <a:pathLst>
              <a:path w="6433184" h="1458595">
                <a:moveTo>
                  <a:pt x="4773130" y="1346962"/>
                </a:moveTo>
                <a:lnTo>
                  <a:pt x="4762004" y="1342263"/>
                </a:lnTo>
                <a:lnTo>
                  <a:pt x="4681817" y="1308354"/>
                </a:lnTo>
                <a:lnTo>
                  <a:pt x="4678642" y="1307084"/>
                </a:lnTo>
                <a:lnTo>
                  <a:pt x="4674959" y="1308481"/>
                </a:lnTo>
                <a:lnTo>
                  <a:pt x="4673562" y="1311783"/>
                </a:lnTo>
                <a:lnTo>
                  <a:pt x="4672165" y="1314958"/>
                </a:lnTo>
                <a:lnTo>
                  <a:pt x="4673689" y="1318768"/>
                </a:lnTo>
                <a:lnTo>
                  <a:pt x="4676864" y="1320038"/>
                </a:lnTo>
                <a:lnTo>
                  <a:pt x="4736122" y="1345145"/>
                </a:lnTo>
                <a:lnTo>
                  <a:pt x="4537799" y="1367282"/>
                </a:lnTo>
                <a:lnTo>
                  <a:pt x="4234904" y="1395730"/>
                </a:lnTo>
                <a:lnTo>
                  <a:pt x="3952456" y="1417193"/>
                </a:lnTo>
                <a:lnTo>
                  <a:pt x="3745573" y="1429512"/>
                </a:lnTo>
                <a:lnTo>
                  <a:pt x="3528784" y="1439037"/>
                </a:lnTo>
                <a:lnTo>
                  <a:pt x="3306153" y="1444625"/>
                </a:lnTo>
                <a:lnTo>
                  <a:pt x="3081744" y="1445514"/>
                </a:lnTo>
                <a:lnTo>
                  <a:pt x="2970238" y="1443863"/>
                </a:lnTo>
                <a:lnTo>
                  <a:pt x="2859748" y="1440561"/>
                </a:lnTo>
                <a:lnTo>
                  <a:pt x="2750909" y="1435481"/>
                </a:lnTo>
                <a:lnTo>
                  <a:pt x="2644483" y="1428623"/>
                </a:lnTo>
                <a:lnTo>
                  <a:pt x="2540597" y="1419733"/>
                </a:lnTo>
                <a:lnTo>
                  <a:pt x="2439886" y="1408684"/>
                </a:lnTo>
                <a:lnTo>
                  <a:pt x="2342858" y="1395349"/>
                </a:lnTo>
                <a:lnTo>
                  <a:pt x="2250148" y="1379728"/>
                </a:lnTo>
                <a:lnTo>
                  <a:pt x="2162264" y="1361694"/>
                </a:lnTo>
                <a:lnTo>
                  <a:pt x="2079586" y="1340866"/>
                </a:lnTo>
                <a:lnTo>
                  <a:pt x="1998687" y="1316482"/>
                </a:lnTo>
                <a:lnTo>
                  <a:pt x="1916010" y="1287907"/>
                </a:lnTo>
                <a:lnTo>
                  <a:pt x="1831555" y="1255649"/>
                </a:lnTo>
                <a:lnTo>
                  <a:pt x="1745957" y="1219708"/>
                </a:lnTo>
                <a:lnTo>
                  <a:pt x="1659343" y="1180465"/>
                </a:lnTo>
                <a:lnTo>
                  <a:pt x="1571967" y="1138428"/>
                </a:lnTo>
                <a:lnTo>
                  <a:pt x="1484210" y="1093851"/>
                </a:lnTo>
                <a:lnTo>
                  <a:pt x="1396326" y="1047115"/>
                </a:lnTo>
                <a:lnTo>
                  <a:pt x="1308696" y="998347"/>
                </a:lnTo>
                <a:lnTo>
                  <a:pt x="1221447" y="948055"/>
                </a:lnTo>
                <a:lnTo>
                  <a:pt x="1049489" y="843915"/>
                </a:lnTo>
                <a:lnTo>
                  <a:pt x="965542" y="790702"/>
                </a:lnTo>
                <a:lnTo>
                  <a:pt x="882992" y="737235"/>
                </a:lnTo>
                <a:lnTo>
                  <a:pt x="802474" y="683895"/>
                </a:lnTo>
                <a:lnTo>
                  <a:pt x="648296" y="578612"/>
                </a:lnTo>
                <a:lnTo>
                  <a:pt x="575271" y="527304"/>
                </a:lnTo>
                <a:lnTo>
                  <a:pt x="505294" y="477266"/>
                </a:lnTo>
                <a:lnTo>
                  <a:pt x="438746" y="429006"/>
                </a:lnTo>
                <a:lnTo>
                  <a:pt x="316826" y="338709"/>
                </a:lnTo>
                <a:lnTo>
                  <a:pt x="262089" y="297434"/>
                </a:lnTo>
                <a:lnTo>
                  <a:pt x="126263" y="192532"/>
                </a:lnTo>
                <a:lnTo>
                  <a:pt x="62204" y="141732"/>
                </a:lnTo>
                <a:lnTo>
                  <a:pt x="29781" y="115697"/>
                </a:lnTo>
                <a:lnTo>
                  <a:pt x="22123" y="109347"/>
                </a:lnTo>
                <a:lnTo>
                  <a:pt x="9296" y="98933"/>
                </a:lnTo>
                <a:lnTo>
                  <a:pt x="8432" y="98171"/>
                </a:lnTo>
                <a:lnTo>
                  <a:pt x="0" y="107696"/>
                </a:lnTo>
                <a:lnTo>
                  <a:pt x="850" y="108458"/>
                </a:lnTo>
                <a:lnTo>
                  <a:pt x="8077" y="114300"/>
                </a:lnTo>
                <a:lnTo>
                  <a:pt x="21704" y="125476"/>
                </a:lnTo>
                <a:lnTo>
                  <a:pt x="31127" y="132969"/>
                </a:lnTo>
                <a:lnTo>
                  <a:pt x="54241" y="151638"/>
                </a:lnTo>
                <a:lnTo>
                  <a:pt x="118389" y="202438"/>
                </a:lnTo>
                <a:lnTo>
                  <a:pt x="204165" y="269113"/>
                </a:lnTo>
                <a:lnTo>
                  <a:pt x="309206" y="348869"/>
                </a:lnTo>
                <a:lnTo>
                  <a:pt x="431253" y="439293"/>
                </a:lnTo>
                <a:lnTo>
                  <a:pt x="567905" y="537591"/>
                </a:lnTo>
                <a:lnTo>
                  <a:pt x="641057" y="589026"/>
                </a:lnTo>
                <a:lnTo>
                  <a:pt x="717003" y="641350"/>
                </a:lnTo>
                <a:lnTo>
                  <a:pt x="795362" y="694448"/>
                </a:lnTo>
                <a:lnTo>
                  <a:pt x="876007" y="747903"/>
                </a:lnTo>
                <a:lnTo>
                  <a:pt x="958557" y="801370"/>
                </a:lnTo>
                <a:lnTo>
                  <a:pt x="1042758" y="854583"/>
                </a:lnTo>
                <a:lnTo>
                  <a:pt x="1214843" y="958850"/>
                </a:lnTo>
                <a:lnTo>
                  <a:pt x="1302346" y="1009396"/>
                </a:lnTo>
                <a:lnTo>
                  <a:pt x="1390103" y="1058164"/>
                </a:lnTo>
                <a:lnTo>
                  <a:pt x="1478241" y="1105027"/>
                </a:lnTo>
                <a:lnTo>
                  <a:pt x="1566252" y="1149858"/>
                </a:lnTo>
                <a:lnTo>
                  <a:pt x="1653882" y="1192022"/>
                </a:lnTo>
                <a:lnTo>
                  <a:pt x="1740750" y="1231265"/>
                </a:lnTo>
                <a:lnTo>
                  <a:pt x="1826602" y="1267333"/>
                </a:lnTo>
                <a:lnTo>
                  <a:pt x="1911438" y="1299845"/>
                </a:lnTo>
                <a:lnTo>
                  <a:pt x="1994623" y="1328547"/>
                </a:lnTo>
                <a:lnTo>
                  <a:pt x="2076030" y="1353058"/>
                </a:lnTo>
                <a:lnTo>
                  <a:pt x="2159216" y="1373886"/>
                </a:lnTo>
                <a:lnTo>
                  <a:pt x="2247608" y="1392174"/>
                </a:lnTo>
                <a:lnTo>
                  <a:pt x="2340826" y="1407922"/>
                </a:lnTo>
                <a:lnTo>
                  <a:pt x="2438108" y="1421257"/>
                </a:lnTo>
                <a:lnTo>
                  <a:pt x="2539200" y="1432306"/>
                </a:lnTo>
                <a:lnTo>
                  <a:pt x="2643340" y="1441323"/>
                </a:lnTo>
                <a:lnTo>
                  <a:pt x="2750147" y="1448181"/>
                </a:lnTo>
                <a:lnTo>
                  <a:pt x="2859113" y="1453134"/>
                </a:lnTo>
                <a:lnTo>
                  <a:pt x="2969857" y="1456563"/>
                </a:lnTo>
                <a:lnTo>
                  <a:pt x="3081490" y="1458214"/>
                </a:lnTo>
                <a:lnTo>
                  <a:pt x="3306153" y="1457325"/>
                </a:lnTo>
                <a:lnTo>
                  <a:pt x="3529165" y="1451610"/>
                </a:lnTo>
                <a:lnTo>
                  <a:pt x="3675443" y="1445514"/>
                </a:lnTo>
                <a:lnTo>
                  <a:pt x="3953218" y="1429893"/>
                </a:lnTo>
                <a:lnTo>
                  <a:pt x="4235920" y="1408430"/>
                </a:lnTo>
                <a:lnTo>
                  <a:pt x="4506811" y="1383284"/>
                </a:lnTo>
                <a:lnTo>
                  <a:pt x="4649813" y="1368044"/>
                </a:lnTo>
                <a:lnTo>
                  <a:pt x="4738294" y="1357731"/>
                </a:lnTo>
                <a:lnTo>
                  <a:pt x="4686770" y="1397381"/>
                </a:lnTo>
                <a:lnTo>
                  <a:pt x="4684103" y="1399540"/>
                </a:lnTo>
                <a:lnTo>
                  <a:pt x="4683595" y="1403477"/>
                </a:lnTo>
                <a:lnTo>
                  <a:pt x="4685627" y="1406271"/>
                </a:lnTo>
                <a:lnTo>
                  <a:pt x="4687786" y="1409065"/>
                </a:lnTo>
                <a:lnTo>
                  <a:pt x="4691850" y="1409573"/>
                </a:lnTo>
                <a:lnTo>
                  <a:pt x="4694517" y="1407414"/>
                </a:lnTo>
                <a:lnTo>
                  <a:pt x="4773130" y="1346962"/>
                </a:lnTo>
                <a:close/>
              </a:path>
              <a:path w="6433184" h="1458595">
                <a:moveTo>
                  <a:pt x="6432639" y="1347216"/>
                </a:moveTo>
                <a:lnTo>
                  <a:pt x="6360249" y="1274572"/>
                </a:lnTo>
                <a:lnTo>
                  <a:pt x="6356185" y="1274572"/>
                </a:lnTo>
                <a:lnTo>
                  <a:pt x="6351232" y="1279525"/>
                </a:lnTo>
                <a:lnTo>
                  <a:pt x="6351232" y="1283462"/>
                </a:lnTo>
                <a:lnTo>
                  <a:pt x="6399492" y="1331925"/>
                </a:lnTo>
                <a:lnTo>
                  <a:pt x="1377657" y="0"/>
                </a:lnTo>
                <a:lnTo>
                  <a:pt x="1374343" y="12192"/>
                </a:lnTo>
                <a:lnTo>
                  <a:pt x="6396152" y="1344079"/>
                </a:lnTo>
                <a:lnTo>
                  <a:pt x="6330404" y="1362202"/>
                </a:lnTo>
                <a:lnTo>
                  <a:pt x="6328372" y="1365758"/>
                </a:lnTo>
                <a:lnTo>
                  <a:pt x="6329261" y="1369060"/>
                </a:lnTo>
                <a:lnTo>
                  <a:pt x="6330277" y="1372489"/>
                </a:lnTo>
                <a:lnTo>
                  <a:pt x="6333706" y="1374521"/>
                </a:lnTo>
                <a:lnTo>
                  <a:pt x="6337135" y="1373505"/>
                </a:lnTo>
                <a:lnTo>
                  <a:pt x="6422022" y="1350137"/>
                </a:lnTo>
                <a:lnTo>
                  <a:pt x="6432639" y="134721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012178" y="4001465"/>
            <a:ext cx="1664335" cy="680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9584">
              <a:lnSpc>
                <a:spcPts val="2785"/>
              </a:lnSpc>
              <a:spcBef>
                <a:spcPts val="105"/>
              </a:spcBef>
            </a:pPr>
            <a:r>
              <a:rPr sz="2350" b="1" dirty="0">
                <a:solidFill>
                  <a:srgbClr val="008000"/>
                </a:solidFill>
                <a:latin typeface="Times New Roman"/>
                <a:cs typeface="Times New Roman"/>
              </a:rPr>
              <a:t>O</a:t>
            </a:r>
            <a:endParaRPr sz="2350">
              <a:latin typeface="Times New Roman"/>
              <a:cs typeface="Times New Roman"/>
            </a:endParaRPr>
          </a:p>
          <a:p>
            <a:pPr marL="38100">
              <a:lnSpc>
                <a:spcPts val="2365"/>
              </a:lnSpc>
            </a:pPr>
            <a:r>
              <a:rPr sz="2000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1950" baseline="-27777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{1,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-1}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54523" y="2098929"/>
            <a:ext cx="1664335" cy="948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1950" baseline="-27777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{-1,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1}</a:t>
            </a:r>
            <a:endParaRPr sz="2000">
              <a:latin typeface="Times New Roman"/>
              <a:cs typeface="Times New Roman"/>
            </a:endParaRPr>
          </a:p>
          <a:p>
            <a:pPr marL="1076325">
              <a:lnSpc>
                <a:spcPct val="100000"/>
              </a:lnSpc>
              <a:spcBef>
                <a:spcPts val="2050"/>
              </a:spcBef>
            </a:pPr>
            <a:r>
              <a:rPr sz="2350" b="1" dirty="0">
                <a:solidFill>
                  <a:srgbClr val="008000"/>
                </a:solidFill>
                <a:latin typeface="Times New Roman"/>
                <a:cs typeface="Times New Roman"/>
              </a:rPr>
              <a:t>O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42745" y="2920491"/>
            <a:ext cx="4772025" cy="1382395"/>
          </a:xfrm>
          <a:custGeom>
            <a:avLst/>
            <a:gdLst/>
            <a:ahLst/>
            <a:cxnLst/>
            <a:rect l="l" t="t" r="r" b="b"/>
            <a:pathLst>
              <a:path w="4772025" h="1382395">
                <a:moveTo>
                  <a:pt x="4562932" y="1270762"/>
                </a:moveTo>
                <a:lnTo>
                  <a:pt x="4551832" y="1266063"/>
                </a:lnTo>
                <a:lnTo>
                  <a:pt x="4468444" y="1230757"/>
                </a:lnTo>
                <a:lnTo>
                  <a:pt x="4464761" y="1232281"/>
                </a:lnTo>
                <a:lnTo>
                  <a:pt x="4463364" y="1235583"/>
                </a:lnTo>
                <a:lnTo>
                  <a:pt x="4461967" y="1238758"/>
                </a:lnTo>
                <a:lnTo>
                  <a:pt x="4463491" y="1242441"/>
                </a:lnTo>
                <a:lnTo>
                  <a:pt x="4525937" y="1268933"/>
                </a:lnTo>
                <a:lnTo>
                  <a:pt x="4327601" y="1291082"/>
                </a:lnTo>
                <a:lnTo>
                  <a:pt x="4024706" y="1319657"/>
                </a:lnTo>
                <a:lnTo>
                  <a:pt x="3742258" y="1340993"/>
                </a:lnTo>
                <a:lnTo>
                  <a:pt x="3535502" y="1353312"/>
                </a:lnTo>
                <a:lnTo>
                  <a:pt x="3318586" y="1362837"/>
                </a:lnTo>
                <a:lnTo>
                  <a:pt x="3095955" y="1368552"/>
                </a:lnTo>
                <a:lnTo>
                  <a:pt x="2871546" y="1369441"/>
                </a:lnTo>
                <a:lnTo>
                  <a:pt x="2760040" y="1367663"/>
                </a:lnTo>
                <a:lnTo>
                  <a:pt x="2649550" y="1364361"/>
                </a:lnTo>
                <a:lnTo>
                  <a:pt x="2540838" y="1359281"/>
                </a:lnTo>
                <a:lnTo>
                  <a:pt x="2434285" y="1352423"/>
                </a:lnTo>
                <a:lnTo>
                  <a:pt x="2330399" y="1343406"/>
                </a:lnTo>
                <a:lnTo>
                  <a:pt x="2229688" y="1332357"/>
                </a:lnTo>
                <a:lnTo>
                  <a:pt x="2132787" y="1319149"/>
                </a:lnTo>
                <a:lnTo>
                  <a:pt x="2039950" y="1303528"/>
                </a:lnTo>
                <a:lnTo>
                  <a:pt x="1952193" y="1285367"/>
                </a:lnTo>
                <a:lnTo>
                  <a:pt x="1869262" y="1264539"/>
                </a:lnTo>
                <a:lnTo>
                  <a:pt x="1829892" y="1253744"/>
                </a:lnTo>
                <a:lnTo>
                  <a:pt x="1754708" y="1234186"/>
                </a:lnTo>
                <a:lnTo>
                  <a:pt x="1684477" y="1217295"/>
                </a:lnTo>
                <a:lnTo>
                  <a:pt x="1618945" y="1202817"/>
                </a:lnTo>
                <a:lnTo>
                  <a:pt x="1557985" y="1190625"/>
                </a:lnTo>
                <a:lnTo>
                  <a:pt x="1501343" y="1180719"/>
                </a:lnTo>
                <a:lnTo>
                  <a:pt x="1449146" y="1172718"/>
                </a:lnTo>
                <a:lnTo>
                  <a:pt x="1400759" y="1166749"/>
                </a:lnTo>
                <a:lnTo>
                  <a:pt x="1356436" y="1162558"/>
                </a:lnTo>
                <a:lnTo>
                  <a:pt x="1315669" y="1160018"/>
                </a:lnTo>
                <a:lnTo>
                  <a:pt x="1278585" y="1159129"/>
                </a:lnTo>
                <a:lnTo>
                  <a:pt x="1261313" y="1159256"/>
                </a:lnTo>
                <a:lnTo>
                  <a:pt x="1214323" y="1161288"/>
                </a:lnTo>
                <a:lnTo>
                  <a:pt x="1174318" y="1166114"/>
                </a:lnTo>
                <a:lnTo>
                  <a:pt x="1130630" y="1175893"/>
                </a:lnTo>
                <a:lnTo>
                  <a:pt x="1083005" y="1195832"/>
                </a:lnTo>
                <a:lnTo>
                  <a:pt x="1047191" y="1226947"/>
                </a:lnTo>
                <a:lnTo>
                  <a:pt x="1032116" y="1264539"/>
                </a:lnTo>
                <a:lnTo>
                  <a:pt x="1031836" y="1268933"/>
                </a:lnTo>
                <a:lnTo>
                  <a:pt x="1031951" y="1270889"/>
                </a:lnTo>
                <a:lnTo>
                  <a:pt x="1044651" y="1270889"/>
                </a:lnTo>
                <a:lnTo>
                  <a:pt x="1044549" y="1268603"/>
                </a:lnTo>
                <a:lnTo>
                  <a:pt x="1044587" y="1267333"/>
                </a:lnTo>
                <a:lnTo>
                  <a:pt x="1063447" y="1227201"/>
                </a:lnTo>
                <a:lnTo>
                  <a:pt x="1102563" y="1199896"/>
                </a:lnTo>
                <a:lnTo>
                  <a:pt x="1143965" y="1185418"/>
                </a:lnTo>
                <a:lnTo>
                  <a:pt x="1188796" y="1176909"/>
                </a:lnTo>
                <a:lnTo>
                  <a:pt x="1230198" y="1172972"/>
                </a:lnTo>
                <a:lnTo>
                  <a:pt x="1261567" y="1171829"/>
                </a:lnTo>
                <a:lnTo>
                  <a:pt x="1278712" y="1171829"/>
                </a:lnTo>
                <a:lnTo>
                  <a:pt x="1334973" y="1173734"/>
                </a:lnTo>
                <a:lnTo>
                  <a:pt x="1399489" y="1179322"/>
                </a:lnTo>
                <a:lnTo>
                  <a:pt x="1472895" y="1189101"/>
                </a:lnTo>
                <a:lnTo>
                  <a:pt x="1526997" y="1197864"/>
                </a:lnTo>
                <a:lnTo>
                  <a:pt x="1616278" y="1215263"/>
                </a:lnTo>
                <a:lnTo>
                  <a:pt x="1681683" y="1229741"/>
                </a:lnTo>
                <a:lnTo>
                  <a:pt x="1751660" y="1246632"/>
                </a:lnTo>
                <a:lnTo>
                  <a:pt x="1826590" y="1266063"/>
                </a:lnTo>
                <a:lnTo>
                  <a:pt x="1865960" y="1276858"/>
                </a:lnTo>
                <a:lnTo>
                  <a:pt x="1949018" y="1297686"/>
                </a:lnTo>
                <a:lnTo>
                  <a:pt x="2037397" y="1315974"/>
                </a:lnTo>
                <a:lnTo>
                  <a:pt x="2130628" y="1331722"/>
                </a:lnTo>
                <a:lnTo>
                  <a:pt x="2227910" y="1345057"/>
                </a:lnTo>
                <a:lnTo>
                  <a:pt x="2329002" y="1356106"/>
                </a:lnTo>
                <a:lnTo>
                  <a:pt x="2433142" y="1364996"/>
                </a:lnTo>
                <a:lnTo>
                  <a:pt x="2539949" y="1371981"/>
                </a:lnTo>
                <a:lnTo>
                  <a:pt x="2648915" y="1377061"/>
                </a:lnTo>
                <a:lnTo>
                  <a:pt x="2759659" y="1380363"/>
                </a:lnTo>
                <a:lnTo>
                  <a:pt x="2871419" y="1382141"/>
                </a:lnTo>
                <a:lnTo>
                  <a:pt x="3095955" y="1381252"/>
                </a:lnTo>
                <a:lnTo>
                  <a:pt x="3318967" y="1375537"/>
                </a:lnTo>
                <a:lnTo>
                  <a:pt x="3463480" y="1369441"/>
                </a:lnTo>
                <a:lnTo>
                  <a:pt x="3641039" y="1360043"/>
                </a:lnTo>
                <a:lnTo>
                  <a:pt x="3935933" y="1339596"/>
                </a:lnTo>
                <a:lnTo>
                  <a:pt x="4262577" y="1310513"/>
                </a:lnTo>
                <a:lnTo>
                  <a:pt x="4462348" y="1289177"/>
                </a:lnTo>
                <a:lnTo>
                  <a:pt x="4528299" y="1281404"/>
                </a:lnTo>
                <a:lnTo>
                  <a:pt x="4473905" y="1323340"/>
                </a:lnTo>
                <a:lnTo>
                  <a:pt x="4473397" y="1327277"/>
                </a:lnTo>
                <a:lnTo>
                  <a:pt x="4475556" y="1330071"/>
                </a:lnTo>
                <a:lnTo>
                  <a:pt x="4477588" y="1332865"/>
                </a:lnTo>
                <a:lnTo>
                  <a:pt x="4481652" y="1333373"/>
                </a:lnTo>
                <a:lnTo>
                  <a:pt x="4562932" y="1270762"/>
                </a:lnTo>
                <a:close/>
              </a:path>
              <a:path w="4772025" h="1382395">
                <a:moveTo>
                  <a:pt x="4771720" y="27686"/>
                </a:moveTo>
                <a:lnTo>
                  <a:pt x="4760861" y="24638"/>
                </a:lnTo>
                <a:lnTo>
                  <a:pt x="4676343" y="889"/>
                </a:lnTo>
                <a:lnTo>
                  <a:pt x="4672914" y="0"/>
                </a:lnTo>
                <a:lnTo>
                  <a:pt x="4669485" y="2032"/>
                </a:lnTo>
                <a:lnTo>
                  <a:pt x="4668469" y="5334"/>
                </a:lnTo>
                <a:lnTo>
                  <a:pt x="4667580" y="8763"/>
                </a:lnTo>
                <a:lnTo>
                  <a:pt x="4669485" y="12192"/>
                </a:lnTo>
                <a:lnTo>
                  <a:pt x="4672914" y="13208"/>
                </a:lnTo>
                <a:lnTo>
                  <a:pt x="4735131" y="30607"/>
                </a:lnTo>
                <a:lnTo>
                  <a:pt x="0" y="1265174"/>
                </a:lnTo>
                <a:lnTo>
                  <a:pt x="3200" y="1277366"/>
                </a:lnTo>
                <a:lnTo>
                  <a:pt x="4738573" y="42849"/>
                </a:lnTo>
                <a:lnTo>
                  <a:pt x="4692599" y="88646"/>
                </a:lnTo>
                <a:lnTo>
                  <a:pt x="4690059" y="91059"/>
                </a:lnTo>
                <a:lnTo>
                  <a:pt x="4690059" y="95123"/>
                </a:lnTo>
                <a:lnTo>
                  <a:pt x="4695012" y="100076"/>
                </a:lnTo>
                <a:lnTo>
                  <a:pt x="4699076" y="100076"/>
                </a:lnTo>
                <a:lnTo>
                  <a:pt x="4701489" y="97536"/>
                </a:lnTo>
                <a:lnTo>
                  <a:pt x="4771720" y="276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126228" y="4877815"/>
            <a:ext cx="110489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22138" y="4858003"/>
            <a:ext cx="110489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solidFill>
                  <a:srgbClr val="000080"/>
                </a:solidFill>
                <a:latin typeface="Times New Roman"/>
                <a:cs typeface="Times New Roman"/>
              </a:rPr>
              <a:t>4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79923" y="4711700"/>
            <a:ext cx="16973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" dirty="0">
                <a:solidFill>
                  <a:srgbClr val="660066"/>
                </a:solidFill>
                <a:latin typeface="Times New Roman"/>
                <a:cs typeface="Times New Roman"/>
              </a:rPr>
              <a:t>φ 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sz="2000" spc="-10" dirty="0">
                <a:solidFill>
                  <a:srgbClr val="000080"/>
                </a:solidFill>
                <a:latin typeface="Times New Roman"/>
                <a:cs typeface="Times New Roman"/>
              </a:rPr>
              <a:t>x </a:t>
            </a:r>
            <a:r>
              <a:rPr sz="2000" spc="-5" dirty="0">
                <a:latin typeface="Times New Roman"/>
                <a:cs typeface="Times New Roman"/>
              </a:rPr>
              <a:t>) = {-1,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-1}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9114" y="190245"/>
            <a:ext cx="198691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9104" y="932815"/>
            <a:ext cx="8143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SzPct val="44642"/>
              <a:buFont typeface="Arial"/>
              <a:buChar char="●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In new </a:t>
            </a:r>
            <a:r>
              <a:rPr sz="2800" spc="-10" dirty="0">
                <a:latin typeface="Segoe UI"/>
                <a:cs typeface="Segoe UI"/>
              </a:rPr>
              <a:t>space, </a:t>
            </a:r>
            <a:r>
              <a:rPr sz="2800" spc="-5" dirty="0">
                <a:latin typeface="Segoe UI"/>
                <a:cs typeface="Segoe UI"/>
              </a:rPr>
              <a:t>the examples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linearly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separable!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5586" y="2238248"/>
            <a:ext cx="155257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306830" algn="l"/>
              </a:tabLst>
            </a:pPr>
            <a:r>
              <a:rPr sz="2350" b="1" dirty="0">
                <a:solidFill>
                  <a:srgbClr val="800000"/>
                </a:solidFill>
                <a:latin typeface="Times New Roman"/>
                <a:cs typeface="Times New Roman"/>
              </a:rPr>
              <a:t>X	</a:t>
            </a:r>
            <a:r>
              <a:rPr sz="2350" b="1" dirty="0">
                <a:solidFill>
                  <a:srgbClr val="008000"/>
                </a:solidFill>
                <a:latin typeface="Times New Roman"/>
                <a:cs typeface="Times New Roman"/>
              </a:rPr>
              <a:t>O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9526" y="2370582"/>
            <a:ext cx="1629410" cy="1450975"/>
          </a:xfrm>
          <a:custGeom>
            <a:avLst/>
            <a:gdLst/>
            <a:ahLst/>
            <a:cxnLst/>
            <a:rect l="l" t="t" r="r" b="b"/>
            <a:pathLst>
              <a:path w="1629410" h="1450975">
                <a:moveTo>
                  <a:pt x="800099" y="0"/>
                </a:moveTo>
                <a:lnTo>
                  <a:pt x="800099" y="1450847"/>
                </a:lnTo>
              </a:path>
              <a:path w="1629410" h="1450975">
                <a:moveTo>
                  <a:pt x="0" y="723900"/>
                </a:moveTo>
                <a:lnTo>
                  <a:pt x="1629156" y="72390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6773" y="1804797"/>
            <a:ext cx="32651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1950" baseline="-27777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{-1, 1} </a:t>
            </a:r>
            <a:r>
              <a:rPr sz="2000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1950" baseline="-27777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{1,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073" y="3544570"/>
            <a:ext cx="3375025" cy="64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1970">
              <a:lnSpc>
                <a:spcPts val="2655"/>
              </a:lnSpc>
              <a:spcBef>
                <a:spcPts val="100"/>
              </a:spcBef>
              <a:tabLst>
                <a:tab pos="1828164" algn="l"/>
              </a:tabLst>
            </a:pPr>
            <a:r>
              <a:rPr sz="2350" b="1" dirty="0">
                <a:solidFill>
                  <a:srgbClr val="008000"/>
                </a:solidFill>
                <a:latin typeface="Times New Roman"/>
                <a:cs typeface="Times New Roman"/>
              </a:rPr>
              <a:t>O	</a:t>
            </a:r>
            <a:r>
              <a:rPr sz="2350" b="1" dirty="0">
                <a:solidFill>
                  <a:srgbClr val="800000"/>
                </a:solidFill>
                <a:latin typeface="Times New Roman"/>
                <a:cs typeface="Times New Roman"/>
              </a:rPr>
              <a:t>X</a:t>
            </a:r>
            <a:endParaRPr sz="2350">
              <a:latin typeface="Times New Roman"/>
              <a:cs typeface="Times New Roman"/>
            </a:endParaRPr>
          </a:p>
          <a:p>
            <a:pPr marL="38100">
              <a:lnSpc>
                <a:spcPts val="2235"/>
              </a:lnSpc>
            </a:pPr>
            <a:r>
              <a:rPr sz="2000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1950" baseline="-27777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{-1, </a:t>
            </a:r>
            <a:r>
              <a:rPr sz="2000" spc="-10" dirty="0">
                <a:latin typeface="Times New Roman"/>
                <a:cs typeface="Times New Roman"/>
              </a:rPr>
              <a:t>-1} </a:t>
            </a:r>
            <a:r>
              <a:rPr sz="2000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1950" baseline="-27777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4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{1,</a:t>
            </a:r>
            <a:r>
              <a:rPr sz="2000" spc="-3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-1}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0975" y="4613147"/>
            <a:ext cx="416559" cy="829310"/>
          </a:xfrm>
          <a:prstGeom prst="rect">
            <a:avLst/>
          </a:prstGeom>
          <a:solidFill>
            <a:srgbClr val="E6E6E6"/>
          </a:solidFill>
          <a:ln w="18287">
            <a:solidFill>
              <a:srgbClr val="FF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ts val="1900"/>
              </a:lnSpc>
              <a:spcBef>
                <a:spcPts val="380"/>
              </a:spcBef>
            </a:pPr>
            <a:r>
              <a:rPr sz="1600" spc="15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880"/>
              </a:lnSpc>
            </a:pPr>
            <a:r>
              <a:rPr sz="1600" spc="15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895"/>
              </a:lnSpc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975" y="5593079"/>
            <a:ext cx="416559" cy="829310"/>
          </a:xfrm>
          <a:prstGeom prst="rect">
            <a:avLst/>
          </a:prstGeom>
          <a:solidFill>
            <a:srgbClr val="E6E6E6"/>
          </a:solidFill>
          <a:ln w="18287">
            <a:solidFill>
              <a:srgbClr val="0000FF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120650">
              <a:lnSpc>
                <a:spcPts val="1900"/>
              </a:lnSpc>
              <a:spcBef>
                <a:spcPts val="375"/>
              </a:spcBef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  <a:p>
            <a:pPr marL="120650">
              <a:lnSpc>
                <a:spcPts val="1880"/>
              </a:lnSpc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  <a:p>
            <a:pPr marL="120650">
              <a:lnSpc>
                <a:spcPts val="1895"/>
              </a:lnSpc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-1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19721" y="2337625"/>
            <a:ext cx="1626870" cy="1497330"/>
            <a:chOff x="819721" y="2337625"/>
            <a:chExt cx="1626870" cy="1497330"/>
          </a:xfrm>
        </p:grpSpPr>
        <p:sp>
          <p:nvSpPr>
            <p:cNvPr id="11" name="object 11"/>
            <p:cNvSpPr/>
            <p:nvPr/>
          </p:nvSpPr>
          <p:spPr>
            <a:xfrm>
              <a:off x="1408937" y="2338578"/>
              <a:ext cx="1036319" cy="1038225"/>
            </a:xfrm>
            <a:custGeom>
              <a:avLst/>
              <a:gdLst/>
              <a:ahLst/>
              <a:cxnLst/>
              <a:rect l="l" t="t" r="r" b="b"/>
              <a:pathLst>
                <a:path w="1036319" h="1038225">
                  <a:moveTo>
                    <a:pt x="0" y="0"/>
                  </a:moveTo>
                  <a:lnTo>
                    <a:pt x="1036319" y="1037844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3028" y="2611374"/>
              <a:ext cx="213232" cy="2117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20673" y="2795778"/>
              <a:ext cx="1036319" cy="1038225"/>
            </a:xfrm>
            <a:custGeom>
              <a:avLst/>
              <a:gdLst/>
              <a:ahLst/>
              <a:cxnLst/>
              <a:rect l="l" t="t" r="r" b="b"/>
              <a:pathLst>
                <a:path w="1036319" h="1038225">
                  <a:moveTo>
                    <a:pt x="1036319" y="10378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9644" y="3349116"/>
              <a:ext cx="211734" cy="211709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9125" y="5982576"/>
            <a:ext cx="207264" cy="10340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538857" y="2910332"/>
            <a:ext cx="49530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600" spc="10" dirty="0">
                <a:latin typeface="Times New Roman"/>
                <a:cs typeface="Times New Roman"/>
              </a:rPr>
              <a:t>φ</a:t>
            </a:r>
            <a:r>
              <a:rPr sz="1650" spc="15" baseline="-20202" dirty="0">
                <a:latin typeface="Times New Roman"/>
                <a:cs typeface="Times New Roman"/>
              </a:rPr>
              <a:t>0</a:t>
            </a:r>
            <a:r>
              <a:rPr sz="1600" spc="10" dirty="0">
                <a:latin typeface="Times New Roman"/>
                <a:cs typeface="Times New Roman"/>
              </a:rPr>
              <a:t>[0]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58925" y="2126741"/>
            <a:ext cx="49530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600" spc="10" dirty="0">
                <a:latin typeface="Times New Roman"/>
                <a:cs typeface="Times New Roman"/>
              </a:rPr>
              <a:t>φ</a:t>
            </a:r>
            <a:r>
              <a:rPr sz="1650" spc="15" baseline="-20202" dirty="0">
                <a:latin typeface="Times New Roman"/>
                <a:cs typeface="Times New Roman"/>
              </a:rPr>
              <a:t>0</a:t>
            </a:r>
            <a:r>
              <a:rPr sz="1600" spc="10" dirty="0">
                <a:latin typeface="Times New Roman"/>
                <a:cs typeface="Times New Roman"/>
              </a:rPr>
              <a:t>[1]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2839" y="5806846"/>
            <a:ext cx="6959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[1]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9125" y="5002657"/>
            <a:ext cx="207263" cy="10337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632839" y="4827270"/>
            <a:ext cx="6959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[0]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03597" y="4851653"/>
            <a:ext cx="1629410" cy="1452880"/>
          </a:xfrm>
          <a:custGeom>
            <a:avLst/>
            <a:gdLst/>
            <a:ahLst/>
            <a:cxnLst/>
            <a:rect l="l" t="t" r="r" b="b"/>
            <a:pathLst>
              <a:path w="1629410" h="1452879">
                <a:moveTo>
                  <a:pt x="800100" y="0"/>
                </a:moveTo>
                <a:lnTo>
                  <a:pt x="800100" y="1452372"/>
                </a:lnTo>
              </a:path>
              <a:path w="1629410" h="1452879">
                <a:moveTo>
                  <a:pt x="0" y="723900"/>
                </a:moveTo>
                <a:lnTo>
                  <a:pt x="1629155" y="72390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163564" y="5386527"/>
            <a:ext cx="6832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[0]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83885" y="4471873"/>
            <a:ext cx="68326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[1]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15438" y="5786120"/>
            <a:ext cx="2069464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350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{-1, </a:t>
            </a:r>
            <a:r>
              <a:rPr sz="2000" spc="-10" dirty="0">
                <a:latin typeface="Times New Roman"/>
                <a:cs typeface="Times New Roman"/>
              </a:rPr>
              <a:t>-1}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3525" b="1" baseline="-39007" dirty="0">
                <a:solidFill>
                  <a:srgbClr val="800000"/>
                </a:solidFill>
                <a:latin typeface="Times New Roman"/>
                <a:cs typeface="Times New Roman"/>
              </a:rPr>
              <a:t>X</a:t>
            </a:r>
            <a:endParaRPr sz="3525" baseline="-39007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01182" y="6026911"/>
            <a:ext cx="24511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b="1" dirty="0">
                <a:solidFill>
                  <a:srgbClr val="008000"/>
                </a:solidFill>
                <a:latin typeface="Times New Roman"/>
                <a:cs typeface="Times New Roman"/>
              </a:rPr>
              <a:t>O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36690" y="6244539"/>
            <a:ext cx="11303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550" spc="10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47585" y="6239967"/>
            <a:ext cx="9779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solidFill>
                  <a:srgbClr val="000080"/>
                </a:solidFill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64478" y="6047943"/>
            <a:ext cx="164147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660066"/>
                </a:solidFill>
                <a:latin typeface="Times New Roman"/>
                <a:cs typeface="Times New Roman"/>
              </a:rPr>
              <a:t>φ 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sz="2000" spc="-10" dirty="0">
                <a:solidFill>
                  <a:srgbClr val="000080"/>
                </a:solidFill>
                <a:latin typeface="Times New Roman"/>
                <a:cs typeface="Times New Roman"/>
              </a:rPr>
              <a:t>x </a:t>
            </a:r>
            <a:r>
              <a:rPr sz="2000" spc="-5" dirty="0">
                <a:latin typeface="Times New Roman"/>
                <a:cs typeface="Times New Roman"/>
              </a:rPr>
              <a:t>) = {1,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-1}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3863" y="4708652"/>
            <a:ext cx="198755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{-1, 1}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3525" b="1" baseline="3546" dirty="0">
                <a:solidFill>
                  <a:srgbClr val="008000"/>
                </a:solidFill>
                <a:latin typeface="Times New Roman"/>
                <a:cs typeface="Times New Roman"/>
              </a:rPr>
              <a:t>O</a:t>
            </a:r>
            <a:endParaRPr sz="3525" baseline="3546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15692" y="6145784"/>
            <a:ext cx="17780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x</a:t>
            </a:r>
            <a:r>
              <a:rPr sz="1950" baseline="-21367" dirty="0">
                <a:solidFill>
                  <a:srgbClr val="000080"/>
                </a:solidFill>
                <a:latin typeface="Times New Roman"/>
                <a:cs typeface="Times New Roman"/>
              </a:rPr>
              <a:t>4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= {-1,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-1}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8025" y="1802129"/>
            <a:ext cx="3525520" cy="2489200"/>
          </a:xfrm>
          <a:custGeom>
            <a:avLst/>
            <a:gdLst/>
            <a:ahLst/>
            <a:cxnLst/>
            <a:rect l="l" t="t" r="r" b="b"/>
            <a:pathLst>
              <a:path w="3525520" h="2489200">
                <a:moveTo>
                  <a:pt x="0" y="2488692"/>
                </a:moveTo>
                <a:lnTo>
                  <a:pt x="3525012" y="2488692"/>
                </a:lnTo>
                <a:lnTo>
                  <a:pt x="3525012" y="0"/>
                </a:lnTo>
                <a:lnTo>
                  <a:pt x="0" y="0"/>
                </a:lnTo>
                <a:lnTo>
                  <a:pt x="0" y="2488692"/>
                </a:lnTo>
                <a:close/>
              </a:path>
            </a:pathLst>
          </a:custGeom>
          <a:ln w="3175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2074926" y="3733038"/>
            <a:ext cx="6013450" cy="2904490"/>
            <a:chOff x="2074926" y="3733038"/>
            <a:chExt cx="6013450" cy="2904490"/>
          </a:xfrm>
        </p:grpSpPr>
        <p:sp>
          <p:nvSpPr>
            <p:cNvPr id="33" name="object 33"/>
            <p:cNvSpPr/>
            <p:nvPr/>
          </p:nvSpPr>
          <p:spPr>
            <a:xfrm>
              <a:off x="2526030" y="4479798"/>
              <a:ext cx="5561330" cy="2156460"/>
            </a:xfrm>
            <a:custGeom>
              <a:avLst/>
              <a:gdLst/>
              <a:ahLst/>
              <a:cxnLst/>
              <a:rect l="l" t="t" r="r" b="b"/>
              <a:pathLst>
                <a:path w="5561330" h="2156459">
                  <a:moveTo>
                    <a:pt x="0" y="2156460"/>
                  </a:moveTo>
                  <a:lnTo>
                    <a:pt x="5561076" y="2156460"/>
                  </a:lnTo>
                  <a:lnTo>
                    <a:pt x="5561076" y="0"/>
                  </a:lnTo>
                  <a:lnTo>
                    <a:pt x="0" y="0"/>
                  </a:lnTo>
                  <a:lnTo>
                    <a:pt x="0" y="215646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44746" y="5310377"/>
              <a:ext cx="1038225" cy="1038225"/>
            </a:xfrm>
            <a:custGeom>
              <a:avLst/>
              <a:gdLst/>
              <a:ahLst/>
              <a:cxnLst/>
              <a:rect l="l" t="t" r="r" b="b"/>
              <a:pathLst>
                <a:path w="1038225" h="1038225">
                  <a:moveTo>
                    <a:pt x="0" y="0"/>
                  </a:moveTo>
                  <a:lnTo>
                    <a:pt x="1037843" y="1037844"/>
                  </a:lnTo>
                </a:path>
              </a:pathLst>
            </a:custGeom>
            <a:ln w="3175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20361" y="5583173"/>
              <a:ext cx="211709" cy="21175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074926" y="3733037"/>
              <a:ext cx="3316604" cy="1853564"/>
            </a:xfrm>
            <a:custGeom>
              <a:avLst/>
              <a:gdLst/>
              <a:ahLst/>
              <a:cxnLst/>
              <a:rect l="l" t="t" r="r" b="b"/>
              <a:pathLst>
                <a:path w="3316604" h="1853564">
                  <a:moveTo>
                    <a:pt x="414528" y="1801368"/>
                  </a:moveTo>
                  <a:lnTo>
                    <a:pt x="403631" y="1795018"/>
                  </a:lnTo>
                  <a:lnTo>
                    <a:pt x="325882" y="1749679"/>
                  </a:lnTo>
                  <a:lnTo>
                    <a:pt x="322072" y="1750695"/>
                  </a:lnTo>
                  <a:lnTo>
                    <a:pt x="318516" y="1756791"/>
                  </a:lnTo>
                  <a:lnTo>
                    <a:pt x="319532" y="1760601"/>
                  </a:lnTo>
                  <a:lnTo>
                    <a:pt x="378510" y="1795018"/>
                  </a:lnTo>
                  <a:lnTo>
                    <a:pt x="0" y="1795018"/>
                  </a:lnTo>
                  <a:lnTo>
                    <a:pt x="0" y="1807718"/>
                  </a:lnTo>
                  <a:lnTo>
                    <a:pt x="378510" y="1807718"/>
                  </a:lnTo>
                  <a:lnTo>
                    <a:pt x="319532" y="1842135"/>
                  </a:lnTo>
                  <a:lnTo>
                    <a:pt x="318516" y="1845945"/>
                  </a:lnTo>
                  <a:lnTo>
                    <a:pt x="322072" y="1852041"/>
                  </a:lnTo>
                  <a:lnTo>
                    <a:pt x="325882" y="1853057"/>
                  </a:lnTo>
                  <a:lnTo>
                    <a:pt x="403631" y="1807718"/>
                  </a:lnTo>
                  <a:lnTo>
                    <a:pt x="414528" y="1801368"/>
                  </a:lnTo>
                  <a:close/>
                </a:path>
                <a:path w="3316604" h="1853564">
                  <a:moveTo>
                    <a:pt x="3316224" y="0"/>
                  </a:moveTo>
                  <a:lnTo>
                    <a:pt x="3224276" y="36957"/>
                  </a:lnTo>
                  <a:lnTo>
                    <a:pt x="3220974" y="38227"/>
                  </a:lnTo>
                  <a:lnTo>
                    <a:pt x="3219450" y="41910"/>
                  </a:lnTo>
                  <a:lnTo>
                    <a:pt x="3220720" y="45212"/>
                  </a:lnTo>
                  <a:lnTo>
                    <a:pt x="3222117" y="48387"/>
                  </a:lnTo>
                  <a:lnTo>
                    <a:pt x="3225800" y="50038"/>
                  </a:lnTo>
                  <a:lnTo>
                    <a:pt x="3228975" y="48641"/>
                  </a:lnTo>
                  <a:lnTo>
                    <a:pt x="3289020" y="24625"/>
                  </a:lnTo>
                  <a:lnTo>
                    <a:pt x="2736723" y="735203"/>
                  </a:lnTo>
                  <a:lnTo>
                    <a:pt x="2746629" y="743077"/>
                  </a:lnTo>
                  <a:lnTo>
                    <a:pt x="3299142" y="32385"/>
                  </a:lnTo>
                  <a:lnTo>
                    <a:pt x="3290570" y="96520"/>
                  </a:lnTo>
                  <a:lnTo>
                    <a:pt x="3290062" y="99949"/>
                  </a:lnTo>
                  <a:lnTo>
                    <a:pt x="3292475" y="103251"/>
                  </a:lnTo>
                  <a:lnTo>
                    <a:pt x="3296031" y="103632"/>
                  </a:lnTo>
                  <a:lnTo>
                    <a:pt x="3299460" y="104140"/>
                  </a:lnTo>
                  <a:lnTo>
                    <a:pt x="3302635" y="101727"/>
                  </a:lnTo>
                  <a:lnTo>
                    <a:pt x="3303143" y="98171"/>
                  </a:lnTo>
                  <a:lnTo>
                    <a:pt x="3315424" y="5969"/>
                  </a:lnTo>
                  <a:lnTo>
                    <a:pt x="3316224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384291" y="2874264"/>
            <a:ext cx="414655" cy="829310"/>
          </a:xfrm>
          <a:prstGeom prst="rect">
            <a:avLst/>
          </a:prstGeom>
          <a:solidFill>
            <a:srgbClr val="E6E6E6"/>
          </a:solidFill>
          <a:ln w="18288">
            <a:solidFill>
              <a:srgbClr val="FF00FF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270" algn="ctr">
              <a:lnSpc>
                <a:spcPts val="1900"/>
              </a:lnSpc>
              <a:spcBef>
                <a:spcPts val="370"/>
              </a:spcBef>
            </a:pPr>
            <a:r>
              <a:rPr sz="1600" spc="15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905" algn="ctr">
              <a:lnSpc>
                <a:spcPts val="1880"/>
              </a:lnSpc>
            </a:pPr>
            <a:r>
              <a:rPr sz="1600" spc="15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" algn="ctr">
              <a:lnSpc>
                <a:spcPts val="1895"/>
              </a:lnSpc>
            </a:pPr>
            <a:r>
              <a:rPr sz="1600" spc="15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20917" y="3263772"/>
            <a:ext cx="207264" cy="103377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6066409" y="3087369"/>
            <a:ext cx="11658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660066"/>
                </a:solidFill>
                <a:latin typeface="Times New Roman"/>
                <a:cs typeface="Times New Roman"/>
              </a:rPr>
              <a:t>2</a:t>
            </a:r>
            <a:r>
              <a:rPr sz="2350" spc="-5" dirty="0">
                <a:solidFill>
                  <a:srgbClr val="660066"/>
                </a:solidFill>
                <a:latin typeface="Times New Roman"/>
                <a:cs typeface="Times New Roman"/>
              </a:rPr>
              <a:t>[0] </a:t>
            </a:r>
            <a:r>
              <a:rPr sz="2350" dirty="0">
                <a:latin typeface="Times New Roman"/>
                <a:cs typeface="Times New Roman"/>
              </a:rPr>
              <a:t>=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800000"/>
                </a:solidFill>
                <a:latin typeface="Times New Roman"/>
                <a:cs typeface="Times New Roman"/>
              </a:rPr>
              <a:t>y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74459" y="4352925"/>
            <a:ext cx="455295" cy="1038860"/>
          </a:xfrm>
          <a:custGeom>
            <a:avLst/>
            <a:gdLst/>
            <a:ahLst/>
            <a:cxnLst/>
            <a:rect l="l" t="t" r="r" b="b"/>
            <a:pathLst>
              <a:path w="455294" h="1038860">
                <a:moveTo>
                  <a:pt x="353644" y="1018286"/>
                </a:moveTo>
                <a:lnTo>
                  <a:pt x="350596" y="1020953"/>
                </a:lnTo>
                <a:lnTo>
                  <a:pt x="350062" y="1027938"/>
                </a:lnTo>
                <a:lnTo>
                  <a:pt x="352679" y="1030986"/>
                </a:lnTo>
                <a:lnTo>
                  <a:pt x="455002" y="1038733"/>
                </a:lnTo>
                <a:lnTo>
                  <a:pt x="454047" y="1036701"/>
                </a:lnTo>
                <a:lnTo>
                  <a:pt x="440956" y="1036701"/>
                </a:lnTo>
                <a:lnTo>
                  <a:pt x="422225" y="1023523"/>
                </a:lnTo>
                <a:lnTo>
                  <a:pt x="353644" y="1018286"/>
                </a:lnTo>
                <a:close/>
              </a:path>
              <a:path w="455294" h="1038860">
                <a:moveTo>
                  <a:pt x="422225" y="1023523"/>
                </a:moveTo>
                <a:lnTo>
                  <a:pt x="440956" y="1036701"/>
                </a:lnTo>
                <a:lnTo>
                  <a:pt x="442678" y="1034288"/>
                </a:lnTo>
                <a:lnTo>
                  <a:pt x="438873" y="1034288"/>
                </a:lnTo>
                <a:lnTo>
                  <a:pt x="434251" y="1024441"/>
                </a:lnTo>
                <a:lnTo>
                  <a:pt x="422225" y="1023523"/>
                </a:lnTo>
                <a:close/>
              </a:path>
              <a:path w="455294" h="1038860">
                <a:moveTo>
                  <a:pt x="407593" y="944499"/>
                </a:moveTo>
                <a:lnTo>
                  <a:pt x="404418" y="946022"/>
                </a:lnTo>
                <a:lnTo>
                  <a:pt x="401243" y="947419"/>
                </a:lnTo>
                <a:lnTo>
                  <a:pt x="399884" y="951230"/>
                </a:lnTo>
                <a:lnTo>
                  <a:pt x="428609" y="1012421"/>
                </a:lnTo>
                <a:lnTo>
                  <a:pt x="443979" y="1023366"/>
                </a:lnTo>
                <a:lnTo>
                  <a:pt x="448297" y="1026413"/>
                </a:lnTo>
                <a:lnTo>
                  <a:pt x="440956" y="1036701"/>
                </a:lnTo>
                <a:lnTo>
                  <a:pt x="454047" y="1036701"/>
                </a:lnTo>
                <a:lnTo>
                  <a:pt x="411378" y="945896"/>
                </a:lnTo>
                <a:lnTo>
                  <a:pt x="407593" y="944499"/>
                </a:lnTo>
                <a:close/>
              </a:path>
              <a:path w="455294" h="1038860">
                <a:moveTo>
                  <a:pt x="434251" y="1024441"/>
                </a:moveTo>
                <a:lnTo>
                  <a:pt x="438873" y="1034288"/>
                </a:lnTo>
                <a:lnTo>
                  <a:pt x="445109" y="1025271"/>
                </a:lnTo>
                <a:lnTo>
                  <a:pt x="434251" y="1024441"/>
                </a:lnTo>
                <a:close/>
              </a:path>
              <a:path w="455294" h="1038860">
                <a:moveTo>
                  <a:pt x="428609" y="1012421"/>
                </a:moveTo>
                <a:lnTo>
                  <a:pt x="434251" y="1024441"/>
                </a:lnTo>
                <a:lnTo>
                  <a:pt x="445109" y="1025271"/>
                </a:lnTo>
                <a:lnTo>
                  <a:pt x="438873" y="1034288"/>
                </a:lnTo>
                <a:lnTo>
                  <a:pt x="442678" y="1034288"/>
                </a:lnTo>
                <a:lnTo>
                  <a:pt x="448297" y="1026413"/>
                </a:lnTo>
                <a:lnTo>
                  <a:pt x="443979" y="1023366"/>
                </a:lnTo>
                <a:lnTo>
                  <a:pt x="428609" y="1012421"/>
                </a:lnTo>
                <a:close/>
              </a:path>
              <a:path w="455294" h="1038860">
                <a:moveTo>
                  <a:pt x="34328" y="0"/>
                </a:moveTo>
                <a:lnTo>
                  <a:pt x="33985" y="1143"/>
                </a:lnTo>
                <a:lnTo>
                  <a:pt x="33845" y="2667"/>
                </a:lnTo>
                <a:lnTo>
                  <a:pt x="33597" y="3810"/>
                </a:lnTo>
                <a:lnTo>
                  <a:pt x="32765" y="8508"/>
                </a:lnTo>
                <a:lnTo>
                  <a:pt x="32257" y="12064"/>
                </a:lnTo>
                <a:lnTo>
                  <a:pt x="30949" y="20066"/>
                </a:lnTo>
                <a:lnTo>
                  <a:pt x="29324" y="30352"/>
                </a:lnTo>
                <a:lnTo>
                  <a:pt x="25412" y="56387"/>
                </a:lnTo>
                <a:lnTo>
                  <a:pt x="23291" y="72136"/>
                </a:lnTo>
                <a:lnTo>
                  <a:pt x="20916" y="89281"/>
                </a:lnTo>
                <a:lnTo>
                  <a:pt x="16141" y="127888"/>
                </a:lnTo>
                <a:lnTo>
                  <a:pt x="11341" y="172338"/>
                </a:lnTo>
                <a:lnTo>
                  <a:pt x="6984" y="219201"/>
                </a:lnTo>
                <a:lnTo>
                  <a:pt x="2108" y="293116"/>
                </a:lnTo>
                <a:lnTo>
                  <a:pt x="190" y="345058"/>
                </a:lnTo>
                <a:lnTo>
                  <a:pt x="0" y="397129"/>
                </a:lnTo>
                <a:lnTo>
                  <a:pt x="1625" y="448310"/>
                </a:lnTo>
                <a:lnTo>
                  <a:pt x="5460" y="497713"/>
                </a:lnTo>
                <a:lnTo>
                  <a:pt x="12077" y="544449"/>
                </a:lnTo>
                <a:lnTo>
                  <a:pt x="21513" y="587375"/>
                </a:lnTo>
                <a:lnTo>
                  <a:pt x="34404" y="625729"/>
                </a:lnTo>
                <a:lnTo>
                  <a:pt x="52171" y="662305"/>
                </a:lnTo>
                <a:lnTo>
                  <a:pt x="75057" y="698754"/>
                </a:lnTo>
                <a:lnTo>
                  <a:pt x="102196" y="735202"/>
                </a:lnTo>
                <a:lnTo>
                  <a:pt x="132803" y="771525"/>
                </a:lnTo>
                <a:lnTo>
                  <a:pt x="166052" y="807085"/>
                </a:lnTo>
                <a:lnTo>
                  <a:pt x="200964" y="841501"/>
                </a:lnTo>
                <a:lnTo>
                  <a:pt x="236626" y="874522"/>
                </a:lnTo>
                <a:lnTo>
                  <a:pt x="272389" y="905891"/>
                </a:lnTo>
                <a:lnTo>
                  <a:pt x="307098" y="934974"/>
                </a:lnTo>
                <a:lnTo>
                  <a:pt x="355625" y="973709"/>
                </a:lnTo>
                <a:lnTo>
                  <a:pt x="419493" y="1021588"/>
                </a:lnTo>
                <a:lnTo>
                  <a:pt x="434251" y="1024441"/>
                </a:lnTo>
                <a:lnTo>
                  <a:pt x="428609" y="1012421"/>
                </a:lnTo>
                <a:lnTo>
                  <a:pt x="427024" y="1011301"/>
                </a:lnTo>
                <a:lnTo>
                  <a:pt x="391947" y="985393"/>
                </a:lnTo>
                <a:lnTo>
                  <a:pt x="348056" y="951611"/>
                </a:lnTo>
                <a:lnTo>
                  <a:pt x="315201" y="925194"/>
                </a:lnTo>
                <a:lnTo>
                  <a:pt x="280758" y="896366"/>
                </a:lnTo>
                <a:lnTo>
                  <a:pt x="245275" y="865251"/>
                </a:lnTo>
                <a:lnTo>
                  <a:pt x="209880" y="832485"/>
                </a:lnTo>
                <a:lnTo>
                  <a:pt x="175259" y="798322"/>
                </a:lnTo>
                <a:lnTo>
                  <a:pt x="142405" y="763143"/>
                </a:lnTo>
                <a:lnTo>
                  <a:pt x="112242" y="727456"/>
                </a:lnTo>
                <a:lnTo>
                  <a:pt x="85661" y="691769"/>
                </a:lnTo>
                <a:lnTo>
                  <a:pt x="63398" y="656336"/>
                </a:lnTo>
                <a:lnTo>
                  <a:pt x="46304" y="621283"/>
                </a:lnTo>
                <a:lnTo>
                  <a:pt x="33858" y="584326"/>
                </a:lnTo>
                <a:lnTo>
                  <a:pt x="24625" y="542544"/>
                </a:lnTo>
                <a:lnTo>
                  <a:pt x="18097" y="496697"/>
                </a:lnTo>
                <a:lnTo>
                  <a:pt x="14312" y="447801"/>
                </a:lnTo>
                <a:lnTo>
                  <a:pt x="12700" y="397129"/>
                </a:lnTo>
                <a:lnTo>
                  <a:pt x="12890" y="345567"/>
                </a:lnTo>
                <a:lnTo>
                  <a:pt x="14782" y="294005"/>
                </a:lnTo>
                <a:lnTo>
                  <a:pt x="17818" y="243586"/>
                </a:lnTo>
                <a:lnTo>
                  <a:pt x="21943" y="194182"/>
                </a:lnTo>
                <a:lnTo>
                  <a:pt x="26377" y="150368"/>
                </a:lnTo>
                <a:lnTo>
                  <a:pt x="31127" y="109600"/>
                </a:lnTo>
                <a:lnTo>
                  <a:pt x="35890" y="73787"/>
                </a:lnTo>
                <a:lnTo>
                  <a:pt x="37960" y="58293"/>
                </a:lnTo>
                <a:lnTo>
                  <a:pt x="41859" y="32385"/>
                </a:lnTo>
                <a:lnTo>
                  <a:pt x="43472" y="22098"/>
                </a:lnTo>
                <a:lnTo>
                  <a:pt x="44831" y="13843"/>
                </a:lnTo>
                <a:lnTo>
                  <a:pt x="45275" y="10794"/>
                </a:lnTo>
                <a:lnTo>
                  <a:pt x="46394" y="4318"/>
                </a:lnTo>
                <a:lnTo>
                  <a:pt x="46337" y="4049"/>
                </a:lnTo>
                <a:lnTo>
                  <a:pt x="34328" y="0"/>
                </a:lnTo>
                <a:close/>
              </a:path>
              <a:path w="455294" h="1038860">
                <a:moveTo>
                  <a:pt x="46583" y="2920"/>
                </a:moveTo>
                <a:lnTo>
                  <a:pt x="46278" y="4318"/>
                </a:lnTo>
                <a:lnTo>
                  <a:pt x="46511" y="3556"/>
                </a:lnTo>
                <a:lnTo>
                  <a:pt x="46583" y="292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9114" y="483234"/>
            <a:ext cx="198691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9104" y="1681988"/>
            <a:ext cx="25888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SzPct val="45312"/>
              <a:buFont typeface="Arial"/>
              <a:buChar char="●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The final</a:t>
            </a:r>
            <a:r>
              <a:rPr sz="3200" spc="-9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net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1023" y="2784348"/>
            <a:ext cx="567055" cy="829310"/>
          </a:xfrm>
          <a:prstGeom prst="rect">
            <a:avLst/>
          </a:prstGeom>
          <a:solidFill>
            <a:srgbClr val="E6E6E6"/>
          </a:solidFill>
          <a:ln w="18288">
            <a:solidFill>
              <a:srgbClr val="FF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tanh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1023" y="4613147"/>
            <a:ext cx="567055" cy="829310"/>
          </a:xfrm>
          <a:prstGeom prst="rect">
            <a:avLst/>
          </a:prstGeom>
          <a:solidFill>
            <a:srgbClr val="E6E6E6"/>
          </a:solidFill>
          <a:ln w="18288">
            <a:solidFill>
              <a:srgbClr val="0000FF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  <a:spcBef>
                <a:spcPts val="5"/>
              </a:spcBef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tanh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8322" y="2246122"/>
            <a:ext cx="695960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[0]</a:t>
            </a:r>
            <a:endParaRPr sz="23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065"/>
              </a:spcBef>
            </a:pP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[1]</a:t>
            </a:r>
            <a:endParaRPr sz="235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2325"/>
              </a:spcBef>
            </a:pPr>
            <a:r>
              <a:rPr sz="2350" dirty="0">
                <a:solidFill>
                  <a:srgbClr val="80008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4760" y="4205985"/>
            <a:ext cx="6959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[0]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2373" y="5023230"/>
            <a:ext cx="12573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10" dirty="0">
                <a:solidFill>
                  <a:srgbClr val="800080"/>
                </a:solidFill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0160" y="4826635"/>
            <a:ext cx="6451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2350" spc="114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[1]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792" y="5479796"/>
            <a:ext cx="1752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80008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43657" y="2484500"/>
            <a:ext cx="775335" cy="1253490"/>
          </a:xfrm>
          <a:custGeom>
            <a:avLst/>
            <a:gdLst/>
            <a:ahLst/>
            <a:cxnLst/>
            <a:rect l="l" t="t" r="r" b="b"/>
            <a:pathLst>
              <a:path w="775335" h="1253489">
                <a:moveTo>
                  <a:pt x="775081" y="626745"/>
                </a:moveTo>
                <a:lnTo>
                  <a:pt x="773963" y="623824"/>
                </a:lnTo>
                <a:lnTo>
                  <a:pt x="738505" y="530860"/>
                </a:lnTo>
                <a:lnTo>
                  <a:pt x="734949" y="529209"/>
                </a:lnTo>
                <a:lnTo>
                  <a:pt x="728345" y="531749"/>
                </a:lnTo>
                <a:lnTo>
                  <a:pt x="726694" y="535432"/>
                </a:lnTo>
                <a:lnTo>
                  <a:pt x="750963" y="599186"/>
                </a:lnTo>
                <a:lnTo>
                  <a:pt x="7874" y="0"/>
                </a:lnTo>
                <a:lnTo>
                  <a:pt x="0" y="9906"/>
                </a:lnTo>
                <a:lnTo>
                  <a:pt x="738593" y="605485"/>
                </a:lnTo>
                <a:lnTo>
                  <a:pt x="686435" y="575056"/>
                </a:lnTo>
                <a:lnTo>
                  <a:pt x="682625" y="576072"/>
                </a:lnTo>
                <a:lnTo>
                  <a:pt x="679069" y="582168"/>
                </a:lnTo>
                <a:lnTo>
                  <a:pt x="680085" y="585978"/>
                </a:lnTo>
                <a:lnTo>
                  <a:pt x="711352" y="604227"/>
                </a:lnTo>
                <a:lnTo>
                  <a:pt x="675513" y="598805"/>
                </a:lnTo>
                <a:lnTo>
                  <a:pt x="672338" y="601218"/>
                </a:lnTo>
                <a:lnTo>
                  <a:pt x="671322" y="608203"/>
                </a:lnTo>
                <a:lnTo>
                  <a:pt x="673608" y="611378"/>
                </a:lnTo>
                <a:lnTo>
                  <a:pt x="733145" y="620395"/>
                </a:lnTo>
                <a:lnTo>
                  <a:pt x="3937" y="620395"/>
                </a:lnTo>
                <a:lnTo>
                  <a:pt x="3937" y="633095"/>
                </a:lnTo>
                <a:lnTo>
                  <a:pt x="733145" y="633095"/>
                </a:lnTo>
                <a:lnTo>
                  <a:pt x="673608" y="642112"/>
                </a:lnTo>
                <a:lnTo>
                  <a:pt x="671322" y="645287"/>
                </a:lnTo>
                <a:lnTo>
                  <a:pt x="672338" y="652272"/>
                </a:lnTo>
                <a:lnTo>
                  <a:pt x="675513" y="654685"/>
                </a:lnTo>
                <a:lnTo>
                  <a:pt x="711327" y="649287"/>
                </a:lnTo>
                <a:lnTo>
                  <a:pt x="680085" y="667512"/>
                </a:lnTo>
                <a:lnTo>
                  <a:pt x="679069" y="671322"/>
                </a:lnTo>
                <a:lnTo>
                  <a:pt x="682625" y="677418"/>
                </a:lnTo>
                <a:lnTo>
                  <a:pt x="686435" y="678434"/>
                </a:lnTo>
                <a:lnTo>
                  <a:pt x="738657" y="647992"/>
                </a:lnTo>
                <a:lnTo>
                  <a:pt x="0" y="1243584"/>
                </a:lnTo>
                <a:lnTo>
                  <a:pt x="7874" y="1253490"/>
                </a:lnTo>
                <a:lnTo>
                  <a:pt x="750963" y="654316"/>
                </a:lnTo>
                <a:lnTo>
                  <a:pt x="726694" y="718058"/>
                </a:lnTo>
                <a:lnTo>
                  <a:pt x="728345" y="721741"/>
                </a:lnTo>
                <a:lnTo>
                  <a:pt x="734949" y="724281"/>
                </a:lnTo>
                <a:lnTo>
                  <a:pt x="738505" y="722630"/>
                </a:lnTo>
                <a:lnTo>
                  <a:pt x="773963" y="629666"/>
                </a:lnTo>
                <a:lnTo>
                  <a:pt x="775081" y="6267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42133" y="4410836"/>
            <a:ext cx="776605" cy="1253490"/>
          </a:xfrm>
          <a:custGeom>
            <a:avLst/>
            <a:gdLst/>
            <a:ahLst/>
            <a:cxnLst/>
            <a:rect l="l" t="t" r="r" b="b"/>
            <a:pathLst>
              <a:path w="776604" h="1253489">
                <a:moveTo>
                  <a:pt x="776605" y="626745"/>
                </a:moveTo>
                <a:lnTo>
                  <a:pt x="775487" y="623824"/>
                </a:lnTo>
                <a:lnTo>
                  <a:pt x="740029" y="530860"/>
                </a:lnTo>
                <a:lnTo>
                  <a:pt x="736346" y="529336"/>
                </a:lnTo>
                <a:lnTo>
                  <a:pt x="733044" y="530479"/>
                </a:lnTo>
                <a:lnTo>
                  <a:pt x="729742" y="531749"/>
                </a:lnTo>
                <a:lnTo>
                  <a:pt x="728091" y="535432"/>
                </a:lnTo>
                <a:lnTo>
                  <a:pt x="752449" y="599198"/>
                </a:lnTo>
                <a:lnTo>
                  <a:pt x="7874" y="0"/>
                </a:lnTo>
                <a:lnTo>
                  <a:pt x="0" y="9906"/>
                </a:lnTo>
                <a:lnTo>
                  <a:pt x="739902" y="605358"/>
                </a:lnTo>
                <a:lnTo>
                  <a:pt x="687959" y="575056"/>
                </a:lnTo>
                <a:lnTo>
                  <a:pt x="684149" y="576072"/>
                </a:lnTo>
                <a:lnTo>
                  <a:pt x="680593" y="582168"/>
                </a:lnTo>
                <a:lnTo>
                  <a:pt x="681609" y="585978"/>
                </a:lnTo>
                <a:lnTo>
                  <a:pt x="713079" y="604342"/>
                </a:lnTo>
                <a:lnTo>
                  <a:pt x="677037" y="598932"/>
                </a:lnTo>
                <a:lnTo>
                  <a:pt x="673862" y="601345"/>
                </a:lnTo>
                <a:lnTo>
                  <a:pt x="673354" y="604774"/>
                </a:lnTo>
                <a:lnTo>
                  <a:pt x="672719" y="608203"/>
                </a:lnTo>
                <a:lnTo>
                  <a:pt x="675132" y="611505"/>
                </a:lnTo>
                <a:lnTo>
                  <a:pt x="734314" y="620395"/>
                </a:lnTo>
                <a:lnTo>
                  <a:pt x="3937" y="620395"/>
                </a:lnTo>
                <a:lnTo>
                  <a:pt x="3937" y="633095"/>
                </a:lnTo>
                <a:lnTo>
                  <a:pt x="734314" y="633095"/>
                </a:lnTo>
                <a:lnTo>
                  <a:pt x="675132" y="641985"/>
                </a:lnTo>
                <a:lnTo>
                  <a:pt x="672719" y="645287"/>
                </a:lnTo>
                <a:lnTo>
                  <a:pt x="673354" y="648716"/>
                </a:lnTo>
                <a:lnTo>
                  <a:pt x="673862" y="652145"/>
                </a:lnTo>
                <a:lnTo>
                  <a:pt x="677037" y="654558"/>
                </a:lnTo>
                <a:lnTo>
                  <a:pt x="713054" y="649173"/>
                </a:lnTo>
                <a:lnTo>
                  <a:pt x="681609" y="667512"/>
                </a:lnTo>
                <a:lnTo>
                  <a:pt x="680593" y="671322"/>
                </a:lnTo>
                <a:lnTo>
                  <a:pt x="684149" y="677418"/>
                </a:lnTo>
                <a:lnTo>
                  <a:pt x="687959" y="678434"/>
                </a:lnTo>
                <a:lnTo>
                  <a:pt x="739965" y="648106"/>
                </a:lnTo>
                <a:lnTo>
                  <a:pt x="0" y="1243584"/>
                </a:lnTo>
                <a:lnTo>
                  <a:pt x="7874" y="1253490"/>
                </a:lnTo>
                <a:lnTo>
                  <a:pt x="752449" y="654304"/>
                </a:lnTo>
                <a:lnTo>
                  <a:pt x="728091" y="718058"/>
                </a:lnTo>
                <a:lnTo>
                  <a:pt x="729742" y="721741"/>
                </a:lnTo>
                <a:lnTo>
                  <a:pt x="733044" y="723011"/>
                </a:lnTo>
                <a:lnTo>
                  <a:pt x="736346" y="724154"/>
                </a:lnTo>
                <a:lnTo>
                  <a:pt x="740029" y="722630"/>
                </a:lnTo>
                <a:lnTo>
                  <a:pt x="775487" y="629666"/>
                </a:lnTo>
                <a:lnTo>
                  <a:pt x="776605" y="6267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63620" y="2311399"/>
            <a:ext cx="1752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63620" y="2768599"/>
            <a:ext cx="1752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63620" y="3487292"/>
            <a:ext cx="27432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008000"/>
                </a:solidFill>
                <a:latin typeface="Times New Roman"/>
                <a:cs typeface="Times New Roman"/>
              </a:rPr>
              <a:t>-</a:t>
            </a:r>
            <a:r>
              <a:rPr sz="2350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92882" y="4140020"/>
            <a:ext cx="274320" cy="9398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350" spc="-5" dirty="0">
                <a:solidFill>
                  <a:srgbClr val="008000"/>
                </a:solidFill>
                <a:latin typeface="Times New Roman"/>
                <a:cs typeface="Times New Roman"/>
              </a:rPr>
              <a:t>-</a:t>
            </a:r>
            <a:r>
              <a:rPr sz="2350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350" spc="-5" dirty="0">
                <a:solidFill>
                  <a:srgbClr val="008000"/>
                </a:solidFill>
                <a:latin typeface="Times New Roman"/>
                <a:cs typeface="Times New Roman"/>
              </a:rPr>
              <a:t>-</a:t>
            </a:r>
            <a:r>
              <a:rPr sz="2350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93263" y="5381650"/>
            <a:ext cx="27432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008000"/>
                </a:solidFill>
                <a:latin typeface="Times New Roman"/>
                <a:cs typeface="Times New Roman"/>
              </a:rPr>
              <a:t>-</a:t>
            </a:r>
            <a:r>
              <a:rPr sz="2350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50257" y="3142741"/>
            <a:ext cx="602615" cy="2879090"/>
          </a:xfrm>
          <a:custGeom>
            <a:avLst/>
            <a:gdLst/>
            <a:ahLst/>
            <a:cxnLst/>
            <a:rect l="l" t="t" r="r" b="b"/>
            <a:pathLst>
              <a:path w="602614" h="2879090">
                <a:moveTo>
                  <a:pt x="597535" y="1522349"/>
                </a:moveTo>
                <a:lnTo>
                  <a:pt x="597027" y="1518793"/>
                </a:lnTo>
                <a:lnTo>
                  <a:pt x="583476" y="1430274"/>
                </a:lnTo>
                <a:lnTo>
                  <a:pt x="582041" y="1420876"/>
                </a:lnTo>
                <a:lnTo>
                  <a:pt x="486410" y="1446784"/>
                </a:lnTo>
                <a:lnTo>
                  <a:pt x="482981" y="1447800"/>
                </a:lnTo>
                <a:lnTo>
                  <a:pt x="481076" y="1451229"/>
                </a:lnTo>
                <a:lnTo>
                  <a:pt x="481965" y="1454658"/>
                </a:lnTo>
                <a:lnTo>
                  <a:pt x="482854" y="1457960"/>
                </a:lnTo>
                <a:lnTo>
                  <a:pt x="486410" y="1459992"/>
                </a:lnTo>
                <a:lnTo>
                  <a:pt x="552107" y="1442186"/>
                </a:lnTo>
                <a:lnTo>
                  <a:pt x="542620" y="1451825"/>
                </a:lnTo>
                <a:lnTo>
                  <a:pt x="504063" y="1482090"/>
                </a:lnTo>
                <a:lnTo>
                  <a:pt x="501396" y="1484249"/>
                </a:lnTo>
                <a:lnTo>
                  <a:pt x="500888" y="1488186"/>
                </a:lnTo>
                <a:lnTo>
                  <a:pt x="503491" y="1491564"/>
                </a:lnTo>
                <a:lnTo>
                  <a:pt x="94361" y="1907159"/>
                </a:lnTo>
                <a:lnTo>
                  <a:pt x="103505" y="1916049"/>
                </a:lnTo>
                <a:lnTo>
                  <a:pt x="551802" y="1460665"/>
                </a:lnTo>
                <a:lnTo>
                  <a:pt x="560552" y="1453794"/>
                </a:lnTo>
                <a:lnTo>
                  <a:pt x="557657" y="1465224"/>
                </a:lnTo>
                <a:lnTo>
                  <a:pt x="0" y="2873959"/>
                </a:lnTo>
                <a:lnTo>
                  <a:pt x="11811" y="2878632"/>
                </a:lnTo>
                <a:lnTo>
                  <a:pt x="549097" y="1521269"/>
                </a:lnTo>
                <a:lnTo>
                  <a:pt x="553212" y="1522349"/>
                </a:lnTo>
                <a:lnTo>
                  <a:pt x="556768" y="1520317"/>
                </a:lnTo>
                <a:lnTo>
                  <a:pt x="557530" y="1516888"/>
                </a:lnTo>
                <a:lnTo>
                  <a:pt x="569683" y="1469263"/>
                </a:lnTo>
                <a:lnTo>
                  <a:pt x="574649" y="1456715"/>
                </a:lnTo>
                <a:lnTo>
                  <a:pt x="584454" y="1520698"/>
                </a:lnTo>
                <a:lnTo>
                  <a:pt x="584962" y="1524254"/>
                </a:lnTo>
                <a:lnTo>
                  <a:pt x="588137" y="1526540"/>
                </a:lnTo>
                <a:lnTo>
                  <a:pt x="595122" y="1525524"/>
                </a:lnTo>
                <a:lnTo>
                  <a:pt x="597535" y="1522349"/>
                </a:lnTo>
                <a:close/>
              </a:path>
              <a:path w="602614" h="2879090">
                <a:moveTo>
                  <a:pt x="602361" y="1320292"/>
                </a:moveTo>
                <a:lnTo>
                  <a:pt x="600202" y="1316990"/>
                </a:lnTo>
                <a:lnTo>
                  <a:pt x="596773" y="1316228"/>
                </a:lnTo>
                <a:lnTo>
                  <a:pt x="593344" y="1315593"/>
                </a:lnTo>
                <a:lnTo>
                  <a:pt x="589915" y="1317752"/>
                </a:lnTo>
                <a:lnTo>
                  <a:pt x="589280" y="1321308"/>
                </a:lnTo>
                <a:lnTo>
                  <a:pt x="576402" y="1384757"/>
                </a:lnTo>
                <a:lnTo>
                  <a:pt x="104902" y="0"/>
                </a:lnTo>
                <a:lnTo>
                  <a:pt x="92964" y="4064"/>
                </a:lnTo>
                <a:lnTo>
                  <a:pt x="564476" y="1388884"/>
                </a:lnTo>
                <a:lnTo>
                  <a:pt x="515493" y="1346327"/>
                </a:lnTo>
                <a:lnTo>
                  <a:pt x="512826" y="1344041"/>
                </a:lnTo>
                <a:lnTo>
                  <a:pt x="508889" y="1344295"/>
                </a:lnTo>
                <a:lnTo>
                  <a:pt x="504317" y="1349629"/>
                </a:lnTo>
                <a:lnTo>
                  <a:pt x="504571" y="1353693"/>
                </a:lnTo>
                <a:lnTo>
                  <a:pt x="507238" y="1355979"/>
                </a:lnTo>
                <a:lnTo>
                  <a:pt x="582041" y="1420876"/>
                </a:lnTo>
                <a:lnTo>
                  <a:pt x="584047" y="1410970"/>
                </a:lnTo>
                <a:lnTo>
                  <a:pt x="601726" y="1323721"/>
                </a:lnTo>
                <a:lnTo>
                  <a:pt x="602361" y="1320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86096" y="5839459"/>
            <a:ext cx="1752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80008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1823" y="5741314"/>
            <a:ext cx="1752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7882" y="4434585"/>
            <a:ext cx="1752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29327" y="3095624"/>
            <a:ext cx="1752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45252" y="4049267"/>
            <a:ext cx="556260" cy="829310"/>
          </a:xfrm>
          <a:prstGeom prst="rect">
            <a:avLst/>
          </a:prstGeom>
          <a:solidFill>
            <a:srgbClr val="E6E6E6"/>
          </a:solidFill>
          <a:ln w="18288">
            <a:solidFill>
              <a:srgbClr val="FF00FF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100330">
              <a:lnSpc>
                <a:spcPct val="100000"/>
              </a:lnSpc>
              <a:spcBef>
                <a:spcPts val="5"/>
              </a:spcBef>
            </a:pPr>
            <a:r>
              <a:rPr sz="1600" spc="10" dirty="0">
                <a:solidFill>
                  <a:srgbClr val="008000"/>
                </a:solidFill>
                <a:latin typeface="Times New Roman"/>
                <a:cs typeface="Times New Roman"/>
              </a:rPr>
              <a:t>tanh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7326" y="4414392"/>
            <a:ext cx="214884" cy="103377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167885" y="2964942"/>
            <a:ext cx="6959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800080"/>
                </a:solidFill>
                <a:latin typeface="Times New Roman"/>
                <a:cs typeface="Times New Roman"/>
              </a:rPr>
              <a:t>1</a:t>
            </a: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[0]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65752" y="5023484"/>
            <a:ext cx="12573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10" dirty="0">
                <a:solidFill>
                  <a:srgbClr val="800080"/>
                </a:solidFill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93540" y="4826889"/>
            <a:ext cx="6451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2350" spc="114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[1]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67577" y="4271213"/>
            <a:ext cx="69596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φ</a:t>
            </a:r>
            <a:r>
              <a:rPr sz="2325" spc="-7" baseline="-26881" dirty="0">
                <a:solidFill>
                  <a:srgbClr val="800080"/>
                </a:solidFill>
                <a:latin typeface="Times New Roman"/>
                <a:cs typeface="Times New Roman"/>
              </a:rPr>
              <a:t>2</a:t>
            </a:r>
            <a:r>
              <a:rPr sz="2350" spc="-5" dirty="0">
                <a:solidFill>
                  <a:srgbClr val="800080"/>
                </a:solidFill>
                <a:latin typeface="Times New Roman"/>
                <a:cs typeface="Times New Roman"/>
              </a:rPr>
              <a:t>[0]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038" y="483234"/>
            <a:ext cx="24422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6177"/>
            <a:ext cx="7705725" cy="442023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2-layer </a:t>
            </a:r>
            <a:r>
              <a:rPr sz="2800" spc="-10" dirty="0">
                <a:latin typeface="Segoe UI"/>
                <a:cs typeface="Segoe UI"/>
              </a:rPr>
              <a:t>perceptron lets</a:t>
            </a:r>
            <a:r>
              <a:rPr sz="2800" spc="-5" dirty="0">
                <a:latin typeface="Segoe UI"/>
                <a:cs typeface="Segoe UI"/>
              </a:rPr>
              <a:t> us</a:t>
            </a:r>
            <a:endParaRPr sz="2800">
              <a:latin typeface="Segoe UI"/>
              <a:cs typeface="Segoe UI"/>
            </a:endParaRPr>
          </a:p>
          <a:p>
            <a:pPr marL="756285" marR="313690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Discover </a:t>
            </a:r>
            <a:r>
              <a:rPr sz="2400" spc="-15" dirty="0">
                <a:latin typeface="Segoe UI"/>
                <a:cs typeface="Segoe UI"/>
              </a:rPr>
              <a:t>more </a:t>
            </a:r>
            <a:r>
              <a:rPr sz="2400" dirty="0">
                <a:latin typeface="Segoe UI"/>
                <a:cs typeface="Segoe UI"/>
              </a:rPr>
              <a:t>complex </a:t>
            </a:r>
            <a:r>
              <a:rPr sz="2400" spc="-5" dirty="0">
                <a:latin typeface="Segoe UI"/>
                <a:cs typeface="Segoe UI"/>
              </a:rPr>
              <a:t>decision </a:t>
            </a:r>
            <a:r>
              <a:rPr sz="2400" dirty="0">
                <a:latin typeface="Segoe UI"/>
                <a:cs typeface="Segoe UI"/>
              </a:rPr>
              <a:t>boundaries than  </a:t>
            </a:r>
            <a:r>
              <a:rPr sz="2400" spc="-10" dirty="0">
                <a:latin typeface="Segoe UI"/>
                <a:cs typeface="Segoe UI"/>
              </a:rPr>
              <a:t>perceptron</a:t>
            </a:r>
            <a:endParaRPr sz="2400">
              <a:latin typeface="Segoe UI"/>
              <a:cs typeface="Segoe UI"/>
            </a:endParaRPr>
          </a:p>
          <a:p>
            <a:pPr marL="756285" marR="3117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Learn </a:t>
            </a:r>
            <a:r>
              <a:rPr sz="2400" spc="-5" dirty="0">
                <a:latin typeface="Segoe UI"/>
                <a:cs typeface="Segoe UI"/>
              </a:rPr>
              <a:t>combinations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features </a:t>
            </a:r>
            <a:r>
              <a:rPr sz="2400" dirty="0">
                <a:latin typeface="Segoe UI"/>
                <a:cs typeface="Segoe UI"/>
              </a:rPr>
              <a:t>that </a:t>
            </a:r>
            <a:r>
              <a:rPr sz="2400" spc="-10" dirty="0">
                <a:latin typeface="Segoe UI"/>
                <a:cs typeface="Segoe UI"/>
              </a:rPr>
              <a:t>are </a:t>
            </a:r>
            <a:r>
              <a:rPr sz="2400" dirty="0">
                <a:latin typeface="Segoe UI"/>
                <a:cs typeface="Segoe UI"/>
              </a:rPr>
              <a:t>useful for  </a:t>
            </a:r>
            <a:r>
              <a:rPr sz="2400" spc="-5" dirty="0">
                <a:latin typeface="Segoe UI"/>
                <a:cs typeface="Segoe UI"/>
              </a:rPr>
              <a:t>classification</a:t>
            </a:r>
            <a:endParaRPr sz="24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"/>
              <a:buChar char="–"/>
            </a:pPr>
            <a:endParaRPr sz="305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Segoe UI"/>
                <a:cs typeface="Segoe UI"/>
              </a:rPr>
              <a:t>Key </a:t>
            </a:r>
            <a:r>
              <a:rPr sz="2800" spc="-5" dirty="0">
                <a:latin typeface="Segoe UI"/>
                <a:cs typeface="Segoe UI"/>
              </a:rPr>
              <a:t>design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question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How </a:t>
            </a:r>
            <a:r>
              <a:rPr sz="2400" spc="-5" dirty="0">
                <a:latin typeface="Segoe UI"/>
                <a:cs typeface="Segoe UI"/>
              </a:rPr>
              <a:t>many </a:t>
            </a:r>
            <a:r>
              <a:rPr sz="2400" dirty="0">
                <a:latin typeface="Segoe UI"/>
                <a:cs typeface="Segoe UI"/>
              </a:rPr>
              <a:t>hidden</a:t>
            </a:r>
            <a:r>
              <a:rPr sz="2400" spc="2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units?</a:t>
            </a:r>
            <a:endParaRPr sz="24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Segoe UI"/>
                <a:cs typeface="Segoe UI"/>
              </a:rPr>
              <a:t>More </a:t>
            </a:r>
            <a:r>
              <a:rPr sz="2400" spc="-5" dirty="0">
                <a:latin typeface="Segoe UI"/>
                <a:cs typeface="Segoe UI"/>
              </a:rPr>
              <a:t>hidden units </a:t>
            </a:r>
            <a:r>
              <a:rPr sz="2400" dirty="0">
                <a:latin typeface="Segoe UI"/>
                <a:cs typeface="Segoe UI"/>
              </a:rPr>
              <a:t>yield </a:t>
            </a:r>
            <a:r>
              <a:rPr sz="2400" spc="-15" dirty="0">
                <a:latin typeface="Segoe UI"/>
                <a:cs typeface="Segoe UI"/>
              </a:rPr>
              <a:t>more </a:t>
            </a:r>
            <a:r>
              <a:rPr sz="2400" spc="-5" dirty="0">
                <a:latin typeface="Segoe UI"/>
                <a:cs typeface="Segoe UI"/>
              </a:rPr>
              <a:t>complex</a:t>
            </a:r>
            <a:r>
              <a:rPr sz="2400" spc="8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functions</a:t>
            </a:r>
            <a:endParaRPr sz="24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Fewer </a:t>
            </a:r>
            <a:r>
              <a:rPr sz="2400" dirty="0">
                <a:latin typeface="Segoe UI"/>
                <a:cs typeface="Segoe UI"/>
              </a:rPr>
              <a:t>hidden </a:t>
            </a:r>
            <a:r>
              <a:rPr sz="2400" spc="-5" dirty="0">
                <a:latin typeface="Segoe UI"/>
                <a:cs typeface="Segoe UI"/>
              </a:rPr>
              <a:t>units </a:t>
            </a:r>
            <a:r>
              <a:rPr sz="2400" spc="-10" dirty="0">
                <a:latin typeface="Segoe UI"/>
                <a:cs typeface="Segoe UI"/>
              </a:rPr>
              <a:t>requires </a:t>
            </a:r>
            <a:r>
              <a:rPr sz="2400" spc="-5" dirty="0">
                <a:latin typeface="Segoe UI"/>
                <a:cs typeface="Segoe UI"/>
              </a:rPr>
              <a:t>fewer </a:t>
            </a:r>
            <a:r>
              <a:rPr sz="2400" dirty="0">
                <a:latin typeface="Segoe UI"/>
                <a:cs typeface="Segoe UI"/>
              </a:rPr>
              <a:t>examples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train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3142510"/>
            <a:ext cx="7303134" cy="729046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469265" lvl="1">
              <a:lnSpc>
                <a:spcPct val="100000"/>
              </a:lnSpc>
              <a:spcBef>
                <a:spcPts val="675"/>
              </a:spcBef>
              <a:tabLst>
                <a:tab pos="756920" algn="l"/>
              </a:tabLst>
            </a:pPr>
            <a:r>
              <a:rPr lang="en-US" sz="4000" spc="-5" dirty="0">
                <a:latin typeface="Segoe UI"/>
                <a:cs typeface="Segoe UI"/>
              </a:rPr>
              <a:t>T</a:t>
            </a:r>
            <a:r>
              <a:rPr sz="4000" spc="-5" dirty="0">
                <a:latin typeface="Segoe UI"/>
                <a:cs typeface="Segoe UI"/>
              </a:rPr>
              <a:t>rain</a:t>
            </a:r>
            <a:r>
              <a:rPr lang="en-US" sz="4000" spc="-5" dirty="0">
                <a:latin typeface="Segoe UI"/>
                <a:cs typeface="Segoe UI"/>
              </a:rPr>
              <a:t>ing</a:t>
            </a:r>
            <a:r>
              <a:rPr sz="4000" spc="-5" dirty="0">
                <a:latin typeface="Segoe UI"/>
                <a:cs typeface="Segoe UI"/>
              </a:rPr>
              <a:t> </a:t>
            </a:r>
            <a:r>
              <a:rPr lang="en-US" sz="4000" spc="-5" dirty="0">
                <a:latin typeface="Segoe UI"/>
                <a:cs typeface="Segoe UI"/>
              </a:rPr>
              <a:t>N</a:t>
            </a:r>
            <a:r>
              <a:rPr sz="4000" spc="-5" dirty="0">
                <a:latin typeface="Segoe UI"/>
                <a:cs typeface="Segoe UI"/>
              </a:rPr>
              <a:t>eural</a:t>
            </a:r>
            <a:r>
              <a:rPr sz="4000" spc="5" dirty="0">
                <a:latin typeface="Segoe UI"/>
                <a:cs typeface="Segoe UI"/>
              </a:rPr>
              <a:t> </a:t>
            </a:r>
            <a:r>
              <a:rPr lang="en-US" sz="4000" spc="-5" dirty="0">
                <a:latin typeface="Segoe UI"/>
                <a:cs typeface="Segoe UI"/>
              </a:rPr>
              <a:t>N</a:t>
            </a:r>
            <a:r>
              <a:rPr sz="4000" spc="-5" dirty="0">
                <a:latin typeface="Segoe UI"/>
                <a:cs typeface="Segoe UI"/>
              </a:rPr>
              <a:t>etworks</a:t>
            </a:r>
            <a:endParaRPr sz="40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908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c</a:t>
            </a:r>
            <a:r>
              <a:rPr dirty="0">
                <a:latin typeface="Arial"/>
                <a:cs typeface="Arial"/>
              </a:rPr>
              <a:t>ti</a:t>
            </a:r>
            <a:r>
              <a:rPr spc="-10" dirty="0">
                <a:latin typeface="Arial"/>
                <a:cs typeface="Arial"/>
              </a:rPr>
              <a:t>va</a:t>
            </a:r>
            <a:r>
              <a:rPr dirty="0">
                <a:latin typeface="Arial"/>
                <a:cs typeface="Arial"/>
              </a:rPr>
              <a:t>ti</a:t>
            </a:r>
            <a:r>
              <a:rPr spc="-10" dirty="0">
                <a:latin typeface="Arial"/>
                <a:cs typeface="Arial"/>
              </a:rPr>
              <a:t>o</a:t>
            </a:r>
            <a:r>
              <a:rPr dirty="0">
                <a:latin typeface="Arial"/>
                <a:cs typeface="Arial"/>
              </a:rPr>
              <a:t>n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Arial"/>
                <a:cs typeface="Arial"/>
              </a:rPr>
              <a:t>Func</a:t>
            </a:r>
            <a:r>
              <a:rPr dirty="0">
                <a:latin typeface="Arial"/>
                <a:cs typeface="Arial"/>
              </a:rPr>
              <a:t>ti</a:t>
            </a:r>
            <a:r>
              <a:rPr spc="-10" dirty="0">
                <a:latin typeface="Arial"/>
                <a:cs typeface="Arial"/>
              </a:rPr>
              <a:t>on</a:t>
            </a:r>
            <a:r>
              <a:rPr dirty="0">
                <a:latin typeface="Arial"/>
                <a:cs typeface="Arial"/>
              </a:rPr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457980"/>
            <a:ext cx="4945380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C30A29"/>
              </a:buClr>
              <a:buSzPct val="67647"/>
              <a:buFont typeface="Arial"/>
              <a:buChar char="•"/>
              <a:tabLst>
                <a:tab pos="469900" algn="l"/>
              </a:tabLst>
            </a:pPr>
            <a:r>
              <a:rPr sz="3400" spc="-15" dirty="0">
                <a:solidFill>
                  <a:srgbClr val="2A2F30"/>
                </a:solidFill>
                <a:latin typeface="Arial"/>
                <a:cs typeface="Arial"/>
              </a:rPr>
              <a:t>E</a:t>
            </a:r>
            <a:r>
              <a:rPr sz="3400" spc="-5" dirty="0">
                <a:solidFill>
                  <a:srgbClr val="2A2F30"/>
                </a:solidFill>
                <a:latin typeface="Arial"/>
                <a:cs typeface="Arial"/>
              </a:rPr>
              <a:t>x</a:t>
            </a:r>
            <a:r>
              <a:rPr sz="3400" spc="-10" dirty="0">
                <a:solidFill>
                  <a:srgbClr val="2A2F30"/>
                </a:solidFill>
                <a:latin typeface="Arial"/>
                <a:cs typeface="Arial"/>
              </a:rPr>
              <a:t>a</a:t>
            </a:r>
            <a:r>
              <a:rPr sz="3400" spc="-5" dirty="0">
                <a:solidFill>
                  <a:srgbClr val="2A2F30"/>
                </a:solidFill>
                <a:latin typeface="Arial"/>
                <a:cs typeface="Arial"/>
              </a:rPr>
              <a:t>m</a:t>
            </a:r>
            <a:r>
              <a:rPr sz="3400" spc="-10" dirty="0">
                <a:solidFill>
                  <a:srgbClr val="2A2F30"/>
                </a:solidFill>
                <a:latin typeface="Arial"/>
                <a:cs typeface="Arial"/>
              </a:rPr>
              <a:t>ple</a:t>
            </a:r>
            <a:r>
              <a:rPr sz="3400" spc="-5" dirty="0">
                <a:solidFill>
                  <a:srgbClr val="2A2F30"/>
                </a:solidFill>
                <a:latin typeface="Arial"/>
                <a:cs typeface="Arial"/>
              </a:rPr>
              <a:t>s</a:t>
            </a:r>
            <a:r>
              <a:rPr sz="3400" dirty="0">
                <a:solidFill>
                  <a:srgbClr val="2A2F30"/>
                </a:solidFill>
                <a:latin typeface="Arial"/>
                <a:cs typeface="Arial"/>
              </a:rPr>
              <a:t>:</a:t>
            </a:r>
            <a:endParaRPr sz="3400" dirty="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961888" y="1600200"/>
            <a:ext cx="2383536" cy="190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35410" y="3886200"/>
            <a:ext cx="2837794" cy="1828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044148"/>
            <a:ext cx="4492487" cy="123245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472609"/>
            <a:ext cx="5168348" cy="1242391"/>
          </a:xfrm>
          <a:prstGeom prst="rect">
            <a:avLst/>
          </a:prstGeom>
        </p:spPr>
      </p:pic>
      <p:sp>
        <p:nvSpPr>
          <p:cNvPr id="26" name="object 5">
            <a:extLst>
              <a:ext uri="{FF2B5EF4-FFF2-40B4-BE49-F238E27FC236}">
                <a16:creationId xmlns:a16="http://schemas.microsoft.com/office/drawing/2014/main" id="{8ABD9F6A-316B-47F9-B34A-BA125235DEFC}"/>
              </a:ext>
            </a:extLst>
          </p:cNvPr>
          <p:cNvSpPr txBox="1"/>
          <p:nvPr/>
        </p:nvSpPr>
        <p:spPr>
          <a:xfrm>
            <a:off x="383539" y="6477000"/>
            <a:ext cx="510286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[Source: </a:t>
            </a:r>
            <a:r>
              <a:rPr lang="en-US" sz="1200" spc="-10" dirty="0" err="1">
                <a:latin typeface="Calibri"/>
                <a:cs typeface="Calibri"/>
              </a:rPr>
              <a:t>Furong</a:t>
            </a:r>
            <a:r>
              <a:rPr lang="en-US" sz="1200" spc="-10" dirty="0">
                <a:latin typeface="Calibri"/>
                <a:cs typeface="Calibri"/>
              </a:rPr>
              <a:t> Huang, UMD]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7456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39252" y="39374"/>
            <a:ext cx="5610225" cy="1367155"/>
          </a:xfrm>
          <a:prstGeom prst="rect">
            <a:avLst/>
          </a:prstGeom>
        </p:spPr>
        <p:txBody>
          <a:bodyPr vert="horz" wrap="square" lIns="0" tIns="25908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c</a:t>
            </a:r>
            <a:r>
              <a:rPr dirty="0">
                <a:latin typeface="Arial"/>
                <a:cs typeface="Arial"/>
              </a:rPr>
              <a:t>ti</a:t>
            </a:r>
            <a:r>
              <a:rPr spc="-10" dirty="0">
                <a:latin typeface="Arial"/>
                <a:cs typeface="Arial"/>
              </a:rPr>
              <a:t>va</a:t>
            </a:r>
            <a:r>
              <a:rPr dirty="0">
                <a:latin typeface="Arial"/>
                <a:cs typeface="Arial"/>
              </a:rPr>
              <a:t>ti</a:t>
            </a:r>
            <a:r>
              <a:rPr spc="-10" dirty="0">
                <a:latin typeface="Arial"/>
                <a:cs typeface="Arial"/>
              </a:rPr>
              <a:t>o</a:t>
            </a:r>
            <a:r>
              <a:rPr dirty="0">
                <a:latin typeface="Arial"/>
                <a:cs typeface="Arial"/>
              </a:rPr>
              <a:t>n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Arial"/>
                <a:cs typeface="Arial"/>
              </a:rPr>
              <a:t>Func</a:t>
            </a:r>
            <a:r>
              <a:rPr dirty="0">
                <a:latin typeface="Arial"/>
                <a:cs typeface="Arial"/>
              </a:rPr>
              <a:t>ti</a:t>
            </a:r>
            <a:r>
              <a:rPr spc="-10" dirty="0">
                <a:latin typeface="Arial"/>
                <a:cs typeface="Arial"/>
              </a:rPr>
              <a:t>on</a:t>
            </a:r>
            <a:r>
              <a:rPr dirty="0">
                <a:latin typeface="Arial"/>
                <a:cs typeface="Arial"/>
              </a:rPr>
              <a:t>s</a:t>
            </a:r>
          </a:p>
        </p:txBody>
      </p:sp>
      <p:sp>
        <p:nvSpPr>
          <p:cNvPr id="28" name="object 28"/>
          <p:cNvSpPr/>
          <p:nvPr/>
        </p:nvSpPr>
        <p:spPr>
          <a:xfrm>
            <a:off x="2286000" y="3429000"/>
            <a:ext cx="4572000" cy="3020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35" y="1600200"/>
            <a:ext cx="7195930" cy="1222513"/>
          </a:xfrm>
          <a:prstGeom prst="rect">
            <a:avLst/>
          </a:prstGeom>
        </p:spPr>
      </p:pic>
      <p:sp>
        <p:nvSpPr>
          <p:cNvPr id="30" name="object 5">
            <a:extLst>
              <a:ext uri="{FF2B5EF4-FFF2-40B4-BE49-F238E27FC236}">
                <a16:creationId xmlns:a16="http://schemas.microsoft.com/office/drawing/2014/main" id="{8ABD9F6A-316B-47F9-B34A-BA125235DEFC}"/>
              </a:ext>
            </a:extLst>
          </p:cNvPr>
          <p:cNvSpPr txBox="1"/>
          <p:nvPr/>
        </p:nvSpPr>
        <p:spPr>
          <a:xfrm>
            <a:off x="383539" y="6477000"/>
            <a:ext cx="510286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[Source: </a:t>
            </a:r>
            <a:r>
              <a:rPr lang="en-US" sz="1200" spc="-10" dirty="0" err="1">
                <a:latin typeface="Calibri"/>
                <a:cs typeface="Calibri"/>
              </a:rPr>
              <a:t>Furong</a:t>
            </a:r>
            <a:r>
              <a:rPr lang="en-US" sz="1200" spc="-10" dirty="0">
                <a:latin typeface="Calibri"/>
                <a:cs typeface="Calibri"/>
              </a:rPr>
              <a:t> Huang, UMD]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9289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83234"/>
            <a:ext cx="75438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Sigmoid and </a:t>
            </a:r>
            <a:r>
              <a:rPr lang="en-US" dirty="0" err="1"/>
              <a:t>Tanh</a:t>
            </a:r>
            <a:r>
              <a:rPr lang="en-US"/>
              <a:t> comparison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E9C83D-C690-47B8-84EB-CA2AEDCAC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86" y="1828800"/>
            <a:ext cx="7464014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8C8C974-9FCB-4F45-9F22-CF9C9A8AED6E}"/>
              </a:ext>
            </a:extLst>
          </p:cNvPr>
          <p:cNvSpPr txBox="1"/>
          <p:nvPr/>
        </p:nvSpPr>
        <p:spPr>
          <a:xfrm>
            <a:off x="533400" y="304800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Sigmoid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CD01D9-EAC2-4160-8205-27AE9397EC3F}"/>
              </a:ext>
            </a:extLst>
          </p:cNvPr>
          <p:cNvSpPr txBox="1"/>
          <p:nvPr/>
        </p:nvSpPr>
        <p:spPr>
          <a:xfrm>
            <a:off x="685800" y="4800600"/>
            <a:ext cx="63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Tanh</a:t>
            </a:r>
          </a:p>
        </p:txBody>
      </p:sp>
      <p:sp>
        <p:nvSpPr>
          <p:cNvPr id="33" name="object 5">
            <a:extLst>
              <a:ext uri="{FF2B5EF4-FFF2-40B4-BE49-F238E27FC236}">
                <a16:creationId xmlns:a16="http://schemas.microsoft.com/office/drawing/2014/main" id="{8ABD9F6A-316B-47F9-B34A-BA125235DEFC}"/>
              </a:ext>
            </a:extLst>
          </p:cNvPr>
          <p:cNvSpPr txBox="1"/>
          <p:nvPr/>
        </p:nvSpPr>
        <p:spPr>
          <a:xfrm>
            <a:off x="383539" y="6477000"/>
            <a:ext cx="510286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[Source: </a:t>
            </a:r>
            <a:r>
              <a:rPr lang="en-US" sz="1200" spc="-10" dirty="0">
                <a:latin typeface="Calibri"/>
                <a:cs typeface="Calibri"/>
              </a:rPr>
              <a:t>https://sebastianraschka.com/faq/docs/tanh-sigmoid-relationship.html</a:t>
            </a:r>
            <a:r>
              <a:rPr sz="1200" spc="-20" dirty="0">
                <a:latin typeface="Calibri"/>
                <a:cs typeface="Calibri"/>
              </a:rPr>
              <a:t>]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595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130" y="208914"/>
            <a:ext cx="7461250" cy="124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Forward</a:t>
            </a:r>
            <a:r>
              <a:rPr spc="-35" dirty="0"/>
              <a:t> </a:t>
            </a:r>
            <a:r>
              <a:rPr spc="-10" dirty="0"/>
              <a:t>Propagation:</a:t>
            </a: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3600" spc="-5" dirty="0"/>
              <a:t>given input </a:t>
            </a:r>
            <a:r>
              <a:rPr sz="3600" dirty="0"/>
              <a:t>x, compute </a:t>
            </a:r>
            <a:r>
              <a:rPr sz="3600" spc="-5" dirty="0"/>
              <a:t>network</a:t>
            </a:r>
            <a:r>
              <a:rPr sz="3600" spc="-60" dirty="0"/>
              <a:t> </a:t>
            </a:r>
            <a:r>
              <a:rPr sz="3600" spc="-5" dirty="0"/>
              <a:t>output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7" y="2708252"/>
            <a:ext cx="7832239" cy="16379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264" y="483234"/>
            <a:ext cx="56642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Neural </a:t>
            </a:r>
            <a:r>
              <a:rPr dirty="0"/>
              <a:t>Network</a:t>
            </a:r>
            <a:r>
              <a:rPr spc="-50" dirty="0"/>
              <a:t> </a:t>
            </a:r>
            <a:r>
              <a:rPr spc="-80" dirty="0"/>
              <a:t>Training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11809" rIns="0" bIns="0" rtlCol="0">
            <a:spAutoFit/>
          </a:bodyPr>
          <a:lstStyle/>
          <a:p>
            <a:pPr marL="956310" algn="ctr">
              <a:lnSpc>
                <a:spcPct val="100000"/>
              </a:lnSpc>
              <a:spcBef>
                <a:spcPts val="865"/>
              </a:spcBef>
            </a:pPr>
            <a:r>
              <a:rPr spc="-10" dirty="0"/>
              <a:t>Backpropagation</a:t>
            </a:r>
            <a:r>
              <a:rPr spc="-40" dirty="0"/>
              <a:t> </a:t>
            </a:r>
            <a:r>
              <a:rPr dirty="0"/>
              <a:t>algorithm</a:t>
            </a:r>
          </a:p>
          <a:p>
            <a:pPr marL="954405" algn="ctr">
              <a:lnSpc>
                <a:spcPct val="100000"/>
              </a:lnSpc>
              <a:spcBef>
                <a:spcPts val="770"/>
              </a:spcBef>
            </a:pPr>
            <a:r>
              <a:rPr dirty="0"/>
              <a:t>=</a:t>
            </a:r>
          </a:p>
          <a:p>
            <a:pPr marL="951230" algn="ctr">
              <a:lnSpc>
                <a:spcPct val="100000"/>
              </a:lnSpc>
              <a:spcBef>
                <a:spcPts val="765"/>
              </a:spcBef>
            </a:pPr>
            <a:r>
              <a:rPr spc="-5" dirty="0"/>
              <a:t>Gradient </a:t>
            </a:r>
            <a:r>
              <a:rPr dirty="0"/>
              <a:t>descent + </a:t>
            </a:r>
            <a:r>
              <a:rPr spc="-5" dirty="0"/>
              <a:t>Chain</a:t>
            </a:r>
            <a:r>
              <a:rPr spc="-65" dirty="0"/>
              <a:t> </a:t>
            </a:r>
            <a:r>
              <a:rPr spc="-5" dirty="0"/>
              <a:t>rule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822" y="483234"/>
            <a:ext cx="70567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What’s </a:t>
            </a:r>
            <a:r>
              <a:rPr dirty="0"/>
              <a:t>our </a:t>
            </a:r>
            <a:r>
              <a:rPr spc="-80" dirty="0"/>
              <a:t>Training</a:t>
            </a:r>
            <a:r>
              <a:rPr spc="-30" dirty="0"/>
              <a:t> </a:t>
            </a:r>
            <a:r>
              <a:rPr spc="-5" dirty="0"/>
              <a:t>Objective?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0751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Segoe UI"/>
                <a:cs typeface="Segoe UI"/>
              </a:rPr>
              <a:t>We’ll </a:t>
            </a:r>
            <a:r>
              <a:rPr sz="3200" dirty="0">
                <a:latin typeface="Segoe UI"/>
                <a:cs typeface="Segoe UI"/>
              </a:rPr>
              <a:t>consider the following</a:t>
            </a:r>
            <a:r>
              <a:rPr sz="3200" spc="-4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objective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953636"/>
            <a:ext cx="758190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6285" marR="143510" indent="-28702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5" dirty="0">
                <a:latin typeface="Segoe UI"/>
                <a:cs typeface="Segoe UI"/>
              </a:rPr>
              <a:t>i.e. our </a:t>
            </a:r>
            <a:r>
              <a:rPr sz="2800" spc="-15" dirty="0">
                <a:latin typeface="Segoe UI"/>
                <a:cs typeface="Segoe UI"/>
              </a:rPr>
              <a:t>goal </a:t>
            </a:r>
            <a:r>
              <a:rPr sz="2800" spc="-5" dirty="0">
                <a:latin typeface="Segoe UI"/>
                <a:cs typeface="Segoe UI"/>
              </a:rPr>
              <a:t>is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find </a:t>
            </a:r>
            <a:r>
              <a:rPr sz="2800" spc="-10" dirty="0">
                <a:latin typeface="Segoe UI"/>
                <a:cs typeface="Segoe UI"/>
              </a:rPr>
              <a:t>parameters </a:t>
            </a:r>
            <a:r>
              <a:rPr sz="2800" b="1" spc="-5" dirty="0">
                <a:latin typeface="Segoe UI"/>
                <a:cs typeface="Segoe UI"/>
              </a:rPr>
              <a:t>W</a:t>
            </a:r>
            <a:r>
              <a:rPr sz="2800" spc="-5" dirty="0">
                <a:latin typeface="Segoe UI"/>
                <a:cs typeface="Segoe UI"/>
              </a:rPr>
              <a:t>, v that  </a:t>
            </a:r>
            <a:r>
              <a:rPr sz="2800" spc="-10" dirty="0">
                <a:latin typeface="Segoe UI"/>
                <a:cs typeface="Segoe UI"/>
              </a:rPr>
              <a:t>minimize squared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error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Other objectives </a:t>
            </a:r>
            <a:r>
              <a:rPr sz="3200" spc="-10" dirty="0">
                <a:latin typeface="Segoe UI"/>
                <a:cs typeface="Segoe UI"/>
              </a:rPr>
              <a:t>are </a:t>
            </a:r>
            <a:r>
              <a:rPr sz="3200" dirty="0">
                <a:latin typeface="Segoe UI"/>
                <a:cs typeface="Segoe UI"/>
              </a:rPr>
              <a:t>possible (e.g., other  </a:t>
            </a:r>
            <a:r>
              <a:rPr sz="3200" spc="-5" dirty="0">
                <a:latin typeface="Segoe UI"/>
                <a:cs typeface="Segoe UI"/>
              </a:rPr>
              <a:t>loss </a:t>
            </a:r>
            <a:r>
              <a:rPr sz="3200" dirty="0">
                <a:latin typeface="Segoe UI"/>
                <a:cs typeface="Segoe UI"/>
              </a:rPr>
              <a:t>functions, add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regularizer)</a:t>
            </a:r>
            <a:endParaRPr sz="3200">
              <a:latin typeface="Segoe UI"/>
              <a:cs typeface="Segoe U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8B22C7-DA59-42A9-A2BB-FC2FB04ED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1" y="2256183"/>
            <a:ext cx="5963478" cy="14014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0254" y="483234"/>
            <a:ext cx="70034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Backprop </a:t>
            </a:r>
            <a:r>
              <a:rPr spc="-5" dirty="0"/>
              <a:t>in </a:t>
            </a:r>
            <a:r>
              <a:rPr dirty="0"/>
              <a:t>a </a:t>
            </a:r>
            <a:r>
              <a:rPr spc="-5" dirty="0"/>
              <a:t>2-layer</a:t>
            </a:r>
            <a:r>
              <a:rPr spc="-125" dirty="0"/>
              <a:t> </a:t>
            </a:r>
            <a:r>
              <a:rPr spc="-5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85197" y="1531724"/>
            <a:ext cx="5580380" cy="4681855"/>
            <a:chOff x="1585197" y="1531724"/>
            <a:chExt cx="5580380" cy="4681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197" y="1531724"/>
              <a:ext cx="5421777" cy="46814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08810" y="2853690"/>
              <a:ext cx="5256530" cy="2447925"/>
            </a:xfrm>
            <a:custGeom>
              <a:avLst/>
              <a:gdLst/>
              <a:ahLst/>
              <a:cxnLst/>
              <a:rect l="l" t="t" r="r" b="b"/>
              <a:pathLst>
                <a:path w="5256530" h="2447925">
                  <a:moveTo>
                    <a:pt x="5256276" y="0"/>
                  </a:moveTo>
                  <a:lnTo>
                    <a:pt x="0" y="0"/>
                  </a:lnTo>
                  <a:lnTo>
                    <a:pt x="0" y="2447544"/>
                  </a:lnTo>
                  <a:lnTo>
                    <a:pt x="5256276" y="2447544"/>
                  </a:lnTo>
                  <a:lnTo>
                    <a:pt x="52562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08810" y="2853689"/>
            <a:ext cx="5256530" cy="2447925"/>
          </a:xfrm>
          <a:prstGeom prst="rect">
            <a:avLst/>
          </a:prstGeom>
          <a:ln w="25907">
            <a:solidFill>
              <a:srgbClr val="4E854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Compute Gradient </a:t>
            </a:r>
            <a:r>
              <a:rPr sz="1800" dirty="0">
                <a:latin typeface="Calibri"/>
                <a:cs typeface="Calibri"/>
              </a:rPr>
              <a:t>G and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4690" marR="5080" indent="-65722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Recall: gradient descent  </a:t>
            </a:r>
            <a:r>
              <a:rPr dirty="0"/>
              <a:t>for </a:t>
            </a:r>
            <a:r>
              <a:rPr spc="-5" dirty="0"/>
              <a:t>linear</a:t>
            </a:r>
            <a:r>
              <a:rPr spc="-60" dirty="0"/>
              <a:t> </a:t>
            </a:r>
            <a:r>
              <a:rPr dirty="0"/>
              <a:t>classifiers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3511" y="1616900"/>
            <a:ext cx="7832725" cy="3366770"/>
            <a:chOff x="603511" y="1616900"/>
            <a:chExt cx="7832725" cy="33667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11" y="2738874"/>
              <a:ext cx="7832239" cy="22443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73074" y="1629918"/>
              <a:ext cx="3612515" cy="1102995"/>
            </a:xfrm>
            <a:custGeom>
              <a:avLst/>
              <a:gdLst/>
              <a:ahLst/>
              <a:cxnLst/>
              <a:rect l="l" t="t" r="r" b="b"/>
              <a:pathLst>
                <a:path w="3612515" h="1102995">
                  <a:moveTo>
                    <a:pt x="1979930" y="693420"/>
                  </a:moveTo>
                  <a:lnTo>
                    <a:pt x="1385951" y="693420"/>
                  </a:lnTo>
                  <a:lnTo>
                    <a:pt x="3612134" y="1102741"/>
                  </a:lnTo>
                  <a:lnTo>
                    <a:pt x="1979930" y="693420"/>
                  </a:lnTo>
                  <a:close/>
                </a:path>
                <a:path w="3612515" h="1102995">
                  <a:moveTo>
                    <a:pt x="2260346" y="0"/>
                  </a:moveTo>
                  <a:lnTo>
                    <a:pt x="115569" y="0"/>
                  </a:lnTo>
                  <a:lnTo>
                    <a:pt x="70583" y="9074"/>
                  </a:lnTo>
                  <a:lnTo>
                    <a:pt x="33848" y="33829"/>
                  </a:lnTo>
                  <a:lnTo>
                    <a:pt x="9081" y="70562"/>
                  </a:lnTo>
                  <a:lnTo>
                    <a:pt x="0" y="115570"/>
                  </a:lnTo>
                  <a:lnTo>
                    <a:pt x="0" y="577850"/>
                  </a:lnTo>
                  <a:lnTo>
                    <a:pt x="9081" y="622857"/>
                  </a:lnTo>
                  <a:lnTo>
                    <a:pt x="33848" y="659590"/>
                  </a:lnTo>
                  <a:lnTo>
                    <a:pt x="70583" y="684345"/>
                  </a:lnTo>
                  <a:lnTo>
                    <a:pt x="115569" y="693420"/>
                  </a:lnTo>
                  <a:lnTo>
                    <a:pt x="2260346" y="693420"/>
                  </a:lnTo>
                  <a:lnTo>
                    <a:pt x="2305353" y="684345"/>
                  </a:lnTo>
                  <a:lnTo>
                    <a:pt x="2342086" y="659590"/>
                  </a:lnTo>
                  <a:lnTo>
                    <a:pt x="2366841" y="622857"/>
                  </a:lnTo>
                  <a:lnTo>
                    <a:pt x="2375916" y="577850"/>
                  </a:lnTo>
                  <a:lnTo>
                    <a:pt x="2375916" y="115570"/>
                  </a:lnTo>
                  <a:lnTo>
                    <a:pt x="2366841" y="70562"/>
                  </a:lnTo>
                  <a:lnTo>
                    <a:pt x="2342086" y="33829"/>
                  </a:lnTo>
                  <a:lnTo>
                    <a:pt x="2305353" y="9074"/>
                  </a:lnTo>
                  <a:lnTo>
                    <a:pt x="2260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3074" y="1629918"/>
              <a:ext cx="3612515" cy="1102995"/>
            </a:xfrm>
            <a:custGeom>
              <a:avLst/>
              <a:gdLst/>
              <a:ahLst/>
              <a:cxnLst/>
              <a:rect l="l" t="t" r="r" b="b"/>
              <a:pathLst>
                <a:path w="3612515" h="1102995">
                  <a:moveTo>
                    <a:pt x="0" y="115570"/>
                  </a:moveTo>
                  <a:lnTo>
                    <a:pt x="9081" y="70562"/>
                  </a:lnTo>
                  <a:lnTo>
                    <a:pt x="33848" y="33829"/>
                  </a:lnTo>
                  <a:lnTo>
                    <a:pt x="70583" y="9074"/>
                  </a:lnTo>
                  <a:lnTo>
                    <a:pt x="115569" y="0"/>
                  </a:lnTo>
                  <a:lnTo>
                    <a:pt x="1385951" y="0"/>
                  </a:lnTo>
                  <a:lnTo>
                    <a:pt x="1979930" y="0"/>
                  </a:lnTo>
                  <a:lnTo>
                    <a:pt x="2260346" y="0"/>
                  </a:lnTo>
                  <a:lnTo>
                    <a:pt x="2305353" y="9074"/>
                  </a:lnTo>
                  <a:lnTo>
                    <a:pt x="2342086" y="33829"/>
                  </a:lnTo>
                  <a:lnTo>
                    <a:pt x="2366841" y="70562"/>
                  </a:lnTo>
                  <a:lnTo>
                    <a:pt x="2375916" y="115570"/>
                  </a:lnTo>
                  <a:lnTo>
                    <a:pt x="2375916" y="404495"/>
                  </a:lnTo>
                  <a:lnTo>
                    <a:pt x="2375916" y="577850"/>
                  </a:lnTo>
                  <a:lnTo>
                    <a:pt x="2366841" y="622857"/>
                  </a:lnTo>
                  <a:lnTo>
                    <a:pt x="2342086" y="659590"/>
                  </a:lnTo>
                  <a:lnTo>
                    <a:pt x="2305353" y="684345"/>
                  </a:lnTo>
                  <a:lnTo>
                    <a:pt x="2260346" y="693420"/>
                  </a:lnTo>
                  <a:lnTo>
                    <a:pt x="1979930" y="693420"/>
                  </a:lnTo>
                  <a:lnTo>
                    <a:pt x="3612134" y="1102741"/>
                  </a:lnTo>
                  <a:lnTo>
                    <a:pt x="1385951" y="693420"/>
                  </a:lnTo>
                  <a:lnTo>
                    <a:pt x="115569" y="693420"/>
                  </a:lnTo>
                  <a:lnTo>
                    <a:pt x="70583" y="684345"/>
                  </a:lnTo>
                  <a:lnTo>
                    <a:pt x="33848" y="659590"/>
                  </a:lnTo>
                  <a:lnTo>
                    <a:pt x="9081" y="622857"/>
                  </a:lnTo>
                  <a:lnTo>
                    <a:pt x="0" y="577850"/>
                  </a:lnTo>
                  <a:lnTo>
                    <a:pt x="0" y="404495"/>
                  </a:lnTo>
                  <a:lnTo>
                    <a:pt x="0" y="115570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93367" y="1673478"/>
            <a:ext cx="17329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Objective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2739" y="1947798"/>
            <a:ext cx="1113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minimize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71708" y="1715960"/>
            <a:ext cx="1898014" cy="1074420"/>
            <a:chOff x="4271708" y="1715960"/>
            <a:chExt cx="1898014" cy="1074420"/>
          </a:xfrm>
        </p:grpSpPr>
        <p:sp>
          <p:nvSpPr>
            <p:cNvPr id="10" name="object 10"/>
            <p:cNvSpPr/>
            <p:nvPr/>
          </p:nvSpPr>
          <p:spPr>
            <a:xfrm>
              <a:off x="4284726" y="1728978"/>
              <a:ext cx="1871980" cy="1048385"/>
            </a:xfrm>
            <a:custGeom>
              <a:avLst/>
              <a:gdLst/>
              <a:ahLst/>
              <a:cxnLst/>
              <a:rect l="l" t="t" r="r" b="b"/>
              <a:pathLst>
                <a:path w="1871979" h="1048385">
                  <a:moveTo>
                    <a:pt x="779779" y="464820"/>
                  </a:moveTo>
                  <a:lnTo>
                    <a:pt x="311912" y="464820"/>
                  </a:lnTo>
                  <a:lnTo>
                    <a:pt x="607822" y="1048385"/>
                  </a:lnTo>
                  <a:lnTo>
                    <a:pt x="779779" y="464820"/>
                  </a:lnTo>
                  <a:close/>
                </a:path>
                <a:path w="1871979" h="1048385">
                  <a:moveTo>
                    <a:pt x="1794002" y="0"/>
                  </a:moveTo>
                  <a:lnTo>
                    <a:pt x="77470" y="0"/>
                  </a:lnTo>
                  <a:lnTo>
                    <a:pt x="47309" y="6086"/>
                  </a:lnTo>
                  <a:lnTo>
                    <a:pt x="22685" y="22685"/>
                  </a:lnTo>
                  <a:lnTo>
                    <a:pt x="6086" y="47309"/>
                  </a:lnTo>
                  <a:lnTo>
                    <a:pt x="0" y="77470"/>
                  </a:lnTo>
                  <a:lnTo>
                    <a:pt x="0" y="387350"/>
                  </a:lnTo>
                  <a:lnTo>
                    <a:pt x="6086" y="417510"/>
                  </a:lnTo>
                  <a:lnTo>
                    <a:pt x="22685" y="442134"/>
                  </a:lnTo>
                  <a:lnTo>
                    <a:pt x="47309" y="458733"/>
                  </a:lnTo>
                  <a:lnTo>
                    <a:pt x="77470" y="464820"/>
                  </a:lnTo>
                  <a:lnTo>
                    <a:pt x="1794002" y="464820"/>
                  </a:lnTo>
                  <a:lnTo>
                    <a:pt x="1824162" y="458733"/>
                  </a:lnTo>
                  <a:lnTo>
                    <a:pt x="1848786" y="442134"/>
                  </a:lnTo>
                  <a:lnTo>
                    <a:pt x="1865385" y="417510"/>
                  </a:lnTo>
                  <a:lnTo>
                    <a:pt x="1871472" y="387350"/>
                  </a:lnTo>
                  <a:lnTo>
                    <a:pt x="1871472" y="77470"/>
                  </a:lnTo>
                  <a:lnTo>
                    <a:pt x="1865385" y="47309"/>
                  </a:lnTo>
                  <a:lnTo>
                    <a:pt x="1848786" y="22685"/>
                  </a:lnTo>
                  <a:lnTo>
                    <a:pt x="1824162" y="6086"/>
                  </a:lnTo>
                  <a:lnTo>
                    <a:pt x="1794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84726" y="1728978"/>
              <a:ext cx="1871980" cy="1048385"/>
            </a:xfrm>
            <a:custGeom>
              <a:avLst/>
              <a:gdLst/>
              <a:ahLst/>
              <a:cxnLst/>
              <a:rect l="l" t="t" r="r" b="b"/>
              <a:pathLst>
                <a:path w="1871979" h="1048385">
                  <a:moveTo>
                    <a:pt x="0" y="77470"/>
                  </a:moveTo>
                  <a:lnTo>
                    <a:pt x="6086" y="47309"/>
                  </a:lnTo>
                  <a:lnTo>
                    <a:pt x="22685" y="22685"/>
                  </a:lnTo>
                  <a:lnTo>
                    <a:pt x="47309" y="6086"/>
                  </a:lnTo>
                  <a:lnTo>
                    <a:pt x="77470" y="0"/>
                  </a:lnTo>
                  <a:lnTo>
                    <a:pt x="311912" y="0"/>
                  </a:lnTo>
                  <a:lnTo>
                    <a:pt x="779779" y="0"/>
                  </a:lnTo>
                  <a:lnTo>
                    <a:pt x="1794002" y="0"/>
                  </a:lnTo>
                  <a:lnTo>
                    <a:pt x="1824162" y="6086"/>
                  </a:lnTo>
                  <a:lnTo>
                    <a:pt x="1848786" y="22685"/>
                  </a:lnTo>
                  <a:lnTo>
                    <a:pt x="1865385" y="47309"/>
                  </a:lnTo>
                  <a:lnTo>
                    <a:pt x="1871472" y="77470"/>
                  </a:lnTo>
                  <a:lnTo>
                    <a:pt x="1871472" y="271145"/>
                  </a:lnTo>
                  <a:lnTo>
                    <a:pt x="1871472" y="387350"/>
                  </a:lnTo>
                  <a:lnTo>
                    <a:pt x="1865385" y="417510"/>
                  </a:lnTo>
                  <a:lnTo>
                    <a:pt x="1848786" y="442134"/>
                  </a:lnTo>
                  <a:lnTo>
                    <a:pt x="1824162" y="458733"/>
                  </a:lnTo>
                  <a:lnTo>
                    <a:pt x="1794002" y="464820"/>
                  </a:lnTo>
                  <a:lnTo>
                    <a:pt x="779779" y="464820"/>
                  </a:lnTo>
                  <a:lnTo>
                    <a:pt x="607822" y="1048385"/>
                  </a:lnTo>
                  <a:lnTo>
                    <a:pt x="311912" y="464820"/>
                  </a:lnTo>
                  <a:lnTo>
                    <a:pt x="77470" y="464820"/>
                  </a:lnTo>
                  <a:lnTo>
                    <a:pt x="47309" y="458733"/>
                  </a:lnTo>
                  <a:lnTo>
                    <a:pt x="22685" y="442134"/>
                  </a:lnTo>
                  <a:lnTo>
                    <a:pt x="6086" y="417510"/>
                  </a:lnTo>
                  <a:lnTo>
                    <a:pt x="0" y="387350"/>
                  </a:lnTo>
                  <a:lnTo>
                    <a:pt x="0" y="271145"/>
                  </a:lnTo>
                  <a:lnTo>
                    <a:pt x="0" y="77470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35221" y="1796288"/>
            <a:ext cx="1568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Number 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steps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53050" y="1694688"/>
            <a:ext cx="2980690" cy="1047750"/>
            <a:chOff x="5353050" y="1694688"/>
            <a:chExt cx="2980690" cy="1047750"/>
          </a:xfrm>
        </p:grpSpPr>
        <p:sp>
          <p:nvSpPr>
            <p:cNvPr id="14" name="object 14"/>
            <p:cNvSpPr/>
            <p:nvPr/>
          </p:nvSpPr>
          <p:spPr>
            <a:xfrm>
              <a:off x="5366003" y="1707642"/>
              <a:ext cx="2954655" cy="1022350"/>
            </a:xfrm>
            <a:custGeom>
              <a:avLst/>
              <a:gdLst/>
              <a:ahLst/>
              <a:cxnLst/>
              <a:rect l="l" t="t" r="r" b="b"/>
              <a:pathLst>
                <a:path w="2954654" h="1022350">
                  <a:moveTo>
                    <a:pt x="1776349" y="650748"/>
                  </a:moveTo>
                  <a:lnTo>
                    <a:pt x="1271524" y="650748"/>
                  </a:lnTo>
                  <a:lnTo>
                    <a:pt x="0" y="1021842"/>
                  </a:lnTo>
                  <a:lnTo>
                    <a:pt x="1776349" y="650748"/>
                  </a:lnTo>
                  <a:close/>
                </a:path>
                <a:path w="2954654" h="1022350">
                  <a:moveTo>
                    <a:pt x="2845816" y="0"/>
                  </a:moveTo>
                  <a:lnTo>
                    <a:pt x="1043432" y="0"/>
                  </a:lnTo>
                  <a:lnTo>
                    <a:pt x="1001196" y="8516"/>
                  </a:lnTo>
                  <a:lnTo>
                    <a:pt x="966724" y="31750"/>
                  </a:lnTo>
                  <a:lnTo>
                    <a:pt x="943490" y="66222"/>
                  </a:lnTo>
                  <a:lnTo>
                    <a:pt x="934974" y="108458"/>
                  </a:lnTo>
                  <a:lnTo>
                    <a:pt x="934974" y="542290"/>
                  </a:lnTo>
                  <a:lnTo>
                    <a:pt x="943490" y="584525"/>
                  </a:lnTo>
                  <a:lnTo>
                    <a:pt x="966724" y="618998"/>
                  </a:lnTo>
                  <a:lnTo>
                    <a:pt x="1001196" y="642231"/>
                  </a:lnTo>
                  <a:lnTo>
                    <a:pt x="1043432" y="650748"/>
                  </a:lnTo>
                  <a:lnTo>
                    <a:pt x="2845816" y="650748"/>
                  </a:lnTo>
                  <a:lnTo>
                    <a:pt x="2888051" y="642231"/>
                  </a:lnTo>
                  <a:lnTo>
                    <a:pt x="2922523" y="618998"/>
                  </a:lnTo>
                  <a:lnTo>
                    <a:pt x="2945757" y="584525"/>
                  </a:lnTo>
                  <a:lnTo>
                    <a:pt x="2954274" y="542290"/>
                  </a:lnTo>
                  <a:lnTo>
                    <a:pt x="2954274" y="108458"/>
                  </a:lnTo>
                  <a:lnTo>
                    <a:pt x="2945757" y="66222"/>
                  </a:lnTo>
                  <a:lnTo>
                    <a:pt x="2922524" y="31750"/>
                  </a:lnTo>
                  <a:lnTo>
                    <a:pt x="2888051" y="8516"/>
                  </a:lnTo>
                  <a:lnTo>
                    <a:pt x="2845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66003" y="1707642"/>
              <a:ext cx="2954655" cy="1022350"/>
            </a:xfrm>
            <a:custGeom>
              <a:avLst/>
              <a:gdLst/>
              <a:ahLst/>
              <a:cxnLst/>
              <a:rect l="l" t="t" r="r" b="b"/>
              <a:pathLst>
                <a:path w="2954654" h="1022350">
                  <a:moveTo>
                    <a:pt x="934974" y="108458"/>
                  </a:moveTo>
                  <a:lnTo>
                    <a:pt x="943490" y="66222"/>
                  </a:lnTo>
                  <a:lnTo>
                    <a:pt x="966724" y="31750"/>
                  </a:lnTo>
                  <a:lnTo>
                    <a:pt x="1001196" y="8516"/>
                  </a:lnTo>
                  <a:lnTo>
                    <a:pt x="1043432" y="0"/>
                  </a:lnTo>
                  <a:lnTo>
                    <a:pt x="1271524" y="0"/>
                  </a:lnTo>
                  <a:lnTo>
                    <a:pt x="1776349" y="0"/>
                  </a:lnTo>
                  <a:lnTo>
                    <a:pt x="2845816" y="0"/>
                  </a:lnTo>
                  <a:lnTo>
                    <a:pt x="2888051" y="8516"/>
                  </a:lnTo>
                  <a:lnTo>
                    <a:pt x="2922524" y="31750"/>
                  </a:lnTo>
                  <a:lnTo>
                    <a:pt x="2945757" y="66222"/>
                  </a:lnTo>
                  <a:lnTo>
                    <a:pt x="2954274" y="108458"/>
                  </a:lnTo>
                  <a:lnTo>
                    <a:pt x="2954274" y="379603"/>
                  </a:lnTo>
                  <a:lnTo>
                    <a:pt x="2954274" y="542290"/>
                  </a:lnTo>
                  <a:lnTo>
                    <a:pt x="2945757" y="584525"/>
                  </a:lnTo>
                  <a:lnTo>
                    <a:pt x="2922524" y="618998"/>
                  </a:lnTo>
                  <a:lnTo>
                    <a:pt x="2888051" y="642231"/>
                  </a:lnTo>
                  <a:lnTo>
                    <a:pt x="2845816" y="650748"/>
                  </a:lnTo>
                  <a:lnTo>
                    <a:pt x="1776349" y="650748"/>
                  </a:lnTo>
                  <a:lnTo>
                    <a:pt x="0" y="1021842"/>
                  </a:lnTo>
                  <a:lnTo>
                    <a:pt x="1271524" y="650748"/>
                  </a:lnTo>
                  <a:lnTo>
                    <a:pt x="1043432" y="650748"/>
                  </a:lnTo>
                  <a:lnTo>
                    <a:pt x="1001196" y="642231"/>
                  </a:lnTo>
                  <a:lnTo>
                    <a:pt x="966724" y="618998"/>
                  </a:lnTo>
                  <a:lnTo>
                    <a:pt x="943490" y="584525"/>
                  </a:lnTo>
                  <a:lnTo>
                    <a:pt x="934974" y="542290"/>
                  </a:lnTo>
                  <a:lnTo>
                    <a:pt x="934974" y="379603"/>
                  </a:lnTo>
                  <a:lnTo>
                    <a:pt x="934974" y="108458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94956" y="1867915"/>
            <a:ext cx="832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Step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size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822" y="483234"/>
            <a:ext cx="70567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What’s </a:t>
            </a:r>
            <a:r>
              <a:rPr dirty="0"/>
              <a:t>our </a:t>
            </a:r>
            <a:r>
              <a:rPr spc="-80" dirty="0"/>
              <a:t>Training</a:t>
            </a:r>
            <a:r>
              <a:rPr spc="-30" dirty="0"/>
              <a:t> </a:t>
            </a:r>
            <a:r>
              <a:rPr spc="-5" dirty="0"/>
              <a:t>Objective?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0751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Segoe UI"/>
                <a:cs typeface="Segoe UI"/>
              </a:rPr>
              <a:t>We’ll </a:t>
            </a:r>
            <a:r>
              <a:rPr sz="3200" dirty="0">
                <a:latin typeface="Segoe UI"/>
                <a:cs typeface="Segoe UI"/>
              </a:rPr>
              <a:t>consider the following</a:t>
            </a:r>
            <a:r>
              <a:rPr sz="3200" spc="-4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objective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953636"/>
            <a:ext cx="758190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6285" marR="143510" indent="-28702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5" dirty="0">
                <a:latin typeface="Segoe UI"/>
                <a:cs typeface="Segoe UI"/>
              </a:rPr>
              <a:t>i.e. our </a:t>
            </a:r>
            <a:r>
              <a:rPr sz="2800" spc="-15" dirty="0">
                <a:latin typeface="Segoe UI"/>
                <a:cs typeface="Segoe UI"/>
              </a:rPr>
              <a:t>goal </a:t>
            </a:r>
            <a:r>
              <a:rPr sz="2800" spc="-5" dirty="0">
                <a:latin typeface="Segoe UI"/>
                <a:cs typeface="Segoe UI"/>
              </a:rPr>
              <a:t>is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find </a:t>
            </a:r>
            <a:r>
              <a:rPr sz="2800" spc="-10" dirty="0">
                <a:latin typeface="Segoe UI"/>
                <a:cs typeface="Segoe UI"/>
              </a:rPr>
              <a:t>parameters </a:t>
            </a:r>
            <a:r>
              <a:rPr sz="2800" b="1" spc="-5" dirty="0">
                <a:latin typeface="Segoe UI"/>
                <a:cs typeface="Segoe UI"/>
              </a:rPr>
              <a:t>W</a:t>
            </a:r>
            <a:r>
              <a:rPr sz="2800" spc="-5" dirty="0">
                <a:latin typeface="Segoe UI"/>
                <a:cs typeface="Segoe UI"/>
              </a:rPr>
              <a:t>, v that  </a:t>
            </a:r>
            <a:r>
              <a:rPr sz="2800" spc="-10" dirty="0">
                <a:latin typeface="Segoe UI"/>
                <a:cs typeface="Segoe UI"/>
              </a:rPr>
              <a:t>minimize squared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error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Other objectives </a:t>
            </a:r>
            <a:r>
              <a:rPr sz="3200" spc="-10" dirty="0">
                <a:latin typeface="Segoe UI"/>
                <a:cs typeface="Segoe UI"/>
              </a:rPr>
              <a:t>are </a:t>
            </a:r>
            <a:r>
              <a:rPr sz="3200" dirty="0">
                <a:latin typeface="Segoe UI"/>
                <a:cs typeface="Segoe UI"/>
              </a:rPr>
              <a:t>possible (e.g., other  </a:t>
            </a:r>
            <a:r>
              <a:rPr sz="3200" spc="-5" dirty="0">
                <a:latin typeface="Segoe UI"/>
                <a:cs typeface="Segoe UI"/>
              </a:rPr>
              <a:t>loss </a:t>
            </a:r>
            <a:r>
              <a:rPr sz="3200" dirty="0">
                <a:latin typeface="Segoe UI"/>
                <a:cs typeface="Segoe UI"/>
              </a:rPr>
              <a:t>functions, add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regularizer)</a:t>
            </a:r>
            <a:endParaRPr sz="3200">
              <a:latin typeface="Segoe UI"/>
              <a:cs typeface="Segoe U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BA1289-C7AB-4C84-B763-EE4DF9871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1" y="2209800"/>
            <a:ext cx="5963478" cy="140141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2457" y="147955"/>
            <a:ext cx="48793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 </a:t>
            </a:r>
            <a:r>
              <a:rPr spc="-60" dirty="0"/>
              <a:t>of</a:t>
            </a:r>
            <a:r>
              <a:rPr spc="-105" dirty="0"/>
              <a:t> </a:t>
            </a:r>
            <a:r>
              <a:rPr spc="-5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6177" y="818514"/>
            <a:ext cx="63138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55" dirty="0">
                <a:latin typeface="Segoe UI Light"/>
                <a:cs typeface="Segoe UI Light"/>
              </a:rPr>
              <a:t>w.r.t. </a:t>
            </a:r>
            <a:r>
              <a:rPr sz="4400" b="0" spc="-5" dirty="0">
                <a:latin typeface="Segoe UI Light"/>
                <a:cs typeface="Segoe UI Light"/>
              </a:rPr>
              <a:t>output layer </a:t>
            </a:r>
            <a:r>
              <a:rPr sz="4400" b="0" dirty="0">
                <a:latin typeface="Segoe UI Light"/>
                <a:cs typeface="Segoe UI Light"/>
              </a:rPr>
              <a:t>weights</a:t>
            </a:r>
            <a:r>
              <a:rPr sz="4400" b="0" spc="65" dirty="0">
                <a:latin typeface="Segoe UI Light"/>
                <a:cs typeface="Segoe UI Light"/>
              </a:rPr>
              <a:t> </a:t>
            </a:r>
            <a:r>
              <a:rPr sz="4400" b="0" dirty="0">
                <a:latin typeface="Segoe UI Light"/>
                <a:cs typeface="Segoe UI Light"/>
              </a:rPr>
              <a:t>v</a:t>
            </a:r>
            <a:endParaRPr sz="4400">
              <a:latin typeface="Segoe UI Light"/>
              <a:cs typeface="Segoe U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5276" y="3279723"/>
            <a:ext cx="4284345" cy="3187065"/>
            <a:chOff x="815276" y="3279723"/>
            <a:chExt cx="4284345" cy="31870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2235" y="3279723"/>
              <a:ext cx="3547267" cy="9633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8293" y="3884929"/>
              <a:ext cx="3601720" cy="2568575"/>
            </a:xfrm>
            <a:custGeom>
              <a:avLst/>
              <a:gdLst/>
              <a:ahLst/>
              <a:cxnLst/>
              <a:rect l="l" t="t" r="r" b="b"/>
              <a:pathLst>
                <a:path w="3601720" h="2568575">
                  <a:moveTo>
                    <a:pt x="3433318" y="1561084"/>
                  </a:moveTo>
                  <a:lnTo>
                    <a:pt x="167894" y="1561084"/>
                  </a:lnTo>
                  <a:lnTo>
                    <a:pt x="123262" y="1567082"/>
                  </a:lnTo>
                  <a:lnTo>
                    <a:pt x="83155" y="1584009"/>
                  </a:lnTo>
                  <a:lnTo>
                    <a:pt x="49175" y="1610264"/>
                  </a:lnTo>
                  <a:lnTo>
                    <a:pt x="22923" y="1644245"/>
                  </a:lnTo>
                  <a:lnTo>
                    <a:pt x="5997" y="1684350"/>
                  </a:lnTo>
                  <a:lnTo>
                    <a:pt x="0" y="1728978"/>
                  </a:lnTo>
                  <a:lnTo>
                    <a:pt x="0" y="2400554"/>
                  </a:lnTo>
                  <a:lnTo>
                    <a:pt x="5997" y="2445185"/>
                  </a:lnTo>
                  <a:lnTo>
                    <a:pt x="22923" y="2485292"/>
                  </a:lnTo>
                  <a:lnTo>
                    <a:pt x="49175" y="2519272"/>
                  </a:lnTo>
                  <a:lnTo>
                    <a:pt x="83155" y="2545524"/>
                  </a:lnTo>
                  <a:lnTo>
                    <a:pt x="123262" y="2562450"/>
                  </a:lnTo>
                  <a:lnTo>
                    <a:pt x="167894" y="2568448"/>
                  </a:lnTo>
                  <a:lnTo>
                    <a:pt x="3433318" y="2568448"/>
                  </a:lnTo>
                  <a:lnTo>
                    <a:pt x="3477945" y="2562450"/>
                  </a:lnTo>
                  <a:lnTo>
                    <a:pt x="3518050" y="2545524"/>
                  </a:lnTo>
                  <a:lnTo>
                    <a:pt x="3552031" y="2519272"/>
                  </a:lnTo>
                  <a:lnTo>
                    <a:pt x="3578286" y="2485292"/>
                  </a:lnTo>
                  <a:lnTo>
                    <a:pt x="3595213" y="2445185"/>
                  </a:lnTo>
                  <a:lnTo>
                    <a:pt x="3601211" y="2400554"/>
                  </a:lnTo>
                  <a:lnTo>
                    <a:pt x="3601211" y="1728978"/>
                  </a:lnTo>
                  <a:lnTo>
                    <a:pt x="3595213" y="1684350"/>
                  </a:lnTo>
                  <a:lnTo>
                    <a:pt x="3578286" y="1644245"/>
                  </a:lnTo>
                  <a:lnTo>
                    <a:pt x="3552031" y="1610264"/>
                  </a:lnTo>
                  <a:lnTo>
                    <a:pt x="3518050" y="1584009"/>
                  </a:lnTo>
                  <a:lnTo>
                    <a:pt x="3477945" y="1567082"/>
                  </a:lnTo>
                  <a:lnTo>
                    <a:pt x="3433318" y="1561084"/>
                  </a:lnTo>
                  <a:close/>
                </a:path>
                <a:path w="3601720" h="2568575">
                  <a:moveTo>
                    <a:pt x="3450463" y="0"/>
                  </a:moveTo>
                  <a:lnTo>
                    <a:pt x="2100707" y="1561084"/>
                  </a:lnTo>
                  <a:lnTo>
                    <a:pt x="3001010" y="1561084"/>
                  </a:lnTo>
                  <a:lnTo>
                    <a:pt x="34504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8293" y="3884929"/>
              <a:ext cx="3601720" cy="2568575"/>
            </a:xfrm>
            <a:custGeom>
              <a:avLst/>
              <a:gdLst/>
              <a:ahLst/>
              <a:cxnLst/>
              <a:rect l="l" t="t" r="r" b="b"/>
              <a:pathLst>
                <a:path w="3601720" h="2568575">
                  <a:moveTo>
                    <a:pt x="0" y="1728978"/>
                  </a:moveTo>
                  <a:lnTo>
                    <a:pt x="5997" y="1684350"/>
                  </a:lnTo>
                  <a:lnTo>
                    <a:pt x="22923" y="1644245"/>
                  </a:lnTo>
                  <a:lnTo>
                    <a:pt x="49175" y="1610264"/>
                  </a:lnTo>
                  <a:lnTo>
                    <a:pt x="83155" y="1584009"/>
                  </a:lnTo>
                  <a:lnTo>
                    <a:pt x="123262" y="1567082"/>
                  </a:lnTo>
                  <a:lnTo>
                    <a:pt x="167894" y="1561084"/>
                  </a:lnTo>
                  <a:lnTo>
                    <a:pt x="2100707" y="1561084"/>
                  </a:lnTo>
                  <a:lnTo>
                    <a:pt x="3450463" y="0"/>
                  </a:lnTo>
                  <a:lnTo>
                    <a:pt x="3001010" y="1561084"/>
                  </a:lnTo>
                  <a:lnTo>
                    <a:pt x="3433318" y="1561084"/>
                  </a:lnTo>
                  <a:lnTo>
                    <a:pt x="3477945" y="1567082"/>
                  </a:lnTo>
                  <a:lnTo>
                    <a:pt x="3518050" y="1584009"/>
                  </a:lnTo>
                  <a:lnTo>
                    <a:pt x="3552031" y="1610264"/>
                  </a:lnTo>
                  <a:lnTo>
                    <a:pt x="3578286" y="1644245"/>
                  </a:lnTo>
                  <a:lnTo>
                    <a:pt x="3595213" y="1684350"/>
                  </a:lnTo>
                  <a:lnTo>
                    <a:pt x="3601211" y="1728978"/>
                  </a:lnTo>
                  <a:lnTo>
                    <a:pt x="3601211" y="1980819"/>
                  </a:lnTo>
                  <a:lnTo>
                    <a:pt x="3601211" y="2400554"/>
                  </a:lnTo>
                  <a:lnTo>
                    <a:pt x="3595213" y="2445185"/>
                  </a:lnTo>
                  <a:lnTo>
                    <a:pt x="3578286" y="2485292"/>
                  </a:lnTo>
                  <a:lnTo>
                    <a:pt x="3552031" y="2519272"/>
                  </a:lnTo>
                  <a:lnTo>
                    <a:pt x="3518050" y="2545524"/>
                  </a:lnTo>
                  <a:lnTo>
                    <a:pt x="3477945" y="2562450"/>
                  </a:lnTo>
                  <a:lnTo>
                    <a:pt x="3433318" y="2568448"/>
                  </a:lnTo>
                  <a:lnTo>
                    <a:pt x="3001010" y="2568448"/>
                  </a:lnTo>
                  <a:lnTo>
                    <a:pt x="2100707" y="2568448"/>
                  </a:lnTo>
                  <a:lnTo>
                    <a:pt x="167894" y="2568448"/>
                  </a:lnTo>
                  <a:lnTo>
                    <a:pt x="123262" y="2562450"/>
                  </a:lnTo>
                  <a:lnTo>
                    <a:pt x="83155" y="2545524"/>
                  </a:lnTo>
                  <a:lnTo>
                    <a:pt x="49175" y="2519272"/>
                  </a:lnTo>
                  <a:lnTo>
                    <a:pt x="22923" y="2485292"/>
                  </a:lnTo>
                  <a:lnTo>
                    <a:pt x="5997" y="2445185"/>
                  </a:lnTo>
                  <a:lnTo>
                    <a:pt x="0" y="2400554"/>
                  </a:lnTo>
                  <a:lnTo>
                    <a:pt x="0" y="1980819"/>
                  </a:lnTo>
                  <a:lnTo>
                    <a:pt x="0" y="1728978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12189" y="5487720"/>
            <a:ext cx="282765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Error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20" dirty="0">
                <a:latin typeface="Calibri"/>
                <a:cs typeface="Calibri"/>
              </a:rPr>
              <a:t>example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n:</a:t>
            </a:r>
            <a:endParaRPr sz="2800" dirty="0">
              <a:latin typeface="Calibri"/>
              <a:cs typeface="Calibri"/>
            </a:endParaRPr>
          </a:p>
          <a:p>
            <a:pPr marR="8255" algn="ctr">
              <a:lnSpc>
                <a:spcPct val="100000"/>
              </a:lnSpc>
              <a:spcBef>
                <a:spcPts val="15"/>
              </a:spcBef>
              <a:tabLst>
                <a:tab pos="511809" algn="l"/>
                <a:tab pos="932180" algn="l"/>
              </a:tabLst>
            </a:pPr>
            <a:r>
              <a:rPr sz="2800" spc="-50" dirty="0">
                <a:latin typeface="Cambria Math"/>
                <a:cs typeface="Cambria Math"/>
              </a:rPr>
              <a:t>𝑦</a:t>
            </a:r>
            <a:r>
              <a:rPr sz="3075" spc="-75" baseline="-16260" dirty="0">
                <a:latin typeface="Cambria Math"/>
                <a:cs typeface="Cambria Math"/>
              </a:rPr>
              <a:t>𝑛	</a:t>
            </a:r>
            <a:r>
              <a:rPr sz="2800" spc="-5" dirty="0">
                <a:latin typeface="Cambria Math"/>
                <a:cs typeface="Cambria Math"/>
              </a:rPr>
              <a:t>−	</a:t>
            </a:r>
            <a:r>
              <a:rPr sz="2800" spc="-1500" dirty="0">
                <a:latin typeface="Cambria Math"/>
                <a:cs typeface="Cambria Math"/>
              </a:rPr>
              <a:t>𝑦</a:t>
            </a:r>
            <a:r>
              <a:rPr sz="2800" spc="620" dirty="0">
                <a:latin typeface="Cambria Math"/>
                <a:cs typeface="Cambria Math"/>
              </a:rPr>
              <a:t> </a:t>
            </a:r>
            <a:r>
              <a:rPr sz="3075" spc="217" baseline="-16260" dirty="0">
                <a:latin typeface="Cambria Math"/>
                <a:cs typeface="Cambria Math"/>
              </a:rPr>
              <a:t>𝑛</a:t>
            </a:r>
            <a:endParaRPr sz="3075" baseline="-16260" dirty="0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13808" y="3807840"/>
            <a:ext cx="3957320" cy="2658745"/>
            <a:chOff x="4813808" y="3807840"/>
            <a:chExt cx="3957320" cy="2658745"/>
          </a:xfrm>
        </p:grpSpPr>
        <p:sp>
          <p:nvSpPr>
            <p:cNvPr id="10" name="object 10"/>
            <p:cNvSpPr/>
            <p:nvPr/>
          </p:nvSpPr>
          <p:spPr>
            <a:xfrm>
              <a:off x="4826762" y="3820794"/>
              <a:ext cx="3931285" cy="2632710"/>
            </a:xfrm>
            <a:custGeom>
              <a:avLst/>
              <a:gdLst/>
              <a:ahLst/>
              <a:cxnLst/>
              <a:rect l="l" t="t" r="r" b="b"/>
              <a:pathLst>
                <a:path w="3931284" h="2632710">
                  <a:moveTo>
                    <a:pt x="3703066" y="1265554"/>
                  </a:moveTo>
                  <a:lnTo>
                    <a:pt x="478282" y="1265554"/>
                  </a:lnTo>
                  <a:lnTo>
                    <a:pt x="432357" y="1270182"/>
                  </a:lnTo>
                  <a:lnTo>
                    <a:pt x="389586" y="1283456"/>
                  </a:lnTo>
                  <a:lnTo>
                    <a:pt x="350884" y="1304459"/>
                  </a:lnTo>
                  <a:lnTo>
                    <a:pt x="317166" y="1332277"/>
                  </a:lnTo>
                  <a:lnTo>
                    <a:pt x="289348" y="1365995"/>
                  </a:lnTo>
                  <a:lnTo>
                    <a:pt x="268345" y="1404697"/>
                  </a:lnTo>
                  <a:lnTo>
                    <a:pt x="255071" y="1447468"/>
                  </a:lnTo>
                  <a:lnTo>
                    <a:pt x="250443" y="1493392"/>
                  </a:lnTo>
                  <a:lnTo>
                    <a:pt x="250443" y="2404744"/>
                  </a:lnTo>
                  <a:lnTo>
                    <a:pt x="255071" y="2450662"/>
                  </a:lnTo>
                  <a:lnTo>
                    <a:pt x="268345" y="2493429"/>
                  </a:lnTo>
                  <a:lnTo>
                    <a:pt x="289348" y="2532131"/>
                  </a:lnTo>
                  <a:lnTo>
                    <a:pt x="317166" y="2565850"/>
                  </a:lnTo>
                  <a:lnTo>
                    <a:pt x="350884" y="2593671"/>
                  </a:lnTo>
                  <a:lnTo>
                    <a:pt x="389586" y="2614678"/>
                  </a:lnTo>
                  <a:lnTo>
                    <a:pt x="432357" y="2627954"/>
                  </a:lnTo>
                  <a:lnTo>
                    <a:pt x="478282" y="2632582"/>
                  </a:lnTo>
                  <a:lnTo>
                    <a:pt x="3703066" y="2632582"/>
                  </a:lnTo>
                  <a:lnTo>
                    <a:pt x="3748990" y="2627954"/>
                  </a:lnTo>
                  <a:lnTo>
                    <a:pt x="3791761" y="2614678"/>
                  </a:lnTo>
                  <a:lnTo>
                    <a:pt x="3830463" y="2593671"/>
                  </a:lnTo>
                  <a:lnTo>
                    <a:pt x="3864181" y="2565850"/>
                  </a:lnTo>
                  <a:lnTo>
                    <a:pt x="3891999" y="2532131"/>
                  </a:lnTo>
                  <a:lnTo>
                    <a:pt x="3913002" y="2493429"/>
                  </a:lnTo>
                  <a:lnTo>
                    <a:pt x="3926276" y="2450662"/>
                  </a:lnTo>
                  <a:lnTo>
                    <a:pt x="3930904" y="2404744"/>
                  </a:lnTo>
                  <a:lnTo>
                    <a:pt x="3930904" y="1493392"/>
                  </a:lnTo>
                  <a:lnTo>
                    <a:pt x="3926276" y="1447468"/>
                  </a:lnTo>
                  <a:lnTo>
                    <a:pt x="3913002" y="1404697"/>
                  </a:lnTo>
                  <a:lnTo>
                    <a:pt x="3891999" y="1365995"/>
                  </a:lnTo>
                  <a:lnTo>
                    <a:pt x="3864181" y="1332277"/>
                  </a:lnTo>
                  <a:lnTo>
                    <a:pt x="3830463" y="1304459"/>
                  </a:lnTo>
                  <a:lnTo>
                    <a:pt x="3791761" y="1283456"/>
                  </a:lnTo>
                  <a:lnTo>
                    <a:pt x="3748990" y="1270182"/>
                  </a:lnTo>
                  <a:lnTo>
                    <a:pt x="3703066" y="1265554"/>
                  </a:lnTo>
                  <a:close/>
                </a:path>
                <a:path w="3931284" h="2632710">
                  <a:moveTo>
                    <a:pt x="0" y="0"/>
                  </a:moveTo>
                  <a:lnTo>
                    <a:pt x="863853" y="1265554"/>
                  </a:lnTo>
                  <a:lnTo>
                    <a:pt x="1783968" y="12655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26762" y="3820794"/>
              <a:ext cx="3931285" cy="2632710"/>
            </a:xfrm>
            <a:custGeom>
              <a:avLst/>
              <a:gdLst/>
              <a:ahLst/>
              <a:cxnLst/>
              <a:rect l="l" t="t" r="r" b="b"/>
              <a:pathLst>
                <a:path w="3931284" h="2632710">
                  <a:moveTo>
                    <a:pt x="250443" y="1493392"/>
                  </a:moveTo>
                  <a:lnTo>
                    <a:pt x="255071" y="1447468"/>
                  </a:lnTo>
                  <a:lnTo>
                    <a:pt x="268345" y="1404697"/>
                  </a:lnTo>
                  <a:lnTo>
                    <a:pt x="289348" y="1365995"/>
                  </a:lnTo>
                  <a:lnTo>
                    <a:pt x="317166" y="1332277"/>
                  </a:lnTo>
                  <a:lnTo>
                    <a:pt x="350884" y="1304459"/>
                  </a:lnTo>
                  <a:lnTo>
                    <a:pt x="389586" y="1283456"/>
                  </a:lnTo>
                  <a:lnTo>
                    <a:pt x="432357" y="1270182"/>
                  </a:lnTo>
                  <a:lnTo>
                    <a:pt x="478282" y="1265554"/>
                  </a:lnTo>
                  <a:lnTo>
                    <a:pt x="863853" y="1265554"/>
                  </a:lnTo>
                  <a:lnTo>
                    <a:pt x="0" y="0"/>
                  </a:lnTo>
                  <a:lnTo>
                    <a:pt x="1783968" y="1265554"/>
                  </a:lnTo>
                  <a:lnTo>
                    <a:pt x="3703066" y="1265554"/>
                  </a:lnTo>
                  <a:lnTo>
                    <a:pt x="3748990" y="1270182"/>
                  </a:lnTo>
                  <a:lnTo>
                    <a:pt x="3791761" y="1283456"/>
                  </a:lnTo>
                  <a:lnTo>
                    <a:pt x="3830463" y="1304459"/>
                  </a:lnTo>
                  <a:lnTo>
                    <a:pt x="3864181" y="1332277"/>
                  </a:lnTo>
                  <a:lnTo>
                    <a:pt x="3891999" y="1365995"/>
                  </a:lnTo>
                  <a:lnTo>
                    <a:pt x="3913002" y="1404697"/>
                  </a:lnTo>
                  <a:lnTo>
                    <a:pt x="3926276" y="1447468"/>
                  </a:lnTo>
                  <a:lnTo>
                    <a:pt x="3930904" y="1493392"/>
                  </a:lnTo>
                  <a:lnTo>
                    <a:pt x="3930904" y="1835149"/>
                  </a:lnTo>
                  <a:lnTo>
                    <a:pt x="3930904" y="2404744"/>
                  </a:lnTo>
                  <a:lnTo>
                    <a:pt x="3926276" y="2450662"/>
                  </a:lnTo>
                  <a:lnTo>
                    <a:pt x="3913002" y="2493429"/>
                  </a:lnTo>
                  <a:lnTo>
                    <a:pt x="3891999" y="2532131"/>
                  </a:lnTo>
                  <a:lnTo>
                    <a:pt x="3864181" y="2565850"/>
                  </a:lnTo>
                  <a:lnTo>
                    <a:pt x="3830463" y="2593671"/>
                  </a:lnTo>
                  <a:lnTo>
                    <a:pt x="3791761" y="2614678"/>
                  </a:lnTo>
                  <a:lnTo>
                    <a:pt x="3748990" y="2627954"/>
                  </a:lnTo>
                  <a:lnTo>
                    <a:pt x="3703066" y="2632582"/>
                  </a:lnTo>
                  <a:lnTo>
                    <a:pt x="1783968" y="2632582"/>
                  </a:lnTo>
                  <a:lnTo>
                    <a:pt x="863853" y="2632582"/>
                  </a:lnTo>
                  <a:lnTo>
                    <a:pt x="478282" y="2632582"/>
                  </a:lnTo>
                  <a:lnTo>
                    <a:pt x="432357" y="2627954"/>
                  </a:lnTo>
                  <a:lnTo>
                    <a:pt x="389586" y="2614678"/>
                  </a:lnTo>
                  <a:lnTo>
                    <a:pt x="350884" y="2593671"/>
                  </a:lnTo>
                  <a:lnTo>
                    <a:pt x="317166" y="2565850"/>
                  </a:lnTo>
                  <a:lnTo>
                    <a:pt x="289348" y="2532131"/>
                  </a:lnTo>
                  <a:lnTo>
                    <a:pt x="268345" y="2493429"/>
                  </a:lnTo>
                  <a:lnTo>
                    <a:pt x="255071" y="2450662"/>
                  </a:lnTo>
                  <a:lnTo>
                    <a:pt x="250443" y="2404744"/>
                  </a:lnTo>
                  <a:lnTo>
                    <a:pt x="250443" y="1835149"/>
                  </a:lnTo>
                  <a:lnTo>
                    <a:pt x="250443" y="1493392"/>
                  </a:lnTo>
                  <a:close/>
                </a:path>
              </a:pathLst>
            </a:custGeom>
            <a:ln w="25907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39258" y="5094858"/>
            <a:ext cx="3351529" cy="130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Calibri"/>
                <a:cs typeface="Calibri"/>
              </a:rPr>
              <a:t>Vector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activations of  hidden units </a:t>
            </a:r>
            <a:r>
              <a:rPr sz="2800" spc="-30" dirty="0">
                <a:latin typeface="Calibri"/>
                <a:cs typeface="Calibri"/>
              </a:rPr>
              <a:t>for  </a:t>
            </a:r>
            <a:r>
              <a:rPr sz="2800" spc="-20" dirty="0">
                <a:latin typeface="Calibri"/>
                <a:cs typeface="Calibri"/>
              </a:rPr>
              <a:t>example</a:t>
            </a:r>
            <a:r>
              <a:rPr sz="2800" spc="-5" dirty="0">
                <a:latin typeface="Calibri"/>
                <a:cs typeface="Calibri"/>
              </a:rPr>
              <a:t> 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9453A1-B9F9-4841-B83B-AB2A1E694EBC}"/>
              </a:ext>
            </a:extLst>
          </p:cNvPr>
          <p:cNvSpPr txBox="1"/>
          <p:nvPr/>
        </p:nvSpPr>
        <p:spPr>
          <a:xfrm>
            <a:off x="2900318" y="5879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^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 </a:t>
            </a:r>
            <a:r>
              <a:rPr spc="-60" dirty="0"/>
              <a:t>of</a:t>
            </a:r>
            <a:r>
              <a:rPr spc="-105" dirty="0"/>
              <a:t> </a:t>
            </a:r>
            <a:r>
              <a:rPr spc="-5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7277" y="818514"/>
            <a:ext cx="6454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4400" b="0" spc="-155" dirty="0">
                <a:latin typeface="Segoe UI Light"/>
                <a:cs typeface="Segoe UI Light"/>
              </a:rPr>
              <a:t>w.r.t. </a:t>
            </a:r>
            <a:r>
              <a:rPr sz="4400" b="0" spc="-5" dirty="0">
                <a:latin typeface="Segoe UI Light"/>
                <a:cs typeface="Segoe UI Light"/>
              </a:rPr>
              <a:t>hidden unit </a:t>
            </a:r>
            <a:r>
              <a:rPr sz="4400" b="0" dirty="0">
                <a:latin typeface="Segoe UI Light"/>
                <a:cs typeface="Segoe UI Light"/>
              </a:rPr>
              <a:t>weights</a:t>
            </a:r>
            <a:r>
              <a:rPr sz="4400" b="0" spc="65" dirty="0">
                <a:latin typeface="Segoe UI Light"/>
                <a:cs typeface="Segoe UI Light"/>
              </a:rPr>
              <a:t> </a:t>
            </a:r>
            <a:r>
              <a:rPr sz="4400" spc="-20" dirty="0">
                <a:latin typeface="Cambria Math"/>
                <a:cs typeface="Cambria Math"/>
              </a:rPr>
              <a:t>𝑤</a:t>
            </a:r>
            <a:r>
              <a:rPr sz="4800" spc="-30" baseline="-15625" dirty="0">
                <a:latin typeface="Cambria Math"/>
                <a:cs typeface="Cambria Math"/>
              </a:rPr>
              <a:t>𝑖</a:t>
            </a:r>
            <a:endParaRPr sz="4800" baseline="-15625">
              <a:latin typeface="Cambria Math"/>
              <a:cs typeface="Cambria Math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0564" y="2048259"/>
            <a:ext cx="8517890" cy="3046730"/>
            <a:chOff x="440564" y="2048259"/>
            <a:chExt cx="8517890" cy="304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564" y="2048259"/>
              <a:ext cx="4684032" cy="30463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45638" y="2474214"/>
              <a:ext cx="6499860" cy="1007744"/>
            </a:xfrm>
            <a:custGeom>
              <a:avLst/>
              <a:gdLst/>
              <a:ahLst/>
              <a:cxnLst/>
              <a:rect l="l" t="t" r="r" b="b"/>
              <a:pathLst>
                <a:path w="6499859" h="1007745">
                  <a:moveTo>
                    <a:pt x="6331585" y="0"/>
                  </a:moveTo>
                  <a:lnTo>
                    <a:pt x="3067685" y="0"/>
                  </a:lnTo>
                  <a:lnTo>
                    <a:pt x="3023057" y="5998"/>
                  </a:lnTo>
                  <a:lnTo>
                    <a:pt x="2982952" y="22925"/>
                  </a:lnTo>
                  <a:lnTo>
                    <a:pt x="2948971" y="49180"/>
                  </a:lnTo>
                  <a:lnTo>
                    <a:pt x="2922716" y="83161"/>
                  </a:lnTo>
                  <a:lnTo>
                    <a:pt x="2905789" y="123266"/>
                  </a:lnTo>
                  <a:lnTo>
                    <a:pt x="2899791" y="167894"/>
                  </a:lnTo>
                  <a:lnTo>
                    <a:pt x="2899791" y="587628"/>
                  </a:lnTo>
                  <a:lnTo>
                    <a:pt x="0" y="735838"/>
                  </a:lnTo>
                  <a:lnTo>
                    <a:pt x="2899791" y="839470"/>
                  </a:lnTo>
                  <a:lnTo>
                    <a:pt x="2905789" y="884097"/>
                  </a:lnTo>
                  <a:lnTo>
                    <a:pt x="2922716" y="924202"/>
                  </a:lnTo>
                  <a:lnTo>
                    <a:pt x="2948971" y="958183"/>
                  </a:lnTo>
                  <a:lnTo>
                    <a:pt x="2982952" y="984438"/>
                  </a:lnTo>
                  <a:lnTo>
                    <a:pt x="3023057" y="1001365"/>
                  </a:lnTo>
                  <a:lnTo>
                    <a:pt x="3067685" y="1007363"/>
                  </a:lnTo>
                  <a:lnTo>
                    <a:pt x="6331585" y="1007363"/>
                  </a:lnTo>
                  <a:lnTo>
                    <a:pt x="6376212" y="1001365"/>
                  </a:lnTo>
                  <a:lnTo>
                    <a:pt x="6416317" y="984438"/>
                  </a:lnTo>
                  <a:lnTo>
                    <a:pt x="6450298" y="958183"/>
                  </a:lnTo>
                  <a:lnTo>
                    <a:pt x="6476553" y="924202"/>
                  </a:lnTo>
                  <a:lnTo>
                    <a:pt x="6493480" y="884097"/>
                  </a:lnTo>
                  <a:lnTo>
                    <a:pt x="6499479" y="839470"/>
                  </a:lnTo>
                  <a:lnTo>
                    <a:pt x="6499479" y="167894"/>
                  </a:lnTo>
                  <a:lnTo>
                    <a:pt x="6493480" y="123266"/>
                  </a:lnTo>
                  <a:lnTo>
                    <a:pt x="6476553" y="83161"/>
                  </a:lnTo>
                  <a:lnTo>
                    <a:pt x="6450298" y="49180"/>
                  </a:lnTo>
                  <a:lnTo>
                    <a:pt x="6416317" y="22925"/>
                  </a:lnTo>
                  <a:lnTo>
                    <a:pt x="6376212" y="5998"/>
                  </a:lnTo>
                  <a:lnTo>
                    <a:pt x="63315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45638" y="2474214"/>
              <a:ext cx="6499860" cy="1007744"/>
            </a:xfrm>
            <a:custGeom>
              <a:avLst/>
              <a:gdLst/>
              <a:ahLst/>
              <a:cxnLst/>
              <a:rect l="l" t="t" r="r" b="b"/>
              <a:pathLst>
                <a:path w="6499859" h="1007745">
                  <a:moveTo>
                    <a:pt x="2899791" y="167894"/>
                  </a:moveTo>
                  <a:lnTo>
                    <a:pt x="2905789" y="123266"/>
                  </a:lnTo>
                  <a:lnTo>
                    <a:pt x="2922716" y="83161"/>
                  </a:lnTo>
                  <a:lnTo>
                    <a:pt x="2948971" y="49180"/>
                  </a:lnTo>
                  <a:lnTo>
                    <a:pt x="2982952" y="22925"/>
                  </a:lnTo>
                  <a:lnTo>
                    <a:pt x="3023057" y="5998"/>
                  </a:lnTo>
                  <a:lnTo>
                    <a:pt x="3067685" y="0"/>
                  </a:lnTo>
                  <a:lnTo>
                    <a:pt x="3499739" y="0"/>
                  </a:lnTo>
                  <a:lnTo>
                    <a:pt x="4399661" y="0"/>
                  </a:lnTo>
                  <a:lnTo>
                    <a:pt x="6331585" y="0"/>
                  </a:lnTo>
                  <a:lnTo>
                    <a:pt x="6376212" y="5998"/>
                  </a:lnTo>
                  <a:lnTo>
                    <a:pt x="6416317" y="22925"/>
                  </a:lnTo>
                  <a:lnTo>
                    <a:pt x="6450298" y="49180"/>
                  </a:lnTo>
                  <a:lnTo>
                    <a:pt x="6476553" y="83161"/>
                  </a:lnTo>
                  <a:lnTo>
                    <a:pt x="6493480" y="123266"/>
                  </a:lnTo>
                  <a:lnTo>
                    <a:pt x="6499479" y="167894"/>
                  </a:lnTo>
                  <a:lnTo>
                    <a:pt x="6499479" y="587628"/>
                  </a:lnTo>
                  <a:lnTo>
                    <a:pt x="6499479" y="839470"/>
                  </a:lnTo>
                  <a:lnTo>
                    <a:pt x="6493480" y="884097"/>
                  </a:lnTo>
                  <a:lnTo>
                    <a:pt x="6476553" y="924202"/>
                  </a:lnTo>
                  <a:lnTo>
                    <a:pt x="6450298" y="958183"/>
                  </a:lnTo>
                  <a:lnTo>
                    <a:pt x="6416317" y="984438"/>
                  </a:lnTo>
                  <a:lnTo>
                    <a:pt x="6376212" y="1001365"/>
                  </a:lnTo>
                  <a:lnTo>
                    <a:pt x="6331585" y="1007363"/>
                  </a:lnTo>
                  <a:lnTo>
                    <a:pt x="4399661" y="1007363"/>
                  </a:lnTo>
                  <a:lnTo>
                    <a:pt x="3499739" y="1007363"/>
                  </a:lnTo>
                  <a:lnTo>
                    <a:pt x="3067685" y="1007363"/>
                  </a:lnTo>
                  <a:lnTo>
                    <a:pt x="3023057" y="1001365"/>
                  </a:lnTo>
                  <a:lnTo>
                    <a:pt x="2982952" y="984438"/>
                  </a:lnTo>
                  <a:lnTo>
                    <a:pt x="2948971" y="958183"/>
                  </a:lnTo>
                  <a:lnTo>
                    <a:pt x="2922716" y="924202"/>
                  </a:lnTo>
                  <a:lnTo>
                    <a:pt x="2905789" y="884097"/>
                  </a:lnTo>
                  <a:lnTo>
                    <a:pt x="2899791" y="839470"/>
                  </a:lnTo>
                  <a:lnTo>
                    <a:pt x="0" y="735838"/>
                  </a:lnTo>
                  <a:lnTo>
                    <a:pt x="2899791" y="587628"/>
                  </a:lnTo>
                  <a:lnTo>
                    <a:pt x="2899791" y="167894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75782" y="6409131"/>
            <a:ext cx="3004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(This is </a:t>
            </a:r>
            <a:r>
              <a:rPr sz="1800" spc="-5" dirty="0">
                <a:latin typeface="Arial"/>
                <a:cs typeface="Arial"/>
              </a:rPr>
              <a:t>on one </a:t>
            </a:r>
            <a:r>
              <a:rPr sz="1800" spc="-10" dirty="0">
                <a:latin typeface="Arial"/>
                <a:cs typeface="Arial"/>
              </a:rPr>
              <a:t>example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only)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643" y="5852100"/>
            <a:ext cx="3346002" cy="41075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02070" y="2728975"/>
            <a:ext cx="1486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Chain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rule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0254" y="483234"/>
            <a:ext cx="70034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Backprop </a:t>
            </a:r>
            <a:r>
              <a:rPr spc="-5" dirty="0"/>
              <a:t>in </a:t>
            </a:r>
            <a:r>
              <a:rPr dirty="0"/>
              <a:t>a </a:t>
            </a:r>
            <a:r>
              <a:rPr spc="-5" dirty="0"/>
              <a:t>2-layer</a:t>
            </a:r>
            <a:r>
              <a:rPr spc="-125" dirty="0"/>
              <a:t> </a:t>
            </a:r>
            <a:r>
              <a:rPr spc="-5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85197" y="1531724"/>
            <a:ext cx="5521325" cy="4681855"/>
            <a:chOff x="1585197" y="1531724"/>
            <a:chExt cx="5521325" cy="4681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197" y="1531724"/>
              <a:ext cx="5421777" cy="46814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80438" y="2998470"/>
              <a:ext cx="5113020" cy="2735580"/>
            </a:xfrm>
            <a:custGeom>
              <a:avLst/>
              <a:gdLst/>
              <a:ahLst/>
              <a:cxnLst/>
              <a:rect l="l" t="t" r="r" b="b"/>
              <a:pathLst>
                <a:path w="5113020" h="2735579">
                  <a:moveTo>
                    <a:pt x="0" y="1295399"/>
                  </a:moveTo>
                  <a:lnTo>
                    <a:pt x="5039868" y="1295399"/>
                  </a:lnTo>
                  <a:lnTo>
                    <a:pt x="5039868" y="0"/>
                  </a:lnTo>
                  <a:lnTo>
                    <a:pt x="0" y="0"/>
                  </a:lnTo>
                  <a:lnTo>
                    <a:pt x="0" y="1295399"/>
                  </a:lnTo>
                  <a:close/>
                </a:path>
                <a:path w="5113020" h="2735579">
                  <a:moveTo>
                    <a:pt x="0" y="2159507"/>
                  </a:moveTo>
                  <a:lnTo>
                    <a:pt x="5113020" y="2159507"/>
                  </a:lnTo>
                  <a:lnTo>
                    <a:pt x="5113020" y="1367027"/>
                  </a:lnTo>
                  <a:lnTo>
                    <a:pt x="0" y="1367027"/>
                  </a:lnTo>
                  <a:lnTo>
                    <a:pt x="0" y="2159507"/>
                  </a:lnTo>
                  <a:close/>
                </a:path>
                <a:path w="5113020" h="2735579">
                  <a:moveTo>
                    <a:pt x="0" y="2735579"/>
                  </a:moveTo>
                  <a:lnTo>
                    <a:pt x="5113020" y="2735579"/>
                  </a:lnTo>
                  <a:lnTo>
                    <a:pt x="5113020" y="2377440"/>
                  </a:lnTo>
                  <a:lnTo>
                    <a:pt x="0" y="2377440"/>
                  </a:lnTo>
                  <a:lnTo>
                    <a:pt x="0" y="2735579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532369" y="3278885"/>
            <a:ext cx="126238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Forward  </a:t>
            </a:r>
            <a:r>
              <a:rPr sz="1800" spc="-5" dirty="0">
                <a:latin typeface="Arial"/>
                <a:cs typeface="Arial"/>
              </a:rPr>
              <a:t>pr</a:t>
            </a:r>
            <a:r>
              <a:rPr sz="1800" spc="-15" dirty="0">
                <a:latin typeface="Arial"/>
                <a:cs typeface="Arial"/>
              </a:rPr>
              <a:t>o</a:t>
            </a:r>
            <a:r>
              <a:rPr sz="1800" spc="-5" dirty="0">
                <a:latin typeface="Arial"/>
                <a:cs typeface="Arial"/>
              </a:rPr>
              <a:t>p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g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Arial"/>
              <a:cs typeface="Arial"/>
            </a:endParaRPr>
          </a:p>
          <a:p>
            <a:pPr marL="45720" marR="2717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Update  gr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d</a:t>
            </a:r>
            <a:r>
              <a:rPr sz="1800" spc="-15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Arial"/>
              <a:cs typeface="Arial"/>
            </a:endParaRPr>
          </a:p>
          <a:p>
            <a:pPr marL="12700" marR="8826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Update  p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ram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ters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 marR="5080" indent="76327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Tricky </a:t>
            </a:r>
            <a:r>
              <a:rPr spc="-5" dirty="0"/>
              <a:t>issues </a:t>
            </a:r>
            <a:r>
              <a:rPr dirty="0"/>
              <a:t>with  </a:t>
            </a:r>
            <a:r>
              <a:rPr spc="-5" dirty="0"/>
              <a:t>neural network</a:t>
            </a:r>
            <a:r>
              <a:rPr spc="-60" dirty="0"/>
              <a:t> </a:t>
            </a:r>
            <a:r>
              <a:rPr spc="-5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578725" cy="497967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Sensitive </a:t>
            </a:r>
            <a:r>
              <a:rPr sz="3200" spc="-15" dirty="0">
                <a:latin typeface="Segoe UI"/>
                <a:cs typeface="Segoe UI"/>
              </a:rPr>
              <a:t>to</a:t>
            </a:r>
            <a:r>
              <a:rPr sz="320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initialization</a:t>
            </a:r>
            <a:endParaRPr sz="32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Objective is non-convex, many local</a:t>
            </a:r>
            <a:r>
              <a:rPr sz="2800" spc="-4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optima</a:t>
            </a:r>
            <a:endParaRPr sz="2800" dirty="0">
              <a:latin typeface="Segoe UI"/>
              <a:cs typeface="Segoe UI"/>
            </a:endParaRPr>
          </a:p>
          <a:p>
            <a:pPr marL="756285" marR="116839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In practice: </a:t>
            </a:r>
            <a:r>
              <a:rPr sz="2800" spc="10" dirty="0">
                <a:latin typeface="Segoe UI"/>
                <a:cs typeface="Segoe UI"/>
              </a:rPr>
              <a:t>start </a:t>
            </a:r>
            <a:r>
              <a:rPr sz="2800" spc="-5" dirty="0">
                <a:latin typeface="Segoe UI"/>
                <a:cs typeface="Segoe UI"/>
              </a:rPr>
              <a:t>with </a:t>
            </a:r>
            <a:r>
              <a:rPr lang="en-US" sz="2800" spc="-5" dirty="0">
                <a:latin typeface="Segoe UI"/>
                <a:cs typeface="Segoe UI"/>
              </a:rPr>
              <a:t>small </a:t>
            </a:r>
            <a:r>
              <a:rPr sz="2800" spc="-5" dirty="0">
                <a:latin typeface="Segoe UI"/>
                <a:cs typeface="Segoe UI"/>
              </a:rPr>
              <a:t>random </a:t>
            </a:r>
            <a:r>
              <a:rPr sz="2800" spc="-10" dirty="0">
                <a:latin typeface="Segoe UI"/>
                <a:cs typeface="Segoe UI"/>
              </a:rPr>
              <a:t>values </a:t>
            </a:r>
            <a:r>
              <a:rPr sz="2800" spc="-5" dirty="0">
                <a:latin typeface="Segoe UI"/>
                <a:cs typeface="Segoe UI"/>
              </a:rPr>
              <a:t>rather  than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zeros</a:t>
            </a:r>
            <a:endParaRPr sz="28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–"/>
            </a:pPr>
            <a:endParaRPr sz="27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Many other</a:t>
            </a:r>
            <a:r>
              <a:rPr sz="3200" spc="-3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hyperparameters</a:t>
            </a:r>
            <a:endParaRPr sz="3200" dirty="0">
              <a:latin typeface="Segoe UI"/>
              <a:cs typeface="Segoe UI"/>
            </a:endParaRPr>
          </a:p>
          <a:p>
            <a:pPr marL="756285" marR="516890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Number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hidden units (and potentially  hidden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layers)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Gradient </a:t>
            </a:r>
            <a:r>
              <a:rPr sz="2800" spc="-5" dirty="0">
                <a:latin typeface="Segoe UI"/>
                <a:cs typeface="Segoe UI"/>
              </a:rPr>
              <a:t>descent </a:t>
            </a:r>
            <a:r>
              <a:rPr sz="2800" spc="-10" dirty="0">
                <a:latin typeface="Segoe UI"/>
                <a:cs typeface="Segoe UI"/>
              </a:rPr>
              <a:t>learning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rate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Segoe UI"/>
                <a:cs typeface="Segoe UI"/>
              </a:rPr>
              <a:t>Stopping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criterion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204" y="147955"/>
            <a:ext cx="434213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0985">
              <a:lnSpc>
                <a:spcPct val="100000"/>
              </a:lnSpc>
              <a:spcBef>
                <a:spcPts val="100"/>
              </a:spcBef>
              <a:tabLst>
                <a:tab pos="759460" algn="l"/>
              </a:tabLst>
            </a:pPr>
            <a:r>
              <a:rPr spc="-5" dirty="0"/>
              <a:t>Neural networks  vs.	linear</a:t>
            </a:r>
            <a:r>
              <a:rPr spc="-55" dirty="0"/>
              <a:t> </a:t>
            </a:r>
            <a:r>
              <a:rPr dirty="0"/>
              <a:t>classifiers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2050821"/>
            <a:ext cx="5405755" cy="36106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10" dirty="0">
                <a:latin typeface="Segoe UI"/>
                <a:cs typeface="Segoe UI"/>
              </a:rPr>
              <a:t>Advantages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10" dirty="0">
                <a:latin typeface="Segoe UI"/>
                <a:cs typeface="Segoe UI"/>
              </a:rPr>
              <a:t>Neural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Networks: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5" dirty="0">
                <a:latin typeface="Segoe UI"/>
                <a:cs typeface="Segoe UI"/>
              </a:rPr>
              <a:t>More </a:t>
            </a:r>
            <a:r>
              <a:rPr sz="2800" spc="-10" dirty="0">
                <a:latin typeface="Segoe UI"/>
                <a:cs typeface="Segoe UI"/>
              </a:rPr>
              <a:t>expressive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5" dirty="0">
                <a:latin typeface="Segoe UI"/>
                <a:cs typeface="Segoe UI"/>
              </a:rPr>
              <a:t>Less </a:t>
            </a:r>
            <a:r>
              <a:rPr sz="2800" spc="-10" dirty="0">
                <a:latin typeface="Segoe UI"/>
                <a:cs typeface="Segoe UI"/>
              </a:rPr>
              <a:t>feature</a:t>
            </a:r>
            <a:r>
              <a:rPr sz="2800" spc="-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engineering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–"/>
            </a:pPr>
            <a:endParaRPr sz="3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Segoe UI"/>
                <a:cs typeface="Segoe UI"/>
              </a:rPr>
              <a:t>Inconvenients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10" dirty="0">
                <a:latin typeface="Segoe UI"/>
                <a:cs typeface="Segoe UI"/>
              </a:rPr>
              <a:t>Neural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Networks: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Harder </a:t>
            </a:r>
            <a:r>
              <a:rPr sz="2800" spc="-15" dirty="0">
                <a:latin typeface="Segoe UI"/>
                <a:cs typeface="Segoe UI"/>
              </a:rPr>
              <a:t>to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train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Harder </a:t>
            </a:r>
            <a:r>
              <a:rPr sz="2800" spc="-15" dirty="0">
                <a:latin typeface="Segoe UI"/>
                <a:cs typeface="Segoe UI"/>
              </a:rPr>
              <a:t>to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interpret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5786" y="483234"/>
            <a:ext cx="68732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Neural </a:t>
            </a:r>
            <a:r>
              <a:rPr dirty="0"/>
              <a:t>Network</a:t>
            </a:r>
            <a:r>
              <a:rPr spc="-55" dirty="0"/>
              <a:t> </a:t>
            </a:r>
            <a:r>
              <a:rPr spc="-15" dirty="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413625" cy="4443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0" dirty="0">
                <a:latin typeface="Segoe UI"/>
                <a:cs typeface="Segoe UI"/>
              </a:rPr>
              <a:t>We </a:t>
            </a:r>
            <a:r>
              <a:rPr sz="3200" dirty="0">
                <a:latin typeface="Segoe UI"/>
                <a:cs typeface="Segoe UI"/>
              </a:rPr>
              <a:t>focused on a </a:t>
            </a:r>
            <a:r>
              <a:rPr sz="3200" b="1" spc="-5" dirty="0">
                <a:latin typeface="Segoe UI"/>
                <a:cs typeface="Segoe UI"/>
              </a:rPr>
              <a:t>2-layer</a:t>
            </a:r>
            <a:r>
              <a:rPr sz="3200" b="1" spc="-55" dirty="0">
                <a:latin typeface="Segoe UI"/>
                <a:cs typeface="Segoe UI"/>
              </a:rPr>
              <a:t> </a:t>
            </a:r>
            <a:r>
              <a:rPr sz="3200" b="1" spc="5" dirty="0">
                <a:latin typeface="Segoe UI"/>
                <a:cs typeface="Segoe UI"/>
              </a:rPr>
              <a:t>feedforward</a:t>
            </a:r>
            <a:endParaRPr sz="32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Segoe UI"/>
                <a:cs typeface="Segoe UI"/>
              </a:rPr>
              <a:t>network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Other </a:t>
            </a:r>
            <a:r>
              <a:rPr sz="3200" spc="-10" dirty="0">
                <a:latin typeface="Segoe UI"/>
                <a:cs typeface="Segoe UI"/>
              </a:rPr>
              <a:t>architectures are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possible</a:t>
            </a: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Segoe UI"/>
                <a:cs typeface="Segoe UI"/>
              </a:rPr>
              <a:t>More </a:t>
            </a:r>
            <a:r>
              <a:rPr sz="2800" spc="-5" dirty="0">
                <a:latin typeface="Segoe UI"/>
                <a:cs typeface="Segoe UI"/>
              </a:rPr>
              <a:t>than 2 layers </a:t>
            </a:r>
            <a:r>
              <a:rPr sz="2800" spc="-10" dirty="0">
                <a:latin typeface="Segoe UI"/>
                <a:cs typeface="Segoe UI"/>
              </a:rPr>
              <a:t>(aka </a:t>
            </a:r>
            <a:r>
              <a:rPr sz="2800" spc="-5" dirty="0">
                <a:latin typeface="Segoe UI"/>
                <a:cs typeface="Segoe UI"/>
              </a:rPr>
              <a:t>deep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learning)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Segoe UI"/>
                <a:cs typeface="Segoe UI"/>
              </a:rPr>
              <a:t>Recurrent </a:t>
            </a:r>
            <a:r>
              <a:rPr sz="2800" spc="-5" dirty="0">
                <a:latin typeface="Segoe UI"/>
                <a:cs typeface="Segoe UI"/>
              </a:rPr>
              <a:t>network (i.e. network has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cycles)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Can </a:t>
            </a:r>
            <a:r>
              <a:rPr sz="2800" spc="-10" dirty="0">
                <a:latin typeface="Segoe UI"/>
                <a:cs typeface="Segoe UI"/>
              </a:rPr>
              <a:t>still </a:t>
            </a:r>
            <a:r>
              <a:rPr sz="2800" spc="-5" dirty="0">
                <a:latin typeface="Segoe UI"/>
                <a:cs typeface="Segoe UI"/>
              </a:rPr>
              <a:t>be trained with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backpropagation</a:t>
            </a:r>
            <a:endParaRPr sz="2800" dirty="0">
              <a:latin typeface="Segoe UI"/>
              <a:cs typeface="Segoe UI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But </a:t>
            </a:r>
            <a:r>
              <a:rPr sz="2400" spc="-15" dirty="0">
                <a:latin typeface="Segoe UI"/>
                <a:cs typeface="Segoe UI"/>
              </a:rPr>
              <a:t>more </a:t>
            </a:r>
            <a:r>
              <a:rPr sz="2400" spc="-5" dirty="0">
                <a:latin typeface="Segoe UI"/>
                <a:cs typeface="Segoe UI"/>
              </a:rPr>
              <a:t>issues </a:t>
            </a:r>
            <a:r>
              <a:rPr sz="2400" dirty="0">
                <a:latin typeface="Segoe UI"/>
                <a:cs typeface="Segoe UI"/>
              </a:rPr>
              <a:t>arise when </a:t>
            </a:r>
            <a:r>
              <a:rPr sz="2400" spc="-5" dirty="0">
                <a:latin typeface="Segoe UI"/>
                <a:cs typeface="Segoe UI"/>
              </a:rPr>
              <a:t>networks </a:t>
            </a:r>
            <a:r>
              <a:rPr sz="2400" dirty="0">
                <a:latin typeface="Segoe UI"/>
                <a:cs typeface="Segoe UI"/>
              </a:rPr>
              <a:t>get </a:t>
            </a:r>
            <a:r>
              <a:rPr sz="2400" spc="-15" dirty="0">
                <a:latin typeface="Segoe UI"/>
                <a:cs typeface="Segoe UI"/>
              </a:rPr>
              <a:t>more  </a:t>
            </a:r>
            <a:r>
              <a:rPr sz="2400" spc="-5" dirty="0">
                <a:latin typeface="Segoe UI"/>
                <a:cs typeface="Segoe UI"/>
              </a:rPr>
              <a:t>complex </a:t>
            </a:r>
            <a:r>
              <a:rPr sz="2400" dirty="0">
                <a:latin typeface="Segoe UI"/>
                <a:cs typeface="Segoe UI"/>
              </a:rPr>
              <a:t>(e.g., </a:t>
            </a:r>
            <a:r>
              <a:rPr sz="2400" spc="-10" dirty="0">
                <a:latin typeface="Segoe UI"/>
                <a:cs typeface="Segoe UI"/>
              </a:rPr>
              <a:t>vanishing</a:t>
            </a:r>
            <a:r>
              <a:rPr sz="2400" spc="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gradients)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997" y="483234"/>
            <a:ext cx="53828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you should</a:t>
            </a:r>
            <a:r>
              <a:rPr spc="-70" dirty="0"/>
              <a:t> </a:t>
            </a:r>
            <a:r>
              <a:rPr spc="-10" dirty="0"/>
              <a:t>know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536177"/>
            <a:ext cx="7355840" cy="420052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9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5" dirty="0">
                <a:latin typeface="Segoe UI"/>
                <a:cs typeface="Segoe UI"/>
              </a:rPr>
              <a:t>What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10" dirty="0">
                <a:latin typeface="Segoe UI"/>
                <a:cs typeface="Segoe UI"/>
              </a:rPr>
              <a:t>Neural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Networks?</a:t>
            </a:r>
            <a:endParaRPr sz="2800">
              <a:latin typeface="Segoe UI"/>
              <a:cs typeface="Segoe UI"/>
            </a:endParaRPr>
          </a:p>
          <a:p>
            <a:pPr marL="697865" lvl="1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Segoe UI"/>
                <a:cs typeface="Segoe UI"/>
              </a:rPr>
              <a:t>Multilayer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perceptron</a:t>
            </a:r>
            <a:endParaRPr sz="24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5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5" dirty="0">
                <a:latin typeface="Segoe UI"/>
                <a:cs typeface="Segoe UI"/>
              </a:rPr>
              <a:t>How </a:t>
            </a:r>
            <a:r>
              <a:rPr sz="2800" spc="-20" dirty="0">
                <a:latin typeface="Segoe UI"/>
                <a:cs typeface="Segoe UI"/>
              </a:rPr>
              <a:t>to </a:t>
            </a:r>
            <a:r>
              <a:rPr sz="2800" spc="-15" dirty="0">
                <a:latin typeface="Segoe UI"/>
                <a:cs typeface="Segoe UI"/>
              </a:rPr>
              <a:t>make </a:t>
            </a: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spc="-10" dirty="0">
                <a:latin typeface="Segoe UI"/>
                <a:cs typeface="Segoe UI"/>
              </a:rPr>
              <a:t>prediction </a:t>
            </a:r>
            <a:r>
              <a:rPr sz="2800" spc="-5" dirty="0">
                <a:latin typeface="Segoe UI"/>
                <a:cs typeface="Segoe UI"/>
              </a:rPr>
              <a:t>given </a:t>
            </a:r>
            <a:r>
              <a:rPr sz="2800" dirty="0">
                <a:latin typeface="Segoe UI"/>
                <a:cs typeface="Segoe UI"/>
              </a:rPr>
              <a:t>an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20" dirty="0">
                <a:latin typeface="Segoe UI"/>
                <a:cs typeface="Segoe UI"/>
              </a:rPr>
              <a:t>input?</a:t>
            </a:r>
            <a:endParaRPr sz="2800">
              <a:latin typeface="Segoe UI"/>
              <a:cs typeface="Segoe UI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5" dirty="0">
                <a:latin typeface="Segoe UI"/>
                <a:cs typeface="Segoe UI"/>
              </a:rPr>
              <a:t>Forward </a:t>
            </a:r>
            <a:r>
              <a:rPr sz="2400" spc="-10" dirty="0">
                <a:latin typeface="Segoe UI"/>
                <a:cs typeface="Segoe UI"/>
              </a:rPr>
              <a:t>propagation: </a:t>
            </a:r>
            <a:r>
              <a:rPr sz="2400" spc="-5" dirty="0">
                <a:latin typeface="Segoe UI"/>
                <a:cs typeface="Segoe UI"/>
              </a:rPr>
              <a:t>Simple matrix operations </a:t>
            </a:r>
            <a:r>
              <a:rPr sz="2400" dirty="0">
                <a:latin typeface="Segoe UI"/>
                <a:cs typeface="Segoe UI"/>
              </a:rPr>
              <a:t>+  </a:t>
            </a:r>
            <a:r>
              <a:rPr sz="2400" spc="-5" dirty="0">
                <a:latin typeface="Segoe UI"/>
                <a:cs typeface="Segoe UI"/>
              </a:rPr>
              <a:t>non-linearities</a:t>
            </a:r>
            <a:endParaRPr sz="24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6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Why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neural networks</a:t>
            </a:r>
            <a:r>
              <a:rPr sz="2800" dirty="0">
                <a:latin typeface="Segoe UI"/>
                <a:cs typeface="Segoe UI"/>
              </a:rPr>
              <a:t> powerful?</a:t>
            </a:r>
            <a:endParaRPr sz="2800">
              <a:latin typeface="Segoe UI"/>
              <a:cs typeface="Segoe UI"/>
            </a:endParaRPr>
          </a:p>
          <a:p>
            <a:pPr marL="697865" lvl="1" indent="-22923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Segoe UI"/>
                <a:cs typeface="Segoe UI"/>
              </a:rPr>
              <a:t>Universal function</a:t>
            </a:r>
            <a:r>
              <a:rPr sz="2400" spc="6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approximators!</a:t>
            </a:r>
            <a:endParaRPr sz="2400">
              <a:latin typeface="Segoe UI"/>
              <a:cs typeface="Segoe UI"/>
            </a:endParaRPr>
          </a:p>
          <a:p>
            <a:pPr marL="299085" marR="2345055" indent="-299720" algn="r">
              <a:lnSpc>
                <a:spcPct val="100000"/>
              </a:lnSpc>
              <a:spcBef>
                <a:spcPts val="66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5" dirty="0">
                <a:latin typeface="Segoe UI"/>
                <a:cs typeface="Segoe UI"/>
              </a:rPr>
              <a:t>How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train neural networks?</a:t>
            </a:r>
            <a:endParaRPr sz="2800">
              <a:latin typeface="Segoe UI"/>
              <a:cs typeface="Segoe UI"/>
            </a:endParaRPr>
          </a:p>
          <a:p>
            <a:pPr marL="228600" marR="2403475" lvl="1" indent="-228600" algn="r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228600" algn="l"/>
              </a:tabLst>
            </a:pP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10" dirty="0">
                <a:latin typeface="Segoe UI"/>
                <a:cs typeface="Segoe UI"/>
              </a:rPr>
              <a:t>backpropagation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algorithm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1276</Words>
  <Application>Microsoft Office PowerPoint</Application>
  <PresentationFormat>On-screen Show (4:3)</PresentationFormat>
  <Paragraphs>259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Calibri</vt:lpstr>
      <vt:lpstr>Arial</vt:lpstr>
      <vt:lpstr>Cambria Math</vt:lpstr>
      <vt:lpstr>Calibri Light</vt:lpstr>
      <vt:lpstr>Segoe UI</vt:lpstr>
      <vt:lpstr>Segoe UI Light</vt:lpstr>
      <vt:lpstr>Times New Roman</vt:lpstr>
      <vt:lpstr>Office Theme</vt:lpstr>
      <vt:lpstr>CSCI/ARTI 8950 Machine Learning</vt:lpstr>
      <vt:lpstr>Neural Networks</vt:lpstr>
      <vt:lpstr>Neural network example (1989)</vt:lpstr>
      <vt:lpstr>Binary classification  via hyperplanes</vt:lpstr>
      <vt:lpstr>Function Approximation  with Perceptron</vt:lpstr>
      <vt:lpstr>Aside: biological inspiration</vt:lpstr>
      <vt:lpstr>Neural Networks</vt:lpstr>
      <vt:lpstr>Example of a 2-layer  perceptron</vt:lpstr>
      <vt:lpstr>Activation functions  (aka link or transfer functions)</vt:lpstr>
      <vt:lpstr>Vector of output layer  parameters</vt:lpstr>
      <vt:lpstr>What functions can we approximate  with a 2 layer perceptron?</vt:lpstr>
      <vt:lpstr>Two-Layer Networks are  Universal Function Approximators</vt:lpstr>
      <vt:lpstr>Example: a neural network to  solve the XOR problem</vt:lpstr>
      <vt:lpstr>Example</vt:lpstr>
      <vt:lpstr>Example</vt:lpstr>
      <vt:lpstr>Discussion</vt:lpstr>
      <vt:lpstr>PowerPoint Presentation</vt:lpstr>
      <vt:lpstr>Activation Functions</vt:lpstr>
      <vt:lpstr>Activation Functions</vt:lpstr>
      <vt:lpstr>Sigmoid and Tanh comparison</vt:lpstr>
      <vt:lpstr>Forward Propagation: given input x, compute network output</vt:lpstr>
      <vt:lpstr>Neural Network Training</vt:lpstr>
      <vt:lpstr>What’s our Training Objective?</vt:lpstr>
      <vt:lpstr>Backprop in a 2-layer network</vt:lpstr>
      <vt:lpstr>Recall: gradient descent  for linear classifiers</vt:lpstr>
      <vt:lpstr>What’s our Training Objective?</vt:lpstr>
      <vt:lpstr>Gradient of objective</vt:lpstr>
      <vt:lpstr>Gradient of objective</vt:lpstr>
      <vt:lpstr>Backprop in a 2-layer network</vt:lpstr>
      <vt:lpstr>Tricky issues with  neural network training</vt:lpstr>
      <vt:lpstr>Neural networks  vs. linear classifiers</vt:lpstr>
      <vt:lpstr>Neural Network Architectures</vt:lpstr>
      <vt:lpstr>What you should know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CSCI_8950_Lec14-15_Neural_Networks</dc:title>
  <cp:lastModifiedBy>Khaled M Rasheed</cp:lastModifiedBy>
  <cp:revision>19</cp:revision>
  <dcterms:created xsi:type="dcterms:W3CDTF">2020-10-06T18:33:49Z</dcterms:created>
  <dcterms:modified xsi:type="dcterms:W3CDTF">2026-07-27T22:21:53Z</dcterms:modified>
</cp:coreProperties>
</file>