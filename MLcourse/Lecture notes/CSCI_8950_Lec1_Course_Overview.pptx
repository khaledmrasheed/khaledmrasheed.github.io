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1"/>
  </p:notesMasterIdLst>
  <p:sldIdLst>
    <p:sldId id="258" r:id="rId2"/>
    <p:sldId id="257" r:id="rId3"/>
    <p:sldId id="274" r:id="rId4"/>
    <p:sldId id="276" r:id="rId5"/>
    <p:sldId id="277" r:id="rId6"/>
    <p:sldId id="278" r:id="rId7"/>
    <p:sldId id="269" r:id="rId8"/>
    <p:sldId id="260" r:id="rId9"/>
    <p:sldId id="275" r:id="rId10"/>
    <p:sldId id="259" r:id="rId11"/>
    <p:sldId id="264" r:id="rId12"/>
    <p:sldId id="272" r:id="rId13"/>
    <p:sldId id="261" r:id="rId14"/>
    <p:sldId id="265" r:id="rId15"/>
    <p:sldId id="262" r:id="rId16"/>
    <p:sldId id="263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45"/>
    <p:restoredTop sz="93364"/>
  </p:normalViewPr>
  <p:slideViewPr>
    <p:cSldViewPr snapToGrid="0" snapToObjects="1">
      <p:cViewPr varScale="1">
        <p:scale>
          <a:sx n="108" d="100"/>
          <a:sy n="108" d="100"/>
        </p:scale>
        <p:origin x="158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34A4E-21C9-B443-963A-52EFEE30E9A8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88856B-D8D2-5641-963C-D9731B3D9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696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88856B-D8D2-5641-963C-D9731B3D9D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0824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88856B-D8D2-5641-963C-D9731B3D9D80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5872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88856B-D8D2-5641-963C-D9731B3D9D8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0831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D4174-538F-1746-B1D5-83EB90016DEC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20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540BD-7C34-C647-B71B-5EB5FFA3F4E5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105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FA5A84-467E-0E41-9A44-8BD785DD8DB1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34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46098-3874-3C48-A6BB-0649CD3059BB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2843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1E0940-CCB5-F945-9F81-E90F818E3A2E}" type="datetime1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739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D5427-F03B-9A40-8213-1ED3F59D4772}" type="datetime1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56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D9C1D8-2545-F34B-8F8D-96E0F1FAC622}" type="datetime1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109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7FD27-D206-9049-94A0-147550C98292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949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F1F5F-2C82-7A40-B2CE-2C44BBDC820E}" type="datetime1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0404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7013A1-76FB-534C-A4C5-54818D6A3229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533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EE59F5-594E-1F44-BDAF-91D7C6129BE3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54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7D3504-A429-F140-85B3-24F64E87F7E4}" type="datetime1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409F78-F563-9545-881B-B104A4FE20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531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haledmrasheed.github.io/MLcourse/" TargetMode="External"/><Relationship Id="rId2" Type="http://schemas.openxmlformats.org/officeDocument/2006/relationships/hyperlink" Target="mailto:khaled@uga.edu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hyperlink" Target="http://ciml.info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tiff"/><Relationship Id="rId4" Type="http://schemas.openxmlformats.org/officeDocument/2006/relationships/image" Target="../media/image4.tif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kaggle.com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99B54F-FBE2-B244-9D04-1DF671948D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38" y="151293"/>
            <a:ext cx="6351373" cy="725366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B143F4C-9ABA-5F48-B964-6CDDFE6FD6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4014" y="1383176"/>
            <a:ext cx="7895969" cy="93571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70C0"/>
                </a:solidFill>
              </a:rPr>
              <a:t>CSCI/ARTI 8950 Machine Learning  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BF5D78B6-3671-7A4F-A44B-4A1583A3C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2997" y="3786944"/>
            <a:ext cx="6858000" cy="2430976"/>
          </a:xfrm>
        </p:spPr>
        <p:txBody>
          <a:bodyPr>
            <a:normAutofit fontScale="92500" lnSpcReduction="10000"/>
          </a:bodyPr>
          <a:lstStyle/>
          <a:p>
            <a:r>
              <a:rPr lang="en-US" sz="28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Khaled Rasheed</a:t>
            </a:r>
          </a:p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Professor</a:t>
            </a:r>
          </a:p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Computing</a:t>
            </a:r>
          </a:p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Member</a:t>
            </a:r>
          </a:p>
          <a:p>
            <a:r>
              <a:rPr lang="en-US" kern="0" dirty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Institute for Artificial Intelligence</a:t>
            </a:r>
          </a:p>
          <a:p>
            <a:r>
              <a:rPr lang="en-US" kern="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University of Georgia</a:t>
            </a:r>
            <a:endParaRPr lang="en-US" kern="0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519D03-FCB6-E844-A170-82163A6F7E53}"/>
              </a:ext>
            </a:extLst>
          </p:cNvPr>
          <p:cNvSpPr txBox="1"/>
          <p:nvPr/>
        </p:nvSpPr>
        <p:spPr>
          <a:xfrm>
            <a:off x="2364374" y="2486282"/>
            <a:ext cx="5371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/>
              <a:t>Lecture Notes 1: </a:t>
            </a:r>
            <a:r>
              <a:rPr lang="en-US" sz="3200" b="1"/>
              <a:t>Course</a:t>
            </a:r>
            <a:r>
              <a:rPr lang="en-US" sz="2800" b="1"/>
              <a:t> </a:t>
            </a:r>
            <a:r>
              <a:rPr lang="en-US" sz="2800" b="1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4103257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General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D40963-C5CB-E346-AAB0-33A73CD38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77786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b="1" dirty="0"/>
              <a:t>Instructor</a:t>
            </a:r>
            <a:r>
              <a:rPr lang="en-US" sz="2600" dirty="0"/>
              <a:t>: Khaled Rasheed (</a:t>
            </a:r>
            <a:r>
              <a:rPr lang="en-US" sz="2600" dirty="0">
                <a:hlinkClick r:id="rId2"/>
              </a:rPr>
              <a:t>khaled@uga.edu</a:t>
            </a:r>
            <a:r>
              <a:rPr lang="en-US" sz="26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600" b="1" dirty="0"/>
              <a:t>Syllabus &amp; Course Website</a:t>
            </a:r>
            <a:r>
              <a:rPr lang="en-US" sz="2600" dirty="0"/>
              <a:t>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200" dirty="0">
                <a:hlinkClick r:id="rId3"/>
              </a:rPr>
              <a:t>https://khaledmrasheed.github.io/MLcourse/</a:t>
            </a:r>
            <a:r>
              <a:rPr lang="en-US" sz="2200" dirty="0"/>
              <a:t>   </a:t>
            </a:r>
          </a:p>
          <a:p>
            <a:pPr lvl="0">
              <a:lnSpc>
                <a:spcPct val="150000"/>
              </a:lnSpc>
            </a:pPr>
            <a:r>
              <a:rPr lang="en-US" sz="2600" b="1" dirty="0">
                <a:solidFill>
                  <a:prstClr val="black"/>
                </a:solidFill>
              </a:rPr>
              <a:t>Time and Location</a:t>
            </a:r>
            <a:r>
              <a:rPr lang="en-US" sz="2600" dirty="0">
                <a:solidFill>
                  <a:prstClr val="black"/>
                </a:solidFill>
              </a:rPr>
              <a:t>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sz="2600" dirty="0">
                <a:solidFill>
                  <a:prstClr val="black"/>
                </a:solidFill>
              </a:rPr>
              <a:t>M 4:35pm-5:30pm; TR: 4:35pm-5:55pm (Boyd 222,221)</a:t>
            </a:r>
          </a:p>
          <a:p>
            <a:pPr lvl="0">
              <a:lnSpc>
                <a:spcPct val="150000"/>
              </a:lnSpc>
            </a:pPr>
            <a:r>
              <a:rPr lang="en-US" sz="2600" b="1" dirty="0">
                <a:solidFill>
                  <a:prstClr val="black"/>
                </a:solidFill>
              </a:rPr>
              <a:t>Office Hours and Location:</a:t>
            </a:r>
          </a:p>
          <a:p>
            <a:pPr marL="0" lvl="0" indent="0">
              <a:lnSpc>
                <a:spcPct val="150000"/>
              </a:lnSpc>
              <a:buNone/>
            </a:pPr>
            <a:r>
              <a:rPr lang="en-US" altLang="zh-CN" sz="2600" dirty="0">
                <a:solidFill>
                  <a:prstClr val="black"/>
                </a:solidFill>
              </a:rPr>
              <a:t>Thursday 10:00am</a:t>
            </a:r>
            <a:r>
              <a:rPr lang="zh-CN" altLang="en-US" sz="2600" dirty="0">
                <a:solidFill>
                  <a:prstClr val="black"/>
                </a:solidFill>
              </a:rPr>
              <a:t> </a:t>
            </a:r>
            <a:r>
              <a:rPr lang="en-US" sz="2600" dirty="0">
                <a:solidFill>
                  <a:prstClr val="black"/>
                </a:solidFill>
              </a:rPr>
              <a:t>–</a:t>
            </a:r>
            <a:r>
              <a:rPr lang="zh-CN" altLang="en-US" sz="2600" dirty="0">
                <a:solidFill>
                  <a:prstClr val="black"/>
                </a:solidFill>
              </a:rPr>
              <a:t> </a:t>
            </a:r>
            <a:r>
              <a:rPr lang="en-US" altLang="zh-CN" sz="2600" dirty="0">
                <a:solidFill>
                  <a:prstClr val="black"/>
                </a:solidFill>
              </a:rPr>
              <a:t>12:00pm</a:t>
            </a:r>
            <a:r>
              <a:rPr lang="en-US" sz="2600" dirty="0">
                <a:solidFill>
                  <a:prstClr val="black"/>
                </a:solidFill>
              </a:rPr>
              <a:t> (Boyd 543)</a:t>
            </a:r>
          </a:p>
          <a:p>
            <a:pPr marL="0" indent="0">
              <a:lnSpc>
                <a:spcPct val="100000"/>
              </a:lnSpc>
              <a:buNone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1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9B8969-9666-2548-9ADC-9D2CF1F84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144" y="1462937"/>
            <a:ext cx="8753856" cy="53950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325" y="286141"/>
            <a:ext cx="851535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What Can We Do with Machine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Learning?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3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DFB33D2-39D8-CA4B-B9ED-7253F26597D0}"/>
              </a:ext>
            </a:extLst>
          </p:cNvPr>
          <p:cNvSpPr/>
          <p:nvPr/>
        </p:nvSpPr>
        <p:spPr>
          <a:xfrm>
            <a:off x="6608826" y="1243429"/>
            <a:ext cx="718566" cy="4390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11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Machine Learning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8161782" cy="46493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Paradigm: “</a:t>
            </a:r>
            <a:r>
              <a:rPr lang="en-US" sz="2600" dirty="0">
                <a:solidFill>
                  <a:schemeClr val="accent1"/>
                </a:solidFill>
              </a:rPr>
              <a:t>Programming by example</a:t>
            </a:r>
            <a:r>
              <a:rPr lang="en-US" sz="2600" dirty="0"/>
              <a:t>”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Replace “human writing code” with “human supplying data”</a:t>
            </a:r>
          </a:p>
          <a:p>
            <a:pPr lvl="1">
              <a:lnSpc>
                <a:spcPct val="150000"/>
              </a:lnSpc>
            </a:pPr>
            <a:endParaRPr lang="en-US" sz="2200" dirty="0"/>
          </a:p>
          <a:p>
            <a:pPr>
              <a:lnSpc>
                <a:spcPct val="150000"/>
              </a:lnSpc>
            </a:pPr>
            <a:r>
              <a:rPr lang="en-US" sz="2600" dirty="0"/>
              <a:t>Most central issue: </a:t>
            </a:r>
            <a:r>
              <a:rPr lang="en-US" sz="2600" dirty="0">
                <a:solidFill>
                  <a:schemeClr val="accent1"/>
                </a:solidFill>
              </a:rPr>
              <a:t>generalization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How to generalize from “training” examples to “test” examples?</a:t>
            </a:r>
          </a:p>
          <a:p>
            <a:pPr lvl="1">
              <a:lnSpc>
                <a:spcPct val="150000"/>
              </a:lnSpc>
            </a:pPr>
            <a:r>
              <a:rPr lang="en-US" sz="2200" dirty="0"/>
              <a:t>Difficulties include noise, over and under fitting, big data .. etc.</a:t>
            </a:r>
          </a:p>
        </p:txBody>
      </p:sp>
    </p:spTree>
    <p:extLst>
      <p:ext uri="{BB962C8B-B14F-4D97-AF65-F5344CB8AC3E}">
        <p14:creationId xmlns:p14="http://schemas.microsoft.com/office/powerpoint/2010/main" val="3875603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A Growing and Fast-Moving Field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161782" cy="4649315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2600" dirty="0"/>
              <a:t>Broad applicability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Finance, robotics, vision, machine translation, Bioinformatics, medicine, etc.</a:t>
            </a:r>
          </a:p>
          <a:p>
            <a:pPr>
              <a:lnSpc>
                <a:spcPct val="114000"/>
              </a:lnSpc>
            </a:pPr>
            <a:endParaRPr lang="en-US" sz="2600" dirty="0"/>
          </a:p>
          <a:p>
            <a:pPr>
              <a:lnSpc>
                <a:spcPct val="114000"/>
              </a:lnSpc>
            </a:pPr>
            <a:r>
              <a:rPr lang="en-US" sz="2600" dirty="0"/>
              <a:t>Close connection between theory and practice</a:t>
            </a:r>
          </a:p>
          <a:p>
            <a:pPr>
              <a:lnSpc>
                <a:spcPct val="114000"/>
              </a:lnSpc>
            </a:pPr>
            <a:endParaRPr lang="en-US" sz="2600" dirty="0"/>
          </a:p>
          <a:p>
            <a:pPr>
              <a:lnSpc>
                <a:spcPct val="114000"/>
              </a:lnSpc>
            </a:pPr>
            <a:r>
              <a:rPr lang="en-US" sz="2600" dirty="0"/>
              <a:t>Open field, lots of room for new work! 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5940394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Course Goals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9"/>
            <a:ext cx="8161782" cy="464931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4000"/>
              </a:lnSpc>
            </a:pPr>
            <a:r>
              <a:rPr lang="en-US" sz="2600" dirty="0"/>
              <a:t>By the end of the semester, you should be able to 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Look at a problem 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Identify if ML is an appropriate solution 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If so, identify what types of algorithms might be applicable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Apply those algorithms, compare and improve performance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Write a high-quality report or paper </a:t>
            </a:r>
            <a:endParaRPr lang="en-US" sz="2600" dirty="0"/>
          </a:p>
          <a:p>
            <a:pPr>
              <a:lnSpc>
                <a:spcPct val="114000"/>
              </a:lnSpc>
            </a:pPr>
            <a:r>
              <a:rPr lang="en-US" sz="2600" dirty="0"/>
              <a:t>This course is </a:t>
            </a:r>
            <a:r>
              <a:rPr lang="en-US" sz="2600" dirty="0">
                <a:solidFill>
                  <a:srgbClr val="C00000"/>
                </a:solidFill>
              </a:rPr>
              <a:t>not</a:t>
            </a:r>
            <a:r>
              <a:rPr lang="en-US" sz="2600" dirty="0"/>
              <a:t> 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 complete survey of ML algorithms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 theoretical study of ML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 course devoted to Deep Learning or Large Language Models</a:t>
            </a:r>
          </a:p>
          <a:p>
            <a:pPr lvl="1">
              <a:lnSpc>
                <a:spcPct val="114000"/>
              </a:lnSpc>
            </a:pPr>
            <a:r>
              <a:rPr lang="en-US" sz="2200" dirty="0"/>
              <a:t>A tutorial on ML toolkits such as </a:t>
            </a:r>
            <a:r>
              <a:rPr lang="en-US" altLang="zh-CN" sz="2200" dirty="0" err="1"/>
              <a:t>Scikit</a:t>
            </a:r>
            <a:r>
              <a:rPr lang="en-US" altLang="zh-CN" sz="2200" dirty="0"/>
              <a:t>-Learn</a:t>
            </a:r>
            <a:r>
              <a:rPr lang="en-US" sz="2200" dirty="0"/>
              <a:t>, TensorFlow, …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327469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ML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Related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Courses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at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UGA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5142987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altLang="zh-CN" sz="2600" dirty="0"/>
              <a:t>Machine</a:t>
            </a:r>
            <a:r>
              <a:rPr lang="zh-CN" altLang="en-US" sz="2600" dirty="0"/>
              <a:t> </a:t>
            </a:r>
            <a:r>
              <a:rPr lang="en-US" altLang="zh-CN" sz="2600" dirty="0"/>
              <a:t>Learning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8950</a:t>
            </a:r>
            <a:r>
              <a:rPr lang="zh-CN" altLang="en-US" sz="2200" dirty="0"/>
              <a:t> </a:t>
            </a:r>
            <a:r>
              <a:rPr lang="en-US" altLang="zh-CN" sz="2200" dirty="0"/>
              <a:t>Machine</a:t>
            </a:r>
            <a:r>
              <a:rPr lang="zh-CN" altLang="en-US" sz="2200" dirty="0"/>
              <a:t> </a:t>
            </a:r>
            <a:r>
              <a:rPr lang="en-US" altLang="zh-CN" sz="2200" dirty="0"/>
              <a:t>Learning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 8945 Advanced Representation Learning 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 8265 Trustworthy Machine Learning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 8951 Large-Scale Optimization for Machine Learning</a:t>
            </a:r>
          </a:p>
          <a:p>
            <a:pPr>
              <a:lnSpc>
                <a:spcPct val="120000"/>
              </a:lnSpc>
            </a:pPr>
            <a:r>
              <a:rPr lang="en-US" altLang="zh-CN" sz="2600" dirty="0"/>
              <a:t>Artificial</a:t>
            </a:r>
            <a:r>
              <a:rPr lang="zh-CN" altLang="en-US" sz="2600" dirty="0"/>
              <a:t> </a:t>
            </a:r>
            <a:r>
              <a:rPr lang="en-US" altLang="zh-CN" sz="2600" dirty="0"/>
              <a:t>Intelligence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4550/6550</a:t>
            </a:r>
            <a:r>
              <a:rPr lang="zh-CN" altLang="en-US" sz="2200" dirty="0"/>
              <a:t> </a:t>
            </a:r>
            <a:r>
              <a:rPr lang="en-US" altLang="zh-CN" sz="2200" dirty="0"/>
              <a:t>Artificial</a:t>
            </a:r>
            <a:r>
              <a:rPr lang="zh-CN" altLang="en-US" sz="2200" dirty="0"/>
              <a:t> </a:t>
            </a:r>
            <a:r>
              <a:rPr lang="en-US" altLang="zh-CN" sz="2200" dirty="0"/>
              <a:t>Intelligence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4560/6560</a:t>
            </a:r>
            <a:r>
              <a:rPr lang="zh-CN" altLang="en-US" sz="2200" dirty="0"/>
              <a:t> </a:t>
            </a:r>
            <a:r>
              <a:rPr lang="en-US" altLang="zh-CN" sz="2200" dirty="0"/>
              <a:t>Evolutionary Computation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8050</a:t>
            </a:r>
            <a:r>
              <a:rPr lang="zh-CN" altLang="en-US" sz="2200" dirty="0"/>
              <a:t> </a:t>
            </a:r>
            <a:r>
              <a:rPr lang="en-US" altLang="zh-CN" sz="2200" dirty="0"/>
              <a:t>Knowledge-Based Systems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8820</a:t>
            </a:r>
            <a:r>
              <a:rPr lang="zh-CN" altLang="en-US" sz="2200" dirty="0"/>
              <a:t> </a:t>
            </a:r>
            <a:r>
              <a:rPr lang="en-US" altLang="zh-CN" sz="2200" dirty="0"/>
              <a:t>Computer</a:t>
            </a:r>
            <a:r>
              <a:rPr lang="zh-CN" altLang="en-US" sz="2200" dirty="0"/>
              <a:t> </a:t>
            </a:r>
            <a:r>
              <a:rPr lang="en-US" altLang="zh-CN" sz="2200" dirty="0"/>
              <a:t>Vision</a:t>
            </a:r>
            <a:r>
              <a:rPr lang="zh-CN" altLang="en-US" sz="2200" dirty="0"/>
              <a:t> </a:t>
            </a:r>
            <a:r>
              <a:rPr lang="en-US" altLang="zh-CN" sz="2200" dirty="0"/>
              <a:t>and</a:t>
            </a:r>
            <a:r>
              <a:rPr lang="zh-CN" altLang="en-US" sz="2200" dirty="0"/>
              <a:t> </a:t>
            </a:r>
            <a:r>
              <a:rPr lang="en-US" altLang="zh-CN" sz="2200" dirty="0"/>
              <a:t>Pattern</a:t>
            </a:r>
            <a:r>
              <a:rPr lang="zh-CN" altLang="en-US" sz="2200" dirty="0"/>
              <a:t> </a:t>
            </a:r>
            <a:r>
              <a:rPr lang="en-US" altLang="zh-CN" sz="2200" dirty="0"/>
              <a:t>Recognition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8920</a:t>
            </a:r>
            <a:r>
              <a:rPr lang="zh-CN" altLang="en-US" sz="2200" dirty="0"/>
              <a:t> </a:t>
            </a:r>
            <a:r>
              <a:rPr lang="en-US" altLang="zh-CN" sz="2200" dirty="0"/>
              <a:t>Decision</a:t>
            </a:r>
            <a:r>
              <a:rPr lang="zh-CN" altLang="en-US" sz="2200" dirty="0"/>
              <a:t> </a:t>
            </a:r>
            <a:r>
              <a:rPr lang="en-US" altLang="zh-CN" sz="2200" dirty="0"/>
              <a:t>Making</a:t>
            </a:r>
            <a:r>
              <a:rPr lang="zh-CN" altLang="en-US" sz="2200" dirty="0"/>
              <a:t> </a:t>
            </a:r>
            <a:r>
              <a:rPr lang="en-US" altLang="zh-CN" sz="2200" dirty="0"/>
              <a:t>under</a:t>
            </a:r>
            <a:r>
              <a:rPr lang="zh-CN" altLang="en-US" sz="2200" dirty="0"/>
              <a:t> </a:t>
            </a:r>
            <a:r>
              <a:rPr lang="en-US" altLang="zh-CN" sz="2200" dirty="0"/>
              <a:t>Uncertainty</a:t>
            </a:r>
          </a:p>
          <a:p>
            <a:pPr>
              <a:lnSpc>
                <a:spcPct val="120000"/>
              </a:lnSpc>
            </a:pPr>
            <a:r>
              <a:rPr lang="en-US" altLang="zh-CN" sz="2600" dirty="0"/>
              <a:t>Data</a:t>
            </a:r>
            <a:r>
              <a:rPr lang="zh-CN" altLang="en-US" sz="2600" dirty="0"/>
              <a:t> </a:t>
            </a:r>
            <a:r>
              <a:rPr lang="en-US" altLang="zh-CN" sz="2600" dirty="0"/>
              <a:t>Science</a:t>
            </a:r>
            <a:endParaRPr lang="en-US" sz="2600" dirty="0"/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3330/4360/6360</a:t>
            </a:r>
            <a:r>
              <a:rPr lang="zh-CN" altLang="en-US" sz="2200" dirty="0"/>
              <a:t> </a:t>
            </a:r>
            <a:r>
              <a:rPr lang="en-US" altLang="zh-CN" sz="2200" dirty="0"/>
              <a:t>Data</a:t>
            </a:r>
            <a:r>
              <a:rPr lang="zh-CN" altLang="en-US" sz="2200" dirty="0"/>
              <a:t> </a:t>
            </a:r>
            <a:r>
              <a:rPr lang="en-US" altLang="zh-CN" sz="2200" dirty="0"/>
              <a:t>Science</a:t>
            </a:r>
            <a:r>
              <a:rPr lang="zh-CN" altLang="en-US" sz="2200" dirty="0"/>
              <a:t> </a:t>
            </a:r>
            <a:r>
              <a:rPr lang="en-US" altLang="zh-CN" sz="2200" dirty="0"/>
              <a:t>I/II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4380/6380</a:t>
            </a:r>
            <a:r>
              <a:rPr lang="zh-CN" altLang="en-US" sz="2200" dirty="0"/>
              <a:t> </a:t>
            </a:r>
            <a:r>
              <a:rPr lang="en-US" altLang="zh-CN" sz="2200" dirty="0"/>
              <a:t>Data</a:t>
            </a:r>
            <a:r>
              <a:rPr lang="zh-CN" altLang="en-US" sz="2200" dirty="0"/>
              <a:t> </a:t>
            </a:r>
            <a:r>
              <a:rPr lang="en-US" altLang="zh-CN" sz="2200" dirty="0"/>
              <a:t>Mining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8955</a:t>
            </a:r>
            <a:r>
              <a:rPr lang="zh-CN" altLang="en-US" sz="2200" dirty="0"/>
              <a:t> </a:t>
            </a:r>
            <a:r>
              <a:rPr lang="en-US" altLang="zh-CN" sz="2200" dirty="0"/>
              <a:t>Advanced Data Analytics</a:t>
            </a:r>
          </a:p>
          <a:p>
            <a:pPr lvl="1">
              <a:lnSpc>
                <a:spcPct val="120000"/>
              </a:lnSpc>
            </a:pPr>
            <a:r>
              <a:rPr lang="en-US" altLang="zh-CN" sz="2200" dirty="0"/>
              <a:t>CSCI</a:t>
            </a:r>
            <a:r>
              <a:rPr lang="zh-CN" altLang="en-US" sz="2200" dirty="0"/>
              <a:t> </a:t>
            </a:r>
            <a:r>
              <a:rPr lang="en-US" altLang="zh-CN" sz="2200" dirty="0"/>
              <a:t>8960</a:t>
            </a:r>
            <a:r>
              <a:rPr lang="zh-CN" altLang="en-US" sz="2200" dirty="0"/>
              <a:t> </a:t>
            </a:r>
            <a:r>
              <a:rPr lang="en-US" altLang="zh-CN" sz="2200" dirty="0"/>
              <a:t>Privacy-Preserving Data Analysis</a:t>
            </a:r>
          </a:p>
          <a:p>
            <a:pPr lvl="1">
              <a:lnSpc>
                <a:spcPct val="120000"/>
              </a:lnSpc>
            </a:pPr>
            <a:endParaRPr lang="en-US" sz="22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34E4A6-BB79-9A42-8F30-E3130767C9DD}"/>
              </a:ext>
            </a:extLst>
          </p:cNvPr>
          <p:cNvSpPr txBox="1"/>
          <p:nvPr/>
        </p:nvSpPr>
        <p:spPr>
          <a:xfrm>
            <a:off x="6947485" y="4992130"/>
            <a:ext cx="15678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Incomplete</a:t>
            </a:r>
            <a:r>
              <a:rPr lang="zh-CN" altLang="en-US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list</a:t>
            </a:r>
          </a:p>
        </p:txBody>
      </p:sp>
    </p:spTree>
    <p:extLst>
      <p:ext uri="{BB962C8B-B14F-4D97-AF65-F5344CB8AC3E}">
        <p14:creationId xmlns:p14="http://schemas.microsoft.com/office/powerpoint/2010/main" val="2867377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Style of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649315"/>
          </a:xfrm>
        </p:spPr>
        <p:txBody>
          <a:bodyPr>
            <a:normAutofit/>
          </a:bodyPr>
          <a:lstStyle/>
          <a:p>
            <a:pPr>
              <a:lnSpc>
                <a:spcPct val="114000"/>
              </a:lnSpc>
            </a:pPr>
            <a:r>
              <a:rPr lang="en-US" sz="2600" dirty="0"/>
              <a:t>Graduate level course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Present an overview of machine learning approaches, models and applications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Lectures (by instructor and guest lecturers)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Readings before lectures (by students)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Paper review and presentation (by students)</a:t>
            </a:r>
          </a:p>
          <a:p>
            <a:pPr>
              <a:lnSpc>
                <a:spcPct val="114000"/>
              </a:lnSpc>
            </a:pPr>
            <a:r>
              <a:rPr lang="en-US" sz="2600" dirty="0"/>
              <a:t>Research-oriented learning with a </a:t>
            </a:r>
            <a:r>
              <a:rPr lang="en-US" altLang="zh-CN" sz="2600" b="1" i="1" dirty="0"/>
              <a:t>course</a:t>
            </a:r>
            <a:r>
              <a:rPr lang="en-US" sz="2600" b="1" i="1" dirty="0"/>
              <a:t> project</a:t>
            </a:r>
          </a:p>
          <a:p>
            <a:pPr>
              <a:lnSpc>
                <a:spcPct val="114000"/>
              </a:lnSpc>
            </a:pPr>
            <a:r>
              <a:rPr lang="en-US" altLang="zh-CN" sz="2600" dirty="0"/>
              <a:t>Homework</a:t>
            </a:r>
            <a:r>
              <a:rPr lang="zh-CN" altLang="en-US" sz="2600" dirty="0"/>
              <a:t> </a:t>
            </a:r>
            <a:r>
              <a:rPr lang="en-US" altLang="zh-CN" sz="2600" dirty="0"/>
              <a:t>and</a:t>
            </a:r>
            <a:r>
              <a:rPr lang="zh-CN" altLang="en-US" sz="2600" dirty="0"/>
              <a:t> </a:t>
            </a:r>
            <a:r>
              <a:rPr lang="en-US" altLang="zh-CN" sz="2600" dirty="0"/>
              <a:t>midterm (open notes)</a:t>
            </a: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38855907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Recommended Textbooks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64931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chemeClr val="accent1"/>
                </a:solidFill>
              </a:rPr>
              <a:t>[Main, Free] A Course in Machine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by Hal </a:t>
            </a:r>
            <a:r>
              <a:rPr lang="en-US" sz="2400" dirty="0" err="1"/>
              <a:t>Daumé</a:t>
            </a:r>
            <a:r>
              <a:rPr lang="en-US" sz="2400" dirty="0"/>
              <a:t> III   </a:t>
            </a:r>
            <a:r>
              <a:rPr lang="en-US" sz="2400" dirty="0">
                <a:hlinkClick r:id="rId2"/>
              </a:rPr>
              <a:t>http://ciml.info/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sz="2400" b="1" dirty="0"/>
              <a:t>Machine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by Tom Michell</a:t>
            </a:r>
          </a:p>
          <a:p>
            <a:pPr>
              <a:lnSpc>
                <a:spcPct val="100000"/>
              </a:lnSpc>
            </a:pPr>
            <a:r>
              <a:rPr lang="en-US" sz="2400" b="1" dirty="0"/>
              <a:t>[Free] Pattern Recognition and Machine Learning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2400" dirty="0"/>
              <a:t>by Christopher Bishop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3F643B-66AA-DD48-BF29-07881F578C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8740" y="1358584"/>
            <a:ext cx="2544562" cy="25445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C97D04-6483-4D40-98FD-0B0A7103A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8933" y="4214747"/>
            <a:ext cx="1700563" cy="256018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68FA552-DF29-2644-A51F-F5029F7948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9998" y="4214747"/>
            <a:ext cx="1908946" cy="2569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81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Recommended Prerequisites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10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6493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CSCI 6380 Data Mining </a:t>
            </a:r>
            <a:r>
              <a:rPr lang="en-US" sz="2400" i="1" dirty="0"/>
              <a:t>or</a:t>
            </a:r>
            <a:r>
              <a:rPr lang="en-US" sz="2400" dirty="0"/>
              <a:t> CSCI 6550 Artificial Intelligence</a:t>
            </a:r>
            <a:r>
              <a:rPr lang="zh-CN" altLang="en-US" sz="2400" dirty="0"/>
              <a:t> </a:t>
            </a:r>
            <a:r>
              <a:rPr lang="en-US" sz="2400" i="1" dirty="0"/>
              <a:t>or</a:t>
            </a:r>
            <a:r>
              <a:rPr lang="en-US" sz="2400" dirty="0"/>
              <a:t> CSCI 6560 Evolutionary computation </a:t>
            </a:r>
            <a:r>
              <a:rPr lang="en-US" altLang="zh-CN" sz="2400" i="1" dirty="0"/>
              <a:t>or</a:t>
            </a:r>
            <a:r>
              <a:rPr lang="zh-CN" altLang="en-US" sz="2400" i="1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machine</a:t>
            </a:r>
            <a:r>
              <a:rPr lang="zh-CN" altLang="en-US" sz="2400" dirty="0"/>
              <a:t> </a:t>
            </a:r>
            <a:r>
              <a:rPr lang="en-US" altLang="zh-CN" sz="2400" dirty="0"/>
              <a:t>learning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data</a:t>
            </a:r>
            <a:r>
              <a:rPr lang="zh-CN" altLang="en-US" sz="2400" dirty="0"/>
              <a:t> </a:t>
            </a:r>
            <a:r>
              <a:rPr lang="en-US" altLang="zh-CN" sz="2400" dirty="0"/>
              <a:t>science</a:t>
            </a:r>
            <a:r>
              <a:rPr lang="zh-CN" altLang="en-US" sz="2400" dirty="0"/>
              <a:t> </a:t>
            </a:r>
            <a:r>
              <a:rPr lang="en-US" altLang="zh-CN" sz="2400" dirty="0"/>
              <a:t>courses</a:t>
            </a:r>
            <a:endParaRPr lang="en-US" sz="2400" i="1" dirty="0"/>
          </a:p>
          <a:p>
            <a:pPr>
              <a:lnSpc>
                <a:spcPct val="150000"/>
              </a:lnSpc>
            </a:pPr>
            <a:r>
              <a:rPr lang="en-US" sz="2400" dirty="0"/>
              <a:t>Understanding the concepts of data structures and basic computer algorithms</a:t>
            </a:r>
          </a:p>
          <a:p>
            <a:pPr>
              <a:lnSpc>
                <a:spcPct val="150000"/>
              </a:lnSpc>
            </a:pPr>
            <a:r>
              <a:rPr lang="en-US" sz="2400" dirty="0"/>
              <a:t>Solid mathematics / statistics / programming background would be </a:t>
            </a:r>
            <a:r>
              <a:rPr lang="en-US" altLang="zh-CN" sz="2400" dirty="0"/>
              <a:t>very</a:t>
            </a:r>
            <a:r>
              <a:rPr lang="zh-CN" altLang="en-US" sz="2400" dirty="0"/>
              <a:t> </a:t>
            </a:r>
            <a:r>
              <a:rPr lang="en-US" altLang="zh-CN" sz="2400" dirty="0"/>
              <a:t>helpful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685013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Tentative Topics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11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49" y="1424488"/>
            <a:ext cx="8367070" cy="514298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en-US" altLang="zh-CN" sz="2400" dirty="0"/>
              <a:t>Decision Trees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altLang="zh-CN" sz="2400" dirty="0"/>
              <a:t>Geometry and Nearest Neighbors</a:t>
            </a:r>
            <a:endParaRPr lang="en-US" sz="2400" dirty="0"/>
          </a:p>
          <a:p>
            <a:pPr>
              <a:lnSpc>
                <a:spcPct val="100000"/>
              </a:lnSpc>
            </a:pPr>
            <a:r>
              <a:rPr lang="en-US" altLang="zh-CN" sz="2400" dirty="0"/>
              <a:t>Clustering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Perceptron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Multiclass Classification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Bias and Fairness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Linear Models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Probabilistic Models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Neural Networks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Evolutionary Computation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Ensemble Learning</a:t>
            </a:r>
          </a:p>
          <a:p>
            <a:pPr>
              <a:lnSpc>
                <a:spcPct val="100000"/>
              </a:lnSpc>
            </a:pPr>
            <a:r>
              <a:rPr lang="en-US" altLang="zh-CN" sz="2400" dirty="0"/>
              <a:t>Deep Learning</a:t>
            </a:r>
          </a:p>
        </p:txBody>
      </p:sp>
    </p:spTree>
    <p:extLst>
      <p:ext uri="{BB962C8B-B14F-4D97-AF65-F5344CB8AC3E}">
        <p14:creationId xmlns:p14="http://schemas.microsoft.com/office/powerpoint/2010/main" val="364096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Tentative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Schedule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12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8181718" cy="4649315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Course</a:t>
            </a:r>
            <a:r>
              <a:rPr lang="zh-CN" altLang="en-US" sz="2400" dirty="0"/>
              <a:t> </a:t>
            </a:r>
            <a:r>
              <a:rPr lang="en-US" altLang="zh-CN" sz="2400" dirty="0"/>
              <a:t>overview</a:t>
            </a:r>
            <a:r>
              <a:rPr lang="zh-CN" altLang="en-US" sz="2400" dirty="0"/>
              <a:t> </a:t>
            </a:r>
            <a:r>
              <a:rPr lang="en-US" altLang="zh-CN" sz="2400" dirty="0"/>
              <a:t>(by</a:t>
            </a:r>
            <a:r>
              <a:rPr lang="zh-CN" altLang="en-US" sz="2400" dirty="0"/>
              <a:t> </a:t>
            </a:r>
            <a:r>
              <a:rPr lang="en-US" altLang="zh-CN" sz="2400" dirty="0"/>
              <a:t>instructor)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overview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machine</a:t>
            </a:r>
            <a:r>
              <a:rPr lang="zh-CN" altLang="en-US" sz="2400" dirty="0"/>
              <a:t> </a:t>
            </a:r>
            <a:r>
              <a:rPr lang="en-US" altLang="zh-CN" sz="2400" dirty="0"/>
              <a:t>learning</a:t>
            </a:r>
            <a:r>
              <a:rPr lang="zh-CN" altLang="en-US" sz="2400" dirty="0"/>
              <a:t> </a:t>
            </a:r>
            <a:r>
              <a:rPr lang="en-US" altLang="zh-CN" sz="2400" dirty="0"/>
              <a:t>(by</a:t>
            </a:r>
            <a:r>
              <a:rPr lang="zh-CN" altLang="en-US" sz="2400" dirty="0"/>
              <a:t> </a:t>
            </a:r>
            <a:r>
              <a:rPr lang="en-US" altLang="zh-CN" sz="2400" dirty="0"/>
              <a:t>instructor)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altLang="zh-CN" sz="2400" dirty="0"/>
              <a:t>Lectures on Topics (by</a:t>
            </a:r>
            <a:r>
              <a:rPr lang="zh-CN" altLang="en-US" sz="2400" dirty="0"/>
              <a:t> </a:t>
            </a:r>
            <a:r>
              <a:rPr lang="en-US" altLang="zh-CN" sz="2400" dirty="0"/>
              <a:t>instructor)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Midterm Exam [Projected letter grades will be given after midterm]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Paper</a:t>
            </a:r>
            <a:r>
              <a:rPr lang="zh-CN" altLang="en-US" sz="2400" dirty="0"/>
              <a:t> </a:t>
            </a:r>
            <a:r>
              <a:rPr lang="en-US" altLang="zh-CN" sz="2400" dirty="0"/>
              <a:t>review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presentations</a:t>
            </a:r>
            <a:r>
              <a:rPr lang="zh-CN" altLang="en-US" sz="2400" dirty="0"/>
              <a:t> </a:t>
            </a:r>
            <a:r>
              <a:rPr lang="en-US" altLang="zh-CN" sz="2400" dirty="0"/>
              <a:t>(by</a:t>
            </a:r>
            <a:r>
              <a:rPr lang="zh-CN" altLang="en-US" sz="2400" dirty="0"/>
              <a:t> </a:t>
            </a:r>
            <a:r>
              <a:rPr lang="en-US" altLang="zh-CN" sz="2400" dirty="0"/>
              <a:t>students)</a:t>
            </a:r>
            <a:endParaRPr lang="en-US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Project </a:t>
            </a:r>
            <a:r>
              <a:rPr lang="en-US" altLang="zh-CN" sz="2400" dirty="0"/>
              <a:t>proposal,</a:t>
            </a:r>
            <a:r>
              <a:rPr lang="zh-CN" altLang="en-US" sz="2400" dirty="0"/>
              <a:t> </a:t>
            </a:r>
            <a:r>
              <a:rPr lang="en-US" altLang="zh-CN" sz="2400" dirty="0"/>
              <a:t>status reports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final</a:t>
            </a:r>
            <a:r>
              <a:rPr lang="zh-CN" altLang="en-US" sz="2400" dirty="0"/>
              <a:t> </a:t>
            </a:r>
            <a:r>
              <a:rPr lang="en-US" altLang="zh-CN" sz="2400" dirty="0"/>
              <a:t>presentations</a:t>
            </a:r>
            <a:r>
              <a:rPr lang="zh-CN" altLang="en-US" sz="2400" dirty="0"/>
              <a:t> </a:t>
            </a:r>
            <a:r>
              <a:rPr lang="en-US" altLang="zh-CN" sz="2400" dirty="0"/>
              <a:t>(by</a:t>
            </a:r>
            <a:r>
              <a:rPr lang="zh-CN" altLang="en-US" sz="2400" dirty="0"/>
              <a:t> </a:t>
            </a:r>
            <a:r>
              <a:rPr lang="en-US" altLang="zh-CN" sz="2400" dirty="0"/>
              <a:t>students)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Guest</a:t>
            </a:r>
            <a:r>
              <a:rPr lang="zh-CN" altLang="en-US" sz="2400" dirty="0"/>
              <a:t> </a:t>
            </a:r>
            <a:r>
              <a:rPr lang="en-US" altLang="zh-CN" sz="2400" dirty="0"/>
              <a:t>lectures (throughout)</a:t>
            </a:r>
          </a:p>
        </p:txBody>
      </p:sp>
    </p:spTree>
    <p:extLst>
      <p:ext uri="{BB962C8B-B14F-4D97-AF65-F5344CB8AC3E}">
        <p14:creationId xmlns:p14="http://schemas.microsoft.com/office/powerpoint/2010/main" val="29728789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</a:rPr>
              <a:t>Grad</a:t>
            </a:r>
            <a:r>
              <a:rPr lang="en-US" altLang="zh-CN" sz="4000" b="1" dirty="0">
                <a:solidFill>
                  <a:srgbClr val="FF0000"/>
                </a:solidFill>
              </a:rPr>
              <a:t>ing</a:t>
            </a:r>
            <a:r>
              <a:rPr lang="en-US" sz="4000" b="1" dirty="0">
                <a:solidFill>
                  <a:srgbClr val="FF0000"/>
                </a:solidFill>
              </a:rPr>
              <a:t> </a:t>
            </a:r>
            <a:r>
              <a:rPr lang="en-US" altLang="zh-CN" sz="4000" b="1" dirty="0">
                <a:solidFill>
                  <a:srgbClr val="FF0000"/>
                </a:solidFill>
              </a:rPr>
              <a:t>Breakdown</a:t>
            </a:r>
            <a:endParaRPr lang="en-US" sz="4000" b="1" dirty="0">
              <a:solidFill>
                <a:srgbClr val="FF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A6409F78-F563-9545-881B-B104A4FE2009}" type="slidenum">
              <a:rPr lang="en-US" smtClean="0"/>
              <a:t>13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8262"/>
            <a:ext cx="7886700" cy="4333619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34000"/>
              </a:lnSpc>
            </a:pPr>
            <a:r>
              <a:rPr lang="en-US" sz="2600" dirty="0"/>
              <a:t>Homework (20%)</a:t>
            </a:r>
          </a:p>
          <a:p>
            <a:pPr lvl="1">
              <a:lnSpc>
                <a:spcPct val="134000"/>
              </a:lnSpc>
            </a:pPr>
            <a:r>
              <a:rPr lang="en-US" sz="2200" dirty="0"/>
              <a:t>Submitted via </a:t>
            </a:r>
            <a:r>
              <a:rPr lang="en-US" sz="2200" b="1" dirty="0" err="1"/>
              <a:t>eLC</a:t>
            </a:r>
            <a:r>
              <a:rPr lang="en-US" sz="2200" dirty="0"/>
              <a:t>; </a:t>
            </a:r>
            <a:r>
              <a:rPr lang="en-US" sz="2200" dirty="0">
                <a:solidFill>
                  <a:srgbClr val="FF0000"/>
                </a:solidFill>
              </a:rPr>
              <a:t>Late submissions </a:t>
            </a:r>
            <a:r>
              <a:rPr lang="en-US" sz="2200" dirty="0"/>
              <a:t>will be penalized by deducting 10% of the score for each calendar day beyond the due date</a:t>
            </a:r>
          </a:p>
          <a:p>
            <a:pPr lvl="1">
              <a:lnSpc>
                <a:spcPct val="134000"/>
              </a:lnSpc>
            </a:pPr>
            <a:r>
              <a:rPr lang="en-US" sz="2600" dirty="0"/>
              <a:t>Group study is allowed with proper </a:t>
            </a:r>
            <a:r>
              <a:rPr lang="en-US" sz="2600" dirty="0">
                <a:solidFill>
                  <a:srgbClr val="FF0000"/>
                </a:solidFill>
              </a:rPr>
              <a:t>acknowledgement</a:t>
            </a:r>
          </a:p>
          <a:p>
            <a:pPr>
              <a:lnSpc>
                <a:spcPct val="134000"/>
              </a:lnSpc>
            </a:pPr>
            <a:r>
              <a:rPr lang="en-US" sz="2600" dirty="0"/>
              <a:t>Midterm Exam (20%)</a:t>
            </a:r>
          </a:p>
          <a:p>
            <a:pPr>
              <a:lnSpc>
                <a:spcPct val="134000"/>
              </a:lnSpc>
            </a:pPr>
            <a:r>
              <a:rPr lang="en-US" sz="2600" dirty="0"/>
              <a:t>Paper Review (10%)</a:t>
            </a:r>
            <a:r>
              <a:rPr lang="en-US" altLang="zh-CN" sz="2600" dirty="0"/>
              <a:t>:</a:t>
            </a:r>
            <a:r>
              <a:rPr lang="zh-CN" altLang="en-US" sz="2600" dirty="0"/>
              <a:t> </a:t>
            </a:r>
            <a:r>
              <a:rPr lang="en-US" altLang="zh-CN" sz="2600" dirty="0"/>
              <a:t>5</a:t>
            </a:r>
            <a:r>
              <a:rPr lang="zh-CN" altLang="en-US" sz="2600" dirty="0"/>
              <a:t> </a:t>
            </a:r>
            <a:r>
              <a:rPr lang="en-US" altLang="zh-CN" sz="2600" dirty="0"/>
              <a:t>papers,</a:t>
            </a:r>
            <a:r>
              <a:rPr lang="zh-CN" altLang="en-US" sz="2600" dirty="0"/>
              <a:t> </a:t>
            </a:r>
            <a:r>
              <a:rPr lang="en-US" altLang="zh-CN" sz="2600" dirty="0"/>
              <a:t>2%</a:t>
            </a:r>
            <a:r>
              <a:rPr lang="zh-CN" altLang="en-US" sz="2600" dirty="0"/>
              <a:t> </a:t>
            </a:r>
            <a:r>
              <a:rPr lang="en-US" altLang="zh-CN" sz="2600" dirty="0"/>
              <a:t>each</a:t>
            </a:r>
            <a:endParaRPr lang="en-US" sz="2600" dirty="0"/>
          </a:p>
          <a:p>
            <a:pPr>
              <a:lnSpc>
                <a:spcPct val="134000"/>
              </a:lnSpc>
            </a:pPr>
            <a:r>
              <a:rPr lang="en-US" sz="2600" dirty="0"/>
              <a:t>Paper Presentation (</a:t>
            </a:r>
            <a:r>
              <a:rPr lang="en-US" altLang="zh-CN" sz="2600" dirty="0"/>
              <a:t>10</a:t>
            </a:r>
            <a:r>
              <a:rPr lang="en-US" sz="2600" dirty="0"/>
              <a:t>%)</a:t>
            </a:r>
          </a:p>
          <a:p>
            <a:pPr>
              <a:lnSpc>
                <a:spcPct val="134000"/>
              </a:lnSpc>
            </a:pPr>
            <a:r>
              <a:rPr lang="en-US" sz="2600" dirty="0"/>
              <a:t>Term Project and term paper (40%)</a:t>
            </a:r>
          </a:p>
        </p:txBody>
      </p:sp>
    </p:spTree>
    <p:extLst>
      <p:ext uri="{BB962C8B-B14F-4D97-AF65-F5344CB8AC3E}">
        <p14:creationId xmlns:p14="http://schemas.microsoft.com/office/powerpoint/2010/main" val="2410829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Paper Review &amp;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14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64931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dirty="0"/>
              <a:t>Papers/Topics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posted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course</a:t>
            </a:r>
            <a:r>
              <a:rPr lang="zh-CN" altLang="en-US" sz="2400" dirty="0"/>
              <a:t> </a:t>
            </a:r>
            <a:r>
              <a:rPr lang="en-US" altLang="zh-CN" sz="2400" dirty="0"/>
              <a:t>website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Please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sign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up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for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paper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presentation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soon</a:t>
            </a:r>
            <a:r>
              <a:rPr lang="zh-CN" altLang="en-US" sz="2400" dirty="0"/>
              <a:t> </a:t>
            </a:r>
            <a:r>
              <a:rPr lang="en-US" altLang="zh-CN" sz="2400" dirty="0"/>
              <a:t>as</a:t>
            </a:r>
            <a:r>
              <a:rPr lang="zh-CN" altLang="en-US" sz="2400" dirty="0"/>
              <a:t> </a:t>
            </a:r>
            <a:r>
              <a:rPr lang="en-US" altLang="zh-CN" sz="2400" dirty="0"/>
              <a:t>possible</a:t>
            </a:r>
          </a:p>
          <a:p>
            <a:pPr>
              <a:lnSpc>
                <a:spcPct val="150000"/>
              </a:lnSpc>
            </a:pPr>
            <a:r>
              <a:rPr lang="en-US" altLang="zh-CN" sz="2400" dirty="0"/>
              <a:t>You</a:t>
            </a:r>
            <a:r>
              <a:rPr lang="zh-CN" altLang="en-US" sz="2400" dirty="0"/>
              <a:t> </a:t>
            </a:r>
            <a:r>
              <a:rPr lang="en-US" altLang="zh-CN" sz="2400" dirty="0"/>
              <a:t>are encouraged to suggest</a:t>
            </a:r>
            <a:r>
              <a:rPr lang="zh-CN" altLang="en-US" sz="2400" dirty="0"/>
              <a:t> </a:t>
            </a:r>
            <a:r>
              <a:rPr lang="en-US" altLang="zh-CN" sz="2400" dirty="0"/>
              <a:t>other</a:t>
            </a:r>
            <a:r>
              <a:rPr lang="zh-CN" altLang="en-US" sz="2400" dirty="0"/>
              <a:t> </a:t>
            </a:r>
            <a:r>
              <a:rPr lang="en-US" altLang="zh-CN" sz="2400" dirty="0"/>
              <a:t>interesting</a:t>
            </a:r>
            <a:r>
              <a:rPr lang="zh-CN" altLang="en-US" sz="2400" dirty="0"/>
              <a:t> </a:t>
            </a:r>
            <a:r>
              <a:rPr lang="en-US" altLang="zh-CN" sz="2400" dirty="0"/>
              <a:t>ML</a:t>
            </a:r>
            <a:r>
              <a:rPr lang="zh-CN" altLang="en-US" sz="2400" dirty="0"/>
              <a:t> </a:t>
            </a:r>
            <a:r>
              <a:rPr lang="en-US" altLang="zh-CN" sz="2400" dirty="0"/>
              <a:t>papers</a:t>
            </a:r>
            <a:r>
              <a:rPr lang="zh-CN" altLang="en-US" sz="2400" dirty="0"/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presentation but should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approved</a:t>
            </a:r>
            <a:r>
              <a:rPr lang="zh-CN" altLang="en-US" sz="2400" dirty="0"/>
              <a:t> </a:t>
            </a:r>
            <a:r>
              <a:rPr lang="en-US" altLang="zh-CN" sz="2400" dirty="0"/>
              <a:t>by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instructor.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0420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Paper Review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15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495823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2600" dirty="0"/>
              <a:t>Each student will be required to </a:t>
            </a:r>
            <a:r>
              <a:rPr lang="en-US" altLang="zh-CN" sz="2600" b="1" dirty="0"/>
              <a:t>review</a:t>
            </a:r>
            <a:r>
              <a:rPr lang="en-US" sz="2600" dirty="0"/>
              <a:t> </a:t>
            </a:r>
            <a:r>
              <a:rPr lang="en-US" altLang="zh-CN" sz="2600" dirty="0"/>
              <a:t>5</a:t>
            </a:r>
            <a:r>
              <a:rPr lang="en-US" sz="2600" dirty="0"/>
              <a:t> paper</a:t>
            </a:r>
            <a:r>
              <a:rPr lang="en-US" altLang="zh-CN" sz="2600" dirty="0"/>
              <a:t>s</a:t>
            </a:r>
            <a:r>
              <a:rPr lang="en-US" sz="2600" dirty="0"/>
              <a:t> and </a:t>
            </a:r>
            <a:r>
              <a:rPr lang="en-US" altLang="zh-CN" sz="2600" dirty="0"/>
              <a:t>submit</a:t>
            </a:r>
            <a:r>
              <a:rPr lang="zh-CN" altLang="en-US" sz="2600" dirty="0"/>
              <a:t> </a:t>
            </a:r>
            <a:r>
              <a:rPr lang="en-US" altLang="zh-CN" sz="2600" dirty="0"/>
              <a:t>your</a:t>
            </a:r>
            <a:r>
              <a:rPr lang="zh-CN" altLang="en-US" sz="2600" dirty="0"/>
              <a:t> </a:t>
            </a:r>
            <a:r>
              <a:rPr lang="en-US" altLang="zh-CN" sz="2600" dirty="0"/>
              <a:t>review</a:t>
            </a:r>
            <a:r>
              <a:rPr lang="zh-CN" altLang="en-US" sz="2600" dirty="0"/>
              <a:t> </a:t>
            </a:r>
            <a:r>
              <a:rPr lang="en-US" altLang="zh-CN" sz="2600" dirty="0"/>
              <a:t>reports</a:t>
            </a:r>
            <a:r>
              <a:rPr lang="zh-CN" altLang="en-US" sz="2600" dirty="0"/>
              <a:t> </a:t>
            </a:r>
            <a:r>
              <a:rPr lang="en-US" altLang="zh-CN" sz="2600" dirty="0"/>
              <a:t>on</a:t>
            </a:r>
            <a:r>
              <a:rPr lang="zh-CN" altLang="en-US" sz="2600" dirty="0"/>
              <a:t> </a:t>
            </a:r>
            <a:r>
              <a:rPr lang="en-US" altLang="zh-CN" sz="2600" dirty="0" err="1"/>
              <a:t>eLC</a:t>
            </a:r>
            <a:r>
              <a:rPr lang="en-US" altLang="zh-CN" sz="26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2600" dirty="0"/>
              <a:t>The reviewed papers should be chosen from the papers that will be presented in class (posted on the </a:t>
            </a:r>
            <a:r>
              <a:rPr lang="en-US" altLang="zh-CN" sz="2600" dirty="0"/>
              <a:t>course homepage</a:t>
            </a:r>
            <a:r>
              <a:rPr lang="en-US" sz="2600" dirty="0"/>
              <a:t>)</a:t>
            </a:r>
          </a:p>
          <a:p>
            <a:pPr>
              <a:lnSpc>
                <a:spcPct val="150000"/>
              </a:lnSpc>
            </a:pPr>
            <a:r>
              <a:rPr lang="en-US" sz="2600" dirty="0">
                <a:solidFill>
                  <a:srgbClr val="0070C0"/>
                </a:solidFill>
              </a:rPr>
              <a:t>Suggested</a:t>
            </a:r>
            <a:r>
              <a:rPr lang="en-US" sz="2600" dirty="0"/>
              <a:t> </a:t>
            </a:r>
            <a:r>
              <a:rPr lang="en-US" sz="2600" dirty="0">
                <a:solidFill>
                  <a:srgbClr val="0070C0"/>
                </a:solidFill>
              </a:rPr>
              <a:t>outline</a:t>
            </a:r>
            <a:r>
              <a:rPr lang="en-US" sz="2600" dirty="0"/>
              <a:t> of review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Main idea and contributions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Summarize the methodology and major experimental findings</a:t>
            </a:r>
          </a:p>
          <a:p>
            <a:pPr lvl="1">
              <a:lnSpc>
                <a:spcPct val="110000"/>
              </a:lnSpc>
            </a:pPr>
            <a:r>
              <a:rPr lang="en-US" sz="2200" dirty="0"/>
              <a:t>Discuss the strengths and weaknesses of the paper</a:t>
            </a:r>
          </a:p>
        </p:txBody>
      </p:sp>
    </p:spTree>
    <p:extLst>
      <p:ext uri="{BB962C8B-B14F-4D97-AF65-F5344CB8AC3E}">
        <p14:creationId xmlns:p14="http://schemas.microsoft.com/office/powerpoint/2010/main" val="6534884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C00000"/>
                </a:solidFill>
              </a:rPr>
              <a:t>Paper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16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886700" cy="5020019"/>
          </a:xfrm>
        </p:spPr>
        <p:txBody>
          <a:bodyPr>
            <a:normAutofit/>
          </a:bodyPr>
          <a:lstStyle/>
          <a:p>
            <a:pPr>
              <a:lnSpc>
                <a:spcPct val="135000"/>
              </a:lnSpc>
            </a:pPr>
            <a:r>
              <a:rPr lang="en-US" altLang="zh-CN" sz="2400" dirty="0"/>
              <a:t>Each student will present</a:t>
            </a:r>
            <a:r>
              <a:rPr lang="zh-CN" altLang="en-US" sz="2400" dirty="0"/>
              <a:t> </a:t>
            </a:r>
            <a:r>
              <a:rPr lang="en-US" altLang="zh-CN" sz="2400" dirty="0"/>
              <a:t>ONE paper</a:t>
            </a:r>
          </a:p>
          <a:p>
            <a:pPr>
              <a:lnSpc>
                <a:spcPct val="135000"/>
              </a:lnSpc>
            </a:pPr>
            <a:r>
              <a:rPr lang="en-US" altLang="zh-CN" sz="2400" dirty="0"/>
              <a:t>The presenter should</a:t>
            </a:r>
            <a:r>
              <a:rPr lang="zh-CN" altLang="en-US" sz="2400" dirty="0"/>
              <a:t> </a:t>
            </a:r>
            <a:r>
              <a:rPr lang="en-US" altLang="zh-CN" sz="2400" dirty="0"/>
              <a:t>prepare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slides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for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a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20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minutes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talk,</a:t>
            </a:r>
            <a:r>
              <a:rPr lang="zh-CN" altLang="en-US" sz="2400" dirty="0"/>
              <a:t> </a:t>
            </a:r>
            <a:r>
              <a:rPr lang="en-US" altLang="zh-CN" sz="2400" dirty="0"/>
              <a:t>which</a:t>
            </a:r>
            <a:r>
              <a:rPr lang="zh-CN" altLang="en-US" sz="2400" dirty="0"/>
              <a:t> </a:t>
            </a:r>
            <a:r>
              <a:rPr lang="en-US" altLang="zh-CN" sz="2400" dirty="0"/>
              <a:t>should</a:t>
            </a:r>
            <a:r>
              <a:rPr lang="zh-CN" altLang="en-US" sz="2400" dirty="0"/>
              <a:t> </a:t>
            </a:r>
            <a:r>
              <a:rPr lang="en-US" altLang="zh-CN" sz="2400" dirty="0"/>
              <a:t>address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following</a:t>
            </a:r>
            <a:r>
              <a:rPr lang="zh-CN" altLang="en-US" sz="2400" dirty="0"/>
              <a:t> </a:t>
            </a:r>
            <a:r>
              <a:rPr lang="en-US" altLang="zh-CN" sz="2400" dirty="0"/>
              <a:t>points:</a:t>
            </a:r>
            <a:endParaRPr lang="en-US" sz="24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Motivation</a:t>
            </a:r>
            <a:r>
              <a:rPr lang="zh-CN" altLang="en-US" sz="2200" dirty="0"/>
              <a:t> </a:t>
            </a:r>
            <a:r>
              <a:rPr lang="en-US" altLang="zh-CN" sz="2200" dirty="0"/>
              <a:t>&amp;</a:t>
            </a:r>
            <a:r>
              <a:rPr lang="zh-CN" altLang="en-US" sz="2200" dirty="0"/>
              <a:t> </a:t>
            </a:r>
            <a:r>
              <a:rPr lang="en-US" altLang="zh-CN" sz="2200" dirty="0"/>
              <a:t>Related</a:t>
            </a:r>
            <a:r>
              <a:rPr lang="zh-CN" altLang="en-US" sz="2200" dirty="0"/>
              <a:t> </a:t>
            </a:r>
            <a:r>
              <a:rPr lang="en-US" altLang="zh-CN" sz="2200" dirty="0"/>
              <a:t>Work</a:t>
            </a:r>
            <a:endParaRPr lang="en-US" sz="2200" dirty="0"/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Problem</a:t>
            </a:r>
            <a:r>
              <a:rPr lang="zh-CN" altLang="en-US" sz="2200" dirty="0"/>
              <a:t> </a:t>
            </a:r>
            <a:r>
              <a:rPr lang="en-US" altLang="zh-CN" sz="2200" dirty="0"/>
              <a:t>Statement</a:t>
            </a:r>
            <a:r>
              <a:rPr lang="zh-CN" altLang="en-US" sz="2200" dirty="0"/>
              <a:t> </a:t>
            </a:r>
            <a:r>
              <a:rPr lang="en-US" altLang="zh-CN" sz="2200" dirty="0"/>
              <a:t>&amp;</a:t>
            </a:r>
            <a:r>
              <a:rPr lang="zh-CN" altLang="en-US" sz="2200" dirty="0"/>
              <a:t> </a:t>
            </a:r>
            <a:r>
              <a:rPr lang="en-US" altLang="zh-CN" sz="2200" dirty="0"/>
              <a:t>Methodology</a:t>
            </a:r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Experiments</a:t>
            </a:r>
          </a:p>
          <a:p>
            <a:pPr lvl="1">
              <a:lnSpc>
                <a:spcPct val="100000"/>
              </a:lnSpc>
            </a:pPr>
            <a:r>
              <a:rPr lang="en-US" altLang="zh-CN" sz="2200" dirty="0"/>
              <a:t>Conclusions</a:t>
            </a:r>
            <a:r>
              <a:rPr lang="zh-CN" altLang="en-US" sz="2200" dirty="0"/>
              <a:t> </a:t>
            </a:r>
            <a:r>
              <a:rPr lang="en-US" altLang="zh-CN" sz="2200" dirty="0"/>
              <a:t>&amp;</a:t>
            </a:r>
            <a:r>
              <a:rPr lang="zh-CN" altLang="en-US" sz="2200" dirty="0"/>
              <a:t> </a:t>
            </a:r>
            <a:r>
              <a:rPr lang="en-US" altLang="zh-CN" sz="2200" dirty="0"/>
              <a:t>Discussions</a:t>
            </a:r>
          </a:p>
          <a:p>
            <a:pPr>
              <a:lnSpc>
                <a:spcPct val="135000"/>
              </a:lnSpc>
            </a:pP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presenter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lead</a:t>
            </a:r>
            <a:r>
              <a:rPr lang="zh-CN" altLang="en-US" sz="2400" dirty="0"/>
              <a:t> </a:t>
            </a:r>
            <a:r>
              <a:rPr lang="en-US" altLang="zh-CN" sz="2400" dirty="0"/>
              <a:t>another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5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minutes</a:t>
            </a:r>
            <a:r>
              <a:rPr lang="zh-CN" altLang="en-US" sz="2400" dirty="0">
                <a:solidFill>
                  <a:srgbClr val="0070C0"/>
                </a:solidFill>
              </a:rPr>
              <a:t> </a:t>
            </a:r>
            <a:r>
              <a:rPr lang="en-US" altLang="zh-CN" sz="2400" dirty="0">
                <a:solidFill>
                  <a:srgbClr val="0070C0"/>
                </a:solidFill>
              </a:rPr>
              <a:t>discussion</a:t>
            </a:r>
            <a:r>
              <a:rPr lang="en-US" altLang="zh-CN" sz="2400" dirty="0"/>
              <a:t>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need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prepare</a:t>
            </a:r>
            <a:r>
              <a:rPr lang="zh-CN" altLang="en-US" sz="2400" dirty="0"/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at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least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>
                <a:solidFill>
                  <a:srgbClr val="C00000"/>
                </a:solidFill>
              </a:rPr>
              <a:t>2</a:t>
            </a:r>
            <a:r>
              <a:rPr lang="zh-CN" altLang="en-US" sz="2400" dirty="0">
                <a:solidFill>
                  <a:srgbClr val="C00000"/>
                </a:solidFill>
              </a:rPr>
              <a:t> </a:t>
            </a:r>
            <a:r>
              <a:rPr lang="en-US" altLang="zh-CN" sz="2400" dirty="0"/>
              <a:t>discussion</a:t>
            </a:r>
            <a:r>
              <a:rPr lang="zh-CN" altLang="en-US" sz="2400" dirty="0"/>
              <a:t> </a:t>
            </a:r>
            <a:r>
              <a:rPr lang="en-US" altLang="zh-CN" sz="2400" dirty="0"/>
              <a:t>questions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paper’s</a:t>
            </a:r>
            <a:r>
              <a:rPr lang="zh-CN" altLang="en-US" sz="2400" dirty="0"/>
              <a:t> </a:t>
            </a:r>
            <a:r>
              <a:rPr lang="en-US" altLang="zh-CN" sz="2400" dirty="0"/>
              <a:t>content,</a:t>
            </a:r>
            <a:r>
              <a:rPr lang="zh-CN" altLang="en-US" sz="2400" dirty="0"/>
              <a:t> </a:t>
            </a:r>
            <a:r>
              <a:rPr lang="en-US" altLang="zh-CN" sz="2400" dirty="0"/>
              <a:t>pros/cons,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future</a:t>
            </a:r>
            <a:r>
              <a:rPr lang="zh-CN" altLang="en-US" sz="2400" dirty="0"/>
              <a:t> </a:t>
            </a:r>
            <a:r>
              <a:rPr lang="en-US" altLang="zh-CN" sz="2400" dirty="0"/>
              <a:t>works.</a:t>
            </a:r>
          </a:p>
        </p:txBody>
      </p:sp>
    </p:spTree>
    <p:extLst>
      <p:ext uri="{BB962C8B-B14F-4D97-AF65-F5344CB8AC3E}">
        <p14:creationId xmlns:p14="http://schemas.microsoft.com/office/powerpoint/2010/main" val="15546165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Course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Project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17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638020" cy="4777862"/>
          </a:xfrm>
        </p:spPr>
        <p:txBody>
          <a:bodyPr>
            <a:normAutofit lnSpcReduction="10000"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/>
              <a:t>Individual</a:t>
            </a:r>
            <a:r>
              <a:rPr lang="zh-CN" altLang="en-US" sz="2400" dirty="0"/>
              <a:t> </a:t>
            </a:r>
            <a:r>
              <a:rPr lang="en-US" altLang="zh-CN" sz="2400" dirty="0"/>
              <a:t>or</a:t>
            </a:r>
            <a:r>
              <a:rPr lang="zh-CN" altLang="en-US" sz="2400" dirty="0"/>
              <a:t> </a:t>
            </a:r>
            <a:r>
              <a:rPr lang="en-US" altLang="zh-CN" sz="2400" dirty="0"/>
              <a:t>group</a:t>
            </a:r>
            <a:r>
              <a:rPr lang="zh-CN" altLang="en-US" sz="2400" dirty="0"/>
              <a:t> </a:t>
            </a:r>
            <a:r>
              <a:rPr lang="en-US" altLang="zh-CN" sz="2400" dirty="0"/>
              <a:t>(no</a:t>
            </a:r>
            <a:r>
              <a:rPr lang="zh-CN" altLang="en-US" sz="2400" dirty="0"/>
              <a:t> </a:t>
            </a:r>
            <a:r>
              <a:rPr lang="en-US" altLang="zh-CN" sz="2400" dirty="0"/>
              <a:t>more</a:t>
            </a:r>
            <a:r>
              <a:rPr lang="zh-CN" altLang="en-US" sz="2400" dirty="0"/>
              <a:t> </a:t>
            </a:r>
            <a:r>
              <a:rPr lang="en-US" altLang="zh-CN" sz="2400" dirty="0"/>
              <a:t>than</a:t>
            </a:r>
            <a:r>
              <a:rPr lang="zh-CN" altLang="en-US" sz="2400" dirty="0"/>
              <a:t> </a:t>
            </a:r>
            <a:r>
              <a:rPr lang="en-US" altLang="zh-CN" sz="2400" dirty="0"/>
              <a:t>four</a:t>
            </a:r>
            <a:r>
              <a:rPr lang="zh-CN" altLang="en-US" sz="2400" dirty="0"/>
              <a:t> </a:t>
            </a:r>
            <a:r>
              <a:rPr lang="en-US" altLang="zh-CN" sz="2400" dirty="0"/>
              <a:t>students)</a:t>
            </a:r>
            <a:r>
              <a:rPr lang="zh-CN" altLang="en-US" sz="2400" dirty="0"/>
              <a:t> </a:t>
            </a:r>
            <a:r>
              <a:rPr lang="en-US" altLang="zh-CN" sz="2400" dirty="0"/>
              <a:t>research</a:t>
            </a:r>
            <a:r>
              <a:rPr lang="zh-CN" altLang="en-US" sz="2400" dirty="0"/>
              <a:t> </a:t>
            </a:r>
            <a:r>
              <a:rPr lang="en-US" altLang="zh-CN" sz="2400" dirty="0"/>
              <a:t>project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Can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on</a:t>
            </a:r>
            <a:r>
              <a:rPr lang="zh-CN" altLang="en-US" sz="2400" dirty="0"/>
              <a:t> </a:t>
            </a:r>
            <a:r>
              <a:rPr lang="en-US" altLang="zh-CN" sz="2400" dirty="0"/>
              <a:t>any</a:t>
            </a:r>
            <a:r>
              <a:rPr lang="zh-CN" altLang="en-US" sz="2400" dirty="0"/>
              <a:t> </a:t>
            </a:r>
            <a:r>
              <a:rPr lang="en-US" altLang="zh-CN" sz="2400" dirty="0"/>
              <a:t>topic</a:t>
            </a:r>
            <a:r>
              <a:rPr lang="zh-CN" altLang="en-US" sz="2400" dirty="0"/>
              <a:t> </a:t>
            </a:r>
            <a:r>
              <a:rPr lang="en-US" altLang="zh-CN" sz="2400" dirty="0"/>
              <a:t>related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course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Tentative</a:t>
            </a:r>
            <a:r>
              <a:rPr lang="zh-CN" altLang="en-US" sz="2400" dirty="0"/>
              <a:t> </a:t>
            </a:r>
            <a:r>
              <a:rPr lang="en-US" altLang="zh-CN" sz="2400" dirty="0"/>
              <a:t>timeline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Late September:</a:t>
            </a:r>
            <a:r>
              <a:rPr lang="zh-CN" altLang="en-US" sz="2000" dirty="0"/>
              <a:t> </a:t>
            </a:r>
            <a:r>
              <a:rPr lang="en-US" altLang="zh-CN" sz="2000" dirty="0"/>
              <a:t>Brainstorming and project</a:t>
            </a:r>
            <a:r>
              <a:rPr lang="zh-CN" altLang="en-US" sz="2000" dirty="0"/>
              <a:t> </a:t>
            </a:r>
            <a:r>
              <a:rPr lang="en-US" altLang="zh-CN" sz="2000" dirty="0"/>
              <a:t>proposal</a:t>
            </a:r>
            <a:r>
              <a:rPr lang="zh-CN" altLang="en-US" sz="2000" dirty="0"/>
              <a:t> </a:t>
            </a:r>
            <a:r>
              <a:rPr lang="en-US" altLang="zh-CN" sz="2000" dirty="0"/>
              <a:t>submission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Mid November:</a:t>
            </a:r>
            <a:r>
              <a:rPr lang="zh-CN" altLang="en-US" sz="2000" dirty="0"/>
              <a:t> </a:t>
            </a:r>
            <a:r>
              <a:rPr lang="en-US" altLang="zh-CN" sz="2000" dirty="0"/>
              <a:t>Project</a:t>
            </a:r>
            <a:r>
              <a:rPr lang="zh-CN" altLang="en-US" sz="2000" dirty="0"/>
              <a:t> </a:t>
            </a:r>
            <a:r>
              <a:rPr lang="en-US" altLang="zh-CN" sz="2000" dirty="0"/>
              <a:t>status</a:t>
            </a:r>
            <a:r>
              <a:rPr lang="zh-CN" altLang="en-US" sz="2000" dirty="0"/>
              <a:t> </a:t>
            </a:r>
            <a:r>
              <a:rPr lang="en-US" altLang="zh-CN" sz="2000" dirty="0"/>
              <a:t>report presentation</a:t>
            </a:r>
          </a:p>
          <a:p>
            <a:pPr lvl="1">
              <a:lnSpc>
                <a:spcPct val="110000"/>
              </a:lnSpc>
            </a:pPr>
            <a:r>
              <a:rPr lang="en-US" altLang="zh-CN" sz="2000" dirty="0"/>
              <a:t>Final Exam date:</a:t>
            </a:r>
            <a:r>
              <a:rPr lang="zh-CN" altLang="en-US" sz="2000" dirty="0"/>
              <a:t> </a:t>
            </a:r>
            <a:r>
              <a:rPr lang="en-US" altLang="zh-CN" sz="2000" dirty="0"/>
              <a:t>Final</a:t>
            </a:r>
            <a:r>
              <a:rPr lang="zh-CN" altLang="en-US" sz="2000" dirty="0"/>
              <a:t> </a:t>
            </a:r>
            <a:r>
              <a:rPr lang="en-US" altLang="zh-CN" sz="2000" dirty="0"/>
              <a:t>project</a:t>
            </a:r>
            <a:r>
              <a:rPr lang="zh-CN" altLang="en-US" sz="2000" dirty="0"/>
              <a:t> </a:t>
            </a:r>
            <a:r>
              <a:rPr lang="en-US" altLang="zh-CN" sz="2000" dirty="0"/>
              <a:t>presentation and</a:t>
            </a:r>
            <a:r>
              <a:rPr lang="zh-CN" altLang="en-US" sz="2000" dirty="0"/>
              <a:t> </a:t>
            </a:r>
            <a:r>
              <a:rPr lang="en-US" altLang="zh-CN" sz="2000" dirty="0"/>
              <a:t>project</a:t>
            </a:r>
            <a:r>
              <a:rPr lang="zh-CN" altLang="en-US" sz="2000" dirty="0"/>
              <a:t> </a:t>
            </a:r>
            <a:r>
              <a:rPr lang="en-US" altLang="zh-CN" sz="2000" dirty="0"/>
              <a:t>report</a:t>
            </a:r>
            <a:r>
              <a:rPr lang="zh-CN" altLang="en-US" sz="2000" dirty="0"/>
              <a:t> </a:t>
            </a:r>
            <a:r>
              <a:rPr lang="en-US" altLang="zh-CN" sz="2000" dirty="0"/>
              <a:t>due on December 9</a:t>
            </a:r>
            <a:r>
              <a:rPr lang="en-US" altLang="zh-CN" sz="2000" baseline="30000" dirty="0"/>
              <a:t>th</a:t>
            </a:r>
            <a:r>
              <a:rPr lang="en-US" altLang="zh-CN" sz="2000" dirty="0"/>
              <a:t> , 2026. </a:t>
            </a:r>
            <a:r>
              <a:rPr lang="en-US" altLang="zh-CN" sz="2000" dirty="0">
                <a:solidFill>
                  <a:srgbClr val="FF0000"/>
                </a:solidFill>
              </a:rPr>
              <a:t>All students must participate</a:t>
            </a:r>
          </a:p>
          <a:p>
            <a:pPr>
              <a:lnSpc>
                <a:spcPct val="130000"/>
              </a:lnSpc>
            </a:pPr>
            <a:r>
              <a:rPr lang="en-US" altLang="zh-CN" sz="2400" dirty="0"/>
              <a:t>Detailed</a:t>
            </a:r>
            <a:r>
              <a:rPr lang="zh-CN" altLang="en-US" sz="2400" dirty="0"/>
              <a:t> </a:t>
            </a:r>
            <a:r>
              <a:rPr lang="en-US" altLang="zh-CN" sz="2400" dirty="0"/>
              <a:t>requirements</a:t>
            </a:r>
            <a:r>
              <a:rPr lang="zh-CN" altLang="en-US" sz="2400" dirty="0"/>
              <a:t> </a:t>
            </a:r>
            <a:r>
              <a:rPr lang="en-US" altLang="zh-CN" sz="2400" dirty="0"/>
              <a:t>of</a:t>
            </a:r>
            <a:r>
              <a:rPr lang="zh-CN" altLang="en-US" sz="2400" dirty="0"/>
              <a:t> </a:t>
            </a:r>
            <a:r>
              <a:rPr lang="en-US" altLang="zh-CN" sz="2400" dirty="0"/>
              <a:t>proposal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final</a:t>
            </a:r>
            <a:r>
              <a:rPr lang="zh-CN" altLang="en-US" sz="2400" dirty="0"/>
              <a:t> </a:t>
            </a:r>
            <a:r>
              <a:rPr lang="en-US" altLang="zh-CN" sz="2400" dirty="0"/>
              <a:t>report</a:t>
            </a:r>
            <a:r>
              <a:rPr lang="zh-CN" altLang="en-US" sz="2400" dirty="0"/>
              <a:t> </a:t>
            </a:r>
            <a:r>
              <a:rPr lang="en-US" altLang="zh-CN" sz="2400" dirty="0"/>
              <a:t>will</a:t>
            </a:r>
            <a:r>
              <a:rPr lang="zh-CN" altLang="en-US" sz="2400" dirty="0"/>
              <a:t> </a:t>
            </a:r>
            <a:r>
              <a:rPr lang="en-US" altLang="zh-CN" sz="2400" dirty="0"/>
              <a:t>be announced</a:t>
            </a:r>
          </a:p>
        </p:txBody>
      </p:sp>
    </p:spTree>
    <p:extLst>
      <p:ext uri="{BB962C8B-B14F-4D97-AF65-F5344CB8AC3E}">
        <p14:creationId xmlns:p14="http://schemas.microsoft.com/office/powerpoint/2010/main" val="6152968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Course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Project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Suggestions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18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638020" cy="4777862"/>
          </a:xfrm>
        </p:spPr>
        <p:txBody>
          <a:bodyPr>
            <a:normAutofit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/>
              <a:t>Kaggle Challenges</a:t>
            </a:r>
          </a:p>
          <a:p>
            <a:pPr lvl="1">
              <a:lnSpc>
                <a:spcPct val="140000"/>
              </a:lnSpc>
            </a:pPr>
            <a:r>
              <a:rPr lang="en-US" altLang="zh-CN" sz="2000" dirty="0"/>
              <a:t> </a:t>
            </a:r>
            <a:r>
              <a:rPr lang="en-US" altLang="zh-CN" sz="2000" dirty="0">
                <a:hlinkClick r:id="rId3"/>
              </a:rPr>
              <a:t>www.Kaggle.com</a:t>
            </a:r>
            <a:r>
              <a:rPr lang="en-US" altLang="zh-CN" sz="2000" dirty="0"/>
              <a:t> 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New</a:t>
            </a:r>
            <a:r>
              <a:rPr lang="zh-CN" altLang="en-US" sz="2400" dirty="0"/>
              <a:t> </a:t>
            </a:r>
            <a:r>
              <a:rPr lang="en-US" altLang="zh-CN" sz="2400" dirty="0"/>
              <a:t>Ideas/Algorithms</a:t>
            </a:r>
          </a:p>
          <a:p>
            <a:pPr lvl="1">
              <a:lnSpc>
                <a:spcPct val="140000"/>
              </a:lnSpc>
            </a:pPr>
            <a:r>
              <a:rPr lang="en-US" altLang="zh-CN" sz="2000" dirty="0"/>
              <a:t>Compare and extend</a:t>
            </a:r>
            <a:r>
              <a:rPr lang="zh-CN" altLang="en-US" sz="2000" dirty="0"/>
              <a:t> </a:t>
            </a:r>
            <a:r>
              <a:rPr lang="en-US" altLang="zh-CN" sz="2000" dirty="0"/>
              <a:t>the</a:t>
            </a:r>
            <a:r>
              <a:rPr lang="zh-CN" altLang="en-US" sz="2000" dirty="0"/>
              <a:t> </a:t>
            </a:r>
            <a:r>
              <a:rPr lang="en-US" altLang="zh-CN" sz="2000" dirty="0"/>
              <a:t>state-of-the-art</a:t>
            </a:r>
            <a:r>
              <a:rPr lang="zh-CN" altLang="en-US" sz="2000" dirty="0"/>
              <a:t> </a:t>
            </a:r>
            <a:r>
              <a:rPr lang="en-US" altLang="zh-CN" sz="2000" dirty="0"/>
              <a:t>algorithms,</a:t>
            </a:r>
            <a:r>
              <a:rPr lang="zh-CN" altLang="en-US" sz="2000" dirty="0"/>
              <a:t> </a:t>
            </a:r>
            <a:r>
              <a:rPr lang="en-US" altLang="zh-CN" sz="2000" dirty="0"/>
              <a:t>derive</a:t>
            </a:r>
            <a:r>
              <a:rPr lang="zh-CN" altLang="en-US" sz="2000" dirty="0"/>
              <a:t> </a:t>
            </a:r>
            <a:r>
              <a:rPr lang="en-US" altLang="zh-CN" sz="2000" dirty="0"/>
              <a:t>solutions,</a:t>
            </a:r>
            <a:r>
              <a:rPr lang="zh-CN" altLang="en-US" sz="2000" dirty="0"/>
              <a:t> </a:t>
            </a:r>
            <a:r>
              <a:rPr lang="en-US" altLang="zh-CN" sz="2000" dirty="0"/>
              <a:t>and</a:t>
            </a:r>
            <a:r>
              <a:rPr lang="zh-CN" altLang="en-US" sz="2000" dirty="0"/>
              <a:t> </a:t>
            </a:r>
            <a:r>
              <a:rPr lang="en-US" altLang="zh-CN" sz="2000" dirty="0"/>
              <a:t>validate</a:t>
            </a:r>
            <a:r>
              <a:rPr lang="zh-CN" altLang="en-US" sz="2000" dirty="0"/>
              <a:t> </a:t>
            </a:r>
            <a:r>
              <a:rPr lang="en-US" altLang="zh-CN" sz="2000" dirty="0"/>
              <a:t>them</a:t>
            </a:r>
            <a:r>
              <a:rPr lang="zh-CN" altLang="en-US" sz="2000" dirty="0"/>
              <a:t> </a:t>
            </a:r>
            <a:r>
              <a:rPr lang="en-US" altLang="zh-CN" sz="2000" dirty="0"/>
              <a:t>on</a:t>
            </a:r>
            <a:r>
              <a:rPr lang="zh-CN" altLang="en-US" sz="2000" dirty="0"/>
              <a:t> </a:t>
            </a:r>
            <a:r>
              <a:rPr lang="en-US" altLang="zh-CN" sz="2000" dirty="0"/>
              <a:t>benchmark</a:t>
            </a:r>
            <a:r>
              <a:rPr lang="zh-CN" altLang="en-US" sz="2000" dirty="0"/>
              <a:t> </a:t>
            </a:r>
            <a:r>
              <a:rPr lang="en-US" altLang="zh-CN" sz="2000" dirty="0"/>
              <a:t>datasets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New</a:t>
            </a:r>
            <a:r>
              <a:rPr lang="zh-CN" altLang="en-US" sz="2400" dirty="0"/>
              <a:t> </a:t>
            </a:r>
            <a:r>
              <a:rPr lang="en-US" altLang="zh-CN" sz="2400" dirty="0"/>
              <a:t>Modeling/Applications</a:t>
            </a:r>
          </a:p>
          <a:p>
            <a:pPr lvl="1">
              <a:lnSpc>
                <a:spcPct val="140000"/>
              </a:lnSpc>
            </a:pPr>
            <a:r>
              <a:rPr lang="en-US" altLang="zh-CN" sz="2000" dirty="0"/>
              <a:t>Identify</a:t>
            </a:r>
            <a:r>
              <a:rPr lang="zh-CN" altLang="en-US" sz="2000" dirty="0"/>
              <a:t> </a:t>
            </a:r>
            <a:r>
              <a:rPr lang="en-US" altLang="zh-CN" sz="2000" dirty="0"/>
              <a:t>a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setting</a:t>
            </a:r>
            <a:r>
              <a:rPr lang="zh-CN" altLang="en-US" sz="2000" dirty="0"/>
              <a:t> </a:t>
            </a:r>
            <a:r>
              <a:rPr lang="en-US" altLang="zh-CN" sz="2000" dirty="0"/>
              <a:t>or</a:t>
            </a:r>
            <a:r>
              <a:rPr lang="zh-CN" altLang="en-US" sz="2000" dirty="0"/>
              <a:t> </a:t>
            </a:r>
            <a:r>
              <a:rPr lang="en-US" altLang="zh-CN" sz="2000" dirty="0"/>
              <a:t>new</a:t>
            </a:r>
            <a:r>
              <a:rPr lang="zh-CN" altLang="en-US" sz="2000" dirty="0"/>
              <a:t> </a:t>
            </a:r>
            <a:r>
              <a:rPr lang="en-US" altLang="zh-CN" sz="2000" dirty="0"/>
              <a:t>application</a:t>
            </a:r>
            <a:r>
              <a:rPr lang="zh-CN" altLang="en-US" sz="2000" dirty="0"/>
              <a:t> </a:t>
            </a:r>
            <a:r>
              <a:rPr lang="en-US" altLang="zh-CN" sz="2000" dirty="0"/>
              <a:t>of</a:t>
            </a:r>
            <a:r>
              <a:rPr lang="zh-CN" altLang="en-US" sz="2000" dirty="0"/>
              <a:t> </a:t>
            </a:r>
            <a:r>
              <a:rPr lang="en-US" altLang="zh-CN" sz="2000" dirty="0"/>
              <a:t>ML</a:t>
            </a:r>
            <a:r>
              <a:rPr lang="zh-CN" altLang="en-US" sz="2000" dirty="0"/>
              <a:t> </a:t>
            </a:r>
            <a:r>
              <a:rPr lang="en-US" altLang="zh-CN" sz="2000" dirty="0"/>
              <a:t>model;</a:t>
            </a:r>
            <a:r>
              <a:rPr lang="zh-CN" altLang="en-US" sz="2000" dirty="0"/>
              <a:t> </a:t>
            </a:r>
            <a:r>
              <a:rPr lang="en-US" altLang="zh-CN" sz="2000" dirty="0"/>
              <a:t>Encouraged</a:t>
            </a:r>
            <a:r>
              <a:rPr lang="zh-CN" altLang="en-US" sz="2000" dirty="0"/>
              <a:t> </a:t>
            </a:r>
            <a:r>
              <a:rPr lang="en-US" altLang="zh-CN" sz="2000" dirty="0"/>
              <a:t>to</a:t>
            </a:r>
            <a:r>
              <a:rPr lang="zh-CN" altLang="en-US" sz="2000" dirty="0"/>
              <a:t> </a:t>
            </a:r>
            <a:r>
              <a:rPr lang="en-US" altLang="zh-CN" sz="2000" dirty="0"/>
              <a:t>explore</a:t>
            </a:r>
            <a:r>
              <a:rPr lang="zh-CN" altLang="en-US" sz="2000" dirty="0"/>
              <a:t> </a:t>
            </a:r>
            <a:r>
              <a:rPr lang="en-US" altLang="zh-CN" sz="2000" i="1" dirty="0">
                <a:solidFill>
                  <a:srgbClr val="0070C0"/>
                </a:solidFill>
              </a:rPr>
              <a:t>interdisciplinary</a:t>
            </a:r>
            <a:r>
              <a:rPr lang="zh-CN" altLang="en-US" sz="2000" dirty="0"/>
              <a:t> </a:t>
            </a:r>
            <a:r>
              <a:rPr lang="en-US" altLang="zh-CN" sz="2000" dirty="0"/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3149546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6823F1-B4BD-B447-9700-B92925C78D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CN" sz="4000" b="1" dirty="0">
                <a:solidFill>
                  <a:srgbClr val="C00000"/>
                </a:solidFill>
              </a:rPr>
              <a:t>Course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Project</a:t>
            </a:r>
            <a:r>
              <a:rPr lang="zh-CN" altLang="en-US" sz="4000" b="1" dirty="0">
                <a:solidFill>
                  <a:srgbClr val="C00000"/>
                </a:solidFill>
              </a:rPr>
              <a:t> </a:t>
            </a:r>
            <a:r>
              <a:rPr lang="en-US" altLang="zh-CN" sz="4000" b="1" dirty="0">
                <a:solidFill>
                  <a:srgbClr val="C00000"/>
                </a:solidFill>
              </a:rPr>
              <a:t>Suggestions</a:t>
            </a:r>
            <a:endParaRPr lang="en-US" sz="4000" b="1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C637C-309D-2443-870E-2C182F9CA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409F78-F563-9545-881B-B104A4FE2009}" type="slidenum">
              <a:rPr lang="en-US" smtClean="0"/>
              <a:t>19</a:t>
            </a:fld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3EDDC64-B827-3D4E-91A9-AB4BBA0A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78489"/>
            <a:ext cx="7638020" cy="4777862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40000"/>
              </a:lnSpc>
            </a:pPr>
            <a:r>
              <a:rPr lang="en-US" altLang="zh-CN" sz="2400" dirty="0"/>
              <a:t>Identify</a:t>
            </a:r>
            <a:r>
              <a:rPr lang="zh-CN" altLang="en-US" sz="2400" dirty="0"/>
              <a:t> </a:t>
            </a:r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open</a:t>
            </a:r>
            <a:r>
              <a:rPr lang="zh-CN" altLang="en-US" sz="2400" dirty="0"/>
              <a:t> </a:t>
            </a:r>
            <a:r>
              <a:rPr lang="en-US" altLang="zh-CN" sz="2400" dirty="0"/>
              <a:t>problem</a:t>
            </a:r>
            <a:r>
              <a:rPr lang="zh-CN" altLang="en-US" sz="2400" dirty="0"/>
              <a:t> </a:t>
            </a:r>
            <a:r>
              <a:rPr lang="en-US" altLang="zh-CN" sz="2400" dirty="0"/>
              <a:t>from</a:t>
            </a:r>
            <a:r>
              <a:rPr lang="zh-CN" altLang="en-US" sz="2400" dirty="0"/>
              <a:t> </a:t>
            </a:r>
            <a:r>
              <a:rPr lang="en-US" altLang="zh-CN" sz="2400" dirty="0"/>
              <a:t>your</a:t>
            </a:r>
            <a:r>
              <a:rPr lang="zh-CN" altLang="en-US" sz="2400" dirty="0"/>
              <a:t> </a:t>
            </a:r>
            <a:r>
              <a:rPr lang="en-US" altLang="zh-CN" sz="2400" dirty="0"/>
              <a:t>current</a:t>
            </a:r>
            <a:r>
              <a:rPr lang="zh-CN" altLang="en-US" sz="2400" dirty="0"/>
              <a:t> </a:t>
            </a:r>
            <a:r>
              <a:rPr lang="en-US" altLang="zh-CN" sz="2400" dirty="0"/>
              <a:t>research</a:t>
            </a:r>
            <a:r>
              <a:rPr lang="zh-CN" altLang="en-US" sz="2400" dirty="0"/>
              <a:t> </a:t>
            </a:r>
            <a:r>
              <a:rPr lang="en-US" altLang="zh-CN" sz="2400" dirty="0"/>
              <a:t>projects,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try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design</a:t>
            </a:r>
            <a:r>
              <a:rPr lang="zh-CN" altLang="en-US" sz="2400" dirty="0"/>
              <a:t> </a:t>
            </a:r>
            <a:r>
              <a:rPr lang="en-US" altLang="zh-CN" sz="2400" dirty="0"/>
              <a:t>ML</a:t>
            </a:r>
            <a:r>
              <a:rPr lang="zh-CN" altLang="en-US" sz="2400" dirty="0"/>
              <a:t> </a:t>
            </a:r>
            <a:r>
              <a:rPr lang="en-US" altLang="zh-CN" sz="2400" dirty="0"/>
              <a:t>models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improve</a:t>
            </a:r>
            <a:r>
              <a:rPr lang="zh-CN" altLang="en-US" sz="2400" dirty="0"/>
              <a:t> </a:t>
            </a: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system</a:t>
            </a:r>
            <a:r>
              <a:rPr lang="zh-CN" altLang="en-US" sz="2400" dirty="0"/>
              <a:t> </a:t>
            </a:r>
            <a:r>
              <a:rPr lang="en-US" altLang="zh-CN" sz="2400" dirty="0"/>
              <a:t>performance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Practical application problems from Science and Engineering make for excellent course projects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Check the recent published papers on top-tier machine learning conferences (e.g., ICML, ICMLA),</a:t>
            </a:r>
            <a:r>
              <a:rPr lang="zh-CN" altLang="en-US" sz="2400" dirty="0"/>
              <a:t> </a:t>
            </a:r>
            <a:r>
              <a:rPr lang="en-US" altLang="zh-CN" sz="2400" dirty="0"/>
              <a:t>and</a:t>
            </a:r>
            <a:r>
              <a:rPr lang="zh-CN" altLang="en-US" sz="2400" dirty="0"/>
              <a:t> </a:t>
            </a:r>
            <a:r>
              <a:rPr lang="en-US" altLang="zh-CN" sz="2400" dirty="0"/>
              <a:t>try</a:t>
            </a:r>
            <a:r>
              <a:rPr lang="zh-CN" altLang="en-US" sz="2400" dirty="0"/>
              <a:t> </a:t>
            </a:r>
            <a:r>
              <a:rPr lang="en-US" altLang="zh-CN" sz="2400" dirty="0"/>
              <a:t>to</a:t>
            </a:r>
            <a:r>
              <a:rPr lang="zh-CN" altLang="en-US" sz="2400" dirty="0"/>
              <a:t> </a:t>
            </a:r>
            <a:r>
              <a:rPr lang="en-US" altLang="zh-CN" sz="2400" dirty="0"/>
              <a:t>develop</a:t>
            </a:r>
            <a:r>
              <a:rPr lang="zh-CN" altLang="en-US" sz="2400" dirty="0"/>
              <a:t> </a:t>
            </a:r>
            <a:r>
              <a:rPr lang="en-US" altLang="zh-CN" sz="2400" dirty="0"/>
              <a:t>an</a:t>
            </a:r>
            <a:r>
              <a:rPr lang="zh-CN" altLang="en-US" sz="2400" dirty="0"/>
              <a:t> </a:t>
            </a:r>
            <a:r>
              <a:rPr lang="en-US" altLang="zh-CN" sz="2400" dirty="0"/>
              <a:t>improved</a:t>
            </a:r>
            <a:r>
              <a:rPr lang="zh-CN" altLang="en-US" sz="2400" dirty="0"/>
              <a:t> </a:t>
            </a:r>
            <a:r>
              <a:rPr lang="en-US" altLang="zh-CN" sz="2400" dirty="0"/>
              <a:t>version</a:t>
            </a:r>
          </a:p>
          <a:p>
            <a:pPr>
              <a:lnSpc>
                <a:spcPct val="140000"/>
              </a:lnSpc>
            </a:pPr>
            <a:r>
              <a:rPr lang="en-US" altLang="zh-CN" sz="2400" dirty="0"/>
              <a:t>The</a:t>
            </a:r>
            <a:r>
              <a:rPr lang="zh-CN" altLang="en-US" sz="2400" dirty="0"/>
              <a:t> </a:t>
            </a:r>
            <a:r>
              <a:rPr lang="en-US" altLang="zh-CN" sz="2400" dirty="0"/>
              <a:t>high-quality</a:t>
            </a:r>
            <a:r>
              <a:rPr lang="zh-CN" altLang="en-US" sz="2400" dirty="0"/>
              <a:t> </a:t>
            </a:r>
            <a:r>
              <a:rPr lang="en-US" altLang="zh-CN" sz="2400" dirty="0"/>
              <a:t>course</a:t>
            </a:r>
            <a:r>
              <a:rPr lang="zh-CN" altLang="en-US" sz="2400" dirty="0"/>
              <a:t> </a:t>
            </a:r>
            <a:r>
              <a:rPr lang="en-US" altLang="zh-CN" sz="2400" dirty="0"/>
              <a:t>project</a:t>
            </a:r>
            <a:r>
              <a:rPr lang="zh-CN" altLang="en-US" sz="2400" dirty="0"/>
              <a:t> </a:t>
            </a:r>
            <a:r>
              <a:rPr lang="en-US" altLang="zh-CN" sz="2400" dirty="0"/>
              <a:t>reports</a:t>
            </a:r>
            <a:r>
              <a:rPr lang="zh-CN" altLang="en-US" sz="2400" dirty="0"/>
              <a:t> </a:t>
            </a:r>
            <a:r>
              <a:rPr lang="en-US" altLang="zh-CN" sz="2400" dirty="0"/>
              <a:t>might</a:t>
            </a:r>
            <a:r>
              <a:rPr lang="zh-CN" altLang="en-US" sz="2400" dirty="0"/>
              <a:t> </a:t>
            </a:r>
            <a:r>
              <a:rPr lang="en-US" altLang="zh-CN" sz="2400" dirty="0"/>
              <a:t>be</a:t>
            </a:r>
            <a:r>
              <a:rPr lang="zh-CN" altLang="en-US" sz="2400" dirty="0"/>
              <a:t> </a:t>
            </a:r>
            <a:r>
              <a:rPr lang="en-US" altLang="zh-CN" sz="2400" dirty="0"/>
              <a:t>converted</a:t>
            </a:r>
            <a:r>
              <a:rPr lang="zh-CN" altLang="en-US" sz="2400" dirty="0"/>
              <a:t> </a:t>
            </a:r>
            <a:r>
              <a:rPr lang="en-US" altLang="zh-CN" sz="2400" dirty="0"/>
              <a:t>into</a:t>
            </a:r>
            <a:r>
              <a:rPr lang="zh-CN" altLang="en-US" sz="2400" dirty="0"/>
              <a:t> </a:t>
            </a:r>
            <a:r>
              <a:rPr lang="en-US" altLang="zh-CN" sz="2400" i="1" dirty="0">
                <a:solidFill>
                  <a:srgbClr val="0070C0"/>
                </a:solidFill>
              </a:rPr>
              <a:t>paper</a:t>
            </a:r>
            <a:r>
              <a:rPr lang="zh-CN" altLang="en-US" sz="2400" i="1" dirty="0">
                <a:solidFill>
                  <a:srgbClr val="0070C0"/>
                </a:solidFill>
              </a:rPr>
              <a:t> </a:t>
            </a:r>
            <a:r>
              <a:rPr lang="en-US" altLang="zh-CN" sz="2400" i="1" dirty="0">
                <a:solidFill>
                  <a:srgbClr val="0070C0"/>
                </a:solidFill>
              </a:rPr>
              <a:t>submissions</a:t>
            </a:r>
            <a:r>
              <a:rPr lang="zh-CN" altLang="en-US" sz="2400" i="1" dirty="0">
                <a:solidFill>
                  <a:srgbClr val="0070C0"/>
                </a:solidFill>
              </a:rPr>
              <a:t> </a:t>
            </a:r>
            <a:r>
              <a:rPr lang="en-US" altLang="zh-CN" sz="2400" dirty="0"/>
              <a:t>for</a:t>
            </a:r>
            <a:r>
              <a:rPr lang="zh-CN" altLang="en-US" sz="2400" dirty="0"/>
              <a:t> </a:t>
            </a:r>
            <a:r>
              <a:rPr lang="en-US" altLang="zh-CN" sz="2400" dirty="0"/>
              <a:t>future</a:t>
            </a:r>
            <a:r>
              <a:rPr lang="zh-CN" altLang="en-US" sz="2400" dirty="0"/>
              <a:t> </a:t>
            </a:r>
            <a:r>
              <a:rPr lang="en-US" altLang="zh-CN" sz="2400" dirty="0"/>
              <a:t>ML</a:t>
            </a:r>
            <a:r>
              <a:rPr lang="zh-CN" altLang="en-US" sz="2400" dirty="0"/>
              <a:t> </a:t>
            </a:r>
            <a:r>
              <a:rPr lang="en-US" altLang="zh-CN" sz="2400" dirty="0"/>
              <a:t>venues</a:t>
            </a:r>
          </a:p>
        </p:txBody>
      </p:sp>
    </p:spTree>
    <p:extLst>
      <p:ext uri="{BB962C8B-B14F-4D97-AF65-F5344CB8AC3E}">
        <p14:creationId xmlns:p14="http://schemas.microsoft.com/office/powerpoint/2010/main" val="421124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986</TotalTime>
  <Words>1033</Words>
  <Application>Microsoft Office PowerPoint</Application>
  <PresentationFormat>On-screen Show (4:3)</PresentationFormat>
  <Paragraphs>169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CSCI/ARTI 8950 Machine Learning  </vt:lpstr>
      <vt:lpstr>General Information</vt:lpstr>
      <vt:lpstr>What Can We Do with Machine Learning?</vt:lpstr>
      <vt:lpstr>Machine Learning</vt:lpstr>
      <vt:lpstr>A Growing and Fast-Moving Field</vt:lpstr>
      <vt:lpstr>Course Goals</vt:lpstr>
      <vt:lpstr>ML Related Courses at UGA</vt:lpstr>
      <vt:lpstr>Style of Course</vt:lpstr>
      <vt:lpstr>Recommended Textbooks</vt:lpstr>
      <vt:lpstr>Recommended Prerequisites</vt:lpstr>
      <vt:lpstr>Tentative Topics</vt:lpstr>
      <vt:lpstr>Tentative Schedule</vt:lpstr>
      <vt:lpstr>Grading Breakdown</vt:lpstr>
      <vt:lpstr>Paper Review &amp; Presentation</vt:lpstr>
      <vt:lpstr>Paper Review</vt:lpstr>
      <vt:lpstr>Paper Presentation</vt:lpstr>
      <vt:lpstr>Course Project</vt:lpstr>
      <vt:lpstr>Course Project Suggestions</vt:lpstr>
      <vt:lpstr>Course Project Suggestions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Advanced Topics in Machine Learning  CSCI 8000 </dc:title>
  <dc:creator>Sheng Li</dc:creator>
  <cp:lastModifiedBy>Khaled M Rasheed</cp:lastModifiedBy>
  <cp:revision>183</cp:revision>
  <cp:lastPrinted>2018-08-14T14:50:58Z</cp:lastPrinted>
  <dcterms:created xsi:type="dcterms:W3CDTF">2018-08-14T00:41:23Z</dcterms:created>
  <dcterms:modified xsi:type="dcterms:W3CDTF">2026-07-27T22:15:02Z</dcterms:modified>
</cp:coreProperties>
</file>