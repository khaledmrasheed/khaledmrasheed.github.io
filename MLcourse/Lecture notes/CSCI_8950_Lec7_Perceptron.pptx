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9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7" r:id="rId15"/>
    <p:sldId id="278" r:id="rId16"/>
    <p:sldId id="269" r:id="rId17"/>
    <p:sldId id="270" r:id="rId18"/>
    <p:sldId id="271" r:id="rId19"/>
    <p:sldId id="274" r:id="rId20"/>
    <p:sldId id="276" r:id="rId21"/>
    <p:sldId id="279" r:id="rId22"/>
    <p:sldId id="282" r:id="rId23"/>
    <p:sldId id="283" r:id="rId24"/>
    <p:sldId id="284" r:id="rId25"/>
    <p:sldId id="285" r:id="rId26"/>
    <p:sldId id="294" r:id="rId27"/>
    <p:sldId id="295" r:id="rId28"/>
    <p:sldId id="288" r:id="rId29"/>
    <p:sldId id="289" r:id="rId30"/>
    <p:sldId id="290" r:id="rId31"/>
  </p:sldIdLst>
  <p:sldSz cx="9144000" cy="6858000" type="screen4x3"/>
  <p:notesSz cx="9144000" cy="6858000"/>
  <p:embeddedFontLst>
    <p:embeddedFont>
      <p:font typeface="Cambria Math" panose="02040503050406030204" pitchFamily="18" charset="0"/>
      <p:regular r:id="rId33"/>
    </p:embeddedFont>
    <p:embeddedFont>
      <p:font typeface="Segoe UI" panose="020B0502040204020203" pitchFamily="34" charset="0"/>
      <p:regular r:id="rId34"/>
      <p:bold r:id="rId35"/>
      <p:italic r:id="rId36"/>
      <p:boldItalic r:id="rId37"/>
    </p:embeddedFont>
    <p:embeddedFont>
      <p:font typeface="Segoe UI Light" panose="020B0502040204020203" pitchFamily="34" charset="0"/>
      <p:regular r:id="rId38"/>
      <p: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3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8E734-7E7A-4357-A947-D121EB35ED4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131E97-EE6A-4273-A60F-33F477EDF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84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131E97-EE6A-4273-A60F-33F477EDFA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7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838" y="483234"/>
            <a:ext cx="807232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734" y="371901"/>
            <a:ext cx="8708047" cy="54145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0096" y="147955"/>
            <a:ext cx="6683806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319" y="1502975"/>
            <a:ext cx="8087360" cy="4712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5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5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6400" y="2382012"/>
            <a:ext cx="5943600" cy="13593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Calibri"/>
                <a:cs typeface="Calibri"/>
              </a:rPr>
              <a:t>Lecture </a:t>
            </a:r>
            <a:r>
              <a:rPr lang="en-US" sz="2800" b="1" spc="-5" dirty="0">
                <a:latin typeface="Calibri"/>
                <a:cs typeface="Calibri"/>
              </a:rPr>
              <a:t>Notes </a:t>
            </a:r>
            <a:r>
              <a:rPr sz="2800" b="1" dirty="0">
                <a:latin typeface="Calibri"/>
                <a:cs typeface="Calibri"/>
              </a:rPr>
              <a:t>7: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Perceptron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55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 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</a:t>
            </a:r>
            <a:r>
              <a:rPr lang="en-US" sz="1400" dirty="0">
                <a:latin typeface="Calibri"/>
                <a:cs typeface="Calibri"/>
              </a:rPr>
              <a:t>CIML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C8C4C42-21C4-4688-8641-4C54DEA72FAA}"/>
              </a:ext>
            </a:extLst>
          </p:cNvPr>
          <p:cNvSpPr txBox="1">
            <a:spLocks/>
          </p:cNvSpPr>
          <p:nvPr/>
        </p:nvSpPr>
        <p:spPr>
          <a:xfrm>
            <a:off x="1143000" y="3662998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sz="240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850" y="483234"/>
            <a:ext cx="73736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0" dirty="0"/>
              <a:t>Geometry </a:t>
            </a:r>
            <a:r>
              <a:rPr spc="-5" dirty="0"/>
              <a:t>concept:</a:t>
            </a:r>
            <a:r>
              <a:rPr spc="-55" dirty="0"/>
              <a:t> </a:t>
            </a:r>
            <a:r>
              <a:rPr dirty="0"/>
              <a:t>Hyperplane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8413" y="1724609"/>
            <a:ext cx="4854575" cy="5000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29464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800" spc="-10" dirty="0">
                <a:latin typeface="Segoe UI"/>
                <a:cs typeface="Segoe UI"/>
              </a:rPr>
              <a:t>Separates </a:t>
            </a: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spc="-10" dirty="0">
                <a:latin typeface="Segoe UI"/>
                <a:cs typeface="Segoe UI"/>
              </a:rPr>
              <a:t>D-dimensional  space </a:t>
            </a:r>
            <a:r>
              <a:rPr sz="2800" spc="-15" dirty="0">
                <a:latin typeface="Segoe UI"/>
                <a:cs typeface="Segoe UI"/>
              </a:rPr>
              <a:t>into </a:t>
            </a:r>
            <a:r>
              <a:rPr sz="2800" spc="-10" dirty="0">
                <a:latin typeface="Segoe UI"/>
                <a:cs typeface="Segoe UI"/>
              </a:rPr>
              <a:t>two</a:t>
            </a:r>
            <a:r>
              <a:rPr sz="2800" spc="-4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half-spaces</a:t>
            </a:r>
            <a:endParaRPr sz="2800">
              <a:latin typeface="Segoe UI"/>
              <a:cs typeface="Segoe UI"/>
            </a:endParaRPr>
          </a:p>
          <a:p>
            <a:pPr marL="368300" indent="-342900">
              <a:lnSpc>
                <a:spcPct val="100000"/>
              </a:lnSpc>
              <a:spcBef>
                <a:spcPts val="2980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800" spc="-10" dirty="0">
                <a:latin typeface="Segoe UI"/>
                <a:cs typeface="Segoe UI"/>
              </a:rPr>
              <a:t>Defined </a:t>
            </a:r>
            <a:r>
              <a:rPr sz="2800" spc="-5" dirty="0">
                <a:latin typeface="Segoe UI"/>
                <a:cs typeface="Segoe UI"/>
              </a:rPr>
              <a:t>by an </a:t>
            </a:r>
            <a:r>
              <a:rPr sz="2800" spc="-10" dirty="0">
                <a:latin typeface="Segoe UI"/>
                <a:cs typeface="Segoe UI"/>
              </a:rPr>
              <a:t>outward</a:t>
            </a:r>
            <a:endParaRPr sz="2800">
              <a:latin typeface="Segoe UI"/>
              <a:cs typeface="Segoe UI"/>
            </a:endParaRPr>
          </a:p>
          <a:p>
            <a:pPr marL="368300" marR="121920">
              <a:lnSpc>
                <a:spcPct val="69600"/>
              </a:lnSpc>
              <a:spcBef>
                <a:spcPts val="1025"/>
              </a:spcBef>
              <a:tabLst>
                <a:tab pos="4131310" algn="l"/>
              </a:tabLst>
            </a:pPr>
            <a:r>
              <a:rPr sz="2800" spc="-5" dirty="0">
                <a:latin typeface="Segoe UI"/>
                <a:cs typeface="Segoe UI"/>
              </a:rPr>
              <a:t>pointing</a:t>
            </a:r>
            <a:r>
              <a:rPr sz="2800" spc="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normal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vector	</a:t>
            </a:r>
            <a:r>
              <a:rPr sz="2800" spc="-5" dirty="0">
                <a:latin typeface="Cambria Math"/>
                <a:cs typeface="Cambria Math"/>
              </a:rPr>
              <a:t>𝑤 ∈  </a:t>
            </a:r>
            <a:r>
              <a:rPr sz="4200" spc="30" baseline="-19841" dirty="0">
                <a:latin typeface="Cambria Math"/>
                <a:cs typeface="Cambria Math"/>
              </a:rPr>
              <a:t>ℝ</a:t>
            </a:r>
            <a:r>
              <a:rPr sz="2050" spc="20" dirty="0">
                <a:latin typeface="Cambria Math"/>
                <a:cs typeface="Cambria Math"/>
              </a:rPr>
              <a:t>𝐷</a:t>
            </a:r>
            <a:endParaRPr sz="2050">
              <a:latin typeface="Cambria Math"/>
              <a:cs typeface="Cambria Math"/>
            </a:endParaRPr>
          </a:p>
          <a:p>
            <a:pPr marL="768985" marR="17780" indent="-287020">
              <a:lnSpc>
                <a:spcPct val="100000"/>
              </a:lnSpc>
              <a:spcBef>
                <a:spcPts val="161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dirty="0">
                <a:latin typeface="Cambria Math"/>
                <a:cs typeface="Cambria Math"/>
              </a:rPr>
              <a:t>𝑤 </a:t>
            </a:r>
            <a:r>
              <a:rPr sz="2400" spc="-5" dirty="0">
                <a:latin typeface="Segoe UI"/>
                <a:cs typeface="Segoe UI"/>
              </a:rPr>
              <a:t>is </a:t>
            </a:r>
            <a:r>
              <a:rPr sz="2400" b="1" dirty="0">
                <a:latin typeface="Segoe UI"/>
                <a:cs typeface="Segoe UI"/>
              </a:rPr>
              <a:t>orthogonal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any </a:t>
            </a:r>
            <a:r>
              <a:rPr sz="2400" spc="-10" dirty="0">
                <a:latin typeface="Segoe UI"/>
                <a:cs typeface="Segoe UI"/>
              </a:rPr>
              <a:t>vector  </a:t>
            </a:r>
            <a:r>
              <a:rPr sz="2400" spc="-5" dirty="0">
                <a:latin typeface="Segoe UI"/>
                <a:cs typeface="Segoe UI"/>
              </a:rPr>
              <a:t>lying </a:t>
            </a:r>
            <a:r>
              <a:rPr sz="2400" dirty="0">
                <a:latin typeface="Segoe UI"/>
                <a:cs typeface="Segoe UI"/>
              </a:rPr>
              <a:t>on the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hyperplane</a:t>
            </a:r>
            <a:endParaRPr sz="2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>
              <a:latin typeface="Segoe UI"/>
              <a:cs typeface="Segoe UI"/>
            </a:endParaRPr>
          </a:p>
          <a:p>
            <a:pPr marL="368300" marR="194945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800" spc="-5" dirty="0">
                <a:latin typeface="Segoe UI"/>
                <a:cs typeface="Segoe UI"/>
              </a:rPr>
              <a:t>Hyperplane </a:t>
            </a:r>
            <a:r>
              <a:rPr sz="2800" spc="-10" dirty="0">
                <a:latin typeface="Segoe UI"/>
                <a:cs typeface="Segoe UI"/>
              </a:rPr>
              <a:t>passes through  </a:t>
            </a:r>
            <a:r>
              <a:rPr sz="2800" spc="-5" dirty="0">
                <a:latin typeface="Segoe UI"/>
                <a:cs typeface="Segoe UI"/>
              </a:rPr>
              <a:t>the origin, unless </a:t>
            </a:r>
            <a:r>
              <a:rPr sz="2800" spc="-15" dirty="0">
                <a:latin typeface="Segoe UI"/>
                <a:cs typeface="Segoe UI"/>
              </a:rPr>
              <a:t>we </a:t>
            </a:r>
            <a:r>
              <a:rPr sz="2800" spc="-5" dirty="0">
                <a:latin typeface="Segoe UI"/>
                <a:cs typeface="Segoe UI"/>
              </a:rPr>
              <a:t>also  define a </a:t>
            </a:r>
            <a:r>
              <a:rPr sz="2800" b="1" spc="-10" dirty="0">
                <a:latin typeface="Segoe UI"/>
                <a:cs typeface="Segoe UI"/>
              </a:rPr>
              <a:t>bias </a:t>
            </a:r>
            <a:r>
              <a:rPr sz="2800" spc="-10" dirty="0">
                <a:latin typeface="Segoe UI"/>
                <a:cs typeface="Segoe UI"/>
              </a:rPr>
              <a:t>term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b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79" y="2564920"/>
            <a:ext cx="2290883" cy="2144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5336" y="147955"/>
            <a:ext cx="451421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marR="5080" indent="-428625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Binary</a:t>
            </a:r>
            <a:r>
              <a:rPr spc="-80" dirty="0"/>
              <a:t> </a:t>
            </a:r>
            <a:r>
              <a:rPr spc="-5" dirty="0"/>
              <a:t>classification  via</a:t>
            </a:r>
            <a:r>
              <a:rPr spc="-20" dirty="0"/>
              <a:t> </a:t>
            </a:r>
            <a:r>
              <a:rPr spc="-5" dirty="0"/>
              <a:t>hyperplanes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447" y="2237358"/>
            <a:ext cx="4239260" cy="353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5" dirty="0">
                <a:latin typeface="Segoe UI"/>
                <a:cs typeface="Segoe UI"/>
              </a:rPr>
              <a:t>Let’s </a:t>
            </a:r>
            <a:r>
              <a:rPr sz="2800" spc="-5" dirty="0">
                <a:latin typeface="Segoe UI"/>
                <a:cs typeface="Segoe UI"/>
              </a:rPr>
              <a:t>assume that the  decision </a:t>
            </a:r>
            <a:r>
              <a:rPr sz="2800" spc="10" dirty="0">
                <a:latin typeface="Segoe UI"/>
                <a:cs typeface="Segoe UI"/>
              </a:rPr>
              <a:t>boundary </a:t>
            </a:r>
            <a:r>
              <a:rPr sz="2800" spc="-5" dirty="0">
                <a:latin typeface="Segoe UI"/>
                <a:cs typeface="Segoe UI"/>
              </a:rPr>
              <a:t>is</a:t>
            </a:r>
            <a:r>
              <a:rPr sz="2800" spc="-7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  hyperplane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1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Then, training consists </a:t>
            </a:r>
            <a:r>
              <a:rPr sz="2800" spc="-10" dirty="0">
                <a:latin typeface="Segoe UI"/>
                <a:cs typeface="Segoe UI"/>
              </a:rPr>
              <a:t>in  </a:t>
            </a:r>
            <a:r>
              <a:rPr sz="2800" spc="-5" dirty="0">
                <a:latin typeface="Segoe UI"/>
                <a:cs typeface="Segoe UI"/>
              </a:rPr>
              <a:t>finding a hyperplane </a:t>
            </a:r>
            <a:r>
              <a:rPr sz="2800" spc="-5" dirty="0">
                <a:latin typeface="Cambria Math"/>
                <a:cs typeface="Cambria Math"/>
              </a:rPr>
              <a:t>𝑤  </a:t>
            </a:r>
            <a:r>
              <a:rPr sz="2800" spc="-5" dirty="0">
                <a:latin typeface="Segoe UI"/>
                <a:cs typeface="Segoe UI"/>
              </a:rPr>
              <a:t>that </a:t>
            </a:r>
            <a:r>
              <a:rPr sz="2800" spc="-10" dirty="0">
                <a:latin typeface="Segoe UI"/>
                <a:cs typeface="Segoe UI"/>
              </a:rPr>
              <a:t>separates </a:t>
            </a:r>
            <a:r>
              <a:rPr sz="2800" spc="-5" dirty="0">
                <a:latin typeface="Segoe UI"/>
                <a:cs typeface="Segoe UI"/>
              </a:rPr>
              <a:t>positive  </a:t>
            </a:r>
            <a:r>
              <a:rPr sz="2800" spc="-15" dirty="0">
                <a:latin typeface="Segoe UI"/>
                <a:cs typeface="Segoe UI"/>
              </a:rPr>
              <a:t>from </a:t>
            </a:r>
            <a:r>
              <a:rPr sz="2800" spc="-5" dirty="0">
                <a:latin typeface="Segoe UI"/>
                <a:cs typeface="Segoe UI"/>
              </a:rPr>
              <a:t>negative</a:t>
            </a:r>
            <a:r>
              <a:rPr sz="2800" spc="-3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examples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048" y="2414574"/>
            <a:ext cx="2862702" cy="2887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5336" y="147955"/>
            <a:ext cx="451421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marR="5080" indent="-428625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Binary</a:t>
            </a:r>
            <a:r>
              <a:rPr spc="-80" dirty="0"/>
              <a:t> </a:t>
            </a:r>
            <a:r>
              <a:rPr spc="-5" dirty="0"/>
              <a:t>classification  via</a:t>
            </a:r>
            <a:r>
              <a:rPr spc="-20" dirty="0"/>
              <a:t> </a:t>
            </a:r>
            <a:r>
              <a:rPr spc="-5" dirty="0"/>
              <a:t>hyperplanes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6747" y="2237358"/>
            <a:ext cx="4313555" cy="211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800" spc="-25" dirty="0">
                <a:latin typeface="Segoe UI"/>
                <a:cs typeface="Segoe UI"/>
              </a:rPr>
              <a:t>At </a:t>
            </a:r>
            <a:r>
              <a:rPr sz="2800" spc="-10" dirty="0">
                <a:latin typeface="Segoe UI"/>
                <a:cs typeface="Segoe UI"/>
              </a:rPr>
              <a:t>test time, </a:t>
            </a:r>
            <a:r>
              <a:rPr sz="2800" spc="-15" dirty="0">
                <a:latin typeface="Segoe UI"/>
                <a:cs typeface="Segoe UI"/>
              </a:rPr>
              <a:t>we </a:t>
            </a:r>
            <a:r>
              <a:rPr sz="2800" spc="-5" dirty="0">
                <a:latin typeface="Segoe UI"/>
                <a:cs typeface="Segoe UI"/>
              </a:rPr>
              <a:t>check on  what </a:t>
            </a:r>
            <a:r>
              <a:rPr sz="2800" spc="-10" dirty="0">
                <a:latin typeface="Segoe UI"/>
                <a:cs typeface="Segoe UI"/>
              </a:rPr>
              <a:t>side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the  hyperplane examples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fall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Segoe UI"/>
              <a:cs typeface="Segoe UI"/>
            </a:endParaRPr>
          </a:p>
          <a:p>
            <a:pPr marL="849630">
              <a:lnSpc>
                <a:spcPct val="100000"/>
              </a:lnSpc>
            </a:pPr>
            <a:r>
              <a:rPr sz="2400" spc="-1019" dirty="0">
                <a:latin typeface="Cambria Math"/>
                <a:cs typeface="Cambria Math"/>
              </a:rPr>
              <a:t>𝑦</a:t>
            </a:r>
            <a:r>
              <a:rPr sz="2400" spc="116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 </a:t>
            </a:r>
            <a:r>
              <a:rPr sz="2400" spc="45" dirty="0">
                <a:latin typeface="Cambria Math"/>
                <a:cs typeface="Cambria Math"/>
              </a:rPr>
              <a:t>𝑠𝑖𝑔𝑛(𝑤</a:t>
            </a:r>
            <a:r>
              <a:rPr sz="2625" spc="67" baseline="28571" dirty="0">
                <a:latin typeface="Cambria Math"/>
                <a:cs typeface="Cambria Math"/>
              </a:rPr>
              <a:t>𝑇</a:t>
            </a:r>
            <a:r>
              <a:rPr sz="2400" spc="45" dirty="0">
                <a:latin typeface="Cambria Math"/>
                <a:cs typeface="Cambria Math"/>
              </a:rPr>
              <a:t>𝑥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𝑏)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048" y="2414574"/>
            <a:ext cx="2862702" cy="2887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635" marR="5080" indent="-974725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</a:t>
            </a:r>
            <a:r>
              <a:rPr spc="-114" dirty="0"/>
              <a:t> </a:t>
            </a:r>
            <a:r>
              <a:rPr spc="-15" dirty="0"/>
              <a:t>Approximation  </a:t>
            </a:r>
            <a:r>
              <a:rPr dirty="0"/>
              <a:t>with</a:t>
            </a:r>
            <a:r>
              <a:rPr spc="-25" dirty="0"/>
              <a:t> </a:t>
            </a:r>
            <a:r>
              <a:rPr spc="-45" dirty="0"/>
              <a:t>Perceptron</a:t>
            </a:r>
          </a:p>
        </p:txBody>
      </p:sp>
      <p:sp>
        <p:nvSpPr>
          <p:cNvPr id="3" name="object 3"/>
          <p:cNvSpPr/>
          <p:nvPr/>
        </p:nvSpPr>
        <p:spPr>
          <a:xfrm>
            <a:off x="5144770" y="3720084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30" y="2667"/>
                </a:moveTo>
                <a:lnTo>
                  <a:pt x="382270" y="2667"/>
                </a:lnTo>
                <a:lnTo>
                  <a:pt x="382270" y="279654"/>
                </a:lnTo>
                <a:lnTo>
                  <a:pt x="405130" y="279654"/>
                </a:lnTo>
                <a:lnTo>
                  <a:pt x="405130" y="2667"/>
                </a:lnTo>
                <a:close/>
              </a:path>
              <a:path w="405129" h="283845">
                <a:moveTo>
                  <a:pt x="94869" y="0"/>
                </a:moveTo>
                <a:lnTo>
                  <a:pt x="91059" y="0"/>
                </a:lnTo>
                <a:lnTo>
                  <a:pt x="74650" y="1214"/>
                </a:lnTo>
                <a:lnTo>
                  <a:pt x="38735" y="16002"/>
                </a:lnTo>
                <a:lnTo>
                  <a:pt x="21661" y="59563"/>
                </a:lnTo>
                <a:lnTo>
                  <a:pt x="21558" y="65091"/>
                </a:lnTo>
                <a:lnTo>
                  <a:pt x="21677" y="68633"/>
                </a:lnTo>
                <a:lnTo>
                  <a:pt x="22320" y="75453"/>
                </a:lnTo>
                <a:lnTo>
                  <a:pt x="23391" y="82678"/>
                </a:lnTo>
                <a:lnTo>
                  <a:pt x="24892" y="90297"/>
                </a:lnTo>
                <a:lnTo>
                  <a:pt x="27178" y="100838"/>
                </a:lnTo>
                <a:lnTo>
                  <a:pt x="28448" y="107950"/>
                </a:lnTo>
                <a:lnTo>
                  <a:pt x="28448" y="118364"/>
                </a:lnTo>
                <a:lnTo>
                  <a:pt x="26035" y="123952"/>
                </a:lnTo>
                <a:lnTo>
                  <a:pt x="16637" y="132588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701"/>
                </a:lnTo>
                <a:lnTo>
                  <a:pt x="16637" y="149987"/>
                </a:lnTo>
                <a:lnTo>
                  <a:pt x="26035" y="158623"/>
                </a:lnTo>
                <a:lnTo>
                  <a:pt x="28448" y="164211"/>
                </a:lnTo>
                <a:lnTo>
                  <a:pt x="28448" y="174625"/>
                </a:lnTo>
                <a:lnTo>
                  <a:pt x="27178" y="181610"/>
                </a:lnTo>
                <a:lnTo>
                  <a:pt x="24892" y="192151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3" y="220345"/>
                </a:lnTo>
                <a:lnTo>
                  <a:pt x="22536" y="235321"/>
                </a:lnTo>
                <a:lnTo>
                  <a:pt x="48500" y="274629"/>
                </a:lnTo>
                <a:lnTo>
                  <a:pt x="91059" y="283845"/>
                </a:lnTo>
                <a:lnTo>
                  <a:pt x="94869" y="283845"/>
                </a:lnTo>
                <a:lnTo>
                  <a:pt x="94869" y="272542"/>
                </a:lnTo>
                <a:lnTo>
                  <a:pt x="92710" y="272542"/>
                </a:lnTo>
                <a:lnTo>
                  <a:pt x="82520" y="271829"/>
                </a:lnTo>
                <a:lnTo>
                  <a:pt x="49784" y="246078"/>
                </a:lnTo>
                <a:lnTo>
                  <a:pt x="46736" y="223012"/>
                </a:lnTo>
                <a:lnTo>
                  <a:pt x="46924" y="217465"/>
                </a:lnTo>
                <a:lnTo>
                  <a:pt x="47482" y="211312"/>
                </a:lnTo>
                <a:lnTo>
                  <a:pt x="48396" y="204563"/>
                </a:lnTo>
                <a:lnTo>
                  <a:pt x="49657" y="197231"/>
                </a:lnTo>
                <a:lnTo>
                  <a:pt x="51689" y="186944"/>
                </a:lnTo>
                <a:lnTo>
                  <a:pt x="52705" y="179705"/>
                </a:lnTo>
                <a:lnTo>
                  <a:pt x="52705" y="166878"/>
                </a:lnTo>
                <a:lnTo>
                  <a:pt x="50165" y="160020"/>
                </a:lnTo>
                <a:lnTo>
                  <a:pt x="45212" y="154559"/>
                </a:lnTo>
                <a:lnTo>
                  <a:pt x="40259" y="149225"/>
                </a:lnTo>
                <a:lnTo>
                  <a:pt x="34290" y="145161"/>
                </a:lnTo>
                <a:lnTo>
                  <a:pt x="27559" y="142621"/>
                </a:lnTo>
                <a:lnTo>
                  <a:pt x="27559" y="139954"/>
                </a:lnTo>
                <a:lnTo>
                  <a:pt x="34290" y="137287"/>
                </a:lnTo>
                <a:lnTo>
                  <a:pt x="40259" y="133350"/>
                </a:lnTo>
                <a:lnTo>
                  <a:pt x="45212" y="127889"/>
                </a:lnTo>
                <a:lnTo>
                  <a:pt x="50165" y="122555"/>
                </a:lnTo>
                <a:lnTo>
                  <a:pt x="52705" y="115570"/>
                </a:lnTo>
                <a:lnTo>
                  <a:pt x="52705" y="102870"/>
                </a:lnTo>
                <a:lnTo>
                  <a:pt x="51689" y="95504"/>
                </a:lnTo>
                <a:lnTo>
                  <a:pt x="49657" y="85344"/>
                </a:lnTo>
                <a:lnTo>
                  <a:pt x="48396" y="77958"/>
                </a:lnTo>
                <a:lnTo>
                  <a:pt x="47482" y="71215"/>
                </a:lnTo>
                <a:lnTo>
                  <a:pt x="46924" y="65091"/>
                </a:lnTo>
                <a:lnTo>
                  <a:pt x="46736" y="59563"/>
                </a:lnTo>
                <a:lnTo>
                  <a:pt x="47498" y="47609"/>
                </a:lnTo>
                <a:lnTo>
                  <a:pt x="73485" y="14144"/>
                </a:lnTo>
                <a:lnTo>
                  <a:pt x="92710" y="11303"/>
                </a:lnTo>
                <a:lnTo>
                  <a:pt x="94869" y="11303"/>
                </a:lnTo>
                <a:lnTo>
                  <a:pt x="94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1670" y="1509522"/>
            <a:ext cx="7264400" cy="35375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2400" spc="-10" dirty="0">
                <a:latin typeface="Segoe UI"/>
                <a:cs typeface="Segoe UI"/>
              </a:rPr>
              <a:t>Problem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setting</a:t>
            </a:r>
            <a:endParaRPr sz="2400" dirty="0">
              <a:latin typeface="Segoe UI"/>
              <a:cs typeface="Segoe UI"/>
            </a:endParaRP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possible </a:t>
            </a:r>
            <a:r>
              <a:rPr sz="2400" spc="-5" dirty="0">
                <a:latin typeface="Segoe UI"/>
                <a:cs typeface="Segoe UI"/>
              </a:rPr>
              <a:t>instances</a:t>
            </a:r>
            <a:r>
              <a:rPr sz="2400" spc="6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  <a:tab pos="2620645" algn="l"/>
              </a:tabLst>
            </a:pP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Each</a:t>
            </a:r>
            <a:r>
              <a:rPr sz="2000" spc="5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instance</a:t>
            </a:r>
            <a:r>
              <a:rPr sz="2000" spc="1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	∈ 𝑋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a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feature vector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 = 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[𝑥</a:t>
            </a:r>
            <a:r>
              <a:rPr sz="2175" spc="15" baseline="-15325" dirty="0">
                <a:solidFill>
                  <a:srgbClr val="9F2936"/>
                </a:solidFill>
                <a:latin typeface="Cambria Math"/>
                <a:cs typeface="Cambria Math"/>
              </a:rPr>
              <a:t>1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,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… ,</a:t>
            </a:r>
            <a:r>
              <a:rPr sz="2000" spc="-250" dirty="0">
                <a:solidFill>
                  <a:srgbClr val="9F2936"/>
                </a:solidFill>
                <a:latin typeface="Cambria Math"/>
                <a:cs typeface="Cambria Math"/>
              </a:rPr>
              <a:t> 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𝑥</a:t>
            </a:r>
            <a:r>
              <a:rPr sz="2175" spc="67" baseline="-15325" dirty="0">
                <a:solidFill>
                  <a:srgbClr val="9F2936"/>
                </a:solidFill>
                <a:latin typeface="Cambria Math"/>
                <a:cs typeface="Cambria Math"/>
              </a:rPr>
              <a:t>𝐷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]</a:t>
            </a:r>
            <a:endParaRPr sz="2000" dirty="0">
              <a:latin typeface="Cambria Math"/>
              <a:cs typeface="Cambria Math"/>
            </a:endParaRP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  <a:tab pos="4480560" algn="l"/>
              </a:tabLst>
            </a:pPr>
            <a:r>
              <a:rPr sz="2400" spc="-5" dirty="0">
                <a:latin typeface="Segoe UI"/>
                <a:cs typeface="Segoe UI"/>
              </a:rPr>
              <a:t>Unknown target function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35" dirty="0">
                <a:latin typeface="Cambria Math"/>
                <a:cs typeface="Cambria Math"/>
              </a:rPr>
              <a:t>𝑓: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</a:tabLst>
            </a:pP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𝑌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spc="10" dirty="0">
                <a:solidFill>
                  <a:srgbClr val="9F2936"/>
                </a:solidFill>
                <a:latin typeface="Segoe UI"/>
                <a:cs typeface="Segoe UI"/>
              </a:rPr>
              <a:t>binary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valued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{-1;</a:t>
            </a:r>
            <a:r>
              <a:rPr sz="2000" spc="125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+1}</a:t>
            </a:r>
            <a:endParaRPr sz="2000" dirty="0">
              <a:latin typeface="Segoe UI"/>
              <a:cs typeface="Segoe UI"/>
            </a:endParaRPr>
          </a:p>
          <a:p>
            <a:pPr marL="368300" indent="-342900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367665" algn="l"/>
                <a:tab pos="368300" algn="l"/>
                <a:tab pos="4786630" algn="l"/>
                <a:tab pos="5191760" algn="l"/>
                <a:tab pos="585343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function </a:t>
            </a:r>
            <a:r>
              <a:rPr sz="2400" dirty="0">
                <a:latin typeface="Segoe UI"/>
                <a:cs typeface="Segoe UI"/>
              </a:rPr>
              <a:t>hypotheses</a:t>
            </a:r>
            <a:r>
              <a:rPr sz="2400" spc="10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ℎ	</a:t>
            </a:r>
            <a:r>
              <a:rPr sz="2400" spc="25" dirty="0">
                <a:latin typeface="Cambria Math"/>
                <a:cs typeface="Cambria Math"/>
              </a:rPr>
              <a:t>ℎ: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25" dirty="0">
                <a:latin typeface="Cambria Math"/>
                <a:cs typeface="Cambria Math"/>
              </a:rPr>
              <a:t>𝑌}</a:t>
            </a:r>
            <a:endParaRPr sz="2400" dirty="0">
              <a:latin typeface="Cambria Math"/>
              <a:cs typeface="Cambria Math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</a:tabLst>
            </a:pP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Each hypothesis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ℎ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a hyperplane in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D-dimensional</a:t>
            </a:r>
            <a:r>
              <a:rPr sz="2000" spc="-29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space</a:t>
            </a:r>
            <a:endParaRPr sz="2000" dirty="0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  <a:spcBef>
                <a:spcPts val="2300"/>
              </a:spcBef>
            </a:pPr>
            <a:r>
              <a:rPr sz="2400" spc="-5" dirty="0">
                <a:latin typeface="Segoe UI"/>
                <a:cs typeface="Segoe UI"/>
              </a:rPr>
              <a:t>Input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70275" y="5170170"/>
            <a:ext cx="1348740" cy="374650"/>
          </a:xfrm>
          <a:custGeom>
            <a:avLst/>
            <a:gdLst/>
            <a:ahLst/>
            <a:cxnLst/>
            <a:rect l="l" t="t" r="r" b="b"/>
            <a:pathLst>
              <a:path w="1348739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86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34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348739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348739" h="374650">
                <a:moveTo>
                  <a:pt x="582549" y="103124"/>
                </a:moveTo>
                <a:lnTo>
                  <a:pt x="572947" y="50698"/>
                </a:lnTo>
                <a:lnTo>
                  <a:pt x="544804" y="13233"/>
                </a:lnTo>
                <a:lnTo>
                  <a:pt x="516763" y="0"/>
                </a:lnTo>
                <a:lnTo>
                  <a:pt x="513842" y="8382"/>
                </a:lnTo>
                <a:lnTo>
                  <a:pt x="525767" y="13576"/>
                </a:lnTo>
                <a:lnTo>
                  <a:pt x="536028" y="20751"/>
                </a:lnTo>
                <a:lnTo>
                  <a:pt x="556895" y="53924"/>
                </a:lnTo>
                <a:lnTo>
                  <a:pt x="563753" y="101981"/>
                </a:lnTo>
                <a:lnTo>
                  <a:pt x="562978" y="120180"/>
                </a:lnTo>
                <a:lnTo>
                  <a:pt x="551434" y="164719"/>
                </a:lnTo>
                <a:lnTo>
                  <a:pt x="514223" y="197739"/>
                </a:lnTo>
                <a:lnTo>
                  <a:pt x="516763" y="206121"/>
                </a:lnTo>
                <a:lnTo>
                  <a:pt x="556120" y="182676"/>
                </a:lnTo>
                <a:lnTo>
                  <a:pt x="578269" y="139496"/>
                </a:lnTo>
                <a:lnTo>
                  <a:pt x="581469" y="122034"/>
                </a:lnTo>
                <a:lnTo>
                  <a:pt x="582549" y="103124"/>
                </a:lnTo>
                <a:close/>
              </a:path>
              <a:path w="1348739" h="374650">
                <a:moveTo>
                  <a:pt x="1000252" y="8382"/>
                </a:moveTo>
                <a:lnTo>
                  <a:pt x="997331" y="0"/>
                </a:lnTo>
                <a:lnTo>
                  <a:pt x="982370" y="5410"/>
                </a:lnTo>
                <a:lnTo>
                  <a:pt x="969276" y="13233"/>
                </a:lnTo>
                <a:lnTo>
                  <a:pt x="941133" y="50698"/>
                </a:lnTo>
                <a:lnTo>
                  <a:pt x="931545" y="103124"/>
                </a:lnTo>
                <a:lnTo>
                  <a:pt x="932611" y="122034"/>
                </a:lnTo>
                <a:lnTo>
                  <a:pt x="948563" y="170053"/>
                </a:lnTo>
                <a:lnTo>
                  <a:pt x="982345" y="200723"/>
                </a:lnTo>
                <a:lnTo>
                  <a:pt x="997331" y="206121"/>
                </a:lnTo>
                <a:lnTo>
                  <a:pt x="999998" y="197739"/>
                </a:lnTo>
                <a:lnTo>
                  <a:pt x="988225" y="192532"/>
                </a:lnTo>
                <a:lnTo>
                  <a:pt x="978090" y="185280"/>
                </a:lnTo>
                <a:lnTo>
                  <a:pt x="957300" y="151523"/>
                </a:lnTo>
                <a:lnTo>
                  <a:pt x="950341" y="101981"/>
                </a:lnTo>
                <a:lnTo>
                  <a:pt x="951115" y="84442"/>
                </a:lnTo>
                <a:lnTo>
                  <a:pt x="962660" y="41021"/>
                </a:lnTo>
                <a:lnTo>
                  <a:pt x="988390" y="13576"/>
                </a:lnTo>
                <a:lnTo>
                  <a:pt x="1000252" y="8382"/>
                </a:lnTo>
                <a:close/>
              </a:path>
              <a:path w="1348739" h="374650">
                <a:moveTo>
                  <a:pt x="1205865" y="103124"/>
                </a:moveTo>
                <a:lnTo>
                  <a:pt x="1196263" y="50698"/>
                </a:lnTo>
                <a:lnTo>
                  <a:pt x="1168120" y="13233"/>
                </a:lnTo>
                <a:lnTo>
                  <a:pt x="1140079" y="0"/>
                </a:lnTo>
                <a:lnTo>
                  <a:pt x="1137158" y="8382"/>
                </a:lnTo>
                <a:lnTo>
                  <a:pt x="1149083" y="13576"/>
                </a:lnTo>
                <a:lnTo>
                  <a:pt x="1159344" y="20751"/>
                </a:lnTo>
                <a:lnTo>
                  <a:pt x="1180211" y="53924"/>
                </a:lnTo>
                <a:lnTo>
                  <a:pt x="1187069" y="101981"/>
                </a:lnTo>
                <a:lnTo>
                  <a:pt x="1186294" y="120180"/>
                </a:lnTo>
                <a:lnTo>
                  <a:pt x="1174750" y="164719"/>
                </a:lnTo>
                <a:lnTo>
                  <a:pt x="1137539" y="197739"/>
                </a:lnTo>
                <a:lnTo>
                  <a:pt x="1140079" y="206121"/>
                </a:lnTo>
                <a:lnTo>
                  <a:pt x="1179436" y="182676"/>
                </a:lnTo>
                <a:lnTo>
                  <a:pt x="1201585" y="139496"/>
                </a:lnTo>
                <a:lnTo>
                  <a:pt x="1204785" y="122034"/>
                </a:lnTo>
                <a:lnTo>
                  <a:pt x="1205865" y="103124"/>
                </a:lnTo>
                <a:close/>
              </a:path>
              <a:path w="1348739" h="374650">
                <a:moveTo>
                  <a:pt x="1348359" y="190373"/>
                </a:moveTo>
                <a:lnTo>
                  <a:pt x="1342072" y="125209"/>
                </a:lnTo>
                <a:lnTo>
                  <a:pt x="1323213" y="69469"/>
                </a:lnTo>
                <a:lnTo>
                  <a:pt x="1292733" y="28130"/>
                </a:lnTo>
                <a:lnTo>
                  <a:pt x="1251585" y="6223"/>
                </a:lnTo>
                <a:lnTo>
                  <a:pt x="1247902" y="18415"/>
                </a:lnTo>
                <a:lnTo>
                  <a:pt x="1264805" y="27178"/>
                </a:lnTo>
                <a:lnTo>
                  <a:pt x="1279525" y="39941"/>
                </a:lnTo>
                <a:lnTo>
                  <a:pt x="1302385" y="77470"/>
                </a:lnTo>
                <a:lnTo>
                  <a:pt x="1316266" y="128511"/>
                </a:lnTo>
                <a:lnTo>
                  <a:pt x="1320927" y="190500"/>
                </a:lnTo>
                <a:lnTo>
                  <a:pt x="1319758" y="222770"/>
                </a:lnTo>
                <a:lnTo>
                  <a:pt x="1310474" y="279158"/>
                </a:lnTo>
                <a:lnTo>
                  <a:pt x="1292047" y="323977"/>
                </a:lnTo>
                <a:lnTo>
                  <a:pt x="1264805" y="353453"/>
                </a:lnTo>
                <a:lnTo>
                  <a:pt x="1247902" y="362204"/>
                </a:lnTo>
                <a:lnTo>
                  <a:pt x="1251585" y="374396"/>
                </a:lnTo>
                <a:lnTo>
                  <a:pt x="1292733" y="352488"/>
                </a:lnTo>
                <a:lnTo>
                  <a:pt x="1323213" y="311150"/>
                </a:lnTo>
                <a:lnTo>
                  <a:pt x="1342072" y="255435"/>
                </a:lnTo>
                <a:lnTo>
                  <a:pt x="1346784" y="224078"/>
                </a:lnTo>
                <a:lnTo>
                  <a:pt x="1348359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64023" y="5170170"/>
            <a:ext cx="1438275" cy="374650"/>
          </a:xfrm>
          <a:custGeom>
            <a:avLst/>
            <a:gdLst/>
            <a:ahLst/>
            <a:cxnLst/>
            <a:rect l="l" t="t" r="r" b="b"/>
            <a:pathLst>
              <a:path w="1438275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86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34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438275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438275" h="374650">
                <a:moveTo>
                  <a:pt x="626745" y="103124"/>
                </a:moveTo>
                <a:lnTo>
                  <a:pt x="617143" y="50698"/>
                </a:lnTo>
                <a:lnTo>
                  <a:pt x="589000" y="13233"/>
                </a:lnTo>
                <a:lnTo>
                  <a:pt x="560959" y="0"/>
                </a:lnTo>
                <a:lnTo>
                  <a:pt x="558038" y="8382"/>
                </a:lnTo>
                <a:lnTo>
                  <a:pt x="569963" y="13576"/>
                </a:lnTo>
                <a:lnTo>
                  <a:pt x="580224" y="20751"/>
                </a:lnTo>
                <a:lnTo>
                  <a:pt x="601091" y="53924"/>
                </a:lnTo>
                <a:lnTo>
                  <a:pt x="607949" y="101981"/>
                </a:lnTo>
                <a:lnTo>
                  <a:pt x="607174" y="120180"/>
                </a:lnTo>
                <a:lnTo>
                  <a:pt x="595630" y="164719"/>
                </a:lnTo>
                <a:lnTo>
                  <a:pt x="558419" y="197739"/>
                </a:lnTo>
                <a:lnTo>
                  <a:pt x="560959" y="206121"/>
                </a:lnTo>
                <a:lnTo>
                  <a:pt x="600316" y="182676"/>
                </a:lnTo>
                <a:lnTo>
                  <a:pt x="622465" y="139496"/>
                </a:lnTo>
                <a:lnTo>
                  <a:pt x="625665" y="122034"/>
                </a:lnTo>
                <a:lnTo>
                  <a:pt x="626745" y="103124"/>
                </a:lnTo>
                <a:close/>
              </a:path>
              <a:path w="1438275" h="374650">
                <a:moveTo>
                  <a:pt x="1044448" y="8382"/>
                </a:moveTo>
                <a:lnTo>
                  <a:pt x="1041527" y="0"/>
                </a:lnTo>
                <a:lnTo>
                  <a:pt x="1026566" y="5410"/>
                </a:lnTo>
                <a:lnTo>
                  <a:pt x="1013472" y="13233"/>
                </a:lnTo>
                <a:lnTo>
                  <a:pt x="985329" y="50698"/>
                </a:lnTo>
                <a:lnTo>
                  <a:pt x="975741" y="103124"/>
                </a:lnTo>
                <a:lnTo>
                  <a:pt x="976807" y="122034"/>
                </a:lnTo>
                <a:lnTo>
                  <a:pt x="992759" y="170053"/>
                </a:lnTo>
                <a:lnTo>
                  <a:pt x="1026541" y="200723"/>
                </a:lnTo>
                <a:lnTo>
                  <a:pt x="1041527" y="206121"/>
                </a:lnTo>
                <a:lnTo>
                  <a:pt x="1044194" y="197739"/>
                </a:lnTo>
                <a:lnTo>
                  <a:pt x="1032421" y="192532"/>
                </a:lnTo>
                <a:lnTo>
                  <a:pt x="1022286" y="185280"/>
                </a:lnTo>
                <a:lnTo>
                  <a:pt x="1001496" y="151523"/>
                </a:lnTo>
                <a:lnTo>
                  <a:pt x="994537" y="101981"/>
                </a:lnTo>
                <a:lnTo>
                  <a:pt x="995311" y="84442"/>
                </a:lnTo>
                <a:lnTo>
                  <a:pt x="1006856" y="41021"/>
                </a:lnTo>
                <a:lnTo>
                  <a:pt x="1032586" y="13576"/>
                </a:lnTo>
                <a:lnTo>
                  <a:pt x="1044448" y="8382"/>
                </a:lnTo>
                <a:close/>
              </a:path>
              <a:path w="1438275" h="374650">
                <a:moveTo>
                  <a:pt x="1294257" y="103124"/>
                </a:moveTo>
                <a:lnTo>
                  <a:pt x="1284655" y="50698"/>
                </a:lnTo>
                <a:lnTo>
                  <a:pt x="1256512" y="13233"/>
                </a:lnTo>
                <a:lnTo>
                  <a:pt x="1228471" y="0"/>
                </a:lnTo>
                <a:lnTo>
                  <a:pt x="1225550" y="8382"/>
                </a:lnTo>
                <a:lnTo>
                  <a:pt x="1237475" y="13576"/>
                </a:lnTo>
                <a:lnTo>
                  <a:pt x="1247736" y="20751"/>
                </a:lnTo>
                <a:lnTo>
                  <a:pt x="1268603" y="53924"/>
                </a:lnTo>
                <a:lnTo>
                  <a:pt x="1275461" y="101981"/>
                </a:lnTo>
                <a:lnTo>
                  <a:pt x="1274686" y="120180"/>
                </a:lnTo>
                <a:lnTo>
                  <a:pt x="1263142" y="164719"/>
                </a:lnTo>
                <a:lnTo>
                  <a:pt x="1225931" y="197739"/>
                </a:lnTo>
                <a:lnTo>
                  <a:pt x="1228471" y="206121"/>
                </a:lnTo>
                <a:lnTo>
                  <a:pt x="1267828" y="182676"/>
                </a:lnTo>
                <a:lnTo>
                  <a:pt x="1289977" y="139496"/>
                </a:lnTo>
                <a:lnTo>
                  <a:pt x="1293177" y="122034"/>
                </a:lnTo>
                <a:lnTo>
                  <a:pt x="1294257" y="103124"/>
                </a:lnTo>
                <a:close/>
              </a:path>
              <a:path w="1438275" h="374650">
                <a:moveTo>
                  <a:pt x="1438275" y="190373"/>
                </a:moveTo>
                <a:lnTo>
                  <a:pt x="1431988" y="125209"/>
                </a:lnTo>
                <a:lnTo>
                  <a:pt x="1413129" y="69469"/>
                </a:lnTo>
                <a:lnTo>
                  <a:pt x="1382649" y="28130"/>
                </a:lnTo>
                <a:lnTo>
                  <a:pt x="1341501" y="6223"/>
                </a:lnTo>
                <a:lnTo>
                  <a:pt x="1337818" y="18415"/>
                </a:lnTo>
                <a:lnTo>
                  <a:pt x="1354721" y="27178"/>
                </a:lnTo>
                <a:lnTo>
                  <a:pt x="1369441" y="39941"/>
                </a:lnTo>
                <a:lnTo>
                  <a:pt x="1392301" y="77470"/>
                </a:lnTo>
                <a:lnTo>
                  <a:pt x="1406182" y="128511"/>
                </a:lnTo>
                <a:lnTo>
                  <a:pt x="1410843" y="190500"/>
                </a:lnTo>
                <a:lnTo>
                  <a:pt x="1409674" y="222770"/>
                </a:lnTo>
                <a:lnTo>
                  <a:pt x="1400390" y="279158"/>
                </a:lnTo>
                <a:lnTo>
                  <a:pt x="1381963" y="323977"/>
                </a:lnTo>
                <a:lnTo>
                  <a:pt x="1354721" y="353453"/>
                </a:lnTo>
                <a:lnTo>
                  <a:pt x="1337818" y="362204"/>
                </a:lnTo>
                <a:lnTo>
                  <a:pt x="1341501" y="374396"/>
                </a:lnTo>
                <a:lnTo>
                  <a:pt x="1382649" y="352488"/>
                </a:lnTo>
                <a:lnTo>
                  <a:pt x="1413129" y="311150"/>
                </a:lnTo>
                <a:lnTo>
                  <a:pt x="1431988" y="255435"/>
                </a:lnTo>
                <a:lnTo>
                  <a:pt x="1436700" y="224078"/>
                </a:lnTo>
                <a:lnTo>
                  <a:pt x="1438275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08220" y="5131053"/>
            <a:ext cx="3754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6420" algn="l"/>
                <a:tab pos="192151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 </a:t>
            </a:r>
            <a:r>
              <a:rPr sz="2625" spc="60" baseline="28571" dirty="0">
                <a:latin typeface="Cambria Math"/>
                <a:cs typeface="Cambria Math"/>
              </a:rPr>
              <a:t>𝑁 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3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625" spc="60" baseline="28571" dirty="0">
                <a:latin typeface="Cambria Math"/>
                <a:cs typeface="Cambria Math"/>
              </a:rPr>
              <a:t>𝑁	</a:t>
            </a:r>
            <a:r>
              <a:rPr sz="2400" dirty="0">
                <a:latin typeface="Cambria Math"/>
                <a:cs typeface="Cambria Math"/>
              </a:rPr>
              <a:t>} </a:t>
            </a:r>
            <a:r>
              <a:rPr sz="2400" spc="-30" dirty="0">
                <a:latin typeface="Segoe UI"/>
                <a:cs typeface="Segoe UI"/>
              </a:rPr>
              <a:t>of</a:t>
            </a:r>
            <a:r>
              <a:rPr sz="2400" spc="8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unknown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970" y="5103903"/>
            <a:ext cx="4194175" cy="12509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380365" algn="l"/>
                <a:tab pos="381000" algn="l"/>
                <a:tab pos="3131820" algn="l"/>
              </a:tabLst>
            </a:pPr>
            <a:r>
              <a:rPr sz="2400" spc="-30" dirty="0">
                <a:latin typeface="Segoe UI"/>
                <a:cs typeface="Segoe UI"/>
              </a:rPr>
              <a:t>Training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examples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625" spc="60" baseline="28571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𝑦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lang="en-US" sz="2400" spc="-135" dirty="0">
                <a:latin typeface="Cambria Math"/>
                <a:cs typeface="Cambria Math"/>
              </a:rPr>
              <a:t>   </a:t>
            </a:r>
            <a:r>
              <a:rPr sz="2625" spc="60" baseline="28571" dirty="0">
                <a:latin typeface="Cambria Math"/>
                <a:cs typeface="Cambria Math"/>
              </a:rPr>
              <a:t>1</a:t>
            </a:r>
            <a:endParaRPr sz="2625" baseline="28571" dirty="0">
              <a:latin typeface="Cambria Math"/>
              <a:cs typeface="Cambria Math"/>
            </a:endParaRPr>
          </a:p>
          <a:p>
            <a:pPr marL="381000">
              <a:lnSpc>
                <a:spcPct val="100000"/>
              </a:lnSpc>
              <a:spcBef>
                <a:spcPts val="220"/>
              </a:spcBef>
            </a:pP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Segoe UI"/>
                <a:cs typeface="Segoe UI"/>
              </a:rPr>
              <a:t>Output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4370" y="6402425"/>
            <a:ext cx="826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2254250" algn="l"/>
              </a:tabLst>
            </a:pPr>
            <a:r>
              <a:rPr sz="2400" spc="-5" dirty="0">
                <a:latin typeface="Segoe UI"/>
                <a:cs typeface="Segoe UI"/>
              </a:rPr>
              <a:t>Hypothesis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 𝐻 </a:t>
            </a:r>
            <a:r>
              <a:rPr sz="2400" dirty="0">
                <a:latin typeface="Segoe UI"/>
                <a:cs typeface="Segoe UI"/>
              </a:rPr>
              <a:t>that best </a:t>
            </a:r>
            <a:r>
              <a:rPr sz="2400" spc="-10" dirty="0">
                <a:latin typeface="Segoe UI"/>
                <a:cs typeface="Segoe UI"/>
              </a:rPr>
              <a:t>approximates </a:t>
            </a: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29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095" y="147955"/>
            <a:ext cx="738558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marR="5080" indent="-428625">
              <a:lnSpc>
                <a:spcPct val="100000"/>
              </a:lnSpc>
              <a:spcBef>
                <a:spcPts val="100"/>
              </a:spcBef>
            </a:pPr>
            <a:r>
              <a:rPr lang="en-US" spc="40" dirty="0"/>
              <a:t>Math review: The dot Product</a:t>
            </a:r>
            <a:endParaRPr spc="-5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44CD4-192C-455C-B619-EB2CBF6A0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319" y="1143000"/>
            <a:ext cx="8087360" cy="8617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two vectors u and v their dot product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. v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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u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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v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A6475F-0E8E-44D7-BF17-04B92BD88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352800"/>
            <a:ext cx="2286000" cy="23108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BAA91E19-B3B7-4305-AE9A-EEFE021DE6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400" y="2133600"/>
                <a:ext cx="8087360" cy="43088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0">
                  <a:defRPr sz="2800" b="0" i="0">
                    <a:solidFill>
                      <a:schemeClr val="tx1"/>
                    </a:solidFill>
                    <a:latin typeface="Segoe UI"/>
                    <a:ea typeface="+mn-ea"/>
                    <a:cs typeface="Segoe UI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1, so that </a:t>
                </a:r>
                <a:r>
                  <a:rPr lang="en-US" i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 </a:t>
                </a:r>
                <a:r>
                  <a:rPr lang="en-US" u="sng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unit vector</a:t>
                </a:r>
              </a:p>
            </p:txBody>
          </p:sp>
        </mc:Choice>
        <mc:Fallback xmlns="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BAA91E19-B3B7-4305-AE9A-EEFE021DE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133600"/>
                <a:ext cx="8087360" cy="430887"/>
              </a:xfrm>
              <a:prstGeom prst="rect">
                <a:avLst/>
              </a:prstGeom>
              <a:blipFill>
                <a:blip r:embed="rId4"/>
                <a:stretch>
                  <a:fillRect l="-2489" t="-25352" b="-47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76608C4-9869-4B2A-B8FE-0CE19071B4E4}"/>
              </a:ext>
            </a:extLst>
          </p:cNvPr>
          <p:cNvSpPr txBox="1">
            <a:spLocks/>
          </p:cNvSpPr>
          <p:nvPr/>
        </p:nvSpPr>
        <p:spPr>
          <a:xfrm>
            <a:off x="533400" y="2667000"/>
            <a:ext cx="8087360" cy="3877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800" b="0" i="0">
                <a:solidFill>
                  <a:schemeClr val="tx1"/>
                </a:solidFill>
                <a:latin typeface="Segoe UI"/>
                <a:ea typeface="+mn-ea"/>
                <a:cs typeface="Segoe U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think of the vector </a:t>
            </a:r>
            <a:r>
              <a:rPr lang="en-US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consisting of two components: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i="1" kern="0" dirty="0"/>
              <a:t>a </a:t>
            </a:r>
            <a:r>
              <a:rPr lang="en-US" kern="0" dirty="0"/>
              <a:t>is a component perpendicular to </a:t>
            </a:r>
            <a:r>
              <a:rPr lang="en-US" i="1" kern="0" dirty="0"/>
              <a:t>u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kern="0" dirty="0"/>
              <a:t>And</a:t>
            </a:r>
            <a:r>
              <a:rPr lang="en-US" i="1" kern="0" dirty="0"/>
              <a:t> b </a:t>
            </a:r>
            <a:r>
              <a:rPr lang="en-US" kern="0" dirty="0"/>
              <a:t>is a component in the direction of </a:t>
            </a:r>
            <a:r>
              <a:rPr lang="en-US" i="1" kern="0" dirty="0"/>
              <a:t>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kern="0" dirty="0"/>
              <a:t>The length of </a:t>
            </a:r>
            <a:r>
              <a:rPr lang="en-US" i="1" kern="0" dirty="0"/>
              <a:t>b </a:t>
            </a:r>
            <a:r>
              <a:rPr lang="en-US" kern="0" dirty="0"/>
              <a:t>is exactly </a:t>
            </a:r>
            <a:r>
              <a:rPr lang="en-US" i="1" dirty="0"/>
              <a:t>u . v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dot product is therefore </a:t>
            </a:r>
          </a:p>
          <a:p>
            <a:pPr lvl="1"/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projection of 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onto </a:t>
            </a:r>
            <a:r>
              <a:rPr lang="en-US" sz="28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pPr lvl="1"/>
            <a:endParaRPr lang="en-US" sz="28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 the dot product is the Cosine of the angle between the two vectors multiplied by their Euclidean norms</a:t>
            </a:r>
            <a:r>
              <a:rPr lang="en-US" i="1" kern="0" dirty="0"/>
              <a:t>	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910247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25064" y="657012"/>
            <a:ext cx="429387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15" dirty="0">
                <a:latin typeface="Calibri Light"/>
                <a:cs typeface="Calibri Light"/>
              </a:rPr>
              <a:t>Perceptron</a:t>
            </a:r>
            <a:r>
              <a:rPr sz="3900" spc="-35" dirty="0">
                <a:latin typeface="Calibri Light"/>
                <a:cs typeface="Calibri Light"/>
              </a:rPr>
              <a:t> </a:t>
            </a:r>
            <a:r>
              <a:rPr sz="3900" spc="30" dirty="0">
                <a:latin typeface="Calibri Light"/>
                <a:cs typeface="Calibri Light"/>
              </a:rPr>
              <a:t>Structure</a:t>
            </a:r>
            <a:endParaRPr sz="39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0384" y="4009792"/>
            <a:ext cx="2155825" cy="2411730"/>
            <a:chOff x="1700384" y="4009792"/>
            <a:chExt cx="2155825" cy="2411730"/>
          </a:xfrm>
        </p:grpSpPr>
        <p:sp>
          <p:nvSpPr>
            <p:cNvPr id="5" name="object 5"/>
            <p:cNvSpPr/>
            <p:nvPr/>
          </p:nvSpPr>
          <p:spPr>
            <a:xfrm>
              <a:off x="1706099" y="4015507"/>
              <a:ext cx="2144395" cy="2400300"/>
            </a:xfrm>
            <a:custGeom>
              <a:avLst/>
              <a:gdLst/>
              <a:ahLst/>
              <a:cxnLst/>
              <a:rect l="l" t="t" r="r" b="b"/>
              <a:pathLst>
                <a:path w="2144395" h="2400300">
                  <a:moveTo>
                    <a:pt x="39960" y="2399962"/>
                  </a:moveTo>
                  <a:lnTo>
                    <a:pt x="2104131" y="2399962"/>
                  </a:lnTo>
                  <a:lnTo>
                    <a:pt x="2103867" y="2397026"/>
                  </a:lnTo>
                  <a:lnTo>
                    <a:pt x="2119335" y="2393749"/>
                  </a:lnTo>
                  <a:lnTo>
                    <a:pt x="2131951" y="2384815"/>
                  </a:lnTo>
                  <a:lnTo>
                    <a:pt x="2140449" y="2371564"/>
                  </a:lnTo>
                  <a:lnTo>
                    <a:pt x="2143562" y="2355339"/>
                  </a:lnTo>
                  <a:lnTo>
                    <a:pt x="2143827" y="2358275"/>
                  </a:lnTo>
                  <a:lnTo>
                    <a:pt x="2143827" y="44651"/>
                  </a:lnTo>
                  <a:lnTo>
                    <a:pt x="2119335" y="3282"/>
                  </a:lnTo>
                  <a:lnTo>
                    <a:pt x="2103867" y="0"/>
                  </a:lnTo>
                  <a:lnTo>
                    <a:pt x="2104131" y="2964"/>
                  </a:lnTo>
                  <a:lnTo>
                    <a:pt x="39960" y="2964"/>
                  </a:lnTo>
                  <a:lnTo>
                    <a:pt x="3126" y="25481"/>
                  </a:lnTo>
                  <a:lnTo>
                    <a:pt x="0" y="41686"/>
                  </a:lnTo>
                  <a:lnTo>
                    <a:pt x="264" y="44651"/>
                  </a:lnTo>
                  <a:lnTo>
                    <a:pt x="264" y="2358275"/>
                  </a:lnTo>
                  <a:lnTo>
                    <a:pt x="0" y="2355339"/>
                  </a:lnTo>
                  <a:lnTo>
                    <a:pt x="3126" y="2371564"/>
                  </a:lnTo>
                  <a:lnTo>
                    <a:pt x="11644" y="2384815"/>
                  </a:lnTo>
                  <a:lnTo>
                    <a:pt x="24263" y="2393749"/>
                  </a:lnTo>
                  <a:lnTo>
                    <a:pt x="39695" y="2397026"/>
                  </a:lnTo>
                  <a:lnTo>
                    <a:pt x="39960" y="2399962"/>
                  </a:lnTo>
                  <a:close/>
                </a:path>
              </a:pathLst>
            </a:custGeom>
            <a:ln w="10821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2883" y="4449263"/>
              <a:ext cx="240343" cy="2522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2883" y="5116254"/>
              <a:ext cx="240343" cy="2522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2883" y="5783244"/>
              <a:ext cx="240343" cy="2522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836012" y="5102702"/>
              <a:ext cx="302895" cy="317500"/>
            </a:xfrm>
            <a:custGeom>
              <a:avLst/>
              <a:gdLst/>
              <a:ahLst/>
              <a:cxnLst/>
              <a:rect l="l" t="t" r="r" b="b"/>
              <a:pathLst>
                <a:path w="302894" h="317500">
                  <a:moveTo>
                    <a:pt x="0" y="158688"/>
                  </a:moveTo>
                  <a:lnTo>
                    <a:pt x="7704" y="108532"/>
                  </a:lnTo>
                  <a:lnTo>
                    <a:pt x="29162" y="64971"/>
                  </a:lnTo>
                  <a:lnTo>
                    <a:pt x="61887" y="30619"/>
                  </a:lnTo>
                  <a:lnTo>
                    <a:pt x="103393" y="8090"/>
                  </a:lnTo>
                  <a:lnTo>
                    <a:pt x="151196" y="0"/>
                  </a:lnTo>
                  <a:lnTo>
                    <a:pt x="198955" y="8090"/>
                  </a:lnTo>
                  <a:lnTo>
                    <a:pt x="240436" y="30619"/>
                  </a:lnTo>
                  <a:lnTo>
                    <a:pt x="273147" y="64971"/>
                  </a:lnTo>
                  <a:lnTo>
                    <a:pt x="294599" y="108532"/>
                  </a:lnTo>
                  <a:lnTo>
                    <a:pt x="302304" y="158688"/>
                  </a:lnTo>
                  <a:lnTo>
                    <a:pt x="294599" y="208888"/>
                  </a:lnTo>
                  <a:lnTo>
                    <a:pt x="273147" y="252477"/>
                  </a:lnTo>
                  <a:lnTo>
                    <a:pt x="240436" y="286843"/>
                  </a:lnTo>
                  <a:lnTo>
                    <a:pt x="198955" y="309377"/>
                  </a:lnTo>
                  <a:lnTo>
                    <a:pt x="151196" y="317469"/>
                  </a:lnTo>
                  <a:lnTo>
                    <a:pt x="103393" y="309377"/>
                  </a:lnTo>
                  <a:lnTo>
                    <a:pt x="61887" y="286843"/>
                  </a:lnTo>
                  <a:lnTo>
                    <a:pt x="29162" y="252477"/>
                  </a:lnTo>
                  <a:lnTo>
                    <a:pt x="7704" y="208888"/>
                  </a:lnTo>
                  <a:lnTo>
                    <a:pt x="0" y="15868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11789" y="5093061"/>
            <a:ext cx="1511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Symbol"/>
                <a:cs typeface="Symbol"/>
              </a:rPr>
              <a:t></a:t>
            </a:r>
            <a:endParaRPr sz="1750">
              <a:latin typeface="Symbol"/>
              <a:cs typeface="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77117" y="4518716"/>
            <a:ext cx="2550795" cy="1445260"/>
            <a:chOff x="1577117" y="4518716"/>
            <a:chExt cx="2550795" cy="1445260"/>
          </a:xfrm>
        </p:grpSpPr>
        <p:sp>
          <p:nvSpPr>
            <p:cNvPr id="12" name="object 12"/>
            <p:cNvSpPr/>
            <p:nvPr/>
          </p:nvSpPr>
          <p:spPr>
            <a:xfrm>
              <a:off x="2222406" y="4574297"/>
              <a:ext cx="509905" cy="577215"/>
            </a:xfrm>
            <a:custGeom>
              <a:avLst/>
              <a:gdLst/>
              <a:ahLst/>
              <a:cxnLst/>
              <a:rect l="l" t="t" r="r" b="b"/>
              <a:pathLst>
                <a:path w="509905" h="577214">
                  <a:moveTo>
                    <a:pt x="0" y="0"/>
                  </a:moveTo>
                  <a:lnTo>
                    <a:pt x="509426" y="576669"/>
                  </a:lnTo>
                </a:path>
              </a:pathLst>
            </a:custGeom>
            <a:ln w="1947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85525" y="5095384"/>
              <a:ext cx="152400" cy="167005"/>
            </a:xfrm>
            <a:custGeom>
              <a:avLst/>
              <a:gdLst/>
              <a:ahLst/>
              <a:cxnLst/>
              <a:rect l="l" t="t" r="r" b="b"/>
              <a:pathLst>
                <a:path w="152400" h="167004">
                  <a:moveTo>
                    <a:pt x="79387" y="0"/>
                  </a:moveTo>
                  <a:lnTo>
                    <a:pt x="0" y="83375"/>
                  </a:lnTo>
                  <a:lnTo>
                    <a:pt x="152158" y="166750"/>
                  </a:lnTo>
                  <a:lnTo>
                    <a:pt x="793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22406" y="5241288"/>
              <a:ext cx="463550" cy="13970"/>
            </a:xfrm>
            <a:custGeom>
              <a:avLst/>
              <a:gdLst/>
              <a:ahLst/>
              <a:cxnLst/>
              <a:rect l="l" t="t" r="r" b="b"/>
              <a:pathLst>
                <a:path w="463550" h="13970">
                  <a:moveTo>
                    <a:pt x="0" y="0"/>
                  </a:moveTo>
                  <a:lnTo>
                    <a:pt x="463115" y="13895"/>
                  </a:lnTo>
                </a:path>
              </a:pathLst>
            </a:custGeom>
            <a:ln w="200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72289" y="5199602"/>
              <a:ext cx="165735" cy="111760"/>
            </a:xfrm>
            <a:custGeom>
              <a:avLst/>
              <a:gdLst/>
              <a:ahLst/>
              <a:cxnLst/>
              <a:rect l="l" t="t" r="r" b="b"/>
              <a:pathLst>
                <a:path w="165735" h="111760">
                  <a:moveTo>
                    <a:pt x="6616" y="0"/>
                  </a:moveTo>
                  <a:lnTo>
                    <a:pt x="0" y="111163"/>
                  </a:lnTo>
                  <a:lnTo>
                    <a:pt x="165404" y="62534"/>
                  </a:lnTo>
                  <a:lnTo>
                    <a:pt x="66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22406" y="5373297"/>
              <a:ext cx="509905" cy="535305"/>
            </a:xfrm>
            <a:custGeom>
              <a:avLst/>
              <a:gdLst/>
              <a:ahLst/>
              <a:cxnLst/>
              <a:rect l="l" t="t" r="r" b="b"/>
              <a:pathLst>
                <a:path w="509905" h="535304">
                  <a:moveTo>
                    <a:pt x="0" y="534982"/>
                  </a:moveTo>
                  <a:lnTo>
                    <a:pt x="509426" y="0"/>
                  </a:lnTo>
                </a:path>
              </a:pathLst>
            </a:custGeom>
            <a:ln w="195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85522" y="5262129"/>
              <a:ext cx="152400" cy="160020"/>
            </a:xfrm>
            <a:custGeom>
              <a:avLst/>
              <a:gdLst/>
              <a:ahLst/>
              <a:cxnLst/>
              <a:rect l="l" t="t" r="r" b="b"/>
              <a:pathLst>
                <a:path w="152400" h="160020">
                  <a:moveTo>
                    <a:pt x="152171" y="0"/>
                  </a:moveTo>
                  <a:lnTo>
                    <a:pt x="0" y="76428"/>
                  </a:lnTo>
                  <a:lnTo>
                    <a:pt x="72771" y="159804"/>
                  </a:lnTo>
                  <a:lnTo>
                    <a:pt x="15217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87277" y="4574297"/>
              <a:ext cx="251460" cy="0"/>
            </a:xfrm>
            <a:custGeom>
              <a:avLst/>
              <a:gdLst/>
              <a:ahLst/>
              <a:cxnLst/>
              <a:rect l="l" t="t" r="r" b="b"/>
              <a:pathLst>
                <a:path w="251460">
                  <a:moveTo>
                    <a:pt x="0" y="0"/>
                  </a:moveTo>
                  <a:lnTo>
                    <a:pt x="251405" y="0"/>
                  </a:lnTo>
                </a:path>
              </a:pathLst>
            </a:custGeom>
            <a:ln w="20009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18835" y="4518716"/>
              <a:ext cx="165735" cy="111760"/>
            </a:xfrm>
            <a:custGeom>
              <a:avLst/>
              <a:gdLst/>
              <a:ahLst/>
              <a:cxnLst/>
              <a:rect l="l" t="t" r="r" b="b"/>
              <a:pathLst>
                <a:path w="165735" h="111760">
                  <a:moveTo>
                    <a:pt x="0" y="0"/>
                  </a:moveTo>
                  <a:lnTo>
                    <a:pt x="0" y="111163"/>
                  </a:lnTo>
                  <a:lnTo>
                    <a:pt x="165404" y="55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87277" y="5241288"/>
              <a:ext cx="251460" cy="0"/>
            </a:xfrm>
            <a:custGeom>
              <a:avLst/>
              <a:gdLst/>
              <a:ahLst/>
              <a:cxnLst/>
              <a:rect l="l" t="t" r="r" b="b"/>
              <a:pathLst>
                <a:path w="251460">
                  <a:moveTo>
                    <a:pt x="0" y="0"/>
                  </a:moveTo>
                  <a:lnTo>
                    <a:pt x="251405" y="0"/>
                  </a:lnTo>
                </a:path>
              </a:pathLst>
            </a:custGeom>
            <a:ln w="20009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18835" y="5185706"/>
              <a:ext cx="165735" cy="111760"/>
            </a:xfrm>
            <a:custGeom>
              <a:avLst/>
              <a:gdLst/>
              <a:ahLst/>
              <a:cxnLst/>
              <a:rect l="l" t="t" r="r" b="b"/>
              <a:pathLst>
                <a:path w="165735" h="111760">
                  <a:moveTo>
                    <a:pt x="0" y="0"/>
                  </a:moveTo>
                  <a:lnTo>
                    <a:pt x="0" y="111163"/>
                  </a:lnTo>
                  <a:lnTo>
                    <a:pt x="165404" y="55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87277" y="5908279"/>
              <a:ext cx="251460" cy="0"/>
            </a:xfrm>
            <a:custGeom>
              <a:avLst/>
              <a:gdLst/>
              <a:ahLst/>
              <a:cxnLst/>
              <a:rect l="l" t="t" r="r" b="b"/>
              <a:pathLst>
                <a:path w="251460">
                  <a:moveTo>
                    <a:pt x="0" y="0"/>
                  </a:moveTo>
                  <a:lnTo>
                    <a:pt x="251405" y="0"/>
                  </a:lnTo>
                </a:path>
              </a:pathLst>
            </a:custGeom>
            <a:ln w="20009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18835" y="5852697"/>
              <a:ext cx="165735" cy="111760"/>
            </a:xfrm>
            <a:custGeom>
              <a:avLst/>
              <a:gdLst/>
              <a:ahLst/>
              <a:cxnLst/>
              <a:rect l="l" t="t" r="r" b="b"/>
              <a:pathLst>
                <a:path w="165735" h="111760">
                  <a:moveTo>
                    <a:pt x="0" y="0"/>
                  </a:moveTo>
                  <a:lnTo>
                    <a:pt x="0" y="111163"/>
                  </a:lnTo>
                  <a:lnTo>
                    <a:pt x="165404" y="55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44071" y="5241288"/>
              <a:ext cx="238760" cy="0"/>
            </a:xfrm>
            <a:custGeom>
              <a:avLst/>
              <a:gdLst/>
              <a:ahLst/>
              <a:cxnLst/>
              <a:rect l="l" t="t" r="r" b="b"/>
              <a:pathLst>
                <a:path w="238760">
                  <a:moveTo>
                    <a:pt x="0" y="0"/>
                  </a:moveTo>
                  <a:lnTo>
                    <a:pt x="238173" y="0"/>
                  </a:lnTo>
                </a:path>
              </a:pathLst>
            </a:custGeom>
            <a:ln w="20009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62397" y="5185706"/>
              <a:ext cx="165735" cy="111760"/>
            </a:xfrm>
            <a:custGeom>
              <a:avLst/>
              <a:gdLst/>
              <a:ahLst/>
              <a:cxnLst/>
              <a:rect l="l" t="t" r="r" b="b"/>
              <a:pathLst>
                <a:path w="165735" h="111760">
                  <a:moveTo>
                    <a:pt x="0" y="0"/>
                  </a:moveTo>
                  <a:lnTo>
                    <a:pt x="0" y="111163"/>
                  </a:lnTo>
                  <a:lnTo>
                    <a:pt x="165392" y="55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79505" y="4326481"/>
            <a:ext cx="201930" cy="359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-45" dirty="0">
                <a:latin typeface="Arial"/>
                <a:cs typeface="Arial"/>
              </a:rPr>
              <a:t>X</a:t>
            </a:r>
            <a:endParaRPr sz="21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56019" y="4462226"/>
            <a:ext cx="121285" cy="242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spc="-3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54105" y="4993471"/>
            <a:ext cx="348615" cy="359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50" spc="-35" dirty="0">
                <a:latin typeface="Arial"/>
                <a:cs typeface="Arial"/>
              </a:rPr>
              <a:t>X</a:t>
            </a:r>
            <a:r>
              <a:rPr sz="2100" spc="-52" baseline="-11904" dirty="0">
                <a:latin typeface="Arial"/>
                <a:cs typeface="Arial"/>
              </a:rPr>
              <a:t>2</a:t>
            </a:r>
            <a:endParaRPr sz="2100" baseline="-11904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54105" y="5660462"/>
            <a:ext cx="348615" cy="359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150" spc="-35" dirty="0">
                <a:latin typeface="Arial"/>
                <a:cs typeface="Arial"/>
              </a:rPr>
              <a:t>X</a:t>
            </a:r>
            <a:r>
              <a:rPr sz="2100" spc="-52" baseline="-11904" dirty="0">
                <a:latin typeface="Arial"/>
                <a:cs typeface="Arial"/>
              </a:rPr>
              <a:t>3</a:t>
            </a:r>
            <a:endParaRPr sz="2100" baseline="-11904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25097" y="5035158"/>
            <a:ext cx="201930" cy="359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-45" dirty="0">
                <a:latin typeface="Arial"/>
                <a:cs typeface="Arial"/>
              </a:rPr>
              <a:t>Y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538978" y="5421929"/>
            <a:ext cx="106045" cy="350520"/>
            <a:chOff x="3538978" y="5421929"/>
            <a:chExt cx="106045" cy="350520"/>
          </a:xfrm>
        </p:grpSpPr>
        <p:sp>
          <p:nvSpPr>
            <p:cNvPr id="32" name="object 32"/>
            <p:cNvSpPr/>
            <p:nvPr/>
          </p:nvSpPr>
          <p:spPr>
            <a:xfrm>
              <a:off x="3591905" y="5581731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180643"/>
                  </a:moveTo>
                  <a:lnTo>
                    <a:pt x="0" y="0"/>
                  </a:lnTo>
                </a:path>
              </a:pathLst>
            </a:custGeom>
            <a:ln w="19053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38978" y="5421929"/>
              <a:ext cx="106045" cy="173990"/>
            </a:xfrm>
            <a:custGeom>
              <a:avLst/>
              <a:gdLst/>
              <a:ahLst/>
              <a:cxnLst/>
              <a:rect l="l" t="t" r="r" b="b"/>
              <a:pathLst>
                <a:path w="106045" h="173989">
                  <a:moveTo>
                    <a:pt x="52933" y="0"/>
                  </a:moveTo>
                  <a:lnTo>
                    <a:pt x="0" y="173697"/>
                  </a:lnTo>
                  <a:lnTo>
                    <a:pt x="105854" y="173697"/>
                  </a:lnTo>
                  <a:lnTo>
                    <a:pt x="5293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537834" y="5769502"/>
            <a:ext cx="844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Arial"/>
                <a:cs typeface="Arial"/>
              </a:rPr>
              <a:t>t</a:t>
            </a:r>
            <a:endParaRPr sz="17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54326" y="4200759"/>
            <a:ext cx="66103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750" spc="-65" dirty="0">
                <a:solidFill>
                  <a:srgbClr val="993366"/>
                </a:solidFill>
                <a:latin typeface="Arial"/>
                <a:cs typeface="Arial"/>
              </a:rPr>
              <a:t>O</a:t>
            </a:r>
            <a:r>
              <a:rPr sz="1750" spc="-55" dirty="0">
                <a:solidFill>
                  <a:srgbClr val="993366"/>
                </a:solidFill>
                <a:latin typeface="Arial"/>
                <a:cs typeface="Arial"/>
              </a:rPr>
              <a:t>u</a:t>
            </a:r>
            <a:r>
              <a:rPr sz="1750" spc="-25" dirty="0">
                <a:solidFill>
                  <a:srgbClr val="993366"/>
                </a:solidFill>
                <a:latin typeface="Arial"/>
                <a:cs typeface="Arial"/>
              </a:rPr>
              <a:t>t</a:t>
            </a:r>
            <a:r>
              <a:rPr sz="1750" spc="-55" dirty="0">
                <a:solidFill>
                  <a:srgbClr val="993366"/>
                </a:solidFill>
                <a:latin typeface="Arial"/>
                <a:cs typeface="Arial"/>
              </a:rPr>
              <a:t>pu</a:t>
            </a:r>
            <a:r>
              <a:rPr sz="1750" spc="-25" dirty="0">
                <a:solidFill>
                  <a:srgbClr val="993366"/>
                </a:solidFill>
                <a:latin typeface="Arial"/>
                <a:cs typeface="Arial"/>
              </a:rPr>
              <a:t>t  </a:t>
            </a:r>
            <a:r>
              <a:rPr sz="1750" spc="-55" dirty="0">
                <a:solidFill>
                  <a:srgbClr val="993366"/>
                </a:solidFill>
                <a:latin typeface="Arial"/>
                <a:cs typeface="Arial"/>
              </a:rPr>
              <a:t>node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611754" y="4523879"/>
            <a:ext cx="446405" cy="481330"/>
            <a:chOff x="3611754" y="4523879"/>
            <a:chExt cx="446405" cy="481330"/>
          </a:xfrm>
        </p:grpSpPr>
        <p:sp>
          <p:nvSpPr>
            <p:cNvPr id="37" name="object 37"/>
            <p:cNvSpPr/>
            <p:nvPr/>
          </p:nvSpPr>
          <p:spPr>
            <a:xfrm>
              <a:off x="3660005" y="4533722"/>
              <a:ext cx="388620" cy="341630"/>
            </a:xfrm>
            <a:custGeom>
              <a:avLst/>
              <a:gdLst/>
              <a:ahLst/>
              <a:cxnLst/>
              <a:rect l="l" t="t" r="r" b="b"/>
              <a:pathLst>
                <a:path w="388620" h="341629">
                  <a:moveTo>
                    <a:pt x="388134" y="0"/>
                  </a:moveTo>
                  <a:lnTo>
                    <a:pt x="349593" y="4188"/>
                  </a:lnTo>
                  <a:lnTo>
                    <a:pt x="310735" y="14592"/>
                  </a:lnTo>
                  <a:lnTo>
                    <a:pt x="271883" y="30929"/>
                  </a:lnTo>
                  <a:lnTo>
                    <a:pt x="233360" y="52916"/>
                  </a:lnTo>
                  <a:lnTo>
                    <a:pt x="195489" y="80268"/>
                  </a:lnTo>
                  <a:lnTo>
                    <a:pt x="158592" y="112703"/>
                  </a:lnTo>
                  <a:lnTo>
                    <a:pt x="122991" y="149936"/>
                  </a:lnTo>
                  <a:lnTo>
                    <a:pt x="89008" y="191684"/>
                  </a:lnTo>
                  <a:lnTo>
                    <a:pt x="56967" y="237664"/>
                  </a:lnTo>
                  <a:lnTo>
                    <a:pt x="27190" y="287592"/>
                  </a:lnTo>
                  <a:lnTo>
                    <a:pt x="0" y="341184"/>
                  </a:lnTo>
                </a:path>
              </a:pathLst>
            </a:custGeom>
            <a:ln w="19593">
              <a:solidFill>
                <a:srgbClr val="008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11754" y="4845267"/>
              <a:ext cx="99695" cy="160020"/>
            </a:xfrm>
            <a:custGeom>
              <a:avLst/>
              <a:gdLst/>
              <a:ahLst/>
              <a:cxnLst/>
              <a:rect l="l" t="t" r="r" b="b"/>
              <a:pathLst>
                <a:path w="99695" h="160020">
                  <a:moveTo>
                    <a:pt x="6616" y="0"/>
                  </a:moveTo>
                  <a:lnTo>
                    <a:pt x="0" y="159791"/>
                  </a:lnTo>
                  <a:lnTo>
                    <a:pt x="99237" y="34734"/>
                  </a:lnTo>
                  <a:lnTo>
                    <a:pt x="661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50816" y="1468627"/>
            <a:ext cx="8028305" cy="265557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97815" indent="-229235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298450" algn="l"/>
              </a:tabLst>
            </a:pPr>
            <a:r>
              <a:rPr sz="2400" spc="-5" dirty="0">
                <a:latin typeface="Calibri"/>
                <a:cs typeface="Calibri"/>
              </a:rPr>
              <a:t>Model is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assembly of </a:t>
            </a:r>
            <a:r>
              <a:rPr sz="2400" dirty="0">
                <a:latin typeface="Calibri"/>
                <a:cs typeface="Calibri"/>
              </a:rPr>
              <a:t>nodes </a:t>
            </a:r>
            <a:r>
              <a:rPr sz="2400" spc="-10" dirty="0">
                <a:latin typeface="Calibri"/>
                <a:cs typeface="Calibri"/>
              </a:rPr>
              <a:t>connected by </a:t>
            </a:r>
            <a:r>
              <a:rPr sz="2400" spc="-15" dirty="0">
                <a:latin typeface="Calibri"/>
                <a:cs typeface="Calibri"/>
              </a:rPr>
              <a:t>weighted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links</a:t>
            </a:r>
            <a:endParaRPr sz="2400">
              <a:latin typeface="Calibri"/>
              <a:cs typeface="Calibri"/>
            </a:endParaRPr>
          </a:p>
          <a:p>
            <a:pPr marL="297815" marR="5080" indent="-228600">
              <a:lnSpc>
                <a:spcPts val="2500"/>
              </a:lnSpc>
              <a:spcBef>
                <a:spcPts val="1120"/>
              </a:spcBef>
              <a:buFont typeface="Arial"/>
              <a:buChar char="•"/>
              <a:tabLst>
                <a:tab pos="298450" algn="l"/>
              </a:tabLst>
            </a:pPr>
            <a:r>
              <a:rPr sz="2400" spc="-5" dirty="0">
                <a:latin typeface="Calibri"/>
                <a:cs typeface="Calibri"/>
              </a:rPr>
              <a:t>Output node sums </a:t>
            </a:r>
            <a:r>
              <a:rPr sz="2400" dirty="0">
                <a:latin typeface="Calibri"/>
                <a:cs typeface="Calibri"/>
              </a:rPr>
              <a:t>up </a:t>
            </a:r>
            <a:r>
              <a:rPr sz="2400" spc="-5" dirty="0">
                <a:latin typeface="Calibri"/>
                <a:cs typeface="Calibri"/>
              </a:rPr>
              <a:t>its </a:t>
            </a:r>
            <a:r>
              <a:rPr sz="2400" dirty="0">
                <a:latin typeface="Calibri"/>
                <a:cs typeface="Calibri"/>
              </a:rPr>
              <a:t>input </a:t>
            </a:r>
            <a:r>
              <a:rPr sz="2400" spc="-5" dirty="0">
                <a:latin typeface="Calibri"/>
                <a:cs typeface="Calibri"/>
              </a:rPr>
              <a:t>values </a:t>
            </a:r>
            <a:r>
              <a:rPr sz="2400" spc="-10" dirty="0">
                <a:latin typeface="Calibri"/>
                <a:cs typeface="Calibri"/>
              </a:rPr>
              <a:t>according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weights  </a:t>
            </a:r>
            <a:r>
              <a:rPr sz="2400" spc="-5" dirty="0">
                <a:latin typeface="Calibri"/>
                <a:cs typeface="Calibri"/>
              </a:rPr>
              <a:t>of their </a:t>
            </a:r>
            <a:r>
              <a:rPr sz="2400" spc="-10" dirty="0">
                <a:latin typeface="Calibri"/>
                <a:cs typeface="Calibri"/>
              </a:rPr>
              <a:t>links</a:t>
            </a:r>
            <a:endParaRPr sz="2400">
              <a:latin typeface="Calibri"/>
              <a:cs typeface="Calibri"/>
            </a:endParaRPr>
          </a:p>
          <a:p>
            <a:pPr marL="297815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98450" algn="l"/>
              </a:tabLst>
            </a:pPr>
            <a:r>
              <a:rPr sz="2400" spc="-5" dirty="0">
                <a:latin typeface="Calibri"/>
                <a:cs typeface="Calibri"/>
              </a:rPr>
              <a:t>Output node sum </a:t>
            </a:r>
            <a:r>
              <a:rPr sz="2400" dirty="0">
                <a:latin typeface="Calibri"/>
                <a:cs typeface="Calibri"/>
              </a:rPr>
              <a:t>then </a:t>
            </a:r>
            <a:r>
              <a:rPr sz="2400" spc="-10" dirty="0">
                <a:latin typeface="Calibri"/>
                <a:cs typeface="Calibri"/>
              </a:rPr>
              <a:t>compared </a:t>
            </a:r>
            <a:r>
              <a:rPr sz="2400" spc="-15" dirty="0">
                <a:latin typeface="Calibri"/>
                <a:cs typeface="Calibri"/>
              </a:rPr>
              <a:t>against </a:t>
            </a:r>
            <a:r>
              <a:rPr sz="2400" spc="-5" dirty="0">
                <a:latin typeface="Calibri"/>
                <a:cs typeface="Calibri"/>
              </a:rPr>
              <a:t>some threshold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Calibri"/>
              <a:cs typeface="Calibri"/>
            </a:endParaRPr>
          </a:p>
          <a:p>
            <a:pPr marL="12700" marR="7430770" indent="52705">
              <a:lnSpc>
                <a:spcPct val="100000"/>
              </a:lnSpc>
            </a:pPr>
            <a:r>
              <a:rPr sz="1750" spc="-45" dirty="0">
                <a:solidFill>
                  <a:srgbClr val="993366"/>
                </a:solidFill>
                <a:latin typeface="Arial"/>
                <a:cs typeface="Arial"/>
              </a:rPr>
              <a:t>Input  </a:t>
            </a:r>
            <a:r>
              <a:rPr sz="1750" spc="-55" dirty="0">
                <a:solidFill>
                  <a:srgbClr val="993366"/>
                </a:solidFill>
                <a:latin typeface="Arial"/>
                <a:cs typeface="Arial"/>
              </a:rPr>
              <a:t>node</a:t>
            </a:r>
            <a:r>
              <a:rPr sz="1750" spc="-45" dirty="0">
                <a:solidFill>
                  <a:srgbClr val="993366"/>
                </a:solidFill>
                <a:latin typeface="Arial"/>
                <a:cs typeface="Arial"/>
              </a:rPr>
              <a:t>s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259853" y="3857137"/>
            <a:ext cx="2486025" cy="1926589"/>
            <a:chOff x="1259853" y="3857137"/>
            <a:chExt cx="2486025" cy="1926589"/>
          </a:xfrm>
        </p:grpSpPr>
        <p:sp>
          <p:nvSpPr>
            <p:cNvPr id="41" name="object 41"/>
            <p:cNvSpPr/>
            <p:nvPr/>
          </p:nvSpPr>
          <p:spPr>
            <a:xfrm>
              <a:off x="1295205" y="3893318"/>
              <a:ext cx="614045" cy="444500"/>
            </a:xfrm>
            <a:custGeom>
              <a:avLst/>
              <a:gdLst/>
              <a:ahLst/>
              <a:cxnLst/>
              <a:rect l="l" t="t" r="r" b="b"/>
              <a:pathLst>
                <a:path w="614044" h="444500">
                  <a:moveTo>
                    <a:pt x="0" y="0"/>
                  </a:moveTo>
                  <a:lnTo>
                    <a:pt x="70478" y="11042"/>
                  </a:lnTo>
                  <a:lnTo>
                    <a:pt x="107587" y="22197"/>
                  </a:lnTo>
                  <a:lnTo>
                    <a:pt x="145698" y="36929"/>
                  </a:lnTo>
                  <a:lnTo>
                    <a:pt x="184624" y="55105"/>
                  </a:lnTo>
                  <a:lnTo>
                    <a:pt x="224182" y="76591"/>
                  </a:lnTo>
                  <a:lnTo>
                    <a:pt x="264187" y="101255"/>
                  </a:lnTo>
                  <a:lnTo>
                    <a:pt x="304454" y="128963"/>
                  </a:lnTo>
                  <a:lnTo>
                    <a:pt x="344798" y="159581"/>
                  </a:lnTo>
                  <a:lnTo>
                    <a:pt x="385036" y="192976"/>
                  </a:lnTo>
                  <a:lnTo>
                    <a:pt x="424981" y="229015"/>
                  </a:lnTo>
                  <a:lnTo>
                    <a:pt x="464450" y="267564"/>
                  </a:lnTo>
                  <a:lnTo>
                    <a:pt x="503259" y="308491"/>
                  </a:lnTo>
                  <a:lnTo>
                    <a:pt x="541221" y="351660"/>
                  </a:lnTo>
                  <a:lnTo>
                    <a:pt x="578153" y="396940"/>
                  </a:lnTo>
                  <a:lnTo>
                    <a:pt x="613870" y="444197"/>
                  </a:lnTo>
                </a:path>
              </a:pathLst>
            </a:custGeom>
            <a:ln w="19681">
              <a:solidFill>
                <a:srgbClr val="008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65146" y="4296380"/>
              <a:ext cx="119380" cy="153035"/>
            </a:xfrm>
            <a:custGeom>
              <a:avLst/>
              <a:gdLst/>
              <a:ahLst/>
              <a:cxnLst/>
              <a:rect l="l" t="t" r="r" b="b"/>
              <a:pathLst>
                <a:path w="119380" h="153035">
                  <a:moveTo>
                    <a:pt x="79387" y="0"/>
                  </a:moveTo>
                  <a:lnTo>
                    <a:pt x="0" y="62534"/>
                  </a:lnTo>
                  <a:lnTo>
                    <a:pt x="119087" y="152857"/>
                  </a:lnTo>
                  <a:lnTo>
                    <a:pt x="7938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292471" y="3891465"/>
              <a:ext cx="720090" cy="1016000"/>
            </a:xfrm>
            <a:custGeom>
              <a:avLst/>
              <a:gdLst/>
              <a:ahLst/>
              <a:cxnLst/>
              <a:rect l="l" t="t" r="r" b="b"/>
              <a:pathLst>
                <a:path w="720089" h="1016000">
                  <a:moveTo>
                    <a:pt x="0" y="0"/>
                  </a:moveTo>
                  <a:lnTo>
                    <a:pt x="55623" y="38399"/>
                  </a:lnTo>
                  <a:lnTo>
                    <a:pt x="113339" y="86736"/>
                  </a:lnTo>
                  <a:lnTo>
                    <a:pt x="142825" y="114410"/>
                  </a:lnTo>
                  <a:lnTo>
                    <a:pt x="172647" y="144302"/>
                  </a:lnTo>
                  <a:lnTo>
                    <a:pt x="202741" y="176325"/>
                  </a:lnTo>
                  <a:lnTo>
                    <a:pt x="233045" y="210389"/>
                  </a:lnTo>
                  <a:lnTo>
                    <a:pt x="263495" y="246406"/>
                  </a:lnTo>
                  <a:lnTo>
                    <a:pt x="294031" y="284287"/>
                  </a:lnTo>
                  <a:lnTo>
                    <a:pt x="324588" y="323944"/>
                  </a:lnTo>
                  <a:lnTo>
                    <a:pt x="355103" y="365288"/>
                  </a:lnTo>
                  <a:lnTo>
                    <a:pt x="385516" y="408230"/>
                  </a:lnTo>
                  <a:lnTo>
                    <a:pt x="415761" y="452682"/>
                  </a:lnTo>
                  <a:lnTo>
                    <a:pt x="445778" y="498555"/>
                  </a:lnTo>
                  <a:lnTo>
                    <a:pt x="475503" y="545761"/>
                  </a:lnTo>
                  <a:lnTo>
                    <a:pt x="504873" y="594210"/>
                  </a:lnTo>
                  <a:lnTo>
                    <a:pt x="533826" y="643815"/>
                  </a:lnTo>
                  <a:lnTo>
                    <a:pt x="562299" y="694487"/>
                  </a:lnTo>
                  <a:lnTo>
                    <a:pt x="590230" y="746137"/>
                  </a:lnTo>
                  <a:lnTo>
                    <a:pt x="617555" y="798676"/>
                  </a:lnTo>
                  <a:lnTo>
                    <a:pt x="644212" y="852016"/>
                  </a:lnTo>
                  <a:lnTo>
                    <a:pt x="670139" y="906069"/>
                  </a:lnTo>
                  <a:lnTo>
                    <a:pt x="695272" y="960745"/>
                  </a:lnTo>
                  <a:lnTo>
                    <a:pt x="719549" y="1015956"/>
                  </a:lnTo>
                </a:path>
              </a:pathLst>
            </a:custGeom>
            <a:ln w="19373">
              <a:solidFill>
                <a:srgbClr val="008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64385" y="4873047"/>
              <a:ext cx="99695" cy="160020"/>
            </a:xfrm>
            <a:custGeom>
              <a:avLst/>
              <a:gdLst/>
              <a:ahLst/>
              <a:cxnLst/>
              <a:rect l="l" t="t" r="r" b="b"/>
              <a:pathLst>
                <a:path w="99694" h="160020">
                  <a:moveTo>
                    <a:pt x="86004" y="0"/>
                  </a:moveTo>
                  <a:lnTo>
                    <a:pt x="0" y="41694"/>
                  </a:lnTo>
                  <a:lnTo>
                    <a:pt x="99237" y="159804"/>
                  </a:lnTo>
                  <a:lnTo>
                    <a:pt x="8600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269447" y="3866731"/>
              <a:ext cx="685800" cy="1783714"/>
            </a:xfrm>
            <a:custGeom>
              <a:avLst/>
              <a:gdLst/>
              <a:ahLst/>
              <a:cxnLst/>
              <a:rect l="l" t="t" r="r" b="b"/>
              <a:pathLst>
                <a:path w="685800" h="1783714">
                  <a:moveTo>
                    <a:pt x="0" y="0"/>
                  </a:moveTo>
                  <a:lnTo>
                    <a:pt x="37697" y="52576"/>
                  </a:lnTo>
                  <a:lnTo>
                    <a:pt x="76037" y="111878"/>
                  </a:lnTo>
                  <a:lnTo>
                    <a:pt x="114874" y="177528"/>
                  </a:lnTo>
                  <a:lnTo>
                    <a:pt x="134434" y="212616"/>
                  </a:lnTo>
                  <a:lnTo>
                    <a:pt x="154063" y="249149"/>
                  </a:lnTo>
                  <a:lnTo>
                    <a:pt x="173745" y="287081"/>
                  </a:lnTo>
                  <a:lnTo>
                    <a:pt x="193461" y="326364"/>
                  </a:lnTo>
                  <a:lnTo>
                    <a:pt x="213192" y="366951"/>
                  </a:lnTo>
                  <a:lnTo>
                    <a:pt x="232921" y="408795"/>
                  </a:lnTo>
                  <a:lnTo>
                    <a:pt x="252629" y="451848"/>
                  </a:lnTo>
                  <a:lnTo>
                    <a:pt x="272299" y="496065"/>
                  </a:lnTo>
                  <a:lnTo>
                    <a:pt x="291912" y="541397"/>
                  </a:lnTo>
                  <a:lnTo>
                    <a:pt x="311450" y="587797"/>
                  </a:lnTo>
                  <a:lnTo>
                    <a:pt x="330895" y="635219"/>
                  </a:lnTo>
                  <a:lnTo>
                    <a:pt x="350229" y="683614"/>
                  </a:lnTo>
                  <a:lnTo>
                    <a:pt x="369433" y="732937"/>
                  </a:lnTo>
                  <a:lnTo>
                    <a:pt x="388491" y="783139"/>
                  </a:lnTo>
                  <a:lnTo>
                    <a:pt x="407382" y="834174"/>
                  </a:lnTo>
                  <a:lnTo>
                    <a:pt x="426091" y="885994"/>
                  </a:lnTo>
                  <a:lnTo>
                    <a:pt x="444597" y="938552"/>
                  </a:lnTo>
                  <a:lnTo>
                    <a:pt x="462884" y="991802"/>
                  </a:lnTo>
                  <a:lnTo>
                    <a:pt x="480933" y="1045695"/>
                  </a:lnTo>
                  <a:lnTo>
                    <a:pt x="498726" y="1100186"/>
                  </a:lnTo>
                  <a:lnTo>
                    <a:pt x="516244" y="1155226"/>
                  </a:lnTo>
                  <a:lnTo>
                    <a:pt x="533471" y="1210768"/>
                  </a:lnTo>
                  <a:lnTo>
                    <a:pt x="550387" y="1266766"/>
                  </a:lnTo>
                  <a:lnTo>
                    <a:pt x="566974" y="1323173"/>
                  </a:lnTo>
                  <a:lnTo>
                    <a:pt x="583215" y="1379940"/>
                  </a:lnTo>
                  <a:lnTo>
                    <a:pt x="599091" y="1437021"/>
                  </a:lnTo>
                  <a:lnTo>
                    <a:pt x="614585" y="1494369"/>
                  </a:lnTo>
                  <a:lnTo>
                    <a:pt x="629677" y="1551936"/>
                  </a:lnTo>
                  <a:lnTo>
                    <a:pt x="644350" y="1609676"/>
                  </a:lnTo>
                  <a:lnTo>
                    <a:pt x="658587" y="1667541"/>
                  </a:lnTo>
                  <a:lnTo>
                    <a:pt x="672367" y="1725485"/>
                  </a:lnTo>
                  <a:lnTo>
                    <a:pt x="685675" y="1783459"/>
                  </a:lnTo>
                </a:path>
              </a:pathLst>
            </a:custGeom>
            <a:ln w="19176">
              <a:solidFill>
                <a:srgbClr val="008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04842" y="5630369"/>
              <a:ext cx="92710" cy="153035"/>
            </a:xfrm>
            <a:custGeom>
              <a:avLst/>
              <a:gdLst/>
              <a:ahLst/>
              <a:cxnLst/>
              <a:rect l="l" t="t" r="r" b="b"/>
              <a:pathLst>
                <a:path w="92710" h="153035">
                  <a:moveTo>
                    <a:pt x="92621" y="0"/>
                  </a:moveTo>
                  <a:lnTo>
                    <a:pt x="0" y="20840"/>
                  </a:lnTo>
                  <a:lnTo>
                    <a:pt x="79387" y="152844"/>
                  </a:lnTo>
                  <a:lnTo>
                    <a:pt x="92621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35405" y="5262131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166" y="0"/>
                  </a:lnTo>
                </a:path>
              </a:pathLst>
            </a:custGeom>
            <a:ln w="20009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4340" y="5206548"/>
              <a:ext cx="165735" cy="111760"/>
            </a:xfrm>
            <a:custGeom>
              <a:avLst/>
              <a:gdLst/>
              <a:ahLst/>
              <a:cxnLst/>
              <a:rect l="l" t="t" r="r" b="b"/>
              <a:pathLst>
                <a:path w="165735" h="111760">
                  <a:moveTo>
                    <a:pt x="0" y="0"/>
                  </a:moveTo>
                  <a:lnTo>
                    <a:pt x="0" y="111163"/>
                  </a:lnTo>
                  <a:lnTo>
                    <a:pt x="165392" y="55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36563" y="5100201"/>
              <a:ext cx="307975" cy="323215"/>
            </a:xfrm>
            <a:custGeom>
              <a:avLst/>
              <a:gdLst/>
              <a:ahLst/>
              <a:cxnLst/>
              <a:rect l="l" t="t" r="r" b="b"/>
              <a:pathLst>
                <a:path w="307975" h="323214">
                  <a:moveTo>
                    <a:pt x="0" y="161559"/>
                  </a:moveTo>
                  <a:lnTo>
                    <a:pt x="7844" y="110501"/>
                  </a:lnTo>
                  <a:lnTo>
                    <a:pt x="29687" y="66152"/>
                  </a:lnTo>
                  <a:lnTo>
                    <a:pt x="62992" y="31176"/>
                  </a:lnTo>
                  <a:lnTo>
                    <a:pt x="105222" y="8238"/>
                  </a:lnTo>
                  <a:lnTo>
                    <a:pt x="153842" y="0"/>
                  </a:lnTo>
                  <a:lnTo>
                    <a:pt x="202462" y="8238"/>
                  </a:lnTo>
                  <a:lnTo>
                    <a:pt x="244692" y="31176"/>
                  </a:lnTo>
                  <a:lnTo>
                    <a:pt x="277997" y="66152"/>
                  </a:lnTo>
                  <a:lnTo>
                    <a:pt x="299840" y="110501"/>
                  </a:lnTo>
                  <a:lnTo>
                    <a:pt x="307685" y="161559"/>
                  </a:lnTo>
                  <a:lnTo>
                    <a:pt x="299840" y="212618"/>
                  </a:lnTo>
                  <a:lnTo>
                    <a:pt x="277997" y="256967"/>
                  </a:lnTo>
                  <a:lnTo>
                    <a:pt x="244692" y="291943"/>
                  </a:lnTo>
                  <a:lnTo>
                    <a:pt x="202462" y="314881"/>
                  </a:lnTo>
                  <a:lnTo>
                    <a:pt x="153842" y="323119"/>
                  </a:lnTo>
                  <a:lnTo>
                    <a:pt x="105222" y="314881"/>
                  </a:lnTo>
                  <a:lnTo>
                    <a:pt x="62992" y="291943"/>
                  </a:lnTo>
                  <a:lnTo>
                    <a:pt x="29687" y="256967"/>
                  </a:lnTo>
                  <a:lnTo>
                    <a:pt x="7844" y="212618"/>
                  </a:lnTo>
                  <a:lnTo>
                    <a:pt x="0" y="16155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12514" y="5199601"/>
              <a:ext cx="165735" cy="125095"/>
            </a:xfrm>
            <a:custGeom>
              <a:avLst/>
              <a:gdLst/>
              <a:ahLst/>
              <a:cxnLst/>
              <a:rect l="l" t="t" r="r" b="b"/>
              <a:pathLst>
                <a:path w="165735" h="125095">
                  <a:moveTo>
                    <a:pt x="0" y="125060"/>
                  </a:moveTo>
                  <a:lnTo>
                    <a:pt x="79391" y="125060"/>
                  </a:lnTo>
                  <a:lnTo>
                    <a:pt x="79391" y="0"/>
                  </a:lnTo>
                  <a:lnTo>
                    <a:pt x="165398" y="0"/>
                  </a:lnTo>
                </a:path>
              </a:pathLst>
            </a:custGeom>
            <a:ln w="27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897034" y="5564142"/>
            <a:ext cx="7937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spc="5" dirty="0">
                <a:latin typeface="Times New Roman"/>
                <a:cs typeface="Times New Roman"/>
              </a:rPr>
              <a:t>j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84316" y="5329670"/>
            <a:ext cx="36004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2735" algn="l"/>
              </a:tabLst>
            </a:pPr>
            <a:r>
              <a:rPr sz="1500" i="1" spc="5" dirty="0">
                <a:latin typeface="Times New Roman"/>
                <a:cs typeface="Times New Roman"/>
              </a:rPr>
              <a:t>j	j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520892" y="4942109"/>
            <a:ext cx="280098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2309495" algn="l"/>
              </a:tabLst>
            </a:pPr>
            <a:r>
              <a:rPr sz="2600" i="1" spc="5" dirty="0">
                <a:latin typeface="Times New Roman"/>
                <a:cs typeface="Times New Roman"/>
              </a:rPr>
              <a:t>y </a:t>
            </a:r>
            <a:r>
              <a:rPr sz="2600" spc="5" dirty="0">
                <a:latin typeface="Symbol"/>
                <a:cs typeface="Symbol"/>
              </a:rPr>
              <a:t>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i="1" spc="20" dirty="0">
                <a:latin typeface="Times New Roman"/>
                <a:cs typeface="Times New Roman"/>
              </a:rPr>
              <a:t>sign</a:t>
            </a:r>
            <a:r>
              <a:rPr sz="2600" spc="20" dirty="0">
                <a:latin typeface="Times New Roman"/>
                <a:cs typeface="Times New Roman"/>
              </a:rPr>
              <a:t>(</a:t>
            </a:r>
            <a:r>
              <a:rPr sz="5850" spc="30" baseline="-8547" dirty="0">
                <a:latin typeface="Symbol"/>
                <a:cs typeface="Symbol"/>
              </a:rPr>
              <a:t></a:t>
            </a:r>
            <a:r>
              <a:rPr sz="5850" spc="-862" baseline="-8547" dirty="0">
                <a:latin typeface="Times New Roman"/>
                <a:cs typeface="Times New Roman"/>
              </a:rPr>
              <a:t> </a:t>
            </a:r>
            <a:r>
              <a:rPr sz="2600" i="1" spc="5" dirty="0">
                <a:latin typeface="Times New Roman"/>
                <a:cs typeface="Times New Roman"/>
              </a:rPr>
              <a:t>w</a:t>
            </a:r>
            <a:r>
              <a:rPr sz="2600" i="1" spc="305" dirty="0">
                <a:latin typeface="Times New Roman"/>
                <a:cs typeface="Times New Roman"/>
              </a:rPr>
              <a:t> </a:t>
            </a:r>
            <a:r>
              <a:rPr sz="2600" i="1" spc="5" dirty="0">
                <a:latin typeface="Times New Roman"/>
                <a:cs typeface="Times New Roman"/>
              </a:rPr>
              <a:t>x	</a:t>
            </a:r>
            <a:r>
              <a:rPr sz="2600" spc="5" dirty="0">
                <a:latin typeface="Symbol"/>
                <a:cs typeface="Symbol"/>
              </a:rPr>
              <a:t></a:t>
            </a:r>
            <a:r>
              <a:rPr sz="2600" spc="-340" dirty="0">
                <a:latin typeface="Times New Roman"/>
                <a:cs typeface="Times New Roman"/>
              </a:rPr>
              <a:t> </a:t>
            </a:r>
            <a:r>
              <a:rPr sz="2600" i="1" spc="85" dirty="0">
                <a:latin typeface="Times New Roman"/>
                <a:cs typeface="Times New Roman"/>
              </a:rPr>
              <a:t>t</a:t>
            </a:r>
            <a:r>
              <a:rPr sz="2600" spc="85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263073" y="4376420"/>
            <a:ext cx="228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92899" y="4738642"/>
            <a:ext cx="7937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spc="5" dirty="0">
                <a:latin typeface="Times New Roman"/>
                <a:cs typeface="Times New Roman"/>
              </a:rPr>
              <a:t>j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07888" y="4282707"/>
            <a:ext cx="1209675" cy="4241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600" i="1" spc="105" dirty="0">
                <a:latin typeface="Times New Roman"/>
                <a:cs typeface="Times New Roman"/>
              </a:rPr>
              <a:t>w</a:t>
            </a:r>
            <a:r>
              <a:rPr sz="2250" i="1" spc="157" baseline="-24074" dirty="0">
                <a:latin typeface="Times New Roman"/>
                <a:cs typeface="Times New Roman"/>
              </a:rPr>
              <a:t>j </a:t>
            </a:r>
            <a:r>
              <a:rPr sz="2600" i="1" spc="5" dirty="0">
                <a:latin typeface="Times New Roman"/>
                <a:cs typeface="Times New Roman"/>
              </a:rPr>
              <a:t>x </a:t>
            </a:r>
            <a:r>
              <a:rPr sz="2250" i="1" spc="7" baseline="-24074" dirty="0">
                <a:latin typeface="Times New Roman"/>
                <a:cs typeface="Times New Roman"/>
              </a:rPr>
              <a:t>j </a:t>
            </a:r>
            <a:r>
              <a:rPr sz="2600" spc="5" dirty="0">
                <a:latin typeface="Symbol"/>
                <a:cs typeface="Symbol"/>
              </a:rPr>
              <a:t></a:t>
            </a:r>
            <a:r>
              <a:rPr sz="2600" spc="-475" dirty="0">
                <a:latin typeface="Times New Roman"/>
                <a:cs typeface="Times New Roman"/>
              </a:rPr>
              <a:t> </a:t>
            </a:r>
            <a:r>
              <a:rPr sz="2600" i="1" spc="85" dirty="0">
                <a:latin typeface="Times New Roman"/>
                <a:cs typeface="Times New Roman"/>
              </a:rPr>
              <a:t>t</a:t>
            </a:r>
            <a:r>
              <a:rPr sz="2600" spc="85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59232" y="4282707"/>
            <a:ext cx="788670" cy="4241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00" i="1" spc="5" dirty="0">
                <a:latin typeface="Times New Roman"/>
                <a:cs typeface="Times New Roman"/>
              </a:rPr>
              <a:t>y </a:t>
            </a:r>
            <a:r>
              <a:rPr sz="2600" spc="5" dirty="0">
                <a:latin typeface="Symbol"/>
                <a:cs typeface="Symbol"/>
              </a:rPr>
              <a:t>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I</a:t>
            </a:r>
            <a:r>
              <a:rPr sz="2600" i="1" spc="-3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328718" y="4193597"/>
            <a:ext cx="38036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10" dirty="0">
                <a:latin typeface="Symbol"/>
                <a:cs typeface="Symbol"/>
              </a:rPr>
              <a:t></a:t>
            </a:r>
            <a:endParaRPr sz="39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362" y="483234"/>
            <a:ext cx="75641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Perception: </a:t>
            </a:r>
            <a:r>
              <a:rPr spc="-10" dirty="0"/>
              <a:t>Prediction</a:t>
            </a:r>
            <a:r>
              <a:rPr spc="-100" dirty="0"/>
              <a:t> </a:t>
            </a:r>
            <a:r>
              <a:rPr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556" y="2824366"/>
            <a:ext cx="8381930" cy="11697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172" y="483234"/>
            <a:ext cx="6376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Aside: </a:t>
            </a:r>
            <a:r>
              <a:rPr spc="-5" dirty="0"/>
              <a:t>biological</a:t>
            </a:r>
            <a:r>
              <a:rPr spc="-114" dirty="0"/>
              <a:t> </a:t>
            </a:r>
            <a:r>
              <a:rPr spc="-5" dirty="0"/>
              <a:t>inspiration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447" y="2269167"/>
            <a:ext cx="3965231" cy="15984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4190" y="4584091"/>
            <a:ext cx="1782055" cy="12843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99709" y="4675123"/>
            <a:ext cx="255841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Segoe UI"/>
                <a:cs typeface="Segoe UI"/>
              </a:rPr>
              <a:t>Analogy:</a:t>
            </a:r>
            <a:r>
              <a:rPr sz="3600" spc="-90" dirty="0">
                <a:latin typeface="Segoe UI"/>
                <a:cs typeface="Segoe UI"/>
              </a:rPr>
              <a:t> </a:t>
            </a:r>
            <a:r>
              <a:rPr sz="3600" dirty="0">
                <a:latin typeface="Segoe UI"/>
                <a:cs typeface="Segoe UI"/>
              </a:rPr>
              <a:t>the  </a:t>
            </a:r>
            <a:r>
              <a:rPr sz="3600" spc="-15" dirty="0">
                <a:latin typeface="Segoe UI"/>
                <a:cs typeface="Segoe UI"/>
              </a:rPr>
              <a:t>perceptron  </a:t>
            </a:r>
            <a:r>
              <a:rPr sz="3600" dirty="0">
                <a:latin typeface="Segoe UI"/>
                <a:cs typeface="Segoe UI"/>
              </a:rPr>
              <a:t>as a</a:t>
            </a:r>
            <a:r>
              <a:rPr sz="3600" spc="-50" dirty="0">
                <a:latin typeface="Segoe UI"/>
                <a:cs typeface="Segoe UI"/>
              </a:rPr>
              <a:t> </a:t>
            </a:r>
            <a:r>
              <a:rPr sz="3600" spc="-10" dirty="0">
                <a:latin typeface="Segoe UI"/>
                <a:cs typeface="Segoe UI"/>
              </a:rPr>
              <a:t>neuron</a:t>
            </a:r>
            <a:endParaRPr sz="3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2446" y="483234"/>
            <a:ext cx="69805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Perceptron </a:t>
            </a:r>
            <a:r>
              <a:rPr spc="-80" dirty="0"/>
              <a:t>Training</a:t>
            </a:r>
            <a:r>
              <a:rPr spc="-45" dirty="0"/>
              <a:t> </a:t>
            </a:r>
            <a:r>
              <a:rPr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2774" y="2217422"/>
            <a:ext cx="7630795" cy="3794760"/>
            <a:chOff x="842774" y="2217422"/>
            <a:chExt cx="7630795" cy="3794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774" y="2217422"/>
              <a:ext cx="7347314" cy="379475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29333" y="3989070"/>
              <a:ext cx="6931659" cy="809625"/>
            </a:xfrm>
            <a:custGeom>
              <a:avLst/>
              <a:gdLst/>
              <a:ahLst/>
              <a:cxnLst/>
              <a:rect l="l" t="t" r="r" b="b"/>
              <a:pathLst>
                <a:path w="6931659" h="809625">
                  <a:moveTo>
                    <a:pt x="0" y="134873"/>
                  </a:moveTo>
                  <a:lnTo>
                    <a:pt x="6870" y="92220"/>
                  </a:lnTo>
                  <a:lnTo>
                    <a:pt x="26005" y="55193"/>
                  </a:lnTo>
                  <a:lnTo>
                    <a:pt x="55193" y="26005"/>
                  </a:lnTo>
                  <a:lnTo>
                    <a:pt x="92220" y="6870"/>
                  </a:lnTo>
                  <a:lnTo>
                    <a:pt x="134873" y="0"/>
                  </a:lnTo>
                  <a:lnTo>
                    <a:pt x="6796278" y="0"/>
                  </a:lnTo>
                  <a:lnTo>
                    <a:pt x="6838931" y="6870"/>
                  </a:lnTo>
                  <a:lnTo>
                    <a:pt x="6875958" y="26005"/>
                  </a:lnTo>
                  <a:lnTo>
                    <a:pt x="6905146" y="55193"/>
                  </a:lnTo>
                  <a:lnTo>
                    <a:pt x="6924281" y="92220"/>
                  </a:lnTo>
                  <a:lnTo>
                    <a:pt x="6931152" y="134873"/>
                  </a:lnTo>
                  <a:lnTo>
                    <a:pt x="6931152" y="674369"/>
                  </a:lnTo>
                  <a:lnTo>
                    <a:pt x="6924281" y="717023"/>
                  </a:lnTo>
                  <a:lnTo>
                    <a:pt x="6905146" y="754050"/>
                  </a:lnTo>
                  <a:lnTo>
                    <a:pt x="6875958" y="783238"/>
                  </a:lnTo>
                  <a:lnTo>
                    <a:pt x="6838931" y="802373"/>
                  </a:lnTo>
                  <a:lnTo>
                    <a:pt x="6796278" y="809243"/>
                  </a:lnTo>
                  <a:lnTo>
                    <a:pt x="134873" y="809243"/>
                  </a:lnTo>
                  <a:lnTo>
                    <a:pt x="92220" y="802373"/>
                  </a:lnTo>
                  <a:lnTo>
                    <a:pt x="55193" y="783238"/>
                  </a:lnTo>
                  <a:lnTo>
                    <a:pt x="26005" y="754050"/>
                  </a:lnTo>
                  <a:lnTo>
                    <a:pt x="6870" y="717023"/>
                  </a:lnTo>
                  <a:lnTo>
                    <a:pt x="0" y="674369"/>
                  </a:lnTo>
                  <a:lnTo>
                    <a:pt x="0" y="134873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771" y="699684"/>
            <a:ext cx="797052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35" dirty="0">
                <a:latin typeface="Calibri Light"/>
                <a:cs typeface="Calibri Light"/>
              </a:rPr>
              <a:t>Example: </a:t>
            </a:r>
            <a:r>
              <a:rPr sz="3900" spc="45" dirty="0">
                <a:latin typeface="Calibri Light"/>
                <a:cs typeface="Calibri Light"/>
              </a:rPr>
              <a:t>Modeling a Boolean</a:t>
            </a:r>
            <a:r>
              <a:rPr sz="3900" spc="-90" dirty="0">
                <a:latin typeface="Calibri Light"/>
                <a:cs typeface="Calibri Light"/>
              </a:rPr>
              <a:t> </a:t>
            </a:r>
            <a:r>
              <a:rPr sz="3900" spc="40" dirty="0">
                <a:latin typeface="Calibri Light"/>
                <a:cs typeface="Calibri Light"/>
              </a:rPr>
              <a:t>Function</a:t>
            </a:r>
            <a:endParaRPr sz="39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53394" y="1986581"/>
            <a:ext cx="3192145" cy="2879725"/>
            <a:chOff x="4453394" y="1986581"/>
            <a:chExt cx="3192145" cy="2879725"/>
          </a:xfrm>
        </p:grpSpPr>
        <p:sp>
          <p:nvSpPr>
            <p:cNvPr id="5" name="object 5"/>
            <p:cNvSpPr/>
            <p:nvPr/>
          </p:nvSpPr>
          <p:spPr>
            <a:xfrm>
              <a:off x="4602667" y="1993226"/>
              <a:ext cx="2693670" cy="2866390"/>
            </a:xfrm>
            <a:custGeom>
              <a:avLst/>
              <a:gdLst/>
              <a:ahLst/>
              <a:cxnLst/>
              <a:rect l="l" t="t" r="r" b="b"/>
              <a:pathLst>
                <a:path w="2693670" h="2866390">
                  <a:moveTo>
                    <a:pt x="50200" y="2866320"/>
                  </a:moveTo>
                  <a:lnTo>
                    <a:pt x="2643364" y="2866320"/>
                  </a:lnTo>
                  <a:lnTo>
                    <a:pt x="2643032" y="2864339"/>
                  </a:lnTo>
                  <a:lnTo>
                    <a:pt x="2662465" y="2860424"/>
                  </a:lnTo>
                  <a:lnTo>
                    <a:pt x="2678314" y="2849747"/>
                  </a:lnTo>
                  <a:lnTo>
                    <a:pt x="2688989" y="2833913"/>
                  </a:lnTo>
                  <a:lnTo>
                    <a:pt x="2692900" y="2814524"/>
                  </a:lnTo>
                  <a:lnTo>
                    <a:pt x="2693233" y="2816506"/>
                  </a:lnTo>
                  <a:lnTo>
                    <a:pt x="2693233" y="51806"/>
                  </a:lnTo>
                  <a:lnTo>
                    <a:pt x="2678314" y="14612"/>
                  </a:lnTo>
                  <a:lnTo>
                    <a:pt x="2643032" y="0"/>
                  </a:lnTo>
                  <a:lnTo>
                    <a:pt x="2643364" y="1992"/>
                  </a:lnTo>
                  <a:lnTo>
                    <a:pt x="50200" y="1992"/>
                  </a:lnTo>
                  <a:lnTo>
                    <a:pt x="3927" y="30449"/>
                  </a:lnTo>
                  <a:lnTo>
                    <a:pt x="0" y="49814"/>
                  </a:lnTo>
                  <a:lnTo>
                    <a:pt x="332" y="51806"/>
                  </a:lnTo>
                  <a:lnTo>
                    <a:pt x="332" y="2816506"/>
                  </a:lnTo>
                  <a:lnTo>
                    <a:pt x="0" y="2814524"/>
                  </a:lnTo>
                  <a:lnTo>
                    <a:pt x="3927" y="2833913"/>
                  </a:lnTo>
                  <a:lnTo>
                    <a:pt x="14628" y="2849747"/>
                  </a:lnTo>
                  <a:lnTo>
                    <a:pt x="30482" y="2860424"/>
                  </a:lnTo>
                  <a:lnTo>
                    <a:pt x="49868" y="2864339"/>
                  </a:lnTo>
                  <a:lnTo>
                    <a:pt x="50200" y="2866320"/>
                  </a:lnTo>
                  <a:close/>
                </a:path>
              </a:pathLst>
            </a:custGeom>
            <a:ln w="13291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3394" y="2817157"/>
              <a:ext cx="316230" cy="0"/>
            </a:xfrm>
            <a:custGeom>
              <a:avLst/>
              <a:gdLst/>
              <a:ahLst/>
              <a:cxnLst/>
              <a:rect l="l" t="t" r="r" b="b"/>
              <a:pathLst>
                <a:path w="316229">
                  <a:moveTo>
                    <a:pt x="0" y="0"/>
                  </a:moveTo>
                  <a:lnTo>
                    <a:pt x="315834" y="0"/>
                  </a:lnTo>
                </a:path>
              </a:pathLst>
            </a:custGeom>
            <a:ln w="2391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44294" y="2750737"/>
              <a:ext cx="208279" cy="133350"/>
            </a:xfrm>
            <a:custGeom>
              <a:avLst/>
              <a:gdLst/>
              <a:ahLst/>
              <a:cxnLst/>
              <a:rect l="l" t="t" r="r" b="b"/>
              <a:pathLst>
                <a:path w="208279" h="133350">
                  <a:moveTo>
                    <a:pt x="0" y="0"/>
                  </a:moveTo>
                  <a:lnTo>
                    <a:pt x="0" y="132842"/>
                  </a:lnTo>
                  <a:lnTo>
                    <a:pt x="207784" y="6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53394" y="3614187"/>
              <a:ext cx="316230" cy="0"/>
            </a:xfrm>
            <a:custGeom>
              <a:avLst/>
              <a:gdLst/>
              <a:ahLst/>
              <a:cxnLst/>
              <a:rect l="l" t="t" r="r" b="b"/>
              <a:pathLst>
                <a:path w="316229">
                  <a:moveTo>
                    <a:pt x="0" y="0"/>
                  </a:moveTo>
                  <a:lnTo>
                    <a:pt x="315834" y="0"/>
                  </a:lnTo>
                </a:path>
              </a:pathLst>
            </a:custGeom>
            <a:ln w="2391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44294" y="3547767"/>
              <a:ext cx="208279" cy="133350"/>
            </a:xfrm>
            <a:custGeom>
              <a:avLst/>
              <a:gdLst/>
              <a:ahLst/>
              <a:cxnLst/>
              <a:rect l="l" t="t" r="r" b="b"/>
              <a:pathLst>
                <a:path w="208279" h="133350">
                  <a:moveTo>
                    <a:pt x="0" y="0"/>
                  </a:moveTo>
                  <a:lnTo>
                    <a:pt x="0" y="132842"/>
                  </a:lnTo>
                  <a:lnTo>
                    <a:pt x="207784" y="6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53394" y="4411217"/>
              <a:ext cx="316230" cy="0"/>
            </a:xfrm>
            <a:custGeom>
              <a:avLst/>
              <a:gdLst/>
              <a:ahLst/>
              <a:cxnLst/>
              <a:rect l="l" t="t" r="r" b="b"/>
              <a:pathLst>
                <a:path w="316229">
                  <a:moveTo>
                    <a:pt x="0" y="0"/>
                  </a:moveTo>
                  <a:lnTo>
                    <a:pt x="315834" y="0"/>
                  </a:lnTo>
                </a:path>
              </a:pathLst>
            </a:custGeom>
            <a:ln w="2391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44294" y="4344798"/>
              <a:ext cx="208279" cy="133350"/>
            </a:xfrm>
            <a:custGeom>
              <a:avLst/>
              <a:gdLst/>
              <a:ahLst/>
              <a:cxnLst/>
              <a:rect l="l" t="t" r="r" b="b"/>
              <a:pathLst>
                <a:path w="208279" h="133350">
                  <a:moveTo>
                    <a:pt x="0" y="0"/>
                  </a:moveTo>
                  <a:lnTo>
                    <a:pt x="0" y="132842"/>
                  </a:lnTo>
                  <a:lnTo>
                    <a:pt x="207784" y="6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46295" y="3614187"/>
              <a:ext cx="316230" cy="0"/>
            </a:xfrm>
            <a:custGeom>
              <a:avLst/>
              <a:gdLst/>
              <a:ahLst/>
              <a:cxnLst/>
              <a:rect l="l" t="t" r="r" b="b"/>
              <a:pathLst>
                <a:path w="316229">
                  <a:moveTo>
                    <a:pt x="0" y="0"/>
                  </a:moveTo>
                  <a:lnTo>
                    <a:pt x="315834" y="0"/>
                  </a:lnTo>
                </a:path>
              </a:pathLst>
            </a:custGeom>
            <a:ln w="2391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37195" y="3547767"/>
              <a:ext cx="208279" cy="133350"/>
            </a:xfrm>
            <a:custGeom>
              <a:avLst/>
              <a:gdLst/>
              <a:ahLst/>
              <a:cxnLst/>
              <a:rect l="l" t="t" r="r" b="b"/>
              <a:pathLst>
                <a:path w="208279" h="133350">
                  <a:moveTo>
                    <a:pt x="0" y="0"/>
                  </a:moveTo>
                  <a:lnTo>
                    <a:pt x="0" y="132842"/>
                  </a:lnTo>
                  <a:lnTo>
                    <a:pt x="207784" y="6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91616" y="2067864"/>
          <a:ext cx="2124710" cy="2670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0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100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2025" spc="-15" baseline="-16460" dirty="0">
                          <a:latin typeface="Arial"/>
                          <a:cs typeface="Arial"/>
                        </a:rPr>
                        <a:t>1</a:t>
                      </a:r>
                      <a:endParaRPr sz="2025" baseline="-1646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100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2025" spc="-15" baseline="-16460" dirty="0">
                          <a:latin typeface="Arial"/>
                          <a:cs typeface="Arial"/>
                        </a:rPr>
                        <a:t>2</a:t>
                      </a:r>
                      <a:endParaRPr sz="2025" baseline="-1646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100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2025" spc="-15" baseline="-16460" dirty="0">
                          <a:latin typeface="Arial"/>
                          <a:cs typeface="Arial"/>
                        </a:rPr>
                        <a:t>3</a:t>
                      </a:r>
                      <a:endParaRPr sz="2025" baseline="-1646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100" dirty="0">
                          <a:latin typeface="Arial"/>
                          <a:cs typeface="Arial"/>
                        </a:rPr>
                        <a:t>Y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88">
                <a:tc>
                  <a:txBody>
                    <a:bodyPr/>
                    <a:lstStyle/>
                    <a:p>
                      <a:pPr marL="635" algn="ctr">
                        <a:lnSpc>
                          <a:spcPts val="2050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50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50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ts val="2050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08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63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63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08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56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45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2700">
                      <a:solidFill>
                        <a:srgbClr val="D0D7E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123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0D7E5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4044605" y="3317210"/>
            <a:ext cx="418465" cy="4241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600" spc="5" dirty="0">
                <a:latin typeface="Arial"/>
                <a:cs typeface="Arial"/>
              </a:rPr>
              <a:t>X</a:t>
            </a:r>
            <a:r>
              <a:rPr sz="2550" spc="7" baseline="-11437" dirty="0">
                <a:latin typeface="Arial"/>
                <a:cs typeface="Arial"/>
              </a:rPr>
              <a:t>2</a:t>
            </a:r>
            <a:endParaRPr sz="2550" baseline="-11437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44605" y="4114252"/>
            <a:ext cx="418465" cy="4241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600" spc="5" dirty="0">
                <a:latin typeface="Arial"/>
                <a:cs typeface="Arial"/>
              </a:rPr>
              <a:t>X</a:t>
            </a:r>
            <a:r>
              <a:rPr sz="2550" spc="7" baseline="-11437" dirty="0">
                <a:latin typeface="Arial"/>
                <a:cs typeface="Arial"/>
              </a:rPr>
              <a:t>3</a:t>
            </a:r>
            <a:endParaRPr sz="2550" baseline="-11437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65723" y="1984830"/>
            <a:ext cx="1466850" cy="4241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600" spc="5" dirty="0">
                <a:latin typeface="Arial"/>
                <a:cs typeface="Arial"/>
              </a:rPr>
              <a:t>Black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box</a:t>
            </a:r>
            <a:endParaRPr sz="2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03176" y="2794169"/>
            <a:ext cx="824230" cy="99695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0"/>
              </a:spcBef>
            </a:pPr>
            <a:r>
              <a:rPr sz="2100" spc="-10" dirty="0">
                <a:solidFill>
                  <a:srgbClr val="993366"/>
                </a:solidFill>
                <a:latin typeface="Arial"/>
                <a:cs typeface="Arial"/>
              </a:rPr>
              <a:t>Output</a:t>
            </a:r>
            <a:endParaRPr sz="2100">
              <a:latin typeface="Arial"/>
              <a:cs typeface="Arial"/>
            </a:endParaRPr>
          </a:p>
          <a:p>
            <a:pPr marR="34290" algn="ctr">
              <a:lnSpc>
                <a:spcPct val="100000"/>
              </a:lnSpc>
              <a:spcBef>
                <a:spcPts val="1125"/>
              </a:spcBef>
            </a:pPr>
            <a:r>
              <a:rPr sz="2600" spc="10" dirty="0">
                <a:latin typeface="Arial"/>
                <a:cs typeface="Arial"/>
              </a:rPr>
              <a:t>Y</a:t>
            </a:r>
            <a:endParaRPr sz="2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91257" y="2037006"/>
            <a:ext cx="671830" cy="90741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5"/>
              </a:spcBef>
            </a:pPr>
            <a:r>
              <a:rPr sz="2100" spc="-10" dirty="0">
                <a:solidFill>
                  <a:srgbClr val="993366"/>
                </a:solidFill>
                <a:latin typeface="Arial"/>
                <a:cs typeface="Arial"/>
              </a:rPr>
              <a:t>Input</a:t>
            </a:r>
            <a:endParaRPr sz="21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735"/>
              </a:spcBef>
            </a:pPr>
            <a:r>
              <a:rPr sz="2600" spc="5" dirty="0">
                <a:latin typeface="Arial"/>
                <a:cs typeface="Arial"/>
              </a:rPr>
              <a:t>X</a:t>
            </a:r>
            <a:r>
              <a:rPr sz="2550" spc="7" baseline="-11437" dirty="0">
                <a:latin typeface="Arial"/>
                <a:cs typeface="Arial"/>
              </a:rPr>
              <a:t>1</a:t>
            </a:r>
            <a:endParaRPr sz="2550" baseline="-1143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74127" y="5513323"/>
            <a:ext cx="6597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Output </a:t>
            </a:r>
            <a:r>
              <a:rPr sz="1800" b="1" dirty="0">
                <a:latin typeface="Arial"/>
                <a:cs typeface="Arial"/>
              </a:rPr>
              <a:t>Y is 1 </a:t>
            </a:r>
            <a:r>
              <a:rPr sz="1800" b="1" spc="-5" dirty="0">
                <a:latin typeface="Arial"/>
                <a:cs typeface="Arial"/>
              </a:rPr>
              <a:t>if at least </a:t>
            </a:r>
            <a:r>
              <a:rPr sz="1800" b="1" dirty="0">
                <a:latin typeface="Arial"/>
                <a:cs typeface="Arial"/>
              </a:rPr>
              <a:t>two </a:t>
            </a:r>
            <a:r>
              <a:rPr sz="1800" b="1" spc="-5" dirty="0">
                <a:latin typeface="Arial"/>
                <a:cs typeface="Arial"/>
              </a:rPr>
              <a:t>of </a:t>
            </a:r>
            <a:r>
              <a:rPr sz="1800" b="1" dirty="0">
                <a:latin typeface="Arial"/>
                <a:cs typeface="Arial"/>
              </a:rPr>
              <a:t>the three </a:t>
            </a:r>
            <a:r>
              <a:rPr sz="1800" b="1" spc="-5" dirty="0">
                <a:latin typeface="Arial"/>
                <a:cs typeface="Arial"/>
              </a:rPr>
              <a:t>inputs are equal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771" y="699684"/>
            <a:ext cx="797052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35" dirty="0">
                <a:latin typeface="Calibri Light"/>
                <a:cs typeface="Calibri Light"/>
              </a:rPr>
              <a:t>Example: </a:t>
            </a:r>
            <a:r>
              <a:rPr sz="3900" spc="45" dirty="0">
                <a:latin typeface="Calibri Light"/>
                <a:cs typeface="Calibri Light"/>
              </a:rPr>
              <a:t>Modeling a Boolean</a:t>
            </a:r>
            <a:r>
              <a:rPr sz="3900" spc="-90" dirty="0">
                <a:latin typeface="Calibri Light"/>
                <a:cs typeface="Calibri Light"/>
              </a:rPr>
              <a:t> </a:t>
            </a:r>
            <a:r>
              <a:rPr sz="3900" spc="40" dirty="0">
                <a:latin typeface="Calibri Light"/>
                <a:cs typeface="Calibri Light"/>
              </a:rPr>
              <a:t>Function</a:t>
            </a:r>
            <a:endParaRPr sz="3900">
              <a:latin typeface="Calibri Light"/>
              <a:cs typeface="Calibr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36016" y="2072337"/>
            <a:ext cx="2764790" cy="2880995"/>
            <a:chOff x="4336016" y="2072337"/>
            <a:chExt cx="2764790" cy="2880995"/>
          </a:xfrm>
        </p:grpSpPr>
        <p:sp>
          <p:nvSpPr>
            <p:cNvPr id="5" name="object 5"/>
            <p:cNvSpPr/>
            <p:nvPr/>
          </p:nvSpPr>
          <p:spPr>
            <a:xfrm>
              <a:off x="4342683" y="2079004"/>
              <a:ext cx="2751455" cy="2867660"/>
            </a:xfrm>
            <a:custGeom>
              <a:avLst/>
              <a:gdLst/>
              <a:ahLst/>
              <a:cxnLst/>
              <a:rect l="l" t="t" r="r" b="b"/>
              <a:pathLst>
                <a:path w="2751454" h="2867660">
                  <a:moveTo>
                    <a:pt x="50200" y="2867538"/>
                  </a:moveTo>
                  <a:lnTo>
                    <a:pt x="2701544" y="2867538"/>
                  </a:lnTo>
                  <a:lnTo>
                    <a:pt x="2700879" y="2864372"/>
                  </a:lnTo>
                  <a:lnTo>
                    <a:pt x="2720265" y="2860457"/>
                  </a:lnTo>
                  <a:lnTo>
                    <a:pt x="2736119" y="2849781"/>
                  </a:lnTo>
                  <a:lnTo>
                    <a:pt x="2746820" y="2833946"/>
                  </a:lnTo>
                  <a:lnTo>
                    <a:pt x="2750748" y="2814558"/>
                  </a:lnTo>
                  <a:lnTo>
                    <a:pt x="2751412" y="2817724"/>
                  </a:lnTo>
                  <a:lnTo>
                    <a:pt x="2751412" y="53024"/>
                  </a:lnTo>
                  <a:lnTo>
                    <a:pt x="2750748" y="49814"/>
                  </a:lnTo>
                  <a:lnTo>
                    <a:pt x="2746820" y="30449"/>
                  </a:lnTo>
                  <a:lnTo>
                    <a:pt x="2736119" y="14612"/>
                  </a:lnTo>
                  <a:lnTo>
                    <a:pt x="2720265" y="3922"/>
                  </a:lnTo>
                  <a:lnTo>
                    <a:pt x="2700879" y="0"/>
                  </a:lnTo>
                  <a:lnTo>
                    <a:pt x="2701544" y="3210"/>
                  </a:lnTo>
                  <a:lnTo>
                    <a:pt x="50200" y="3210"/>
                  </a:lnTo>
                  <a:lnTo>
                    <a:pt x="3927" y="30449"/>
                  </a:lnTo>
                  <a:lnTo>
                    <a:pt x="0" y="49814"/>
                  </a:lnTo>
                  <a:lnTo>
                    <a:pt x="332" y="53024"/>
                  </a:lnTo>
                  <a:lnTo>
                    <a:pt x="332" y="2817724"/>
                  </a:lnTo>
                  <a:lnTo>
                    <a:pt x="0" y="2814558"/>
                  </a:lnTo>
                  <a:lnTo>
                    <a:pt x="3927" y="2833946"/>
                  </a:lnTo>
                  <a:lnTo>
                    <a:pt x="14628" y="2849781"/>
                  </a:lnTo>
                  <a:lnTo>
                    <a:pt x="30482" y="2860457"/>
                  </a:lnTo>
                  <a:lnTo>
                    <a:pt x="49868" y="2864372"/>
                  </a:lnTo>
                  <a:lnTo>
                    <a:pt x="50200" y="2867538"/>
                  </a:lnTo>
                  <a:close/>
                </a:path>
              </a:pathLst>
            </a:custGeom>
            <a:ln w="13291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91763" y="2558108"/>
              <a:ext cx="299720" cy="299085"/>
            </a:xfrm>
            <a:custGeom>
              <a:avLst/>
              <a:gdLst/>
              <a:ahLst/>
              <a:cxnLst/>
              <a:rect l="l" t="t" r="r" b="b"/>
              <a:pathLst>
                <a:path w="299720" h="299085">
                  <a:moveTo>
                    <a:pt x="0" y="149443"/>
                  </a:moveTo>
                  <a:lnTo>
                    <a:pt x="7633" y="102189"/>
                  </a:lnTo>
                  <a:lnTo>
                    <a:pt x="28883" y="61164"/>
                  </a:lnTo>
                  <a:lnTo>
                    <a:pt x="61278" y="28820"/>
                  </a:lnTo>
                  <a:lnTo>
                    <a:pt x="102343" y="7614"/>
                  </a:lnTo>
                  <a:lnTo>
                    <a:pt x="149605" y="0"/>
                  </a:lnTo>
                  <a:lnTo>
                    <a:pt x="196910" y="7614"/>
                  </a:lnTo>
                  <a:lnTo>
                    <a:pt x="237980" y="28820"/>
                  </a:lnTo>
                  <a:lnTo>
                    <a:pt x="270359" y="61164"/>
                  </a:lnTo>
                  <a:lnTo>
                    <a:pt x="291588" y="102189"/>
                  </a:lnTo>
                  <a:lnTo>
                    <a:pt x="299211" y="149443"/>
                  </a:lnTo>
                  <a:lnTo>
                    <a:pt x="291588" y="196653"/>
                  </a:lnTo>
                  <a:lnTo>
                    <a:pt x="270359" y="237674"/>
                  </a:lnTo>
                  <a:lnTo>
                    <a:pt x="237980" y="270033"/>
                  </a:lnTo>
                  <a:lnTo>
                    <a:pt x="196910" y="291261"/>
                  </a:lnTo>
                  <a:lnTo>
                    <a:pt x="149605" y="298886"/>
                  </a:lnTo>
                  <a:lnTo>
                    <a:pt x="102343" y="291261"/>
                  </a:lnTo>
                  <a:lnTo>
                    <a:pt x="61278" y="270033"/>
                  </a:lnTo>
                  <a:lnTo>
                    <a:pt x="28883" y="237674"/>
                  </a:lnTo>
                  <a:lnTo>
                    <a:pt x="7633" y="196653"/>
                  </a:lnTo>
                  <a:lnTo>
                    <a:pt x="0" y="14944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1763" y="3355139"/>
              <a:ext cx="299720" cy="299085"/>
            </a:xfrm>
            <a:custGeom>
              <a:avLst/>
              <a:gdLst/>
              <a:ahLst/>
              <a:cxnLst/>
              <a:rect l="l" t="t" r="r" b="b"/>
              <a:pathLst>
                <a:path w="299720" h="299085">
                  <a:moveTo>
                    <a:pt x="0" y="149443"/>
                  </a:moveTo>
                  <a:lnTo>
                    <a:pt x="7633" y="102189"/>
                  </a:lnTo>
                  <a:lnTo>
                    <a:pt x="28883" y="61164"/>
                  </a:lnTo>
                  <a:lnTo>
                    <a:pt x="61278" y="28820"/>
                  </a:lnTo>
                  <a:lnTo>
                    <a:pt x="102343" y="7614"/>
                  </a:lnTo>
                  <a:lnTo>
                    <a:pt x="149605" y="0"/>
                  </a:lnTo>
                  <a:lnTo>
                    <a:pt x="196910" y="7614"/>
                  </a:lnTo>
                  <a:lnTo>
                    <a:pt x="237980" y="28820"/>
                  </a:lnTo>
                  <a:lnTo>
                    <a:pt x="270359" y="61164"/>
                  </a:lnTo>
                  <a:lnTo>
                    <a:pt x="291588" y="102189"/>
                  </a:lnTo>
                  <a:lnTo>
                    <a:pt x="299211" y="149443"/>
                  </a:lnTo>
                  <a:lnTo>
                    <a:pt x="291588" y="196653"/>
                  </a:lnTo>
                  <a:lnTo>
                    <a:pt x="270359" y="237674"/>
                  </a:lnTo>
                  <a:lnTo>
                    <a:pt x="237980" y="270033"/>
                  </a:lnTo>
                  <a:lnTo>
                    <a:pt x="196910" y="291261"/>
                  </a:lnTo>
                  <a:lnTo>
                    <a:pt x="149605" y="298886"/>
                  </a:lnTo>
                  <a:lnTo>
                    <a:pt x="102343" y="291261"/>
                  </a:lnTo>
                  <a:lnTo>
                    <a:pt x="61278" y="270033"/>
                  </a:lnTo>
                  <a:lnTo>
                    <a:pt x="28883" y="237674"/>
                  </a:lnTo>
                  <a:lnTo>
                    <a:pt x="7633" y="196653"/>
                  </a:lnTo>
                  <a:lnTo>
                    <a:pt x="0" y="14944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91763" y="4152125"/>
              <a:ext cx="299720" cy="299085"/>
            </a:xfrm>
            <a:custGeom>
              <a:avLst/>
              <a:gdLst/>
              <a:ahLst/>
              <a:cxnLst/>
              <a:rect l="l" t="t" r="r" b="b"/>
              <a:pathLst>
                <a:path w="299720" h="299085">
                  <a:moveTo>
                    <a:pt x="0" y="149443"/>
                  </a:moveTo>
                  <a:lnTo>
                    <a:pt x="7633" y="102206"/>
                  </a:lnTo>
                  <a:lnTo>
                    <a:pt x="28883" y="61183"/>
                  </a:lnTo>
                  <a:lnTo>
                    <a:pt x="61278" y="28833"/>
                  </a:lnTo>
                  <a:lnTo>
                    <a:pt x="102343" y="7618"/>
                  </a:lnTo>
                  <a:lnTo>
                    <a:pt x="149605" y="0"/>
                  </a:lnTo>
                  <a:lnTo>
                    <a:pt x="196910" y="7618"/>
                  </a:lnTo>
                  <a:lnTo>
                    <a:pt x="237980" y="28833"/>
                  </a:lnTo>
                  <a:lnTo>
                    <a:pt x="270359" y="61183"/>
                  </a:lnTo>
                  <a:lnTo>
                    <a:pt x="291588" y="102206"/>
                  </a:lnTo>
                  <a:lnTo>
                    <a:pt x="299211" y="149443"/>
                  </a:lnTo>
                  <a:lnTo>
                    <a:pt x="291588" y="196679"/>
                  </a:lnTo>
                  <a:lnTo>
                    <a:pt x="270359" y="237703"/>
                  </a:lnTo>
                  <a:lnTo>
                    <a:pt x="237980" y="270053"/>
                  </a:lnTo>
                  <a:lnTo>
                    <a:pt x="196910" y="291267"/>
                  </a:lnTo>
                  <a:lnTo>
                    <a:pt x="149605" y="298886"/>
                  </a:lnTo>
                  <a:lnTo>
                    <a:pt x="102343" y="291267"/>
                  </a:lnTo>
                  <a:lnTo>
                    <a:pt x="61278" y="270053"/>
                  </a:lnTo>
                  <a:lnTo>
                    <a:pt x="28883" y="237703"/>
                  </a:lnTo>
                  <a:lnTo>
                    <a:pt x="7633" y="196679"/>
                  </a:lnTo>
                  <a:lnTo>
                    <a:pt x="0" y="14944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62163" y="3337538"/>
              <a:ext cx="380365" cy="379730"/>
            </a:xfrm>
            <a:custGeom>
              <a:avLst/>
              <a:gdLst/>
              <a:ahLst/>
              <a:cxnLst/>
              <a:rect l="l" t="t" r="r" b="b"/>
              <a:pathLst>
                <a:path w="380364" h="379729">
                  <a:moveTo>
                    <a:pt x="0" y="189737"/>
                  </a:moveTo>
                  <a:lnTo>
                    <a:pt x="6782" y="139321"/>
                  </a:lnTo>
                  <a:lnTo>
                    <a:pt x="25923" y="94003"/>
                  </a:lnTo>
                  <a:lnTo>
                    <a:pt x="55617" y="55598"/>
                  </a:lnTo>
                  <a:lnTo>
                    <a:pt x="94056" y="25919"/>
                  </a:lnTo>
                  <a:lnTo>
                    <a:pt x="139434" y="6782"/>
                  </a:lnTo>
                  <a:lnTo>
                    <a:pt x="189943" y="0"/>
                  </a:lnTo>
                  <a:lnTo>
                    <a:pt x="240406" y="6782"/>
                  </a:lnTo>
                  <a:lnTo>
                    <a:pt x="285752" y="25919"/>
                  </a:lnTo>
                  <a:lnTo>
                    <a:pt x="324173" y="55598"/>
                  </a:lnTo>
                  <a:lnTo>
                    <a:pt x="353857" y="94003"/>
                  </a:lnTo>
                  <a:lnTo>
                    <a:pt x="372995" y="139321"/>
                  </a:lnTo>
                  <a:lnTo>
                    <a:pt x="379776" y="189737"/>
                  </a:lnTo>
                  <a:lnTo>
                    <a:pt x="372995" y="240145"/>
                  </a:lnTo>
                  <a:lnTo>
                    <a:pt x="353857" y="285442"/>
                  </a:lnTo>
                  <a:lnTo>
                    <a:pt x="324173" y="323821"/>
                  </a:lnTo>
                  <a:lnTo>
                    <a:pt x="285752" y="353473"/>
                  </a:lnTo>
                  <a:lnTo>
                    <a:pt x="240406" y="372590"/>
                  </a:lnTo>
                  <a:lnTo>
                    <a:pt x="189943" y="379364"/>
                  </a:lnTo>
                  <a:lnTo>
                    <a:pt x="139434" y="372590"/>
                  </a:lnTo>
                  <a:lnTo>
                    <a:pt x="94056" y="353473"/>
                  </a:lnTo>
                  <a:lnTo>
                    <a:pt x="55617" y="323821"/>
                  </a:lnTo>
                  <a:lnTo>
                    <a:pt x="25923" y="285442"/>
                  </a:lnTo>
                  <a:lnTo>
                    <a:pt x="6782" y="240145"/>
                  </a:lnTo>
                  <a:lnTo>
                    <a:pt x="0" y="18973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31634" y="1960219"/>
          <a:ext cx="2124710" cy="26704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0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100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2025" spc="-15" baseline="-16460" dirty="0">
                          <a:latin typeface="Arial"/>
                          <a:cs typeface="Arial"/>
                        </a:rPr>
                        <a:t>1</a:t>
                      </a:r>
                      <a:endParaRPr sz="2025" baseline="-1646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100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2025" spc="-15" baseline="-16460" dirty="0">
                          <a:latin typeface="Arial"/>
                          <a:cs typeface="Arial"/>
                        </a:rPr>
                        <a:t>2</a:t>
                      </a:r>
                      <a:endParaRPr sz="2025" baseline="-1646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100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2025" spc="-15" baseline="-16460" dirty="0">
                          <a:latin typeface="Arial"/>
                          <a:cs typeface="Arial"/>
                        </a:rPr>
                        <a:t>3</a:t>
                      </a:r>
                      <a:endParaRPr sz="2025" baseline="-1646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100" dirty="0">
                          <a:latin typeface="Arial"/>
                          <a:cs typeface="Arial"/>
                        </a:rPr>
                        <a:t>Y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90">
                <a:tc>
                  <a:txBody>
                    <a:bodyPr/>
                    <a:lstStyle/>
                    <a:p>
                      <a:pPr marL="635" algn="ctr">
                        <a:lnSpc>
                          <a:spcPts val="2050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50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050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050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08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63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63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08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56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45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2700">
                      <a:solidFill>
                        <a:srgbClr val="C0C0C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121">
                <a:tc>
                  <a:txBody>
                    <a:bodyPr/>
                    <a:lstStyle/>
                    <a:p>
                      <a:pPr marL="635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025"/>
                        </a:lnSpc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C0C0C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860615" y="3328605"/>
            <a:ext cx="18288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5" dirty="0">
                <a:latin typeface="Symbol"/>
                <a:cs typeface="Symbol"/>
              </a:rPr>
              <a:t></a:t>
            </a:r>
            <a:endParaRPr sz="2100">
              <a:latin typeface="Symbol"/>
              <a:cs typeface="Symbo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81345" y="2638475"/>
            <a:ext cx="3204210" cy="1727200"/>
            <a:chOff x="4181345" y="2638475"/>
            <a:chExt cx="3204210" cy="1727200"/>
          </a:xfrm>
        </p:grpSpPr>
        <p:sp>
          <p:nvSpPr>
            <p:cNvPr id="13" name="object 13"/>
            <p:cNvSpPr/>
            <p:nvPr/>
          </p:nvSpPr>
          <p:spPr>
            <a:xfrm>
              <a:off x="4991307" y="2704895"/>
              <a:ext cx="640080" cy="689610"/>
            </a:xfrm>
            <a:custGeom>
              <a:avLst/>
              <a:gdLst/>
              <a:ahLst/>
              <a:cxnLst/>
              <a:rect l="l" t="t" r="r" b="b"/>
              <a:pathLst>
                <a:path w="640079" h="689610">
                  <a:moveTo>
                    <a:pt x="0" y="0"/>
                  </a:moveTo>
                  <a:lnTo>
                    <a:pt x="639979" y="689099"/>
                  </a:lnTo>
                </a:path>
              </a:pathLst>
            </a:custGeom>
            <a:ln w="239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56478" y="3335883"/>
              <a:ext cx="208279" cy="249554"/>
            </a:xfrm>
            <a:custGeom>
              <a:avLst/>
              <a:gdLst/>
              <a:ahLst/>
              <a:cxnLst/>
              <a:rect l="l" t="t" r="r" b="b"/>
              <a:pathLst>
                <a:path w="208279" h="249554">
                  <a:moveTo>
                    <a:pt x="207784" y="190957"/>
                  </a:moveTo>
                  <a:lnTo>
                    <a:pt x="116357" y="0"/>
                  </a:lnTo>
                  <a:lnTo>
                    <a:pt x="16624" y="91325"/>
                  </a:lnTo>
                  <a:lnTo>
                    <a:pt x="207784" y="190957"/>
                  </a:lnTo>
                  <a:close/>
                </a:path>
                <a:path w="208279" h="249554">
                  <a:moveTo>
                    <a:pt x="207784" y="190957"/>
                  </a:moveTo>
                  <a:lnTo>
                    <a:pt x="8305" y="116230"/>
                  </a:lnTo>
                  <a:lnTo>
                    <a:pt x="0" y="249072"/>
                  </a:lnTo>
                  <a:lnTo>
                    <a:pt x="207784" y="19095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91307" y="3659671"/>
              <a:ext cx="640080" cy="639445"/>
            </a:xfrm>
            <a:custGeom>
              <a:avLst/>
              <a:gdLst/>
              <a:ahLst/>
              <a:cxnLst/>
              <a:rect l="l" t="t" r="r" b="b"/>
              <a:pathLst>
                <a:path w="640079" h="639445">
                  <a:moveTo>
                    <a:pt x="0" y="639284"/>
                  </a:moveTo>
                  <a:lnTo>
                    <a:pt x="639979" y="0"/>
                  </a:lnTo>
                </a:path>
              </a:pathLst>
            </a:custGeom>
            <a:ln w="2392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73106" y="3526830"/>
              <a:ext cx="191770" cy="191135"/>
            </a:xfrm>
            <a:custGeom>
              <a:avLst/>
              <a:gdLst/>
              <a:ahLst/>
              <a:cxnLst/>
              <a:rect l="l" t="t" r="r" b="b"/>
              <a:pathLst>
                <a:path w="191770" h="191135">
                  <a:moveTo>
                    <a:pt x="191160" y="0"/>
                  </a:moveTo>
                  <a:lnTo>
                    <a:pt x="0" y="99631"/>
                  </a:lnTo>
                  <a:lnTo>
                    <a:pt x="91427" y="190957"/>
                  </a:lnTo>
                  <a:lnTo>
                    <a:pt x="19116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93410" y="2704895"/>
              <a:ext cx="316230" cy="0"/>
            </a:xfrm>
            <a:custGeom>
              <a:avLst/>
              <a:gdLst/>
              <a:ahLst/>
              <a:cxnLst/>
              <a:rect l="l" t="t" r="r" b="b"/>
              <a:pathLst>
                <a:path w="316229">
                  <a:moveTo>
                    <a:pt x="0" y="0"/>
                  </a:moveTo>
                  <a:lnTo>
                    <a:pt x="315834" y="0"/>
                  </a:lnTo>
                </a:path>
              </a:pathLst>
            </a:custGeom>
            <a:ln w="2391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84310" y="2638475"/>
              <a:ext cx="208279" cy="133350"/>
            </a:xfrm>
            <a:custGeom>
              <a:avLst/>
              <a:gdLst/>
              <a:ahLst/>
              <a:cxnLst/>
              <a:rect l="l" t="t" r="r" b="b"/>
              <a:pathLst>
                <a:path w="208279" h="133350">
                  <a:moveTo>
                    <a:pt x="0" y="0"/>
                  </a:moveTo>
                  <a:lnTo>
                    <a:pt x="0" y="132842"/>
                  </a:lnTo>
                  <a:lnTo>
                    <a:pt x="207784" y="6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93410" y="3501925"/>
              <a:ext cx="316230" cy="0"/>
            </a:xfrm>
            <a:custGeom>
              <a:avLst/>
              <a:gdLst/>
              <a:ahLst/>
              <a:cxnLst/>
              <a:rect l="l" t="t" r="r" b="b"/>
              <a:pathLst>
                <a:path w="316229">
                  <a:moveTo>
                    <a:pt x="0" y="0"/>
                  </a:moveTo>
                  <a:lnTo>
                    <a:pt x="315834" y="0"/>
                  </a:lnTo>
                </a:path>
              </a:pathLst>
            </a:custGeom>
            <a:ln w="2391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84310" y="3435506"/>
              <a:ext cx="208279" cy="133350"/>
            </a:xfrm>
            <a:custGeom>
              <a:avLst/>
              <a:gdLst/>
              <a:ahLst/>
              <a:cxnLst/>
              <a:rect l="l" t="t" r="r" b="b"/>
              <a:pathLst>
                <a:path w="208279" h="133350">
                  <a:moveTo>
                    <a:pt x="0" y="0"/>
                  </a:moveTo>
                  <a:lnTo>
                    <a:pt x="0" y="132842"/>
                  </a:lnTo>
                  <a:lnTo>
                    <a:pt x="207784" y="6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93410" y="4298956"/>
              <a:ext cx="316230" cy="0"/>
            </a:xfrm>
            <a:custGeom>
              <a:avLst/>
              <a:gdLst/>
              <a:ahLst/>
              <a:cxnLst/>
              <a:rect l="l" t="t" r="r" b="b"/>
              <a:pathLst>
                <a:path w="316229">
                  <a:moveTo>
                    <a:pt x="0" y="0"/>
                  </a:moveTo>
                  <a:lnTo>
                    <a:pt x="315834" y="0"/>
                  </a:lnTo>
                </a:path>
              </a:pathLst>
            </a:custGeom>
            <a:ln w="2391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84310" y="4232536"/>
              <a:ext cx="208279" cy="133350"/>
            </a:xfrm>
            <a:custGeom>
              <a:avLst/>
              <a:gdLst/>
              <a:ahLst/>
              <a:cxnLst/>
              <a:rect l="l" t="t" r="r" b="b"/>
              <a:pathLst>
                <a:path w="208279" h="133350">
                  <a:moveTo>
                    <a:pt x="0" y="0"/>
                  </a:moveTo>
                  <a:lnTo>
                    <a:pt x="0" y="132842"/>
                  </a:lnTo>
                  <a:lnTo>
                    <a:pt x="207784" y="6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02934" y="3501925"/>
              <a:ext cx="299720" cy="0"/>
            </a:xfrm>
            <a:custGeom>
              <a:avLst/>
              <a:gdLst/>
              <a:ahLst/>
              <a:cxnLst/>
              <a:rect l="l" t="t" r="r" b="b"/>
              <a:pathLst>
                <a:path w="299720">
                  <a:moveTo>
                    <a:pt x="0" y="0"/>
                  </a:moveTo>
                  <a:lnTo>
                    <a:pt x="299211" y="0"/>
                  </a:lnTo>
                </a:path>
              </a:pathLst>
            </a:custGeom>
            <a:ln w="2391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77210" y="3435506"/>
              <a:ext cx="208279" cy="133350"/>
            </a:xfrm>
            <a:custGeom>
              <a:avLst/>
              <a:gdLst/>
              <a:ahLst/>
              <a:cxnLst/>
              <a:rect l="l" t="t" r="r" b="b"/>
              <a:pathLst>
                <a:path w="208279" h="133350">
                  <a:moveTo>
                    <a:pt x="0" y="0"/>
                  </a:moveTo>
                  <a:lnTo>
                    <a:pt x="0" y="132842"/>
                  </a:lnTo>
                  <a:lnTo>
                    <a:pt x="207784" y="6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810021" y="2412568"/>
            <a:ext cx="247650" cy="4241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600" spc="10" dirty="0">
                <a:latin typeface="Arial"/>
                <a:cs typeface="Arial"/>
              </a:rPr>
              <a:t>X</a:t>
            </a:r>
            <a:endParaRPr sz="2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31769" y="2574668"/>
            <a:ext cx="146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84621" y="3209598"/>
            <a:ext cx="418465" cy="4241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600" spc="5" dirty="0">
                <a:latin typeface="Arial"/>
                <a:cs typeface="Arial"/>
              </a:rPr>
              <a:t>X</a:t>
            </a:r>
            <a:r>
              <a:rPr sz="2550" spc="7" baseline="-11437" dirty="0">
                <a:latin typeface="Arial"/>
                <a:cs typeface="Arial"/>
              </a:rPr>
              <a:t>2</a:t>
            </a:r>
            <a:endParaRPr sz="2550" baseline="-11437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84621" y="4006584"/>
            <a:ext cx="418465" cy="4241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600" spc="5" dirty="0">
                <a:latin typeface="Arial"/>
                <a:cs typeface="Arial"/>
              </a:rPr>
              <a:t>X</a:t>
            </a:r>
            <a:r>
              <a:rPr sz="2550" spc="7" baseline="-11437" dirty="0">
                <a:latin typeface="Arial"/>
                <a:cs typeface="Arial"/>
              </a:rPr>
              <a:t>3</a:t>
            </a:r>
            <a:endParaRPr sz="2550" baseline="-11437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10488" y="3259413"/>
            <a:ext cx="247650" cy="4241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600" spc="10" dirty="0">
                <a:latin typeface="Arial"/>
                <a:cs typeface="Arial"/>
              </a:rPr>
              <a:t>Y</a:t>
            </a:r>
            <a:endParaRPr sz="2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92890" y="2608509"/>
            <a:ext cx="39560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10" dirty="0">
                <a:latin typeface="Arial"/>
                <a:cs typeface="Arial"/>
              </a:rPr>
              <a:t>0</a:t>
            </a:r>
            <a:r>
              <a:rPr sz="2100" spc="-5" dirty="0">
                <a:latin typeface="Arial"/>
                <a:cs typeface="Arial"/>
              </a:rPr>
              <a:t>.3</a:t>
            </a:r>
            <a:endParaRPr sz="2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6651" y="3156595"/>
            <a:ext cx="63119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17855" algn="l"/>
              </a:tabLst>
            </a:pPr>
            <a:r>
              <a:rPr sz="2100" u="heavy" spc="165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100" u="heavy" spc="-5" dirty="0"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0.3	</a:t>
            </a:r>
            <a:endParaRPr sz="2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12837" y="3994265"/>
            <a:ext cx="39560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10" dirty="0">
                <a:latin typeface="Arial"/>
                <a:cs typeface="Arial"/>
              </a:rPr>
              <a:t>0</a:t>
            </a:r>
            <a:r>
              <a:rPr sz="2100" spc="-5" dirty="0">
                <a:latin typeface="Arial"/>
                <a:cs typeface="Arial"/>
              </a:rPr>
              <a:t>.3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645280" y="3717791"/>
            <a:ext cx="133350" cy="419100"/>
            <a:chOff x="6645280" y="3717791"/>
            <a:chExt cx="133350" cy="419100"/>
          </a:xfrm>
        </p:grpSpPr>
        <p:sp>
          <p:nvSpPr>
            <p:cNvPr id="34" name="object 34"/>
            <p:cNvSpPr/>
            <p:nvPr/>
          </p:nvSpPr>
          <p:spPr>
            <a:xfrm>
              <a:off x="6711771" y="3908743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215862"/>
                  </a:moveTo>
                  <a:lnTo>
                    <a:pt x="0" y="0"/>
                  </a:lnTo>
                </a:path>
              </a:pathLst>
            </a:custGeom>
            <a:ln w="23936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45280" y="3717791"/>
              <a:ext cx="133350" cy="207645"/>
            </a:xfrm>
            <a:custGeom>
              <a:avLst/>
              <a:gdLst/>
              <a:ahLst/>
              <a:cxnLst/>
              <a:rect l="l" t="t" r="r" b="b"/>
              <a:pathLst>
                <a:path w="133350" h="207645">
                  <a:moveTo>
                    <a:pt x="66484" y="0"/>
                  </a:moveTo>
                  <a:lnTo>
                    <a:pt x="0" y="207556"/>
                  </a:lnTo>
                  <a:lnTo>
                    <a:pt x="132981" y="207556"/>
                  </a:lnTo>
                  <a:lnTo>
                    <a:pt x="6648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234186" y="4136838"/>
            <a:ext cx="77279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5" dirty="0">
                <a:latin typeface="Arial"/>
                <a:cs typeface="Arial"/>
              </a:rPr>
              <a:t>t =</a:t>
            </a:r>
            <a:r>
              <a:rPr sz="2100" spc="-90" dirty="0">
                <a:latin typeface="Arial"/>
                <a:cs typeface="Arial"/>
              </a:rPr>
              <a:t> </a:t>
            </a:r>
            <a:r>
              <a:rPr sz="2100" spc="-5" dirty="0">
                <a:latin typeface="Arial"/>
                <a:cs typeface="Arial"/>
              </a:rPr>
              <a:t>0.4</a:t>
            </a:r>
            <a:endParaRPr sz="2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21712" y="2262243"/>
            <a:ext cx="824230" cy="663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5570" marR="5080" indent="-103505">
              <a:lnSpc>
                <a:spcPct val="100000"/>
              </a:lnSpc>
              <a:spcBef>
                <a:spcPts val="90"/>
              </a:spcBef>
            </a:pPr>
            <a:r>
              <a:rPr sz="2100" spc="-5" dirty="0">
                <a:solidFill>
                  <a:srgbClr val="993366"/>
                </a:solidFill>
                <a:latin typeface="Arial"/>
                <a:cs typeface="Arial"/>
              </a:rPr>
              <a:t>O</a:t>
            </a:r>
            <a:r>
              <a:rPr sz="2100" spc="-10" dirty="0">
                <a:solidFill>
                  <a:srgbClr val="993366"/>
                </a:solidFill>
                <a:latin typeface="Arial"/>
                <a:cs typeface="Arial"/>
              </a:rPr>
              <a:t>u</a:t>
            </a:r>
            <a:r>
              <a:rPr sz="2100" spc="-5" dirty="0">
                <a:solidFill>
                  <a:srgbClr val="993366"/>
                </a:solidFill>
                <a:latin typeface="Arial"/>
                <a:cs typeface="Arial"/>
              </a:rPr>
              <a:t>t</a:t>
            </a:r>
            <a:r>
              <a:rPr sz="2100" spc="-10" dirty="0">
                <a:solidFill>
                  <a:srgbClr val="993366"/>
                </a:solidFill>
                <a:latin typeface="Arial"/>
                <a:cs typeface="Arial"/>
              </a:rPr>
              <a:t>pu</a:t>
            </a:r>
            <a:r>
              <a:rPr sz="2100" spc="-5" dirty="0">
                <a:solidFill>
                  <a:srgbClr val="993366"/>
                </a:solidFill>
                <a:latin typeface="Arial"/>
                <a:cs typeface="Arial"/>
              </a:rPr>
              <a:t>t  </a:t>
            </a:r>
            <a:r>
              <a:rPr sz="2100" spc="-10" dirty="0">
                <a:solidFill>
                  <a:srgbClr val="993366"/>
                </a:solidFill>
                <a:latin typeface="Arial"/>
                <a:cs typeface="Arial"/>
              </a:rPr>
              <a:t>node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782163" y="1848740"/>
            <a:ext cx="3514725" cy="2301240"/>
            <a:chOff x="3782163" y="1848740"/>
            <a:chExt cx="3514725" cy="2301240"/>
          </a:xfrm>
        </p:grpSpPr>
        <p:sp>
          <p:nvSpPr>
            <p:cNvPr id="39" name="object 39"/>
            <p:cNvSpPr/>
            <p:nvPr/>
          </p:nvSpPr>
          <p:spPr>
            <a:xfrm>
              <a:off x="6797323" y="2657737"/>
              <a:ext cx="487680" cy="407670"/>
            </a:xfrm>
            <a:custGeom>
              <a:avLst/>
              <a:gdLst/>
              <a:ahLst/>
              <a:cxnLst/>
              <a:rect l="l" t="t" r="r" b="b"/>
              <a:pathLst>
                <a:path w="487679" h="407669">
                  <a:moveTo>
                    <a:pt x="487603" y="0"/>
                  </a:moveTo>
                  <a:lnTo>
                    <a:pt x="449607" y="3293"/>
                  </a:lnTo>
                  <a:lnTo>
                    <a:pt x="411312" y="11215"/>
                  </a:lnTo>
                  <a:lnTo>
                    <a:pt x="372914" y="23600"/>
                  </a:lnTo>
                  <a:lnTo>
                    <a:pt x="334611" y="40285"/>
                  </a:lnTo>
                  <a:lnTo>
                    <a:pt x="296599" y="61107"/>
                  </a:lnTo>
                  <a:lnTo>
                    <a:pt x="259074" y="85901"/>
                  </a:lnTo>
                  <a:lnTo>
                    <a:pt x="222233" y="114503"/>
                  </a:lnTo>
                  <a:lnTo>
                    <a:pt x="186272" y="146750"/>
                  </a:lnTo>
                  <a:lnTo>
                    <a:pt x="151388" y="182478"/>
                  </a:lnTo>
                  <a:lnTo>
                    <a:pt x="117778" y="221523"/>
                  </a:lnTo>
                  <a:lnTo>
                    <a:pt x="85637" y="263720"/>
                  </a:lnTo>
                  <a:lnTo>
                    <a:pt x="55163" y="308907"/>
                  </a:lnTo>
                  <a:lnTo>
                    <a:pt x="26551" y="356919"/>
                  </a:lnTo>
                  <a:lnTo>
                    <a:pt x="0" y="407592"/>
                  </a:lnTo>
                </a:path>
              </a:pathLst>
            </a:custGeom>
            <a:ln w="23921">
              <a:solidFill>
                <a:srgbClr val="008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36701" y="3028684"/>
              <a:ext cx="125095" cy="191135"/>
            </a:xfrm>
            <a:custGeom>
              <a:avLst/>
              <a:gdLst/>
              <a:ahLst/>
              <a:cxnLst/>
              <a:rect l="l" t="t" r="r" b="b"/>
              <a:pathLst>
                <a:path w="125095" h="191135">
                  <a:moveTo>
                    <a:pt x="8318" y="0"/>
                  </a:moveTo>
                  <a:lnTo>
                    <a:pt x="0" y="190957"/>
                  </a:lnTo>
                  <a:lnTo>
                    <a:pt x="124675" y="41516"/>
                  </a:lnTo>
                  <a:lnTo>
                    <a:pt x="8318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26489" y="1892477"/>
              <a:ext cx="771525" cy="530860"/>
            </a:xfrm>
            <a:custGeom>
              <a:avLst/>
              <a:gdLst/>
              <a:ahLst/>
              <a:cxnLst/>
              <a:rect l="l" t="t" r="r" b="b"/>
              <a:pathLst>
                <a:path w="771525" h="530860">
                  <a:moveTo>
                    <a:pt x="0" y="0"/>
                  </a:moveTo>
                  <a:lnTo>
                    <a:pt x="74116" y="9868"/>
                  </a:lnTo>
                  <a:lnTo>
                    <a:pt x="112905" y="19623"/>
                  </a:lnTo>
                  <a:lnTo>
                    <a:pt x="152664" y="32465"/>
                  </a:lnTo>
                  <a:lnTo>
                    <a:pt x="193254" y="48298"/>
                  </a:lnTo>
                  <a:lnTo>
                    <a:pt x="234536" y="67027"/>
                  </a:lnTo>
                  <a:lnTo>
                    <a:pt x="276372" y="88557"/>
                  </a:lnTo>
                  <a:lnTo>
                    <a:pt x="318624" y="112792"/>
                  </a:lnTo>
                  <a:lnTo>
                    <a:pt x="361152" y="139637"/>
                  </a:lnTo>
                  <a:lnTo>
                    <a:pt x="403819" y="168998"/>
                  </a:lnTo>
                  <a:lnTo>
                    <a:pt x="446486" y="200778"/>
                  </a:lnTo>
                  <a:lnTo>
                    <a:pt x="489014" y="234882"/>
                  </a:lnTo>
                  <a:lnTo>
                    <a:pt x="531264" y="271215"/>
                  </a:lnTo>
                  <a:lnTo>
                    <a:pt x="573099" y="309682"/>
                  </a:lnTo>
                  <a:lnTo>
                    <a:pt x="614380" y="350188"/>
                  </a:lnTo>
                  <a:lnTo>
                    <a:pt x="654968" y="392636"/>
                  </a:lnTo>
                  <a:lnTo>
                    <a:pt x="694724" y="436933"/>
                  </a:lnTo>
                  <a:lnTo>
                    <a:pt x="733511" y="482982"/>
                  </a:lnTo>
                  <a:lnTo>
                    <a:pt x="771189" y="530689"/>
                  </a:lnTo>
                </a:path>
              </a:pathLst>
            </a:custGeom>
            <a:ln w="23919">
              <a:solidFill>
                <a:srgbClr val="008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42490" y="2372794"/>
              <a:ext cx="149860" cy="182880"/>
            </a:xfrm>
            <a:custGeom>
              <a:avLst/>
              <a:gdLst/>
              <a:ahLst/>
              <a:cxnLst/>
              <a:rect l="l" t="t" r="r" b="b"/>
              <a:pathLst>
                <a:path w="149860" h="182880">
                  <a:moveTo>
                    <a:pt x="99733" y="0"/>
                  </a:moveTo>
                  <a:lnTo>
                    <a:pt x="0" y="74726"/>
                  </a:lnTo>
                  <a:lnTo>
                    <a:pt x="149606" y="182664"/>
                  </a:lnTo>
                  <a:lnTo>
                    <a:pt x="99733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23053" y="1890263"/>
              <a:ext cx="904240" cy="1214120"/>
            </a:xfrm>
            <a:custGeom>
              <a:avLst/>
              <a:gdLst/>
              <a:ahLst/>
              <a:cxnLst/>
              <a:rect l="l" t="t" r="r" b="b"/>
              <a:pathLst>
                <a:path w="904239" h="1214120">
                  <a:moveTo>
                    <a:pt x="0" y="0"/>
                  </a:moveTo>
                  <a:lnTo>
                    <a:pt x="56128" y="36051"/>
                  </a:lnTo>
                  <a:lnTo>
                    <a:pt x="114046" y="79933"/>
                  </a:lnTo>
                  <a:lnTo>
                    <a:pt x="143572" y="104671"/>
                  </a:lnTo>
                  <a:lnTo>
                    <a:pt x="173423" y="131200"/>
                  </a:lnTo>
                  <a:lnTo>
                    <a:pt x="203555" y="159465"/>
                  </a:lnTo>
                  <a:lnTo>
                    <a:pt x="233928" y="189409"/>
                  </a:lnTo>
                  <a:lnTo>
                    <a:pt x="264500" y="220978"/>
                  </a:lnTo>
                  <a:lnTo>
                    <a:pt x="295231" y="254115"/>
                  </a:lnTo>
                  <a:lnTo>
                    <a:pt x="326079" y="288766"/>
                  </a:lnTo>
                  <a:lnTo>
                    <a:pt x="357002" y="324874"/>
                  </a:lnTo>
                  <a:lnTo>
                    <a:pt x="387959" y="362385"/>
                  </a:lnTo>
                  <a:lnTo>
                    <a:pt x="418910" y="401242"/>
                  </a:lnTo>
                  <a:lnTo>
                    <a:pt x="449811" y="441390"/>
                  </a:lnTo>
                  <a:lnTo>
                    <a:pt x="480624" y="482774"/>
                  </a:lnTo>
                  <a:lnTo>
                    <a:pt x="511305" y="525338"/>
                  </a:lnTo>
                  <a:lnTo>
                    <a:pt x="541814" y="569026"/>
                  </a:lnTo>
                  <a:lnTo>
                    <a:pt x="572109" y="613783"/>
                  </a:lnTo>
                  <a:lnTo>
                    <a:pt x="602149" y="659554"/>
                  </a:lnTo>
                  <a:lnTo>
                    <a:pt x="631893" y="706283"/>
                  </a:lnTo>
                  <a:lnTo>
                    <a:pt x="661300" y="753913"/>
                  </a:lnTo>
                  <a:lnTo>
                    <a:pt x="690327" y="802391"/>
                  </a:lnTo>
                  <a:lnTo>
                    <a:pt x="718934" y="851660"/>
                  </a:lnTo>
                  <a:lnTo>
                    <a:pt x="747080" y="901664"/>
                  </a:lnTo>
                  <a:lnTo>
                    <a:pt x="774723" y="952349"/>
                  </a:lnTo>
                  <a:lnTo>
                    <a:pt x="801822" y="1003659"/>
                  </a:lnTo>
                  <a:lnTo>
                    <a:pt x="828335" y="1055537"/>
                  </a:lnTo>
                  <a:lnTo>
                    <a:pt x="854222" y="1107929"/>
                  </a:lnTo>
                  <a:lnTo>
                    <a:pt x="879441" y="1160779"/>
                  </a:lnTo>
                  <a:lnTo>
                    <a:pt x="903950" y="1214032"/>
                  </a:lnTo>
                </a:path>
              </a:pathLst>
            </a:custGeom>
            <a:ln w="23927">
              <a:solidFill>
                <a:srgbClr val="008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67161" y="3070196"/>
              <a:ext cx="125095" cy="182880"/>
            </a:xfrm>
            <a:custGeom>
              <a:avLst/>
              <a:gdLst/>
              <a:ahLst/>
              <a:cxnLst/>
              <a:rect l="l" t="t" r="r" b="b"/>
              <a:pathLst>
                <a:path w="125095" h="182879">
                  <a:moveTo>
                    <a:pt x="108051" y="0"/>
                  </a:moveTo>
                  <a:lnTo>
                    <a:pt x="0" y="41516"/>
                  </a:lnTo>
                  <a:lnTo>
                    <a:pt x="124675" y="182651"/>
                  </a:lnTo>
                  <a:lnTo>
                    <a:pt x="108051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94129" y="1860707"/>
              <a:ext cx="861694" cy="2131695"/>
            </a:xfrm>
            <a:custGeom>
              <a:avLst/>
              <a:gdLst/>
              <a:ahLst/>
              <a:cxnLst/>
              <a:rect l="l" t="t" r="r" b="b"/>
              <a:pathLst>
                <a:path w="861695" h="2131695">
                  <a:moveTo>
                    <a:pt x="0" y="0"/>
                  </a:moveTo>
                  <a:lnTo>
                    <a:pt x="39058" y="51310"/>
                  </a:lnTo>
                  <a:lnTo>
                    <a:pt x="78690" y="108156"/>
                  </a:lnTo>
                  <a:lnTo>
                    <a:pt x="118790" y="170286"/>
                  </a:lnTo>
                  <a:lnTo>
                    <a:pt x="138985" y="203252"/>
                  </a:lnTo>
                  <a:lnTo>
                    <a:pt x="159258" y="237444"/>
                  </a:lnTo>
                  <a:lnTo>
                    <a:pt x="179598" y="272829"/>
                  </a:lnTo>
                  <a:lnTo>
                    <a:pt x="199991" y="309377"/>
                  </a:lnTo>
                  <a:lnTo>
                    <a:pt x="220424" y="347054"/>
                  </a:lnTo>
                  <a:lnTo>
                    <a:pt x="240885" y="385830"/>
                  </a:lnTo>
                  <a:lnTo>
                    <a:pt x="261361" y="425673"/>
                  </a:lnTo>
                  <a:lnTo>
                    <a:pt x="281838" y="466550"/>
                  </a:lnTo>
                  <a:lnTo>
                    <a:pt x="302305" y="508431"/>
                  </a:lnTo>
                  <a:lnTo>
                    <a:pt x="322748" y="551283"/>
                  </a:lnTo>
                  <a:lnTo>
                    <a:pt x="343155" y="595075"/>
                  </a:lnTo>
                  <a:lnTo>
                    <a:pt x="363512" y="639775"/>
                  </a:lnTo>
                  <a:lnTo>
                    <a:pt x="383807" y="685351"/>
                  </a:lnTo>
                  <a:lnTo>
                    <a:pt x="404027" y="731771"/>
                  </a:lnTo>
                  <a:lnTo>
                    <a:pt x="424160" y="779004"/>
                  </a:lnTo>
                  <a:lnTo>
                    <a:pt x="444191" y="827018"/>
                  </a:lnTo>
                  <a:lnTo>
                    <a:pt x="464109" y="875781"/>
                  </a:lnTo>
                  <a:lnTo>
                    <a:pt x="483901" y="925262"/>
                  </a:lnTo>
                  <a:lnTo>
                    <a:pt x="503554" y="975428"/>
                  </a:lnTo>
                  <a:lnTo>
                    <a:pt x="523054" y="1026248"/>
                  </a:lnTo>
                  <a:lnTo>
                    <a:pt x="542390" y="1077690"/>
                  </a:lnTo>
                  <a:lnTo>
                    <a:pt x="561548" y="1129723"/>
                  </a:lnTo>
                  <a:lnTo>
                    <a:pt x="580516" y="1182314"/>
                  </a:lnTo>
                  <a:lnTo>
                    <a:pt x="599281" y="1235433"/>
                  </a:lnTo>
                  <a:lnTo>
                    <a:pt x="617829" y="1289046"/>
                  </a:lnTo>
                  <a:lnTo>
                    <a:pt x="636148" y="1343123"/>
                  </a:lnTo>
                  <a:lnTo>
                    <a:pt x="654226" y="1397632"/>
                  </a:lnTo>
                  <a:lnTo>
                    <a:pt x="672049" y="1452541"/>
                  </a:lnTo>
                  <a:lnTo>
                    <a:pt x="689604" y="1507817"/>
                  </a:lnTo>
                  <a:lnTo>
                    <a:pt x="706880" y="1563431"/>
                  </a:lnTo>
                  <a:lnTo>
                    <a:pt x="723862" y="1619348"/>
                  </a:lnTo>
                  <a:lnTo>
                    <a:pt x="740538" y="1675539"/>
                  </a:lnTo>
                  <a:lnTo>
                    <a:pt x="756895" y="1731971"/>
                  </a:lnTo>
                  <a:lnTo>
                    <a:pt x="772921" y="1788613"/>
                  </a:lnTo>
                  <a:lnTo>
                    <a:pt x="788603" y="1845432"/>
                  </a:lnTo>
                  <a:lnTo>
                    <a:pt x="803927" y="1902397"/>
                  </a:lnTo>
                  <a:lnTo>
                    <a:pt x="818881" y="1959476"/>
                  </a:lnTo>
                  <a:lnTo>
                    <a:pt x="833453" y="2016638"/>
                  </a:lnTo>
                  <a:lnTo>
                    <a:pt x="847628" y="2073851"/>
                  </a:lnTo>
                  <a:lnTo>
                    <a:pt x="861395" y="2131082"/>
                  </a:lnTo>
                </a:path>
              </a:pathLst>
            </a:custGeom>
            <a:ln w="23933">
              <a:solidFill>
                <a:srgbClr val="008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92359" y="3966862"/>
              <a:ext cx="116839" cy="182880"/>
            </a:xfrm>
            <a:custGeom>
              <a:avLst/>
              <a:gdLst/>
              <a:ahLst/>
              <a:cxnLst/>
              <a:rect l="l" t="t" r="r" b="b"/>
              <a:pathLst>
                <a:path w="116839" h="182879">
                  <a:moveTo>
                    <a:pt x="116357" y="0"/>
                  </a:moveTo>
                  <a:lnTo>
                    <a:pt x="0" y="24904"/>
                  </a:lnTo>
                  <a:lnTo>
                    <a:pt x="99733" y="182651"/>
                  </a:lnTo>
                  <a:lnTo>
                    <a:pt x="1163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38283" y="3526832"/>
              <a:ext cx="191770" cy="0"/>
            </a:xfrm>
            <a:custGeom>
              <a:avLst/>
              <a:gdLst/>
              <a:ahLst/>
              <a:cxnLst/>
              <a:rect l="l" t="t" r="r" b="b"/>
              <a:pathLst>
                <a:path w="191770">
                  <a:moveTo>
                    <a:pt x="0" y="0"/>
                  </a:moveTo>
                  <a:lnTo>
                    <a:pt x="191162" y="0"/>
                  </a:lnTo>
                </a:path>
              </a:pathLst>
            </a:custGeom>
            <a:ln w="23910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12823" y="3460413"/>
              <a:ext cx="208279" cy="133350"/>
            </a:xfrm>
            <a:custGeom>
              <a:avLst/>
              <a:gdLst/>
              <a:ahLst/>
              <a:cxnLst/>
              <a:rect l="l" t="t" r="r" b="b"/>
              <a:pathLst>
                <a:path w="208279" h="133350">
                  <a:moveTo>
                    <a:pt x="0" y="0"/>
                  </a:moveTo>
                  <a:lnTo>
                    <a:pt x="0" y="132842"/>
                  </a:lnTo>
                  <a:lnTo>
                    <a:pt x="207784" y="6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516619" y="3334659"/>
              <a:ext cx="386715" cy="386080"/>
            </a:xfrm>
            <a:custGeom>
              <a:avLst/>
              <a:gdLst/>
              <a:ahLst/>
              <a:cxnLst/>
              <a:rect l="l" t="t" r="r" b="b"/>
              <a:pathLst>
                <a:path w="386715" h="386079">
                  <a:moveTo>
                    <a:pt x="0" y="192947"/>
                  </a:moveTo>
                  <a:lnTo>
                    <a:pt x="5105" y="148693"/>
                  </a:lnTo>
                  <a:lnTo>
                    <a:pt x="19647" y="108076"/>
                  </a:lnTo>
                  <a:lnTo>
                    <a:pt x="42465" y="72251"/>
                  </a:lnTo>
                  <a:lnTo>
                    <a:pt x="72397" y="42375"/>
                  </a:lnTo>
                  <a:lnTo>
                    <a:pt x="108282" y="19604"/>
                  </a:lnTo>
                  <a:lnTo>
                    <a:pt x="148960" y="5093"/>
                  </a:lnTo>
                  <a:lnTo>
                    <a:pt x="193268" y="0"/>
                  </a:lnTo>
                  <a:lnTo>
                    <a:pt x="237576" y="5093"/>
                  </a:lnTo>
                  <a:lnTo>
                    <a:pt x="278253" y="19604"/>
                  </a:lnTo>
                  <a:lnTo>
                    <a:pt x="314139" y="42375"/>
                  </a:lnTo>
                  <a:lnTo>
                    <a:pt x="344071" y="72251"/>
                  </a:lnTo>
                  <a:lnTo>
                    <a:pt x="366888" y="108076"/>
                  </a:lnTo>
                  <a:lnTo>
                    <a:pt x="381431" y="148693"/>
                  </a:lnTo>
                  <a:lnTo>
                    <a:pt x="386536" y="192947"/>
                  </a:lnTo>
                  <a:lnTo>
                    <a:pt x="381431" y="237242"/>
                  </a:lnTo>
                  <a:lnTo>
                    <a:pt x="366888" y="277889"/>
                  </a:lnTo>
                  <a:lnTo>
                    <a:pt x="344071" y="313733"/>
                  </a:lnTo>
                  <a:lnTo>
                    <a:pt x="314139" y="343621"/>
                  </a:lnTo>
                  <a:lnTo>
                    <a:pt x="278253" y="366399"/>
                  </a:lnTo>
                  <a:lnTo>
                    <a:pt x="237576" y="380912"/>
                  </a:lnTo>
                  <a:lnTo>
                    <a:pt x="193268" y="386006"/>
                  </a:lnTo>
                  <a:lnTo>
                    <a:pt x="148960" y="380912"/>
                  </a:lnTo>
                  <a:lnTo>
                    <a:pt x="108282" y="366399"/>
                  </a:lnTo>
                  <a:lnTo>
                    <a:pt x="72397" y="343621"/>
                  </a:lnTo>
                  <a:lnTo>
                    <a:pt x="42465" y="313733"/>
                  </a:lnTo>
                  <a:lnTo>
                    <a:pt x="19647" y="277889"/>
                  </a:lnTo>
                  <a:lnTo>
                    <a:pt x="5105" y="237242"/>
                  </a:lnTo>
                  <a:lnTo>
                    <a:pt x="0" y="19294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12034" y="3460413"/>
              <a:ext cx="208279" cy="141605"/>
            </a:xfrm>
            <a:custGeom>
              <a:avLst/>
              <a:gdLst/>
              <a:ahLst/>
              <a:cxnLst/>
              <a:rect l="l" t="t" r="r" b="b"/>
              <a:pathLst>
                <a:path w="208279" h="141604">
                  <a:moveTo>
                    <a:pt x="0" y="141140"/>
                  </a:moveTo>
                  <a:lnTo>
                    <a:pt x="99737" y="141140"/>
                  </a:lnTo>
                  <a:lnTo>
                    <a:pt x="99737" y="0"/>
                  </a:lnTo>
                  <a:lnTo>
                    <a:pt x="207785" y="0"/>
                  </a:lnTo>
                </a:path>
              </a:pathLst>
            </a:custGeom>
            <a:ln w="332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138283" y="3526832"/>
              <a:ext cx="382905" cy="0"/>
            </a:xfrm>
            <a:custGeom>
              <a:avLst/>
              <a:gdLst/>
              <a:ahLst/>
              <a:cxnLst/>
              <a:rect l="l" t="t" r="r" b="b"/>
              <a:pathLst>
                <a:path w="382904">
                  <a:moveTo>
                    <a:pt x="0" y="0"/>
                  </a:moveTo>
                  <a:lnTo>
                    <a:pt x="38232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020214" y="1502629"/>
            <a:ext cx="749935" cy="663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6040">
              <a:lnSpc>
                <a:spcPct val="100000"/>
              </a:lnSpc>
              <a:spcBef>
                <a:spcPts val="90"/>
              </a:spcBef>
            </a:pPr>
            <a:r>
              <a:rPr sz="2100" spc="-10" dirty="0">
                <a:solidFill>
                  <a:srgbClr val="993366"/>
                </a:solidFill>
                <a:latin typeface="Arial"/>
                <a:cs typeface="Arial"/>
              </a:rPr>
              <a:t>Input  node</a:t>
            </a:r>
            <a:r>
              <a:rPr sz="2100" spc="-5" dirty="0">
                <a:solidFill>
                  <a:srgbClr val="993366"/>
                </a:solidFill>
                <a:latin typeface="Arial"/>
                <a:cs typeface="Arial"/>
              </a:rPr>
              <a:t>s</a:t>
            </a:r>
            <a:endParaRPr sz="21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416929" y="5935528"/>
            <a:ext cx="19621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180" dirty="0">
                <a:latin typeface="Symbol"/>
                <a:cs typeface="Symbol"/>
              </a:rPr>
              <a:t>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78829" y="5570179"/>
            <a:ext cx="2135505" cy="934719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702945">
              <a:lnSpc>
                <a:spcPct val="100000"/>
              </a:lnSpc>
              <a:spcBef>
                <a:spcPts val="850"/>
              </a:spcBef>
              <a:tabLst>
                <a:tab pos="1047750" algn="l"/>
              </a:tabLst>
            </a:pPr>
            <a:r>
              <a:rPr sz="2350" spc="110" dirty="0">
                <a:latin typeface="Times New Roman"/>
                <a:cs typeface="Times New Roman"/>
              </a:rPr>
              <a:t>if	</a:t>
            </a:r>
            <a:r>
              <a:rPr sz="2350" i="1" spc="140" dirty="0">
                <a:latin typeface="Times New Roman"/>
                <a:cs typeface="Times New Roman"/>
              </a:rPr>
              <a:t>z </a:t>
            </a:r>
            <a:r>
              <a:rPr sz="2350" spc="120" dirty="0">
                <a:latin typeface="Times New Roman"/>
                <a:cs typeface="Times New Roman"/>
              </a:rPr>
              <a:t>is</a:t>
            </a:r>
            <a:r>
              <a:rPr sz="2350" spc="-240" dirty="0">
                <a:latin typeface="Times New Roman"/>
                <a:cs typeface="Times New Roman"/>
              </a:rPr>
              <a:t> </a:t>
            </a:r>
            <a:r>
              <a:rPr sz="2350" spc="140" dirty="0">
                <a:latin typeface="Times New Roman"/>
                <a:cs typeface="Times New Roman"/>
              </a:rPr>
              <a:t>true</a:t>
            </a:r>
            <a:endParaRPr sz="23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760"/>
              </a:spcBef>
              <a:tabLst>
                <a:tab pos="732155" algn="l"/>
              </a:tabLst>
            </a:pPr>
            <a:r>
              <a:rPr sz="3525" spc="247" baseline="-13002" dirty="0">
                <a:latin typeface="Symbol"/>
                <a:cs typeface="Symbol"/>
              </a:rPr>
              <a:t></a:t>
            </a:r>
            <a:r>
              <a:rPr sz="2350" spc="165" dirty="0">
                <a:latin typeface="Times New Roman"/>
                <a:cs typeface="Times New Roman"/>
              </a:rPr>
              <a:t>0	</a:t>
            </a:r>
            <a:r>
              <a:rPr sz="2350" spc="155" dirty="0">
                <a:latin typeface="Times New Roman"/>
                <a:cs typeface="Times New Roman"/>
              </a:rPr>
              <a:t>otherwise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564641" y="5883422"/>
            <a:ext cx="224091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350" spc="175" dirty="0">
                <a:latin typeface="Times New Roman"/>
                <a:cs typeface="Times New Roman"/>
              </a:rPr>
              <a:t>where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i="1" spc="120" dirty="0">
                <a:latin typeface="Times New Roman"/>
                <a:cs typeface="Times New Roman"/>
              </a:rPr>
              <a:t>I</a:t>
            </a:r>
            <a:r>
              <a:rPr sz="2350" i="1" spc="-270" dirty="0">
                <a:latin typeface="Times New Roman"/>
                <a:cs typeface="Times New Roman"/>
              </a:rPr>
              <a:t> </a:t>
            </a:r>
            <a:r>
              <a:rPr sz="2350" spc="120" dirty="0">
                <a:latin typeface="Times New Roman"/>
                <a:cs typeface="Times New Roman"/>
              </a:rPr>
              <a:t>(</a:t>
            </a:r>
            <a:r>
              <a:rPr sz="2350" spc="-400" dirty="0">
                <a:latin typeface="Times New Roman"/>
                <a:cs typeface="Times New Roman"/>
              </a:rPr>
              <a:t> </a:t>
            </a:r>
            <a:r>
              <a:rPr sz="2350" i="1" spc="195" dirty="0">
                <a:latin typeface="Times New Roman"/>
                <a:cs typeface="Times New Roman"/>
              </a:rPr>
              <a:t>z</a:t>
            </a:r>
            <a:r>
              <a:rPr sz="2350" spc="195" dirty="0">
                <a:latin typeface="Times New Roman"/>
                <a:cs typeface="Times New Roman"/>
              </a:rPr>
              <a:t>)</a:t>
            </a:r>
            <a:r>
              <a:rPr sz="2350" spc="10" dirty="0">
                <a:latin typeface="Times New Roman"/>
                <a:cs typeface="Times New Roman"/>
              </a:rPr>
              <a:t> </a:t>
            </a:r>
            <a:r>
              <a:rPr sz="2350" spc="200" dirty="0">
                <a:latin typeface="Symbol"/>
                <a:cs typeface="Symbol"/>
              </a:rPr>
              <a:t></a:t>
            </a:r>
            <a:r>
              <a:rPr sz="2350" spc="25" dirty="0">
                <a:latin typeface="Times New Roman"/>
                <a:cs typeface="Times New Roman"/>
              </a:rPr>
              <a:t> </a:t>
            </a:r>
            <a:r>
              <a:rPr sz="3525" spc="232" baseline="37825" dirty="0">
                <a:latin typeface="Symbol"/>
                <a:cs typeface="Symbol"/>
              </a:rPr>
              <a:t></a:t>
            </a:r>
            <a:r>
              <a:rPr sz="3525" spc="232" baseline="41371" dirty="0">
                <a:latin typeface="Times New Roman"/>
                <a:cs typeface="Times New Roman"/>
              </a:rPr>
              <a:t>1</a:t>
            </a:r>
            <a:endParaRPr sz="3525" baseline="41371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590966" y="5174232"/>
            <a:ext cx="452374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350" i="1" spc="160" dirty="0">
                <a:latin typeface="Times New Roman"/>
                <a:cs typeface="Times New Roman"/>
              </a:rPr>
              <a:t>y</a:t>
            </a:r>
            <a:r>
              <a:rPr sz="2350" i="1" spc="105" dirty="0">
                <a:latin typeface="Times New Roman"/>
                <a:cs typeface="Times New Roman"/>
              </a:rPr>
              <a:t> </a:t>
            </a:r>
            <a:r>
              <a:rPr sz="2350" spc="200" dirty="0">
                <a:latin typeface="Symbol"/>
                <a:cs typeface="Symbol"/>
              </a:rPr>
              <a:t>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i="1" spc="120" dirty="0">
                <a:latin typeface="Times New Roman"/>
                <a:cs typeface="Times New Roman"/>
              </a:rPr>
              <a:t>I</a:t>
            </a:r>
            <a:r>
              <a:rPr sz="2350" i="1" spc="-270" dirty="0">
                <a:latin typeface="Times New Roman"/>
                <a:cs typeface="Times New Roman"/>
              </a:rPr>
              <a:t> </a:t>
            </a:r>
            <a:r>
              <a:rPr sz="2350" spc="130" dirty="0">
                <a:latin typeface="Times New Roman"/>
                <a:cs typeface="Times New Roman"/>
              </a:rPr>
              <a:t>(0.3</a:t>
            </a:r>
            <a:r>
              <a:rPr sz="2350" i="1" spc="130" dirty="0">
                <a:latin typeface="Times New Roman"/>
                <a:cs typeface="Times New Roman"/>
              </a:rPr>
              <a:t>x</a:t>
            </a:r>
            <a:r>
              <a:rPr sz="2100" spc="195" baseline="-23809" dirty="0">
                <a:latin typeface="Times New Roman"/>
                <a:cs typeface="Times New Roman"/>
              </a:rPr>
              <a:t>1</a:t>
            </a:r>
            <a:r>
              <a:rPr sz="2100" spc="375" baseline="-23809" dirty="0">
                <a:latin typeface="Times New Roman"/>
                <a:cs typeface="Times New Roman"/>
              </a:rPr>
              <a:t> </a:t>
            </a:r>
            <a:r>
              <a:rPr sz="2350" spc="200" dirty="0">
                <a:latin typeface="Symbol"/>
                <a:cs typeface="Symbol"/>
              </a:rPr>
              <a:t></a:t>
            </a:r>
            <a:r>
              <a:rPr sz="2350" spc="-130" dirty="0">
                <a:latin typeface="Times New Roman"/>
                <a:cs typeface="Times New Roman"/>
              </a:rPr>
              <a:t> </a:t>
            </a:r>
            <a:r>
              <a:rPr sz="2350" spc="160" dirty="0">
                <a:latin typeface="Times New Roman"/>
                <a:cs typeface="Times New Roman"/>
              </a:rPr>
              <a:t>0.3</a:t>
            </a:r>
            <a:r>
              <a:rPr sz="2350" i="1" spc="160" dirty="0">
                <a:latin typeface="Times New Roman"/>
                <a:cs typeface="Times New Roman"/>
              </a:rPr>
              <a:t>x</a:t>
            </a:r>
            <a:r>
              <a:rPr sz="2100" spc="240" baseline="-23809" dirty="0">
                <a:latin typeface="Times New Roman"/>
                <a:cs typeface="Times New Roman"/>
              </a:rPr>
              <a:t>2</a:t>
            </a:r>
            <a:r>
              <a:rPr sz="2100" spc="547" baseline="-23809" dirty="0">
                <a:latin typeface="Times New Roman"/>
                <a:cs typeface="Times New Roman"/>
              </a:rPr>
              <a:t> </a:t>
            </a:r>
            <a:r>
              <a:rPr sz="2350" spc="200" dirty="0">
                <a:latin typeface="Symbol"/>
                <a:cs typeface="Symbol"/>
              </a:rPr>
              <a:t></a:t>
            </a:r>
            <a:r>
              <a:rPr sz="2350" spc="-130" dirty="0">
                <a:latin typeface="Times New Roman"/>
                <a:cs typeface="Times New Roman"/>
              </a:rPr>
              <a:t> </a:t>
            </a:r>
            <a:r>
              <a:rPr sz="2350" spc="150" dirty="0">
                <a:latin typeface="Times New Roman"/>
                <a:cs typeface="Times New Roman"/>
              </a:rPr>
              <a:t>0.3</a:t>
            </a:r>
            <a:r>
              <a:rPr sz="2350" i="1" spc="150" dirty="0">
                <a:latin typeface="Times New Roman"/>
                <a:cs typeface="Times New Roman"/>
              </a:rPr>
              <a:t>x</a:t>
            </a:r>
            <a:r>
              <a:rPr sz="2100" spc="225" baseline="-23809" dirty="0">
                <a:latin typeface="Times New Roman"/>
                <a:cs typeface="Times New Roman"/>
              </a:rPr>
              <a:t>3</a:t>
            </a:r>
            <a:r>
              <a:rPr sz="2100" spc="727" baseline="-23809" dirty="0">
                <a:latin typeface="Times New Roman"/>
                <a:cs typeface="Times New Roman"/>
              </a:rPr>
              <a:t> </a:t>
            </a:r>
            <a:r>
              <a:rPr sz="2350" spc="200" dirty="0">
                <a:latin typeface="Symbol"/>
                <a:cs typeface="Symbol"/>
              </a:rPr>
              <a:t>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145" dirty="0">
                <a:latin typeface="Times New Roman"/>
                <a:cs typeface="Times New Roman"/>
              </a:rPr>
              <a:t>0.4)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1745" marR="5080" indent="-1199515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Properties </a:t>
            </a:r>
            <a:r>
              <a:rPr spc="-60" dirty="0"/>
              <a:t>of </a:t>
            </a:r>
            <a:r>
              <a:rPr dirty="0"/>
              <a:t>the </a:t>
            </a:r>
            <a:r>
              <a:rPr spc="-45" dirty="0"/>
              <a:t>Perceptron  </a:t>
            </a:r>
            <a:r>
              <a:rPr dirty="0"/>
              <a:t>training</a:t>
            </a:r>
            <a:r>
              <a:rPr spc="-3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26677"/>
            <a:ext cx="8007350" cy="438086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9F2936"/>
                </a:solidFill>
                <a:latin typeface="Segoe UI"/>
                <a:cs typeface="Segoe UI"/>
              </a:rPr>
              <a:t>Online</a:t>
            </a:r>
            <a:endParaRPr sz="3200">
              <a:latin typeface="Segoe UI"/>
              <a:cs typeface="Segoe UI"/>
            </a:endParaRPr>
          </a:p>
          <a:p>
            <a:pPr marL="756285" marR="177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40" dirty="0">
                <a:latin typeface="Segoe UI"/>
                <a:cs typeface="Segoe UI"/>
              </a:rPr>
              <a:t>We </a:t>
            </a:r>
            <a:r>
              <a:rPr sz="2800" spc="-5" dirty="0">
                <a:latin typeface="Segoe UI"/>
                <a:cs typeface="Segoe UI"/>
              </a:rPr>
              <a:t>look at one example </a:t>
            </a:r>
            <a:r>
              <a:rPr sz="2800" dirty="0">
                <a:latin typeface="Segoe UI"/>
                <a:cs typeface="Segoe UI"/>
              </a:rPr>
              <a:t>at </a:t>
            </a: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spc="-10" dirty="0">
                <a:latin typeface="Segoe UI"/>
                <a:cs typeface="Segoe UI"/>
              </a:rPr>
              <a:t>time, </a:t>
            </a:r>
            <a:r>
              <a:rPr sz="2800" spc="-5" dirty="0">
                <a:latin typeface="Segoe UI"/>
                <a:cs typeface="Segoe UI"/>
              </a:rPr>
              <a:t>and </a:t>
            </a:r>
            <a:r>
              <a:rPr sz="2800" spc="-10" dirty="0">
                <a:latin typeface="Segoe UI"/>
                <a:cs typeface="Segoe UI"/>
              </a:rPr>
              <a:t>update  </a:t>
            </a:r>
            <a:r>
              <a:rPr sz="2800" spc="-5" dirty="0">
                <a:latin typeface="Segoe UI"/>
                <a:cs typeface="Segoe UI"/>
              </a:rPr>
              <a:t>the model as soon as </a:t>
            </a:r>
            <a:r>
              <a:rPr sz="2800" spc="-15" dirty="0">
                <a:latin typeface="Segoe UI"/>
                <a:cs typeface="Segoe UI"/>
              </a:rPr>
              <a:t>we </a:t>
            </a:r>
            <a:r>
              <a:rPr sz="2800" spc="-20" dirty="0">
                <a:latin typeface="Segoe UI"/>
                <a:cs typeface="Segoe UI"/>
              </a:rPr>
              <a:t>make </a:t>
            </a:r>
            <a:r>
              <a:rPr sz="2800" spc="-5" dirty="0">
                <a:latin typeface="Segoe UI"/>
                <a:cs typeface="Segoe UI"/>
              </a:rPr>
              <a:t>an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error</a:t>
            </a:r>
            <a:endParaRPr sz="2800">
              <a:latin typeface="Segoe UI"/>
              <a:cs typeface="Segoe UI"/>
            </a:endParaRPr>
          </a:p>
          <a:p>
            <a:pPr marL="756285" marR="831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9F2936"/>
                </a:solidFill>
                <a:latin typeface="Segoe UI"/>
                <a:cs typeface="Segoe UI"/>
              </a:rPr>
              <a:t>As opposed </a:t>
            </a:r>
            <a:r>
              <a:rPr sz="2800" spc="-15" dirty="0">
                <a:solidFill>
                  <a:srgbClr val="9F2936"/>
                </a:solidFill>
                <a:latin typeface="Segoe UI"/>
                <a:cs typeface="Segoe UI"/>
              </a:rPr>
              <a:t>to batch </a:t>
            </a:r>
            <a:r>
              <a:rPr sz="2800" spc="-5" dirty="0">
                <a:latin typeface="Segoe UI"/>
                <a:cs typeface="Segoe UI"/>
              </a:rPr>
              <a:t>algorithms that </a:t>
            </a:r>
            <a:r>
              <a:rPr sz="2800" spc="-10" dirty="0">
                <a:latin typeface="Segoe UI"/>
                <a:cs typeface="Segoe UI"/>
              </a:rPr>
              <a:t>update  parameters </a:t>
            </a:r>
            <a:r>
              <a:rPr sz="2800" dirty="0">
                <a:latin typeface="Segoe UI"/>
                <a:cs typeface="Segoe UI"/>
              </a:rPr>
              <a:t>after </a:t>
            </a:r>
            <a:r>
              <a:rPr sz="2800" spc="-10" dirty="0">
                <a:latin typeface="Segoe UI"/>
                <a:cs typeface="Segoe UI"/>
              </a:rPr>
              <a:t>seeing </a:t>
            </a:r>
            <a:r>
              <a:rPr sz="2800" spc="-5" dirty="0">
                <a:latin typeface="Segoe UI"/>
                <a:cs typeface="Segoe UI"/>
              </a:rPr>
              <a:t>the </a:t>
            </a:r>
            <a:r>
              <a:rPr sz="2800" spc="-10" dirty="0">
                <a:latin typeface="Segoe UI"/>
                <a:cs typeface="Segoe UI"/>
              </a:rPr>
              <a:t>entire </a:t>
            </a:r>
            <a:r>
              <a:rPr sz="2800" spc="-5" dirty="0">
                <a:latin typeface="Segoe UI"/>
                <a:cs typeface="Segoe UI"/>
              </a:rPr>
              <a:t>training</a:t>
            </a:r>
            <a:r>
              <a:rPr sz="2800" spc="4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set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har char="–"/>
            </a:pPr>
            <a:endParaRPr sz="27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solidFill>
                  <a:srgbClr val="9F2936"/>
                </a:solidFill>
                <a:latin typeface="Segoe UI"/>
                <a:cs typeface="Segoe UI"/>
              </a:rPr>
              <a:t>Error-driven</a:t>
            </a:r>
            <a:endParaRPr sz="3200">
              <a:latin typeface="Segoe UI"/>
              <a:cs typeface="Segoe U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40" dirty="0">
                <a:latin typeface="Segoe UI"/>
                <a:cs typeface="Segoe UI"/>
              </a:rPr>
              <a:t>We </a:t>
            </a:r>
            <a:r>
              <a:rPr sz="2800" spc="-5" dirty="0">
                <a:latin typeface="Segoe UI"/>
                <a:cs typeface="Segoe UI"/>
              </a:rPr>
              <a:t>only </a:t>
            </a:r>
            <a:r>
              <a:rPr sz="2800" spc="-10" dirty="0">
                <a:latin typeface="Segoe UI"/>
                <a:cs typeface="Segoe UI"/>
              </a:rPr>
              <a:t>update parameters/model </a:t>
            </a:r>
            <a:r>
              <a:rPr sz="2800" spc="-5" dirty="0">
                <a:latin typeface="Segoe UI"/>
                <a:cs typeface="Segoe UI"/>
              </a:rPr>
              <a:t>if </a:t>
            </a:r>
            <a:r>
              <a:rPr sz="2800" spc="-15" dirty="0">
                <a:latin typeface="Segoe UI"/>
                <a:cs typeface="Segoe UI"/>
              </a:rPr>
              <a:t>we </a:t>
            </a:r>
            <a:r>
              <a:rPr sz="2800" spc="-20" dirty="0">
                <a:latin typeface="Segoe UI"/>
                <a:cs typeface="Segoe UI"/>
              </a:rPr>
              <a:t>make  </a:t>
            </a:r>
            <a:r>
              <a:rPr sz="2800" spc="-5" dirty="0">
                <a:latin typeface="Segoe UI"/>
                <a:cs typeface="Segoe UI"/>
              </a:rPr>
              <a:t>an </a:t>
            </a:r>
            <a:r>
              <a:rPr sz="2800" spc="-10" dirty="0">
                <a:latin typeface="Segoe UI"/>
                <a:cs typeface="Segoe UI"/>
              </a:rPr>
              <a:t>error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371" y="2121531"/>
            <a:ext cx="7355794" cy="3291736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119B4888-34C7-482C-9865-72591DAFCE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0313" y="147638"/>
            <a:ext cx="6683375" cy="13668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" marR="5080" indent="60769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Perceptron </a:t>
            </a:r>
            <a:r>
              <a:rPr spc="-5" dirty="0"/>
              <a:t>update:  geometric</a:t>
            </a:r>
            <a:r>
              <a:rPr spc="-70" dirty="0"/>
              <a:t> </a:t>
            </a:r>
            <a:r>
              <a:rPr spc="-10" dirty="0"/>
              <a:t>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997116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4" y="1897621"/>
            <a:ext cx="7681157" cy="3769877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7D62DDF5-4102-4716-B6F4-39313B140F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0313" y="147638"/>
            <a:ext cx="6683375" cy="13668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9270" marR="5080" indent="607695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Perceptron </a:t>
            </a:r>
            <a:r>
              <a:rPr spc="-5" dirty="0"/>
              <a:t>update:  geometric</a:t>
            </a:r>
            <a:r>
              <a:rPr spc="-70" dirty="0"/>
              <a:t> </a:t>
            </a:r>
            <a:r>
              <a:rPr spc="-10" dirty="0"/>
              <a:t>interpretation</a:t>
            </a:r>
          </a:p>
        </p:txBody>
      </p:sp>
    </p:spTree>
    <p:extLst>
      <p:ext uri="{BB962C8B-B14F-4D97-AF65-F5344CB8AC3E}">
        <p14:creationId xmlns:p14="http://schemas.microsoft.com/office/powerpoint/2010/main" val="4209964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8325" y="483234"/>
            <a:ext cx="54692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Practical</a:t>
            </a:r>
            <a:r>
              <a:rPr spc="-50" dirty="0"/>
              <a:t> </a:t>
            </a:r>
            <a:r>
              <a:rPr spc="-5" dirty="0"/>
              <a:t>considerations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985759" cy="48329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The </a:t>
            </a:r>
            <a:r>
              <a:rPr sz="3200" spc="-10" dirty="0">
                <a:latin typeface="Segoe UI"/>
                <a:cs typeface="Segoe UI"/>
              </a:rPr>
              <a:t>order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training </a:t>
            </a:r>
            <a:r>
              <a:rPr sz="3200" spc="5" dirty="0">
                <a:latin typeface="Segoe UI"/>
                <a:cs typeface="Segoe UI"/>
              </a:rPr>
              <a:t>examples</a:t>
            </a:r>
            <a:r>
              <a:rPr sz="320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matters!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Random </a:t>
            </a:r>
            <a:r>
              <a:rPr sz="2800" spc="-5" dirty="0">
                <a:latin typeface="Segoe UI"/>
                <a:cs typeface="Segoe UI"/>
              </a:rPr>
              <a:t>is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better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–"/>
            </a:pPr>
            <a:endParaRPr sz="36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Early</a:t>
            </a:r>
            <a:r>
              <a:rPr sz="3200" spc="-5" dirty="0">
                <a:latin typeface="Segoe UI"/>
                <a:cs typeface="Segoe UI"/>
              </a:rPr>
              <a:t> stopping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Good </a:t>
            </a:r>
            <a:r>
              <a:rPr sz="2800" spc="-10" dirty="0">
                <a:latin typeface="Segoe UI"/>
                <a:cs typeface="Segoe UI"/>
              </a:rPr>
              <a:t>strategy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avoid</a:t>
            </a:r>
            <a:r>
              <a:rPr sz="2800" spc="-35" dirty="0">
                <a:latin typeface="Segoe UI"/>
                <a:cs typeface="Segoe UI"/>
              </a:rPr>
              <a:t> </a:t>
            </a:r>
            <a:r>
              <a:rPr sz="2800" dirty="0">
                <a:latin typeface="Segoe UI"/>
                <a:cs typeface="Segoe UI"/>
              </a:rPr>
              <a:t>overfitting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"/>
              <a:buChar char="–"/>
            </a:pPr>
            <a:endParaRPr sz="36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Simple modifications dramatically </a:t>
            </a:r>
            <a:r>
              <a:rPr sz="3200" spc="-10" dirty="0">
                <a:latin typeface="Segoe UI"/>
                <a:cs typeface="Segoe UI"/>
              </a:rPr>
              <a:t>improve  </a:t>
            </a:r>
            <a:r>
              <a:rPr sz="3200" spc="5" dirty="0">
                <a:latin typeface="Segoe UI"/>
                <a:cs typeface="Segoe UI"/>
              </a:rPr>
              <a:t>performance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voting or</a:t>
            </a:r>
            <a:r>
              <a:rPr sz="2800" spc="-2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averaging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5080" indent="-29146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Standard </a:t>
            </a:r>
            <a:r>
              <a:rPr spc="-40" dirty="0"/>
              <a:t>Perceptron: </a:t>
            </a:r>
            <a:r>
              <a:rPr spc="-15" dirty="0"/>
              <a:t>predict  </a:t>
            </a:r>
            <a:r>
              <a:rPr spc="-5" dirty="0"/>
              <a:t>based on final</a:t>
            </a:r>
            <a:r>
              <a:rPr spc="-55" dirty="0"/>
              <a:t> </a:t>
            </a:r>
            <a:r>
              <a:rPr dirty="0"/>
              <a:t>parameters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579" y="2065523"/>
            <a:ext cx="6439617" cy="33273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075" marR="5080" indent="958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Predict </a:t>
            </a:r>
            <a:r>
              <a:rPr spc="-5" dirty="0"/>
              <a:t>based on final </a:t>
            </a:r>
            <a:r>
              <a:rPr dirty="0"/>
              <a:t>+  </a:t>
            </a:r>
            <a:r>
              <a:rPr spc="-5" dirty="0"/>
              <a:t>intermediate</a:t>
            </a:r>
            <a:r>
              <a:rPr spc="-40" dirty="0"/>
              <a:t> </a:t>
            </a:r>
            <a:r>
              <a:rPr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42424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The </a:t>
            </a:r>
            <a:r>
              <a:rPr sz="3200" spc="-10" dirty="0">
                <a:latin typeface="Segoe UI"/>
                <a:cs typeface="Segoe UI"/>
              </a:rPr>
              <a:t>voted</a:t>
            </a:r>
            <a:r>
              <a:rPr sz="3200" spc="-6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perceptron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378530"/>
            <a:ext cx="48774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The averaged</a:t>
            </a:r>
            <a:r>
              <a:rPr sz="3200" spc="-7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perceptron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625795"/>
            <a:ext cx="598868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54965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Segoe UI"/>
                <a:cs typeface="Segoe UI"/>
              </a:rPr>
              <a:t>Require </a:t>
            </a:r>
            <a:r>
              <a:rPr sz="2400" spc="-10" dirty="0">
                <a:latin typeface="Segoe UI"/>
                <a:cs typeface="Segoe UI"/>
              </a:rPr>
              <a:t>keeping </a:t>
            </a:r>
            <a:r>
              <a:rPr sz="2400" dirty="0">
                <a:latin typeface="Segoe UI"/>
                <a:cs typeface="Segoe UI"/>
              </a:rPr>
              <a:t>track </a:t>
            </a:r>
            <a:r>
              <a:rPr sz="2400" spc="-25" dirty="0">
                <a:latin typeface="Segoe UI"/>
                <a:cs typeface="Segoe UI"/>
              </a:rPr>
              <a:t>of </a:t>
            </a:r>
            <a:r>
              <a:rPr sz="2400" spc="-10" dirty="0">
                <a:latin typeface="Segoe UI"/>
                <a:cs typeface="Segoe UI"/>
              </a:rPr>
              <a:t>“survival </a:t>
            </a:r>
            <a:r>
              <a:rPr sz="2400" dirty="0">
                <a:latin typeface="Segoe UI"/>
                <a:cs typeface="Segoe UI"/>
              </a:rPr>
              <a:t>time” </a:t>
            </a:r>
            <a:r>
              <a:rPr sz="2400" spc="-25" dirty="0">
                <a:latin typeface="Segoe UI"/>
                <a:cs typeface="Segoe UI"/>
              </a:rPr>
              <a:t>of  </a:t>
            </a:r>
            <a:r>
              <a:rPr sz="2400" spc="-5" dirty="0">
                <a:latin typeface="Segoe UI"/>
                <a:cs typeface="Segoe UI"/>
              </a:rPr>
              <a:t>weight vectors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60" y="2133604"/>
            <a:ext cx="7254239" cy="12951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3363" y="4127390"/>
            <a:ext cx="5058681" cy="101245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00336" y="6189172"/>
            <a:ext cx="1400445" cy="3073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Averaged perceptron </a:t>
            </a:r>
            <a:r>
              <a:rPr spc="-5" dirty="0"/>
              <a:t>decision</a:t>
            </a:r>
            <a:r>
              <a:rPr spc="-60" dirty="0"/>
              <a:t> </a:t>
            </a:r>
            <a:r>
              <a:rPr spc="-5" dirty="0"/>
              <a:t>rule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775" y="4630453"/>
            <a:ext cx="6459657" cy="10717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9238" y="1813958"/>
            <a:ext cx="5058470" cy="10124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4339" y="3469588"/>
            <a:ext cx="29883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Segoe UI"/>
                <a:cs typeface="Segoe UI"/>
              </a:rPr>
              <a:t>can be </a:t>
            </a:r>
            <a:r>
              <a:rPr sz="2800" spc="-10" dirty="0">
                <a:latin typeface="Segoe UI"/>
                <a:cs typeface="Segoe UI"/>
              </a:rPr>
              <a:t>rewritten</a:t>
            </a:r>
            <a:r>
              <a:rPr sz="2800" spc="-4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as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0" marR="5080" indent="-1891664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Recap: </a:t>
            </a:r>
            <a:r>
              <a:rPr spc="-45" dirty="0"/>
              <a:t>Perceptron </a:t>
            </a:r>
            <a:r>
              <a:rPr dirty="0"/>
              <a:t>for</a:t>
            </a:r>
            <a:r>
              <a:rPr spc="-70" dirty="0"/>
              <a:t> </a:t>
            </a:r>
            <a:r>
              <a:rPr spc="40" dirty="0"/>
              <a:t>binary  </a:t>
            </a:r>
            <a:r>
              <a:rPr spc="-5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4047" y="2237358"/>
            <a:ext cx="4710430" cy="394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800" spc="-10" dirty="0">
                <a:latin typeface="Segoe UI"/>
                <a:cs typeface="Segoe UI"/>
              </a:rPr>
              <a:t>Classifier </a:t>
            </a:r>
            <a:r>
              <a:rPr sz="2800" spc="-5" dirty="0">
                <a:latin typeface="Segoe UI"/>
                <a:cs typeface="Segoe UI"/>
              </a:rPr>
              <a:t>= hyperplane that  </a:t>
            </a:r>
            <a:r>
              <a:rPr sz="2800" spc="-10" dirty="0">
                <a:latin typeface="Segoe UI"/>
                <a:cs typeface="Segoe UI"/>
              </a:rPr>
              <a:t>separates positive </a:t>
            </a:r>
            <a:r>
              <a:rPr sz="2800" spc="-15" dirty="0">
                <a:latin typeface="Segoe UI"/>
                <a:cs typeface="Segoe UI"/>
              </a:rPr>
              <a:t>from  </a:t>
            </a:r>
            <a:r>
              <a:rPr sz="2800" spc="-5" dirty="0">
                <a:latin typeface="Segoe UI"/>
                <a:cs typeface="Segoe UI"/>
              </a:rPr>
              <a:t>negative</a:t>
            </a:r>
            <a:r>
              <a:rPr sz="2800" spc="-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examples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600">
              <a:latin typeface="Segoe UI"/>
              <a:cs typeface="Segoe UI"/>
            </a:endParaRPr>
          </a:p>
          <a:p>
            <a:pPr marL="862330">
              <a:lnSpc>
                <a:spcPct val="100000"/>
              </a:lnSpc>
            </a:pPr>
            <a:r>
              <a:rPr sz="2400" spc="-1019" dirty="0">
                <a:latin typeface="Cambria Math"/>
                <a:cs typeface="Cambria Math"/>
              </a:rPr>
              <a:t>𝑦</a:t>
            </a:r>
            <a:r>
              <a:rPr sz="2400" spc="117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 </a:t>
            </a:r>
            <a:r>
              <a:rPr sz="2400" spc="45" dirty="0">
                <a:latin typeface="Cambria Math"/>
                <a:cs typeface="Cambria Math"/>
              </a:rPr>
              <a:t>𝑠𝑖𝑔𝑛(𝑤</a:t>
            </a:r>
            <a:r>
              <a:rPr sz="2625" spc="67" baseline="28571" dirty="0">
                <a:latin typeface="Cambria Math"/>
                <a:cs typeface="Cambria Math"/>
              </a:rPr>
              <a:t>𝑇</a:t>
            </a:r>
            <a:r>
              <a:rPr sz="2400" spc="45" dirty="0">
                <a:latin typeface="Cambria Math"/>
                <a:cs typeface="Cambria Math"/>
              </a:rPr>
              <a:t>𝑥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150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𝑏)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Cambria Math"/>
              <a:cs typeface="Cambria Math"/>
            </a:endParaRPr>
          </a:p>
          <a:p>
            <a:pPr marL="381000" indent="-342900">
              <a:lnSpc>
                <a:spcPct val="100000"/>
              </a:lnSpc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800" spc="-25" dirty="0">
                <a:latin typeface="Segoe UI"/>
                <a:cs typeface="Segoe UI"/>
              </a:rPr>
              <a:t>Perceptron</a:t>
            </a:r>
            <a:r>
              <a:rPr sz="2800" spc="-5" dirty="0">
                <a:latin typeface="Segoe UI"/>
                <a:cs typeface="Segoe UI"/>
              </a:rPr>
              <a:t> training</a:t>
            </a:r>
            <a:endParaRPr sz="2800">
              <a:latin typeface="Segoe UI"/>
              <a:cs typeface="Segoe UI"/>
            </a:endParaRPr>
          </a:p>
          <a:p>
            <a:pPr marL="7816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82320" algn="l"/>
              </a:tabLst>
            </a:pPr>
            <a:r>
              <a:rPr sz="2400" spc="-5" dirty="0">
                <a:latin typeface="Segoe UI"/>
                <a:cs typeface="Segoe UI"/>
              </a:rPr>
              <a:t>Finds such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hyperplane</a:t>
            </a:r>
            <a:endParaRPr sz="2400">
              <a:latin typeface="Segoe UI"/>
              <a:cs typeface="Segoe UI"/>
            </a:endParaRPr>
          </a:p>
          <a:p>
            <a:pPr marL="7816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82320" algn="l"/>
              </a:tabLst>
            </a:pPr>
            <a:r>
              <a:rPr sz="2400" spc="-5" dirty="0">
                <a:latin typeface="Segoe UI"/>
                <a:cs typeface="Segoe UI"/>
              </a:rPr>
              <a:t>Online </a:t>
            </a:r>
            <a:r>
              <a:rPr sz="2400" dirty="0">
                <a:latin typeface="Segoe UI"/>
                <a:cs typeface="Segoe UI"/>
              </a:rPr>
              <a:t>&amp;</a:t>
            </a:r>
            <a:r>
              <a:rPr sz="2400" spc="3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error-driven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048" y="2414574"/>
            <a:ext cx="2862702" cy="288744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5080" indent="-291465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Standard </a:t>
            </a:r>
            <a:r>
              <a:rPr spc="-40" dirty="0"/>
              <a:t>Perceptron: </a:t>
            </a:r>
            <a:r>
              <a:rPr spc="-15" dirty="0"/>
              <a:t>predict  </a:t>
            </a:r>
            <a:r>
              <a:rPr spc="-5" dirty="0"/>
              <a:t>based on final</a:t>
            </a:r>
            <a:r>
              <a:rPr spc="-55" dirty="0"/>
              <a:t> </a:t>
            </a:r>
            <a:r>
              <a:rPr dirty="0"/>
              <a:t>parameters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8665" y="2063498"/>
            <a:ext cx="6439566" cy="33284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353182"/>
            <a:ext cx="7360284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latin typeface="Segoe UI"/>
                <a:cs typeface="Segoe UI"/>
              </a:rPr>
              <a:t>Can </a:t>
            </a:r>
            <a:r>
              <a:rPr sz="4000" b="0" spc="-5" dirty="0">
                <a:latin typeface="Segoe UI"/>
                <a:cs typeface="Segoe UI"/>
              </a:rPr>
              <a:t>the </a:t>
            </a:r>
            <a:r>
              <a:rPr sz="4000" b="0" spc="-15" dirty="0">
                <a:latin typeface="Segoe UI"/>
                <a:cs typeface="Segoe UI"/>
              </a:rPr>
              <a:t>perceptron </a:t>
            </a:r>
            <a:r>
              <a:rPr sz="4000" b="0" spc="-10" dirty="0">
                <a:latin typeface="Segoe UI"/>
                <a:cs typeface="Segoe UI"/>
              </a:rPr>
              <a:t>always </a:t>
            </a:r>
            <a:r>
              <a:rPr sz="4000" b="0" spc="-5" dirty="0">
                <a:latin typeface="Segoe UI"/>
                <a:cs typeface="Segoe UI"/>
              </a:rPr>
              <a:t>find a  hyperplane </a:t>
            </a:r>
            <a:r>
              <a:rPr sz="4000" b="0" spc="-20" dirty="0">
                <a:latin typeface="Segoe UI"/>
                <a:cs typeface="Segoe UI"/>
              </a:rPr>
              <a:t>to separate </a:t>
            </a:r>
            <a:r>
              <a:rPr sz="4000" b="0" spc="-5" dirty="0">
                <a:latin typeface="Segoe UI"/>
                <a:cs typeface="Segoe UI"/>
              </a:rPr>
              <a:t>positive  </a:t>
            </a:r>
            <a:r>
              <a:rPr sz="4000" b="0" spc="-15" dirty="0">
                <a:latin typeface="Segoe UI"/>
                <a:cs typeface="Segoe UI"/>
              </a:rPr>
              <a:t>from </a:t>
            </a:r>
            <a:r>
              <a:rPr sz="4000" b="0" spc="-5" dirty="0">
                <a:latin typeface="Segoe UI"/>
                <a:cs typeface="Segoe UI"/>
              </a:rPr>
              <a:t>negative examples?</a:t>
            </a:r>
            <a:endParaRPr sz="4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980" y="483234"/>
            <a:ext cx="64008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Convergence </a:t>
            </a:r>
            <a:r>
              <a:rPr spc="-60" dirty="0"/>
              <a:t>of</a:t>
            </a:r>
            <a:r>
              <a:rPr spc="-40" dirty="0"/>
              <a:t> </a:t>
            </a:r>
            <a:r>
              <a:rPr spc="-45" dirty="0"/>
              <a:t>Perceptron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8009890" cy="4014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2641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The </a:t>
            </a:r>
            <a:r>
              <a:rPr sz="3200" spc="-5" dirty="0">
                <a:latin typeface="Segoe UI"/>
                <a:cs typeface="Segoe UI"/>
              </a:rPr>
              <a:t>perceptron </a:t>
            </a:r>
            <a:r>
              <a:rPr sz="3200" dirty="0">
                <a:latin typeface="Segoe UI"/>
                <a:cs typeface="Segoe UI"/>
              </a:rPr>
              <a:t>has </a:t>
            </a:r>
            <a:r>
              <a:rPr sz="3200" spc="-5" dirty="0">
                <a:latin typeface="Segoe UI"/>
                <a:cs typeface="Segoe UI"/>
              </a:rPr>
              <a:t>converged if it </a:t>
            </a:r>
            <a:r>
              <a:rPr sz="3200" dirty="0">
                <a:latin typeface="Segoe UI"/>
                <a:cs typeface="Segoe UI"/>
              </a:rPr>
              <a:t>can  </a:t>
            </a:r>
            <a:r>
              <a:rPr sz="3200" spc="5" dirty="0">
                <a:latin typeface="Segoe UI"/>
                <a:cs typeface="Segoe UI"/>
              </a:rPr>
              <a:t>classify </a:t>
            </a:r>
            <a:r>
              <a:rPr sz="3200" spc="25" dirty="0">
                <a:latin typeface="Segoe UI"/>
                <a:cs typeface="Segoe UI"/>
              </a:rPr>
              <a:t>every </a:t>
            </a:r>
            <a:r>
              <a:rPr sz="3200" dirty="0">
                <a:latin typeface="Segoe UI"/>
                <a:cs typeface="Segoe UI"/>
              </a:rPr>
              <a:t>training example</a:t>
            </a:r>
            <a:r>
              <a:rPr sz="3200" spc="-8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correctly</a:t>
            </a:r>
            <a:endParaRPr sz="3200">
              <a:latin typeface="Segoe UI"/>
              <a:cs typeface="Segoe UI"/>
            </a:endParaRPr>
          </a:p>
          <a:p>
            <a:pPr marL="756285" marR="272415" indent="-287020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5" dirty="0">
                <a:latin typeface="Segoe UI"/>
                <a:cs typeface="Segoe UI"/>
              </a:rPr>
              <a:t>i.e. if it has found a hyperplane that </a:t>
            </a:r>
            <a:r>
              <a:rPr sz="2800" spc="-10" dirty="0">
                <a:latin typeface="Segoe UI"/>
                <a:cs typeface="Segoe UI"/>
              </a:rPr>
              <a:t>correctly  separates positive </a:t>
            </a:r>
            <a:r>
              <a:rPr sz="2800" spc="-5" dirty="0">
                <a:latin typeface="Segoe UI"/>
                <a:cs typeface="Segoe UI"/>
              </a:rPr>
              <a:t>and negative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examples</a:t>
            </a:r>
            <a:endParaRPr sz="2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Under </a:t>
            </a:r>
            <a:r>
              <a:rPr sz="3200" dirty="0">
                <a:latin typeface="Segoe UI"/>
                <a:cs typeface="Segoe UI"/>
              </a:rPr>
              <a:t>which conditions does the  </a:t>
            </a:r>
            <a:r>
              <a:rPr sz="3200" spc="-5" dirty="0">
                <a:latin typeface="Segoe UI"/>
                <a:cs typeface="Segoe UI"/>
              </a:rPr>
              <a:t>perceptron converge </a:t>
            </a:r>
            <a:r>
              <a:rPr sz="3200" dirty="0">
                <a:latin typeface="Segoe UI"/>
                <a:cs typeface="Segoe UI"/>
              </a:rPr>
              <a:t>and how </a:t>
            </a:r>
            <a:r>
              <a:rPr sz="3200" spc="-5" dirty="0">
                <a:latin typeface="Segoe UI"/>
                <a:cs typeface="Segoe UI"/>
              </a:rPr>
              <a:t>long does it  </a:t>
            </a:r>
            <a:r>
              <a:rPr sz="3200" spc="-10" dirty="0">
                <a:latin typeface="Segoe UI"/>
                <a:cs typeface="Segoe UI"/>
              </a:rPr>
              <a:t>take?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980" y="483234"/>
            <a:ext cx="64008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Convergence </a:t>
            </a:r>
            <a:r>
              <a:rPr spc="-60" dirty="0"/>
              <a:t>of</a:t>
            </a:r>
            <a:r>
              <a:rPr spc="-40" dirty="0"/>
              <a:t> </a:t>
            </a:r>
            <a:r>
              <a:rPr spc="-45" dirty="0"/>
              <a:t>Perceptron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1" y="1786407"/>
            <a:ext cx="7571307" cy="40396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5673" y="483234"/>
            <a:ext cx="52330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Margin </a:t>
            </a:r>
            <a:r>
              <a:rPr spc="-60" dirty="0"/>
              <a:t>of </a:t>
            </a:r>
            <a:r>
              <a:rPr dirty="0"/>
              <a:t>a </a:t>
            </a:r>
            <a:r>
              <a:rPr spc="-5" dirty="0"/>
              <a:t>data </a:t>
            </a:r>
            <a:r>
              <a:rPr spc="-10" dirty="0"/>
              <a:t>set</a:t>
            </a:r>
            <a:r>
              <a:rPr spc="-25" dirty="0"/>
              <a:t> </a:t>
            </a:r>
            <a:r>
              <a:rPr i="1" dirty="0">
                <a:latin typeface="Segoe UI Light"/>
                <a:cs typeface="Segoe UI Light"/>
              </a:rPr>
              <a:t>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2083" y="2355113"/>
            <a:ext cx="7820025" cy="1936750"/>
            <a:chOff x="672083" y="2355113"/>
            <a:chExt cx="7820025" cy="1936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650" y="2355113"/>
              <a:ext cx="7641046" cy="7452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5037" y="2963037"/>
              <a:ext cx="2592705" cy="1315720"/>
            </a:xfrm>
            <a:custGeom>
              <a:avLst/>
              <a:gdLst/>
              <a:ahLst/>
              <a:cxnLst/>
              <a:rect l="l" t="t" r="r" b="b"/>
              <a:pathLst>
                <a:path w="2592704" h="1315720">
                  <a:moveTo>
                    <a:pt x="2443480" y="422528"/>
                  </a:moveTo>
                  <a:lnTo>
                    <a:pt x="148844" y="422528"/>
                  </a:lnTo>
                  <a:lnTo>
                    <a:pt x="101796" y="430120"/>
                  </a:lnTo>
                  <a:lnTo>
                    <a:pt x="60937" y="451257"/>
                  </a:lnTo>
                  <a:lnTo>
                    <a:pt x="28717" y="483482"/>
                  </a:lnTo>
                  <a:lnTo>
                    <a:pt x="7587" y="524340"/>
                  </a:lnTo>
                  <a:lnTo>
                    <a:pt x="0" y="571373"/>
                  </a:lnTo>
                  <a:lnTo>
                    <a:pt x="0" y="1166749"/>
                  </a:lnTo>
                  <a:lnTo>
                    <a:pt x="7587" y="1213781"/>
                  </a:lnTo>
                  <a:lnTo>
                    <a:pt x="28717" y="1254639"/>
                  </a:lnTo>
                  <a:lnTo>
                    <a:pt x="60937" y="1286864"/>
                  </a:lnTo>
                  <a:lnTo>
                    <a:pt x="101796" y="1308001"/>
                  </a:lnTo>
                  <a:lnTo>
                    <a:pt x="148844" y="1315593"/>
                  </a:lnTo>
                  <a:lnTo>
                    <a:pt x="2443480" y="1315593"/>
                  </a:lnTo>
                  <a:lnTo>
                    <a:pt x="2490512" y="1308001"/>
                  </a:lnTo>
                  <a:lnTo>
                    <a:pt x="2531370" y="1286864"/>
                  </a:lnTo>
                  <a:lnTo>
                    <a:pt x="2563595" y="1254639"/>
                  </a:lnTo>
                  <a:lnTo>
                    <a:pt x="2584732" y="1213781"/>
                  </a:lnTo>
                  <a:lnTo>
                    <a:pt x="2592324" y="1166749"/>
                  </a:lnTo>
                  <a:lnTo>
                    <a:pt x="2592324" y="571373"/>
                  </a:lnTo>
                  <a:lnTo>
                    <a:pt x="2584732" y="524340"/>
                  </a:lnTo>
                  <a:lnTo>
                    <a:pt x="2563595" y="483482"/>
                  </a:lnTo>
                  <a:lnTo>
                    <a:pt x="2531370" y="451257"/>
                  </a:lnTo>
                  <a:lnTo>
                    <a:pt x="2490512" y="430120"/>
                  </a:lnTo>
                  <a:lnTo>
                    <a:pt x="2443480" y="422528"/>
                  </a:lnTo>
                  <a:close/>
                </a:path>
                <a:path w="2592704" h="1315720">
                  <a:moveTo>
                    <a:pt x="1003807" y="0"/>
                  </a:moveTo>
                  <a:lnTo>
                    <a:pt x="432053" y="422528"/>
                  </a:lnTo>
                  <a:lnTo>
                    <a:pt x="1080135" y="422528"/>
                  </a:lnTo>
                  <a:lnTo>
                    <a:pt x="10038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037" y="2963037"/>
              <a:ext cx="2592705" cy="1315720"/>
            </a:xfrm>
            <a:custGeom>
              <a:avLst/>
              <a:gdLst/>
              <a:ahLst/>
              <a:cxnLst/>
              <a:rect l="l" t="t" r="r" b="b"/>
              <a:pathLst>
                <a:path w="2592704" h="1315720">
                  <a:moveTo>
                    <a:pt x="0" y="571373"/>
                  </a:moveTo>
                  <a:lnTo>
                    <a:pt x="7587" y="524340"/>
                  </a:lnTo>
                  <a:lnTo>
                    <a:pt x="28717" y="483482"/>
                  </a:lnTo>
                  <a:lnTo>
                    <a:pt x="60937" y="451257"/>
                  </a:lnTo>
                  <a:lnTo>
                    <a:pt x="101796" y="430120"/>
                  </a:lnTo>
                  <a:lnTo>
                    <a:pt x="148844" y="422528"/>
                  </a:lnTo>
                  <a:lnTo>
                    <a:pt x="432053" y="422528"/>
                  </a:lnTo>
                  <a:lnTo>
                    <a:pt x="1003807" y="0"/>
                  </a:lnTo>
                  <a:lnTo>
                    <a:pt x="1080135" y="422528"/>
                  </a:lnTo>
                  <a:lnTo>
                    <a:pt x="2443480" y="422528"/>
                  </a:lnTo>
                  <a:lnTo>
                    <a:pt x="2490512" y="430120"/>
                  </a:lnTo>
                  <a:lnTo>
                    <a:pt x="2531370" y="451257"/>
                  </a:lnTo>
                  <a:lnTo>
                    <a:pt x="2563595" y="483482"/>
                  </a:lnTo>
                  <a:lnTo>
                    <a:pt x="2584732" y="524340"/>
                  </a:lnTo>
                  <a:lnTo>
                    <a:pt x="2592324" y="571373"/>
                  </a:lnTo>
                  <a:lnTo>
                    <a:pt x="2592324" y="794638"/>
                  </a:lnTo>
                  <a:lnTo>
                    <a:pt x="2592324" y="1166749"/>
                  </a:lnTo>
                  <a:lnTo>
                    <a:pt x="2584732" y="1213781"/>
                  </a:lnTo>
                  <a:lnTo>
                    <a:pt x="2563595" y="1254639"/>
                  </a:lnTo>
                  <a:lnTo>
                    <a:pt x="2531370" y="1286864"/>
                  </a:lnTo>
                  <a:lnTo>
                    <a:pt x="2490512" y="1308001"/>
                  </a:lnTo>
                  <a:lnTo>
                    <a:pt x="2443480" y="1315593"/>
                  </a:lnTo>
                  <a:lnTo>
                    <a:pt x="1080135" y="1315593"/>
                  </a:lnTo>
                  <a:lnTo>
                    <a:pt x="432053" y="1315593"/>
                  </a:lnTo>
                  <a:lnTo>
                    <a:pt x="148844" y="1315593"/>
                  </a:lnTo>
                  <a:lnTo>
                    <a:pt x="101796" y="1308001"/>
                  </a:lnTo>
                  <a:lnTo>
                    <a:pt x="60937" y="1286864"/>
                  </a:lnTo>
                  <a:lnTo>
                    <a:pt x="28717" y="1254639"/>
                  </a:lnTo>
                  <a:lnTo>
                    <a:pt x="7587" y="1213781"/>
                  </a:lnTo>
                  <a:lnTo>
                    <a:pt x="0" y="1166749"/>
                  </a:lnTo>
                  <a:lnTo>
                    <a:pt x="0" y="794638"/>
                  </a:lnTo>
                  <a:lnTo>
                    <a:pt x="0" y="571373"/>
                  </a:lnTo>
                  <a:close/>
                </a:path>
              </a:pathLst>
            </a:custGeom>
            <a:ln w="25907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98931" y="4834821"/>
            <a:ext cx="7996555" cy="1704975"/>
            <a:chOff x="598931" y="4834821"/>
            <a:chExt cx="7996555" cy="170497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289" y="4834821"/>
              <a:ext cx="7716173" cy="4946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1885" y="5208651"/>
              <a:ext cx="2592705" cy="1318260"/>
            </a:xfrm>
            <a:custGeom>
              <a:avLst/>
              <a:gdLst/>
              <a:ahLst/>
              <a:cxnLst/>
              <a:rect l="l" t="t" r="r" b="b"/>
              <a:pathLst>
                <a:path w="2592705" h="1318259">
                  <a:moveTo>
                    <a:pt x="2443226" y="423291"/>
                  </a:moveTo>
                  <a:lnTo>
                    <a:pt x="149098" y="423291"/>
                  </a:lnTo>
                  <a:lnTo>
                    <a:pt x="101970" y="430891"/>
                  </a:lnTo>
                  <a:lnTo>
                    <a:pt x="61041" y="452057"/>
                  </a:lnTo>
                  <a:lnTo>
                    <a:pt x="28766" y="484332"/>
                  </a:lnTo>
                  <a:lnTo>
                    <a:pt x="7600" y="525261"/>
                  </a:lnTo>
                  <a:lnTo>
                    <a:pt x="0" y="572389"/>
                  </a:lnTo>
                  <a:lnTo>
                    <a:pt x="0" y="1168781"/>
                  </a:lnTo>
                  <a:lnTo>
                    <a:pt x="7600" y="1215908"/>
                  </a:lnTo>
                  <a:lnTo>
                    <a:pt x="28766" y="1256837"/>
                  </a:lnTo>
                  <a:lnTo>
                    <a:pt x="61041" y="1289112"/>
                  </a:lnTo>
                  <a:lnTo>
                    <a:pt x="101970" y="1310278"/>
                  </a:lnTo>
                  <a:lnTo>
                    <a:pt x="149098" y="1317879"/>
                  </a:lnTo>
                  <a:lnTo>
                    <a:pt x="2443226" y="1317879"/>
                  </a:lnTo>
                  <a:lnTo>
                    <a:pt x="2490333" y="1310278"/>
                  </a:lnTo>
                  <a:lnTo>
                    <a:pt x="2531260" y="1289112"/>
                  </a:lnTo>
                  <a:lnTo>
                    <a:pt x="2563542" y="1256837"/>
                  </a:lnTo>
                  <a:lnTo>
                    <a:pt x="2584718" y="1215908"/>
                  </a:lnTo>
                  <a:lnTo>
                    <a:pt x="2592324" y="1168781"/>
                  </a:lnTo>
                  <a:lnTo>
                    <a:pt x="2592324" y="572389"/>
                  </a:lnTo>
                  <a:lnTo>
                    <a:pt x="2584718" y="525261"/>
                  </a:lnTo>
                  <a:lnTo>
                    <a:pt x="2563542" y="484332"/>
                  </a:lnTo>
                  <a:lnTo>
                    <a:pt x="2531260" y="452057"/>
                  </a:lnTo>
                  <a:lnTo>
                    <a:pt x="2490333" y="430891"/>
                  </a:lnTo>
                  <a:lnTo>
                    <a:pt x="2443226" y="423291"/>
                  </a:lnTo>
                  <a:close/>
                </a:path>
                <a:path w="2592705" h="1318259">
                  <a:moveTo>
                    <a:pt x="1003807" y="0"/>
                  </a:moveTo>
                  <a:lnTo>
                    <a:pt x="432054" y="423291"/>
                  </a:lnTo>
                  <a:lnTo>
                    <a:pt x="1080134" y="423291"/>
                  </a:lnTo>
                  <a:lnTo>
                    <a:pt x="10038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1885" y="5208651"/>
              <a:ext cx="2592705" cy="1318260"/>
            </a:xfrm>
            <a:custGeom>
              <a:avLst/>
              <a:gdLst/>
              <a:ahLst/>
              <a:cxnLst/>
              <a:rect l="l" t="t" r="r" b="b"/>
              <a:pathLst>
                <a:path w="2592705" h="1318259">
                  <a:moveTo>
                    <a:pt x="0" y="572389"/>
                  </a:moveTo>
                  <a:lnTo>
                    <a:pt x="7600" y="525261"/>
                  </a:lnTo>
                  <a:lnTo>
                    <a:pt x="28766" y="484332"/>
                  </a:lnTo>
                  <a:lnTo>
                    <a:pt x="61041" y="452057"/>
                  </a:lnTo>
                  <a:lnTo>
                    <a:pt x="101970" y="430891"/>
                  </a:lnTo>
                  <a:lnTo>
                    <a:pt x="149098" y="423291"/>
                  </a:lnTo>
                  <a:lnTo>
                    <a:pt x="432054" y="423291"/>
                  </a:lnTo>
                  <a:lnTo>
                    <a:pt x="1003807" y="0"/>
                  </a:lnTo>
                  <a:lnTo>
                    <a:pt x="1080134" y="423291"/>
                  </a:lnTo>
                  <a:lnTo>
                    <a:pt x="2443226" y="423291"/>
                  </a:lnTo>
                  <a:lnTo>
                    <a:pt x="2490333" y="430891"/>
                  </a:lnTo>
                  <a:lnTo>
                    <a:pt x="2531260" y="452057"/>
                  </a:lnTo>
                  <a:lnTo>
                    <a:pt x="2563542" y="484332"/>
                  </a:lnTo>
                  <a:lnTo>
                    <a:pt x="2584718" y="525261"/>
                  </a:lnTo>
                  <a:lnTo>
                    <a:pt x="2592324" y="572389"/>
                  </a:lnTo>
                  <a:lnTo>
                    <a:pt x="2592324" y="796036"/>
                  </a:lnTo>
                  <a:lnTo>
                    <a:pt x="2592324" y="1168781"/>
                  </a:lnTo>
                  <a:lnTo>
                    <a:pt x="2584718" y="1215908"/>
                  </a:lnTo>
                  <a:lnTo>
                    <a:pt x="2563542" y="1256837"/>
                  </a:lnTo>
                  <a:lnTo>
                    <a:pt x="2531260" y="1289112"/>
                  </a:lnTo>
                  <a:lnTo>
                    <a:pt x="2490333" y="1310278"/>
                  </a:lnTo>
                  <a:lnTo>
                    <a:pt x="2443226" y="1317879"/>
                  </a:lnTo>
                  <a:lnTo>
                    <a:pt x="1080134" y="1317879"/>
                  </a:lnTo>
                  <a:lnTo>
                    <a:pt x="432054" y="1317879"/>
                  </a:lnTo>
                  <a:lnTo>
                    <a:pt x="149098" y="1317879"/>
                  </a:lnTo>
                  <a:lnTo>
                    <a:pt x="101970" y="1310278"/>
                  </a:lnTo>
                  <a:lnTo>
                    <a:pt x="61041" y="1289112"/>
                  </a:lnTo>
                  <a:lnTo>
                    <a:pt x="28766" y="1256837"/>
                  </a:lnTo>
                  <a:lnTo>
                    <a:pt x="7600" y="1215908"/>
                  </a:lnTo>
                  <a:lnTo>
                    <a:pt x="0" y="1168781"/>
                  </a:lnTo>
                  <a:lnTo>
                    <a:pt x="0" y="796036"/>
                  </a:lnTo>
                  <a:lnTo>
                    <a:pt x="0" y="572389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1382" y="3392804"/>
            <a:ext cx="20554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Distance </a:t>
            </a:r>
            <a:r>
              <a:rPr sz="1800" spc="-5" dirty="0">
                <a:latin typeface="Calibri"/>
                <a:cs typeface="Calibri"/>
              </a:rPr>
              <a:t>between </a:t>
            </a:r>
            <a:r>
              <a:rPr sz="1800" dirty="0">
                <a:latin typeface="Calibri"/>
                <a:cs typeface="Calibri"/>
              </a:rPr>
              <a:t>the  </a:t>
            </a:r>
            <a:r>
              <a:rPr sz="1800" spc="-5" dirty="0">
                <a:latin typeface="Calibri"/>
                <a:cs typeface="Calibri"/>
              </a:rPr>
              <a:t>hyperplane </a:t>
            </a:r>
            <a:r>
              <a:rPr sz="1800" spc="-35" dirty="0">
                <a:latin typeface="Calibri"/>
                <a:cs typeface="Calibri"/>
              </a:rPr>
              <a:t>(w,b) </a:t>
            </a:r>
            <a:r>
              <a:rPr sz="1800" dirty="0">
                <a:latin typeface="Calibri"/>
                <a:cs typeface="Calibri"/>
              </a:rPr>
              <a:t>and  the </a:t>
            </a:r>
            <a:r>
              <a:rPr sz="1800" spc="-10" dirty="0">
                <a:latin typeface="Calibri"/>
                <a:cs typeface="Calibri"/>
              </a:rPr>
              <a:t>nearest point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9949" y="5777585"/>
            <a:ext cx="1675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Largest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attainable  </a:t>
            </a:r>
            <a:r>
              <a:rPr sz="1800" spc="-5" dirty="0">
                <a:latin typeface="Calibri"/>
                <a:cs typeface="Calibri"/>
              </a:rPr>
              <a:t>margin 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535824-215E-4041-84A0-4294846EBB60}"/>
              </a:ext>
            </a:extLst>
          </p:cNvPr>
          <p:cNvGrpSpPr/>
          <p:nvPr/>
        </p:nvGrpSpPr>
        <p:grpSpPr>
          <a:xfrm>
            <a:off x="990600" y="5715000"/>
            <a:ext cx="7391400" cy="866685"/>
            <a:chOff x="1143000" y="4984441"/>
            <a:chExt cx="7391400" cy="86668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40FAA70-4A96-4678-A8FB-F5F6DB0C51A8}"/>
                </a:ext>
              </a:extLst>
            </p:cNvPr>
            <p:cNvSpPr txBox="1"/>
            <p:nvPr/>
          </p:nvSpPr>
          <p:spPr>
            <a:xfrm>
              <a:off x="1164400" y="4984441"/>
              <a:ext cx="2484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From (1) we get that: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AAFB45A-DF7C-4504-BF92-D3B66333F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0913" y="5060641"/>
              <a:ext cx="834887" cy="35780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77A72A-F9EC-4945-9A4B-D226326C6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5739" y="5105400"/>
              <a:ext cx="675861" cy="28823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819E6D-7649-4E73-825C-2A3C691E33F5}"/>
                </a:ext>
              </a:extLst>
            </p:cNvPr>
            <p:cNvSpPr txBox="1"/>
            <p:nvPr/>
          </p:nvSpPr>
          <p:spPr>
            <a:xfrm>
              <a:off x="5288281" y="4984441"/>
              <a:ext cx="3246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because         has a unit norm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4D5F471-0314-4EF0-B2EA-A4D3FAD04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4600" y="5087145"/>
              <a:ext cx="357809" cy="27829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4A2DE0-B3D9-4222-A91F-0E10A3853D6D}"/>
                </a:ext>
              </a:extLst>
            </p:cNvPr>
            <p:cNvSpPr txBox="1"/>
            <p:nvPr/>
          </p:nvSpPr>
          <p:spPr>
            <a:xfrm>
              <a:off x="1143000" y="5346331"/>
              <a:ext cx="3627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Combining this with (2) leads to: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11F3578-4405-41DF-A391-F59159D52FD3}"/>
                    </a:ext>
                  </a:extLst>
                </p:cNvPr>
                <p:cNvSpPr txBox="1"/>
                <p:nvPr/>
              </p:nvSpPr>
              <p:spPr>
                <a:xfrm>
                  <a:off x="4648200" y="5289241"/>
                  <a:ext cx="771365" cy="5618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baseline="300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b="0" i="1" baseline="3000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11F3578-4405-41DF-A391-F59159D52F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8200" y="5289241"/>
                  <a:ext cx="771365" cy="56188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9268" y="371901"/>
            <a:ext cx="8851900" cy="6239510"/>
            <a:chOff x="239268" y="371901"/>
            <a:chExt cx="8851900" cy="6239510"/>
          </a:xfrm>
        </p:grpSpPr>
        <p:sp>
          <p:nvSpPr>
            <p:cNvPr id="3" name="object 3"/>
            <p:cNvSpPr/>
            <p:nvPr/>
          </p:nvSpPr>
          <p:spPr>
            <a:xfrm>
              <a:off x="252222" y="2710434"/>
              <a:ext cx="8825865" cy="3888104"/>
            </a:xfrm>
            <a:custGeom>
              <a:avLst/>
              <a:gdLst/>
              <a:ahLst/>
              <a:cxnLst/>
              <a:rect l="l" t="t" r="r" b="b"/>
              <a:pathLst>
                <a:path w="8825865" h="3888104">
                  <a:moveTo>
                    <a:pt x="8177530" y="0"/>
                  </a:moveTo>
                  <a:lnTo>
                    <a:pt x="647966" y="0"/>
                  </a:lnTo>
                  <a:lnTo>
                    <a:pt x="599608" y="1777"/>
                  </a:lnTo>
                  <a:lnTo>
                    <a:pt x="552215" y="7024"/>
                  </a:lnTo>
                  <a:lnTo>
                    <a:pt x="505912" y="15617"/>
                  </a:lnTo>
                  <a:lnTo>
                    <a:pt x="460825" y="27431"/>
                  </a:lnTo>
                  <a:lnTo>
                    <a:pt x="417080" y="42339"/>
                  </a:lnTo>
                  <a:lnTo>
                    <a:pt x="374800" y="60217"/>
                  </a:lnTo>
                  <a:lnTo>
                    <a:pt x="334113" y="80939"/>
                  </a:lnTo>
                  <a:lnTo>
                    <a:pt x="295142" y="104381"/>
                  </a:lnTo>
                  <a:lnTo>
                    <a:pt x="258014" y="130417"/>
                  </a:lnTo>
                  <a:lnTo>
                    <a:pt x="222853" y="158921"/>
                  </a:lnTo>
                  <a:lnTo>
                    <a:pt x="189785" y="189769"/>
                  </a:lnTo>
                  <a:lnTo>
                    <a:pt x="158935" y="222836"/>
                  </a:lnTo>
                  <a:lnTo>
                    <a:pt x="130429" y="257995"/>
                  </a:lnTo>
                  <a:lnTo>
                    <a:pt x="104391" y="295122"/>
                  </a:lnTo>
                  <a:lnTo>
                    <a:pt x="80948" y="334092"/>
                  </a:lnTo>
                  <a:lnTo>
                    <a:pt x="60223" y="374779"/>
                  </a:lnTo>
                  <a:lnTo>
                    <a:pt x="42344" y="417058"/>
                  </a:lnTo>
                  <a:lnTo>
                    <a:pt x="27434" y="460805"/>
                  </a:lnTo>
                  <a:lnTo>
                    <a:pt x="15619" y="505892"/>
                  </a:lnTo>
                  <a:lnTo>
                    <a:pt x="7025" y="552197"/>
                  </a:lnTo>
                  <a:lnTo>
                    <a:pt x="1777" y="599592"/>
                  </a:lnTo>
                  <a:lnTo>
                    <a:pt x="0" y="647953"/>
                  </a:lnTo>
                  <a:lnTo>
                    <a:pt x="0" y="3239757"/>
                  </a:lnTo>
                  <a:lnTo>
                    <a:pt x="1777" y="3288115"/>
                  </a:lnTo>
                  <a:lnTo>
                    <a:pt x="7025" y="3335508"/>
                  </a:lnTo>
                  <a:lnTo>
                    <a:pt x="15619" y="3381811"/>
                  </a:lnTo>
                  <a:lnTo>
                    <a:pt x="27434" y="3426898"/>
                  </a:lnTo>
                  <a:lnTo>
                    <a:pt x="42344" y="3470643"/>
                  </a:lnTo>
                  <a:lnTo>
                    <a:pt x="60223" y="3512923"/>
                  </a:lnTo>
                  <a:lnTo>
                    <a:pt x="80948" y="3553610"/>
                  </a:lnTo>
                  <a:lnTo>
                    <a:pt x="104391" y="3592581"/>
                  </a:lnTo>
                  <a:lnTo>
                    <a:pt x="130429" y="3629709"/>
                  </a:lnTo>
                  <a:lnTo>
                    <a:pt x="158935" y="3664870"/>
                  </a:lnTo>
                  <a:lnTo>
                    <a:pt x="189785" y="3697938"/>
                  </a:lnTo>
                  <a:lnTo>
                    <a:pt x="222853" y="3728788"/>
                  </a:lnTo>
                  <a:lnTo>
                    <a:pt x="258014" y="3757294"/>
                  </a:lnTo>
                  <a:lnTo>
                    <a:pt x="295142" y="3783332"/>
                  </a:lnTo>
                  <a:lnTo>
                    <a:pt x="334113" y="3806775"/>
                  </a:lnTo>
                  <a:lnTo>
                    <a:pt x="374800" y="3827500"/>
                  </a:lnTo>
                  <a:lnTo>
                    <a:pt x="417080" y="3845379"/>
                  </a:lnTo>
                  <a:lnTo>
                    <a:pt x="460825" y="3860289"/>
                  </a:lnTo>
                  <a:lnTo>
                    <a:pt x="505912" y="3872104"/>
                  </a:lnTo>
                  <a:lnTo>
                    <a:pt x="552215" y="3880698"/>
                  </a:lnTo>
                  <a:lnTo>
                    <a:pt x="599608" y="3885946"/>
                  </a:lnTo>
                  <a:lnTo>
                    <a:pt x="647966" y="3887724"/>
                  </a:lnTo>
                  <a:lnTo>
                    <a:pt x="8177530" y="3887724"/>
                  </a:lnTo>
                  <a:lnTo>
                    <a:pt x="8225891" y="3885946"/>
                  </a:lnTo>
                  <a:lnTo>
                    <a:pt x="8273286" y="3880698"/>
                  </a:lnTo>
                  <a:lnTo>
                    <a:pt x="8319591" y="3872104"/>
                  </a:lnTo>
                  <a:lnTo>
                    <a:pt x="8364678" y="3860289"/>
                  </a:lnTo>
                  <a:lnTo>
                    <a:pt x="8408425" y="3845379"/>
                  </a:lnTo>
                  <a:lnTo>
                    <a:pt x="8450704" y="3827500"/>
                  </a:lnTo>
                  <a:lnTo>
                    <a:pt x="8491391" y="3806775"/>
                  </a:lnTo>
                  <a:lnTo>
                    <a:pt x="8530361" y="3783332"/>
                  </a:lnTo>
                  <a:lnTo>
                    <a:pt x="8567488" y="3757294"/>
                  </a:lnTo>
                  <a:lnTo>
                    <a:pt x="8602647" y="3728788"/>
                  </a:lnTo>
                  <a:lnTo>
                    <a:pt x="8635714" y="3697938"/>
                  </a:lnTo>
                  <a:lnTo>
                    <a:pt x="8666562" y="3664870"/>
                  </a:lnTo>
                  <a:lnTo>
                    <a:pt x="8695066" y="3629709"/>
                  </a:lnTo>
                  <a:lnTo>
                    <a:pt x="8721102" y="3592581"/>
                  </a:lnTo>
                  <a:lnTo>
                    <a:pt x="8744544" y="3553610"/>
                  </a:lnTo>
                  <a:lnTo>
                    <a:pt x="8765266" y="3512923"/>
                  </a:lnTo>
                  <a:lnTo>
                    <a:pt x="8783144" y="3470643"/>
                  </a:lnTo>
                  <a:lnTo>
                    <a:pt x="8798052" y="3426898"/>
                  </a:lnTo>
                  <a:lnTo>
                    <a:pt x="8809866" y="3381811"/>
                  </a:lnTo>
                  <a:lnTo>
                    <a:pt x="8818459" y="3335508"/>
                  </a:lnTo>
                  <a:lnTo>
                    <a:pt x="8823706" y="3288115"/>
                  </a:lnTo>
                  <a:lnTo>
                    <a:pt x="8825484" y="3239757"/>
                  </a:lnTo>
                  <a:lnTo>
                    <a:pt x="8825484" y="647953"/>
                  </a:lnTo>
                  <a:lnTo>
                    <a:pt x="8823706" y="599592"/>
                  </a:lnTo>
                  <a:lnTo>
                    <a:pt x="8818459" y="552197"/>
                  </a:lnTo>
                  <a:lnTo>
                    <a:pt x="8809866" y="505892"/>
                  </a:lnTo>
                  <a:lnTo>
                    <a:pt x="8798052" y="460805"/>
                  </a:lnTo>
                  <a:lnTo>
                    <a:pt x="8783144" y="417058"/>
                  </a:lnTo>
                  <a:lnTo>
                    <a:pt x="8765266" y="374779"/>
                  </a:lnTo>
                  <a:lnTo>
                    <a:pt x="8744544" y="334092"/>
                  </a:lnTo>
                  <a:lnTo>
                    <a:pt x="8721102" y="295122"/>
                  </a:lnTo>
                  <a:lnTo>
                    <a:pt x="8695066" y="257995"/>
                  </a:lnTo>
                  <a:lnTo>
                    <a:pt x="8666562" y="222836"/>
                  </a:lnTo>
                  <a:lnTo>
                    <a:pt x="8635714" y="189769"/>
                  </a:lnTo>
                  <a:lnTo>
                    <a:pt x="8602647" y="158921"/>
                  </a:lnTo>
                  <a:lnTo>
                    <a:pt x="8567488" y="130417"/>
                  </a:lnTo>
                  <a:lnTo>
                    <a:pt x="8530361" y="104381"/>
                  </a:lnTo>
                  <a:lnTo>
                    <a:pt x="8491391" y="80939"/>
                  </a:lnTo>
                  <a:lnTo>
                    <a:pt x="8450704" y="60217"/>
                  </a:lnTo>
                  <a:lnTo>
                    <a:pt x="8408425" y="42339"/>
                  </a:lnTo>
                  <a:lnTo>
                    <a:pt x="8364678" y="27431"/>
                  </a:lnTo>
                  <a:lnTo>
                    <a:pt x="8319591" y="15617"/>
                  </a:lnTo>
                  <a:lnTo>
                    <a:pt x="8273286" y="7024"/>
                  </a:lnTo>
                  <a:lnTo>
                    <a:pt x="8225891" y="1777"/>
                  </a:lnTo>
                  <a:lnTo>
                    <a:pt x="81775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2222" y="2710434"/>
              <a:ext cx="8825865" cy="3888104"/>
            </a:xfrm>
            <a:custGeom>
              <a:avLst/>
              <a:gdLst/>
              <a:ahLst/>
              <a:cxnLst/>
              <a:rect l="l" t="t" r="r" b="b"/>
              <a:pathLst>
                <a:path w="8825865" h="3888104">
                  <a:moveTo>
                    <a:pt x="0" y="647953"/>
                  </a:moveTo>
                  <a:lnTo>
                    <a:pt x="1777" y="599592"/>
                  </a:lnTo>
                  <a:lnTo>
                    <a:pt x="7025" y="552197"/>
                  </a:lnTo>
                  <a:lnTo>
                    <a:pt x="15619" y="505892"/>
                  </a:lnTo>
                  <a:lnTo>
                    <a:pt x="27434" y="460805"/>
                  </a:lnTo>
                  <a:lnTo>
                    <a:pt x="42344" y="417058"/>
                  </a:lnTo>
                  <a:lnTo>
                    <a:pt x="60223" y="374779"/>
                  </a:lnTo>
                  <a:lnTo>
                    <a:pt x="80948" y="334092"/>
                  </a:lnTo>
                  <a:lnTo>
                    <a:pt x="104391" y="295122"/>
                  </a:lnTo>
                  <a:lnTo>
                    <a:pt x="130429" y="257995"/>
                  </a:lnTo>
                  <a:lnTo>
                    <a:pt x="158935" y="222836"/>
                  </a:lnTo>
                  <a:lnTo>
                    <a:pt x="189785" y="189769"/>
                  </a:lnTo>
                  <a:lnTo>
                    <a:pt x="222853" y="158921"/>
                  </a:lnTo>
                  <a:lnTo>
                    <a:pt x="258014" y="130417"/>
                  </a:lnTo>
                  <a:lnTo>
                    <a:pt x="295142" y="104381"/>
                  </a:lnTo>
                  <a:lnTo>
                    <a:pt x="334113" y="80939"/>
                  </a:lnTo>
                  <a:lnTo>
                    <a:pt x="374800" y="60217"/>
                  </a:lnTo>
                  <a:lnTo>
                    <a:pt x="417080" y="42339"/>
                  </a:lnTo>
                  <a:lnTo>
                    <a:pt x="460825" y="27431"/>
                  </a:lnTo>
                  <a:lnTo>
                    <a:pt x="505912" y="15617"/>
                  </a:lnTo>
                  <a:lnTo>
                    <a:pt x="552215" y="7024"/>
                  </a:lnTo>
                  <a:lnTo>
                    <a:pt x="599608" y="1777"/>
                  </a:lnTo>
                  <a:lnTo>
                    <a:pt x="647966" y="0"/>
                  </a:lnTo>
                  <a:lnTo>
                    <a:pt x="8177530" y="0"/>
                  </a:lnTo>
                  <a:lnTo>
                    <a:pt x="8225891" y="1777"/>
                  </a:lnTo>
                  <a:lnTo>
                    <a:pt x="8273286" y="7024"/>
                  </a:lnTo>
                  <a:lnTo>
                    <a:pt x="8319591" y="15617"/>
                  </a:lnTo>
                  <a:lnTo>
                    <a:pt x="8364678" y="27431"/>
                  </a:lnTo>
                  <a:lnTo>
                    <a:pt x="8408425" y="42339"/>
                  </a:lnTo>
                  <a:lnTo>
                    <a:pt x="8450704" y="60217"/>
                  </a:lnTo>
                  <a:lnTo>
                    <a:pt x="8491391" y="80939"/>
                  </a:lnTo>
                  <a:lnTo>
                    <a:pt x="8530361" y="104381"/>
                  </a:lnTo>
                  <a:lnTo>
                    <a:pt x="8567488" y="130417"/>
                  </a:lnTo>
                  <a:lnTo>
                    <a:pt x="8602647" y="158921"/>
                  </a:lnTo>
                  <a:lnTo>
                    <a:pt x="8635714" y="189769"/>
                  </a:lnTo>
                  <a:lnTo>
                    <a:pt x="8666562" y="222836"/>
                  </a:lnTo>
                  <a:lnTo>
                    <a:pt x="8695066" y="257995"/>
                  </a:lnTo>
                  <a:lnTo>
                    <a:pt x="8721102" y="295122"/>
                  </a:lnTo>
                  <a:lnTo>
                    <a:pt x="8744544" y="334092"/>
                  </a:lnTo>
                  <a:lnTo>
                    <a:pt x="8765266" y="374779"/>
                  </a:lnTo>
                  <a:lnTo>
                    <a:pt x="8783144" y="417058"/>
                  </a:lnTo>
                  <a:lnTo>
                    <a:pt x="8798052" y="460805"/>
                  </a:lnTo>
                  <a:lnTo>
                    <a:pt x="8809866" y="505892"/>
                  </a:lnTo>
                  <a:lnTo>
                    <a:pt x="8818459" y="552197"/>
                  </a:lnTo>
                  <a:lnTo>
                    <a:pt x="8823706" y="599592"/>
                  </a:lnTo>
                  <a:lnTo>
                    <a:pt x="8825484" y="647953"/>
                  </a:lnTo>
                  <a:lnTo>
                    <a:pt x="8825484" y="3239757"/>
                  </a:lnTo>
                  <a:lnTo>
                    <a:pt x="8823706" y="3288115"/>
                  </a:lnTo>
                  <a:lnTo>
                    <a:pt x="8818459" y="3335508"/>
                  </a:lnTo>
                  <a:lnTo>
                    <a:pt x="8809866" y="3381811"/>
                  </a:lnTo>
                  <a:lnTo>
                    <a:pt x="8798052" y="3426898"/>
                  </a:lnTo>
                  <a:lnTo>
                    <a:pt x="8783144" y="3470643"/>
                  </a:lnTo>
                  <a:lnTo>
                    <a:pt x="8765266" y="3512923"/>
                  </a:lnTo>
                  <a:lnTo>
                    <a:pt x="8744544" y="3553610"/>
                  </a:lnTo>
                  <a:lnTo>
                    <a:pt x="8721102" y="3592581"/>
                  </a:lnTo>
                  <a:lnTo>
                    <a:pt x="8695066" y="3629709"/>
                  </a:lnTo>
                  <a:lnTo>
                    <a:pt x="8666562" y="3664870"/>
                  </a:lnTo>
                  <a:lnTo>
                    <a:pt x="8635714" y="3697938"/>
                  </a:lnTo>
                  <a:lnTo>
                    <a:pt x="8602647" y="3728788"/>
                  </a:lnTo>
                  <a:lnTo>
                    <a:pt x="8567488" y="3757294"/>
                  </a:lnTo>
                  <a:lnTo>
                    <a:pt x="8530361" y="3783332"/>
                  </a:lnTo>
                  <a:lnTo>
                    <a:pt x="8491391" y="3806775"/>
                  </a:lnTo>
                  <a:lnTo>
                    <a:pt x="8450704" y="3827500"/>
                  </a:lnTo>
                  <a:lnTo>
                    <a:pt x="8408425" y="3845379"/>
                  </a:lnTo>
                  <a:lnTo>
                    <a:pt x="8364678" y="3860289"/>
                  </a:lnTo>
                  <a:lnTo>
                    <a:pt x="8319591" y="3872104"/>
                  </a:lnTo>
                  <a:lnTo>
                    <a:pt x="8273286" y="3880698"/>
                  </a:lnTo>
                  <a:lnTo>
                    <a:pt x="8225891" y="3885946"/>
                  </a:lnTo>
                  <a:lnTo>
                    <a:pt x="8177530" y="3887724"/>
                  </a:lnTo>
                  <a:lnTo>
                    <a:pt x="647966" y="3887724"/>
                  </a:lnTo>
                  <a:lnTo>
                    <a:pt x="599608" y="3885946"/>
                  </a:lnTo>
                  <a:lnTo>
                    <a:pt x="552215" y="3880698"/>
                  </a:lnTo>
                  <a:lnTo>
                    <a:pt x="505912" y="3872104"/>
                  </a:lnTo>
                  <a:lnTo>
                    <a:pt x="460825" y="3860289"/>
                  </a:lnTo>
                  <a:lnTo>
                    <a:pt x="417080" y="3845379"/>
                  </a:lnTo>
                  <a:lnTo>
                    <a:pt x="374800" y="3827500"/>
                  </a:lnTo>
                  <a:lnTo>
                    <a:pt x="334113" y="3806775"/>
                  </a:lnTo>
                  <a:lnTo>
                    <a:pt x="295142" y="3783332"/>
                  </a:lnTo>
                  <a:lnTo>
                    <a:pt x="258014" y="3757294"/>
                  </a:lnTo>
                  <a:lnTo>
                    <a:pt x="222853" y="3728788"/>
                  </a:lnTo>
                  <a:lnTo>
                    <a:pt x="189785" y="3697938"/>
                  </a:lnTo>
                  <a:lnTo>
                    <a:pt x="158935" y="3664870"/>
                  </a:lnTo>
                  <a:lnTo>
                    <a:pt x="130429" y="3629709"/>
                  </a:lnTo>
                  <a:lnTo>
                    <a:pt x="104391" y="3592581"/>
                  </a:lnTo>
                  <a:lnTo>
                    <a:pt x="80948" y="3553610"/>
                  </a:lnTo>
                  <a:lnTo>
                    <a:pt x="60223" y="3512923"/>
                  </a:lnTo>
                  <a:lnTo>
                    <a:pt x="42344" y="3470643"/>
                  </a:lnTo>
                  <a:lnTo>
                    <a:pt x="27434" y="3426898"/>
                  </a:lnTo>
                  <a:lnTo>
                    <a:pt x="15619" y="3381811"/>
                  </a:lnTo>
                  <a:lnTo>
                    <a:pt x="7025" y="3335508"/>
                  </a:lnTo>
                  <a:lnTo>
                    <a:pt x="1777" y="3288115"/>
                  </a:lnTo>
                  <a:lnTo>
                    <a:pt x="0" y="3239757"/>
                  </a:lnTo>
                  <a:lnTo>
                    <a:pt x="0" y="647953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20090" y="3124276"/>
            <a:ext cx="8190230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latin typeface="Calibri"/>
                <a:cs typeface="Calibri"/>
              </a:rPr>
              <a:t>What </a:t>
            </a:r>
            <a:r>
              <a:rPr sz="2800" b="1" spc="-5" dirty="0">
                <a:latin typeface="Calibri"/>
                <a:cs typeface="Calibri"/>
              </a:rPr>
              <a:t>does this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mean?</a:t>
            </a:r>
            <a:endParaRPr sz="2800">
              <a:latin typeface="Calibri"/>
              <a:cs typeface="Calibri"/>
            </a:endParaRPr>
          </a:p>
          <a:p>
            <a:pPr marL="584200" marR="222250" indent="-5721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84200" algn="l"/>
                <a:tab pos="584835" algn="l"/>
              </a:tabLst>
            </a:pPr>
            <a:r>
              <a:rPr sz="2800" spc="-20" dirty="0">
                <a:latin typeface="Calibri"/>
                <a:cs typeface="Calibri"/>
              </a:rPr>
              <a:t>Perceptron </a:t>
            </a:r>
            <a:r>
              <a:rPr sz="2800" spc="-25" dirty="0">
                <a:latin typeface="Calibri"/>
                <a:cs typeface="Calibri"/>
              </a:rPr>
              <a:t>converges </a:t>
            </a:r>
            <a:r>
              <a:rPr sz="2800" spc="-10" dirty="0">
                <a:latin typeface="Calibri"/>
                <a:cs typeface="Calibri"/>
              </a:rPr>
              <a:t>quickly </a:t>
            </a:r>
            <a:r>
              <a:rPr sz="2800" spc="-5" dirty="0">
                <a:latin typeface="Calibri"/>
                <a:cs typeface="Calibri"/>
              </a:rPr>
              <a:t>when </a:t>
            </a:r>
            <a:r>
              <a:rPr sz="2800" spc="-10" dirty="0">
                <a:latin typeface="Calibri"/>
                <a:cs typeface="Calibri"/>
              </a:rPr>
              <a:t>margin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large,  </a:t>
            </a:r>
            <a:r>
              <a:rPr sz="2800" spc="-10" dirty="0">
                <a:latin typeface="Calibri"/>
                <a:cs typeface="Calibri"/>
              </a:rPr>
              <a:t>slowly </a:t>
            </a:r>
            <a:r>
              <a:rPr sz="2800" spc="-5" dirty="0">
                <a:latin typeface="Calibri"/>
                <a:cs typeface="Calibri"/>
              </a:rPr>
              <a:t>when it is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small</a:t>
            </a:r>
            <a:endParaRPr sz="2800">
              <a:latin typeface="Calibri"/>
              <a:cs typeface="Calibri"/>
            </a:endParaRPr>
          </a:p>
          <a:p>
            <a:pPr marL="584200" marR="886460" indent="-572135">
              <a:lnSpc>
                <a:spcPct val="100000"/>
              </a:lnSpc>
              <a:buFont typeface="Arial"/>
              <a:buChar char="•"/>
              <a:tabLst>
                <a:tab pos="584200" algn="l"/>
                <a:tab pos="584835" algn="l"/>
              </a:tabLst>
            </a:pPr>
            <a:r>
              <a:rPr sz="2800" spc="-5" dirty="0">
                <a:latin typeface="Calibri"/>
                <a:cs typeface="Calibri"/>
              </a:rPr>
              <a:t>Bound </a:t>
            </a:r>
            <a:r>
              <a:rPr sz="2800" spc="-10" dirty="0">
                <a:latin typeface="Calibri"/>
                <a:cs typeface="Calibri"/>
              </a:rPr>
              <a:t>does not depend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number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training  </a:t>
            </a:r>
            <a:r>
              <a:rPr sz="2800" spc="-20" dirty="0">
                <a:latin typeface="Calibri"/>
                <a:cs typeface="Calibri"/>
              </a:rPr>
              <a:t>examples </a:t>
            </a:r>
            <a:r>
              <a:rPr sz="2800" spc="-5" dirty="0">
                <a:latin typeface="Calibri"/>
                <a:cs typeface="Calibri"/>
              </a:rPr>
              <a:t>N, </a:t>
            </a:r>
            <a:r>
              <a:rPr sz="2800" spc="-10" dirty="0">
                <a:latin typeface="Calibri"/>
                <a:cs typeface="Calibri"/>
              </a:rPr>
              <a:t>nor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number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  <a:p>
            <a:pPr marL="584200" marR="5080" indent="-572135">
              <a:lnSpc>
                <a:spcPct val="100000"/>
              </a:lnSpc>
              <a:buFont typeface="Arial"/>
              <a:buChar char="•"/>
              <a:tabLst>
                <a:tab pos="584200" algn="l"/>
                <a:tab pos="584835" algn="l"/>
              </a:tabLst>
            </a:pPr>
            <a:r>
              <a:rPr sz="2800" spc="-20" dirty="0">
                <a:latin typeface="Calibri"/>
                <a:cs typeface="Calibri"/>
              </a:rPr>
              <a:t>Proof </a:t>
            </a:r>
            <a:r>
              <a:rPr sz="2800" spc="-15" dirty="0">
                <a:latin typeface="Calibri"/>
                <a:cs typeface="Calibri"/>
              </a:rPr>
              <a:t>guarantees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20" dirty="0">
                <a:latin typeface="Calibri"/>
                <a:cs typeface="Calibri"/>
              </a:rPr>
              <a:t>perceptron converges, </a:t>
            </a:r>
            <a:r>
              <a:rPr sz="2800" spc="-10" dirty="0">
                <a:latin typeface="Calibri"/>
                <a:cs typeface="Calibri"/>
              </a:rPr>
              <a:t>but not  necessarily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max margin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separator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5504" y="483234"/>
            <a:ext cx="4872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Practical</a:t>
            </a:r>
            <a:r>
              <a:rPr spc="-95" dirty="0"/>
              <a:t> </a:t>
            </a:r>
            <a:r>
              <a:rPr spc="-5" dirty="0"/>
              <a:t>Implications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6177"/>
            <a:ext cx="7645400" cy="44932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Sensitivity </a:t>
            </a:r>
            <a:r>
              <a:rPr sz="2800" spc="-15" dirty="0">
                <a:latin typeface="Segoe UI"/>
                <a:cs typeface="Segoe UI"/>
              </a:rPr>
              <a:t>to</a:t>
            </a:r>
            <a:r>
              <a:rPr sz="2800" spc="-5" dirty="0">
                <a:latin typeface="Segoe UI"/>
                <a:cs typeface="Segoe UI"/>
              </a:rPr>
              <a:t> noise</a:t>
            </a:r>
            <a:endParaRPr sz="2800">
              <a:latin typeface="Segoe UI"/>
              <a:cs typeface="Segoe U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if </a:t>
            </a:r>
            <a:r>
              <a:rPr sz="2400" dirty="0">
                <a:latin typeface="Segoe UI"/>
                <a:cs typeface="Segoe UI"/>
              </a:rPr>
              <a:t>the data </a:t>
            </a:r>
            <a:r>
              <a:rPr sz="2400" spc="-5" dirty="0">
                <a:latin typeface="Segoe UI"/>
                <a:cs typeface="Segoe UI"/>
              </a:rPr>
              <a:t>is </a:t>
            </a:r>
            <a:r>
              <a:rPr sz="2400" dirty="0">
                <a:latin typeface="Segoe UI"/>
                <a:cs typeface="Segoe UI"/>
              </a:rPr>
              <a:t>not </a:t>
            </a:r>
            <a:r>
              <a:rPr sz="2400" spc="-5" dirty="0">
                <a:latin typeface="Segoe UI"/>
                <a:cs typeface="Segoe UI"/>
              </a:rPr>
              <a:t>linearly separable </a:t>
            </a:r>
            <a:r>
              <a:rPr sz="2400" dirty="0">
                <a:latin typeface="Segoe UI"/>
                <a:cs typeface="Segoe UI"/>
              </a:rPr>
              <a:t>due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spc="-5" dirty="0">
                <a:latin typeface="Segoe UI"/>
                <a:cs typeface="Segoe UI"/>
              </a:rPr>
              <a:t>noise, </a:t>
            </a:r>
            <a:r>
              <a:rPr sz="2400" dirty="0">
                <a:latin typeface="Segoe UI"/>
                <a:cs typeface="Segoe UI"/>
              </a:rPr>
              <a:t>no  </a:t>
            </a:r>
            <a:r>
              <a:rPr sz="2400" spc="-5" dirty="0">
                <a:latin typeface="Segoe UI"/>
                <a:cs typeface="Segoe UI"/>
              </a:rPr>
              <a:t>guarantee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10" dirty="0">
                <a:latin typeface="Segoe UI"/>
                <a:cs typeface="Segoe UI"/>
              </a:rPr>
              <a:t>convergence </a:t>
            </a:r>
            <a:r>
              <a:rPr sz="2400" dirty="0">
                <a:latin typeface="Segoe UI"/>
                <a:cs typeface="Segoe UI"/>
              </a:rPr>
              <a:t>or</a:t>
            </a:r>
            <a:r>
              <a:rPr sz="2400" spc="6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accuracy</a:t>
            </a:r>
            <a:endParaRPr sz="24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Linear </a:t>
            </a:r>
            <a:r>
              <a:rPr sz="2800" spc="-10" dirty="0">
                <a:latin typeface="Segoe UI"/>
                <a:cs typeface="Segoe UI"/>
              </a:rPr>
              <a:t>separability </a:t>
            </a:r>
            <a:r>
              <a:rPr sz="2800" spc="-5" dirty="0">
                <a:latin typeface="Segoe UI"/>
                <a:cs typeface="Segoe UI"/>
              </a:rPr>
              <a:t>in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practice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Data frequently linearly separable in</a:t>
            </a:r>
            <a:r>
              <a:rPr sz="2400" spc="3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practice</a:t>
            </a:r>
            <a:endParaRPr sz="2400">
              <a:latin typeface="Segoe UI"/>
              <a:cs typeface="Segoe UI"/>
            </a:endParaRPr>
          </a:p>
          <a:p>
            <a:pPr marL="756285" marR="14414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Especially </a:t>
            </a:r>
            <a:r>
              <a:rPr sz="2400" dirty="0">
                <a:latin typeface="Segoe UI"/>
                <a:cs typeface="Segoe UI"/>
              </a:rPr>
              <a:t>when </a:t>
            </a:r>
            <a:r>
              <a:rPr sz="2400" spc="-5" dirty="0">
                <a:latin typeface="Segoe UI"/>
                <a:cs typeface="Segoe UI"/>
              </a:rPr>
              <a:t>number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features &gt;&gt; number </a:t>
            </a:r>
            <a:r>
              <a:rPr sz="2400" spc="-25" dirty="0">
                <a:latin typeface="Segoe UI"/>
                <a:cs typeface="Segoe UI"/>
              </a:rPr>
              <a:t>of  </a:t>
            </a:r>
            <a:r>
              <a:rPr sz="2400" dirty="0">
                <a:latin typeface="Segoe UI"/>
                <a:cs typeface="Segoe UI"/>
              </a:rPr>
              <a:t>examples</a:t>
            </a:r>
            <a:endParaRPr sz="24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Risk </a:t>
            </a:r>
            <a:r>
              <a:rPr sz="2800" spc="-20" dirty="0">
                <a:latin typeface="Segoe UI"/>
                <a:cs typeface="Segoe UI"/>
              </a:rPr>
              <a:t>of </a:t>
            </a:r>
            <a:r>
              <a:rPr sz="2800" dirty="0">
                <a:latin typeface="Segoe UI"/>
                <a:cs typeface="Segoe UI"/>
              </a:rPr>
              <a:t>overfitting </a:t>
            </a:r>
            <a:r>
              <a:rPr sz="2800" spc="-10" dirty="0">
                <a:latin typeface="Segoe UI"/>
                <a:cs typeface="Segoe UI"/>
              </a:rPr>
              <a:t>mitigated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by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Early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stopping</a:t>
            </a:r>
            <a:endParaRPr sz="24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Segoe UI"/>
                <a:cs typeface="Segoe UI"/>
              </a:rPr>
              <a:t>Averaging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7616" y="134112"/>
            <a:ext cx="646176" cy="7132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4103" y="699684"/>
            <a:ext cx="595630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30" dirty="0">
                <a:latin typeface="Calibri Light"/>
                <a:cs typeface="Calibri Light"/>
              </a:rPr>
              <a:t>Expressiveness </a:t>
            </a:r>
            <a:r>
              <a:rPr sz="3900" spc="40" dirty="0">
                <a:latin typeface="Calibri Light"/>
                <a:cs typeface="Calibri Light"/>
              </a:rPr>
              <a:t>of</a:t>
            </a:r>
            <a:r>
              <a:rPr sz="3900" spc="10" dirty="0">
                <a:latin typeface="Calibri Light"/>
                <a:cs typeface="Calibri Light"/>
              </a:rPr>
              <a:t> </a:t>
            </a:r>
            <a:r>
              <a:rPr sz="3900" spc="15" dirty="0">
                <a:latin typeface="Calibri Light"/>
                <a:cs typeface="Calibri Light"/>
              </a:rPr>
              <a:t>Perceptron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88" y="1548891"/>
            <a:ext cx="7844155" cy="24130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31750" indent="-229235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Can model </a:t>
            </a:r>
            <a:r>
              <a:rPr sz="2800" spc="-20" dirty="0">
                <a:latin typeface="Calibri"/>
                <a:cs typeface="Calibri"/>
              </a:rPr>
              <a:t>any </a:t>
            </a:r>
            <a:r>
              <a:rPr sz="2800" spc="-5" dirty="0">
                <a:latin typeface="Calibri"/>
                <a:cs typeface="Calibri"/>
              </a:rPr>
              <a:t>function </a:t>
            </a:r>
            <a:r>
              <a:rPr sz="2800" spc="-10" dirty="0">
                <a:latin typeface="Calibri"/>
                <a:cs typeface="Calibri"/>
              </a:rPr>
              <a:t>where </a:t>
            </a:r>
            <a:r>
              <a:rPr sz="2800" spc="-5" dirty="0">
                <a:latin typeface="Calibri"/>
                <a:cs typeface="Calibri"/>
              </a:rPr>
              <a:t>positive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20" dirty="0">
                <a:latin typeface="Calibri"/>
                <a:cs typeface="Calibri"/>
              </a:rPr>
              <a:t>negative  examples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linearly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separable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Calibri"/>
                <a:cs typeface="Calibri"/>
              </a:rPr>
              <a:t>Examples: Boolean </a:t>
            </a:r>
            <a:r>
              <a:rPr sz="2000" spc="-15" dirty="0">
                <a:latin typeface="Calibri"/>
                <a:cs typeface="Calibri"/>
              </a:rPr>
              <a:t>AND, </a:t>
            </a:r>
            <a:r>
              <a:rPr sz="2000" spc="-5" dirty="0">
                <a:latin typeface="Calibri"/>
                <a:cs typeface="Calibri"/>
              </a:rPr>
              <a:t>OR, </a:t>
            </a:r>
            <a:r>
              <a:rPr sz="2000" spc="-15" dirty="0">
                <a:latin typeface="Calibri"/>
                <a:cs typeface="Calibri"/>
              </a:rPr>
              <a:t>NAND,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NOR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3000"/>
              </a:lnSpc>
              <a:spcBef>
                <a:spcPts val="99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Cannot (fully) model functions which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dirty="0">
                <a:latin typeface="Calibri"/>
                <a:cs typeface="Calibri"/>
              </a:rPr>
              <a:t>not </a:t>
            </a:r>
            <a:r>
              <a:rPr sz="2800" spc="-5" dirty="0">
                <a:latin typeface="Calibri"/>
                <a:cs typeface="Calibri"/>
              </a:rPr>
              <a:t>linearly  </a:t>
            </a:r>
            <a:r>
              <a:rPr sz="2800" spc="-10" dirty="0">
                <a:latin typeface="Calibri"/>
                <a:cs typeface="Calibri"/>
              </a:rPr>
              <a:t>separable.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latin typeface="Calibri"/>
                <a:cs typeface="Calibri"/>
              </a:rPr>
              <a:t>Example: </a:t>
            </a:r>
            <a:r>
              <a:rPr sz="2000" spc="-5" dirty="0">
                <a:latin typeface="Calibri"/>
                <a:cs typeface="Calibri"/>
              </a:rPr>
              <a:t>Boolean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XOR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2087" y="4144269"/>
            <a:ext cx="4649944" cy="24963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997" y="483234"/>
            <a:ext cx="53828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you should</a:t>
            </a:r>
            <a:r>
              <a:rPr spc="-70" dirty="0"/>
              <a:t> </a:t>
            </a:r>
            <a:r>
              <a:rPr spc="-10" dirty="0"/>
              <a:t>know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63220" indent="-34290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62585" algn="l"/>
                <a:tab pos="363220" algn="l"/>
              </a:tabLst>
            </a:pPr>
            <a:r>
              <a:rPr spc="-20" dirty="0"/>
              <a:t>Perceptron</a:t>
            </a:r>
            <a:r>
              <a:rPr dirty="0"/>
              <a:t> concepts</a:t>
            </a:r>
          </a:p>
          <a:p>
            <a:pPr marL="763905" marR="84645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64540" algn="l"/>
              </a:tabLst>
            </a:pPr>
            <a:r>
              <a:rPr sz="2400" spc="-5" dirty="0">
                <a:latin typeface="Segoe UI"/>
                <a:cs typeface="Segoe UI"/>
              </a:rPr>
              <a:t>training/prediction </a:t>
            </a:r>
            <a:r>
              <a:rPr sz="2400" dirty="0">
                <a:latin typeface="Segoe UI"/>
                <a:cs typeface="Segoe UI"/>
              </a:rPr>
              <a:t>algorithms </a:t>
            </a:r>
            <a:r>
              <a:rPr sz="2400" spc="-5" dirty="0">
                <a:latin typeface="Segoe UI"/>
                <a:cs typeface="Segoe UI"/>
              </a:rPr>
              <a:t>(standard, voting,  </a:t>
            </a:r>
            <a:r>
              <a:rPr sz="2400" dirty="0">
                <a:latin typeface="Segoe UI"/>
                <a:cs typeface="Segoe UI"/>
              </a:rPr>
              <a:t>averaged)</a:t>
            </a:r>
            <a:endParaRPr sz="2400">
              <a:latin typeface="Segoe UI"/>
              <a:cs typeface="Segoe UI"/>
            </a:endParaRPr>
          </a:p>
          <a:p>
            <a:pPr marL="76390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64540" algn="l"/>
              </a:tabLst>
            </a:pPr>
            <a:r>
              <a:rPr sz="2400" spc="-5" dirty="0">
                <a:latin typeface="Segoe UI"/>
                <a:cs typeface="Segoe UI"/>
              </a:rPr>
              <a:t>convergence theorem </a:t>
            </a:r>
            <a:r>
              <a:rPr sz="2400" dirty="0">
                <a:latin typeface="Segoe UI"/>
                <a:cs typeface="Segoe UI"/>
              </a:rPr>
              <a:t>and what </a:t>
            </a:r>
            <a:r>
              <a:rPr sz="2400" spc="-5" dirty="0">
                <a:latin typeface="Segoe UI"/>
                <a:cs typeface="Segoe UI"/>
              </a:rPr>
              <a:t>practical guarantees </a:t>
            </a:r>
            <a:r>
              <a:rPr sz="2400" spc="-10" dirty="0">
                <a:latin typeface="Segoe UI"/>
                <a:cs typeface="Segoe UI"/>
              </a:rPr>
              <a:t>it  </a:t>
            </a:r>
            <a:r>
              <a:rPr sz="2400" spc="-5" dirty="0">
                <a:latin typeface="Segoe UI"/>
                <a:cs typeface="Segoe UI"/>
              </a:rPr>
              <a:t>gives </a:t>
            </a:r>
            <a:r>
              <a:rPr sz="2400" dirty="0">
                <a:latin typeface="Segoe UI"/>
                <a:cs typeface="Segoe UI"/>
              </a:rPr>
              <a:t>us</a:t>
            </a:r>
            <a:endParaRPr sz="2400">
              <a:latin typeface="Segoe UI"/>
              <a:cs typeface="Segoe UI"/>
            </a:endParaRPr>
          </a:p>
          <a:p>
            <a:pPr marL="763905" marR="69215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64540" algn="l"/>
              </a:tabLst>
            </a:pPr>
            <a:r>
              <a:rPr sz="2400" spc="-5" dirty="0">
                <a:latin typeface="Segoe UI"/>
                <a:cs typeface="Segoe UI"/>
              </a:rPr>
              <a:t>how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draw/describe the </a:t>
            </a:r>
            <a:r>
              <a:rPr sz="2400" spc="-5" dirty="0">
                <a:latin typeface="Segoe UI"/>
                <a:cs typeface="Segoe UI"/>
              </a:rPr>
              <a:t>decision </a:t>
            </a:r>
            <a:r>
              <a:rPr sz="2400" spc="10" dirty="0">
                <a:latin typeface="Segoe UI"/>
                <a:cs typeface="Segoe UI"/>
              </a:rPr>
              <a:t>boundary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a  </a:t>
            </a:r>
            <a:r>
              <a:rPr sz="2400" spc="-10" dirty="0">
                <a:latin typeface="Segoe UI"/>
                <a:cs typeface="Segoe UI"/>
              </a:rPr>
              <a:t>perceptron</a:t>
            </a:r>
            <a:r>
              <a:rPr sz="2400" spc="-5" dirty="0">
                <a:latin typeface="Segoe UI"/>
                <a:cs typeface="Segoe UI"/>
              </a:rPr>
              <a:t> classifier</a:t>
            </a:r>
            <a:endParaRPr sz="2400">
              <a:latin typeface="Segoe UI"/>
              <a:cs typeface="Segoe UI"/>
            </a:endParaRPr>
          </a:p>
          <a:p>
            <a:pPr marL="363220" indent="-342900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362585" algn="l"/>
                <a:tab pos="363220" algn="l"/>
              </a:tabLst>
            </a:pPr>
            <a:r>
              <a:rPr spc="-5" dirty="0"/>
              <a:t>Fundamental ML </a:t>
            </a:r>
            <a:r>
              <a:rPr dirty="0"/>
              <a:t>concepts</a:t>
            </a:r>
          </a:p>
          <a:p>
            <a:pPr marL="763905" marR="36830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64540" algn="l"/>
              </a:tabLst>
            </a:pPr>
            <a:r>
              <a:rPr sz="2400" spc="-5" dirty="0">
                <a:latin typeface="Segoe UI"/>
                <a:cs typeface="Segoe UI"/>
              </a:rPr>
              <a:t>Determine </a:t>
            </a:r>
            <a:r>
              <a:rPr sz="2400" dirty="0">
                <a:latin typeface="Segoe UI"/>
                <a:cs typeface="Segoe UI"/>
              </a:rPr>
              <a:t>whether a data </a:t>
            </a:r>
            <a:r>
              <a:rPr sz="2400" spc="-5" dirty="0">
                <a:latin typeface="Segoe UI"/>
                <a:cs typeface="Segoe UI"/>
              </a:rPr>
              <a:t>set is linearly separable </a:t>
            </a:r>
            <a:r>
              <a:rPr sz="2400" dirty="0">
                <a:latin typeface="Segoe UI"/>
                <a:cs typeface="Segoe UI"/>
              </a:rPr>
              <a:t>and  define </a:t>
            </a:r>
            <a:r>
              <a:rPr sz="2400" spc="-5" dirty="0">
                <a:latin typeface="Segoe UI"/>
                <a:cs typeface="Segoe UI"/>
              </a:rPr>
              <a:t>its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margin</a:t>
            </a:r>
            <a:endParaRPr sz="2400">
              <a:latin typeface="Segoe UI"/>
              <a:cs typeface="Segoe UI"/>
            </a:endParaRPr>
          </a:p>
          <a:p>
            <a:pPr marL="76390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64540" algn="l"/>
              </a:tabLst>
            </a:pPr>
            <a:r>
              <a:rPr sz="2400" spc="-10" dirty="0">
                <a:latin typeface="Segoe UI"/>
                <a:cs typeface="Segoe UI"/>
              </a:rPr>
              <a:t>Error </a:t>
            </a:r>
            <a:r>
              <a:rPr sz="2400" spc="-5" dirty="0">
                <a:latin typeface="Segoe UI"/>
                <a:cs typeface="Segoe UI"/>
              </a:rPr>
              <a:t>driven </a:t>
            </a:r>
            <a:r>
              <a:rPr sz="2400" dirty="0">
                <a:latin typeface="Segoe UI"/>
                <a:cs typeface="Segoe UI"/>
              </a:rPr>
              <a:t>algorithms, </a:t>
            </a:r>
            <a:r>
              <a:rPr sz="2400" spc="-5" dirty="0">
                <a:latin typeface="Segoe UI"/>
                <a:cs typeface="Segoe UI"/>
              </a:rPr>
              <a:t>online </a:t>
            </a:r>
            <a:r>
              <a:rPr sz="2400" dirty="0">
                <a:latin typeface="Segoe UI"/>
                <a:cs typeface="Segoe UI"/>
              </a:rPr>
              <a:t>vs. </a:t>
            </a:r>
            <a:r>
              <a:rPr sz="2400" spc="-15" dirty="0">
                <a:latin typeface="Segoe UI"/>
                <a:cs typeface="Segoe UI"/>
              </a:rPr>
              <a:t>batch</a:t>
            </a:r>
            <a:r>
              <a:rPr sz="2400" spc="7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algorithms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1095</Words>
  <Application>Microsoft Office PowerPoint</Application>
  <PresentationFormat>On-screen Show (4:3)</PresentationFormat>
  <Paragraphs>249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Calibri</vt:lpstr>
      <vt:lpstr>Symbol</vt:lpstr>
      <vt:lpstr>Arial</vt:lpstr>
      <vt:lpstr>Cambria Math</vt:lpstr>
      <vt:lpstr>Calibri Light</vt:lpstr>
      <vt:lpstr>Segoe UI</vt:lpstr>
      <vt:lpstr>Segoe UI Light</vt:lpstr>
      <vt:lpstr>Times New Roman</vt:lpstr>
      <vt:lpstr>Office Theme</vt:lpstr>
      <vt:lpstr>CSCI/ARTI 8950 Machine Learning</vt:lpstr>
      <vt:lpstr>Geometry concept: Hyperplane</vt:lpstr>
      <vt:lpstr>Binary classification  via hyperplanes</vt:lpstr>
      <vt:lpstr>Binary classification  via hyperplanes</vt:lpstr>
      <vt:lpstr>Function Approximation  with Perceptron</vt:lpstr>
      <vt:lpstr>Math review: The dot Product</vt:lpstr>
      <vt:lpstr>Perceptron Structure</vt:lpstr>
      <vt:lpstr>Perception: Prediction Algorithm</vt:lpstr>
      <vt:lpstr>Aside: biological inspiration</vt:lpstr>
      <vt:lpstr>Perceptron Training Algorithm</vt:lpstr>
      <vt:lpstr>Example: Modeling a Boolean Function</vt:lpstr>
      <vt:lpstr>Example: Modeling a Boolean Function</vt:lpstr>
      <vt:lpstr>Properties of the Perceptron  training algorithm</vt:lpstr>
      <vt:lpstr>Perceptron update:  geometric interpretation</vt:lpstr>
      <vt:lpstr>Perceptron update:  geometric interpretation</vt:lpstr>
      <vt:lpstr>Practical considerations</vt:lpstr>
      <vt:lpstr>Standard Perceptron: predict  based on final parameters</vt:lpstr>
      <vt:lpstr>Predict based on final +  intermediate parameters</vt:lpstr>
      <vt:lpstr>Averaged perceptron decision rule</vt:lpstr>
      <vt:lpstr>Recap: Perceptron for binary  classification</vt:lpstr>
      <vt:lpstr>Standard Perceptron: predict  based on final parameters</vt:lpstr>
      <vt:lpstr>Can the perceptron always find a  hyperplane to separate positive  from negative examples?</vt:lpstr>
      <vt:lpstr>Convergence of Perceptron</vt:lpstr>
      <vt:lpstr>Convergence of Perceptron</vt:lpstr>
      <vt:lpstr>Margin of a data set D</vt:lpstr>
      <vt:lpstr>PowerPoint Presentation</vt:lpstr>
      <vt:lpstr>PowerPoint Presentation</vt:lpstr>
      <vt:lpstr>Practical Implications</vt:lpstr>
      <vt:lpstr>Expressiveness of Perceptron</vt:lpstr>
      <vt:lpstr>What you should know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CSCI_8950_Lec7_Perceptron</dc:title>
  <cp:lastModifiedBy>Khaled M Rasheed</cp:lastModifiedBy>
  <cp:revision>20</cp:revision>
  <dcterms:created xsi:type="dcterms:W3CDTF">2020-09-28T08:01:49Z</dcterms:created>
  <dcterms:modified xsi:type="dcterms:W3CDTF">2026-07-27T22:18:31Z</dcterms:modified>
</cp:coreProperties>
</file>